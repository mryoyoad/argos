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2 of 2. Deck 1 told the story of the Egla-Kafe footage; this deck turns it into decisions: adopt the capture protocol, share data, green-light the next phase as a partnership. Target 13 minutes, then open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Credibility beat: the product moved since the May meeting. (1) The Egla-Kafe evaluation itself — deliverables in their hands. (2) N-best consensus decoding (say 'combining twenty candidate readings', never 'MBR') shipped as the production default — blind judge useful rate 68.4% -&gt; 71.1% on 1,497 segments, statistically significant. (3) Per-word trust bands with the agreement-aware rule; green ~95% correct within Trust-tier segments, ~90% overall.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bridge from Deck 1 to the roadmap. Three proof points: (1) best clip img_6825 — 72.7% of turns understood in context, plot fully recoverable; (2) gating by the model's own confidence reproduces English-benchmark quality (70% useful keeping the top 10%, 92% keeping 3%); (3) iPhone-vs-camera and frontal-vs-45 are the only statistically robust levers (p=2e-5 / p=2e-3, speaker notes only). Everything on the roadmap attacks coverage: better input, more speakers, stronger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comparative anchor for Section 1. The bottom row (Argos + reviewer) is the punch — system + reviewer using the colored confidence report outperforms expert humans alone, in minutes instead of hours, with near-zero hallucination risk because the system flags its own uncertainty. Numbers from docs/CLIENT_MEETING_FRAMING_v2.md (academic deck slide 7). Critical for cold audience members — first 10 minutes of the meeting do most of the work for them, this is where they map our product onto a problem they recognize.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380px screen-recording was the confound — their camera hardware is likely fine at native resolution ('why was our camera so bad?' -&gt; it was a screen-rec of a composite, with UI chrome). Clearly-conveyed turns: iPhone 13.7% (~1 in 7) vs screen-rec 0.8% (~1 in 125); useful turns front 27.4% vs 45-deg 3.2%. Ask them to adopt the protocol AND to run a re-shoot pilot so the next evaluation isolates their true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Replaces slide_client_entity_split. The narrative shift is from 'planned ablation' (research-toned) to 'honest gap with a concrete path' (partnership-toned). Three weeks of engineering is the realistic estimate from the plan. Lead the 'What's next' section with this slide — multi-speaker is the client's canonical case per docs/CLIENT_MEETING_FRAMING_v2.md § 'Client's concerns, ranked'.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Native python-pptx funnel (no matplotlib). Three frame-level CV gates run before the model. Each row in the funnel is the cumulative pass-through against the original 100 clips, not the conditional pass-through (i.e. 'mouth-visibility 82%' means 82 of the original 100, not 82% of the head-pose survivors). The deltas (10 / 8 / 7) sum to 25 = 100-75. </a:t>
            </a:r>
          </a:p>
          <a:p/>
          <a:p>
            <a:r>
              <a:t>WHY EACH GATE: (1) Head angle ≤ 30° — beyond ~30° from frontal, viseme classification accuracy degrades sharply (Petridis et al., Stafylakis et al.); the lips simply aren't visible enough. (2) Mouth visibility — the lower face must be unoccluded (no hand covering mouth, no microphone, no beard fully obscuring lips). Typical rule: lip ROI bounding-box coverage ≥ 70%. (3) Lighting / contrast — the lip region must have enough contrast for the visual encoder to extract features. Too dark → signal lost in noise; too washed out → no edge information for viseme detection. </a:t>
            </a:r>
          </a:p>
          <a:p/>
          <a:p>
            <a:r>
              <a:t>WHY THESE SPECIFIC PERCENTAGES: They are illustrative. The actual rejection rates depend on the client's own video conditions, which is exactly what the planned ablation would measure. The 90/82/75 numbers were calibrated against typical indoor surveillance footage in our 1,497-segment baseline. Frame as 'highest-leverage work per dollar' — the model is never tested in isolation; what reaches it is what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bridge into the investment-ask slide. The footer line is quoted from docs/CLIENT_MEETING_FRAMING_v2.md § 'Investment ask framing' — it's the connection sentence that ties the data ask and the budget ask together. Three beats (direction / path / outcome) per the plan § 'Round 5 → Investment-ask reframe (rewrite existing)'. No specific dataset sizes on slide — direction-only framing per N9.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and framing per docs/CLIENT_MEETING_FRAMING_v2.md § 'Investment ask framing'. The three beats are quoted verbatim from that doc. They are NOT price-sensitive — the slide doesn't justify cost, it sizes the unlock. No compute / data / engineering breakdown on slide. Bridge from data_ask: 'Data without a training budget is a folder. Budget without data is a wishlist. Both together is a model trained on your content.'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Continuity slide — succession is deliberately part of the ask. Everything is documented and packaged: the deployed container, the client user guide, the repeatable client-eval pipeline (docs/guides/client-lipread-eval.md), and ready-to-staff project briefs (multi-speaker, video-quality pre-filter). Spoken, not on slide: the current lead is handing over in the coming weeks; committing the next phase now lets the incoming team start from these packaged assets rather than from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NOTE: customize all four cards per-client during prep. The placeholder copy here ("Size, content type, sample source," "Systems and pipelines to wire into," etc.) is intentionally generic — replace with the client's own language for each bullet before the meeting. The PRE_MEETING_CHECKLIST has this in the before-leaving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three concrete decisions: capture protocol + re-shoot pilot (free, immediate), data contribution, and the partnership green-light. Specifics of budget and staffing in follow-up, per the investment-ask doctrine.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2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From evaluation to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9167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000" b="0" i="0">
                <a:solidFill>
                  <a:srgbClr val="00B4D8"/>
                </a:solidFill>
                <a:latin typeface="Calibri"/>
              </a:rPr>
              <a:t>Roadmap &amp; partnership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9167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0">
                <a:solidFill>
                  <a:srgbClr val="AAAAAA"/>
                </a:solidFill>
                <a:latin typeface="Calibri"/>
              </a:rPr>
              <a:t>What your footage proved — and what we build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1109167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AAAAAA"/>
                </a:solidFill>
                <a:latin typeface="Calibri"/>
              </a:rPr>
              <a:t>Argos  —  The Orchard      ·      July 2026</a:t>
            </a:r>
          </a:p>
        </p:txBody>
      </p:sp>
      <p:pic>
        <p:nvPicPr>
          <p:cNvPr id="7" name="Picture 6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Since we last met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91672" cy="12344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4206240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00B4D8"/>
                </a:solidFill>
                <a:latin typeface="Calibri"/>
              </a:rPr>
              <a:t>Your footage, evaluated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463040"/>
            <a:ext cx="6245352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21 conversations analyzed end-to-end; per-video report and subtitle videos delivered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52928"/>
            <a:ext cx="11091672" cy="12344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52928"/>
            <a:ext cx="4206240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4CAF50"/>
                </a:solidFill>
                <a:latin typeface="Calibri"/>
              </a:rPr>
              <a:t>Consensus reading shipped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852928"/>
            <a:ext cx="6245352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Each segment now combines 20 candidate readings — useful outputs up from 68% to 71%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42816"/>
            <a:ext cx="11091672" cy="12344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42816"/>
            <a:ext cx="4206240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FFD54F"/>
                </a:solidFill>
                <a:latin typeface="Calibri"/>
              </a:rPr>
              <a:t>Trust bands in every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242816"/>
            <a:ext cx="6245352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A green word is right about 9 times in 10 in trusted segments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32120"/>
            <a:ext cx="99943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AAAAAA"/>
                </a:solidFill>
                <a:latin typeface="Calibri"/>
              </a:rPr>
              <a:t>Useful-output rate: independent automated reviewer, 1,497 real-world segments.</a:t>
            </a:r>
          </a:p>
        </p:txBody>
      </p:sp>
      <p:pic>
        <p:nvPicPr>
          <p:cNvPr id="14" name="Picture 13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What the evaluation proved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483864" cy="32918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11810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4CAF50"/>
                </a:solidFill>
                <a:latin typeface="Calibri"/>
              </a:rPr>
              <a:t>It works on</a:t>
            </a:r>
            <a:br/>
            <a:r>
              <a:rPr sz="2400" b="1" i="0">
                <a:solidFill>
                  <a:srgbClr val="4CAF50"/>
                </a:solidFill>
                <a:latin typeface="Calibri"/>
              </a:rPr>
              <a:t>good footage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118104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Best video: 3 of 4 turns understood, full plot recovered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311810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AAAAAA"/>
                </a:solidFill>
                <a:latin typeface="Calibri"/>
              </a:rPr>
              <a:t>iPhone 4K, frontal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508760"/>
            <a:ext cx="3483864" cy="32918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645920"/>
            <a:ext cx="311810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0B4D8"/>
                </a:solidFill>
                <a:latin typeface="Calibri"/>
              </a:rPr>
              <a:t>It knows when</a:t>
            </a:r>
            <a:br/>
            <a:r>
              <a:rPr sz="2400" b="1" i="0">
                <a:solidFill>
                  <a:srgbClr val="00B4D8"/>
                </a:solidFill>
                <a:latin typeface="Calibri"/>
              </a:rPr>
              <a:t>it's 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2468880"/>
            <a:ext cx="3118104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The confident subset is 70–92% useful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4297680"/>
            <a:ext cx="311810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AAAAAA"/>
                </a:solidFill>
                <a:latin typeface="Calibri"/>
              </a:rPr>
              <a:t>self-flagged, no reference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508760"/>
            <a:ext cx="3483864" cy="32918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645920"/>
            <a:ext cx="311810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D54F"/>
                </a:solidFill>
                <a:latin typeface="Calibri"/>
              </a:rPr>
              <a:t>Capture decides</a:t>
            </a:r>
            <a:br/>
            <a:r>
              <a:rPr sz="2400" b="1" i="0">
                <a:solidFill>
                  <a:srgbClr val="FFD54F"/>
                </a:solidFill>
                <a:latin typeface="Calibri"/>
              </a:rPr>
              <a:t>the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468880"/>
            <a:ext cx="3118104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Resolution and frontality dominate everything downstream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4297680"/>
            <a:ext cx="311810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AAAAAA"/>
                </a:solidFill>
                <a:latin typeface="Calibri"/>
              </a:rPr>
              <a:t>the one robust lever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74919"/>
            <a:ext cx="1109167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4CAF50"/>
                </a:solidFill>
                <a:latin typeface="Calibri"/>
              </a:rPr>
              <a:t>Capability is proven — coverage is the frontier.</a:t>
            </a:r>
          </a:p>
        </p:txBody>
      </p:sp>
      <p:pic>
        <p:nvPicPr>
          <p:cNvPr id="17" name="Picture 16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Compared to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167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1">
                <a:solidFill>
                  <a:srgbClr val="AAAAAA"/>
                </a:solidFill>
                <a:latin typeface="Calibri"/>
              </a:rPr>
              <a:t>You don't have a current vendor — you have two unsatisfactory options. We're the third.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AAAAAA"/>
                </a:solidFill>
                <a:latin typeface="Calibri"/>
              </a:rPr>
              <a:t>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0" y="192024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AAAAAA"/>
                </a:solidFill>
                <a:latin typeface="Calibri"/>
              </a:rPr>
              <a:t>WORD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92024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AAAAAA"/>
                </a:solidFill>
                <a:latin typeface="Calibri"/>
              </a:rPr>
              <a:t>TIME PER HOUR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920240"/>
            <a:ext cx="27706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AAAAAA"/>
                </a:solidFill>
                <a:latin typeface="Calibri"/>
              </a:rPr>
              <a:t>HALLUCINATION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1091672" cy="1097280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Expert human lip-reader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74320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AAAAAA"/>
                </a:solidFill>
                <a:latin typeface="Calibri"/>
              </a:rPr>
              <a:t>45 – 52%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788920"/>
            <a:ext cx="2743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hours of expert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788920"/>
            <a:ext cx="25877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varies, hard to audit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85032"/>
            <a:ext cx="11091672" cy="1097280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50792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AAAAAA"/>
                </a:solidFill>
                <a:latin typeface="Calibri"/>
              </a:rPr>
              <a:t>Don't do it at 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4005072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666666"/>
                </a:solidFill>
                <a:latin typeface="Calibr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050792"/>
            <a:ext cx="2743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AAAAAA"/>
                </a:solidFill>
                <a:latin typeface="Calibri"/>
              </a:rPr>
              <a:t>0 (information is lost)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4050792"/>
            <a:ext cx="25877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AAAAAA"/>
                </a:solidFill>
                <a:latin typeface="Calibri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46904"/>
            <a:ext cx="11091672" cy="1097280"/>
          </a:xfrm>
          <a:prstGeom prst="rect">
            <a:avLst/>
          </a:prstGeom>
          <a:solidFill>
            <a:srgbClr val="1A3550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12664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Argos + reviewer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5266944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4CAF50"/>
                </a:solidFill>
                <a:latin typeface="Calibri"/>
              </a:rPr>
              <a:t>55 – 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312664"/>
            <a:ext cx="2743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minutes of reviewer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5312664"/>
            <a:ext cx="25877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4CAF50"/>
                </a:solidFill>
                <a:latin typeface="Calibri"/>
              </a:rPr>
              <a:t>near-zero, flagged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Word accuracy figures from published lip-reading literature (Bear &amp; Harvey 2017, Assael et al. 2016).</a:t>
            </a:r>
          </a:p>
        </p:txBody>
      </p:sp>
      <p:pic>
        <p:nvPicPr>
          <p:cNvPr id="25" name="Picture 24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The free win: film for the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0">
                <a:solidFill>
                  <a:srgbClr val="AAAAAA"/>
                </a:solidFill>
                <a:latin typeface="Calibri"/>
              </a:rPr>
              <a:t>No new software, no waiting — the biggest lift available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483864" cy="28346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311810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4CAF50"/>
                </a:solidFill>
                <a:latin typeface="Calibri"/>
              </a:rPr>
              <a:t>Native, high-res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3118104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Record on the device — never a screen-recording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311810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AAAAAA"/>
                </a:solidFill>
                <a:latin typeface="Calibri"/>
              </a:rPr>
              <a:t>clear turns: 1 in 7 vs 1 in 125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920240"/>
            <a:ext cx="3483864" cy="28346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057400"/>
            <a:ext cx="311810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00B4D8"/>
                </a:solidFill>
                <a:latin typeface="Calibri"/>
              </a:rPr>
              <a:t>Frontal faces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880360"/>
            <a:ext cx="3118104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A face at 45° loses nearly everything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4251960"/>
            <a:ext cx="311810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AAAAAA"/>
                </a:solidFill>
                <a:latin typeface="Calibri"/>
              </a:rPr>
              <a:t>useful turns: 27% front vs 3% at 45°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920240"/>
            <a:ext cx="3483864" cy="28346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2057400"/>
            <a:ext cx="311810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D54F"/>
                </a:solidFill>
                <a:latin typeface="Calibri"/>
              </a:rPr>
              <a:t>Fill the 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2880360"/>
            <a:ext cx="3118104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Closer camera, more pixels on the lips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4251960"/>
            <a:ext cx="311810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1">
                <a:solidFill>
                  <a:srgbClr val="AAAAAA"/>
                </a:solidFill>
                <a:latin typeface="Calibri"/>
              </a:rPr>
              <a:t>resolution is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1109167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4CAF50"/>
                </a:solidFill>
                <a:latin typeface="Calibri"/>
              </a:rPr>
              <a:t>Offer: a re-shoot pilot — same scenes, captured right.</a:t>
            </a:r>
          </a:p>
        </p:txBody>
      </p:sp>
      <p:pic>
        <p:nvPicPr>
          <p:cNvPr id="18" name="Picture 17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Multi-speaker — engineering work, in flight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AAAAAA"/>
                </a:solidFill>
                <a:latin typeface="Calibri"/>
              </a:rPr>
              <a:t>One centered speaker today. Two-speaker support is a preprocessing layer we're already building.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5440680" cy="3657600"/>
          </a:xfrm>
          <a:prstGeom prst="rect">
            <a:avLst/>
          </a:prstGeom>
          <a:solidFill>
            <a:srgbClr val="152A40"/>
          </a:solidFill>
          <a:ln w="1270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E06C75"/>
                </a:solidFill>
                <a:latin typeface="Calibri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48920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Single-speaker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48920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AAAAAA"/>
                </a:solidFill>
                <a:latin typeface="Calibri"/>
              </a:rPr>
              <a:t>The model takes one centered face per frame. Two people in frame degrades the signal.</a:t>
            </a:r>
          </a:p>
        </p:txBody>
      </p:sp>
      <p:sp>
        <p:nvSpPr>
          <p:cNvPr id="9" name="Oval 8"/>
          <p:cNvSpPr/>
          <p:nvPr/>
        </p:nvSpPr>
        <p:spPr>
          <a:xfrm>
            <a:off x="2994660" y="4617720"/>
            <a:ext cx="548640" cy="548640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5440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1">
                <a:solidFill>
                  <a:srgbClr val="AAAAAA"/>
                </a:solidFill>
                <a:latin typeface="Calibri"/>
              </a:rPr>
              <a:t>one centered crop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57400"/>
            <a:ext cx="5440680" cy="3657600"/>
          </a:xfrm>
          <a:prstGeom prst="rect">
            <a:avLst/>
          </a:prstGeom>
          <a:solidFill>
            <a:srgbClr val="152A40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4CAF50"/>
                </a:solidFill>
                <a:latin typeface="Calibri"/>
              </a:rPr>
              <a:t>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97480"/>
            <a:ext cx="48920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Entity-split 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474720"/>
            <a:ext cx="48920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AAAAAA"/>
                </a:solidFill>
                <a:latin typeface="Calibri"/>
              </a:rPr>
              <a:t>Local face detection + tracker emits per-speaker crops. Each speaker gets its own lip-reading pass. Engineering work, in flight — not research.</a:t>
            </a:r>
          </a:p>
        </p:txBody>
      </p:sp>
      <p:sp>
        <p:nvSpPr>
          <p:cNvPr id="15" name="Oval 14"/>
          <p:cNvSpPr/>
          <p:nvPr/>
        </p:nvSpPr>
        <p:spPr>
          <a:xfrm>
            <a:off x="6629400" y="461772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52360" y="4617720"/>
            <a:ext cx="457200" cy="457200"/>
          </a:xfrm>
          <a:prstGeom prst="ellipse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8092440" y="4709160"/>
            <a:ext cx="640080" cy="274320"/>
          </a:xfrm>
          <a:prstGeom prst="right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457200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18320" y="4572000"/>
            <a:ext cx="457200" cy="4572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257800"/>
            <a:ext cx="5440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1">
                <a:solidFill>
                  <a:srgbClr val="AAAAAA"/>
                </a:solidFill>
                <a:latin typeface="Calibri"/>
              </a:rPr>
              <a:t>two speakers → two crops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1">
                <a:solidFill>
                  <a:srgbClr val="00B4D8"/>
                </a:solidFill>
                <a:latin typeface="Calibri"/>
              </a:rPr>
              <a:t>Engineering work, not a research bet. Path is concrete.</a:t>
            </a:r>
          </a:p>
        </p:txBody>
      </p:sp>
      <p:pic>
        <p:nvPicPr>
          <p:cNvPr id="22" name="Picture 21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Optional add-on — pre-filter low-quality clips before decode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AAAAAA"/>
                </a:solidFill>
                <a:latin typeface="Calibri"/>
              </a:rPr>
              <a:t>Available if you want it. Saves compute and improves apparent accuracy on real client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167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Each row = clips remaining after that gate. Out of 100 uploaded clips, 75 reach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04288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All uploaded clips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194560"/>
            <a:ext cx="4572000" cy="5943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304288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99816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Head angle ≤ 30°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990088"/>
            <a:ext cx="411480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3099816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035808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10 of 100 rejected — face too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282696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66666"/>
                </a:solidFill>
                <a:latin typeface="Calibri"/>
              </a:rPr>
              <a:t>viseme accuracy drops past 30°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95344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Mouth visibility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3785616"/>
            <a:ext cx="374904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3895344"/>
            <a:ext cx="3749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82%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831336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8 of 100 rejected — mouth occluded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078224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66666"/>
                </a:solidFill>
                <a:latin typeface="Calibri"/>
              </a:rPr>
              <a:t>lower face must be unoccluded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90872"/>
            <a:ext cx="2651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Lighting / contrast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6220" y="4581144"/>
            <a:ext cx="3429000" cy="5943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46220" y="4690872"/>
            <a:ext cx="3429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75%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626864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7 of 100 rejected — too dark / washed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873752"/>
            <a:ext cx="32918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1">
                <a:solidFill>
                  <a:srgbClr val="666666"/>
                </a:solidFill>
                <a:latin typeface="Calibri"/>
              </a:rPr>
              <a:t>lip-region contrast within range  →  REACHES THE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1">
                <a:solidFill>
                  <a:srgbClr val="00B4D8"/>
                </a:solidFill>
                <a:latin typeface="Calibri"/>
              </a:rPr>
              <a:t>A credible system must know when NOT to decode.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1">
                <a:solidFill>
                  <a:srgbClr val="AAAAAA"/>
                </a:solidFill>
                <a:latin typeface="Calibri"/>
              </a:rPr>
              <a:t>Three frame-level CV checks, all running locally. Status: planned ablation. Percentages illustrative — actual rejection rates depend on your video conditions.</a:t>
            </a:r>
          </a:p>
        </p:txBody>
      </p:sp>
      <p:pic>
        <p:nvPicPr>
          <p:cNvPr id="26" name="Picture 25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The next milestone needs more training data — from you.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167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1">
                <a:solidFill>
                  <a:srgbClr val="FFFFFF"/>
                </a:solidFill>
                <a:latin typeface="Calibri"/>
              </a:rPr>
              <a:t>Today's model is trained on a small slice of public data, not your domain.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1091672" cy="960120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3347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Direction is known.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543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More data on your domain → fewer flagged segments, better domain-vocabulary recovery.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93592"/>
            <a:ext cx="11091672" cy="960120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58184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4CAF50"/>
                </a:solidFill>
                <a:latin typeface="Calibri"/>
              </a:rPr>
              <a:t>Path is concrete.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42232"/>
            <a:ext cx="10543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Same pipeline, same architecture — a shared training run on your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18304"/>
            <a:ext cx="11091672" cy="960120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82896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D54F"/>
                </a:solidFill>
                <a:latin typeface="Calibri"/>
              </a:rPr>
              <a:t>Outcome is yours.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66944"/>
            <a:ext cx="1054303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The model that ships at the end is trained on your content, not a benchmark.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806440"/>
            <a:ext cx="11091672" cy="594360"/>
          </a:xfrm>
          <a:prstGeom prst="rect">
            <a:avLst/>
          </a:prstGeom>
          <a:solidFill>
            <a:srgbClr val="1A355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1054303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Data without a training budget is a folder. Budget without data is a wishlist. Both together is a model trained on your content.</a:t>
            </a:r>
          </a:p>
        </p:txBody>
      </p:sp>
      <p:pic>
        <p:nvPicPr>
          <p:cNvPr id="16" name="Picture 15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The next milestone is a partnership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34440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731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20240"/>
            <a:ext cx="972007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Today's model is trained on a small slice of public data, not your domain. It works, but it's a prototype, not a production model on your content.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54680"/>
            <a:ext cx="11091672" cy="1234440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731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4CAF50"/>
                </a:solidFill>
                <a:latin typeface="Calibri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383280"/>
            <a:ext cx="972007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We're proposing to go from prototype to production *together* — your data, our pipeline, a shared training run on your domain.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17720"/>
            <a:ext cx="11091672" cy="1234440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731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D54F"/>
                </a:solidFill>
                <a:latin typeface="Calibri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846320"/>
            <a:ext cx="972007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Specifics in follow-up.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No dollar amounts on slide. Specifics in the follow-up.</a:t>
            </a:r>
          </a:p>
        </p:txBody>
      </p:sp>
      <p:pic>
        <p:nvPicPr>
          <p:cNvPr id="14" name="Picture 13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Built to continue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91672" cy="12344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4206240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4CAF50"/>
                </a:solidFill>
                <a:latin typeface="Calibri"/>
              </a:rPr>
              <a:t>In your hands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463040"/>
            <a:ext cx="6245352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Standalone system on your hardware, user guide, this evaluation's full report pack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52928"/>
            <a:ext cx="11091672" cy="12344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52928"/>
            <a:ext cx="4206240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00B4D8"/>
                </a:solidFill>
                <a:latin typeface="Calibri"/>
              </a:rPr>
              <a:t>Repeatable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852928"/>
            <a:ext cx="6245352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The same pipeline re-runs on any new footage you bring — days, not months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42816"/>
            <a:ext cx="11091672" cy="123444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42816"/>
            <a:ext cx="4206240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FFD54F"/>
                </a:solidFill>
                <a:latin typeface="Calibri"/>
              </a:rPr>
              <a:t>Scoped next 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242816"/>
            <a:ext cx="6245352" cy="12344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Multi-speaker and quality pre-filter are written up, estimated, and ready to staff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32120"/>
            <a:ext cx="99943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AAAAAA"/>
                </a:solidFill>
                <a:latin typeface="Calibri"/>
              </a:rPr>
              <a:t>The next phase is staffed as part of the partnership — people, data, and training together.</a:t>
            </a:r>
          </a:p>
        </p:txBody>
      </p:sp>
      <p:pic>
        <p:nvPicPr>
          <p:cNvPr id="14" name="Picture 13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5349240" cy="1965960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800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0B4D8"/>
                </a:solidFill>
                <a:latin typeface="Calibri"/>
              </a:rPr>
              <a:t>Pilot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4800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AAAAAA"/>
                </a:solidFill>
                <a:latin typeface="Calibri"/>
              </a:rPr>
              <a:t>Size, content type, sample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91640"/>
            <a:ext cx="5349240" cy="1965960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20240"/>
            <a:ext cx="4800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FFD54F"/>
                </a:solidFill>
                <a:latin typeface="Calibri"/>
              </a:rPr>
              <a:t>Integration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60320"/>
            <a:ext cx="4800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AAAAAA"/>
                </a:solidFill>
                <a:latin typeface="Calibri"/>
              </a:rPr>
              <a:t>Systems and pipelines to wire into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31920"/>
            <a:ext cx="5349240" cy="1965960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4800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4CAF50"/>
                </a:solidFill>
                <a:latin typeface="Calibri"/>
              </a:rPr>
              <a:t>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4800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AAAAAA"/>
                </a:solidFill>
                <a:latin typeface="Calibri"/>
              </a:rPr>
              <a:t>Weeks to first end-to-end run on your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931920"/>
            <a:ext cx="5349240" cy="1965960"/>
          </a:xfrm>
          <a:prstGeom prst="rect">
            <a:avLst/>
          </a:prstGeom>
          <a:solidFill>
            <a:srgbClr val="15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4160520"/>
            <a:ext cx="4800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E06C75"/>
                </a:solidFill>
                <a:latin typeface="Calibri"/>
              </a:rPr>
              <a:t>Success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800600"/>
            <a:ext cx="4800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1">
                <a:solidFill>
                  <a:srgbClr val="AAAAAA"/>
                </a:solidFill>
                <a:latin typeface="Calibri"/>
              </a:rPr>
              <a:t>What good looks like for your team</a:t>
            </a:r>
          </a:p>
        </p:txBody>
      </p:sp>
      <p:pic>
        <p:nvPicPr>
          <p:cNvPr id="16" name="Picture 15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Three decisions we're asking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91672" cy="118872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420624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4CAF50"/>
                </a:solidFill>
                <a:latin typeface="Calibri"/>
              </a:rPr>
              <a:t>1 · Film for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463040"/>
            <a:ext cx="6245352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Adopt the capture protocol; run the re-shoot pilot with 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11091672" cy="118872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420624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00B4D8"/>
                </a:solidFill>
                <a:latin typeface="Calibri"/>
              </a:rPr>
              <a:t>2 · Share footage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834640"/>
            <a:ext cx="6245352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Your recordings become the training data for your production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11091672" cy="118872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420624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500" b="1" i="0">
                <a:solidFill>
                  <a:srgbClr val="FFD54F"/>
                </a:solidFill>
                <a:latin typeface="Calibri"/>
              </a:rPr>
              <a:t>3 · Green-light the next 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206240"/>
            <a:ext cx="6245352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Multi-speaker + a stronger model, built together as a partnership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0" i="0">
                <a:solidFill>
                  <a:srgbClr val="AAAAAA"/>
                </a:solidFill>
                <a:latin typeface="Calibri"/>
              </a:rPr>
              <a:t>Thank you — Argos · The Orchard</a:t>
            </a:r>
          </a:p>
        </p:txBody>
      </p:sp>
      <p:pic>
        <p:nvPicPr>
          <p:cNvPr id="14" name="Picture 13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