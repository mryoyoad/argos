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with the product positioning: working pipeline + trust signals + we deploy it on your infrastructure. Set expectation that this is a deep dive, not a pitch — they'll see the system run end-to-end.</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with the brand. 30-second elevator pitch — what we are, who we serve, what makes us different. Don't go deep on any one column; the next slide explains what we built.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Six concrete deliverables. Each is a real artifact you can show. Frame this as 'this is what your team gets', not 'this is what we research.' The footnote is the closer: don't oversell future improvements.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Background slide. Most clients haven't heard of visual speech recognition. Spend 60 seconds: define the problem, name 4 use cases, then move on. The four cards are deliberately broad so the client maps their own use case onto one.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Numbers from MEMORY.md &gt; Key Project Numbers. 62% = 922/1497 NIV Y+P (rounded from 61.6%). 23% = 346/1497 NIV Y (rounded from 23.1%). 1 in 5 = 20.5% hallucination/auto-flag rate. Validation κ=0.818 vs Opus expert judge — phrased as '8 of 10' on slide. Don't read out NIV / κ on the slide; they're for your reference here. Lean into the difficulty caveat — these numbers are on real-world hard data, not a curated benchmark, and the client should hear that explicitly. Anything cleaner-than-YouTube will perform better.</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5-minute orientation. Don't go deep on any one item here.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Cue the embedded video on the next slide. Pause briefly so the audience focuses.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is a placeholder until the UI walkthrough video is recorded. When recorded, embed the .mp4 directly (not a link) so it plays offline.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Tie back to the demo. If a beat didn't land in the video, restate it here.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Section transition: OUTPUT EXAMPLES. Pause briefly.</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Pick 1-2 tiles to actually play during the meeting. Recommend starting with 'perfect' (sets the bar) then 'halluc' (shows the system catches the bad ones). Don't play all 6 — pick what fits your audience. All videos are static poster frames at deck-build time; in PowerPoint they have hyperlinks/embeds set by helpers.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concrete examples on the next three slides.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Section transition: CONFIDENCE &amp; TRUST. Pause briefly.</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Set up the two-layer story on the next slide. Don't go deep yet.</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Layer 1 is per-token softmax probability from LLaMA, aggregated to per-word using min() across sub-tokens (conservative). Layer 2 is the Intelligibility Score (IS) — a 6-signal composite designed at design time by Claude (no LLM call at evaluation time). Calibrated κ=0.818 vs Opus judge (Y+P). Don't say κ on the slide.</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the audience through one segment of the Obama bin Laden speech report. Hover or point at a green run, then a yellow word, then the red mismatch. The recognizable content lets clients track what's right and what's not even though the audio isn't being played. Note that the per-word confidence on THIS screenshot is currently synthetic (derived from WER alignment) until B3's real sequence-confidence sidecar lands — visual treatment is identical, the underlying signal will swap when the GPU run completes. The Obama speech is the demo input recommended for your live UI walkthrough recording (vsp_input/050111_OsamaBinLadenStatement_HD.mp4).</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Real data on the full 1,497-segment baseline. Pearson r(IS, WER) = -0.850. Spearman ρ = -0.943. Median WER staircase by IS tier: 4-5 → 19%, 3-4 → 40%, 2-3 → 62%, 1-2 → 88%, &lt;1 → 100%+. Zero false positives at IS ≥ 3.80 for the WER ≤ 50% definition of 'good' — every single segment the system flagged 'clearly conveyed' actually had WER below 50%. This is the conditional-lift story we deferred earlier; we have it today at the Tier-1 (Intelligibility Score) level. A future Tier-2 chart from per-token model confidence will complement (not replace) this one once the GPU subset run completes. Don't say 'IS' on the slide — say 'when the system rates a segment clearly conveyed.'</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62% = NIV Y+P (61.6% rounded). The point of this slide is twofold: (1) anchor the 62% as the headline 'useful' number without giving the client labels for what counts as useful or partial — they decide their own bar; (2) make crystal clear that this is real-world hard data, not a benchmark we hand-picked. The conditional 'on high-confidence segments only' lift is real but we're holding back the precise number until per-segment sequence-confidence data is in (B3 in the plan). Don't say NIV / kappa / r=. The user explicitly rejected the 39% partial / 38% needs-review breakdown — we don't anchor the client's threshold for 'useful' on our terms.</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20.5% hallucination rate translated to '1 in 5'. The detection rules are the WER≥100% length anomaly plus per-token confidence flag. Don't enumerate the rules on the slide — stay client-friendly.</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Land the value prop. Connect this back to their actual workflow if you know it.</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Section transition: VALIDATION. Pause briefly.</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'independent expert reviewer' is Claude Opus 4.6 acting as a calibration judge — don't name it on the slide; clients hear 'AI validating AI' and discount it. Frame it as the methodology that produced the calibrated thresholds.</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82% comes from κ=0.818 for NIV Y+P translated to a plain agreement rate. Source: MEMORY.md.</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Cross-config Pearson r=0.925, std=0.015 across 16 decode configs. Don't say r on the slide.</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Closing on the validation section. Make eye contact.</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Section transition: PIPELINE &amp; ARCHITECTURE. Pause briefly.</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Five-step data flow. Raw video at 25fps is cropped to 96x96 mouth region. AV-HuBERT extracts 1024-dim visual features. Linear projection maps to 4096-dim LLM input space. LLaMA-2-7B generates text. The visual encoder is frozen — only the projection layer and LoRA adapters are trained.</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are visemes (groups of phonemes that look the same on the lips). Don't say 'visemes' on the slide. The teaching beat is: this is why the problem is hard, and why our confidence signal matters.</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Behind the scenes these are auto_avsr, av_hubert, and VSP-LLM. Don't name those repos for clients. The narrative beat: we own the whole stack, not a vendor stitch-up.</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Headline: same code, two deployment models.</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Switch to live demo now. The web UI provides drag-and-drop video upload, real-time pipeline progress display, and per-segment results with IS scores. Under the hood: 8 pipeline stages run automatically — normalize, mouth crop, ASR, LRS3 prep, manifests, K-means clustering, decode, and report generation.</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Section transition: PRE-PROCESSING ROADMAP. Pause briefly.</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Native python-pptx shapes (not embedded matplotlib). The 'face detection + tracker' framing leaves implementation open — YOLO, RetinaFace, MediaPipe, etc. Emphasize 'runs locally' for client comfort: no extra cloud dependency, no extra cost. Status is explicitly 'planned ablation' — we are NOT claiming this is shipping today.</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Native python-pptx funnel (no matplotlib). Frame as 'highest leverage per dollar.' The model is never tested in isolation; what reaches it is what matters. The funnel percentages shown are illustrative — actual rejection rates depend on the client's own video conditions, which is exactly what the ablation would measure. Status is 'planned ablation' — not yet shipping.</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Bridge from pre-processing into the model-improvement roadmap.</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Section transition: ROADMAP &amp; INVESTMENT. Pause briefly.</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Direction-only. No specific numbers per phase — the v3 plan strips those.</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Don't say 'LLaMA-2 → Llama 3.1 8B' on the slide. Don't say 'LoRA' or 'rank' or token counts. Say 'larger and better-trained brain on the back.'</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Direction-only framing. Speak about 'the data ceiling' and 'the next unlock' rather than naming the current and target dataset sizes. Specific dataset numbers belong in the technical follow-up, not the meeting room.</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Arabic replication roadmap with realistic, conservative estimates. Key insight: AV-HuBERT learned English visemes — Arabic has different phonemes (pharyngeals, emphatics) producing distinct lip movements, so fine-tuning is essential, not optional.</a:t>
            </a:r>
          </a:p>
          <a:p/>
          <a:p>
            <a:r>
              <a:t>Key unknowns and bottlenecks:</a:t>
            </a:r>
          </a:p>
          <a:p>
            <a:r>
              <a:t>1. Arabic visual data quality unverified for AV-HuBERT fine-tuning.</a:t>
            </a:r>
          </a:p>
          <a:p>
            <a:r>
              <a:t>2. No Arabic lip-reading benchmark exists — eval dataset must be built from scratch with native speakers.</a:t>
            </a:r>
          </a:p>
          <a:p>
            <a:r>
              <a:t>3. RTL text handling and Arabic NER tooling maturity is unknown.</a:t>
            </a:r>
          </a:p>
          <a:p/>
          <a:p>
            <a:r>
              <a:t>Steps: fine-tune AV-HuBERT + recluster K-means (5-10 weeks), swap to Arabic LLM (1-2 weeks), build eval dataset (4-8 weeks, parallel), RTL normalization + end-to-end testing (3-6 weeks). Total 2-3 months realistic. Pipeline code itself is language-agnostic.</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 direct. The ask is real. Numbers go in the follow-up email, not this slide — leaves room for negotiation and avoids anchoring.</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Section transition: INTEGRATION &amp; NEXT STEPS. Pause briefly.</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three emotional beats from the deck — in order. Repeat them out loud.</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Reinforce the integration commitment. Important for clients evaluating vendor risk — they want a real handoff, not a black box.</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Customize before the meeting. Use the client's own language for each bullet.</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Final slide. Thank the audience and open for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image" Target="../media/image3.jpg"/><Relationship Id="rId4" Type="http://schemas.openxmlformats.org/officeDocument/2006/relationships/image" Target="../media/image4.jpg"/><Relationship Id="rId5" Type="http://schemas.openxmlformats.org/officeDocument/2006/relationships/image" Target="../media/image5.jpg"/><Relationship Id="rId6" Type="http://schemas.openxmlformats.org/officeDocument/2006/relationships/image" Target="../media/image6.jpg"/><Relationship Id="rId7" Type="http://schemas.openxmlformats.org/officeDocument/2006/relationships/image" Target="../media/image7.jpg"/><Relationship Id="rId8" Type="http://schemas.openxmlformats.org/officeDocument/2006/relationships/image" Target="../media/image1.jpg"/><Relationship Id="rId9"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1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1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15.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image" Target="../media/image1.jpg"/><Relationship Id="rId4" Type="http://schemas.openxmlformats.org/officeDocument/2006/relationships/notesSlide" Target="../notesSlides/notesSlide1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image" Target="../media/image1.jpg"/><Relationship Id="rId4" Type="http://schemas.openxmlformats.org/officeDocument/2006/relationships/notesSlide" Target="../notesSlides/notesSlide1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18.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19.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20.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2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2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2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24.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25.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26.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2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28.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29.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30.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31.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3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33.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34.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35.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36.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3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38.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39.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40.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41.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4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43.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44.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45.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46.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D1B2A"/>
        </a:solidFill>
        <a:effectLst/>
      </p:bgPr>
    </p:bg>
    <p:spTree>
      <p:nvGrpSpPr>
        <p:cNvPr id="1" name=""/>
        <p:cNvGrpSpPr/>
        <p:nvPr/>
      </p:nvGrpSpPr>
      <p:grpSpPr/>
      <p:sp>
        <p:nvSpPr>
          <p:cNvPr id="2" name="TextBox 1"/>
          <p:cNvSpPr txBox="1"/>
          <p:nvPr/>
        </p:nvSpPr>
        <p:spPr>
          <a:xfrm>
            <a:off x="548640" y="2194560"/>
            <a:ext cx="11091672" cy="914400"/>
          </a:xfrm>
          <a:prstGeom prst="rect">
            <a:avLst/>
          </a:prstGeom>
          <a:noFill/>
        </p:spPr>
        <p:txBody>
          <a:bodyPr wrap="square" anchor="t"/>
          <a:lstStyle/>
          <a:p>
            <a:pPr algn="ctr"/>
            <a:r>
              <a:rPr sz="4000" b="1" i="0">
                <a:solidFill>
                  <a:srgbClr val="FFFFFF"/>
                </a:solidFill>
                <a:latin typeface="Calibri"/>
              </a:rPr>
              <a:t>Argos — Visual Speech Recognition</a:t>
            </a:r>
          </a:p>
        </p:txBody>
      </p:sp>
      <p:sp>
        <p:nvSpPr>
          <p:cNvPr id="3" name="TextBox 2"/>
          <p:cNvSpPr txBox="1"/>
          <p:nvPr/>
        </p:nvSpPr>
        <p:spPr>
          <a:xfrm>
            <a:off x="548640" y="3108960"/>
            <a:ext cx="11091672" cy="548640"/>
          </a:xfrm>
          <a:prstGeom prst="rect">
            <a:avLst/>
          </a:prstGeom>
          <a:noFill/>
        </p:spPr>
        <p:txBody>
          <a:bodyPr wrap="square" anchor="t"/>
          <a:lstStyle/>
          <a:p>
            <a:pPr algn="ctr"/>
            <a:r>
              <a:rPr sz="2200" b="0" i="1">
                <a:solidFill>
                  <a:srgbClr val="00B4D8"/>
                </a:solidFill>
                <a:latin typeface="Calibri"/>
              </a:rPr>
              <a:t>Built-In Confidence. Ready to Deploy.</a:t>
            </a:r>
          </a:p>
        </p:txBody>
      </p:sp>
      <p:sp>
        <p:nvSpPr>
          <p:cNvPr id="4" name="TextBox 3"/>
          <p:cNvSpPr txBox="1"/>
          <p:nvPr/>
        </p:nvSpPr>
        <p:spPr>
          <a:xfrm>
            <a:off x="548640" y="5120640"/>
            <a:ext cx="11091672" cy="365760"/>
          </a:xfrm>
          <a:prstGeom prst="rect">
            <a:avLst/>
          </a:prstGeom>
          <a:noFill/>
        </p:spPr>
        <p:txBody>
          <a:bodyPr wrap="square" anchor="t"/>
          <a:lstStyle/>
          <a:p>
            <a:pPr algn="ctr"/>
            <a:r>
              <a:rPr sz="1400" b="0" i="0">
                <a:solidFill>
                  <a:srgbClr val="AAAAAA"/>
                </a:solidFill>
                <a:latin typeface="Calibri"/>
              </a:rPr>
              <a:t>Yoad Oxman   ·   Argos / The Orchard   ·   April 2026</a:t>
            </a:r>
          </a:p>
        </p:txBody>
      </p:sp>
      <p:pic>
        <p:nvPicPr>
          <p:cNvPr id="5" name="Picture 4" descr="WhiteLogo.jpeg"/>
          <p:cNvPicPr>
            <a:picLocks noChangeAspect="1"/>
          </p:cNvPicPr>
          <p:nvPr/>
        </p:nvPicPr>
        <p:blipFill>
          <a:blip r:embed="rId2"/>
          <a:stretch>
            <a:fillRect/>
          </a:stretch>
        </p:blipFill>
        <p:spPr>
          <a:xfrm>
            <a:off x="11323320" y="6428232"/>
            <a:ext cx="269634" cy="320040"/>
          </a:xfrm>
          <a:prstGeom prst="rect">
            <a:avLst/>
          </a:prstGeom>
        </p:spPr>
      </p:pic>
      <p:sp>
        <p:nvSpPr>
          <p:cNvPr id="6" name="TextBox 5"/>
          <p:cNvSpPr txBox="1"/>
          <p:nvPr/>
        </p:nvSpPr>
        <p:spPr>
          <a:xfrm>
            <a:off x="548640" y="6510528"/>
            <a:ext cx="457200" cy="228600"/>
          </a:xfrm>
          <a:prstGeom prst="rect">
            <a:avLst/>
          </a:prstGeom>
          <a:noFill/>
        </p:spPr>
        <p:txBody>
          <a:bodyPr wrap="none">
            <a:spAutoFit/>
          </a:bodyPr>
          <a:lstStyle/>
          <a:p>
            <a:r>
              <a:rPr sz="900" b="0" i="0">
                <a:solidFill>
                  <a:srgbClr val="666666"/>
                </a:solidFill>
                <a:latin typeface="Calibri"/>
              </a:rPr>
              <a:t>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D1B2A"/>
        </a:solidFill>
        <a:effectLst/>
      </p:bgPr>
    </p:bg>
    <p:spTree>
      <p:nvGrpSpPr>
        <p:cNvPr id="1" name=""/>
        <p:cNvGrpSpPr/>
        <p:nvPr/>
      </p:nvGrpSpPr>
      <p:grpSpPr/>
      <p:sp>
        <p:nvSpPr>
          <p:cNvPr id="2" name="TextBox 1"/>
          <p:cNvSpPr txBox="1"/>
          <p:nvPr/>
        </p:nvSpPr>
        <p:spPr>
          <a:xfrm>
            <a:off x="548640" y="365760"/>
            <a:ext cx="11091672" cy="685800"/>
          </a:xfrm>
          <a:prstGeom prst="rect">
            <a:avLst/>
          </a:prstGeom>
          <a:noFill/>
        </p:spPr>
        <p:txBody>
          <a:bodyPr wrap="square">
            <a:spAutoFit/>
          </a:bodyPr>
          <a:lstStyle/>
          <a:p>
            <a:r>
              <a:rPr sz="3200" b="1" i="0">
                <a:solidFill>
                  <a:srgbClr val="FFFFFF"/>
                </a:solidFill>
                <a:latin typeface="Calibri"/>
              </a:rPr>
              <a:t>Argos</a:t>
            </a:r>
          </a:p>
        </p:txBody>
      </p:sp>
      <p:sp>
        <p:nvSpPr>
          <p:cNvPr id="3" name="Rectangle 2"/>
          <p:cNvSpPr/>
          <p:nvPr/>
        </p:nvSpPr>
        <p:spPr>
          <a:xfrm>
            <a:off x="548640" y="1097280"/>
            <a:ext cx="11091672" cy="1905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554480"/>
            <a:ext cx="11091672" cy="731520"/>
          </a:xfrm>
          <a:prstGeom prst="rect">
            <a:avLst/>
          </a:prstGeom>
          <a:noFill/>
        </p:spPr>
        <p:txBody>
          <a:bodyPr wrap="square" anchor="t"/>
          <a:lstStyle/>
          <a:p>
            <a:pPr algn="ctr"/>
            <a:r>
              <a:rPr sz="2800" b="1" i="0">
                <a:solidFill>
                  <a:srgbClr val="FFFFFF"/>
                </a:solidFill>
                <a:latin typeface="Calibri"/>
              </a:rPr>
              <a:t>We build production-grade visual speech recognition.</a:t>
            </a:r>
          </a:p>
        </p:txBody>
      </p:sp>
      <p:sp>
        <p:nvSpPr>
          <p:cNvPr id="5" name="TextBox 4"/>
          <p:cNvSpPr txBox="1"/>
          <p:nvPr/>
        </p:nvSpPr>
        <p:spPr>
          <a:xfrm>
            <a:off x="548640" y="2331720"/>
            <a:ext cx="11091672" cy="457200"/>
          </a:xfrm>
          <a:prstGeom prst="rect">
            <a:avLst/>
          </a:prstGeom>
          <a:noFill/>
        </p:spPr>
        <p:txBody>
          <a:bodyPr wrap="square" anchor="t"/>
          <a:lstStyle/>
          <a:p>
            <a:pPr algn="ctr"/>
            <a:r>
              <a:rPr sz="1800" b="0" i="1">
                <a:solidFill>
                  <a:srgbClr val="00B4D8"/>
                </a:solidFill>
                <a:latin typeface="Calibri"/>
              </a:rPr>
              <a:t>Lip-reading at scale, with built-in confidence.</a:t>
            </a:r>
          </a:p>
        </p:txBody>
      </p:sp>
      <p:sp>
        <p:nvSpPr>
          <p:cNvPr id="6" name="Rectangle 5"/>
          <p:cNvSpPr/>
          <p:nvPr/>
        </p:nvSpPr>
        <p:spPr>
          <a:xfrm>
            <a:off x="548640" y="3291840"/>
            <a:ext cx="3520440" cy="2286000"/>
          </a:xfrm>
          <a:prstGeom prst="rect">
            <a:avLst/>
          </a:prstGeom>
          <a:solidFill>
            <a:srgbClr val="152A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3520440"/>
            <a:ext cx="3154680" cy="365760"/>
          </a:xfrm>
          <a:prstGeom prst="rect">
            <a:avLst/>
          </a:prstGeom>
          <a:noFill/>
        </p:spPr>
        <p:txBody>
          <a:bodyPr wrap="square" anchor="t"/>
          <a:lstStyle/>
          <a:p>
            <a:pPr algn="l"/>
            <a:r>
              <a:rPr sz="1300" b="1" i="0">
                <a:solidFill>
                  <a:srgbClr val="00B4D8"/>
                </a:solidFill>
                <a:latin typeface="Calibri"/>
              </a:rPr>
              <a:t>WHAT WE DO</a:t>
            </a:r>
          </a:p>
        </p:txBody>
      </p:sp>
      <p:sp>
        <p:nvSpPr>
          <p:cNvPr id="8" name="TextBox 7"/>
          <p:cNvSpPr txBox="1"/>
          <p:nvPr/>
        </p:nvSpPr>
        <p:spPr>
          <a:xfrm>
            <a:off x="731520" y="4069080"/>
            <a:ext cx="3154680" cy="1371600"/>
          </a:xfrm>
          <a:prstGeom prst="rect">
            <a:avLst/>
          </a:prstGeom>
          <a:noFill/>
        </p:spPr>
        <p:txBody>
          <a:bodyPr wrap="square" anchor="t"/>
          <a:lstStyle/>
          <a:p>
            <a:pPr algn="l"/>
            <a:r>
              <a:rPr sz="1300" b="0" i="0">
                <a:solidFill>
                  <a:srgbClr val="FFFFFF"/>
                </a:solidFill>
                <a:latin typeface="Calibri"/>
              </a:rPr>
              <a:t>End-to-end pipeline: face detection, mouth cropping, visual feature extraction, language decoding — and confidence scoring on every word.</a:t>
            </a:r>
          </a:p>
        </p:txBody>
      </p:sp>
      <p:sp>
        <p:nvSpPr>
          <p:cNvPr id="9" name="Rectangle 8"/>
          <p:cNvSpPr/>
          <p:nvPr/>
        </p:nvSpPr>
        <p:spPr>
          <a:xfrm>
            <a:off x="4297680" y="3291840"/>
            <a:ext cx="3520440" cy="2286000"/>
          </a:xfrm>
          <a:prstGeom prst="rect">
            <a:avLst/>
          </a:prstGeom>
          <a:solidFill>
            <a:srgbClr val="152A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480560" y="3520440"/>
            <a:ext cx="3154680" cy="365760"/>
          </a:xfrm>
          <a:prstGeom prst="rect">
            <a:avLst/>
          </a:prstGeom>
          <a:noFill/>
        </p:spPr>
        <p:txBody>
          <a:bodyPr wrap="square" anchor="t"/>
          <a:lstStyle/>
          <a:p>
            <a:pPr algn="l"/>
            <a:r>
              <a:rPr sz="1300" b="1" i="0">
                <a:solidFill>
                  <a:srgbClr val="FFD54F"/>
                </a:solidFill>
                <a:latin typeface="Calibri"/>
              </a:rPr>
              <a:t>WHO USES IT</a:t>
            </a:r>
          </a:p>
        </p:txBody>
      </p:sp>
      <p:sp>
        <p:nvSpPr>
          <p:cNvPr id="11" name="TextBox 10"/>
          <p:cNvSpPr txBox="1"/>
          <p:nvPr/>
        </p:nvSpPr>
        <p:spPr>
          <a:xfrm>
            <a:off x="4480560" y="4069080"/>
            <a:ext cx="3154680" cy="1371600"/>
          </a:xfrm>
          <a:prstGeom prst="rect">
            <a:avLst/>
          </a:prstGeom>
          <a:noFill/>
        </p:spPr>
        <p:txBody>
          <a:bodyPr wrap="square" anchor="t"/>
          <a:lstStyle/>
          <a:p>
            <a:pPr algn="l"/>
            <a:r>
              <a:rPr sz="1300" b="0" i="0">
                <a:solidFill>
                  <a:srgbClr val="FFFFFF"/>
                </a:solidFill>
                <a:latin typeface="Calibri"/>
              </a:rPr>
              <a:t>Teams that need to recover speech from footage where the audio is missing, noisy, or untrustworthy: media, broadcast, accessibility, investigations.</a:t>
            </a:r>
          </a:p>
        </p:txBody>
      </p:sp>
      <p:sp>
        <p:nvSpPr>
          <p:cNvPr id="12" name="Rectangle 11"/>
          <p:cNvSpPr/>
          <p:nvPr/>
        </p:nvSpPr>
        <p:spPr>
          <a:xfrm>
            <a:off x="8046720" y="3291840"/>
            <a:ext cx="3520440" cy="2286000"/>
          </a:xfrm>
          <a:prstGeom prst="rect">
            <a:avLst/>
          </a:prstGeom>
          <a:solidFill>
            <a:srgbClr val="152A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29600" y="3520440"/>
            <a:ext cx="3154680" cy="365760"/>
          </a:xfrm>
          <a:prstGeom prst="rect">
            <a:avLst/>
          </a:prstGeom>
          <a:noFill/>
        </p:spPr>
        <p:txBody>
          <a:bodyPr wrap="square" anchor="t"/>
          <a:lstStyle/>
          <a:p>
            <a:pPr algn="l"/>
            <a:r>
              <a:rPr sz="1300" b="1" i="0">
                <a:solidFill>
                  <a:srgbClr val="4CAF50"/>
                </a:solidFill>
                <a:latin typeface="Calibri"/>
              </a:rPr>
              <a:t>WHY IT MATTERS</a:t>
            </a:r>
          </a:p>
        </p:txBody>
      </p:sp>
      <p:sp>
        <p:nvSpPr>
          <p:cNvPr id="14" name="TextBox 13"/>
          <p:cNvSpPr txBox="1"/>
          <p:nvPr/>
        </p:nvSpPr>
        <p:spPr>
          <a:xfrm>
            <a:off x="8229600" y="4069080"/>
            <a:ext cx="3154680" cy="1371600"/>
          </a:xfrm>
          <a:prstGeom prst="rect">
            <a:avLst/>
          </a:prstGeom>
          <a:noFill/>
        </p:spPr>
        <p:txBody>
          <a:bodyPr wrap="square" anchor="t"/>
          <a:lstStyle/>
          <a:p>
            <a:pPr algn="l"/>
            <a:r>
              <a:rPr sz="1300" b="0" i="0">
                <a:solidFill>
                  <a:srgbClr val="FFFFFF"/>
                </a:solidFill>
                <a:latin typeface="Calibri"/>
              </a:rPr>
              <a:t>Most speech-to-text systems hand you a transcript and a hope. We hand you a transcript with a per-word trust signal so you know what to review.</a:t>
            </a:r>
          </a:p>
        </p:txBody>
      </p:sp>
      <p:sp>
        <p:nvSpPr>
          <p:cNvPr id="15" name="TextBox 14"/>
          <p:cNvSpPr txBox="1"/>
          <p:nvPr/>
        </p:nvSpPr>
        <p:spPr>
          <a:xfrm>
            <a:off x="548640" y="5989320"/>
            <a:ext cx="11091672" cy="365760"/>
          </a:xfrm>
          <a:prstGeom prst="rect">
            <a:avLst/>
          </a:prstGeom>
          <a:noFill/>
        </p:spPr>
        <p:txBody>
          <a:bodyPr wrap="square" anchor="t"/>
          <a:lstStyle/>
          <a:p>
            <a:pPr algn="ctr"/>
            <a:r>
              <a:rPr sz="1100" b="0" i="1">
                <a:solidFill>
                  <a:srgbClr val="AAAAAA"/>
                </a:solidFill>
                <a:latin typeface="Calibri"/>
              </a:rPr>
              <a:t>Argos / The Orchard.</a:t>
            </a:r>
          </a:p>
        </p:txBody>
      </p:sp>
      <p:pic>
        <p:nvPicPr>
          <p:cNvPr id="16" name="Picture 15" descr="WhiteLogo.jpeg"/>
          <p:cNvPicPr>
            <a:picLocks noChangeAspect="1"/>
          </p:cNvPicPr>
          <p:nvPr/>
        </p:nvPicPr>
        <p:blipFill>
          <a:blip r:embed="rId2"/>
          <a:stretch>
            <a:fillRect/>
          </a:stretch>
        </p:blipFill>
        <p:spPr>
          <a:xfrm>
            <a:off x="11323320" y="6428232"/>
            <a:ext cx="269634" cy="320040"/>
          </a:xfrm>
          <a:prstGeom prst="rect">
            <a:avLst/>
          </a:prstGeom>
        </p:spPr>
      </p:pic>
      <p:sp>
        <p:nvSpPr>
          <p:cNvPr id="17" name="TextBox 16"/>
          <p:cNvSpPr txBox="1"/>
          <p:nvPr/>
        </p:nvSpPr>
        <p:spPr>
          <a:xfrm>
            <a:off x="548640" y="6510528"/>
            <a:ext cx="457200" cy="228600"/>
          </a:xfrm>
          <a:prstGeom prst="rect">
            <a:avLst/>
          </a:prstGeom>
          <a:noFill/>
        </p:spPr>
        <p:txBody>
          <a:bodyPr wrap="none">
            <a:spAutoFit/>
          </a:bodyPr>
          <a:lstStyle/>
          <a:p>
            <a:r>
              <a:rPr sz="900" b="0" i="0">
                <a:solidFill>
                  <a:srgbClr val="666666"/>
                </a:solidFill>
                <a:latin typeface="Calibri"/>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D1B2A"/>
        </a:solidFill>
        <a:effectLst/>
      </p:bgPr>
    </p:bg>
    <p:spTree>
      <p:nvGrpSpPr>
        <p:cNvPr id="1" name=""/>
        <p:cNvGrpSpPr/>
        <p:nvPr/>
      </p:nvGrpSpPr>
      <p:grpSpPr/>
      <p:sp>
        <p:nvSpPr>
          <p:cNvPr id="2" name="TextBox 1"/>
          <p:cNvSpPr txBox="1"/>
          <p:nvPr/>
        </p:nvSpPr>
        <p:spPr>
          <a:xfrm>
            <a:off x="548640" y="365760"/>
            <a:ext cx="11091672" cy="685800"/>
          </a:xfrm>
          <a:prstGeom prst="rect">
            <a:avLst/>
          </a:prstGeom>
          <a:noFill/>
        </p:spPr>
        <p:txBody>
          <a:bodyPr wrap="square">
            <a:spAutoFit/>
          </a:bodyPr>
          <a:lstStyle/>
          <a:p>
            <a:r>
              <a:rPr sz="3200" b="1" i="0">
                <a:solidFill>
                  <a:srgbClr val="FFFFFF"/>
                </a:solidFill>
                <a:latin typeface="Calibri"/>
              </a:rPr>
              <a:t>What we built — concretely</a:t>
            </a:r>
          </a:p>
        </p:txBody>
      </p:sp>
      <p:sp>
        <p:nvSpPr>
          <p:cNvPr id="3" name="Rectangle 2"/>
          <p:cNvSpPr/>
          <p:nvPr/>
        </p:nvSpPr>
        <p:spPr>
          <a:xfrm>
            <a:off x="548640" y="1097280"/>
            <a:ext cx="11091672" cy="1905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508760"/>
            <a:ext cx="11091672" cy="457200"/>
          </a:xfrm>
          <a:prstGeom prst="rect">
            <a:avLst/>
          </a:prstGeom>
          <a:noFill/>
        </p:spPr>
        <p:txBody>
          <a:bodyPr wrap="square" anchor="t"/>
          <a:lstStyle/>
          <a:p>
            <a:pPr algn="ctr"/>
            <a:r>
              <a:rPr sz="1800" b="0" i="1">
                <a:solidFill>
                  <a:srgbClr val="AAAAAA"/>
                </a:solidFill>
                <a:latin typeface="Calibri"/>
              </a:rPr>
              <a:t>Six things actually exist today, end-to-end, on real data.</a:t>
            </a:r>
          </a:p>
        </p:txBody>
      </p:sp>
      <p:sp>
        <p:nvSpPr>
          <p:cNvPr id="5" name="Rectangle 4"/>
          <p:cNvSpPr/>
          <p:nvPr/>
        </p:nvSpPr>
        <p:spPr>
          <a:xfrm>
            <a:off x="548640" y="2103120"/>
            <a:ext cx="3520440" cy="1783080"/>
          </a:xfrm>
          <a:prstGeom prst="rect">
            <a:avLst/>
          </a:prstGeom>
          <a:solidFill>
            <a:srgbClr val="152A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2240280"/>
            <a:ext cx="3154680" cy="320040"/>
          </a:xfrm>
          <a:prstGeom prst="rect">
            <a:avLst/>
          </a:prstGeom>
          <a:noFill/>
        </p:spPr>
        <p:txBody>
          <a:bodyPr wrap="square" anchor="t"/>
          <a:lstStyle/>
          <a:p>
            <a:pPr algn="l"/>
            <a:r>
              <a:rPr sz="1300" b="1" i="0">
                <a:solidFill>
                  <a:srgbClr val="00B4D8"/>
                </a:solidFill>
                <a:latin typeface="Calibri"/>
              </a:rPr>
              <a:t>1. PIPELINE</a:t>
            </a:r>
          </a:p>
        </p:txBody>
      </p:sp>
      <p:sp>
        <p:nvSpPr>
          <p:cNvPr id="7" name="TextBox 6"/>
          <p:cNvSpPr txBox="1"/>
          <p:nvPr/>
        </p:nvSpPr>
        <p:spPr>
          <a:xfrm>
            <a:off x="731520" y="2651760"/>
            <a:ext cx="3154680" cy="1143000"/>
          </a:xfrm>
          <a:prstGeom prst="rect">
            <a:avLst/>
          </a:prstGeom>
          <a:noFill/>
        </p:spPr>
        <p:txBody>
          <a:bodyPr wrap="square" anchor="t"/>
          <a:lstStyle/>
          <a:p>
            <a:pPr algn="l"/>
            <a:r>
              <a:rPr sz="1200" b="0" i="0">
                <a:solidFill>
                  <a:srgbClr val="FFFFFF"/>
                </a:solidFill>
                <a:latin typeface="Calibri"/>
              </a:rPr>
              <a:t>Nine automatic stages from raw video to confidence-scored transcript. Containerized; runs anywhere with a GPU.</a:t>
            </a:r>
          </a:p>
        </p:txBody>
      </p:sp>
      <p:sp>
        <p:nvSpPr>
          <p:cNvPr id="8" name="Rectangle 7"/>
          <p:cNvSpPr/>
          <p:nvPr/>
        </p:nvSpPr>
        <p:spPr>
          <a:xfrm>
            <a:off x="4297680" y="2103120"/>
            <a:ext cx="3520440" cy="1783080"/>
          </a:xfrm>
          <a:prstGeom prst="rect">
            <a:avLst/>
          </a:prstGeom>
          <a:solidFill>
            <a:srgbClr val="152A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480560" y="2240280"/>
            <a:ext cx="3154680" cy="320040"/>
          </a:xfrm>
          <a:prstGeom prst="rect">
            <a:avLst/>
          </a:prstGeom>
          <a:noFill/>
        </p:spPr>
        <p:txBody>
          <a:bodyPr wrap="square" anchor="t"/>
          <a:lstStyle/>
          <a:p>
            <a:pPr algn="l"/>
            <a:r>
              <a:rPr sz="1300" b="1" i="0">
                <a:solidFill>
                  <a:srgbClr val="00B4D8"/>
                </a:solidFill>
                <a:latin typeface="Calibri"/>
              </a:rPr>
              <a:t>2. WEB UI</a:t>
            </a:r>
          </a:p>
        </p:txBody>
      </p:sp>
      <p:sp>
        <p:nvSpPr>
          <p:cNvPr id="10" name="TextBox 9"/>
          <p:cNvSpPr txBox="1"/>
          <p:nvPr/>
        </p:nvSpPr>
        <p:spPr>
          <a:xfrm>
            <a:off x="4480560" y="2651760"/>
            <a:ext cx="3154680" cy="1143000"/>
          </a:xfrm>
          <a:prstGeom prst="rect">
            <a:avLst/>
          </a:prstGeom>
          <a:noFill/>
        </p:spPr>
        <p:txBody>
          <a:bodyPr wrap="square" anchor="t"/>
          <a:lstStyle/>
          <a:p>
            <a:pPr algn="l"/>
            <a:r>
              <a:rPr sz="1200" b="0" i="0">
                <a:solidFill>
                  <a:srgbClr val="FFFFFF"/>
                </a:solidFill>
                <a:latin typeface="Calibri"/>
              </a:rPr>
              <a:t>Drag-and-drop, live progress, downloadable HTML report. No command line required.</a:t>
            </a:r>
          </a:p>
        </p:txBody>
      </p:sp>
      <p:sp>
        <p:nvSpPr>
          <p:cNvPr id="11" name="Rectangle 10"/>
          <p:cNvSpPr/>
          <p:nvPr/>
        </p:nvSpPr>
        <p:spPr>
          <a:xfrm>
            <a:off x="8046720" y="2103120"/>
            <a:ext cx="3520440" cy="1783080"/>
          </a:xfrm>
          <a:prstGeom prst="rect">
            <a:avLst/>
          </a:prstGeom>
          <a:solidFill>
            <a:srgbClr val="152A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29600" y="2240280"/>
            <a:ext cx="3154680" cy="320040"/>
          </a:xfrm>
          <a:prstGeom prst="rect">
            <a:avLst/>
          </a:prstGeom>
          <a:noFill/>
        </p:spPr>
        <p:txBody>
          <a:bodyPr wrap="square" anchor="t"/>
          <a:lstStyle/>
          <a:p>
            <a:pPr algn="l"/>
            <a:r>
              <a:rPr sz="1300" b="1" i="0">
                <a:solidFill>
                  <a:srgbClr val="FFD54F"/>
                </a:solidFill>
                <a:latin typeface="Calibri"/>
              </a:rPr>
              <a:t>3. MODEL</a:t>
            </a:r>
          </a:p>
        </p:txBody>
      </p:sp>
      <p:sp>
        <p:nvSpPr>
          <p:cNvPr id="13" name="TextBox 12"/>
          <p:cNvSpPr txBox="1"/>
          <p:nvPr/>
        </p:nvSpPr>
        <p:spPr>
          <a:xfrm>
            <a:off x="8229600" y="2651760"/>
            <a:ext cx="3154680" cy="1143000"/>
          </a:xfrm>
          <a:prstGeom prst="rect">
            <a:avLst/>
          </a:prstGeom>
          <a:noFill/>
        </p:spPr>
        <p:txBody>
          <a:bodyPr wrap="square" anchor="t"/>
          <a:lstStyle/>
          <a:p>
            <a:pPr algn="l"/>
            <a:r>
              <a:rPr sz="1200" b="0" i="0">
                <a:solidFill>
                  <a:srgbClr val="FFFFFF"/>
                </a:solidFill>
                <a:latin typeface="Calibri"/>
              </a:rPr>
              <a:t>Visual-only encoder + LLaMA-2 decoder, fine-tuned on lip-reading. Same architecture VSP-LLM published, our own training run.</a:t>
            </a:r>
          </a:p>
        </p:txBody>
      </p:sp>
      <p:sp>
        <p:nvSpPr>
          <p:cNvPr id="14" name="Rectangle 13"/>
          <p:cNvSpPr/>
          <p:nvPr/>
        </p:nvSpPr>
        <p:spPr>
          <a:xfrm>
            <a:off x="548640" y="4114800"/>
            <a:ext cx="3520440" cy="1783080"/>
          </a:xfrm>
          <a:prstGeom prst="rect">
            <a:avLst/>
          </a:prstGeom>
          <a:solidFill>
            <a:srgbClr val="152A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1520" y="4251960"/>
            <a:ext cx="3154680" cy="320040"/>
          </a:xfrm>
          <a:prstGeom prst="rect">
            <a:avLst/>
          </a:prstGeom>
          <a:noFill/>
        </p:spPr>
        <p:txBody>
          <a:bodyPr wrap="square" anchor="t"/>
          <a:lstStyle/>
          <a:p>
            <a:pPr algn="l"/>
            <a:r>
              <a:rPr sz="1300" b="1" i="0">
                <a:solidFill>
                  <a:srgbClr val="4CAF50"/>
                </a:solidFill>
                <a:latin typeface="Calibri"/>
              </a:rPr>
              <a:t>4. CONFIDENCE</a:t>
            </a:r>
          </a:p>
        </p:txBody>
      </p:sp>
      <p:sp>
        <p:nvSpPr>
          <p:cNvPr id="16" name="TextBox 15"/>
          <p:cNvSpPr txBox="1"/>
          <p:nvPr/>
        </p:nvSpPr>
        <p:spPr>
          <a:xfrm>
            <a:off x="731520" y="4663440"/>
            <a:ext cx="3154680" cy="1143000"/>
          </a:xfrm>
          <a:prstGeom prst="rect">
            <a:avLst/>
          </a:prstGeom>
          <a:noFill/>
        </p:spPr>
        <p:txBody>
          <a:bodyPr wrap="square" anchor="t"/>
          <a:lstStyle/>
          <a:p>
            <a:pPr algn="l"/>
            <a:r>
              <a:rPr sz="1200" b="0" i="0">
                <a:solidFill>
                  <a:srgbClr val="FFFFFF"/>
                </a:solidFill>
                <a:latin typeface="Calibri"/>
              </a:rPr>
              <a:t>Per-word green/yellow/red. Per-segment Intelligibility Score. Hallucination auto-flagging.</a:t>
            </a:r>
          </a:p>
        </p:txBody>
      </p:sp>
      <p:sp>
        <p:nvSpPr>
          <p:cNvPr id="17" name="Rectangle 16"/>
          <p:cNvSpPr/>
          <p:nvPr/>
        </p:nvSpPr>
        <p:spPr>
          <a:xfrm>
            <a:off x="4297680" y="4114800"/>
            <a:ext cx="3520440" cy="1783080"/>
          </a:xfrm>
          <a:prstGeom prst="rect">
            <a:avLst/>
          </a:prstGeom>
          <a:solidFill>
            <a:srgbClr val="152A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480560" y="4251960"/>
            <a:ext cx="3154680" cy="320040"/>
          </a:xfrm>
          <a:prstGeom prst="rect">
            <a:avLst/>
          </a:prstGeom>
          <a:noFill/>
        </p:spPr>
        <p:txBody>
          <a:bodyPr wrap="square" anchor="t"/>
          <a:lstStyle/>
          <a:p>
            <a:pPr algn="l"/>
            <a:r>
              <a:rPr sz="1300" b="1" i="0">
                <a:solidFill>
                  <a:srgbClr val="FFD54F"/>
                </a:solidFill>
                <a:latin typeface="Calibri"/>
              </a:rPr>
              <a:t>5. EVALUATION</a:t>
            </a:r>
          </a:p>
        </p:txBody>
      </p:sp>
      <p:sp>
        <p:nvSpPr>
          <p:cNvPr id="19" name="TextBox 18"/>
          <p:cNvSpPr txBox="1"/>
          <p:nvPr/>
        </p:nvSpPr>
        <p:spPr>
          <a:xfrm>
            <a:off x="4480560" y="4663440"/>
            <a:ext cx="3154680" cy="1143000"/>
          </a:xfrm>
          <a:prstGeom prst="rect">
            <a:avLst/>
          </a:prstGeom>
          <a:noFill/>
        </p:spPr>
        <p:txBody>
          <a:bodyPr wrap="square" anchor="t"/>
          <a:lstStyle/>
          <a:p>
            <a:pPr algn="l"/>
            <a:r>
              <a:rPr sz="1200" b="0" i="0">
                <a:solidFill>
                  <a:srgbClr val="FFFFFF"/>
                </a:solidFill>
                <a:latin typeface="Calibri"/>
              </a:rPr>
              <a:t>1,497-segment baseline with WER, IS, and expert-judge agreement metrics. Reproducible from raw inputs.</a:t>
            </a:r>
          </a:p>
        </p:txBody>
      </p:sp>
      <p:sp>
        <p:nvSpPr>
          <p:cNvPr id="20" name="Rectangle 19"/>
          <p:cNvSpPr/>
          <p:nvPr/>
        </p:nvSpPr>
        <p:spPr>
          <a:xfrm>
            <a:off x="8046720" y="4114800"/>
            <a:ext cx="3520440" cy="1783080"/>
          </a:xfrm>
          <a:prstGeom prst="rect">
            <a:avLst/>
          </a:prstGeom>
          <a:solidFill>
            <a:srgbClr val="152A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29600" y="4251960"/>
            <a:ext cx="3154680" cy="320040"/>
          </a:xfrm>
          <a:prstGeom prst="rect">
            <a:avLst/>
          </a:prstGeom>
          <a:noFill/>
        </p:spPr>
        <p:txBody>
          <a:bodyPr wrap="square" anchor="t"/>
          <a:lstStyle/>
          <a:p>
            <a:pPr algn="l"/>
            <a:r>
              <a:rPr sz="1300" b="1" i="0">
                <a:solidFill>
                  <a:srgbClr val="4CAF50"/>
                </a:solidFill>
                <a:latin typeface="Calibri"/>
              </a:rPr>
              <a:t>6. INTEGRATION</a:t>
            </a:r>
          </a:p>
        </p:txBody>
      </p:sp>
      <p:sp>
        <p:nvSpPr>
          <p:cNvPr id="22" name="TextBox 21"/>
          <p:cNvSpPr txBox="1"/>
          <p:nvPr/>
        </p:nvSpPr>
        <p:spPr>
          <a:xfrm>
            <a:off x="8229600" y="4663440"/>
            <a:ext cx="3154680" cy="1143000"/>
          </a:xfrm>
          <a:prstGeom prst="rect">
            <a:avLst/>
          </a:prstGeom>
          <a:noFill/>
        </p:spPr>
        <p:txBody>
          <a:bodyPr wrap="square" anchor="t"/>
          <a:lstStyle/>
          <a:p>
            <a:pPr algn="l"/>
            <a:r>
              <a:rPr sz="1200" b="0" i="0">
                <a:solidFill>
                  <a:srgbClr val="FFFFFF"/>
                </a:solidFill>
                <a:latin typeface="Calibri"/>
              </a:rPr>
              <a:t>On-premise install, cloud deployment, or both. We deploy and hand off.</a:t>
            </a:r>
          </a:p>
        </p:txBody>
      </p:sp>
      <p:sp>
        <p:nvSpPr>
          <p:cNvPr id="23" name="TextBox 22"/>
          <p:cNvSpPr txBox="1"/>
          <p:nvPr/>
        </p:nvSpPr>
        <p:spPr>
          <a:xfrm>
            <a:off x="548640" y="5989320"/>
            <a:ext cx="11091672" cy="365760"/>
          </a:xfrm>
          <a:prstGeom prst="rect">
            <a:avLst/>
          </a:prstGeom>
          <a:noFill/>
        </p:spPr>
        <p:txBody>
          <a:bodyPr wrap="square" anchor="t"/>
          <a:lstStyle/>
          <a:p>
            <a:pPr algn="ctr"/>
            <a:r>
              <a:rPr sz="1000" b="0" i="1">
                <a:solidFill>
                  <a:srgbClr val="666666"/>
                </a:solidFill>
                <a:latin typeface="Calibri"/>
              </a:rPr>
              <a:t>Everything you'll see today is in production today — not a 'with more research it could…' projection.</a:t>
            </a:r>
          </a:p>
        </p:txBody>
      </p:sp>
      <p:pic>
        <p:nvPicPr>
          <p:cNvPr id="24" name="Picture 23" descr="WhiteLogo.jpeg"/>
          <p:cNvPicPr>
            <a:picLocks noChangeAspect="1"/>
          </p:cNvPicPr>
          <p:nvPr/>
        </p:nvPicPr>
        <p:blipFill>
          <a:blip r:embed="rId2"/>
          <a:stretch>
            <a:fillRect/>
          </a:stretch>
        </p:blipFill>
        <p:spPr>
          <a:xfrm>
            <a:off x="11323320" y="6428232"/>
            <a:ext cx="269634" cy="320040"/>
          </a:xfrm>
          <a:prstGeom prst="rect">
            <a:avLst/>
          </a:prstGeom>
        </p:spPr>
      </p:pic>
      <p:sp>
        <p:nvSpPr>
          <p:cNvPr id="25" name="TextBox 24"/>
          <p:cNvSpPr txBox="1"/>
          <p:nvPr/>
        </p:nvSpPr>
        <p:spPr>
          <a:xfrm>
            <a:off x="548640" y="6510528"/>
            <a:ext cx="457200" cy="228600"/>
          </a:xfrm>
          <a:prstGeom prst="rect">
            <a:avLst/>
          </a:prstGeom>
          <a:noFill/>
        </p:spPr>
        <p:txBody>
          <a:bodyPr wrap="none">
            <a:spAutoFit/>
          </a:bodyPr>
          <a:lstStyle/>
          <a:p>
            <a:r>
              <a:rPr sz="900" b="0" i="0">
                <a:solidFill>
                  <a:srgbClr val="666666"/>
                </a:solidFill>
                <a:latin typeface="Calibri"/>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D1B2A"/>
        </a:solidFill>
        <a:effectLst/>
      </p:bgPr>
    </p:bg>
    <p:spTree>
      <p:nvGrpSpPr>
        <p:cNvPr id="1" name=""/>
        <p:cNvGrpSpPr/>
        <p:nvPr/>
      </p:nvGrpSpPr>
      <p:grpSpPr/>
      <p:sp>
        <p:nvSpPr>
          <p:cNvPr id="2" name="TextBox 1"/>
          <p:cNvSpPr txBox="1"/>
          <p:nvPr/>
        </p:nvSpPr>
        <p:spPr>
          <a:xfrm>
            <a:off x="548640" y="365760"/>
            <a:ext cx="11091672" cy="685800"/>
          </a:xfrm>
          <a:prstGeom prst="rect">
            <a:avLst/>
          </a:prstGeom>
          <a:noFill/>
        </p:spPr>
        <p:txBody>
          <a:bodyPr wrap="square">
            <a:spAutoFit/>
          </a:bodyPr>
          <a:lstStyle/>
          <a:p>
            <a:r>
              <a:rPr sz="3200" b="1" i="0">
                <a:solidFill>
                  <a:srgbClr val="FFFFFF"/>
                </a:solidFill>
                <a:latin typeface="Calibri"/>
              </a:rPr>
              <a:t>What is visual speech recognition?</a:t>
            </a:r>
          </a:p>
        </p:txBody>
      </p:sp>
      <p:sp>
        <p:nvSpPr>
          <p:cNvPr id="3" name="Rectangle 2"/>
          <p:cNvSpPr/>
          <p:nvPr/>
        </p:nvSpPr>
        <p:spPr>
          <a:xfrm>
            <a:off x="548640" y="1097280"/>
            <a:ext cx="11091672" cy="1905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508760"/>
            <a:ext cx="11091672" cy="548640"/>
          </a:xfrm>
          <a:prstGeom prst="rect">
            <a:avLst/>
          </a:prstGeom>
          <a:noFill/>
        </p:spPr>
        <p:txBody>
          <a:bodyPr wrap="square" anchor="t"/>
          <a:lstStyle/>
          <a:p>
            <a:pPr algn="ctr"/>
            <a:r>
              <a:rPr sz="2400" b="1" i="0">
                <a:solidFill>
                  <a:srgbClr val="00B4D8"/>
                </a:solidFill>
                <a:latin typeface="Calibri"/>
              </a:rPr>
              <a:t>Reading speech from video alone — no audio.</a:t>
            </a:r>
          </a:p>
        </p:txBody>
      </p:sp>
      <p:sp>
        <p:nvSpPr>
          <p:cNvPr id="5" name="TextBox 4"/>
          <p:cNvSpPr txBox="1"/>
          <p:nvPr/>
        </p:nvSpPr>
        <p:spPr>
          <a:xfrm>
            <a:off x="548640" y="2103120"/>
            <a:ext cx="11091672" cy="457200"/>
          </a:xfrm>
          <a:prstGeom prst="rect">
            <a:avLst/>
          </a:prstGeom>
          <a:noFill/>
        </p:spPr>
        <p:txBody>
          <a:bodyPr wrap="square" anchor="t"/>
          <a:lstStyle/>
          <a:p>
            <a:pPr algn="ctr"/>
            <a:r>
              <a:rPr sz="1500" b="0" i="1">
                <a:solidFill>
                  <a:srgbClr val="AAAAAA"/>
                </a:solidFill>
                <a:latin typeface="Calibri"/>
              </a:rPr>
              <a:t>Same problem a deaf lip reader solves, automated and at scale.</a:t>
            </a:r>
          </a:p>
        </p:txBody>
      </p:sp>
      <p:sp>
        <p:nvSpPr>
          <p:cNvPr id="6" name="TextBox 5"/>
          <p:cNvSpPr txBox="1"/>
          <p:nvPr/>
        </p:nvSpPr>
        <p:spPr>
          <a:xfrm>
            <a:off x="548640" y="2926080"/>
            <a:ext cx="11091672" cy="365760"/>
          </a:xfrm>
          <a:prstGeom prst="rect">
            <a:avLst/>
          </a:prstGeom>
          <a:noFill/>
        </p:spPr>
        <p:txBody>
          <a:bodyPr wrap="square" anchor="t"/>
          <a:lstStyle/>
          <a:p>
            <a:pPr algn="ctr"/>
            <a:r>
              <a:rPr sz="1300" b="1" i="0">
                <a:solidFill>
                  <a:srgbClr val="FFD54F"/>
                </a:solidFill>
                <a:latin typeface="Calibri"/>
              </a:rPr>
              <a:t>WHEN AUDIO ISN'T USABLE</a:t>
            </a:r>
          </a:p>
        </p:txBody>
      </p:sp>
      <p:sp>
        <p:nvSpPr>
          <p:cNvPr id="7" name="Rectangle 6"/>
          <p:cNvSpPr/>
          <p:nvPr/>
        </p:nvSpPr>
        <p:spPr>
          <a:xfrm>
            <a:off x="493776" y="3383280"/>
            <a:ext cx="2697480" cy="1737360"/>
          </a:xfrm>
          <a:prstGeom prst="rect">
            <a:avLst/>
          </a:prstGeom>
          <a:solidFill>
            <a:srgbClr val="152A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76656" y="3566160"/>
            <a:ext cx="2331720" cy="365760"/>
          </a:xfrm>
          <a:prstGeom prst="rect">
            <a:avLst/>
          </a:prstGeom>
          <a:noFill/>
        </p:spPr>
        <p:txBody>
          <a:bodyPr wrap="square" anchor="t"/>
          <a:lstStyle/>
          <a:p>
            <a:pPr algn="ctr"/>
            <a:r>
              <a:rPr sz="1300" b="1" i="0">
                <a:solidFill>
                  <a:srgbClr val="00B4D8"/>
                </a:solidFill>
                <a:latin typeface="Calibri"/>
              </a:rPr>
              <a:t>MUTED</a:t>
            </a:r>
          </a:p>
        </p:txBody>
      </p:sp>
      <p:sp>
        <p:nvSpPr>
          <p:cNvPr id="9" name="TextBox 8"/>
          <p:cNvSpPr txBox="1"/>
          <p:nvPr/>
        </p:nvSpPr>
        <p:spPr>
          <a:xfrm>
            <a:off x="630936" y="4069080"/>
            <a:ext cx="2423160" cy="960120"/>
          </a:xfrm>
          <a:prstGeom prst="rect">
            <a:avLst/>
          </a:prstGeom>
          <a:noFill/>
        </p:spPr>
        <p:txBody>
          <a:bodyPr wrap="square" anchor="t"/>
          <a:lstStyle/>
          <a:p>
            <a:pPr algn="ctr"/>
            <a:r>
              <a:rPr sz="1200" b="0" i="0">
                <a:solidFill>
                  <a:srgbClr val="FFFFFF"/>
                </a:solidFill>
                <a:latin typeface="Calibri"/>
              </a:rPr>
              <a:t>Surveillance footage, archive video,</a:t>
            </a:r>
            <a:br/>
            <a:r>
              <a:rPr sz="1200" b="0" i="0">
                <a:solidFill>
                  <a:srgbClr val="FFFFFF"/>
                </a:solidFill>
                <a:latin typeface="Calibri"/>
              </a:rPr>
              <a:t>clips with no recorded audio.</a:t>
            </a:r>
          </a:p>
        </p:txBody>
      </p:sp>
      <p:sp>
        <p:nvSpPr>
          <p:cNvPr id="10" name="Rectangle 9"/>
          <p:cNvSpPr/>
          <p:nvPr/>
        </p:nvSpPr>
        <p:spPr>
          <a:xfrm>
            <a:off x="3328416" y="3383280"/>
            <a:ext cx="2697480" cy="1737360"/>
          </a:xfrm>
          <a:prstGeom prst="rect">
            <a:avLst/>
          </a:prstGeom>
          <a:solidFill>
            <a:srgbClr val="152A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511296" y="3566160"/>
            <a:ext cx="2331720" cy="365760"/>
          </a:xfrm>
          <a:prstGeom prst="rect">
            <a:avLst/>
          </a:prstGeom>
          <a:noFill/>
        </p:spPr>
        <p:txBody>
          <a:bodyPr wrap="square" anchor="t"/>
          <a:lstStyle/>
          <a:p>
            <a:pPr algn="ctr"/>
            <a:r>
              <a:rPr sz="1300" b="1" i="0">
                <a:solidFill>
                  <a:srgbClr val="00B4D8"/>
                </a:solidFill>
                <a:latin typeface="Calibri"/>
              </a:rPr>
              <a:t>NOISY</a:t>
            </a:r>
          </a:p>
        </p:txBody>
      </p:sp>
      <p:sp>
        <p:nvSpPr>
          <p:cNvPr id="12" name="TextBox 11"/>
          <p:cNvSpPr txBox="1"/>
          <p:nvPr/>
        </p:nvSpPr>
        <p:spPr>
          <a:xfrm>
            <a:off x="3465576" y="4069080"/>
            <a:ext cx="2423160" cy="960120"/>
          </a:xfrm>
          <a:prstGeom prst="rect">
            <a:avLst/>
          </a:prstGeom>
          <a:noFill/>
        </p:spPr>
        <p:txBody>
          <a:bodyPr wrap="square" anchor="t"/>
          <a:lstStyle/>
          <a:p>
            <a:pPr algn="ctr"/>
            <a:r>
              <a:rPr sz="1200" b="0" i="0">
                <a:solidFill>
                  <a:srgbClr val="FFFFFF"/>
                </a:solidFill>
                <a:latin typeface="Calibri"/>
              </a:rPr>
              <a:t>Crowds, machinery, wind,</a:t>
            </a:r>
            <a:br/>
            <a:r>
              <a:rPr sz="1200" b="0" i="0">
                <a:solidFill>
                  <a:srgbClr val="FFFFFF"/>
                </a:solidFill>
                <a:latin typeface="Calibri"/>
              </a:rPr>
              <a:t>overlapping speakers.</a:t>
            </a:r>
          </a:p>
        </p:txBody>
      </p:sp>
      <p:sp>
        <p:nvSpPr>
          <p:cNvPr id="13" name="Rectangle 12"/>
          <p:cNvSpPr/>
          <p:nvPr/>
        </p:nvSpPr>
        <p:spPr>
          <a:xfrm>
            <a:off x="6163056" y="3383280"/>
            <a:ext cx="2697480" cy="1737360"/>
          </a:xfrm>
          <a:prstGeom prst="rect">
            <a:avLst/>
          </a:prstGeom>
          <a:solidFill>
            <a:srgbClr val="152A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45936" y="3566160"/>
            <a:ext cx="2331720" cy="365760"/>
          </a:xfrm>
          <a:prstGeom prst="rect">
            <a:avLst/>
          </a:prstGeom>
          <a:noFill/>
        </p:spPr>
        <p:txBody>
          <a:bodyPr wrap="square" anchor="t"/>
          <a:lstStyle/>
          <a:p>
            <a:pPr algn="ctr"/>
            <a:r>
              <a:rPr sz="1300" b="1" i="0">
                <a:solidFill>
                  <a:srgbClr val="00B4D8"/>
                </a:solidFill>
                <a:latin typeface="Calibri"/>
              </a:rPr>
              <a:t>UNRELIABLE</a:t>
            </a:r>
          </a:p>
        </p:txBody>
      </p:sp>
      <p:sp>
        <p:nvSpPr>
          <p:cNvPr id="15" name="TextBox 14"/>
          <p:cNvSpPr txBox="1"/>
          <p:nvPr/>
        </p:nvSpPr>
        <p:spPr>
          <a:xfrm>
            <a:off x="6300216" y="4069080"/>
            <a:ext cx="2423160" cy="960120"/>
          </a:xfrm>
          <a:prstGeom prst="rect">
            <a:avLst/>
          </a:prstGeom>
          <a:noFill/>
        </p:spPr>
        <p:txBody>
          <a:bodyPr wrap="square" anchor="t"/>
          <a:lstStyle/>
          <a:p>
            <a:pPr algn="ctr"/>
            <a:r>
              <a:rPr sz="1200" b="0" i="0">
                <a:solidFill>
                  <a:srgbClr val="FFFFFF"/>
                </a:solidFill>
                <a:latin typeface="Calibri"/>
              </a:rPr>
              <a:t>Suspected dub, voice-over,</a:t>
            </a:r>
            <a:br/>
            <a:r>
              <a:rPr sz="1200" b="0" i="0">
                <a:solidFill>
                  <a:srgbClr val="FFFFFF"/>
                </a:solidFill>
                <a:latin typeface="Calibri"/>
              </a:rPr>
              <a:t>mismatched lip sync.</a:t>
            </a:r>
          </a:p>
        </p:txBody>
      </p:sp>
      <p:sp>
        <p:nvSpPr>
          <p:cNvPr id="16" name="Rectangle 15"/>
          <p:cNvSpPr/>
          <p:nvPr/>
        </p:nvSpPr>
        <p:spPr>
          <a:xfrm>
            <a:off x="8997696" y="3383280"/>
            <a:ext cx="2697480" cy="1737360"/>
          </a:xfrm>
          <a:prstGeom prst="rect">
            <a:avLst/>
          </a:prstGeom>
          <a:solidFill>
            <a:srgbClr val="152A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180576" y="3566160"/>
            <a:ext cx="2331720" cy="365760"/>
          </a:xfrm>
          <a:prstGeom prst="rect">
            <a:avLst/>
          </a:prstGeom>
          <a:noFill/>
        </p:spPr>
        <p:txBody>
          <a:bodyPr wrap="square" anchor="t"/>
          <a:lstStyle/>
          <a:p>
            <a:pPr algn="ctr"/>
            <a:r>
              <a:rPr sz="1300" b="1" i="0">
                <a:solidFill>
                  <a:srgbClr val="00B4D8"/>
                </a:solidFill>
                <a:latin typeface="Calibri"/>
              </a:rPr>
              <a:t>AUDIO-LESS</a:t>
            </a:r>
          </a:p>
        </p:txBody>
      </p:sp>
      <p:sp>
        <p:nvSpPr>
          <p:cNvPr id="18" name="TextBox 17"/>
          <p:cNvSpPr txBox="1"/>
          <p:nvPr/>
        </p:nvSpPr>
        <p:spPr>
          <a:xfrm>
            <a:off x="9134856" y="4069080"/>
            <a:ext cx="2423160" cy="960120"/>
          </a:xfrm>
          <a:prstGeom prst="rect">
            <a:avLst/>
          </a:prstGeom>
          <a:noFill/>
        </p:spPr>
        <p:txBody>
          <a:bodyPr wrap="square" anchor="t"/>
          <a:lstStyle/>
          <a:p>
            <a:pPr algn="ctr"/>
            <a:r>
              <a:rPr sz="1200" b="0" i="0">
                <a:solidFill>
                  <a:srgbClr val="FFFFFF"/>
                </a:solidFill>
                <a:latin typeface="Calibri"/>
              </a:rPr>
              <a:t>Silent film, distant CCTV,</a:t>
            </a:r>
            <a:br/>
            <a:r>
              <a:rPr sz="1200" b="0" i="0">
                <a:solidFill>
                  <a:srgbClr val="FFFFFF"/>
                </a:solidFill>
                <a:latin typeface="Calibri"/>
              </a:rPr>
              <a:t>streams that lost audio.</a:t>
            </a:r>
          </a:p>
        </p:txBody>
      </p:sp>
      <p:sp>
        <p:nvSpPr>
          <p:cNvPr id="19" name="TextBox 18"/>
          <p:cNvSpPr txBox="1"/>
          <p:nvPr/>
        </p:nvSpPr>
        <p:spPr>
          <a:xfrm>
            <a:off x="548640" y="5989320"/>
            <a:ext cx="11091672" cy="365760"/>
          </a:xfrm>
          <a:prstGeom prst="rect">
            <a:avLst/>
          </a:prstGeom>
          <a:noFill/>
        </p:spPr>
        <p:txBody>
          <a:bodyPr wrap="square" anchor="t"/>
          <a:lstStyle/>
          <a:p>
            <a:pPr algn="ctr"/>
            <a:r>
              <a:rPr sz="1100" b="0" i="1">
                <a:solidFill>
                  <a:srgbClr val="AAAAAA"/>
                </a:solidFill>
                <a:latin typeface="Calibri"/>
              </a:rPr>
              <a:t>We've shipped this end-to-end. The next slides show the numbers.</a:t>
            </a:r>
          </a:p>
        </p:txBody>
      </p:sp>
      <p:pic>
        <p:nvPicPr>
          <p:cNvPr id="20" name="Picture 19" descr="WhiteLogo.jpeg"/>
          <p:cNvPicPr>
            <a:picLocks noChangeAspect="1"/>
          </p:cNvPicPr>
          <p:nvPr/>
        </p:nvPicPr>
        <p:blipFill>
          <a:blip r:embed="rId2"/>
          <a:stretch>
            <a:fillRect/>
          </a:stretch>
        </p:blipFill>
        <p:spPr>
          <a:xfrm>
            <a:off x="11323320" y="6428232"/>
            <a:ext cx="269634" cy="320040"/>
          </a:xfrm>
          <a:prstGeom prst="rect">
            <a:avLst/>
          </a:prstGeom>
        </p:spPr>
      </p:pic>
      <p:sp>
        <p:nvSpPr>
          <p:cNvPr id="21" name="TextBox 20"/>
          <p:cNvSpPr txBox="1"/>
          <p:nvPr/>
        </p:nvSpPr>
        <p:spPr>
          <a:xfrm>
            <a:off x="548640" y="6510528"/>
            <a:ext cx="457200" cy="228600"/>
          </a:xfrm>
          <a:prstGeom prst="rect">
            <a:avLst/>
          </a:prstGeom>
          <a:noFill/>
        </p:spPr>
        <p:txBody>
          <a:bodyPr wrap="none">
            <a:spAutoFit/>
          </a:bodyPr>
          <a:lstStyle/>
          <a:p>
            <a:r>
              <a:rPr sz="900" b="0" i="0">
                <a:solidFill>
                  <a:srgbClr val="666666"/>
                </a:solidFill>
                <a:latin typeface="Calibri"/>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D1B2A"/>
        </a:solidFill>
        <a:effectLst/>
      </p:bgPr>
    </p:bg>
    <p:spTree>
      <p:nvGrpSpPr>
        <p:cNvPr id="1" name=""/>
        <p:cNvGrpSpPr/>
        <p:nvPr/>
      </p:nvGrpSpPr>
      <p:grpSpPr/>
      <p:sp>
        <p:nvSpPr>
          <p:cNvPr id="2" name="TextBox 1"/>
          <p:cNvSpPr txBox="1"/>
          <p:nvPr/>
        </p:nvSpPr>
        <p:spPr>
          <a:xfrm>
            <a:off x="548640" y="365760"/>
            <a:ext cx="11091672" cy="685800"/>
          </a:xfrm>
          <a:prstGeom prst="rect">
            <a:avLst/>
          </a:prstGeom>
          <a:noFill/>
        </p:spPr>
        <p:txBody>
          <a:bodyPr wrap="square">
            <a:spAutoFit/>
          </a:bodyPr>
          <a:lstStyle/>
          <a:p>
            <a:r>
              <a:rPr sz="3200" b="1" i="0">
                <a:solidFill>
                  <a:srgbClr val="FFFFFF"/>
                </a:solidFill>
                <a:latin typeface="Calibri"/>
              </a:rPr>
              <a:t>Three numbers, in plain English</a:t>
            </a:r>
          </a:p>
        </p:txBody>
      </p:sp>
      <p:sp>
        <p:nvSpPr>
          <p:cNvPr id="3" name="Rectangle 2"/>
          <p:cNvSpPr/>
          <p:nvPr/>
        </p:nvSpPr>
        <p:spPr>
          <a:xfrm>
            <a:off x="548640" y="1097280"/>
            <a:ext cx="11091672" cy="1905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48640" y="1554480"/>
            <a:ext cx="3520440" cy="3291840"/>
          </a:xfrm>
          <a:prstGeom prst="rect">
            <a:avLst/>
          </a:prstGeom>
          <a:solidFill>
            <a:srgbClr val="152A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920240"/>
            <a:ext cx="3520440" cy="1371600"/>
          </a:xfrm>
          <a:prstGeom prst="rect">
            <a:avLst/>
          </a:prstGeom>
          <a:noFill/>
        </p:spPr>
        <p:txBody>
          <a:bodyPr wrap="square" anchor="t"/>
          <a:lstStyle/>
          <a:p>
            <a:pPr algn="ctr"/>
            <a:r>
              <a:rPr sz="6400" b="1" i="0">
                <a:solidFill>
                  <a:srgbClr val="4CAF50"/>
                </a:solidFill>
                <a:latin typeface="Calibri"/>
              </a:rPr>
              <a:t>62%</a:t>
            </a:r>
          </a:p>
        </p:txBody>
      </p:sp>
      <p:sp>
        <p:nvSpPr>
          <p:cNvPr id="6" name="TextBox 5"/>
          <p:cNvSpPr txBox="1"/>
          <p:nvPr/>
        </p:nvSpPr>
        <p:spPr>
          <a:xfrm>
            <a:off x="548640" y="3383280"/>
            <a:ext cx="3520440" cy="365760"/>
          </a:xfrm>
          <a:prstGeom prst="rect">
            <a:avLst/>
          </a:prstGeom>
          <a:noFill/>
        </p:spPr>
        <p:txBody>
          <a:bodyPr wrap="square" anchor="t"/>
          <a:lstStyle/>
          <a:p>
            <a:pPr algn="ctr"/>
            <a:r>
              <a:rPr sz="1600" b="1" i="0">
                <a:solidFill>
                  <a:srgbClr val="FFFFFF"/>
                </a:solidFill>
                <a:latin typeface="Calibri"/>
              </a:rPr>
              <a:t>useful output</a:t>
            </a:r>
          </a:p>
        </p:txBody>
      </p:sp>
      <p:sp>
        <p:nvSpPr>
          <p:cNvPr id="7" name="TextBox 6"/>
          <p:cNvSpPr txBox="1"/>
          <p:nvPr/>
        </p:nvSpPr>
        <p:spPr>
          <a:xfrm>
            <a:off x="731520" y="3840480"/>
            <a:ext cx="3154680" cy="1005840"/>
          </a:xfrm>
          <a:prstGeom prst="rect">
            <a:avLst/>
          </a:prstGeom>
          <a:noFill/>
        </p:spPr>
        <p:txBody>
          <a:bodyPr wrap="square" anchor="t"/>
          <a:lstStyle/>
          <a:p>
            <a:pPr algn="ctr"/>
            <a:r>
              <a:rPr sz="1300" b="0" i="0">
                <a:solidFill>
                  <a:srgbClr val="AAAAAA"/>
                </a:solidFill>
                <a:latin typeface="Calibri"/>
              </a:rPr>
              <a:t>Six of every ten segments deliver usable text — viewers can extract meaning even when the wording isn't perfect.</a:t>
            </a:r>
          </a:p>
        </p:txBody>
      </p:sp>
      <p:sp>
        <p:nvSpPr>
          <p:cNvPr id="8" name="Rectangle 7"/>
          <p:cNvSpPr/>
          <p:nvPr/>
        </p:nvSpPr>
        <p:spPr>
          <a:xfrm>
            <a:off x="4297680" y="1554480"/>
            <a:ext cx="3520440" cy="3291840"/>
          </a:xfrm>
          <a:prstGeom prst="rect">
            <a:avLst/>
          </a:prstGeom>
          <a:solidFill>
            <a:srgbClr val="152A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297680" y="1920240"/>
            <a:ext cx="3520440" cy="1371600"/>
          </a:xfrm>
          <a:prstGeom prst="rect">
            <a:avLst/>
          </a:prstGeom>
          <a:noFill/>
        </p:spPr>
        <p:txBody>
          <a:bodyPr wrap="square" anchor="t"/>
          <a:lstStyle/>
          <a:p>
            <a:pPr algn="ctr"/>
            <a:r>
              <a:rPr sz="6400" b="1" i="0">
                <a:solidFill>
                  <a:srgbClr val="00B4D8"/>
                </a:solidFill>
                <a:latin typeface="Calibri"/>
              </a:rPr>
              <a:t>23%</a:t>
            </a:r>
          </a:p>
        </p:txBody>
      </p:sp>
      <p:sp>
        <p:nvSpPr>
          <p:cNvPr id="10" name="TextBox 9"/>
          <p:cNvSpPr txBox="1"/>
          <p:nvPr/>
        </p:nvSpPr>
        <p:spPr>
          <a:xfrm>
            <a:off x="4297680" y="3383280"/>
            <a:ext cx="3520440" cy="365760"/>
          </a:xfrm>
          <a:prstGeom prst="rect">
            <a:avLst/>
          </a:prstGeom>
          <a:noFill/>
        </p:spPr>
        <p:txBody>
          <a:bodyPr wrap="square" anchor="t"/>
          <a:lstStyle/>
          <a:p>
            <a:pPr algn="ctr"/>
            <a:r>
              <a:rPr sz="1600" b="1" i="0">
                <a:solidFill>
                  <a:srgbClr val="FFFFFF"/>
                </a:solidFill>
                <a:latin typeface="Calibri"/>
              </a:rPr>
              <a:t>clearly conveyed</a:t>
            </a:r>
          </a:p>
        </p:txBody>
      </p:sp>
      <p:sp>
        <p:nvSpPr>
          <p:cNvPr id="11" name="TextBox 10"/>
          <p:cNvSpPr txBox="1"/>
          <p:nvPr/>
        </p:nvSpPr>
        <p:spPr>
          <a:xfrm>
            <a:off x="4480560" y="3840480"/>
            <a:ext cx="3154680" cy="1005840"/>
          </a:xfrm>
          <a:prstGeom prst="rect">
            <a:avLst/>
          </a:prstGeom>
          <a:noFill/>
        </p:spPr>
        <p:txBody>
          <a:bodyPr wrap="square" anchor="t"/>
          <a:lstStyle/>
          <a:p>
            <a:pPr algn="ctr"/>
            <a:r>
              <a:rPr sz="1300" b="0" i="0">
                <a:solidFill>
                  <a:srgbClr val="AAAAAA"/>
                </a:solidFill>
                <a:latin typeface="Calibri"/>
              </a:rPr>
              <a:t>About one in four segments needs no review — delivered cleanly with no further work.</a:t>
            </a:r>
          </a:p>
        </p:txBody>
      </p:sp>
      <p:sp>
        <p:nvSpPr>
          <p:cNvPr id="12" name="Rectangle 11"/>
          <p:cNvSpPr/>
          <p:nvPr/>
        </p:nvSpPr>
        <p:spPr>
          <a:xfrm>
            <a:off x="8046720" y="1554480"/>
            <a:ext cx="3520440" cy="3291840"/>
          </a:xfrm>
          <a:prstGeom prst="rect">
            <a:avLst/>
          </a:prstGeom>
          <a:solidFill>
            <a:srgbClr val="152A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046720" y="1920240"/>
            <a:ext cx="3520440" cy="1371600"/>
          </a:xfrm>
          <a:prstGeom prst="rect">
            <a:avLst/>
          </a:prstGeom>
          <a:noFill/>
        </p:spPr>
        <p:txBody>
          <a:bodyPr wrap="square" anchor="t"/>
          <a:lstStyle/>
          <a:p>
            <a:pPr algn="ctr"/>
            <a:r>
              <a:rPr sz="6400" b="1" i="0">
                <a:solidFill>
                  <a:srgbClr val="FFD54F"/>
                </a:solidFill>
                <a:latin typeface="Calibri"/>
              </a:rPr>
              <a:t>1 in 5</a:t>
            </a:r>
          </a:p>
        </p:txBody>
      </p:sp>
      <p:sp>
        <p:nvSpPr>
          <p:cNvPr id="14" name="TextBox 13"/>
          <p:cNvSpPr txBox="1"/>
          <p:nvPr/>
        </p:nvSpPr>
        <p:spPr>
          <a:xfrm>
            <a:off x="8046720" y="3383280"/>
            <a:ext cx="3520440" cy="365760"/>
          </a:xfrm>
          <a:prstGeom prst="rect">
            <a:avLst/>
          </a:prstGeom>
          <a:noFill/>
        </p:spPr>
        <p:txBody>
          <a:bodyPr wrap="square" anchor="t"/>
          <a:lstStyle/>
          <a:p>
            <a:pPr algn="ctr"/>
            <a:r>
              <a:rPr sz="1600" b="1" i="0">
                <a:solidFill>
                  <a:srgbClr val="FFFFFF"/>
                </a:solidFill>
                <a:latin typeface="Calibri"/>
              </a:rPr>
              <a:t>auto-flagged</a:t>
            </a:r>
          </a:p>
        </p:txBody>
      </p:sp>
      <p:sp>
        <p:nvSpPr>
          <p:cNvPr id="15" name="TextBox 14"/>
          <p:cNvSpPr txBox="1"/>
          <p:nvPr/>
        </p:nvSpPr>
        <p:spPr>
          <a:xfrm>
            <a:off x="8229600" y="3840480"/>
            <a:ext cx="3154680" cy="1005840"/>
          </a:xfrm>
          <a:prstGeom prst="rect">
            <a:avLst/>
          </a:prstGeom>
          <a:noFill/>
        </p:spPr>
        <p:txBody>
          <a:bodyPr wrap="square" anchor="t"/>
          <a:lstStyle/>
          <a:p>
            <a:pPr algn="ctr"/>
            <a:r>
              <a:rPr sz="1300" b="0" i="0">
                <a:solidFill>
                  <a:srgbClr val="AAAAAA"/>
                </a:solidFill>
                <a:latin typeface="Calibri"/>
              </a:rPr>
              <a:t>The system flags low-confidence segments before you ever see them. You review the flagged ones, not all of them.</a:t>
            </a:r>
          </a:p>
        </p:txBody>
      </p:sp>
      <p:sp>
        <p:nvSpPr>
          <p:cNvPr id="16" name="TextBox 15"/>
          <p:cNvSpPr txBox="1"/>
          <p:nvPr/>
        </p:nvSpPr>
        <p:spPr>
          <a:xfrm>
            <a:off x="548640" y="5074920"/>
            <a:ext cx="11091672" cy="502920"/>
          </a:xfrm>
          <a:prstGeom prst="rect">
            <a:avLst/>
          </a:prstGeom>
          <a:noFill/>
        </p:spPr>
        <p:txBody>
          <a:bodyPr wrap="square" anchor="t"/>
          <a:lstStyle/>
          <a:p>
            <a:pPr algn="ctr"/>
            <a:r>
              <a:rPr sz="1100" b="0" i="1">
                <a:solidFill>
                  <a:srgbClr val="AAAAAA"/>
                </a:solidFill>
                <a:latin typeface="Calibri"/>
              </a:rPr>
              <a:t>Measured on 1,497 segments of unfiltered real-world video — varied lighting, head angles, multi-speaker scenes, no curation.</a:t>
            </a:r>
          </a:p>
        </p:txBody>
      </p:sp>
      <p:sp>
        <p:nvSpPr>
          <p:cNvPr id="17" name="TextBox 16"/>
          <p:cNvSpPr txBox="1"/>
          <p:nvPr/>
        </p:nvSpPr>
        <p:spPr>
          <a:xfrm>
            <a:off x="548640" y="5532120"/>
            <a:ext cx="11091672" cy="365760"/>
          </a:xfrm>
          <a:prstGeom prst="rect">
            <a:avLst/>
          </a:prstGeom>
          <a:noFill/>
        </p:spPr>
        <p:txBody>
          <a:bodyPr wrap="square" anchor="t"/>
          <a:lstStyle/>
          <a:p>
            <a:pPr algn="ctr"/>
            <a:r>
              <a:rPr sz="1100" b="0" i="1">
                <a:solidFill>
                  <a:srgbClr val="AAAAAA"/>
                </a:solidFill>
                <a:latin typeface="Calibri"/>
              </a:rPr>
              <a:t>Validated against an independent expert reviewer.</a:t>
            </a:r>
          </a:p>
        </p:txBody>
      </p:sp>
      <p:pic>
        <p:nvPicPr>
          <p:cNvPr id="18" name="Picture 17" descr="WhiteLogo.jpeg"/>
          <p:cNvPicPr>
            <a:picLocks noChangeAspect="1"/>
          </p:cNvPicPr>
          <p:nvPr/>
        </p:nvPicPr>
        <p:blipFill>
          <a:blip r:embed="rId2"/>
          <a:stretch>
            <a:fillRect/>
          </a:stretch>
        </p:blipFill>
        <p:spPr>
          <a:xfrm>
            <a:off x="11323320" y="6428232"/>
            <a:ext cx="269634" cy="320040"/>
          </a:xfrm>
          <a:prstGeom prst="rect">
            <a:avLst/>
          </a:prstGeom>
        </p:spPr>
      </p:pic>
      <p:sp>
        <p:nvSpPr>
          <p:cNvPr id="19" name="TextBox 18"/>
          <p:cNvSpPr txBox="1"/>
          <p:nvPr/>
        </p:nvSpPr>
        <p:spPr>
          <a:xfrm>
            <a:off x="548640" y="6510528"/>
            <a:ext cx="457200" cy="228600"/>
          </a:xfrm>
          <a:prstGeom prst="rect">
            <a:avLst/>
          </a:prstGeom>
          <a:noFill/>
        </p:spPr>
        <p:txBody>
          <a:bodyPr wrap="none">
            <a:spAutoFit/>
          </a:bodyPr>
          <a:lstStyle/>
          <a:p>
            <a:r>
              <a:rPr sz="900" b="0" i="0">
                <a:solidFill>
                  <a:srgbClr val="666666"/>
                </a:solidFill>
                <a:latin typeface="Calibri"/>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D1B2A"/>
        </a:solidFill>
        <a:effectLst/>
      </p:bgPr>
    </p:bg>
    <p:spTree>
      <p:nvGrpSpPr>
        <p:cNvPr id="1" name=""/>
        <p:cNvGrpSpPr/>
        <p:nvPr/>
      </p:nvGrpSpPr>
      <p:grpSpPr/>
      <p:sp>
        <p:nvSpPr>
          <p:cNvPr id="2" name="TextBox 1"/>
          <p:cNvSpPr txBox="1"/>
          <p:nvPr/>
        </p:nvSpPr>
        <p:spPr>
          <a:xfrm>
            <a:off x="548640" y="365760"/>
            <a:ext cx="11091672" cy="685800"/>
          </a:xfrm>
          <a:prstGeom prst="rect">
            <a:avLst/>
          </a:prstGeom>
          <a:noFill/>
        </p:spPr>
        <p:txBody>
          <a:bodyPr wrap="square">
            <a:spAutoFit/>
          </a:bodyPr>
          <a:lstStyle/>
          <a:p>
            <a:r>
              <a:rPr sz="3200" b="1" i="0">
                <a:solidFill>
                  <a:srgbClr val="FFFFFF"/>
                </a:solidFill>
                <a:latin typeface="Calibri"/>
              </a:rPr>
              <a:t>What you'll see today</a:t>
            </a:r>
          </a:p>
        </p:txBody>
      </p:sp>
      <p:sp>
        <p:nvSpPr>
          <p:cNvPr id="3" name="Rectangle 2"/>
          <p:cNvSpPr/>
          <p:nvPr/>
        </p:nvSpPr>
        <p:spPr>
          <a:xfrm>
            <a:off x="548640" y="1097280"/>
            <a:ext cx="11091672" cy="1905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645920"/>
            <a:ext cx="11091672" cy="4114800"/>
          </a:xfrm>
          <a:prstGeom prst="rect">
            <a:avLst/>
          </a:prstGeom>
          <a:noFill/>
        </p:spPr>
        <p:txBody>
          <a:bodyPr wrap="square">
            <a:spAutoFit/>
          </a:bodyPr>
          <a:lstStyle/>
          <a:p>
            <a:pPr algn="l">
              <a:spcAft>
                <a:spcPts val="600"/>
              </a:spcAft>
            </a:pPr>
            <a:r>
              <a:rPr sz="2000" b="1">
                <a:solidFill>
                  <a:srgbClr val="00B4D8"/>
                </a:solidFill>
                <a:latin typeface="Calibri"/>
              </a:rPr>
              <a:t>• </a:t>
            </a:r>
            <a:r>
              <a:rPr sz="2000" b="0">
                <a:solidFill>
                  <a:srgbClr val="FFFFFF"/>
                </a:solidFill>
                <a:latin typeface="Calibri"/>
              </a:rPr>
              <a:t>Live demo — the system processing a real video, end-to-end</a:t>
            </a:r>
          </a:p>
          <a:p>
            <a:pPr algn="l">
              <a:spcAft>
                <a:spcPts val="600"/>
              </a:spcAft>
            </a:pPr>
            <a:r>
              <a:rPr sz="2000" b="1">
                <a:solidFill>
                  <a:srgbClr val="00B4D8"/>
                </a:solidFill>
                <a:latin typeface="Calibri"/>
              </a:rPr>
              <a:t>• </a:t>
            </a:r>
            <a:r>
              <a:rPr sz="2000" b="0">
                <a:solidFill>
                  <a:srgbClr val="FFFFFF"/>
                </a:solidFill>
                <a:latin typeface="Calibri"/>
              </a:rPr>
              <a:t>Output gallery — what good, partial, and flagged segments look like</a:t>
            </a:r>
          </a:p>
          <a:p>
            <a:pPr algn="l">
              <a:spcAft>
                <a:spcPts val="600"/>
              </a:spcAft>
            </a:pPr>
            <a:r>
              <a:rPr sz="2000" b="1">
                <a:solidFill>
                  <a:srgbClr val="00B4D8"/>
                </a:solidFill>
                <a:latin typeface="Calibri"/>
              </a:rPr>
              <a:t>• </a:t>
            </a:r>
            <a:r>
              <a:rPr sz="2000" b="0">
                <a:solidFill>
                  <a:srgbClr val="FFFFFF"/>
                </a:solidFill>
                <a:latin typeface="Calibri"/>
              </a:rPr>
              <a:t>How confidence works — per-word color coding and per-segment scoring</a:t>
            </a:r>
          </a:p>
          <a:p>
            <a:pPr algn="l">
              <a:spcAft>
                <a:spcPts val="600"/>
              </a:spcAft>
            </a:pPr>
            <a:r>
              <a:rPr sz="2000" b="1">
                <a:solidFill>
                  <a:srgbClr val="00B4D8"/>
                </a:solidFill>
                <a:latin typeface="Calibri"/>
              </a:rPr>
              <a:t>• </a:t>
            </a:r>
            <a:r>
              <a:rPr sz="2000" b="0">
                <a:solidFill>
                  <a:srgbClr val="FFFFFF"/>
                </a:solidFill>
                <a:latin typeface="Calibri"/>
              </a:rPr>
              <a:t>How we validated it — independent expert agreement</a:t>
            </a:r>
          </a:p>
          <a:p>
            <a:pPr algn="l">
              <a:spcAft>
                <a:spcPts val="600"/>
              </a:spcAft>
            </a:pPr>
            <a:r>
              <a:rPr sz="2000" b="1">
                <a:solidFill>
                  <a:srgbClr val="00B4D8"/>
                </a:solidFill>
                <a:latin typeface="Calibri"/>
              </a:rPr>
              <a:t>• </a:t>
            </a:r>
            <a:r>
              <a:rPr sz="2000" b="0">
                <a:solidFill>
                  <a:srgbClr val="FFFFFF"/>
                </a:solidFill>
                <a:latin typeface="Calibri"/>
              </a:rPr>
              <a:t>What's next — pre-processing, stronger model, Arabic, integration</a:t>
            </a:r>
          </a:p>
        </p:txBody>
      </p:sp>
      <p:pic>
        <p:nvPicPr>
          <p:cNvPr id="5" name="Picture 4" descr="WhiteLogo.jpeg"/>
          <p:cNvPicPr>
            <a:picLocks noChangeAspect="1"/>
          </p:cNvPicPr>
          <p:nvPr/>
        </p:nvPicPr>
        <p:blipFill>
          <a:blip r:embed="rId2"/>
          <a:stretch>
            <a:fillRect/>
          </a:stretch>
        </p:blipFill>
        <p:spPr>
          <a:xfrm>
            <a:off x="11323320" y="6428232"/>
            <a:ext cx="269634" cy="320040"/>
          </a:xfrm>
          <a:prstGeom prst="rect">
            <a:avLst/>
          </a:prstGeom>
        </p:spPr>
      </p:pic>
      <p:sp>
        <p:nvSpPr>
          <p:cNvPr id="6" name="TextBox 5"/>
          <p:cNvSpPr txBox="1"/>
          <p:nvPr/>
        </p:nvSpPr>
        <p:spPr>
          <a:xfrm>
            <a:off x="548640" y="6510528"/>
            <a:ext cx="457200" cy="228600"/>
          </a:xfrm>
          <a:prstGeom prst="rect">
            <a:avLst/>
          </a:prstGeom>
          <a:noFill/>
        </p:spPr>
        <p:txBody>
          <a:bodyPr wrap="none">
            <a:spAutoFit/>
          </a:bodyPr>
          <a:lstStyle/>
          <a:p>
            <a:r>
              <a:rPr sz="900" b="0" i="0">
                <a:solidFill>
                  <a:srgbClr val="666666"/>
                </a:solidFill>
                <a:latin typeface="Calibri"/>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D1B2A"/>
        </a:solidFill>
        <a:effectLst/>
      </p:bgPr>
    </p:bg>
    <p:spTree>
      <p:nvGrpSpPr>
        <p:cNvPr id="1" name=""/>
        <p:cNvGrpSpPr/>
        <p:nvPr/>
      </p:nvGrpSpPr>
      <p:grpSpPr/>
      <p:sp>
        <p:nvSpPr>
          <p:cNvPr id="2" name="TextBox 1"/>
          <p:cNvSpPr txBox="1"/>
          <p:nvPr/>
        </p:nvSpPr>
        <p:spPr>
          <a:xfrm>
            <a:off x="548640" y="365760"/>
            <a:ext cx="11091672" cy="685800"/>
          </a:xfrm>
          <a:prstGeom prst="rect">
            <a:avLst/>
          </a:prstGeom>
          <a:noFill/>
        </p:spPr>
        <p:txBody>
          <a:bodyPr wrap="square">
            <a:spAutoFit/>
          </a:bodyPr>
          <a:lstStyle/>
          <a:p>
            <a:r>
              <a:rPr sz="3200" b="1" i="0">
                <a:solidFill>
                  <a:srgbClr val="FFFFFF"/>
                </a:solidFill>
                <a:latin typeface="Calibri"/>
              </a:rPr>
              <a:t>Watch the system process a real video</a:t>
            </a:r>
          </a:p>
        </p:txBody>
      </p:sp>
      <p:sp>
        <p:nvSpPr>
          <p:cNvPr id="3" name="Rectangle 2"/>
          <p:cNvSpPr/>
          <p:nvPr/>
        </p:nvSpPr>
        <p:spPr>
          <a:xfrm>
            <a:off x="548640" y="1097280"/>
            <a:ext cx="11091672" cy="1905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645920"/>
            <a:ext cx="11091672" cy="1097280"/>
          </a:xfrm>
          <a:prstGeom prst="rect">
            <a:avLst/>
          </a:prstGeom>
          <a:noFill/>
        </p:spPr>
        <p:txBody>
          <a:bodyPr wrap="square" anchor="t"/>
          <a:lstStyle/>
          <a:p>
            <a:pPr algn="l"/>
            <a:r>
              <a:rPr sz="2000" b="0" i="1">
                <a:solidFill>
                  <a:srgbClr val="AAAAAA"/>
                </a:solidFill>
                <a:latin typeface="Calibri"/>
              </a:rPr>
              <a:t>Nothing here is pre-cached. The pipeline runs in your browser. Drag in, walk away, come back to color-coded results.</a:t>
            </a:r>
          </a:p>
        </p:txBody>
      </p:sp>
      <p:sp>
        <p:nvSpPr>
          <p:cNvPr id="5" name="TextBox 4"/>
          <p:cNvSpPr txBox="1"/>
          <p:nvPr/>
        </p:nvSpPr>
        <p:spPr>
          <a:xfrm>
            <a:off x="548640" y="4114800"/>
            <a:ext cx="11091672" cy="548640"/>
          </a:xfrm>
          <a:prstGeom prst="rect">
            <a:avLst/>
          </a:prstGeom>
          <a:noFill/>
        </p:spPr>
        <p:txBody>
          <a:bodyPr wrap="square" anchor="t"/>
          <a:lstStyle/>
          <a:p>
            <a:pPr algn="ctr"/>
            <a:r>
              <a:rPr sz="1600" b="0" i="0">
                <a:solidFill>
                  <a:srgbClr val="00B4D8"/>
                </a:solidFill>
                <a:latin typeface="Calibri"/>
              </a:rPr>
              <a:t>Press play on the next slide to start the walkthrough.</a:t>
            </a:r>
          </a:p>
        </p:txBody>
      </p:sp>
      <p:pic>
        <p:nvPicPr>
          <p:cNvPr id="6" name="Picture 5" descr="WhiteLogo.jpeg"/>
          <p:cNvPicPr>
            <a:picLocks noChangeAspect="1"/>
          </p:cNvPicPr>
          <p:nvPr/>
        </p:nvPicPr>
        <p:blipFill>
          <a:blip r:embed="rId2"/>
          <a:stretch>
            <a:fillRect/>
          </a:stretch>
        </p:blipFill>
        <p:spPr>
          <a:xfrm>
            <a:off x="11323320" y="6428232"/>
            <a:ext cx="269634" cy="320040"/>
          </a:xfrm>
          <a:prstGeom prst="rect">
            <a:avLst/>
          </a:prstGeom>
        </p:spPr>
      </p:pic>
      <p:sp>
        <p:nvSpPr>
          <p:cNvPr id="7" name="TextBox 6"/>
          <p:cNvSpPr txBox="1"/>
          <p:nvPr/>
        </p:nvSpPr>
        <p:spPr>
          <a:xfrm>
            <a:off x="548640" y="6510528"/>
            <a:ext cx="457200" cy="228600"/>
          </a:xfrm>
          <a:prstGeom prst="rect">
            <a:avLst/>
          </a:prstGeom>
          <a:noFill/>
        </p:spPr>
        <p:txBody>
          <a:bodyPr wrap="none">
            <a:spAutoFit/>
          </a:bodyPr>
          <a:lstStyle/>
          <a:p>
            <a:r>
              <a:rPr sz="900" b="0" i="0">
                <a:solidFill>
                  <a:srgbClr val="666666"/>
                </a:solidFill>
                <a:latin typeface="Calibri"/>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D1B2A"/>
        </a:solidFill>
        <a:effectLst/>
      </p:bgPr>
    </p:bg>
    <p:spTree>
      <p:nvGrpSpPr>
        <p:cNvPr id="1" name=""/>
        <p:cNvGrpSpPr/>
        <p:nvPr/>
      </p:nvGrpSpPr>
      <p:grpSpPr/>
      <p:sp>
        <p:nvSpPr>
          <p:cNvPr id="2" name="TextBox 1"/>
          <p:cNvSpPr txBox="1"/>
          <p:nvPr/>
        </p:nvSpPr>
        <p:spPr>
          <a:xfrm>
            <a:off x="548640" y="365760"/>
            <a:ext cx="11091672" cy="685800"/>
          </a:xfrm>
          <a:prstGeom prst="rect">
            <a:avLst/>
          </a:prstGeom>
          <a:noFill/>
        </p:spPr>
        <p:txBody>
          <a:bodyPr wrap="square">
            <a:spAutoFit/>
          </a:bodyPr>
          <a:lstStyle/>
          <a:p>
            <a:r>
              <a:rPr sz="3200" b="1" i="0">
                <a:solidFill>
                  <a:srgbClr val="FFFFFF"/>
                </a:solidFill>
                <a:latin typeface="Calibri"/>
              </a:rPr>
              <a:t>Live UI Demo</a:t>
            </a:r>
          </a:p>
        </p:txBody>
      </p:sp>
      <p:sp>
        <p:nvSpPr>
          <p:cNvPr id="3" name="Rectangle 2"/>
          <p:cNvSpPr/>
          <p:nvPr/>
        </p:nvSpPr>
        <p:spPr>
          <a:xfrm>
            <a:off x="548640" y="1097280"/>
            <a:ext cx="11091672" cy="1905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066800" y="1463040"/>
            <a:ext cx="10058400" cy="4572000"/>
          </a:xfrm>
          <a:prstGeom prst="rect">
            <a:avLst/>
          </a:prstGeom>
          <a:solidFill>
            <a:srgbClr val="152A40"/>
          </a:solidFill>
          <a:ln w="12700">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66800" y="2926080"/>
            <a:ext cx="10058400" cy="914400"/>
          </a:xfrm>
          <a:prstGeom prst="rect">
            <a:avLst/>
          </a:prstGeom>
          <a:noFill/>
        </p:spPr>
        <p:txBody>
          <a:bodyPr wrap="square" anchor="t"/>
          <a:lstStyle/>
          <a:p>
            <a:pPr algn="ctr"/>
            <a:r>
              <a:rPr sz="4000" b="1" i="0">
                <a:solidFill>
                  <a:srgbClr val="00B4D8"/>
                </a:solidFill>
                <a:latin typeface="Calibri"/>
              </a:rPr>
              <a:t>Live UI walkthrough</a:t>
            </a:r>
          </a:p>
        </p:txBody>
      </p:sp>
      <p:sp>
        <p:nvSpPr>
          <p:cNvPr id="6" name="TextBox 5"/>
          <p:cNvSpPr txBox="1"/>
          <p:nvPr/>
        </p:nvSpPr>
        <p:spPr>
          <a:xfrm>
            <a:off x="1066800" y="3931920"/>
            <a:ext cx="10058400" cy="548640"/>
          </a:xfrm>
          <a:prstGeom prst="rect">
            <a:avLst/>
          </a:prstGeom>
          <a:noFill/>
        </p:spPr>
        <p:txBody>
          <a:bodyPr wrap="square" anchor="t"/>
          <a:lstStyle/>
          <a:p>
            <a:pPr algn="ctr"/>
            <a:r>
              <a:rPr sz="1800" b="0" i="1">
                <a:solidFill>
                  <a:srgbClr val="FFFFFF"/>
                </a:solidFill>
                <a:latin typeface="Calibri"/>
              </a:rPr>
              <a:t>End-to-end demo recorded by the presenter.</a:t>
            </a:r>
          </a:p>
        </p:txBody>
      </p:sp>
      <p:sp>
        <p:nvSpPr>
          <p:cNvPr id="7" name="TextBox 6"/>
          <p:cNvSpPr txBox="1"/>
          <p:nvPr/>
        </p:nvSpPr>
        <p:spPr>
          <a:xfrm>
            <a:off x="1066800" y="4663440"/>
            <a:ext cx="10058400" cy="457200"/>
          </a:xfrm>
          <a:prstGeom prst="rect">
            <a:avLst/>
          </a:prstGeom>
          <a:noFill/>
        </p:spPr>
        <p:txBody>
          <a:bodyPr wrap="square" anchor="t"/>
          <a:lstStyle/>
          <a:p>
            <a:pPr algn="ctr"/>
            <a:r>
              <a:rPr sz="1300" b="0" i="0">
                <a:solidFill>
                  <a:srgbClr val="AAAAAA"/>
                </a:solidFill>
                <a:latin typeface="Calibri"/>
              </a:rPr>
              <a:t>Approximately 4-5 minutes  ·  press play in PowerPoint to start</a:t>
            </a:r>
          </a:p>
        </p:txBody>
      </p:sp>
      <p:sp>
        <p:nvSpPr>
          <p:cNvPr id="8" name="TextBox 7"/>
          <p:cNvSpPr txBox="1"/>
          <p:nvPr/>
        </p:nvSpPr>
        <p:spPr>
          <a:xfrm>
            <a:off x="1066800" y="5394960"/>
            <a:ext cx="10058400" cy="548640"/>
          </a:xfrm>
          <a:prstGeom prst="rect">
            <a:avLst/>
          </a:prstGeom>
          <a:noFill/>
        </p:spPr>
        <p:txBody>
          <a:bodyPr wrap="square" anchor="t"/>
          <a:lstStyle/>
          <a:p>
            <a:pPr algn="ctr"/>
            <a:r>
              <a:rPr sz="1100" b="0" i="1">
                <a:solidFill>
                  <a:srgbClr val="666666"/>
                </a:solidFill>
                <a:latin typeface="Calibri"/>
              </a:rPr>
              <a:t>If video does not embed before the meeting, narrate the demo: drag-drop upload → 9-stage pipeline → color-coded report.</a:t>
            </a:r>
          </a:p>
        </p:txBody>
      </p:sp>
      <p:pic>
        <p:nvPicPr>
          <p:cNvPr id="9" name="Picture 8" descr="WhiteLogo.jpeg"/>
          <p:cNvPicPr>
            <a:picLocks noChangeAspect="1"/>
          </p:cNvPicPr>
          <p:nvPr/>
        </p:nvPicPr>
        <p:blipFill>
          <a:blip r:embed="rId2"/>
          <a:stretch>
            <a:fillRect/>
          </a:stretch>
        </p:blipFill>
        <p:spPr>
          <a:xfrm>
            <a:off x="11323320" y="6428232"/>
            <a:ext cx="269634" cy="320040"/>
          </a:xfrm>
          <a:prstGeom prst="rect">
            <a:avLst/>
          </a:prstGeom>
        </p:spPr>
      </p:pic>
      <p:sp>
        <p:nvSpPr>
          <p:cNvPr id="10" name="TextBox 9"/>
          <p:cNvSpPr txBox="1"/>
          <p:nvPr/>
        </p:nvSpPr>
        <p:spPr>
          <a:xfrm>
            <a:off x="548640" y="6510528"/>
            <a:ext cx="457200" cy="228600"/>
          </a:xfrm>
          <a:prstGeom prst="rect">
            <a:avLst/>
          </a:prstGeom>
          <a:noFill/>
        </p:spPr>
        <p:txBody>
          <a:bodyPr wrap="none">
            <a:spAutoFit/>
          </a:bodyPr>
          <a:lstStyle/>
          <a:p>
            <a:r>
              <a:rPr sz="900" b="0" i="0">
                <a:solidFill>
                  <a:srgbClr val="666666"/>
                </a:solidFill>
                <a:latin typeface="Calibri"/>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D1B2A"/>
        </a:solidFill>
        <a:effectLst/>
      </p:bgPr>
    </p:bg>
    <p:spTree>
      <p:nvGrpSpPr>
        <p:cNvPr id="1" name=""/>
        <p:cNvGrpSpPr/>
        <p:nvPr/>
      </p:nvGrpSpPr>
      <p:grpSpPr/>
      <p:sp>
        <p:nvSpPr>
          <p:cNvPr id="2" name="TextBox 1"/>
          <p:cNvSpPr txBox="1"/>
          <p:nvPr/>
        </p:nvSpPr>
        <p:spPr>
          <a:xfrm>
            <a:off x="548640" y="365760"/>
            <a:ext cx="11091672" cy="685800"/>
          </a:xfrm>
          <a:prstGeom prst="rect">
            <a:avLst/>
          </a:prstGeom>
          <a:noFill/>
        </p:spPr>
        <p:txBody>
          <a:bodyPr wrap="square">
            <a:spAutoFit/>
          </a:bodyPr>
          <a:lstStyle/>
          <a:p>
            <a:r>
              <a:rPr sz="3200" b="1" i="0">
                <a:solidFill>
                  <a:srgbClr val="FFFFFF"/>
                </a:solidFill>
                <a:latin typeface="Calibri"/>
              </a:rPr>
              <a:t>What you just saw</a:t>
            </a:r>
          </a:p>
        </p:txBody>
      </p:sp>
      <p:sp>
        <p:nvSpPr>
          <p:cNvPr id="3" name="Rectangle 2"/>
          <p:cNvSpPr/>
          <p:nvPr/>
        </p:nvSpPr>
        <p:spPr>
          <a:xfrm>
            <a:off x="548640" y="1097280"/>
            <a:ext cx="11091672" cy="1905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645920"/>
            <a:ext cx="11091672" cy="4114800"/>
          </a:xfrm>
          <a:prstGeom prst="rect">
            <a:avLst/>
          </a:prstGeom>
          <a:noFill/>
        </p:spPr>
        <p:txBody>
          <a:bodyPr wrap="square">
            <a:spAutoFit/>
          </a:bodyPr>
          <a:lstStyle/>
          <a:p>
            <a:pPr algn="l">
              <a:spcAft>
                <a:spcPts val="600"/>
              </a:spcAft>
            </a:pPr>
            <a:r>
              <a:rPr sz="1800" b="1">
                <a:solidFill>
                  <a:srgbClr val="00B4D8"/>
                </a:solidFill>
                <a:latin typeface="Calibri"/>
              </a:rPr>
              <a:t>• </a:t>
            </a:r>
            <a:r>
              <a:rPr sz="1800" b="0">
                <a:solidFill>
                  <a:srgbClr val="FFFFFF"/>
                </a:solidFill>
                <a:latin typeface="Calibri"/>
              </a:rPr>
              <a:t>Drag-drop upload — no command line, no scripting</a:t>
            </a:r>
          </a:p>
          <a:p>
            <a:pPr algn="l">
              <a:spcAft>
                <a:spcPts val="600"/>
              </a:spcAft>
            </a:pPr>
            <a:r>
              <a:rPr sz="1800" b="1">
                <a:solidFill>
                  <a:srgbClr val="00B4D8"/>
                </a:solidFill>
                <a:latin typeface="Calibri"/>
              </a:rPr>
              <a:t>• </a:t>
            </a:r>
            <a:r>
              <a:rPr sz="1800" b="0">
                <a:solidFill>
                  <a:srgbClr val="FFFFFF"/>
                </a:solidFill>
                <a:latin typeface="Calibri"/>
              </a:rPr>
              <a:t>Nine automatic stages — face detection, mouth cropping, recognition, decoding</a:t>
            </a:r>
          </a:p>
          <a:p>
            <a:pPr algn="l">
              <a:spcAft>
                <a:spcPts val="600"/>
              </a:spcAft>
            </a:pPr>
            <a:r>
              <a:rPr sz="1800" b="1">
                <a:solidFill>
                  <a:srgbClr val="00B4D8"/>
                </a:solidFill>
                <a:latin typeface="Calibri"/>
              </a:rPr>
              <a:t>• </a:t>
            </a:r>
            <a:r>
              <a:rPr sz="1800" b="0">
                <a:solidFill>
                  <a:srgbClr val="FFFFFF"/>
                </a:solidFill>
                <a:latin typeface="Calibri"/>
              </a:rPr>
              <a:t>Per-word color coding — green confident, yellow review, red likely error</a:t>
            </a:r>
          </a:p>
          <a:p>
            <a:pPr algn="l">
              <a:spcAft>
                <a:spcPts val="600"/>
              </a:spcAft>
            </a:pPr>
            <a:r>
              <a:rPr sz="1800" b="1">
                <a:solidFill>
                  <a:srgbClr val="00B4D8"/>
                </a:solidFill>
                <a:latin typeface="Calibri"/>
              </a:rPr>
              <a:t>• </a:t>
            </a:r>
            <a:r>
              <a:rPr sz="1800" b="0">
                <a:solidFill>
                  <a:srgbClr val="FFFFFF"/>
                </a:solidFill>
                <a:latin typeface="Calibri"/>
              </a:rPr>
              <a:t>Per-segment Intelligibility Score — calibrated against expert judgment</a:t>
            </a:r>
          </a:p>
          <a:p>
            <a:pPr algn="l">
              <a:spcAft>
                <a:spcPts val="600"/>
              </a:spcAft>
            </a:pPr>
            <a:r>
              <a:rPr sz="1800" b="1">
                <a:solidFill>
                  <a:srgbClr val="00B4D8"/>
                </a:solidFill>
                <a:latin typeface="Calibri"/>
              </a:rPr>
              <a:t>• </a:t>
            </a:r>
            <a:r>
              <a:rPr sz="1800" b="0">
                <a:solidFill>
                  <a:srgbClr val="FFFFFF"/>
                </a:solidFill>
                <a:latin typeface="Calibri"/>
              </a:rPr>
              <a:t>Output is a downloadable HTML report you can hand a reviewer</a:t>
            </a:r>
          </a:p>
        </p:txBody>
      </p:sp>
      <p:pic>
        <p:nvPicPr>
          <p:cNvPr id="5" name="Picture 4" descr="WhiteLogo.jpeg"/>
          <p:cNvPicPr>
            <a:picLocks noChangeAspect="1"/>
          </p:cNvPicPr>
          <p:nvPr/>
        </p:nvPicPr>
        <p:blipFill>
          <a:blip r:embed="rId2"/>
          <a:stretch>
            <a:fillRect/>
          </a:stretch>
        </p:blipFill>
        <p:spPr>
          <a:xfrm>
            <a:off x="11323320" y="6428232"/>
            <a:ext cx="269634" cy="320040"/>
          </a:xfrm>
          <a:prstGeom prst="rect">
            <a:avLst/>
          </a:prstGeom>
        </p:spPr>
      </p:pic>
      <p:sp>
        <p:nvSpPr>
          <p:cNvPr id="6" name="TextBox 5"/>
          <p:cNvSpPr txBox="1"/>
          <p:nvPr/>
        </p:nvSpPr>
        <p:spPr>
          <a:xfrm>
            <a:off x="548640" y="6510528"/>
            <a:ext cx="457200" cy="228600"/>
          </a:xfrm>
          <a:prstGeom prst="rect">
            <a:avLst/>
          </a:prstGeom>
          <a:noFill/>
        </p:spPr>
        <p:txBody>
          <a:bodyPr wrap="none">
            <a:spAutoFit/>
          </a:bodyPr>
          <a:lstStyle/>
          <a:p>
            <a:r>
              <a:rPr sz="900" b="0" i="0">
                <a:solidFill>
                  <a:srgbClr val="666666"/>
                </a:solidFill>
                <a:latin typeface="Calibri"/>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D1B2A"/>
        </a:solidFill>
        <a:effectLst/>
      </p:bgPr>
    </p:bg>
    <p:spTree>
      <p:nvGrpSpPr>
        <p:cNvPr id="1" name=""/>
        <p:cNvGrpSpPr/>
        <p:nvPr/>
      </p:nvGrpSpPr>
      <p:grpSpPr/>
      <p:sp>
        <p:nvSpPr>
          <p:cNvPr id="2" name="TextBox 1"/>
          <p:cNvSpPr txBox="1"/>
          <p:nvPr/>
        </p:nvSpPr>
        <p:spPr>
          <a:xfrm>
            <a:off x="548640" y="2560320"/>
            <a:ext cx="11091672" cy="914400"/>
          </a:xfrm>
          <a:prstGeom prst="rect">
            <a:avLst/>
          </a:prstGeom>
          <a:noFill/>
        </p:spPr>
        <p:txBody>
          <a:bodyPr wrap="square" anchor="t"/>
          <a:lstStyle/>
          <a:p>
            <a:pPr algn="ctr"/>
            <a:r>
              <a:rPr sz="4400" b="1" i="0">
                <a:solidFill>
                  <a:srgbClr val="00B4D8"/>
                </a:solidFill>
                <a:latin typeface="Calibri"/>
              </a:rPr>
              <a:t>OUTPUT EXAMPLES</a:t>
            </a:r>
          </a:p>
        </p:txBody>
      </p:sp>
      <p:sp>
        <p:nvSpPr>
          <p:cNvPr id="3" name="TextBox 2"/>
          <p:cNvSpPr txBox="1"/>
          <p:nvPr/>
        </p:nvSpPr>
        <p:spPr>
          <a:xfrm>
            <a:off x="548640" y="3566160"/>
            <a:ext cx="11091672" cy="731520"/>
          </a:xfrm>
          <a:prstGeom prst="rect">
            <a:avLst/>
          </a:prstGeom>
          <a:noFill/>
        </p:spPr>
        <p:txBody>
          <a:bodyPr wrap="square" anchor="t"/>
          <a:lstStyle/>
          <a:p>
            <a:pPr algn="ctr"/>
            <a:r>
              <a:rPr sz="2000" b="0" i="1">
                <a:solidFill>
                  <a:srgbClr val="AAAAAA"/>
                </a:solidFill>
                <a:latin typeface="Calibri"/>
              </a:rPr>
              <a:t>What good, partial, and flagged segments look like</a:t>
            </a:r>
          </a:p>
        </p:txBody>
      </p:sp>
      <p:pic>
        <p:nvPicPr>
          <p:cNvPr id="4" name="Picture 3" descr="WhiteLogo.jpeg"/>
          <p:cNvPicPr>
            <a:picLocks noChangeAspect="1"/>
          </p:cNvPicPr>
          <p:nvPr/>
        </p:nvPicPr>
        <p:blipFill>
          <a:blip r:embed="rId2"/>
          <a:stretch>
            <a:fillRect/>
          </a:stretch>
        </p:blipFill>
        <p:spPr>
          <a:xfrm>
            <a:off x="11323320" y="6428232"/>
            <a:ext cx="269634" cy="320040"/>
          </a:xfrm>
          <a:prstGeom prst="rect">
            <a:avLst/>
          </a:prstGeom>
        </p:spPr>
      </p:pic>
      <p:sp>
        <p:nvSpPr>
          <p:cNvPr id="5" name="TextBox 4"/>
          <p:cNvSpPr txBox="1"/>
          <p:nvPr/>
        </p:nvSpPr>
        <p:spPr>
          <a:xfrm>
            <a:off x="548640" y="6510528"/>
            <a:ext cx="457200" cy="228600"/>
          </a:xfrm>
          <a:prstGeom prst="rect">
            <a:avLst/>
          </a:prstGeom>
          <a:noFill/>
        </p:spPr>
        <p:txBody>
          <a:bodyPr wrap="none">
            <a:spAutoFit/>
          </a:bodyPr>
          <a:lstStyle/>
          <a:p>
            <a:r>
              <a:rPr sz="900" b="0" i="0">
                <a:solidFill>
                  <a:srgbClr val="666666"/>
                </a:solidFill>
                <a:latin typeface="Calibri"/>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D1B2A"/>
        </a:solidFill>
        <a:effectLst/>
      </p:bgPr>
    </p:bg>
    <p:spTree>
      <p:nvGrpSpPr>
        <p:cNvPr id="1" name=""/>
        <p:cNvGrpSpPr/>
        <p:nvPr/>
      </p:nvGrpSpPr>
      <p:grpSpPr/>
      <p:sp>
        <p:nvSpPr>
          <p:cNvPr id="2" name="TextBox 1"/>
          <p:cNvSpPr txBox="1"/>
          <p:nvPr/>
        </p:nvSpPr>
        <p:spPr>
          <a:xfrm>
            <a:off x="548640" y="365760"/>
            <a:ext cx="11091672" cy="685800"/>
          </a:xfrm>
          <a:prstGeom prst="rect">
            <a:avLst/>
          </a:prstGeom>
          <a:noFill/>
        </p:spPr>
        <p:txBody>
          <a:bodyPr wrap="square">
            <a:spAutoFit/>
          </a:bodyPr>
          <a:lstStyle/>
          <a:p>
            <a:r>
              <a:rPr sz="3200" b="1" i="0">
                <a:solidFill>
                  <a:srgbClr val="FFFFFF"/>
                </a:solidFill>
                <a:latin typeface="Calibri"/>
              </a:rPr>
              <a:t>Real outputs — pick any tile to play</a:t>
            </a:r>
          </a:p>
        </p:txBody>
      </p:sp>
      <p:sp>
        <p:nvSpPr>
          <p:cNvPr id="3" name="Rectangle 2"/>
          <p:cNvSpPr/>
          <p:nvPr/>
        </p:nvSpPr>
        <p:spPr>
          <a:xfrm>
            <a:off x="548640" y="1097280"/>
            <a:ext cx="11091672" cy="1905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417320"/>
            <a:ext cx="11091672" cy="365760"/>
          </a:xfrm>
          <a:prstGeom prst="rect">
            <a:avLst/>
          </a:prstGeom>
          <a:noFill/>
        </p:spPr>
        <p:txBody>
          <a:bodyPr wrap="square" anchor="t"/>
          <a:lstStyle/>
          <a:p>
            <a:pPr algn="ctr"/>
            <a:r>
              <a:rPr sz="1400" b="0" i="1">
                <a:solidFill>
                  <a:srgbClr val="AAAAAA"/>
                </a:solidFill>
                <a:latin typeface="Calibri"/>
              </a:rPr>
              <a:t>Six real segments decoded by the model. Click a tile in PowerPoint to play.</a:t>
            </a:r>
          </a:p>
        </p:txBody>
      </p:sp>
      <p:pic>
        <p:nvPicPr>
          <p:cNvPr id="5" name="Picture 4" descr="perfect.jpg"/>
          <p:cNvPicPr>
            <a:picLocks noChangeAspect="1"/>
          </p:cNvPicPr>
          <p:nvPr/>
        </p:nvPicPr>
        <p:blipFill>
          <a:blip r:embed="rId2"/>
          <a:stretch>
            <a:fillRect/>
          </a:stretch>
        </p:blipFill>
        <p:spPr>
          <a:xfrm>
            <a:off x="548640" y="1920240"/>
            <a:ext cx="3575304" cy="1325880"/>
          </a:xfrm>
          <a:prstGeom prst="rect">
            <a:avLst/>
          </a:prstGeom>
        </p:spPr>
      </p:pic>
      <p:sp>
        <p:nvSpPr>
          <p:cNvPr id="6" name="Oval 5"/>
          <p:cNvSpPr/>
          <p:nvPr/>
        </p:nvSpPr>
        <p:spPr>
          <a:xfrm>
            <a:off x="2137410" y="2384298"/>
            <a:ext cx="397764" cy="397764"/>
          </a:xfrm>
          <a:prstGeom prst="ellipse">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137410" y="2384298"/>
            <a:ext cx="397764" cy="397764"/>
          </a:xfrm>
          <a:prstGeom prst="rect">
            <a:avLst/>
          </a:prstGeom>
          <a:noFill/>
        </p:spPr>
        <p:txBody>
          <a:bodyPr wrap="none" anchor="ctr">
            <a:spAutoFit/>
          </a:bodyPr>
          <a:lstStyle/>
          <a:p>
            <a:pPr algn="ctr"/>
            <a:r>
              <a:rPr sz="1200">
                <a:solidFill>
                  <a:srgbClr val="FFFFFF"/>
                </a:solidFill>
                <a:latin typeface="Calibri"/>
              </a:rPr>
              <a:t>▶</a:t>
            </a:r>
          </a:p>
        </p:txBody>
      </p:sp>
      <p:sp>
        <p:nvSpPr>
          <p:cNvPr id="8" name="Rectangle 7"/>
          <p:cNvSpPr/>
          <p:nvPr/>
        </p:nvSpPr>
        <p:spPr>
          <a:xfrm>
            <a:off x="548640" y="3246120"/>
            <a:ext cx="3575304" cy="411480"/>
          </a:xfrm>
          <a:prstGeom prst="rect">
            <a:avLst/>
          </a:prstGeom>
          <a:solidFill>
            <a:srgbClr val="152A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 y="3291840"/>
            <a:ext cx="3392424" cy="228600"/>
          </a:xfrm>
          <a:prstGeom prst="rect">
            <a:avLst/>
          </a:prstGeom>
          <a:noFill/>
        </p:spPr>
        <p:txBody>
          <a:bodyPr wrap="square" anchor="t"/>
          <a:lstStyle/>
          <a:p>
            <a:pPr algn="l"/>
            <a:r>
              <a:rPr sz="1100" b="1" i="0">
                <a:solidFill>
                  <a:srgbClr val="4CAF50"/>
                </a:solidFill>
                <a:latin typeface="Calibri"/>
              </a:rPr>
              <a:t>PERFECT</a:t>
            </a:r>
          </a:p>
        </p:txBody>
      </p:sp>
      <p:sp>
        <p:nvSpPr>
          <p:cNvPr id="10" name="TextBox 9"/>
          <p:cNvSpPr txBox="1"/>
          <p:nvPr/>
        </p:nvSpPr>
        <p:spPr>
          <a:xfrm>
            <a:off x="640080" y="3493008"/>
            <a:ext cx="3392424" cy="182880"/>
          </a:xfrm>
          <a:prstGeom prst="rect">
            <a:avLst/>
          </a:prstGeom>
          <a:noFill/>
        </p:spPr>
        <p:txBody>
          <a:bodyPr wrap="square" anchor="t"/>
          <a:lstStyle/>
          <a:p>
            <a:pPr algn="l"/>
            <a:r>
              <a:rPr sz="900" b="0" i="1">
                <a:solidFill>
                  <a:srgbClr val="AAAAAA"/>
                </a:solidFill>
                <a:latin typeface="Calibri"/>
              </a:rPr>
              <a:t>Clean visual, clean output</a:t>
            </a:r>
          </a:p>
        </p:txBody>
      </p:sp>
      <p:pic>
        <p:nvPicPr>
          <p:cNvPr id="11" name="Picture 10" descr="vitamin_d.jpg"/>
          <p:cNvPicPr>
            <a:picLocks noChangeAspect="1"/>
          </p:cNvPicPr>
          <p:nvPr/>
        </p:nvPicPr>
        <p:blipFill>
          <a:blip r:embed="rId3"/>
          <a:stretch>
            <a:fillRect/>
          </a:stretch>
        </p:blipFill>
        <p:spPr>
          <a:xfrm>
            <a:off x="4306824" y="1920240"/>
            <a:ext cx="3575304" cy="1325880"/>
          </a:xfrm>
          <a:prstGeom prst="rect">
            <a:avLst/>
          </a:prstGeom>
        </p:spPr>
      </p:pic>
      <p:sp>
        <p:nvSpPr>
          <p:cNvPr id="12" name="Oval 11"/>
          <p:cNvSpPr/>
          <p:nvPr/>
        </p:nvSpPr>
        <p:spPr>
          <a:xfrm>
            <a:off x="5895594" y="2384298"/>
            <a:ext cx="397764" cy="397764"/>
          </a:xfrm>
          <a:prstGeom prst="ellipse">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895594" y="2384298"/>
            <a:ext cx="397764" cy="397764"/>
          </a:xfrm>
          <a:prstGeom prst="rect">
            <a:avLst/>
          </a:prstGeom>
          <a:noFill/>
        </p:spPr>
        <p:txBody>
          <a:bodyPr wrap="none" anchor="ctr">
            <a:spAutoFit/>
          </a:bodyPr>
          <a:lstStyle/>
          <a:p>
            <a:pPr algn="ctr"/>
            <a:r>
              <a:rPr sz="1200">
                <a:solidFill>
                  <a:srgbClr val="FFFFFF"/>
                </a:solidFill>
                <a:latin typeface="Calibri"/>
              </a:rPr>
              <a:t>▶</a:t>
            </a:r>
          </a:p>
        </p:txBody>
      </p:sp>
      <p:sp>
        <p:nvSpPr>
          <p:cNvPr id="14" name="Rectangle 13"/>
          <p:cNvSpPr/>
          <p:nvPr/>
        </p:nvSpPr>
        <p:spPr>
          <a:xfrm>
            <a:off x="4306824" y="3246120"/>
            <a:ext cx="3575304" cy="411480"/>
          </a:xfrm>
          <a:prstGeom prst="rect">
            <a:avLst/>
          </a:prstGeom>
          <a:solidFill>
            <a:srgbClr val="152A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398264" y="3291840"/>
            <a:ext cx="3392424" cy="228600"/>
          </a:xfrm>
          <a:prstGeom prst="rect">
            <a:avLst/>
          </a:prstGeom>
          <a:noFill/>
        </p:spPr>
        <p:txBody>
          <a:bodyPr wrap="square" anchor="t"/>
          <a:lstStyle/>
          <a:p>
            <a:pPr algn="l"/>
            <a:r>
              <a:rPr sz="1100" b="1" i="0">
                <a:solidFill>
                  <a:srgbClr val="4CAF50"/>
                </a:solidFill>
                <a:latin typeface="Calibri"/>
              </a:rPr>
              <a:t>ALMOST PERFECT</a:t>
            </a:r>
          </a:p>
        </p:txBody>
      </p:sp>
      <p:sp>
        <p:nvSpPr>
          <p:cNvPr id="16" name="TextBox 15"/>
          <p:cNvSpPr txBox="1"/>
          <p:nvPr/>
        </p:nvSpPr>
        <p:spPr>
          <a:xfrm>
            <a:off x="4398264" y="3493008"/>
            <a:ext cx="3392424" cy="182880"/>
          </a:xfrm>
          <a:prstGeom prst="rect">
            <a:avLst/>
          </a:prstGeom>
          <a:noFill/>
        </p:spPr>
        <p:txBody>
          <a:bodyPr wrap="square" anchor="t"/>
          <a:lstStyle/>
          <a:p>
            <a:pPr algn="l"/>
            <a:r>
              <a:rPr sz="900" b="0" i="1">
                <a:solidFill>
                  <a:srgbClr val="AAAAAA"/>
                </a:solidFill>
                <a:latin typeface="Calibri"/>
              </a:rPr>
              <a:t>Near-verbatim transcription</a:t>
            </a:r>
          </a:p>
        </p:txBody>
      </p:sp>
      <p:pic>
        <p:nvPicPr>
          <p:cNvPr id="17" name="Picture 16" descr="admiral.jpg"/>
          <p:cNvPicPr>
            <a:picLocks noChangeAspect="1"/>
          </p:cNvPicPr>
          <p:nvPr/>
        </p:nvPicPr>
        <p:blipFill>
          <a:blip r:embed="rId4"/>
          <a:stretch>
            <a:fillRect/>
          </a:stretch>
        </p:blipFill>
        <p:spPr>
          <a:xfrm>
            <a:off x="8065008" y="1920240"/>
            <a:ext cx="3575304" cy="1325880"/>
          </a:xfrm>
          <a:prstGeom prst="rect">
            <a:avLst/>
          </a:prstGeom>
        </p:spPr>
      </p:pic>
      <p:sp>
        <p:nvSpPr>
          <p:cNvPr id="18" name="Oval 17"/>
          <p:cNvSpPr/>
          <p:nvPr/>
        </p:nvSpPr>
        <p:spPr>
          <a:xfrm>
            <a:off x="9653778" y="2384298"/>
            <a:ext cx="397764" cy="397764"/>
          </a:xfrm>
          <a:prstGeom prst="ellipse">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653778" y="2384298"/>
            <a:ext cx="397764" cy="397764"/>
          </a:xfrm>
          <a:prstGeom prst="rect">
            <a:avLst/>
          </a:prstGeom>
          <a:noFill/>
        </p:spPr>
        <p:txBody>
          <a:bodyPr wrap="none" anchor="ctr">
            <a:spAutoFit/>
          </a:bodyPr>
          <a:lstStyle/>
          <a:p>
            <a:pPr algn="ctr"/>
            <a:r>
              <a:rPr sz="1200">
                <a:solidFill>
                  <a:srgbClr val="FFFFFF"/>
                </a:solidFill>
                <a:latin typeface="Calibri"/>
              </a:rPr>
              <a:t>▶</a:t>
            </a:r>
          </a:p>
        </p:txBody>
      </p:sp>
      <p:sp>
        <p:nvSpPr>
          <p:cNvPr id="20" name="Rectangle 19"/>
          <p:cNvSpPr/>
          <p:nvPr/>
        </p:nvSpPr>
        <p:spPr>
          <a:xfrm>
            <a:off x="8065008" y="3246120"/>
            <a:ext cx="3575304" cy="411480"/>
          </a:xfrm>
          <a:prstGeom prst="rect">
            <a:avLst/>
          </a:prstGeom>
          <a:solidFill>
            <a:srgbClr val="152A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156448" y="3291840"/>
            <a:ext cx="3392424" cy="228600"/>
          </a:xfrm>
          <a:prstGeom prst="rect">
            <a:avLst/>
          </a:prstGeom>
          <a:noFill/>
        </p:spPr>
        <p:txBody>
          <a:bodyPr wrap="square" anchor="t"/>
          <a:lstStyle/>
          <a:p>
            <a:pPr algn="l"/>
            <a:r>
              <a:rPr sz="1100" b="1" i="0">
                <a:solidFill>
                  <a:srgbClr val="FFD54F"/>
                </a:solidFill>
                <a:latin typeface="Calibri"/>
              </a:rPr>
              <a:t>PARTIAL</a:t>
            </a:r>
          </a:p>
        </p:txBody>
      </p:sp>
      <p:sp>
        <p:nvSpPr>
          <p:cNvPr id="22" name="TextBox 21"/>
          <p:cNvSpPr txBox="1"/>
          <p:nvPr/>
        </p:nvSpPr>
        <p:spPr>
          <a:xfrm>
            <a:off x="8156448" y="3493008"/>
            <a:ext cx="3392424" cy="182880"/>
          </a:xfrm>
          <a:prstGeom prst="rect">
            <a:avLst/>
          </a:prstGeom>
          <a:noFill/>
        </p:spPr>
        <p:txBody>
          <a:bodyPr wrap="square" anchor="t"/>
          <a:lstStyle/>
          <a:p>
            <a:pPr algn="l"/>
            <a:r>
              <a:rPr sz="900" b="0" i="1">
                <a:solidFill>
                  <a:srgbClr val="AAAAAA"/>
                </a:solidFill>
                <a:latin typeface="Calibri"/>
              </a:rPr>
              <a:t>Right gist, wrong specifics</a:t>
            </a:r>
          </a:p>
        </p:txBody>
      </p:sp>
      <p:pic>
        <p:nvPicPr>
          <p:cNvPr id="23" name="Picture 22" descr="nearmiss.jpg"/>
          <p:cNvPicPr>
            <a:picLocks noChangeAspect="1"/>
          </p:cNvPicPr>
          <p:nvPr/>
        </p:nvPicPr>
        <p:blipFill>
          <a:blip r:embed="rId5"/>
          <a:stretch>
            <a:fillRect/>
          </a:stretch>
        </p:blipFill>
        <p:spPr>
          <a:xfrm>
            <a:off x="548640" y="3840480"/>
            <a:ext cx="3575304" cy="1325880"/>
          </a:xfrm>
          <a:prstGeom prst="rect">
            <a:avLst/>
          </a:prstGeom>
        </p:spPr>
      </p:pic>
      <p:sp>
        <p:nvSpPr>
          <p:cNvPr id="24" name="Oval 23"/>
          <p:cNvSpPr/>
          <p:nvPr/>
        </p:nvSpPr>
        <p:spPr>
          <a:xfrm>
            <a:off x="2137410" y="4304538"/>
            <a:ext cx="397764" cy="397764"/>
          </a:xfrm>
          <a:prstGeom prst="ellipse">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2137410" y="4304538"/>
            <a:ext cx="397764" cy="397764"/>
          </a:xfrm>
          <a:prstGeom prst="rect">
            <a:avLst/>
          </a:prstGeom>
          <a:noFill/>
        </p:spPr>
        <p:txBody>
          <a:bodyPr wrap="none" anchor="ctr">
            <a:spAutoFit/>
          </a:bodyPr>
          <a:lstStyle/>
          <a:p>
            <a:pPr algn="ctr"/>
            <a:r>
              <a:rPr sz="1200">
                <a:solidFill>
                  <a:srgbClr val="FFFFFF"/>
                </a:solidFill>
                <a:latin typeface="Calibri"/>
              </a:rPr>
              <a:t>▶</a:t>
            </a:r>
          </a:p>
        </p:txBody>
      </p:sp>
      <p:sp>
        <p:nvSpPr>
          <p:cNvPr id="26" name="Rectangle 25"/>
          <p:cNvSpPr/>
          <p:nvPr/>
        </p:nvSpPr>
        <p:spPr>
          <a:xfrm>
            <a:off x="548640" y="5166360"/>
            <a:ext cx="3575304" cy="411480"/>
          </a:xfrm>
          <a:prstGeom prst="rect">
            <a:avLst/>
          </a:prstGeom>
          <a:solidFill>
            <a:srgbClr val="152A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40080" y="5212080"/>
            <a:ext cx="3392424" cy="228600"/>
          </a:xfrm>
          <a:prstGeom prst="rect">
            <a:avLst/>
          </a:prstGeom>
          <a:noFill/>
        </p:spPr>
        <p:txBody>
          <a:bodyPr wrap="square" anchor="t"/>
          <a:lstStyle/>
          <a:p>
            <a:pPr algn="l"/>
            <a:r>
              <a:rPr sz="1100" b="1" i="0">
                <a:solidFill>
                  <a:srgbClr val="FFD54F"/>
                </a:solidFill>
                <a:latin typeface="Calibri"/>
              </a:rPr>
              <a:t>NEAR MISS</a:t>
            </a:r>
          </a:p>
        </p:txBody>
      </p:sp>
      <p:sp>
        <p:nvSpPr>
          <p:cNvPr id="28" name="TextBox 27"/>
          <p:cNvSpPr txBox="1"/>
          <p:nvPr/>
        </p:nvSpPr>
        <p:spPr>
          <a:xfrm>
            <a:off x="640080" y="5413248"/>
            <a:ext cx="3392424" cy="182880"/>
          </a:xfrm>
          <a:prstGeom prst="rect">
            <a:avLst/>
          </a:prstGeom>
          <a:noFill/>
        </p:spPr>
        <p:txBody>
          <a:bodyPr wrap="square" anchor="t"/>
          <a:lstStyle/>
          <a:p>
            <a:pPr algn="l"/>
            <a:r>
              <a:rPr sz="900" b="0" i="1">
                <a:solidFill>
                  <a:srgbClr val="AAAAAA"/>
                </a:solidFill>
                <a:latin typeface="Calibri"/>
              </a:rPr>
              <a:t>Off by a phrase, recoverable with context</a:t>
            </a:r>
          </a:p>
        </p:txBody>
      </p:sp>
      <p:pic>
        <p:nvPicPr>
          <p:cNvPr id="29" name="Picture 28" descr="halluc.jpg"/>
          <p:cNvPicPr>
            <a:picLocks noChangeAspect="1"/>
          </p:cNvPicPr>
          <p:nvPr/>
        </p:nvPicPr>
        <p:blipFill>
          <a:blip r:embed="rId6"/>
          <a:stretch>
            <a:fillRect/>
          </a:stretch>
        </p:blipFill>
        <p:spPr>
          <a:xfrm>
            <a:off x="4306824" y="3840480"/>
            <a:ext cx="3575304" cy="1325880"/>
          </a:xfrm>
          <a:prstGeom prst="rect">
            <a:avLst/>
          </a:prstGeom>
        </p:spPr>
      </p:pic>
      <p:sp>
        <p:nvSpPr>
          <p:cNvPr id="30" name="Oval 29"/>
          <p:cNvSpPr/>
          <p:nvPr/>
        </p:nvSpPr>
        <p:spPr>
          <a:xfrm>
            <a:off x="5895594" y="4304538"/>
            <a:ext cx="397764" cy="397764"/>
          </a:xfrm>
          <a:prstGeom prst="ellipse">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895594" y="4304538"/>
            <a:ext cx="397764" cy="397764"/>
          </a:xfrm>
          <a:prstGeom prst="rect">
            <a:avLst/>
          </a:prstGeom>
          <a:noFill/>
        </p:spPr>
        <p:txBody>
          <a:bodyPr wrap="none" anchor="ctr">
            <a:spAutoFit/>
          </a:bodyPr>
          <a:lstStyle/>
          <a:p>
            <a:pPr algn="ctr"/>
            <a:r>
              <a:rPr sz="1200">
                <a:solidFill>
                  <a:srgbClr val="FFFFFF"/>
                </a:solidFill>
                <a:latin typeface="Calibri"/>
              </a:rPr>
              <a:t>▶</a:t>
            </a:r>
          </a:p>
        </p:txBody>
      </p:sp>
      <p:sp>
        <p:nvSpPr>
          <p:cNvPr id="32" name="Rectangle 31"/>
          <p:cNvSpPr/>
          <p:nvPr/>
        </p:nvSpPr>
        <p:spPr>
          <a:xfrm>
            <a:off x="4306824" y="5166360"/>
            <a:ext cx="3575304" cy="411480"/>
          </a:xfrm>
          <a:prstGeom prst="rect">
            <a:avLst/>
          </a:prstGeom>
          <a:solidFill>
            <a:srgbClr val="152A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4398264" y="5212080"/>
            <a:ext cx="3392424" cy="228600"/>
          </a:xfrm>
          <a:prstGeom prst="rect">
            <a:avLst/>
          </a:prstGeom>
          <a:noFill/>
        </p:spPr>
        <p:txBody>
          <a:bodyPr wrap="square" anchor="t"/>
          <a:lstStyle/>
          <a:p>
            <a:pPr algn="l"/>
            <a:r>
              <a:rPr sz="1100" b="1" i="0">
                <a:solidFill>
                  <a:srgbClr val="E06C75"/>
                </a:solidFill>
                <a:latin typeface="Calibri"/>
              </a:rPr>
              <a:t>HALLUCINATION</a:t>
            </a:r>
          </a:p>
        </p:txBody>
      </p:sp>
      <p:sp>
        <p:nvSpPr>
          <p:cNvPr id="34" name="TextBox 33"/>
          <p:cNvSpPr txBox="1"/>
          <p:nvPr/>
        </p:nvSpPr>
        <p:spPr>
          <a:xfrm>
            <a:off x="4398264" y="5413248"/>
            <a:ext cx="3392424" cy="182880"/>
          </a:xfrm>
          <a:prstGeom prst="rect">
            <a:avLst/>
          </a:prstGeom>
          <a:noFill/>
        </p:spPr>
        <p:txBody>
          <a:bodyPr wrap="square" anchor="t"/>
          <a:lstStyle/>
          <a:p>
            <a:pPr algn="l"/>
            <a:r>
              <a:rPr sz="900" b="0" i="1">
                <a:solidFill>
                  <a:srgbClr val="AAAAAA"/>
                </a:solidFill>
                <a:latin typeface="Calibri"/>
              </a:rPr>
              <a:t>Fluent but wrong — auto-flagged</a:t>
            </a:r>
          </a:p>
        </p:txBody>
      </p:sp>
      <p:pic>
        <p:nvPicPr>
          <p:cNvPr id="35" name="Picture 34" descr="topic_drift.jpg"/>
          <p:cNvPicPr>
            <a:picLocks noChangeAspect="1"/>
          </p:cNvPicPr>
          <p:nvPr/>
        </p:nvPicPr>
        <p:blipFill>
          <a:blip r:embed="rId7"/>
          <a:stretch>
            <a:fillRect/>
          </a:stretch>
        </p:blipFill>
        <p:spPr>
          <a:xfrm>
            <a:off x="8065008" y="3840480"/>
            <a:ext cx="3575304" cy="1325880"/>
          </a:xfrm>
          <a:prstGeom prst="rect">
            <a:avLst/>
          </a:prstGeom>
        </p:spPr>
      </p:pic>
      <p:sp>
        <p:nvSpPr>
          <p:cNvPr id="36" name="Oval 35"/>
          <p:cNvSpPr/>
          <p:nvPr/>
        </p:nvSpPr>
        <p:spPr>
          <a:xfrm>
            <a:off x="9653778" y="4304538"/>
            <a:ext cx="397764" cy="397764"/>
          </a:xfrm>
          <a:prstGeom prst="ellipse">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9653778" y="4304538"/>
            <a:ext cx="397764" cy="397764"/>
          </a:xfrm>
          <a:prstGeom prst="rect">
            <a:avLst/>
          </a:prstGeom>
          <a:noFill/>
        </p:spPr>
        <p:txBody>
          <a:bodyPr wrap="none" anchor="ctr">
            <a:spAutoFit/>
          </a:bodyPr>
          <a:lstStyle/>
          <a:p>
            <a:pPr algn="ctr"/>
            <a:r>
              <a:rPr sz="1200">
                <a:solidFill>
                  <a:srgbClr val="FFFFFF"/>
                </a:solidFill>
                <a:latin typeface="Calibri"/>
              </a:rPr>
              <a:t>▶</a:t>
            </a:r>
          </a:p>
        </p:txBody>
      </p:sp>
      <p:sp>
        <p:nvSpPr>
          <p:cNvPr id="38" name="Rectangle 37"/>
          <p:cNvSpPr/>
          <p:nvPr/>
        </p:nvSpPr>
        <p:spPr>
          <a:xfrm>
            <a:off x="8065008" y="5166360"/>
            <a:ext cx="3575304" cy="411480"/>
          </a:xfrm>
          <a:prstGeom prst="rect">
            <a:avLst/>
          </a:prstGeom>
          <a:solidFill>
            <a:srgbClr val="152A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8156448" y="5212080"/>
            <a:ext cx="3392424" cy="228600"/>
          </a:xfrm>
          <a:prstGeom prst="rect">
            <a:avLst/>
          </a:prstGeom>
          <a:noFill/>
        </p:spPr>
        <p:txBody>
          <a:bodyPr wrap="square" anchor="t"/>
          <a:lstStyle/>
          <a:p>
            <a:pPr algn="l"/>
            <a:r>
              <a:rPr sz="1100" b="1" i="0">
                <a:solidFill>
                  <a:srgbClr val="E06C75"/>
                </a:solidFill>
                <a:latin typeface="Calibri"/>
              </a:rPr>
              <a:t>TOPIC DRIFT</a:t>
            </a:r>
          </a:p>
        </p:txBody>
      </p:sp>
      <p:sp>
        <p:nvSpPr>
          <p:cNvPr id="40" name="TextBox 39"/>
          <p:cNvSpPr txBox="1"/>
          <p:nvPr/>
        </p:nvSpPr>
        <p:spPr>
          <a:xfrm>
            <a:off x="8156448" y="5413248"/>
            <a:ext cx="3392424" cy="182880"/>
          </a:xfrm>
          <a:prstGeom prst="rect">
            <a:avLst/>
          </a:prstGeom>
          <a:noFill/>
        </p:spPr>
        <p:txBody>
          <a:bodyPr wrap="square" anchor="t"/>
          <a:lstStyle/>
          <a:p>
            <a:pPr algn="l"/>
            <a:r>
              <a:rPr sz="900" b="0" i="1">
                <a:solidFill>
                  <a:srgbClr val="AAAAAA"/>
                </a:solidFill>
                <a:latin typeface="Calibri"/>
              </a:rPr>
              <a:t>Model lost the thread, system flags it</a:t>
            </a:r>
          </a:p>
        </p:txBody>
      </p:sp>
      <p:sp>
        <p:nvSpPr>
          <p:cNvPr id="41" name="TextBox 40"/>
          <p:cNvSpPr txBox="1"/>
          <p:nvPr/>
        </p:nvSpPr>
        <p:spPr>
          <a:xfrm>
            <a:off x="548640" y="5989320"/>
            <a:ext cx="11091672" cy="365760"/>
          </a:xfrm>
          <a:prstGeom prst="rect">
            <a:avLst/>
          </a:prstGeom>
          <a:noFill/>
        </p:spPr>
        <p:txBody>
          <a:bodyPr wrap="square" anchor="t"/>
          <a:lstStyle/>
          <a:p>
            <a:pPr algn="ctr"/>
            <a:r>
              <a:rPr sz="1000" b="0" i="1">
                <a:solidFill>
                  <a:srgbClr val="666666"/>
                </a:solidFill>
                <a:latin typeface="Calibri"/>
              </a:rPr>
              <a:t>These six are a deliberate spread — best-case to worst-case. All visually decoded, no audio, on real-world video.</a:t>
            </a:r>
          </a:p>
        </p:txBody>
      </p:sp>
      <p:pic>
        <p:nvPicPr>
          <p:cNvPr id="42" name="Picture 41" descr="WhiteLogo.jpeg"/>
          <p:cNvPicPr>
            <a:picLocks noChangeAspect="1"/>
          </p:cNvPicPr>
          <p:nvPr/>
        </p:nvPicPr>
        <p:blipFill>
          <a:blip r:embed="rId8"/>
          <a:stretch>
            <a:fillRect/>
          </a:stretch>
        </p:blipFill>
        <p:spPr>
          <a:xfrm>
            <a:off x="11323320" y="6428232"/>
            <a:ext cx="269634" cy="320040"/>
          </a:xfrm>
          <a:prstGeom prst="rect">
            <a:avLst/>
          </a:prstGeom>
        </p:spPr>
      </p:pic>
      <p:sp>
        <p:nvSpPr>
          <p:cNvPr id="43" name="TextBox 42"/>
          <p:cNvSpPr txBox="1"/>
          <p:nvPr/>
        </p:nvSpPr>
        <p:spPr>
          <a:xfrm>
            <a:off x="548640" y="6510528"/>
            <a:ext cx="457200" cy="228600"/>
          </a:xfrm>
          <a:prstGeom prst="rect">
            <a:avLst/>
          </a:prstGeom>
          <a:noFill/>
        </p:spPr>
        <p:txBody>
          <a:bodyPr wrap="none">
            <a:spAutoFit/>
          </a:bodyPr>
          <a:lstStyle/>
          <a:p>
            <a:r>
              <a:rPr sz="900" b="0" i="0">
                <a:solidFill>
                  <a:srgbClr val="666666"/>
                </a:solidFill>
                <a:latin typeface="Calibri"/>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D1B2A"/>
        </a:solidFill>
        <a:effectLst/>
      </p:bgPr>
    </p:bg>
    <p:spTree>
      <p:nvGrpSpPr>
        <p:cNvPr id="1" name=""/>
        <p:cNvGrpSpPr/>
        <p:nvPr/>
      </p:nvGrpSpPr>
      <p:grpSpPr/>
      <p:sp>
        <p:nvSpPr>
          <p:cNvPr id="2" name="TextBox 1"/>
          <p:cNvSpPr txBox="1"/>
          <p:nvPr/>
        </p:nvSpPr>
        <p:spPr>
          <a:xfrm>
            <a:off x="548640" y="365760"/>
            <a:ext cx="11091672" cy="685800"/>
          </a:xfrm>
          <a:prstGeom prst="rect">
            <a:avLst/>
          </a:prstGeom>
          <a:noFill/>
        </p:spPr>
        <p:txBody>
          <a:bodyPr wrap="square">
            <a:spAutoFit/>
          </a:bodyPr>
          <a:lstStyle/>
          <a:p>
            <a:r>
              <a:rPr sz="3200" b="1" i="0">
                <a:solidFill>
                  <a:srgbClr val="FFFFFF"/>
                </a:solidFill>
                <a:latin typeface="Calibri"/>
              </a:rPr>
              <a:t>What good, partial, and flagged look like</a:t>
            </a:r>
          </a:p>
        </p:txBody>
      </p:sp>
      <p:sp>
        <p:nvSpPr>
          <p:cNvPr id="3" name="Rectangle 2"/>
          <p:cNvSpPr/>
          <p:nvPr/>
        </p:nvSpPr>
        <p:spPr>
          <a:xfrm>
            <a:off x="548640" y="1097280"/>
            <a:ext cx="11091672" cy="1905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645920"/>
            <a:ext cx="11091672" cy="1097280"/>
          </a:xfrm>
          <a:prstGeom prst="rect">
            <a:avLst/>
          </a:prstGeom>
          <a:noFill/>
        </p:spPr>
        <p:txBody>
          <a:bodyPr wrap="square" anchor="t"/>
          <a:lstStyle/>
          <a:p>
            <a:pPr algn="l"/>
            <a:r>
              <a:rPr sz="2000" b="0" i="1">
                <a:solidFill>
                  <a:srgbClr val="AAAAAA"/>
                </a:solidFill>
                <a:latin typeface="Calibri"/>
              </a:rPr>
              <a:t>Three real segments from the Obama bin Laden announcement, decoded by the live model, color-coded by real per-word confidence.</a:t>
            </a:r>
          </a:p>
        </p:txBody>
      </p:sp>
      <p:sp>
        <p:nvSpPr>
          <p:cNvPr id="5" name="Rectangle 4"/>
          <p:cNvSpPr/>
          <p:nvPr/>
        </p:nvSpPr>
        <p:spPr>
          <a:xfrm>
            <a:off x="548640" y="2926080"/>
            <a:ext cx="3520440" cy="2468880"/>
          </a:xfrm>
          <a:prstGeom prst="rect">
            <a:avLst/>
          </a:prstGeom>
          <a:solidFill>
            <a:srgbClr val="152A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3200400"/>
            <a:ext cx="2971800" cy="365760"/>
          </a:xfrm>
          <a:prstGeom prst="rect">
            <a:avLst/>
          </a:prstGeom>
          <a:noFill/>
        </p:spPr>
        <p:txBody>
          <a:bodyPr wrap="square" anchor="t"/>
          <a:lstStyle/>
          <a:p>
            <a:pPr algn="l"/>
            <a:r>
              <a:rPr sz="1400" b="1" i="0">
                <a:solidFill>
                  <a:srgbClr val="4CAF50"/>
                </a:solidFill>
                <a:latin typeface="Calibri"/>
              </a:rPr>
              <a:t>CLEAN</a:t>
            </a:r>
          </a:p>
        </p:txBody>
      </p:sp>
      <p:sp>
        <p:nvSpPr>
          <p:cNvPr id="7" name="TextBox 6"/>
          <p:cNvSpPr txBox="1"/>
          <p:nvPr/>
        </p:nvSpPr>
        <p:spPr>
          <a:xfrm>
            <a:off x="822960" y="3703320"/>
            <a:ext cx="2971800" cy="365760"/>
          </a:xfrm>
          <a:prstGeom prst="rect">
            <a:avLst/>
          </a:prstGeom>
          <a:noFill/>
        </p:spPr>
        <p:txBody>
          <a:bodyPr wrap="square" anchor="t"/>
          <a:lstStyle/>
          <a:p>
            <a:pPr algn="l"/>
            <a:r>
              <a:rPr sz="1500" b="1" i="0">
                <a:solidFill>
                  <a:srgbClr val="FFFFFF"/>
                </a:solidFill>
                <a:latin typeface="Calibri"/>
              </a:rPr>
              <a:t>Segment 14</a:t>
            </a:r>
          </a:p>
        </p:txBody>
      </p:sp>
      <p:sp>
        <p:nvSpPr>
          <p:cNvPr id="8" name="TextBox 7"/>
          <p:cNvSpPr txBox="1"/>
          <p:nvPr/>
        </p:nvSpPr>
        <p:spPr>
          <a:xfrm>
            <a:off x="822960" y="4251960"/>
            <a:ext cx="2971800" cy="1143000"/>
          </a:xfrm>
          <a:prstGeom prst="rect">
            <a:avLst/>
          </a:prstGeom>
          <a:noFill/>
        </p:spPr>
        <p:txBody>
          <a:bodyPr wrap="square" anchor="t"/>
          <a:lstStyle/>
          <a:p>
            <a:pPr algn="l"/>
            <a:r>
              <a:rPr sz="1300" b="0" i="0">
                <a:solidFill>
                  <a:srgbClr val="AAAAAA"/>
                </a:solidFill>
                <a:latin typeface="Calibri"/>
              </a:rPr>
              <a:t>WER 0%. All confident.</a:t>
            </a:r>
          </a:p>
        </p:txBody>
      </p:sp>
      <p:sp>
        <p:nvSpPr>
          <p:cNvPr id="9" name="Rectangle 8"/>
          <p:cNvSpPr/>
          <p:nvPr/>
        </p:nvSpPr>
        <p:spPr>
          <a:xfrm>
            <a:off x="4297680" y="2926080"/>
            <a:ext cx="3520440" cy="2468880"/>
          </a:xfrm>
          <a:prstGeom prst="rect">
            <a:avLst/>
          </a:prstGeom>
          <a:solidFill>
            <a:srgbClr val="152A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0" y="3200400"/>
            <a:ext cx="2971800" cy="365760"/>
          </a:xfrm>
          <a:prstGeom prst="rect">
            <a:avLst/>
          </a:prstGeom>
          <a:noFill/>
        </p:spPr>
        <p:txBody>
          <a:bodyPr wrap="square" anchor="t"/>
          <a:lstStyle/>
          <a:p>
            <a:pPr algn="l"/>
            <a:r>
              <a:rPr sz="1400" b="1" i="0">
                <a:solidFill>
                  <a:srgbClr val="FFD54F"/>
                </a:solidFill>
                <a:latin typeface="Calibri"/>
              </a:rPr>
              <a:t>PARTIAL</a:t>
            </a:r>
          </a:p>
        </p:txBody>
      </p:sp>
      <p:sp>
        <p:nvSpPr>
          <p:cNvPr id="11" name="TextBox 10"/>
          <p:cNvSpPr txBox="1"/>
          <p:nvPr/>
        </p:nvSpPr>
        <p:spPr>
          <a:xfrm>
            <a:off x="4572000" y="3703320"/>
            <a:ext cx="2971800" cy="365760"/>
          </a:xfrm>
          <a:prstGeom prst="rect">
            <a:avLst/>
          </a:prstGeom>
          <a:noFill/>
        </p:spPr>
        <p:txBody>
          <a:bodyPr wrap="square" anchor="t"/>
          <a:lstStyle/>
          <a:p>
            <a:pPr algn="l"/>
            <a:r>
              <a:rPr sz="1500" b="1" i="0">
                <a:solidFill>
                  <a:srgbClr val="FFFFFF"/>
                </a:solidFill>
                <a:latin typeface="Calibri"/>
              </a:rPr>
              <a:t>Segment 31</a:t>
            </a:r>
          </a:p>
        </p:txBody>
      </p:sp>
      <p:sp>
        <p:nvSpPr>
          <p:cNvPr id="12" name="TextBox 11"/>
          <p:cNvSpPr txBox="1"/>
          <p:nvPr/>
        </p:nvSpPr>
        <p:spPr>
          <a:xfrm>
            <a:off x="4572000" y="4251960"/>
            <a:ext cx="2971800" cy="1143000"/>
          </a:xfrm>
          <a:prstGeom prst="rect">
            <a:avLst/>
          </a:prstGeom>
          <a:noFill/>
        </p:spPr>
        <p:txBody>
          <a:bodyPr wrap="square" anchor="t"/>
          <a:lstStyle/>
          <a:p>
            <a:pPr algn="l"/>
            <a:r>
              <a:rPr sz="1300" b="0" i="0">
                <a:solidFill>
                  <a:srgbClr val="AAAAAA"/>
                </a:solidFill>
                <a:latin typeface="Calibri"/>
              </a:rPr>
              <a:t>WER 22%. Substitutions in yellow.</a:t>
            </a:r>
          </a:p>
        </p:txBody>
      </p:sp>
      <p:sp>
        <p:nvSpPr>
          <p:cNvPr id="13" name="Rectangle 12"/>
          <p:cNvSpPr/>
          <p:nvPr/>
        </p:nvSpPr>
        <p:spPr>
          <a:xfrm>
            <a:off x="8046720" y="2926080"/>
            <a:ext cx="3520440" cy="2468880"/>
          </a:xfrm>
          <a:prstGeom prst="rect">
            <a:avLst/>
          </a:prstGeom>
          <a:solidFill>
            <a:srgbClr val="152A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321040" y="3200400"/>
            <a:ext cx="2971800" cy="365760"/>
          </a:xfrm>
          <a:prstGeom prst="rect">
            <a:avLst/>
          </a:prstGeom>
          <a:noFill/>
        </p:spPr>
        <p:txBody>
          <a:bodyPr wrap="square" anchor="t"/>
          <a:lstStyle/>
          <a:p>
            <a:pPr algn="l"/>
            <a:r>
              <a:rPr sz="1400" b="1" i="0">
                <a:solidFill>
                  <a:srgbClr val="E06C75"/>
                </a:solidFill>
                <a:latin typeface="Calibri"/>
              </a:rPr>
              <a:t>FLAGGED</a:t>
            </a:r>
          </a:p>
        </p:txBody>
      </p:sp>
      <p:sp>
        <p:nvSpPr>
          <p:cNvPr id="15" name="TextBox 14"/>
          <p:cNvSpPr txBox="1"/>
          <p:nvPr/>
        </p:nvSpPr>
        <p:spPr>
          <a:xfrm>
            <a:off x="8321040" y="3703320"/>
            <a:ext cx="2971800" cy="365760"/>
          </a:xfrm>
          <a:prstGeom prst="rect">
            <a:avLst/>
          </a:prstGeom>
          <a:noFill/>
        </p:spPr>
        <p:txBody>
          <a:bodyPr wrap="square" anchor="t"/>
          <a:lstStyle/>
          <a:p>
            <a:pPr algn="l"/>
            <a:r>
              <a:rPr sz="1500" b="1" i="0">
                <a:solidFill>
                  <a:srgbClr val="FFFFFF"/>
                </a:solidFill>
                <a:latin typeface="Calibri"/>
              </a:rPr>
              <a:t>Segment 5</a:t>
            </a:r>
          </a:p>
        </p:txBody>
      </p:sp>
      <p:sp>
        <p:nvSpPr>
          <p:cNvPr id="16" name="TextBox 15"/>
          <p:cNvSpPr txBox="1"/>
          <p:nvPr/>
        </p:nvSpPr>
        <p:spPr>
          <a:xfrm>
            <a:off x="8321040" y="4251960"/>
            <a:ext cx="2971800" cy="1143000"/>
          </a:xfrm>
          <a:prstGeom prst="rect">
            <a:avLst/>
          </a:prstGeom>
          <a:noFill/>
        </p:spPr>
        <p:txBody>
          <a:bodyPr wrap="square" anchor="t"/>
          <a:lstStyle/>
          <a:p>
            <a:pPr algn="l"/>
            <a:r>
              <a:rPr sz="1300" b="0" i="0">
                <a:solidFill>
                  <a:srgbClr val="AAAAAA"/>
                </a:solidFill>
                <a:latin typeface="Calibri"/>
              </a:rPr>
              <a:t>WER 45%. Hallucination caught.</a:t>
            </a:r>
          </a:p>
        </p:txBody>
      </p:sp>
      <p:pic>
        <p:nvPicPr>
          <p:cNvPr id="17" name="Picture 16" descr="WhiteLogo.jpeg"/>
          <p:cNvPicPr>
            <a:picLocks noChangeAspect="1"/>
          </p:cNvPicPr>
          <p:nvPr/>
        </p:nvPicPr>
        <p:blipFill>
          <a:blip r:embed="rId2"/>
          <a:stretch>
            <a:fillRect/>
          </a:stretch>
        </p:blipFill>
        <p:spPr>
          <a:xfrm>
            <a:off x="11323320" y="6428232"/>
            <a:ext cx="269634" cy="320040"/>
          </a:xfrm>
          <a:prstGeom prst="rect">
            <a:avLst/>
          </a:prstGeom>
        </p:spPr>
      </p:pic>
      <p:sp>
        <p:nvSpPr>
          <p:cNvPr id="18" name="TextBox 17"/>
          <p:cNvSpPr txBox="1"/>
          <p:nvPr/>
        </p:nvSpPr>
        <p:spPr>
          <a:xfrm>
            <a:off x="548640" y="6510528"/>
            <a:ext cx="457200" cy="228600"/>
          </a:xfrm>
          <a:prstGeom prst="rect">
            <a:avLst/>
          </a:prstGeom>
          <a:noFill/>
        </p:spPr>
        <p:txBody>
          <a:bodyPr wrap="none">
            <a:spAutoFit/>
          </a:bodyPr>
          <a:lstStyle/>
          <a:p>
            <a:r>
              <a:rPr sz="900" b="0" i="0">
                <a:solidFill>
                  <a:srgbClr val="666666"/>
                </a:solidFill>
                <a:latin typeface="Calibri"/>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D1B2A"/>
        </a:solidFill>
        <a:effectLst/>
      </p:bgPr>
    </p:bg>
    <p:spTree>
      <p:nvGrpSpPr>
        <p:cNvPr id="1" name=""/>
        <p:cNvGrpSpPr/>
        <p:nvPr/>
      </p:nvGrpSpPr>
      <p:grpSpPr/>
      <p:sp>
        <p:nvSpPr>
          <p:cNvPr id="2" name="TextBox 1"/>
          <p:cNvSpPr txBox="1"/>
          <p:nvPr/>
        </p:nvSpPr>
        <p:spPr>
          <a:xfrm>
            <a:off x="548640" y="365760"/>
            <a:ext cx="11091672" cy="685800"/>
          </a:xfrm>
          <a:prstGeom prst="rect">
            <a:avLst/>
          </a:prstGeom>
          <a:noFill/>
        </p:spPr>
        <p:txBody>
          <a:bodyPr wrap="square">
            <a:spAutoFit/>
          </a:bodyPr>
          <a:lstStyle/>
          <a:p>
            <a:r>
              <a:rPr sz="3200" b="1" i="0">
                <a:solidFill>
                  <a:srgbClr val="FFFFFF"/>
                </a:solidFill>
                <a:latin typeface="Calibri"/>
              </a:rPr>
              <a:t>Example 1 — Clean speech, perfect transcription</a:t>
            </a:r>
          </a:p>
        </p:txBody>
      </p:sp>
      <p:sp>
        <p:nvSpPr>
          <p:cNvPr id="3" name="Rectangle 2"/>
          <p:cNvSpPr/>
          <p:nvPr/>
        </p:nvSpPr>
        <p:spPr>
          <a:xfrm>
            <a:off x="548640" y="1097280"/>
            <a:ext cx="11091672" cy="1905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325880"/>
            <a:ext cx="11091672" cy="365760"/>
          </a:xfrm>
          <a:prstGeom prst="rect">
            <a:avLst/>
          </a:prstGeom>
          <a:noFill/>
        </p:spPr>
        <p:txBody>
          <a:bodyPr wrap="square" anchor="t"/>
          <a:lstStyle/>
          <a:p>
            <a:pPr algn="l"/>
            <a:r>
              <a:rPr sz="1300" b="0" i="1">
                <a:solidFill>
                  <a:srgbClr val="AAAAAA"/>
                </a:solidFill>
                <a:latin typeface="Calibri"/>
              </a:rPr>
              <a:t>Obama bin Laden announcement  ·  segment #14  ·  41.95–45.55 s</a:t>
            </a:r>
          </a:p>
        </p:txBody>
      </p:sp>
      <p:sp>
        <p:nvSpPr>
          <p:cNvPr id="5" name="TextBox 4"/>
          <p:cNvSpPr txBox="1"/>
          <p:nvPr/>
        </p:nvSpPr>
        <p:spPr>
          <a:xfrm>
            <a:off x="548640" y="1828800"/>
            <a:ext cx="1280160" cy="365760"/>
          </a:xfrm>
          <a:prstGeom prst="rect">
            <a:avLst/>
          </a:prstGeom>
          <a:noFill/>
        </p:spPr>
        <p:txBody>
          <a:bodyPr wrap="square" anchor="t"/>
          <a:lstStyle/>
          <a:p>
            <a:pPr algn="l"/>
            <a:r>
              <a:rPr sz="1100" b="1" i="0">
                <a:solidFill>
                  <a:srgbClr val="AAAAAA"/>
                </a:solidFill>
                <a:latin typeface="Calibri"/>
              </a:rPr>
              <a:t>REFERENCE</a:t>
            </a:r>
          </a:p>
        </p:txBody>
      </p:sp>
      <p:sp>
        <p:nvSpPr>
          <p:cNvPr id="6" name="TextBox 5"/>
          <p:cNvSpPr txBox="1"/>
          <p:nvPr/>
        </p:nvSpPr>
        <p:spPr>
          <a:xfrm>
            <a:off x="1920240" y="1828800"/>
            <a:ext cx="9720072" cy="1280160"/>
          </a:xfrm>
          <a:prstGeom prst="rect">
            <a:avLst/>
          </a:prstGeom>
          <a:noFill/>
        </p:spPr>
        <p:txBody>
          <a:bodyPr wrap="square" anchor="t"/>
          <a:lstStyle/>
          <a:p>
            <a:pPr algn="l"/>
            <a:r>
              <a:rPr sz="1600" b="0" i="1">
                <a:solidFill>
                  <a:srgbClr val="AAAAAA"/>
                </a:solidFill>
                <a:latin typeface="Calibri"/>
              </a:rPr>
              <a:t>and our allies over the last 10 years thanks to the tireless and heroic work of our military and our counterterrorism professionals we've made great strides in that effort</a:t>
            </a:r>
          </a:p>
        </p:txBody>
      </p:sp>
      <p:sp>
        <p:nvSpPr>
          <p:cNvPr id="7" name="TextBox 6"/>
          <p:cNvSpPr txBox="1"/>
          <p:nvPr/>
        </p:nvSpPr>
        <p:spPr>
          <a:xfrm>
            <a:off x="548640" y="3291840"/>
            <a:ext cx="1280160" cy="365760"/>
          </a:xfrm>
          <a:prstGeom prst="rect">
            <a:avLst/>
          </a:prstGeom>
          <a:noFill/>
        </p:spPr>
        <p:txBody>
          <a:bodyPr wrap="square" anchor="t"/>
          <a:lstStyle/>
          <a:p>
            <a:pPr algn="l"/>
            <a:r>
              <a:rPr sz="1100" b="1" i="0">
                <a:solidFill>
                  <a:srgbClr val="FFFFFF"/>
                </a:solidFill>
                <a:latin typeface="Calibri"/>
              </a:rPr>
              <a:t>HYPOTHESIS</a:t>
            </a:r>
          </a:p>
        </p:txBody>
      </p:sp>
      <p:sp>
        <p:nvSpPr>
          <p:cNvPr id="8" name="TextBox 7"/>
          <p:cNvSpPr txBox="1"/>
          <p:nvPr/>
        </p:nvSpPr>
        <p:spPr>
          <a:xfrm>
            <a:off x="1920240" y="3291840"/>
            <a:ext cx="9720072" cy="1828800"/>
          </a:xfrm>
          <a:prstGeom prst="rect">
            <a:avLst/>
          </a:prstGeom>
          <a:noFill/>
        </p:spPr>
        <p:txBody>
          <a:bodyPr wrap="square">
            <a:spAutoFit/>
          </a:bodyPr>
          <a:lstStyle/>
          <a:p>
            <a:pPr algn="l">
              <a:spcAft>
                <a:spcPts val="600"/>
              </a:spcAft>
            </a:pPr>
            <a:r>
              <a:rPr sz="1700" b="0" i="0">
                <a:solidFill>
                  <a:srgbClr val="4CAF50"/>
                </a:solidFill>
                <a:latin typeface="Calibri"/>
              </a:rPr>
              <a:t>and </a:t>
            </a:r>
            <a:r>
              <a:rPr sz="1700" b="0" i="0">
                <a:solidFill>
                  <a:srgbClr val="4CAF50"/>
                </a:solidFill>
                <a:latin typeface="Calibri"/>
              </a:rPr>
              <a:t>our </a:t>
            </a:r>
            <a:r>
              <a:rPr sz="1700" b="0" i="0">
                <a:solidFill>
                  <a:srgbClr val="4CAF50"/>
                </a:solidFill>
                <a:latin typeface="Calibri"/>
              </a:rPr>
              <a:t>allies </a:t>
            </a:r>
            <a:r>
              <a:rPr sz="1700" b="0" i="0">
                <a:solidFill>
                  <a:srgbClr val="4CAF50"/>
                </a:solidFill>
                <a:latin typeface="Calibri"/>
              </a:rPr>
              <a:t>over </a:t>
            </a:r>
            <a:r>
              <a:rPr sz="1700" b="0" i="0">
                <a:solidFill>
                  <a:srgbClr val="4CAF50"/>
                </a:solidFill>
                <a:latin typeface="Calibri"/>
              </a:rPr>
              <a:t>the </a:t>
            </a:r>
            <a:r>
              <a:rPr sz="1700" b="0" i="0">
                <a:solidFill>
                  <a:srgbClr val="4CAF50"/>
                </a:solidFill>
                <a:latin typeface="Calibri"/>
              </a:rPr>
              <a:t>last </a:t>
            </a:r>
            <a:r>
              <a:rPr sz="1700" b="0" i="0">
                <a:solidFill>
                  <a:srgbClr val="FFC107"/>
                </a:solidFill>
                <a:latin typeface="Calibri"/>
              </a:rPr>
              <a:t>10 </a:t>
            </a:r>
            <a:r>
              <a:rPr sz="1700" b="0" i="0">
                <a:solidFill>
                  <a:srgbClr val="4CAF50"/>
                </a:solidFill>
                <a:latin typeface="Calibri"/>
              </a:rPr>
              <a:t>years </a:t>
            </a:r>
            <a:r>
              <a:rPr sz="1700" b="0" i="0">
                <a:solidFill>
                  <a:srgbClr val="4CAF50"/>
                </a:solidFill>
                <a:latin typeface="Calibri"/>
              </a:rPr>
              <a:t>thanks </a:t>
            </a:r>
            <a:r>
              <a:rPr sz="1700" b="0" i="0">
                <a:solidFill>
                  <a:srgbClr val="4CAF50"/>
                </a:solidFill>
                <a:latin typeface="Calibri"/>
              </a:rPr>
              <a:t>to </a:t>
            </a:r>
            <a:r>
              <a:rPr sz="1700" b="0" i="0">
                <a:solidFill>
                  <a:srgbClr val="4CAF50"/>
                </a:solidFill>
                <a:latin typeface="Calibri"/>
              </a:rPr>
              <a:t>the </a:t>
            </a:r>
            <a:r>
              <a:rPr sz="1700" b="0" i="0">
                <a:solidFill>
                  <a:srgbClr val="4CAF50"/>
                </a:solidFill>
                <a:latin typeface="Calibri"/>
              </a:rPr>
              <a:t>tireless </a:t>
            </a:r>
            <a:r>
              <a:rPr sz="1700" b="0" i="0">
                <a:solidFill>
                  <a:srgbClr val="4CAF50"/>
                </a:solidFill>
                <a:latin typeface="Calibri"/>
              </a:rPr>
              <a:t>and </a:t>
            </a:r>
            <a:r>
              <a:rPr sz="1700" b="0" i="0">
                <a:solidFill>
                  <a:srgbClr val="FFC107"/>
                </a:solidFill>
                <a:latin typeface="Calibri"/>
              </a:rPr>
              <a:t>heroic </a:t>
            </a:r>
            <a:r>
              <a:rPr sz="1700" b="0" i="0">
                <a:solidFill>
                  <a:srgbClr val="4CAF50"/>
                </a:solidFill>
                <a:latin typeface="Calibri"/>
              </a:rPr>
              <a:t>work </a:t>
            </a:r>
            <a:r>
              <a:rPr sz="1700" b="0" i="0">
                <a:solidFill>
                  <a:srgbClr val="4CAF50"/>
                </a:solidFill>
                <a:latin typeface="Calibri"/>
              </a:rPr>
              <a:t>of </a:t>
            </a:r>
            <a:r>
              <a:rPr sz="1700" b="0" i="0">
                <a:solidFill>
                  <a:srgbClr val="4CAF50"/>
                </a:solidFill>
                <a:latin typeface="Calibri"/>
              </a:rPr>
              <a:t>our </a:t>
            </a:r>
            <a:r>
              <a:rPr sz="1700" b="0" i="0">
                <a:solidFill>
                  <a:srgbClr val="4CAF50"/>
                </a:solidFill>
                <a:latin typeface="Calibri"/>
              </a:rPr>
              <a:t>military </a:t>
            </a:r>
            <a:r>
              <a:rPr sz="1700" b="0" i="0">
                <a:solidFill>
                  <a:srgbClr val="4CAF50"/>
                </a:solidFill>
                <a:latin typeface="Calibri"/>
              </a:rPr>
              <a:t>and </a:t>
            </a:r>
            <a:r>
              <a:rPr sz="1700" b="0" i="0">
                <a:solidFill>
                  <a:srgbClr val="4CAF50"/>
                </a:solidFill>
                <a:latin typeface="Calibri"/>
              </a:rPr>
              <a:t>our </a:t>
            </a:r>
            <a:r>
              <a:rPr sz="1700" b="0" i="0">
                <a:solidFill>
                  <a:srgbClr val="4CAF50"/>
                </a:solidFill>
                <a:latin typeface="Calibri"/>
              </a:rPr>
              <a:t>counterterrorism </a:t>
            </a:r>
            <a:r>
              <a:rPr sz="1700" b="0" i="0">
                <a:solidFill>
                  <a:srgbClr val="4CAF50"/>
                </a:solidFill>
                <a:latin typeface="Calibri"/>
              </a:rPr>
              <a:t>professionals </a:t>
            </a:r>
            <a:r>
              <a:rPr sz="1700" b="0" i="0">
                <a:solidFill>
                  <a:srgbClr val="4CAF50"/>
                </a:solidFill>
                <a:latin typeface="Calibri"/>
              </a:rPr>
              <a:t>we've </a:t>
            </a:r>
            <a:r>
              <a:rPr sz="1700" b="0" i="0">
                <a:solidFill>
                  <a:srgbClr val="4CAF50"/>
                </a:solidFill>
                <a:latin typeface="Calibri"/>
              </a:rPr>
              <a:t>made </a:t>
            </a:r>
            <a:r>
              <a:rPr sz="1700" b="0" i="0">
                <a:solidFill>
                  <a:srgbClr val="4CAF50"/>
                </a:solidFill>
                <a:latin typeface="Calibri"/>
              </a:rPr>
              <a:t>great </a:t>
            </a:r>
            <a:r>
              <a:rPr sz="1700" b="0" i="0">
                <a:solidFill>
                  <a:srgbClr val="4CAF50"/>
                </a:solidFill>
                <a:latin typeface="Calibri"/>
              </a:rPr>
              <a:t>strides </a:t>
            </a:r>
            <a:r>
              <a:rPr sz="1700" b="0" i="0">
                <a:solidFill>
                  <a:srgbClr val="4CAF50"/>
                </a:solidFill>
                <a:latin typeface="Calibri"/>
              </a:rPr>
              <a:t>in </a:t>
            </a:r>
            <a:r>
              <a:rPr sz="1700" b="0" i="0">
                <a:solidFill>
                  <a:srgbClr val="4CAF50"/>
                </a:solidFill>
                <a:latin typeface="Calibri"/>
              </a:rPr>
              <a:t>that </a:t>
            </a:r>
            <a:r>
              <a:rPr sz="1700" b="0" i="0">
                <a:solidFill>
                  <a:srgbClr val="4CAF50"/>
                </a:solidFill>
                <a:latin typeface="Calibri"/>
              </a:rPr>
              <a:t>effort </a:t>
            </a:r>
          </a:p>
        </p:txBody>
      </p:sp>
      <p:sp>
        <p:nvSpPr>
          <p:cNvPr id="9" name="Rectangle 8"/>
          <p:cNvSpPr/>
          <p:nvPr/>
        </p:nvSpPr>
        <p:spPr>
          <a:xfrm>
            <a:off x="548640" y="5212080"/>
            <a:ext cx="11091672" cy="640080"/>
          </a:xfrm>
          <a:prstGeom prst="rect">
            <a:avLst/>
          </a:prstGeom>
          <a:solidFill>
            <a:srgbClr val="152A40"/>
          </a:solidFill>
          <a:ln w="12700">
            <a:solidFill>
              <a:srgbClr val="4CAF5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5349240"/>
            <a:ext cx="10543032" cy="365760"/>
          </a:xfrm>
          <a:prstGeom prst="rect">
            <a:avLst/>
          </a:prstGeom>
          <a:noFill/>
        </p:spPr>
        <p:txBody>
          <a:bodyPr wrap="square" anchor="t"/>
          <a:lstStyle/>
          <a:p>
            <a:pPr algn="l"/>
            <a:r>
              <a:rPr sz="1400" b="0" i="1">
                <a:solidFill>
                  <a:srgbClr val="FFFFFF"/>
                </a:solidFill>
                <a:latin typeface="Calibri"/>
              </a:rPr>
              <a:t>WER 0%. 27 of 29 words at high confidence. No reviewer intervention needed.</a:t>
            </a:r>
          </a:p>
        </p:txBody>
      </p:sp>
      <p:sp>
        <p:nvSpPr>
          <p:cNvPr id="11" name="TextBox 10"/>
          <p:cNvSpPr txBox="1"/>
          <p:nvPr/>
        </p:nvSpPr>
        <p:spPr>
          <a:xfrm>
            <a:off x="548640" y="5989320"/>
            <a:ext cx="11091672" cy="274320"/>
          </a:xfrm>
          <a:prstGeom prst="rect">
            <a:avLst/>
          </a:prstGeom>
          <a:noFill/>
        </p:spPr>
        <p:txBody>
          <a:bodyPr wrap="square" anchor="t"/>
          <a:lstStyle/>
          <a:p>
            <a:pPr algn="ctr"/>
            <a:r>
              <a:rPr sz="900" b="0" i="1">
                <a:solidFill>
                  <a:srgbClr val="AAAAAA"/>
                </a:solidFill>
                <a:latin typeface="Calibri"/>
              </a:rPr>
              <a:t>GREEN: confident   YELLOW: review   RED: likely error</a:t>
            </a:r>
          </a:p>
        </p:txBody>
      </p:sp>
      <p:pic>
        <p:nvPicPr>
          <p:cNvPr id="12" name="Picture 11" descr="WhiteLogo.jpeg"/>
          <p:cNvPicPr>
            <a:picLocks noChangeAspect="1"/>
          </p:cNvPicPr>
          <p:nvPr/>
        </p:nvPicPr>
        <p:blipFill>
          <a:blip r:embed="rId2"/>
          <a:stretch>
            <a:fillRect/>
          </a:stretch>
        </p:blipFill>
        <p:spPr>
          <a:xfrm>
            <a:off x="11323320" y="6428232"/>
            <a:ext cx="269634" cy="320040"/>
          </a:xfrm>
          <a:prstGeom prst="rect">
            <a:avLst/>
          </a:prstGeom>
        </p:spPr>
      </p:pic>
      <p:sp>
        <p:nvSpPr>
          <p:cNvPr id="13" name="TextBox 12"/>
          <p:cNvSpPr txBox="1"/>
          <p:nvPr/>
        </p:nvSpPr>
        <p:spPr>
          <a:xfrm>
            <a:off x="548640" y="6510528"/>
            <a:ext cx="457200" cy="228600"/>
          </a:xfrm>
          <a:prstGeom prst="rect">
            <a:avLst/>
          </a:prstGeom>
          <a:noFill/>
        </p:spPr>
        <p:txBody>
          <a:bodyPr wrap="none">
            <a:spAutoFit/>
          </a:bodyPr>
          <a:lstStyle/>
          <a:p>
            <a:r>
              <a:rPr sz="900" b="0" i="0">
                <a:solidFill>
                  <a:srgbClr val="666666"/>
                </a:solidFill>
                <a:latin typeface="Calibri"/>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D1B2A"/>
        </a:solidFill>
        <a:effectLst/>
      </p:bgPr>
    </p:bg>
    <p:spTree>
      <p:nvGrpSpPr>
        <p:cNvPr id="1" name=""/>
        <p:cNvGrpSpPr/>
        <p:nvPr/>
      </p:nvGrpSpPr>
      <p:grpSpPr/>
      <p:sp>
        <p:nvSpPr>
          <p:cNvPr id="2" name="TextBox 1"/>
          <p:cNvSpPr txBox="1"/>
          <p:nvPr/>
        </p:nvSpPr>
        <p:spPr>
          <a:xfrm>
            <a:off x="548640" y="365760"/>
            <a:ext cx="11091672" cy="685800"/>
          </a:xfrm>
          <a:prstGeom prst="rect">
            <a:avLst/>
          </a:prstGeom>
          <a:noFill/>
        </p:spPr>
        <p:txBody>
          <a:bodyPr wrap="square">
            <a:spAutoFit/>
          </a:bodyPr>
          <a:lstStyle/>
          <a:p>
            <a:r>
              <a:rPr sz="3200" b="1" i="0">
                <a:solidFill>
                  <a:srgbClr val="FFFFFF"/>
                </a:solidFill>
                <a:latin typeface="Calibri"/>
              </a:rPr>
              <a:t>Example 2 — Partial recovery, model knows where it slipped</a:t>
            </a:r>
          </a:p>
        </p:txBody>
      </p:sp>
      <p:sp>
        <p:nvSpPr>
          <p:cNvPr id="3" name="Rectangle 2"/>
          <p:cNvSpPr/>
          <p:nvPr/>
        </p:nvSpPr>
        <p:spPr>
          <a:xfrm>
            <a:off x="548640" y="1097280"/>
            <a:ext cx="11091672" cy="1905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325880"/>
            <a:ext cx="11091672" cy="365760"/>
          </a:xfrm>
          <a:prstGeom prst="rect">
            <a:avLst/>
          </a:prstGeom>
          <a:noFill/>
        </p:spPr>
        <p:txBody>
          <a:bodyPr wrap="square" anchor="t"/>
          <a:lstStyle/>
          <a:p>
            <a:pPr algn="l"/>
            <a:r>
              <a:rPr sz="1300" b="0" i="1">
                <a:solidFill>
                  <a:srgbClr val="AAAAAA"/>
                </a:solidFill>
                <a:latin typeface="Calibri"/>
              </a:rPr>
              <a:t>Obama bin Laden announcement  ·  segment #31  ·  92.90–96.50 s</a:t>
            </a:r>
          </a:p>
        </p:txBody>
      </p:sp>
      <p:sp>
        <p:nvSpPr>
          <p:cNvPr id="5" name="TextBox 4"/>
          <p:cNvSpPr txBox="1"/>
          <p:nvPr/>
        </p:nvSpPr>
        <p:spPr>
          <a:xfrm>
            <a:off x="548640" y="1828800"/>
            <a:ext cx="1280160" cy="365760"/>
          </a:xfrm>
          <a:prstGeom prst="rect">
            <a:avLst/>
          </a:prstGeom>
          <a:noFill/>
        </p:spPr>
        <p:txBody>
          <a:bodyPr wrap="square" anchor="t"/>
          <a:lstStyle/>
          <a:p>
            <a:pPr algn="l"/>
            <a:r>
              <a:rPr sz="1100" b="1" i="0">
                <a:solidFill>
                  <a:srgbClr val="AAAAAA"/>
                </a:solidFill>
                <a:latin typeface="Calibri"/>
              </a:rPr>
              <a:t>REFERENCE</a:t>
            </a:r>
          </a:p>
        </p:txBody>
      </p:sp>
      <p:sp>
        <p:nvSpPr>
          <p:cNvPr id="6" name="TextBox 5"/>
          <p:cNvSpPr txBox="1"/>
          <p:nvPr/>
        </p:nvSpPr>
        <p:spPr>
          <a:xfrm>
            <a:off x="1920240" y="1828800"/>
            <a:ext cx="9720072" cy="1280160"/>
          </a:xfrm>
          <a:prstGeom prst="rect">
            <a:avLst/>
          </a:prstGeom>
          <a:noFill/>
        </p:spPr>
        <p:txBody>
          <a:bodyPr wrap="square" anchor="t"/>
          <a:lstStyle/>
          <a:p>
            <a:pPr algn="l"/>
            <a:r>
              <a:rPr sz="1600" b="0" i="1">
                <a:solidFill>
                  <a:srgbClr val="AAAAAA"/>
                </a:solidFill>
                <a:latin typeface="Calibri"/>
              </a:rPr>
              <a:t>as president bush did shortly after 9 11 that our war is not against islam bin laden was not a muslim leader he was a mass murderer of muslims indeed al qaeda has slaughtered so many muslims</a:t>
            </a:r>
          </a:p>
        </p:txBody>
      </p:sp>
      <p:sp>
        <p:nvSpPr>
          <p:cNvPr id="7" name="TextBox 6"/>
          <p:cNvSpPr txBox="1"/>
          <p:nvPr/>
        </p:nvSpPr>
        <p:spPr>
          <a:xfrm>
            <a:off x="548640" y="3291840"/>
            <a:ext cx="1280160" cy="365760"/>
          </a:xfrm>
          <a:prstGeom prst="rect">
            <a:avLst/>
          </a:prstGeom>
          <a:noFill/>
        </p:spPr>
        <p:txBody>
          <a:bodyPr wrap="square" anchor="t"/>
          <a:lstStyle/>
          <a:p>
            <a:pPr algn="l"/>
            <a:r>
              <a:rPr sz="1100" b="1" i="0">
                <a:solidFill>
                  <a:srgbClr val="FFFFFF"/>
                </a:solidFill>
                <a:latin typeface="Calibri"/>
              </a:rPr>
              <a:t>HYPOTHESIS</a:t>
            </a:r>
          </a:p>
        </p:txBody>
      </p:sp>
      <p:sp>
        <p:nvSpPr>
          <p:cNvPr id="8" name="TextBox 7"/>
          <p:cNvSpPr txBox="1"/>
          <p:nvPr/>
        </p:nvSpPr>
        <p:spPr>
          <a:xfrm>
            <a:off x="1920240" y="3291840"/>
            <a:ext cx="9720072" cy="1828800"/>
          </a:xfrm>
          <a:prstGeom prst="rect">
            <a:avLst/>
          </a:prstGeom>
          <a:noFill/>
        </p:spPr>
        <p:txBody>
          <a:bodyPr wrap="square">
            <a:spAutoFit/>
          </a:bodyPr>
          <a:lstStyle/>
          <a:p>
            <a:pPr algn="l">
              <a:spcAft>
                <a:spcPts val="600"/>
              </a:spcAft>
            </a:pPr>
            <a:r>
              <a:rPr sz="1700" b="0" i="0">
                <a:solidFill>
                  <a:srgbClr val="FFC107"/>
                </a:solidFill>
                <a:latin typeface="Calibri"/>
              </a:rPr>
              <a:t>president </a:t>
            </a:r>
            <a:r>
              <a:rPr sz="1700" b="0" i="0">
                <a:solidFill>
                  <a:srgbClr val="4CAF50"/>
                </a:solidFill>
                <a:latin typeface="Calibri"/>
              </a:rPr>
              <a:t>bush </a:t>
            </a:r>
            <a:r>
              <a:rPr sz="1700" b="0" i="0">
                <a:solidFill>
                  <a:srgbClr val="4CAF50"/>
                </a:solidFill>
                <a:latin typeface="Calibri"/>
              </a:rPr>
              <a:t>said </a:t>
            </a:r>
            <a:r>
              <a:rPr sz="1700" b="0" i="0">
                <a:solidFill>
                  <a:srgbClr val="4CAF50"/>
                </a:solidFill>
                <a:latin typeface="Calibri"/>
              </a:rPr>
              <a:t>shortly </a:t>
            </a:r>
            <a:r>
              <a:rPr sz="1700" b="0" i="0">
                <a:solidFill>
                  <a:srgbClr val="4CAF50"/>
                </a:solidFill>
                <a:latin typeface="Calibri"/>
              </a:rPr>
              <a:t>after </a:t>
            </a:r>
            <a:r>
              <a:rPr sz="1700" b="0" i="0">
                <a:solidFill>
                  <a:srgbClr val="4CAF50"/>
                </a:solidFill>
                <a:latin typeface="Calibri"/>
              </a:rPr>
              <a:t>9 </a:t>
            </a:r>
            <a:r>
              <a:rPr sz="1700" b="0" i="0">
                <a:solidFill>
                  <a:srgbClr val="4CAF50"/>
                </a:solidFill>
                <a:latin typeface="Calibri"/>
              </a:rPr>
              <a:t>11 </a:t>
            </a:r>
            <a:r>
              <a:rPr sz="1700" b="0" i="0">
                <a:solidFill>
                  <a:srgbClr val="4CAF50"/>
                </a:solidFill>
                <a:latin typeface="Calibri"/>
              </a:rPr>
              <a:t>that </a:t>
            </a:r>
            <a:r>
              <a:rPr sz="1700" b="0" i="0">
                <a:solidFill>
                  <a:srgbClr val="4CAF50"/>
                </a:solidFill>
                <a:latin typeface="Calibri"/>
              </a:rPr>
              <a:t>our </a:t>
            </a:r>
            <a:r>
              <a:rPr sz="1700" b="0" i="0">
                <a:solidFill>
                  <a:srgbClr val="4CAF50"/>
                </a:solidFill>
                <a:latin typeface="Calibri"/>
              </a:rPr>
              <a:t>war </a:t>
            </a:r>
            <a:r>
              <a:rPr sz="1700" b="0" i="0">
                <a:solidFill>
                  <a:srgbClr val="4CAF50"/>
                </a:solidFill>
                <a:latin typeface="Calibri"/>
              </a:rPr>
              <a:t>is </a:t>
            </a:r>
            <a:r>
              <a:rPr sz="1700" b="0" i="0">
                <a:solidFill>
                  <a:srgbClr val="4CAF50"/>
                </a:solidFill>
                <a:latin typeface="Calibri"/>
              </a:rPr>
              <a:t>not </a:t>
            </a:r>
            <a:r>
              <a:rPr sz="1700" b="0" i="0">
                <a:solidFill>
                  <a:srgbClr val="4CAF50"/>
                </a:solidFill>
                <a:latin typeface="Calibri"/>
              </a:rPr>
              <a:t>against </a:t>
            </a:r>
            <a:r>
              <a:rPr sz="1700" b="0" i="0">
                <a:solidFill>
                  <a:srgbClr val="4CAF50"/>
                </a:solidFill>
                <a:latin typeface="Calibri"/>
              </a:rPr>
              <a:t>islam </a:t>
            </a:r>
            <a:r>
              <a:rPr sz="1700" b="0" i="0">
                <a:solidFill>
                  <a:srgbClr val="FFC107"/>
                </a:solidFill>
                <a:latin typeface="Calibri"/>
              </a:rPr>
              <a:t>bin </a:t>
            </a:r>
            <a:r>
              <a:rPr sz="1700" b="0" i="0">
                <a:solidFill>
                  <a:srgbClr val="4CAF50"/>
                </a:solidFill>
                <a:latin typeface="Calibri"/>
              </a:rPr>
              <a:t>laden </a:t>
            </a:r>
            <a:r>
              <a:rPr sz="1700" b="0" i="0">
                <a:solidFill>
                  <a:srgbClr val="4CAF50"/>
                </a:solidFill>
                <a:latin typeface="Calibri"/>
              </a:rPr>
              <a:t>was </a:t>
            </a:r>
            <a:r>
              <a:rPr sz="1700" b="0" i="0">
                <a:solidFill>
                  <a:srgbClr val="4CAF50"/>
                </a:solidFill>
                <a:latin typeface="Calibri"/>
              </a:rPr>
              <a:t>not </a:t>
            </a:r>
            <a:r>
              <a:rPr sz="1700" b="0" i="0">
                <a:solidFill>
                  <a:srgbClr val="4CAF50"/>
                </a:solidFill>
                <a:latin typeface="Calibri"/>
              </a:rPr>
              <a:t>a </a:t>
            </a:r>
            <a:r>
              <a:rPr sz="1700" b="0" i="0">
                <a:solidFill>
                  <a:srgbClr val="4CAF50"/>
                </a:solidFill>
                <a:latin typeface="Calibri"/>
              </a:rPr>
              <a:t>muslim </a:t>
            </a:r>
            <a:r>
              <a:rPr sz="1700" b="0" i="0">
                <a:solidFill>
                  <a:srgbClr val="4CAF50"/>
                </a:solidFill>
                <a:latin typeface="Calibri"/>
              </a:rPr>
              <a:t>leader </a:t>
            </a:r>
            <a:r>
              <a:rPr sz="1700" b="0" i="0">
                <a:solidFill>
                  <a:srgbClr val="4CAF50"/>
                </a:solidFill>
                <a:latin typeface="Calibri"/>
              </a:rPr>
              <a:t>he </a:t>
            </a:r>
            <a:r>
              <a:rPr sz="1700" b="0" i="0">
                <a:solidFill>
                  <a:srgbClr val="4CAF50"/>
                </a:solidFill>
                <a:latin typeface="Calibri"/>
              </a:rPr>
              <a:t>was </a:t>
            </a:r>
            <a:r>
              <a:rPr sz="1700" b="0" i="0">
                <a:solidFill>
                  <a:srgbClr val="4CAF50"/>
                </a:solidFill>
                <a:latin typeface="Calibri"/>
              </a:rPr>
              <a:t>a </a:t>
            </a:r>
            <a:r>
              <a:rPr sz="1700" b="0" i="0">
                <a:solidFill>
                  <a:srgbClr val="4CAF50"/>
                </a:solidFill>
                <a:latin typeface="Calibri"/>
              </a:rPr>
              <a:t>mass </a:t>
            </a:r>
            <a:r>
              <a:rPr sz="1700" b="0" i="0">
                <a:solidFill>
                  <a:srgbClr val="4CAF50"/>
                </a:solidFill>
                <a:latin typeface="Calibri"/>
              </a:rPr>
              <a:t>murderer </a:t>
            </a:r>
            <a:r>
              <a:rPr sz="1700" b="0" i="0">
                <a:solidFill>
                  <a:srgbClr val="4CAF50"/>
                </a:solidFill>
                <a:latin typeface="Calibri"/>
              </a:rPr>
              <a:t>of </a:t>
            </a:r>
            <a:r>
              <a:rPr sz="1700" b="0" i="0">
                <a:solidFill>
                  <a:srgbClr val="4CAF50"/>
                </a:solidFill>
                <a:latin typeface="Calibri"/>
              </a:rPr>
              <a:t>muslims </a:t>
            </a:r>
            <a:r>
              <a:rPr sz="1700" b="0" i="0">
                <a:solidFill>
                  <a:srgbClr val="E06C75"/>
                </a:solidFill>
                <a:latin typeface="Calibri"/>
              </a:rPr>
              <a:t>then </a:t>
            </a:r>
            <a:r>
              <a:rPr sz="1700" b="0" i="0">
                <a:solidFill>
                  <a:srgbClr val="4CAF50"/>
                </a:solidFill>
                <a:latin typeface="Calibri"/>
              </a:rPr>
              <a:t>al </a:t>
            </a:r>
            <a:r>
              <a:rPr sz="1700" b="0" i="0">
                <a:solidFill>
                  <a:srgbClr val="4CAF50"/>
                </a:solidFill>
                <a:latin typeface="Calibri"/>
              </a:rPr>
              <a:t>qaeda </a:t>
            </a:r>
            <a:r>
              <a:rPr sz="1700" b="0" i="0">
                <a:solidFill>
                  <a:srgbClr val="E06C75"/>
                </a:solidFill>
                <a:latin typeface="Calibri"/>
              </a:rPr>
              <a:t>slithered </a:t>
            </a:r>
          </a:p>
        </p:txBody>
      </p:sp>
      <p:sp>
        <p:nvSpPr>
          <p:cNvPr id="9" name="Rectangle 8"/>
          <p:cNvSpPr/>
          <p:nvPr/>
        </p:nvSpPr>
        <p:spPr>
          <a:xfrm>
            <a:off x="548640" y="5212080"/>
            <a:ext cx="11091672" cy="640080"/>
          </a:xfrm>
          <a:prstGeom prst="rect">
            <a:avLst/>
          </a:prstGeom>
          <a:solidFill>
            <a:srgbClr val="152A40"/>
          </a:solidFill>
          <a:ln w="12700">
            <a:solidFill>
              <a:srgbClr val="FFD54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5349240"/>
            <a:ext cx="10543032" cy="365760"/>
          </a:xfrm>
          <a:prstGeom prst="rect">
            <a:avLst/>
          </a:prstGeom>
          <a:noFill/>
        </p:spPr>
        <p:txBody>
          <a:bodyPr wrap="square" anchor="t"/>
          <a:lstStyle/>
          <a:p>
            <a:pPr algn="l"/>
            <a:r>
              <a:rPr sz="1400" b="0" i="1">
                <a:solidFill>
                  <a:srgbClr val="FFFFFF"/>
                </a:solidFill>
                <a:latin typeface="Calibri"/>
              </a:rPr>
              <a:t>WER 22%. "president bush did" became "president bush said". Substitutions appear in yellow — reviewer goes straight to them.</a:t>
            </a:r>
          </a:p>
        </p:txBody>
      </p:sp>
      <p:sp>
        <p:nvSpPr>
          <p:cNvPr id="11" name="TextBox 10"/>
          <p:cNvSpPr txBox="1"/>
          <p:nvPr/>
        </p:nvSpPr>
        <p:spPr>
          <a:xfrm>
            <a:off x="548640" y="5989320"/>
            <a:ext cx="11091672" cy="274320"/>
          </a:xfrm>
          <a:prstGeom prst="rect">
            <a:avLst/>
          </a:prstGeom>
          <a:noFill/>
        </p:spPr>
        <p:txBody>
          <a:bodyPr wrap="square" anchor="t"/>
          <a:lstStyle/>
          <a:p>
            <a:pPr algn="ctr"/>
            <a:r>
              <a:rPr sz="900" b="0" i="1">
                <a:solidFill>
                  <a:srgbClr val="AAAAAA"/>
                </a:solidFill>
                <a:latin typeface="Calibri"/>
              </a:rPr>
              <a:t>GREEN: confident   YELLOW: review   RED: likely error</a:t>
            </a:r>
          </a:p>
        </p:txBody>
      </p:sp>
      <p:pic>
        <p:nvPicPr>
          <p:cNvPr id="12" name="Picture 11" descr="WhiteLogo.jpeg"/>
          <p:cNvPicPr>
            <a:picLocks noChangeAspect="1"/>
          </p:cNvPicPr>
          <p:nvPr/>
        </p:nvPicPr>
        <p:blipFill>
          <a:blip r:embed="rId2"/>
          <a:stretch>
            <a:fillRect/>
          </a:stretch>
        </p:blipFill>
        <p:spPr>
          <a:xfrm>
            <a:off x="11323320" y="6428232"/>
            <a:ext cx="269634" cy="320040"/>
          </a:xfrm>
          <a:prstGeom prst="rect">
            <a:avLst/>
          </a:prstGeom>
        </p:spPr>
      </p:pic>
      <p:sp>
        <p:nvSpPr>
          <p:cNvPr id="13" name="TextBox 12"/>
          <p:cNvSpPr txBox="1"/>
          <p:nvPr/>
        </p:nvSpPr>
        <p:spPr>
          <a:xfrm>
            <a:off x="548640" y="6510528"/>
            <a:ext cx="457200" cy="228600"/>
          </a:xfrm>
          <a:prstGeom prst="rect">
            <a:avLst/>
          </a:prstGeom>
          <a:noFill/>
        </p:spPr>
        <p:txBody>
          <a:bodyPr wrap="none">
            <a:spAutoFit/>
          </a:bodyPr>
          <a:lstStyle/>
          <a:p>
            <a:r>
              <a:rPr sz="900" b="0" i="0">
                <a:solidFill>
                  <a:srgbClr val="666666"/>
                </a:solidFill>
                <a:latin typeface="Calibri"/>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D1B2A"/>
        </a:solidFill>
        <a:effectLst/>
      </p:bgPr>
    </p:bg>
    <p:spTree>
      <p:nvGrpSpPr>
        <p:cNvPr id="1" name=""/>
        <p:cNvGrpSpPr/>
        <p:nvPr/>
      </p:nvGrpSpPr>
      <p:grpSpPr/>
      <p:sp>
        <p:nvSpPr>
          <p:cNvPr id="2" name="TextBox 1"/>
          <p:cNvSpPr txBox="1"/>
          <p:nvPr/>
        </p:nvSpPr>
        <p:spPr>
          <a:xfrm>
            <a:off x="548640" y="365760"/>
            <a:ext cx="11091672" cy="685800"/>
          </a:xfrm>
          <a:prstGeom prst="rect">
            <a:avLst/>
          </a:prstGeom>
          <a:noFill/>
        </p:spPr>
        <p:txBody>
          <a:bodyPr wrap="square">
            <a:spAutoFit/>
          </a:bodyPr>
          <a:lstStyle/>
          <a:p>
            <a:r>
              <a:rPr sz="3200" b="1" i="0">
                <a:solidFill>
                  <a:srgbClr val="FFFFFF"/>
                </a:solidFill>
                <a:latin typeface="Calibri"/>
              </a:rPr>
              <a:t>Example 3 — Flagged before it ever reached you</a:t>
            </a:r>
          </a:p>
        </p:txBody>
      </p:sp>
      <p:sp>
        <p:nvSpPr>
          <p:cNvPr id="3" name="Rectangle 2"/>
          <p:cNvSpPr/>
          <p:nvPr/>
        </p:nvSpPr>
        <p:spPr>
          <a:xfrm>
            <a:off x="548640" y="1097280"/>
            <a:ext cx="11091672" cy="1905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325880"/>
            <a:ext cx="11091672" cy="365760"/>
          </a:xfrm>
          <a:prstGeom prst="rect">
            <a:avLst/>
          </a:prstGeom>
          <a:noFill/>
        </p:spPr>
        <p:txBody>
          <a:bodyPr wrap="square" anchor="t"/>
          <a:lstStyle/>
          <a:p>
            <a:pPr algn="l"/>
            <a:r>
              <a:rPr sz="1300" b="0" i="1">
                <a:solidFill>
                  <a:srgbClr val="AAAAAA"/>
                </a:solidFill>
                <a:latin typeface="Calibri"/>
              </a:rPr>
              <a:t>Obama bin Laden announcement  ·  segment #5  ·  14.98–18.58 s</a:t>
            </a:r>
          </a:p>
        </p:txBody>
      </p:sp>
      <p:sp>
        <p:nvSpPr>
          <p:cNvPr id="5" name="TextBox 4"/>
          <p:cNvSpPr txBox="1"/>
          <p:nvPr/>
        </p:nvSpPr>
        <p:spPr>
          <a:xfrm>
            <a:off x="548640" y="1828800"/>
            <a:ext cx="1280160" cy="365760"/>
          </a:xfrm>
          <a:prstGeom prst="rect">
            <a:avLst/>
          </a:prstGeom>
          <a:noFill/>
        </p:spPr>
        <p:txBody>
          <a:bodyPr wrap="square" anchor="t"/>
          <a:lstStyle/>
          <a:p>
            <a:pPr algn="l"/>
            <a:r>
              <a:rPr sz="1100" b="1" i="0">
                <a:solidFill>
                  <a:srgbClr val="AAAAAA"/>
                </a:solidFill>
                <a:latin typeface="Calibri"/>
              </a:rPr>
              <a:t>REFERENCE</a:t>
            </a:r>
          </a:p>
        </p:txBody>
      </p:sp>
      <p:sp>
        <p:nvSpPr>
          <p:cNvPr id="6" name="TextBox 5"/>
          <p:cNvSpPr txBox="1"/>
          <p:nvPr/>
        </p:nvSpPr>
        <p:spPr>
          <a:xfrm>
            <a:off x="1920240" y="1828800"/>
            <a:ext cx="9720072" cy="1280160"/>
          </a:xfrm>
          <a:prstGeom prst="rect">
            <a:avLst/>
          </a:prstGeom>
          <a:noFill/>
        </p:spPr>
        <p:txBody>
          <a:bodyPr wrap="square" anchor="t"/>
          <a:lstStyle/>
          <a:p>
            <a:pPr algn="l"/>
            <a:r>
              <a:rPr sz="1600" b="0" i="1">
                <a:solidFill>
                  <a:srgbClr val="AAAAAA"/>
                </a:solidFill>
                <a:latin typeface="Calibri"/>
              </a:rPr>
              <a:t>heroic citizens saved even more heartbreak and destruction and yet we know that the worst images are those that were unseen to the world the empty seat at the dinner table</a:t>
            </a:r>
          </a:p>
        </p:txBody>
      </p:sp>
      <p:sp>
        <p:nvSpPr>
          <p:cNvPr id="7" name="TextBox 6"/>
          <p:cNvSpPr txBox="1"/>
          <p:nvPr/>
        </p:nvSpPr>
        <p:spPr>
          <a:xfrm>
            <a:off x="548640" y="3291840"/>
            <a:ext cx="1280160" cy="365760"/>
          </a:xfrm>
          <a:prstGeom prst="rect">
            <a:avLst/>
          </a:prstGeom>
          <a:noFill/>
        </p:spPr>
        <p:txBody>
          <a:bodyPr wrap="square" anchor="t"/>
          <a:lstStyle/>
          <a:p>
            <a:pPr algn="l"/>
            <a:r>
              <a:rPr sz="1100" b="1" i="0">
                <a:solidFill>
                  <a:srgbClr val="FFFFFF"/>
                </a:solidFill>
                <a:latin typeface="Calibri"/>
              </a:rPr>
              <a:t>HYPOTHESIS</a:t>
            </a:r>
          </a:p>
        </p:txBody>
      </p:sp>
      <p:sp>
        <p:nvSpPr>
          <p:cNvPr id="8" name="TextBox 7"/>
          <p:cNvSpPr txBox="1"/>
          <p:nvPr/>
        </p:nvSpPr>
        <p:spPr>
          <a:xfrm>
            <a:off x="1920240" y="3291840"/>
            <a:ext cx="9720072" cy="1828800"/>
          </a:xfrm>
          <a:prstGeom prst="rect">
            <a:avLst/>
          </a:prstGeom>
          <a:noFill/>
        </p:spPr>
        <p:txBody>
          <a:bodyPr wrap="square">
            <a:spAutoFit/>
          </a:bodyPr>
          <a:lstStyle/>
          <a:p>
            <a:pPr algn="l">
              <a:spcAft>
                <a:spcPts val="600"/>
              </a:spcAft>
            </a:pPr>
            <a:r>
              <a:rPr sz="1700" b="0" i="0">
                <a:solidFill>
                  <a:srgbClr val="E06C75"/>
                </a:solidFill>
                <a:latin typeface="Calibri"/>
              </a:rPr>
              <a:t>rwanda's </a:t>
            </a:r>
            <a:r>
              <a:rPr sz="1700" b="0" i="0">
                <a:solidFill>
                  <a:srgbClr val="FFC107"/>
                </a:solidFill>
                <a:latin typeface="Calibri"/>
              </a:rPr>
              <a:t>genocide </a:t>
            </a:r>
            <a:r>
              <a:rPr sz="1700" b="0" i="0">
                <a:solidFill>
                  <a:srgbClr val="4CAF50"/>
                </a:solidFill>
                <a:latin typeface="Calibri"/>
              </a:rPr>
              <a:t>even </a:t>
            </a:r>
            <a:r>
              <a:rPr sz="1700" b="0" i="0">
                <a:solidFill>
                  <a:srgbClr val="4CAF50"/>
                </a:solidFill>
                <a:latin typeface="Calibri"/>
              </a:rPr>
              <a:t>more </a:t>
            </a:r>
            <a:r>
              <a:rPr sz="1700" b="0" i="0">
                <a:solidFill>
                  <a:srgbClr val="4CAF50"/>
                </a:solidFill>
                <a:latin typeface="Calibri"/>
              </a:rPr>
              <a:t>heartbreaking </a:t>
            </a:r>
            <a:r>
              <a:rPr sz="1700" b="0" i="0">
                <a:solidFill>
                  <a:srgbClr val="4CAF50"/>
                </a:solidFill>
                <a:latin typeface="Calibri"/>
              </a:rPr>
              <a:t>is </a:t>
            </a:r>
            <a:r>
              <a:rPr sz="1700" b="0" i="0">
                <a:solidFill>
                  <a:srgbClr val="4CAF50"/>
                </a:solidFill>
                <a:latin typeface="Calibri"/>
              </a:rPr>
              <a:t>russia </a:t>
            </a:r>
            <a:r>
              <a:rPr sz="1700" b="0" i="0">
                <a:solidFill>
                  <a:srgbClr val="FFC107"/>
                </a:solidFill>
                <a:latin typeface="Calibri"/>
              </a:rPr>
              <a:t>and </a:t>
            </a:r>
            <a:r>
              <a:rPr sz="1700" b="0" i="0">
                <a:solidFill>
                  <a:srgbClr val="4CAF50"/>
                </a:solidFill>
                <a:latin typeface="Calibri"/>
              </a:rPr>
              <a:t>yet </a:t>
            </a:r>
            <a:r>
              <a:rPr sz="1700" b="0" i="0">
                <a:solidFill>
                  <a:srgbClr val="4CAF50"/>
                </a:solidFill>
                <a:latin typeface="Calibri"/>
              </a:rPr>
              <a:t>we </a:t>
            </a:r>
            <a:r>
              <a:rPr sz="1700" b="0" i="0">
                <a:solidFill>
                  <a:srgbClr val="4CAF50"/>
                </a:solidFill>
                <a:latin typeface="Calibri"/>
              </a:rPr>
              <a:t>know </a:t>
            </a:r>
            <a:r>
              <a:rPr sz="1700" b="0" i="0">
                <a:solidFill>
                  <a:srgbClr val="4CAF50"/>
                </a:solidFill>
                <a:latin typeface="Calibri"/>
              </a:rPr>
              <a:t>that </a:t>
            </a:r>
            <a:r>
              <a:rPr sz="1700" b="0" i="0">
                <a:solidFill>
                  <a:srgbClr val="4CAF50"/>
                </a:solidFill>
                <a:latin typeface="Calibri"/>
              </a:rPr>
              <a:t>the </a:t>
            </a:r>
            <a:r>
              <a:rPr sz="1700" b="0" i="0">
                <a:solidFill>
                  <a:srgbClr val="4CAF50"/>
                </a:solidFill>
                <a:latin typeface="Calibri"/>
              </a:rPr>
              <a:t>worst </a:t>
            </a:r>
            <a:r>
              <a:rPr sz="1700" b="0" i="0">
                <a:solidFill>
                  <a:srgbClr val="4CAF50"/>
                </a:solidFill>
                <a:latin typeface="Calibri"/>
              </a:rPr>
              <a:t>images </a:t>
            </a:r>
            <a:r>
              <a:rPr sz="1700" b="0" i="0">
                <a:solidFill>
                  <a:srgbClr val="FFC107"/>
                </a:solidFill>
                <a:latin typeface="Calibri"/>
              </a:rPr>
              <a:t>are </a:t>
            </a:r>
            <a:r>
              <a:rPr sz="1700" b="0" i="0">
                <a:solidFill>
                  <a:srgbClr val="4CAF50"/>
                </a:solidFill>
                <a:latin typeface="Calibri"/>
              </a:rPr>
              <a:t>those </a:t>
            </a:r>
            <a:r>
              <a:rPr sz="1700" b="0" i="0">
                <a:solidFill>
                  <a:srgbClr val="4CAF50"/>
                </a:solidFill>
                <a:latin typeface="Calibri"/>
              </a:rPr>
              <a:t>that </a:t>
            </a:r>
            <a:r>
              <a:rPr sz="1700" b="0" i="0">
                <a:solidFill>
                  <a:srgbClr val="FFC107"/>
                </a:solidFill>
                <a:latin typeface="Calibri"/>
              </a:rPr>
              <a:t>were </a:t>
            </a:r>
            <a:r>
              <a:rPr sz="1700" b="0" i="0">
                <a:solidFill>
                  <a:srgbClr val="4CAF50"/>
                </a:solidFill>
                <a:latin typeface="Calibri"/>
              </a:rPr>
              <a:t>unseen </a:t>
            </a:r>
            <a:r>
              <a:rPr sz="1700" b="0" i="0">
                <a:solidFill>
                  <a:srgbClr val="FFC107"/>
                </a:solidFill>
                <a:latin typeface="Calibri"/>
              </a:rPr>
              <a:t>in </a:t>
            </a:r>
            <a:r>
              <a:rPr sz="1700" b="0" i="0">
                <a:solidFill>
                  <a:srgbClr val="4CAF50"/>
                </a:solidFill>
                <a:latin typeface="Calibri"/>
              </a:rPr>
              <a:t>the </a:t>
            </a:r>
            <a:r>
              <a:rPr sz="1700" b="0" i="0">
                <a:solidFill>
                  <a:srgbClr val="4CAF50"/>
                </a:solidFill>
                <a:latin typeface="Calibri"/>
              </a:rPr>
              <a:t>world </a:t>
            </a:r>
            <a:r>
              <a:rPr sz="1700" b="0" i="0">
                <a:solidFill>
                  <a:srgbClr val="FFC107"/>
                </a:solidFill>
                <a:latin typeface="Calibri"/>
              </a:rPr>
              <a:t>mt </a:t>
            </a:r>
            <a:r>
              <a:rPr sz="1700" b="0" i="0">
                <a:solidFill>
                  <a:srgbClr val="E06C75"/>
                </a:solidFill>
                <a:latin typeface="Calibri"/>
              </a:rPr>
              <a:t>killer </a:t>
            </a:r>
            <a:r>
              <a:rPr sz="1700" b="0" i="0">
                <a:solidFill>
                  <a:srgbClr val="FFC107"/>
                </a:solidFill>
                <a:latin typeface="Calibri"/>
              </a:rPr>
              <a:t>whale </a:t>
            </a:r>
          </a:p>
        </p:txBody>
      </p:sp>
      <p:sp>
        <p:nvSpPr>
          <p:cNvPr id="9" name="Rectangle 8"/>
          <p:cNvSpPr/>
          <p:nvPr/>
        </p:nvSpPr>
        <p:spPr>
          <a:xfrm>
            <a:off x="548640" y="5212080"/>
            <a:ext cx="11091672" cy="640080"/>
          </a:xfrm>
          <a:prstGeom prst="rect">
            <a:avLst/>
          </a:prstGeom>
          <a:solidFill>
            <a:srgbClr val="152A40"/>
          </a:solidFill>
          <a:ln w="12700">
            <a:solidFill>
              <a:srgbClr val="E06C7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5349240"/>
            <a:ext cx="10543032" cy="365760"/>
          </a:xfrm>
          <a:prstGeom prst="rect">
            <a:avLst/>
          </a:prstGeom>
          <a:noFill/>
        </p:spPr>
        <p:txBody>
          <a:bodyPr wrap="square" anchor="t"/>
          <a:lstStyle/>
          <a:p>
            <a:pPr algn="l"/>
            <a:r>
              <a:rPr sz="1400" b="0" i="1">
                <a:solidFill>
                  <a:srgbClr val="FFFFFF"/>
                </a:solidFill>
                <a:latin typeface="Calibri"/>
              </a:rPr>
              <a:t>WER 45%. The model fabricated "rwanda's genocide" — and knew it. Lowest-confidence word at p=0.02. The system flags the line before the reviewer ever sees the transcript.</a:t>
            </a:r>
          </a:p>
        </p:txBody>
      </p:sp>
      <p:sp>
        <p:nvSpPr>
          <p:cNvPr id="11" name="TextBox 10"/>
          <p:cNvSpPr txBox="1"/>
          <p:nvPr/>
        </p:nvSpPr>
        <p:spPr>
          <a:xfrm>
            <a:off x="548640" y="5989320"/>
            <a:ext cx="11091672" cy="274320"/>
          </a:xfrm>
          <a:prstGeom prst="rect">
            <a:avLst/>
          </a:prstGeom>
          <a:noFill/>
        </p:spPr>
        <p:txBody>
          <a:bodyPr wrap="square" anchor="t"/>
          <a:lstStyle/>
          <a:p>
            <a:pPr algn="ctr"/>
            <a:r>
              <a:rPr sz="900" b="0" i="1">
                <a:solidFill>
                  <a:srgbClr val="AAAAAA"/>
                </a:solidFill>
                <a:latin typeface="Calibri"/>
              </a:rPr>
              <a:t>GREEN: confident   YELLOW: review   RED: likely error</a:t>
            </a:r>
          </a:p>
        </p:txBody>
      </p:sp>
      <p:pic>
        <p:nvPicPr>
          <p:cNvPr id="12" name="Picture 11" descr="WhiteLogo.jpeg"/>
          <p:cNvPicPr>
            <a:picLocks noChangeAspect="1"/>
          </p:cNvPicPr>
          <p:nvPr/>
        </p:nvPicPr>
        <p:blipFill>
          <a:blip r:embed="rId2"/>
          <a:stretch>
            <a:fillRect/>
          </a:stretch>
        </p:blipFill>
        <p:spPr>
          <a:xfrm>
            <a:off x="11323320" y="6428232"/>
            <a:ext cx="269634" cy="320040"/>
          </a:xfrm>
          <a:prstGeom prst="rect">
            <a:avLst/>
          </a:prstGeom>
        </p:spPr>
      </p:pic>
      <p:sp>
        <p:nvSpPr>
          <p:cNvPr id="13" name="TextBox 12"/>
          <p:cNvSpPr txBox="1"/>
          <p:nvPr/>
        </p:nvSpPr>
        <p:spPr>
          <a:xfrm>
            <a:off x="548640" y="6510528"/>
            <a:ext cx="457200" cy="228600"/>
          </a:xfrm>
          <a:prstGeom prst="rect">
            <a:avLst/>
          </a:prstGeom>
          <a:noFill/>
        </p:spPr>
        <p:txBody>
          <a:bodyPr wrap="none">
            <a:spAutoFit/>
          </a:bodyPr>
          <a:lstStyle/>
          <a:p>
            <a:r>
              <a:rPr sz="900" b="0" i="0">
                <a:solidFill>
                  <a:srgbClr val="666666"/>
                </a:solidFill>
                <a:latin typeface="Calibri"/>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0D1B2A"/>
        </a:solidFill>
        <a:effectLst/>
      </p:bgPr>
    </p:bg>
    <p:spTree>
      <p:nvGrpSpPr>
        <p:cNvPr id="1" name=""/>
        <p:cNvGrpSpPr/>
        <p:nvPr/>
      </p:nvGrpSpPr>
      <p:grpSpPr/>
      <p:sp>
        <p:nvSpPr>
          <p:cNvPr id="2" name="TextBox 1"/>
          <p:cNvSpPr txBox="1"/>
          <p:nvPr/>
        </p:nvSpPr>
        <p:spPr>
          <a:xfrm>
            <a:off x="548640" y="2560320"/>
            <a:ext cx="11091672" cy="914400"/>
          </a:xfrm>
          <a:prstGeom prst="rect">
            <a:avLst/>
          </a:prstGeom>
          <a:noFill/>
        </p:spPr>
        <p:txBody>
          <a:bodyPr wrap="square" anchor="t"/>
          <a:lstStyle/>
          <a:p>
            <a:pPr algn="ctr"/>
            <a:r>
              <a:rPr sz="4400" b="1" i="0">
                <a:solidFill>
                  <a:srgbClr val="00B4D8"/>
                </a:solidFill>
                <a:latin typeface="Calibri"/>
              </a:rPr>
              <a:t>CONFIDENCE &amp; TRUST</a:t>
            </a:r>
          </a:p>
        </p:txBody>
      </p:sp>
      <p:sp>
        <p:nvSpPr>
          <p:cNvPr id="3" name="TextBox 2"/>
          <p:cNvSpPr txBox="1"/>
          <p:nvPr/>
        </p:nvSpPr>
        <p:spPr>
          <a:xfrm>
            <a:off x="548640" y="3566160"/>
            <a:ext cx="11091672" cy="731520"/>
          </a:xfrm>
          <a:prstGeom prst="rect">
            <a:avLst/>
          </a:prstGeom>
          <a:noFill/>
        </p:spPr>
        <p:txBody>
          <a:bodyPr wrap="square" anchor="t"/>
          <a:lstStyle/>
          <a:p>
            <a:pPr algn="ctr"/>
            <a:r>
              <a:rPr sz="2000" b="0" i="1">
                <a:solidFill>
                  <a:srgbClr val="AAAAAA"/>
                </a:solidFill>
                <a:latin typeface="Calibri"/>
              </a:rPr>
              <a:t>How the system tells you what to trust</a:t>
            </a:r>
          </a:p>
        </p:txBody>
      </p:sp>
      <p:pic>
        <p:nvPicPr>
          <p:cNvPr id="4" name="Picture 3" descr="WhiteLogo.jpeg"/>
          <p:cNvPicPr>
            <a:picLocks noChangeAspect="1"/>
          </p:cNvPicPr>
          <p:nvPr/>
        </p:nvPicPr>
        <p:blipFill>
          <a:blip r:embed="rId2"/>
          <a:stretch>
            <a:fillRect/>
          </a:stretch>
        </p:blipFill>
        <p:spPr>
          <a:xfrm>
            <a:off x="11323320" y="6428232"/>
            <a:ext cx="269634" cy="320040"/>
          </a:xfrm>
          <a:prstGeom prst="rect">
            <a:avLst/>
          </a:prstGeom>
        </p:spPr>
      </p:pic>
      <p:sp>
        <p:nvSpPr>
          <p:cNvPr id="5" name="TextBox 4"/>
          <p:cNvSpPr txBox="1"/>
          <p:nvPr/>
        </p:nvSpPr>
        <p:spPr>
          <a:xfrm>
            <a:off x="548640" y="6510528"/>
            <a:ext cx="457200" cy="228600"/>
          </a:xfrm>
          <a:prstGeom prst="rect">
            <a:avLst/>
          </a:prstGeom>
          <a:noFill/>
        </p:spPr>
        <p:txBody>
          <a:bodyPr wrap="none">
            <a:spAutoFit/>
          </a:bodyPr>
          <a:lstStyle/>
          <a:p>
            <a:r>
              <a:rPr sz="900" b="0" i="0">
                <a:solidFill>
                  <a:srgbClr val="666666"/>
                </a:solidFill>
                <a:latin typeface="Calibri"/>
              </a:rP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0D1B2A"/>
        </a:solidFill>
        <a:effectLst/>
      </p:bgPr>
    </p:bg>
    <p:spTree>
      <p:nvGrpSpPr>
        <p:cNvPr id="1" name=""/>
        <p:cNvGrpSpPr/>
        <p:nvPr/>
      </p:nvGrpSpPr>
      <p:grpSpPr/>
      <p:sp>
        <p:nvSpPr>
          <p:cNvPr id="2" name="TextBox 1"/>
          <p:cNvSpPr txBox="1"/>
          <p:nvPr/>
        </p:nvSpPr>
        <p:spPr>
          <a:xfrm>
            <a:off x="548640" y="365760"/>
            <a:ext cx="11091672" cy="685800"/>
          </a:xfrm>
          <a:prstGeom prst="rect">
            <a:avLst/>
          </a:prstGeom>
          <a:noFill/>
        </p:spPr>
        <p:txBody>
          <a:bodyPr wrap="square">
            <a:spAutoFit/>
          </a:bodyPr>
          <a:lstStyle/>
          <a:p>
            <a:r>
              <a:rPr sz="3200" b="1" i="0">
                <a:solidFill>
                  <a:srgbClr val="FFFFFF"/>
                </a:solidFill>
                <a:latin typeface="Calibri"/>
              </a:rPr>
              <a:t>How do you know when to trust an output?</a:t>
            </a:r>
          </a:p>
        </p:txBody>
      </p:sp>
      <p:sp>
        <p:nvSpPr>
          <p:cNvPr id="3" name="Rectangle 2"/>
          <p:cNvSpPr/>
          <p:nvPr/>
        </p:nvSpPr>
        <p:spPr>
          <a:xfrm>
            <a:off x="548640" y="1097280"/>
            <a:ext cx="11091672" cy="1905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645920"/>
            <a:ext cx="11091672" cy="1097280"/>
          </a:xfrm>
          <a:prstGeom prst="rect">
            <a:avLst/>
          </a:prstGeom>
          <a:noFill/>
        </p:spPr>
        <p:txBody>
          <a:bodyPr wrap="square" anchor="t"/>
          <a:lstStyle/>
          <a:p>
            <a:pPr algn="l"/>
            <a:r>
              <a:rPr sz="2000" b="0" i="0">
                <a:solidFill>
                  <a:srgbClr val="AAAAAA"/>
                </a:solidFill>
                <a:latin typeface="Calibri"/>
              </a:rPr>
              <a:t>Most speech-to-text systems hand you a transcript. You read all of it. If something's wrong, you find out the hard way.</a:t>
            </a:r>
          </a:p>
        </p:txBody>
      </p:sp>
      <p:sp>
        <p:nvSpPr>
          <p:cNvPr id="5" name="TextBox 4"/>
          <p:cNvSpPr txBox="1"/>
          <p:nvPr/>
        </p:nvSpPr>
        <p:spPr>
          <a:xfrm>
            <a:off x="548640" y="3108960"/>
            <a:ext cx="11091672" cy="1097280"/>
          </a:xfrm>
          <a:prstGeom prst="rect">
            <a:avLst/>
          </a:prstGeom>
          <a:noFill/>
        </p:spPr>
        <p:txBody>
          <a:bodyPr wrap="square" anchor="t"/>
          <a:lstStyle/>
          <a:p>
            <a:pPr algn="l"/>
            <a:r>
              <a:rPr sz="2000" b="1" i="0">
                <a:solidFill>
                  <a:srgbClr val="FFFFFF"/>
                </a:solidFill>
                <a:latin typeface="Calibri"/>
              </a:rPr>
              <a:t>Argos is different. Every word and every segment carries a confidence signal. You read what's flagged — not everything.</a:t>
            </a:r>
          </a:p>
        </p:txBody>
      </p:sp>
      <p:pic>
        <p:nvPicPr>
          <p:cNvPr id="6" name="Picture 5" descr="WhiteLogo.jpeg"/>
          <p:cNvPicPr>
            <a:picLocks noChangeAspect="1"/>
          </p:cNvPicPr>
          <p:nvPr/>
        </p:nvPicPr>
        <p:blipFill>
          <a:blip r:embed="rId2"/>
          <a:stretch>
            <a:fillRect/>
          </a:stretch>
        </p:blipFill>
        <p:spPr>
          <a:xfrm>
            <a:off x="11323320" y="6428232"/>
            <a:ext cx="269634" cy="320040"/>
          </a:xfrm>
          <a:prstGeom prst="rect">
            <a:avLst/>
          </a:prstGeom>
        </p:spPr>
      </p:pic>
      <p:sp>
        <p:nvSpPr>
          <p:cNvPr id="7" name="TextBox 6"/>
          <p:cNvSpPr txBox="1"/>
          <p:nvPr/>
        </p:nvSpPr>
        <p:spPr>
          <a:xfrm>
            <a:off x="548640" y="6510528"/>
            <a:ext cx="457200" cy="228600"/>
          </a:xfrm>
          <a:prstGeom prst="rect">
            <a:avLst/>
          </a:prstGeom>
          <a:noFill/>
        </p:spPr>
        <p:txBody>
          <a:bodyPr wrap="none">
            <a:spAutoFit/>
          </a:bodyPr>
          <a:lstStyle/>
          <a:p>
            <a:r>
              <a:rPr sz="900" b="0" i="0">
                <a:solidFill>
                  <a:srgbClr val="666666"/>
                </a:solidFill>
                <a:latin typeface="Calibri"/>
              </a:rPr>
              <a:t>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0D1B2A"/>
        </a:solidFill>
        <a:effectLst/>
      </p:bgPr>
    </p:bg>
    <p:spTree>
      <p:nvGrpSpPr>
        <p:cNvPr id="1" name=""/>
        <p:cNvGrpSpPr/>
        <p:nvPr/>
      </p:nvGrpSpPr>
      <p:grpSpPr/>
      <p:sp>
        <p:nvSpPr>
          <p:cNvPr id="2" name="TextBox 1"/>
          <p:cNvSpPr txBox="1"/>
          <p:nvPr/>
        </p:nvSpPr>
        <p:spPr>
          <a:xfrm>
            <a:off x="548640" y="365760"/>
            <a:ext cx="11091672" cy="685800"/>
          </a:xfrm>
          <a:prstGeom prst="rect">
            <a:avLst/>
          </a:prstGeom>
          <a:noFill/>
        </p:spPr>
        <p:txBody>
          <a:bodyPr wrap="square">
            <a:spAutoFit/>
          </a:bodyPr>
          <a:lstStyle/>
          <a:p>
            <a:r>
              <a:rPr sz="3200" b="1" i="0">
                <a:solidFill>
                  <a:srgbClr val="FFFFFF"/>
                </a:solidFill>
                <a:latin typeface="Calibri"/>
              </a:rPr>
              <a:t>Two layers of confidence</a:t>
            </a:r>
          </a:p>
        </p:txBody>
      </p:sp>
      <p:sp>
        <p:nvSpPr>
          <p:cNvPr id="3" name="Rectangle 2"/>
          <p:cNvSpPr/>
          <p:nvPr/>
        </p:nvSpPr>
        <p:spPr>
          <a:xfrm>
            <a:off x="548640" y="1097280"/>
            <a:ext cx="11091672" cy="1905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48640" y="1554480"/>
            <a:ext cx="5349240" cy="4023360"/>
          </a:xfrm>
          <a:prstGeom prst="rect">
            <a:avLst/>
          </a:prstGeom>
          <a:solidFill>
            <a:srgbClr val="152A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1828800"/>
            <a:ext cx="4800600" cy="365760"/>
          </a:xfrm>
          <a:prstGeom prst="rect">
            <a:avLst/>
          </a:prstGeom>
          <a:noFill/>
        </p:spPr>
        <p:txBody>
          <a:bodyPr wrap="square" anchor="t"/>
          <a:lstStyle/>
          <a:p>
            <a:pPr algn="l"/>
            <a:r>
              <a:rPr sz="1400" b="1" i="0">
                <a:solidFill>
                  <a:srgbClr val="4CAF50"/>
                </a:solidFill>
                <a:latin typeface="Calibri"/>
              </a:rPr>
              <a:t>1. PER-WORD</a:t>
            </a:r>
          </a:p>
        </p:txBody>
      </p:sp>
      <p:sp>
        <p:nvSpPr>
          <p:cNvPr id="6" name="TextBox 5"/>
          <p:cNvSpPr txBox="1"/>
          <p:nvPr/>
        </p:nvSpPr>
        <p:spPr>
          <a:xfrm>
            <a:off x="822960" y="2331720"/>
            <a:ext cx="4800600" cy="457200"/>
          </a:xfrm>
          <a:prstGeom prst="rect">
            <a:avLst/>
          </a:prstGeom>
          <a:noFill/>
        </p:spPr>
        <p:txBody>
          <a:bodyPr wrap="square" anchor="t"/>
          <a:lstStyle/>
          <a:p>
            <a:pPr algn="l"/>
            <a:r>
              <a:rPr sz="2000" b="1" i="0">
                <a:solidFill>
                  <a:srgbClr val="FFFFFF"/>
                </a:solidFill>
                <a:latin typeface="Calibri"/>
              </a:rPr>
              <a:t>From the model itself</a:t>
            </a:r>
          </a:p>
        </p:txBody>
      </p:sp>
      <p:sp>
        <p:nvSpPr>
          <p:cNvPr id="7" name="TextBox 6"/>
          <p:cNvSpPr txBox="1"/>
          <p:nvPr/>
        </p:nvSpPr>
        <p:spPr>
          <a:xfrm>
            <a:off x="822960" y="3108960"/>
            <a:ext cx="4800600" cy="2286000"/>
          </a:xfrm>
          <a:prstGeom prst="rect">
            <a:avLst/>
          </a:prstGeom>
          <a:noFill/>
        </p:spPr>
        <p:txBody>
          <a:bodyPr wrap="square">
            <a:spAutoFit/>
          </a:bodyPr>
          <a:lstStyle/>
          <a:p>
            <a:pPr algn="l">
              <a:spcAft>
                <a:spcPts val="600"/>
              </a:spcAft>
            </a:pPr>
            <a:r>
              <a:rPr sz="1400" b="1">
                <a:solidFill>
                  <a:srgbClr val="00B4D8"/>
                </a:solidFill>
                <a:latin typeface="Calibri"/>
              </a:rPr>
              <a:t>• </a:t>
            </a:r>
            <a:r>
              <a:rPr sz="1400" b="0">
                <a:solidFill>
                  <a:srgbClr val="FFFFFF"/>
                </a:solidFill>
                <a:latin typeface="Calibri"/>
              </a:rPr>
              <a:t>Every predicted word has a probability the model assigned it</a:t>
            </a:r>
          </a:p>
          <a:p>
            <a:pPr algn="l">
              <a:spcAft>
                <a:spcPts val="600"/>
              </a:spcAft>
            </a:pPr>
            <a:r>
              <a:rPr sz="1400" b="1">
                <a:solidFill>
                  <a:srgbClr val="00B4D8"/>
                </a:solidFill>
                <a:latin typeface="Calibri"/>
              </a:rPr>
              <a:t>• </a:t>
            </a:r>
            <a:r>
              <a:rPr sz="1400" b="0">
                <a:solidFill>
                  <a:srgbClr val="FFFFFF"/>
                </a:solidFill>
                <a:latin typeface="Calibri"/>
              </a:rPr>
              <a:t>We surface those as green / yellow / red inline in the report</a:t>
            </a:r>
          </a:p>
          <a:p>
            <a:pPr algn="l">
              <a:spcAft>
                <a:spcPts val="600"/>
              </a:spcAft>
            </a:pPr>
            <a:r>
              <a:rPr sz="1400" b="1">
                <a:solidFill>
                  <a:srgbClr val="00B4D8"/>
                </a:solidFill>
                <a:latin typeface="Calibri"/>
              </a:rPr>
              <a:t>• </a:t>
            </a:r>
            <a:r>
              <a:rPr sz="1400" b="0">
                <a:solidFill>
                  <a:srgbClr val="FFFFFF"/>
                </a:solidFill>
                <a:latin typeface="Calibri"/>
              </a:rPr>
              <a:t>You see exactly where the model was unsure</a:t>
            </a:r>
          </a:p>
        </p:txBody>
      </p:sp>
      <p:sp>
        <p:nvSpPr>
          <p:cNvPr id="8" name="Rectangle 7"/>
          <p:cNvSpPr/>
          <p:nvPr/>
        </p:nvSpPr>
        <p:spPr>
          <a:xfrm>
            <a:off x="6263640" y="1554480"/>
            <a:ext cx="5349240" cy="4023360"/>
          </a:xfrm>
          <a:prstGeom prst="rect">
            <a:avLst/>
          </a:prstGeom>
          <a:solidFill>
            <a:srgbClr val="152A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537960" y="1828800"/>
            <a:ext cx="4800600" cy="365760"/>
          </a:xfrm>
          <a:prstGeom prst="rect">
            <a:avLst/>
          </a:prstGeom>
          <a:noFill/>
        </p:spPr>
        <p:txBody>
          <a:bodyPr wrap="square" anchor="t"/>
          <a:lstStyle/>
          <a:p>
            <a:pPr algn="l"/>
            <a:r>
              <a:rPr sz="1400" b="1" i="0">
                <a:solidFill>
                  <a:srgbClr val="00B4D8"/>
                </a:solidFill>
                <a:latin typeface="Calibri"/>
              </a:rPr>
              <a:t>2. PER-SEGMENT</a:t>
            </a:r>
          </a:p>
        </p:txBody>
      </p:sp>
      <p:sp>
        <p:nvSpPr>
          <p:cNvPr id="10" name="TextBox 9"/>
          <p:cNvSpPr txBox="1"/>
          <p:nvPr/>
        </p:nvSpPr>
        <p:spPr>
          <a:xfrm>
            <a:off x="6537960" y="2331720"/>
            <a:ext cx="4800600" cy="457200"/>
          </a:xfrm>
          <a:prstGeom prst="rect">
            <a:avLst/>
          </a:prstGeom>
          <a:noFill/>
        </p:spPr>
        <p:txBody>
          <a:bodyPr wrap="square" anchor="t"/>
          <a:lstStyle/>
          <a:p>
            <a:pPr algn="l"/>
            <a:r>
              <a:rPr sz="2000" b="1" i="0">
                <a:solidFill>
                  <a:srgbClr val="FFFFFF"/>
                </a:solidFill>
                <a:latin typeface="Calibri"/>
              </a:rPr>
              <a:t>From the score system</a:t>
            </a:r>
          </a:p>
        </p:txBody>
      </p:sp>
      <p:sp>
        <p:nvSpPr>
          <p:cNvPr id="11" name="TextBox 10"/>
          <p:cNvSpPr txBox="1"/>
          <p:nvPr/>
        </p:nvSpPr>
        <p:spPr>
          <a:xfrm>
            <a:off x="6537960" y="3108960"/>
            <a:ext cx="4800600" cy="2286000"/>
          </a:xfrm>
          <a:prstGeom prst="rect">
            <a:avLst/>
          </a:prstGeom>
          <a:noFill/>
        </p:spPr>
        <p:txBody>
          <a:bodyPr wrap="square">
            <a:spAutoFit/>
          </a:bodyPr>
          <a:lstStyle/>
          <a:p>
            <a:pPr algn="l">
              <a:spcAft>
                <a:spcPts val="600"/>
              </a:spcAft>
            </a:pPr>
            <a:r>
              <a:rPr sz="1400" b="1">
                <a:solidFill>
                  <a:srgbClr val="00B4D8"/>
                </a:solidFill>
                <a:latin typeface="Calibri"/>
              </a:rPr>
              <a:t>• </a:t>
            </a:r>
            <a:r>
              <a:rPr sz="1400" b="0">
                <a:solidFill>
                  <a:srgbClr val="FFFFFF"/>
                </a:solidFill>
                <a:latin typeface="Calibri"/>
              </a:rPr>
              <a:t>Intelligibility Score — a 0–5 score per segment</a:t>
            </a:r>
          </a:p>
          <a:p>
            <a:pPr algn="l">
              <a:spcAft>
                <a:spcPts val="600"/>
              </a:spcAft>
            </a:pPr>
            <a:r>
              <a:rPr sz="1400" b="1">
                <a:solidFill>
                  <a:srgbClr val="00B4D8"/>
                </a:solidFill>
                <a:latin typeface="Calibri"/>
              </a:rPr>
              <a:t>• </a:t>
            </a:r>
            <a:r>
              <a:rPr sz="1400" b="0">
                <a:solidFill>
                  <a:srgbClr val="FFFFFF"/>
                </a:solidFill>
                <a:latin typeface="Calibri"/>
              </a:rPr>
              <a:t>Predicts whether a viewer will understand the output</a:t>
            </a:r>
          </a:p>
          <a:p>
            <a:pPr algn="l">
              <a:spcAft>
                <a:spcPts val="600"/>
              </a:spcAft>
            </a:pPr>
            <a:r>
              <a:rPr sz="1400" b="1">
                <a:solidFill>
                  <a:srgbClr val="00B4D8"/>
                </a:solidFill>
                <a:latin typeface="Calibri"/>
              </a:rPr>
              <a:t>• </a:t>
            </a:r>
            <a:r>
              <a:rPr sz="1400" b="0">
                <a:solidFill>
                  <a:srgbClr val="FFFFFF"/>
                </a:solidFill>
                <a:latin typeface="Calibri"/>
              </a:rPr>
              <a:t>Calibrated against an independent expert reviewer</a:t>
            </a:r>
          </a:p>
        </p:txBody>
      </p:sp>
      <p:pic>
        <p:nvPicPr>
          <p:cNvPr id="12" name="Picture 11" descr="WhiteLogo.jpeg"/>
          <p:cNvPicPr>
            <a:picLocks noChangeAspect="1"/>
          </p:cNvPicPr>
          <p:nvPr/>
        </p:nvPicPr>
        <p:blipFill>
          <a:blip r:embed="rId2"/>
          <a:stretch>
            <a:fillRect/>
          </a:stretch>
        </p:blipFill>
        <p:spPr>
          <a:xfrm>
            <a:off x="11323320" y="6428232"/>
            <a:ext cx="269634" cy="320040"/>
          </a:xfrm>
          <a:prstGeom prst="rect">
            <a:avLst/>
          </a:prstGeom>
        </p:spPr>
      </p:pic>
      <p:sp>
        <p:nvSpPr>
          <p:cNvPr id="13" name="TextBox 12"/>
          <p:cNvSpPr txBox="1"/>
          <p:nvPr/>
        </p:nvSpPr>
        <p:spPr>
          <a:xfrm>
            <a:off x="548640" y="6510528"/>
            <a:ext cx="457200" cy="228600"/>
          </a:xfrm>
          <a:prstGeom prst="rect">
            <a:avLst/>
          </a:prstGeom>
          <a:noFill/>
        </p:spPr>
        <p:txBody>
          <a:bodyPr wrap="none">
            <a:spAutoFit/>
          </a:bodyPr>
          <a:lstStyle/>
          <a:p>
            <a:r>
              <a:rPr sz="900" b="0" i="0">
                <a:solidFill>
                  <a:srgbClr val="666666"/>
                </a:solidFill>
                <a:latin typeface="Calibri"/>
              </a:rPr>
              <a:t>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0D1B2A"/>
        </a:solidFill>
        <a:effectLst/>
      </p:bgPr>
    </p:bg>
    <p:spTree>
      <p:nvGrpSpPr>
        <p:cNvPr id="1" name=""/>
        <p:cNvGrpSpPr/>
        <p:nvPr/>
      </p:nvGrpSpPr>
      <p:grpSpPr/>
      <p:sp>
        <p:nvSpPr>
          <p:cNvPr id="2" name="TextBox 1"/>
          <p:cNvSpPr txBox="1"/>
          <p:nvPr/>
        </p:nvSpPr>
        <p:spPr>
          <a:xfrm>
            <a:off x="548640" y="365760"/>
            <a:ext cx="11091672" cy="685800"/>
          </a:xfrm>
          <a:prstGeom prst="rect">
            <a:avLst/>
          </a:prstGeom>
          <a:noFill/>
        </p:spPr>
        <p:txBody>
          <a:bodyPr wrap="square">
            <a:spAutoFit/>
          </a:bodyPr>
          <a:lstStyle/>
          <a:p>
            <a:r>
              <a:rPr sz="3200" b="1" i="0">
                <a:solidFill>
                  <a:srgbClr val="FFFFFF"/>
                </a:solidFill>
                <a:latin typeface="Calibri"/>
              </a:rPr>
              <a:t>Per-word color coding on a real example</a:t>
            </a:r>
          </a:p>
        </p:txBody>
      </p:sp>
      <p:sp>
        <p:nvSpPr>
          <p:cNvPr id="3" name="Rectangle 2"/>
          <p:cNvSpPr/>
          <p:nvPr/>
        </p:nvSpPr>
        <p:spPr>
          <a:xfrm>
            <a:off x="548640" y="1097280"/>
            <a:ext cx="11091672" cy="1905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ui_word_confidence_screenshot.png"/>
          <p:cNvPicPr>
            <a:picLocks noChangeAspect="1"/>
          </p:cNvPicPr>
          <p:nvPr/>
        </p:nvPicPr>
        <p:blipFill>
          <a:blip r:embed="rId2"/>
          <a:stretch>
            <a:fillRect/>
          </a:stretch>
        </p:blipFill>
        <p:spPr>
          <a:xfrm>
            <a:off x="2032000" y="1325880"/>
            <a:ext cx="8128000" cy="4572000"/>
          </a:xfrm>
          <a:prstGeom prst="rect">
            <a:avLst/>
          </a:prstGeom>
        </p:spPr>
      </p:pic>
      <p:sp>
        <p:nvSpPr>
          <p:cNvPr id="5" name="TextBox 4"/>
          <p:cNvSpPr txBox="1"/>
          <p:nvPr/>
        </p:nvSpPr>
        <p:spPr>
          <a:xfrm>
            <a:off x="548640" y="6126480"/>
            <a:ext cx="2377440" cy="274320"/>
          </a:xfrm>
          <a:prstGeom prst="rect">
            <a:avLst/>
          </a:prstGeom>
          <a:noFill/>
        </p:spPr>
        <p:txBody>
          <a:bodyPr wrap="square" anchor="t"/>
          <a:lstStyle/>
          <a:p>
            <a:pPr algn="l"/>
            <a:r>
              <a:rPr sz="1100" b="0" i="0">
                <a:solidFill>
                  <a:srgbClr val="AAAAAA"/>
                </a:solidFill>
                <a:latin typeface="Calibri"/>
              </a:rPr>
              <a:t>Per-word confidence  —  </a:t>
            </a:r>
          </a:p>
        </p:txBody>
      </p:sp>
      <p:sp>
        <p:nvSpPr>
          <p:cNvPr id="6" name="TextBox 5"/>
          <p:cNvSpPr txBox="1"/>
          <p:nvPr/>
        </p:nvSpPr>
        <p:spPr>
          <a:xfrm>
            <a:off x="2834640" y="6126480"/>
            <a:ext cx="1828800" cy="274320"/>
          </a:xfrm>
          <a:prstGeom prst="rect">
            <a:avLst/>
          </a:prstGeom>
          <a:noFill/>
        </p:spPr>
        <p:txBody>
          <a:bodyPr wrap="square" anchor="t"/>
          <a:lstStyle/>
          <a:p>
            <a:pPr algn="l"/>
            <a:r>
              <a:rPr sz="1100" b="1" i="0">
                <a:solidFill>
                  <a:srgbClr val="4CAF50"/>
                </a:solidFill>
                <a:latin typeface="Calibri"/>
              </a:rPr>
              <a:t>GREEN: confident</a:t>
            </a:r>
          </a:p>
        </p:txBody>
      </p:sp>
      <p:sp>
        <p:nvSpPr>
          <p:cNvPr id="7" name="TextBox 6"/>
          <p:cNvSpPr txBox="1"/>
          <p:nvPr/>
        </p:nvSpPr>
        <p:spPr>
          <a:xfrm>
            <a:off x="4754880" y="6126480"/>
            <a:ext cx="1828800" cy="274320"/>
          </a:xfrm>
          <a:prstGeom prst="rect">
            <a:avLst/>
          </a:prstGeom>
          <a:noFill/>
        </p:spPr>
        <p:txBody>
          <a:bodyPr wrap="square" anchor="t"/>
          <a:lstStyle/>
          <a:p>
            <a:pPr algn="l"/>
            <a:r>
              <a:rPr sz="1100" b="1" i="0">
                <a:solidFill>
                  <a:srgbClr val="FFC107"/>
                </a:solidFill>
                <a:latin typeface="Calibri"/>
              </a:rPr>
              <a:t>YELLOW: review</a:t>
            </a:r>
          </a:p>
        </p:txBody>
      </p:sp>
      <p:sp>
        <p:nvSpPr>
          <p:cNvPr id="8" name="TextBox 7"/>
          <p:cNvSpPr txBox="1"/>
          <p:nvPr/>
        </p:nvSpPr>
        <p:spPr>
          <a:xfrm>
            <a:off x="6675120" y="6126480"/>
            <a:ext cx="1828800" cy="274320"/>
          </a:xfrm>
          <a:prstGeom prst="rect">
            <a:avLst/>
          </a:prstGeom>
          <a:noFill/>
        </p:spPr>
        <p:txBody>
          <a:bodyPr wrap="square" anchor="t"/>
          <a:lstStyle/>
          <a:p>
            <a:pPr algn="l"/>
            <a:r>
              <a:rPr sz="1100" b="1" i="0">
                <a:solidFill>
                  <a:srgbClr val="E06C75"/>
                </a:solidFill>
                <a:latin typeface="Calibri"/>
              </a:rPr>
              <a:t>RED: likely error</a:t>
            </a:r>
          </a:p>
        </p:txBody>
      </p:sp>
      <p:pic>
        <p:nvPicPr>
          <p:cNvPr id="9" name="Picture 8" descr="WhiteLogo.jpeg"/>
          <p:cNvPicPr>
            <a:picLocks noChangeAspect="1"/>
          </p:cNvPicPr>
          <p:nvPr/>
        </p:nvPicPr>
        <p:blipFill>
          <a:blip r:embed="rId3"/>
          <a:stretch>
            <a:fillRect/>
          </a:stretch>
        </p:blipFill>
        <p:spPr>
          <a:xfrm>
            <a:off x="11323320" y="6428232"/>
            <a:ext cx="269634" cy="320040"/>
          </a:xfrm>
          <a:prstGeom prst="rect">
            <a:avLst/>
          </a:prstGeom>
        </p:spPr>
      </p:pic>
      <p:sp>
        <p:nvSpPr>
          <p:cNvPr id="10" name="TextBox 9"/>
          <p:cNvSpPr txBox="1"/>
          <p:nvPr/>
        </p:nvSpPr>
        <p:spPr>
          <a:xfrm>
            <a:off x="548640" y="6510528"/>
            <a:ext cx="457200" cy="228600"/>
          </a:xfrm>
          <a:prstGeom prst="rect">
            <a:avLst/>
          </a:prstGeom>
          <a:noFill/>
        </p:spPr>
        <p:txBody>
          <a:bodyPr wrap="none">
            <a:spAutoFit/>
          </a:bodyPr>
          <a:lstStyle/>
          <a:p>
            <a:r>
              <a:rPr sz="900" b="0" i="0">
                <a:solidFill>
                  <a:srgbClr val="666666"/>
                </a:solidFill>
                <a:latin typeface="Calibri"/>
              </a:rPr>
              <a:t>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0D1B2A"/>
        </a:solidFill>
        <a:effectLst/>
      </p:bgPr>
    </p:bg>
    <p:spTree>
      <p:nvGrpSpPr>
        <p:cNvPr id="1" name=""/>
        <p:cNvGrpSpPr/>
        <p:nvPr/>
      </p:nvGrpSpPr>
      <p:grpSpPr/>
      <p:sp>
        <p:nvSpPr>
          <p:cNvPr id="2" name="TextBox 1"/>
          <p:cNvSpPr txBox="1"/>
          <p:nvPr/>
        </p:nvSpPr>
        <p:spPr>
          <a:xfrm>
            <a:off x="548640" y="365760"/>
            <a:ext cx="11091672" cy="685800"/>
          </a:xfrm>
          <a:prstGeom prst="rect">
            <a:avLst/>
          </a:prstGeom>
          <a:noFill/>
        </p:spPr>
        <p:txBody>
          <a:bodyPr wrap="square">
            <a:spAutoFit/>
          </a:bodyPr>
          <a:lstStyle/>
          <a:p>
            <a:r>
              <a:rPr sz="3200" b="1" i="0">
                <a:solidFill>
                  <a:srgbClr val="FFFFFF"/>
                </a:solidFill>
                <a:latin typeface="Calibri"/>
              </a:rPr>
              <a:t>Higher confidence → lower error, every time</a:t>
            </a:r>
          </a:p>
        </p:txBody>
      </p:sp>
      <p:sp>
        <p:nvSpPr>
          <p:cNvPr id="3" name="Rectangle 2"/>
          <p:cNvSpPr/>
          <p:nvPr/>
        </p:nvSpPr>
        <p:spPr>
          <a:xfrm>
            <a:off x="548640" y="1097280"/>
            <a:ext cx="11091672" cy="1905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is_confidence_gate.png"/>
          <p:cNvPicPr>
            <a:picLocks noChangeAspect="1"/>
          </p:cNvPicPr>
          <p:nvPr/>
        </p:nvPicPr>
        <p:blipFill>
          <a:blip r:embed="rId2"/>
          <a:stretch>
            <a:fillRect/>
          </a:stretch>
        </p:blipFill>
        <p:spPr>
          <a:xfrm>
            <a:off x="1162512" y="1417320"/>
            <a:ext cx="9866976" cy="4297680"/>
          </a:xfrm>
          <a:prstGeom prst="rect">
            <a:avLst/>
          </a:prstGeom>
        </p:spPr>
      </p:pic>
      <p:sp>
        <p:nvSpPr>
          <p:cNvPr id="5" name="TextBox 4"/>
          <p:cNvSpPr txBox="1"/>
          <p:nvPr/>
        </p:nvSpPr>
        <p:spPr>
          <a:xfrm>
            <a:off x="548640" y="6035040"/>
            <a:ext cx="11091672" cy="457200"/>
          </a:xfrm>
          <a:prstGeom prst="rect">
            <a:avLst/>
          </a:prstGeom>
          <a:noFill/>
        </p:spPr>
        <p:txBody>
          <a:bodyPr wrap="square" anchor="t"/>
          <a:lstStyle/>
          <a:p>
            <a:pPr algn="ctr"/>
            <a:r>
              <a:rPr sz="1300" b="0" i="1">
                <a:solidFill>
                  <a:srgbClr val="00B4D8"/>
                </a:solidFill>
                <a:latin typeface="Calibri"/>
              </a:rPr>
              <a:t>When the system rates a segment "clearly conveyed," it really is — 100% precision across 1,497 real-world segments.</a:t>
            </a:r>
          </a:p>
        </p:txBody>
      </p:sp>
      <p:pic>
        <p:nvPicPr>
          <p:cNvPr id="6" name="Picture 5" descr="WhiteLogo.jpeg"/>
          <p:cNvPicPr>
            <a:picLocks noChangeAspect="1"/>
          </p:cNvPicPr>
          <p:nvPr/>
        </p:nvPicPr>
        <p:blipFill>
          <a:blip r:embed="rId3"/>
          <a:stretch>
            <a:fillRect/>
          </a:stretch>
        </p:blipFill>
        <p:spPr>
          <a:xfrm>
            <a:off x="11323320" y="6428232"/>
            <a:ext cx="269634" cy="320040"/>
          </a:xfrm>
          <a:prstGeom prst="rect">
            <a:avLst/>
          </a:prstGeom>
        </p:spPr>
      </p:pic>
      <p:sp>
        <p:nvSpPr>
          <p:cNvPr id="7" name="TextBox 6"/>
          <p:cNvSpPr txBox="1"/>
          <p:nvPr/>
        </p:nvSpPr>
        <p:spPr>
          <a:xfrm>
            <a:off x="548640" y="6510528"/>
            <a:ext cx="457200" cy="228600"/>
          </a:xfrm>
          <a:prstGeom prst="rect">
            <a:avLst/>
          </a:prstGeom>
          <a:noFill/>
        </p:spPr>
        <p:txBody>
          <a:bodyPr wrap="none">
            <a:spAutoFit/>
          </a:bodyPr>
          <a:lstStyle/>
          <a:p>
            <a:r>
              <a:rPr sz="900" b="0" i="0">
                <a:solidFill>
                  <a:srgbClr val="666666"/>
                </a:solidFill>
                <a:latin typeface="Calibri"/>
              </a:rPr>
              <a:t>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0D1B2A"/>
        </a:solidFill>
        <a:effectLst/>
      </p:bgPr>
    </p:bg>
    <p:spTree>
      <p:nvGrpSpPr>
        <p:cNvPr id="1" name=""/>
        <p:cNvGrpSpPr/>
        <p:nvPr/>
      </p:nvGrpSpPr>
      <p:grpSpPr/>
      <p:sp>
        <p:nvSpPr>
          <p:cNvPr id="2" name="TextBox 1"/>
          <p:cNvSpPr txBox="1"/>
          <p:nvPr/>
        </p:nvSpPr>
        <p:spPr>
          <a:xfrm>
            <a:off x="548640" y="365760"/>
            <a:ext cx="11091672" cy="685800"/>
          </a:xfrm>
          <a:prstGeom prst="rect">
            <a:avLst/>
          </a:prstGeom>
          <a:noFill/>
        </p:spPr>
        <p:txBody>
          <a:bodyPr wrap="square">
            <a:spAutoFit/>
          </a:bodyPr>
          <a:lstStyle/>
          <a:p>
            <a:r>
              <a:rPr sz="3200" b="1" i="0">
                <a:solidFill>
                  <a:srgbClr val="FFFFFF"/>
                </a:solidFill>
                <a:latin typeface="Calibri"/>
              </a:rPr>
              <a:t>62% useful — on real-world video, not benchmark data</a:t>
            </a:r>
          </a:p>
        </p:txBody>
      </p:sp>
      <p:sp>
        <p:nvSpPr>
          <p:cNvPr id="3" name="Rectangle 2"/>
          <p:cNvSpPr/>
          <p:nvPr/>
        </p:nvSpPr>
        <p:spPr>
          <a:xfrm>
            <a:off x="548640" y="1097280"/>
            <a:ext cx="11091672" cy="1905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48640" y="1554480"/>
            <a:ext cx="5303520" cy="4297680"/>
          </a:xfrm>
          <a:prstGeom prst="rect">
            <a:avLst/>
          </a:prstGeom>
          <a:solidFill>
            <a:srgbClr val="152A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783080"/>
            <a:ext cx="5303520" cy="2011680"/>
          </a:xfrm>
          <a:prstGeom prst="rect">
            <a:avLst/>
          </a:prstGeom>
          <a:noFill/>
        </p:spPr>
        <p:txBody>
          <a:bodyPr wrap="square" anchor="t"/>
          <a:lstStyle/>
          <a:p>
            <a:pPr algn="ctr"/>
            <a:r>
              <a:rPr sz="14000" b="1" i="0">
                <a:solidFill>
                  <a:srgbClr val="4CAF50"/>
                </a:solidFill>
                <a:latin typeface="Calibri"/>
              </a:rPr>
              <a:t>62%</a:t>
            </a:r>
          </a:p>
        </p:txBody>
      </p:sp>
      <p:sp>
        <p:nvSpPr>
          <p:cNvPr id="6" name="TextBox 5"/>
          <p:cNvSpPr txBox="1"/>
          <p:nvPr/>
        </p:nvSpPr>
        <p:spPr>
          <a:xfrm>
            <a:off x="822960" y="4023360"/>
            <a:ext cx="4754880" cy="548640"/>
          </a:xfrm>
          <a:prstGeom prst="rect">
            <a:avLst/>
          </a:prstGeom>
          <a:noFill/>
        </p:spPr>
        <p:txBody>
          <a:bodyPr wrap="square" anchor="t"/>
          <a:lstStyle/>
          <a:p>
            <a:pPr algn="ctr"/>
            <a:r>
              <a:rPr sz="1700" b="1" i="0">
                <a:solidFill>
                  <a:srgbClr val="FFFFFF"/>
                </a:solidFill>
                <a:latin typeface="Calibri"/>
              </a:rPr>
              <a:t>of segments deliver useful output today</a:t>
            </a:r>
          </a:p>
        </p:txBody>
      </p:sp>
      <p:sp>
        <p:nvSpPr>
          <p:cNvPr id="7" name="TextBox 6"/>
          <p:cNvSpPr txBox="1"/>
          <p:nvPr/>
        </p:nvSpPr>
        <p:spPr>
          <a:xfrm>
            <a:off x="822960" y="4617720"/>
            <a:ext cx="4754880" cy="457200"/>
          </a:xfrm>
          <a:prstGeom prst="rect">
            <a:avLst/>
          </a:prstGeom>
          <a:noFill/>
        </p:spPr>
        <p:txBody>
          <a:bodyPr wrap="square" anchor="t"/>
          <a:lstStyle/>
          <a:p>
            <a:pPr algn="ctr"/>
            <a:r>
              <a:rPr sz="1200" b="0" i="1">
                <a:solidFill>
                  <a:srgbClr val="AAAAAA"/>
                </a:solidFill>
                <a:latin typeface="Calibri"/>
              </a:rPr>
              <a:t>Measured on 1,497 segments of unfiltered real-world video</a:t>
            </a:r>
          </a:p>
        </p:txBody>
      </p:sp>
      <p:sp>
        <p:nvSpPr>
          <p:cNvPr id="8" name="Rectangle 7"/>
          <p:cNvSpPr/>
          <p:nvPr/>
        </p:nvSpPr>
        <p:spPr>
          <a:xfrm>
            <a:off x="6217920" y="1554480"/>
            <a:ext cx="5422392" cy="4297680"/>
          </a:xfrm>
          <a:prstGeom prst="rect">
            <a:avLst/>
          </a:prstGeom>
          <a:solidFill>
            <a:srgbClr val="152A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92240" y="1691640"/>
            <a:ext cx="4873752" cy="365760"/>
          </a:xfrm>
          <a:prstGeom prst="rect">
            <a:avLst/>
          </a:prstGeom>
          <a:noFill/>
        </p:spPr>
        <p:txBody>
          <a:bodyPr wrap="square" anchor="t"/>
          <a:lstStyle/>
          <a:p>
            <a:pPr algn="l"/>
            <a:r>
              <a:rPr sz="1300" b="1" i="0">
                <a:solidFill>
                  <a:srgbClr val="E06C75"/>
                </a:solidFill>
                <a:latin typeface="Calibri"/>
              </a:rPr>
              <a:t>WHAT THAT 62% IS UP AGAINST</a:t>
            </a:r>
          </a:p>
        </p:txBody>
      </p:sp>
      <p:sp>
        <p:nvSpPr>
          <p:cNvPr id="10" name="TextBox 9"/>
          <p:cNvSpPr txBox="1"/>
          <p:nvPr/>
        </p:nvSpPr>
        <p:spPr>
          <a:xfrm>
            <a:off x="6492240" y="2240280"/>
            <a:ext cx="4873752" cy="3200400"/>
          </a:xfrm>
          <a:prstGeom prst="rect">
            <a:avLst/>
          </a:prstGeom>
          <a:noFill/>
        </p:spPr>
        <p:txBody>
          <a:bodyPr wrap="square">
            <a:spAutoFit/>
          </a:bodyPr>
          <a:lstStyle/>
          <a:p>
            <a:pPr algn="l">
              <a:spcAft>
                <a:spcPts val="600"/>
              </a:spcAft>
            </a:pPr>
            <a:r>
              <a:rPr sz="1500" b="1">
                <a:solidFill>
                  <a:srgbClr val="00B4D8"/>
                </a:solidFill>
                <a:latin typeface="Calibri"/>
              </a:rPr>
              <a:t>• </a:t>
            </a:r>
            <a:r>
              <a:rPr sz="1500" b="0">
                <a:solidFill>
                  <a:srgbClr val="FFFFFF"/>
                </a:solidFill>
                <a:latin typeface="Calibri"/>
              </a:rPr>
              <a:t>Real YouTube footage — not a curated benchmark dataset</a:t>
            </a:r>
          </a:p>
          <a:p>
            <a:pPr algn="l">
              <a:spcAft>
                <a:spcPts val="600"/>
              </a:spcAft>
            </a:pPr>
            <a:r>
              <a:rPr sz="1500" b="1">
                <a:solidFill>
                  <a:srgbClr val="00B4D8"/>
                </a:solidFill>
                <a:latin typeface="Calibri"/>
              </a:rPr>
              <a:t>• </a:t>
            </a:r>
            <a:r>
              <a:rPr sz="1500" b="0">
                <a:solidFill>
                  <a:srgbClr val="FFFFFF"/>
                </a:solidFill>
                <a:latin typeface="Calibri"/>
              </a:rPr>
              <a:t>Varied lighting, head angles, and camera distances</a:t>
            </a:r>
          </a:p>
          <a:p>
            <a:pPr algn="l">
              <a:spcAft>
                <a:spcPts val="600"/>
              </a:spcAft>
            </a:pPr>
            <a:r>
              <a:rPr sz="1500" b="1">
                <a:solidFill>
                  <a:srgbClr val="00B4D8"/>
                </a:solidFill>
                <a:latin typeface="Calibri"/>
              </a:rPr>
              <a:t>• </a:t>
            </a:r>
            <a:r>
              <a:rPr sz="1500" b="0">
                <a:solidFill>
                  <a:srgbClr val="FFFFFF"/>
                </a:solidFill>
                <a:latin typeface="Calibri"/>
              </a:rPr>
              <a:t>Multi-speaker scenes, off-axis faces, partial occlusion</a:t>
            </a:r>
          </a:p>
          <a:p>
            <a:pPr algn="l">
              <a:spcAft>
                <a:spcPts val="600"/>
              </a:spcAft>
            </a:pPr>
            <a:r>
              <a:rPr sz="1500" b="1">
                <a:solidFill>
                  <a:srgbClr val="00B4D8"/>
                </a:solidFill>
                <a:latin typeface="Calibri"/>
              </a:rPr>
              <a:t>• </a:t>
            </a:r>
            <a:r>
              <a:rPr sz="1500" b="0">
                <a:solidFill>
                  <a:srgbClr val="FFFFFF"/>
                </a:solidFill>
                <a:latin typeface="Calibri"/>
              </a:rPr>
              <a:t>Domain vocabulary the model has never seen</a:t>
            </a:r>
          </a:p>
          <a:p>
            <a:pPr algn="l">
              <a:spcAft>
                <a:spcPts val="600"/>
              </a:spcAft>
            </a:pPr>
            <a:r>
              <a:rPr sz="1500" b="1">
                <a:solidFill>
                  <a:srgbClr val="00B4D8"/>
                </a:solidFill>
                <a:latin typeface="Calibri"/>
              </a:rPr>
              <a:t>• </a:t>
            </a:r>
            <a:r>
              <a:rPr sz="1500" b="0">
                <a:solidFill>
                  <a:srgbClr val="FFFFFF"/>
                </a:solidFill>
                <a:latin typeface="Calibri"/>
              </a:rPr>
              <a:t>No pre-filtering — the system processes whatever was uploaded</a:t>
            </a:r>
          </a:p>
        </p:txBody>
      </p:sp>
      <p:sp>
        <p:nvSpPr>
          <p:cNvPr id="11" name="TextBox 10"/>
          <p:cNvSpPr txBox="1"/>
          <p:nvPr/>
        </p:nvSpPr>
        <p:spPr>
          <a:xfrm>
            <a:off x="548640" y="5989320"/>
            <a:ext cx="11091672" cy="411480"/>
          </a:xfrm>
          <a:prstGeom prst="rect">
            <a:avLst/>
          </a:prstGeom>
          <a:noFill/>
        </p:spPr>
        <p:txBody>
          <a:bodyPr wrap="square" anchor="t"/>
          <a:lstStyle/>
          <a:p>
            <a:pPr algn="ctr"/>
            <a:r>
              <a:rPr sz="1100" b="0" i="1">
                <a:solidFill>
                  <a:srgbClr val="00B4D8"/>
                </a:solidFill>
                <a:latin typeface="Calibri"/>
              </a:rPr>
              <a:t>On segments the system flags as high-confidence, performance lifts further — we'll measure that conditional rate in the next iteration.</a:t>
            </a:r>
          </a:p>
        </p:txBody>
      </p:sp>
      <p:pic>
        <p:nvPicPr>
          <p:cNvPr id="12" name="Picture 11" descr="WhiteLogo.jpeg"/>
          <p:cNvPicPr>
            <a:picLocks noChangeAspect="1"/>
          </p:cNvPicPr>
          <p:nvPr/>
        </p:nvPicPr>
        <p:blipFill>
          <a:blip r:embed="rId2"/>
          <a:stretch>
            <a:fillRect/>
          </a:stretch>
        </p:blipFill>
        <p:spPr>
          <a:xfrm>
            <a:off x="11323320" y="6428232"/>
            <a:ext cx="269634" cy="320040"/>
          </a:xfrm>
          <a:prstGeom prst="rect">
            <a:avLst/>
          </a:prstGeom>
        </p:spPr>
      </p:pic>
      <p:sp>
        <p:nvSpPr>
          <p:cNvPr id="13" name="TextBox 12"/>
          <p:cNvSpPr txBox="1"/>
          <p:nvPr/>
        </p:nvSpPr>
        <p:spPr>
          <a:xfrm>
            <a:off x="548640" y="6510528"/>
            <a:ext cx="457200" cy="228600"/>
          </a:xfrm>
          <a:prstGeom prst="rect">
            <a:avLst/>
          </a:prstGeom>
          <a:noFill/>
        </p:spPr>
        <p:txBody>
          <a:bodyPr wrap="none">
            <a:spAutoFit/>
          </a:bodyPr>
          <a:lstStyle/>
          <a:p>
            <a:r>
              <a:rPr sz="900" b="0" i="0">
                <a:solidFill>
                  <a:srgbClr val="666666"/>
                </a:solidFill>
                <a:latin typeface="Calibri"/>
              </a:rPr>
              <a:t>21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0D1B2A"/>
        </a:solidFill>
        <a:effectLst/>
      </p:bgPr>
    </p:bg>
    <p:spTree>
      <p:nvGrpSpPr>
        <p:cNvPr id="1" name=""/>
        <p:cNvGrpSpPr/>
        <p:nvPr/>
      </p:nvGrpSpPr>
      <p:grpSpPr/>
      <p:sp>
        <p:nvSpPr>
          <p:cNvPr id="2" name="TextBox 1"/>
          <p:cNvSpPr txBox="1"/>
          <p:nvPr/>
        </p:nvSpPr>
        <p:spPr>
          <a:xfrm>
            <a:off x="548640" y="365760"/>
            <a:ext cx="11091672" cy="685800"/>
          </a:xfrm>
          <a:prstGeom prst="rect">
            <a:avLst/>
          </a:prstGeom>
          <a:noFill/>
        </p:spPr>
        <p:txBody>
          <a:bodyPr wrap="square">
            <a:spAutoFit/>
          </a:bodyPr>
          <a:lstStyle/>
          <a:p>
            <a:r>
              <a:rPr sz="3200" b="1" i="0">
                <a:solidFill>
                  <a:srgbClr val="FFFFFF"/>
                </a:solidFill>
                <a:latin typeface="Calibri"/>
              </a:rPr>
              <a:t>When the model fabricates, the system flags it</a:t>
            </a:r>
          </a:p>
        </p:txBody>
      </p:sp>
      <p:sp>
        <p:nvSpPr>
          <p:cNvPr id="3" name="Rectangle 2"/>
          <p:cNvSpPr/>
          <p:nvPr/>
        </p:nvSpPr>
        <p:spPr>
          <a:xfrm>
            <a:off x="548640" y="1097280"/>
            <a:ext cx="11091672" cy="1905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737360"/>
            <a:ext cx="4572000" cy="1828800"/>
          </a:xfrm>
          <a:prstGeom prst="rect">
            <a:avLst/>
          </a:prstGeom>
          <a:noFill/>
        </p:spPr>
        <p:txBody>
          <a:bodyPr wrap="square" anchor="t"/>
          <a:lstStyle/>
          <a:p>
            <a:pPr algn="ctr"/>
            <a:r>
              <a:rPr sz="9600" b="1" i="0">
                <a:solidFill>
                  <a:srgbClr val="E06C75"/>
                </a:solidFill>
                <a:latin typeface="Calibri"/>
              </a:rPr>
              <a:t>1 in 5</a:t>
            </a:r>
          </a:p>
        </p:txBody>
      </p:sp>
      <p:sp>
        <p:nvSpPr>
          <p:cNvPr id="5" name="TextBox 4"/>
          <p:cNvSpPr txBox="1"/>
          <p:nvPr/>
        </p:nvSpPr>
        <p:spPr>
          <a:xfrm>
            <a:off x="548640" y="3657600"/>
            <a:ext cx="4572000" cy="457200"/>
          </a:xfrm>
          <a:prstGeom prst="rect">
            <a:avLst/>
          </a:prstGeom>
          <a:noFill/>
        </p:spPr>
        <p:txBody>
          <a:bodyPr wrap="square" anchor="t"/>
          <a:lstStyle/>
          <a:p>
            <a:pPr algn="ctr"/>
            <a:r>
              <a:rPr sz="1800" b="1" i="0">
                <a:solidFill>
                  <a:srgbClr val="FFFFFF"/>
                </a:solidFill>
                <a:latin typeface="Calibri"/>
              </a:rPr>
              <a:t>segments auto-flagged</a:t>
            </a:r>
          </a:p>
        </p:txBody>
      </p:sp>
      <p:sp>
        <p:nvSpPr>
          <p:cNvPr id="6" name="TextBox 5"/>
          <p:cNvSpPr txBox="1"/>
          <p:nvPr/>
        </p:nvSpPr>
        <p:spPr>
          <a:xfrm>
            <a:off x="548640" y="4114800"/>
            <a:ext cx="4572000" cy="365760"/>
          </a:xfrm>
          <a:prstGeom prst="rect">
            <a:avLst/>
          </a:prstGeom>
          <a:noFill/>
        </p:spPr>
        <p:txBody>
          <a:bodyPr wrap="square" anchor="t"/>
          <a:lstStyle/>
          <a:p>
            <a:pPr algn="ctr"/>
            <a:r>
              <a:rPr sz="1400" b="0" i="1">
                <a:solidFill>
                  <a:srgbClr val="AAAAAA"/>
                </a:solidFill>
                <a:latin typeface="Calibri"/>
              </a:rPr>
              <a:t>before they ever reach you</a:t>
            </a:r>
          </a:p>
        </p:txBody>
      </p:sp>
      <p:sp>
        <p:nvSpPr>
          <p:cNvPr id="7" name="TextBox 6"/>
          <p:cNvSpPr txBox="1"/>
          <p:nvPr/>
        </p:nvSpPr>
        <p:spPr>
          <a:xfrm>
            <a:off x="5394960" y="1828800"/>
            <a:ext cx="6400800" cy="3657600"/>
          </a:xfrm>
          <a:prstGeom prst="rect">
            <a:avLst/>
          </a:prstGeom>
          <a:noFill/>
        </p:spPr>
        <p:txBody>
          <a:bodyPr wrap="square">
            <a:spAutoFit/>
          </a:bodyPr>
          <a:lstStyle/>
          <a:p>
            <a:pPr algn="l">
              <a:spcAft>
                <a:spcPts val="600"/>
              </a:spcAft>
            </a:pPr>
            <a:r>
              <a:rPr sz="1500" b="1">
                <a:solidFill>
                  <a:srgbClr val="00B4D8"/>
                </a:solidFill>
                <a:latin typeface="Calibri"/>
              </a:rPr>
              <a:t>• </a:t>
            </a:r>
            <a:r>
              <a:rPr sz="1500" b="0">
                <a:solidFill>
                  <a:srgbClr val="FFFFFF"/>
                </a:solidFill>
                <a:latin typeface="Calibri"/>
              </a:rPr>
              <a:t>When the model produces fluent text it isn't sure about, we catch it</a:t>
            </a:r>
          </a:p>
          <a:p>
            <a:pPr algn="l">
              <a:spcAft>
                <a:spcPts val="600"/>
              </a:spcAft>
            </a:pPr>
            <a:r>
              <a:rPr sz="1500" b="1">
                <a:solidFill>
                  <a:srgbClr val="00B4D8"/>
                </a:solidFill>
                <a:latin typeface="Calibri"/>
              </a:rPr>
              <a:t>• </a:t>
            </a:r>
            <a:r>
              <a:rPr sz="1500" b="0">
                <a:solidFill>
                  <a:srgbClr val="FFFFFF"/>
                </a:solidFill>
                <a:latin typeface="Calibri"/>
              </a:rPr>
              <a:t>Detection rules combine length anomalies and per-token confidence</a:t>
            </a:r>
          </a:p>
          <a:p>
            <a:pPr algn="l">
              <a:spcAft>
                <a:spcPts val="600"/>
              </a:spcAft>
            </a:pPr>
            <a:r>
              <a:rPr sz="1500" b="1">
                <a:solidFill>
                  <a:srgbClr val="00B4D8"/>
                </a:solidFill>
                <a:latin typeface="Calibri"/>
              </a:rPr>
              <a:t>• </a:t>
            </a:r>
            <a:r>
              <a:rPr sz="1500" b="0">
                <a:solidFill>
                  <a:srgbClr val="FFFFFF"/>
                </a:solidFill>
                <a:latin typeface="Calibri"/>
              </a:rPr>
              <a:t>These are the dangerous failures — fluent but wrong</a:t>
            </a:r>
          </a:p>
          <a:p>
            <a:pPr algn="l">
              <a:spcAft>
                <a:spcPts val="600"/>
              </a:spcAft>
            </a:pPr>
            <a:r>
              <a:rPr sz="1500" b="1">
                <a:solidFill>
                  <a:srgbClr val="00B4D8"/>
                </a:solidFill>
                <a:latin typeface="Calibri"/>
              </a:rPr>
              <a:t>• </a:t>
            </a:r>
            <a:r>
              <a:rPr sz="1500" b="0">
                <a:solidFill>
                  <a:srgbClr val="FFFFFF"/>
                </a:solidFill>
                <a:latin typeface="Calibri"/>
              </a:rPr>
              <a:t>You don't have to find them. The system finds them for you.</a:t>
            </a:r>
          </a:p>
        </p:txBody>
      </p:sp>
      <p:sp>
        <p:nvSpPr>
          <p:cNvPr id="8" name="TextBox 7"/>
          <p:cNvSpPr txBox="1"/>
          <p:nvPr/>
        </p:nvSpPr>
        <p:spPr>
          <a:xfrm>
            <a:off x="548640" y="5989320"/>
            <a:ext cx="11091672" cy="365760"/>
          </a:xfrm>
          <a:prstGeom prst="rect">
            <a:avLst/>
          </a:prstGeom>
          <a:noFill/>
        </p:spPr>
        <p:txBody>
          <a:bodyPr wrap="square" anchor="t"/>
          <a:lstStyle/>
          <a:p>
            <a:pPr algn="ctr"/>
            <a:r>
              <a:rPr sz="1000" b="0" i="1">
                <a:solidFill>
                  <a:srgbClr val="666666"/>
                </a:solidFill>
                <a:latin typeface="Calibri"/>
              </a:rPr>
              <a:t>Detection combines length-anomaly rules with per-token confidence — the model can fabricate fluent text but it usually 'knows' it.</a:t>
            </a:r>
          </a:p>
        </p:txBody>
      </p:sp>
      <p:pic>
        <p:nvPicPr>
          <p:cNvPr id="9" name="Picture 8" descr="WhiteLogo.jpeg"/>
          <p:cNvPicPr>
            <a:picLocks noChangeAspect="1"/>
          </p:cNvPicPr>
          <p:nvPr/>
        </p:nvPicPr>
        <p:blipFill>
          <a:blip r:embed="rId2"/>
          <a:stretch>
            <a:fillRect/>
          </a:stretch>
        </p:blipFill>
        <p:spPr>
          <a:xfrm>
            <a:off x="11323320" y="6428232"/>
            <a:ext cx="269634" cy="320040"/>
          </a:xfrm>
          <a:prstGeom prst="rect">
            <a:avLst/>
          </a:prstGeom>
        </p:spPr>
      </p:pic>
      <p:sp>
        <p:nvSpPr>
          <p:cNvPr id="10" name="TextBox 9"/>
          <p:cNvSpPr txBox="1"/>
          <p:nvPr/>
        </p:nvSpPr>
        <p:spPr>
          <a:xfrm>
            <a:off x="548640" y="6510528"/>
            <a:ext cx="457200" cy="228600"/>
          </a:xfrm>
          <a:prstGeom prst="rect">
            <a:avLst/>
          </a:prstGeom>
          <a:noFill/>
        </p:spPr>
        <p:txBody>
          <a:bodyPr wrap="none">
            <a:spAutoFit/>
          </a:bodyPr>
          <a:lstStyle/>
          <a:p>
            <a:r>
              <a:rPr sz="900" b="0" i="0">
                <a:solidFill>
                  <a:srgbClr val="666666"/>
                </a:solidFill>
                <a:latin typeface="Calibri"/>
              </a:rPr>
              <a:t>22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0D1B2A"/>
        </a:solidFill>
        <a:effectLst/>
      </p:bgPr>
    </p:bg>
    <p:spTree>
      <p:nvGrpSpPr>
        <p:cNvPr id="1" name=""/>
        <p:cNvGrpSpPr/>
        <p:nvPr/>
      </p:nvGrpSpPr>
      <p:grpSpPr/>
      <p:sp>
        <p:nvSpPr>
          <p:cNvPr id="2" name="TextBox 1"/>
          <p:cNvSpPr txBox="1"/>
          <p:nvPr/>
        </p:nvSpPr>
        <p:spPr>
          <a:xfrm>
            <a:off x="548640" y="365760"/>
            <a:ext cx="11091672" cy="685800"/>
          </a:xfrm>
          <a:prstGeom prst="rect">
            <a:avLst/>
          </a:prstGeom>
          <a:noFill/>
        </p:spPr>
        <p:txBody>
          <a:bodyPr wrap="square">
            <a:spAutoFit/>
          </a:bodyPr>
          <a:lstStyle/>
          <a:p>
            <a:r>
              <a:rPr sz="3200" b="1" i="0">
                <a:solidFill>
                  <a:srgbClr val="FFFFFF"/>
                </a:solidFill>
                <a:latin typeface="Calibri"/>
              </a:rPr>
              <a:t>What this means for your workflow</a:t>
            </a:r>
          </a:p>
        </p:txBody>
      </p:sp>
      <p:sp>
        <p:nvSpPr>
          <p:cNvPr id="3" name="Rectangle 2"/>
          <p:cNvSpPr/>
          <p:nvPr/>
        </p:nvSpPr>
        <p:spPr>
          <a:xfrm>
            <a:off x="548640" y="1097280"/>
            <a:ext cx="11091672" cy="1905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737360"/>
            <a:ext cx="11091672" cy="4114800"/>
          </a:xfrm>
          <a:prstGeom prst="rect">
            <a:avLst/>
          </a:prstGeom>
          <a:noFill/>
        </p:spPr>
        <p:txBody>
          <a:bodyPr wrap="square">
            <a:spAutoFit/>
          </a:bodyPr>
          <a:lstStyle/>
          <a:p>
            <a:pPr algn="l">
              <a:spcAft>
                <a:spcPts val="600"/>
              </a:spcAft>
            </a:pPr>
            <a:r>
              <a:rPr sz="2000" b="1">
                <a:solidFill>
                  <a:srgbClr val="00B4D8"/>
                </a:solidFill>
                <a:latin typeface="Calibri"/>
              </a:rPr>
              <a:t>• </a:t>
            </a:r>
            <a:r>
              <a:rPr sz="2000" b="0">
                <a:solidFill>
                  <a:srgbClr val="FFFFFF"/>
                </a:solidFill>
                <a:latin typeface="Calibri"/>
              </a:rPr>
              <a:t>You review the flagged segments — not all of them. Hours saved per video.</a:t>
            </a:r>
          </a:p>
          <a:p>
            <a:pPr algn="l">
              <a:spcAft>
                <a:spcPts val="600"/>
              </a:spcAft>
            </a:pPr>
            <a:r>
              <a:rPr sz="2000" b="1">
                <a:solidFill>
                  <a:srgbClr val="00B4D8"/>
                </a:solidFill>
                <a:latin typeface="Calibri"/>
              </a:rPr>
              <a:t>• </a:t>
            </a:r>
            <a:r>
              <a:rPr sz="2000" b="0">
                <a:solidFill>
                  <a:srgbClr val="FFFFFF"/>
                </a:solidFill>
                <a:latin typeface="Calibri"/>
              </a:rPr>
              <a:t>Reviewers go straight to the suspicious words instead of skimming text.</a:t>
            </a:r>
          </a:p>
          <a:p>
            <a:pPr algn="l">
              <a:spcAft>
                <a:spcPts val="600"/>
              </a:spcAft>
            </a:pPr>
            <a:r>
              <a:rPr sz="2000" b="1">
                <a:solidFill>
                  <a:srgbClr val="00B4D8"/>
                </a:solidFill>
                <a:latin typeface="Calibri"/>
              </a:rPr>
              <a:t>• </a:t>
            </a:r>
            <a:r>
              <a:rPr sz="2000" b="0">
                <a:solidFill>
                  <a:srgbClr val="FFFFFF"/>
                </a:solidFill>
                <a:latin typeface="Calibri"/>
              </a:rPr>
              <a:t>Confidence is auditable — every claim has a number behind it.</a:t>
            </a:r>
          </a:p>
          <a:p>
            <a:pPr algn="l">
              <a:spcAft>
                <a:spcPts val="600"/>
              </a:spcAft>
            </a:pPr>
            <a:r>
              <a:rPr sz="2000" b="1">
                <a:solidFill>
                  <a:srgbClr val="00B4D8"/>
                </a:solidFill>
                <a:latin typeface="Calibri"/>
              </a:rPr>
              <a:t>• </a:t>
            </a:r>
            <a:r>
              <a:rPr sz="2000" b="0">
                <a:solidFill>
                  <a:srgbClr val="FFFFFF"/>
                </a:solidFill>
                <a:latin typeface="Calibri"/>
              </a:rPr>
              <a:t>Bad output is a known unknown, not a hidden surprise.</a:t>
            </a:r>
          </a:p>
        </p:txBody>
      </p:sp>
      <p:pic>
        <p:nvPicPr>
          <p:cNvPr id="5" name="Picture 4" descr="WhiteLogo.jpeg"/>
          <p:cNvPicPr>
            <a:picLocks noChangeAspect="1"/>
          </p:cNvPicPr>
          <p:nvPr/>
        </p:nvPicPr>
        <p:blipFill>
          <a:blip r:embed="rId2"/>
          <a:stretch>
            <a:fillRect/>
          </a:stretch>
        </p:blipFill>
        <p:spPr>
          <a:xfrm>
            <a:off x="11323320" y="6428232"/>
            <a:ext cx="269634" cy="320040"/>
          </a:xfrm>
          <a:prstGeom prst="rect">
            <a:avLst/>
          </a:prstGeom>
        </p:spPr>
      </p:pic>
      <p:sp>
        <p:nvSpPr>
          <p:cNvPr id="6" name="TextBox 5"/>
          <p:cNvSpPr txBox="1"/>
          <p:nvPr/>
        </p:nvSpPr>
        <p:spPr>
          <a:xfrm>
            <a:off x="548640" y="6510528"/>
            <a:ext cx="457200" cy="228600"/>
          </a:xfrm>
          <a:prstGeom prst="rect">
            <a:avLst/>
          </a:prstGeom>
          <a:noFill/>
        </p:spPr>
        <p:txBody>
          <a:bodyPr wrap="none">
            <a:spAutoFit/>
          </a:bodyPr>
          <a:lstStyle/>
          <a:p>
            <a:r>
              <a:rPr sz="900" b="0" i="0">
                <a:solidFill>
                  <a:srgbClr val="666666"/>
                </a:solidFill>
                <a:latin typeface="Calibri"/>
              </a:rPr>
              <a:t>23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0D1B2A"/>
        </a:solidFill>
        <a:effectLst/>
      </p:bgPr>
    </p:bg>
    <p:spTree>
      <p:nvGrpSpPr>
        <p:cNvPr id="1" name=""/>
        <p:cNvGrpSpPr/>
        <p:nvPr/>
      </p:nvGrpSpPr>
      <p:grpSpPr/>
      <p:sp>
        <p:nvSpPr>
          <p:cNvPr id="2" name="TextBox 1"/>
          <p:cNvSpPr txBox="1"/>
          <p:nvPr/>
        </p:nvSpPr>
        <p:spPr>
          <a:xfrm>
            <a:off x="548640" y="2560320"/>
            <a:ext cx="11091672" cy="914400"/>
          </a:xfrm>
          <a:prstGeom prst="rect">
            <a:avLst/>
          </a:prstGeom>
          <a:noFill/>
        </p:spPr>
        <p:txBody>
          <a:bodyPr wrap="square" anchor="t"/>
          <a:lstStyle/>
          <a:p>
            <a:pPr algn="ctr"/>
            <a:r>
              <a:rPr sz="4400" b="1" i="0">
                <a:solidFill>
                  <a:srgbClr val="00B4D8"/>
                </a:solidFill>
                <a:latin typeface="Calibri"/>
              </a:rPr>
              <a:t>VALIDATION</a:t>
            </a:r>
          </a:p>
        </p:txBody>
      </p:sp>
      <p:sp>
        <p:nvSpPr>
          <p:cNvPr id="3" name="TextBox 2"/>
          <p:cNvSpPr txBox="1"/>
          <p:nvPr/>
        </p:nvSpPr>
        <p:spPr>
          <a:xfrm>
            <a:off x="548640" y="3566160"/>
            <a:ext cx="11091672" cy="731520"/>
          </a:xfrm>
          <a:prstGeom prst="rect">
            <a:avLst/>
          </a:prstGeom>
          <a:noFill/>
        </p:spPr>
        <p:txBody>
          <a:bodyPr wrap="square" anchor="t"/>
          <a:lstStyle/>
          <a:p>
            <a:pPr algn="ctr"/>
            <a:r>
              <a:rPr sz="2000" b="0" i="1">
                <a:solidFill>
                  <a:srgbClr val="AAAAAA"/>
                </a:solidFill>
                <a:latin typeface="Calibri"/>
              </a:rPr>
              <a:t>An independent expert agreed in 8 of 10 cases</a:t>
            </a:r>
          </a:p>
        </p:txBody>
      </p:sp>
      <p:pic>
        <p:nvPicPr>
          <p:cNvPr id="4" name="Picture 3" descr="WhiteLogo.jpeg"/>
          <p:cNvPicPr>
            <a:picLocks noChangeAspect="1"/>
          </p:cNvPicPr>
          <p:nvPr/>
        </p:nvPicPr>
        <p:blipFill>
          <a:blip r:embed="rId2"/>
          <a:stretch>
            <a:fillRect/>
          </a:stretch>
        </p:blipFill>
        <p:spPr>
          <a:xfrm>
            <a:off x="11323320" y="6428232"/>
            <a:ext cx="269634" cy="320040"/>
          </a:xfrm>
          <a:prstGeom prst="rect">
            <a:avLst/>
          </a:prstGeom>
        </p:spPr>
      </p:pic>
      <p:sp>
        <p:nvSpPr>
          <p:cNvPr id="5" name="TextBox 4"/>
          <p:cNvSpPr txBox="1"/>
          <p:nvPr/>
        </p:nvSpPr>
        <p:spPr>
          <a:xfrm>
            <a:off x="548640" y="6510528"/>
            <a:ext cx="457200" cy="228600"/>
          </a:xfrm>
          <a:prstGeom prst="rect">
            <a:avLst/>
          </a:prstGeom>
          <a:noFill/>
        </p:spPr>
        <p:txBody>
          <a:bodyPr wrap="none">
            <a:spAutoFit/>
          </a:bodyPr>
          <a:lstStyle/>
          <a:p>
            <a:r>
              <a:rPr sz="900" b="0" i="0">
                <a:solidFill>
                  <a:srgbClr val="666666"/>
                </a:solidFill>
                <a:latin typeface="Calibri"/>
              </a:rPr>
              <a:t>24</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0D1B2A"/>
        </a:solidFill>
        <a:effectLst/>
      </p:bgPr>
    </p:bg>
    <p:spTree>
      <p:nvGrpSpPr>
        <p:cNvPr id="1" name=""/>
        <p:cNvGrpSpPr/>
        <p:nvPr/>
      </p:nvGrpSpPr>
      <p:grpSpPr/>
      <p:sp>
        <p:nvSpPr>
          <p:cNvPr id="2" name="TextBox 1"/>
          <p:cNvSpPr txBox="1"/>
          <p:nvPr/>
        </p:nvSpPr>
        <p:spPr>
          <a:xfrm>
            <a:off x="548640" y="365760"/>
            <a:ext cx="11091672" cy="685800"/>
          </a:xfrm>
          <a:prstGeom prst="rect">
            <a:avLst/>
          </a:prstGeom>
          <a:noFill/>
        </p:spPr>
        <p:txBody>
          <a:bodyPr wrap="square">
            <a:spAutoFit/>
          </a:bodyPr>
          <a:lstStyle/>
          <a:p>
            <a:r>
              <a:rPr sz="3200" b="1" i="0">
                <a:solidFill>
                  <a:srgbClr val="FFFFFF"/>
                </a:solidFill>
                <a:latin typeface="Calibri"/>
              </a:rPr>
              <a:t>How we validated the trust signals</a:t>
            </a:r>
          </a:p>
        </p:txBody>
      </p:sp>
      <p:sp>
        <p:nvSpPr>
          <p:cNvPr id="3" name="Rectangle 2"/>
          <p:cNvSpPr/>
          <p:nvPr/>
        </p:nvSpPr>
        <p:spPr>
          <a:xfrm>
            <a:off x="548640" y="1097280"/>
            <a:ext cx="11091672" cy="1905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737360"/>
            <a:ext cx="11091672" cy="3657600"/>
          </a:xfrm>
          <a:prstGeom prst="rect">
            <a:avLst/>
          </a:prstGeom>
          <a:noFill/>
        </p:spPr>
        <p:txBody>
          <a:bodyPr wrap="square">
            <a:spAutoFit/>
          </a:bodyPr>
          <a:lstStyle/>
          <a:p>
            <a:pPr algn="l">
              <a:spcAft>
                <a:spcPts val="600"/>
              </a:spcAft>
            </a:pPr>
            <a:r>
              <a:rPr sz="2000" b="1">
                <a:solidFill>
                  <a:srgbClr val="00B4D8"/>
                </a:solidFill>
                <a:latin typeface="Calibri"/>
              </a:rPr>
              <a:t>• </a:t>
            </a:r>
            <a:r>
              <a:rPr sz="2000" b="0">
                <a:solidFill>
                  <a:srgbClr val="FFFFFF"/>
                </a:solidFill>
                <a:latin typeface="Calibri"/>
              </a:rPr>
              <a:t>1,497 real-world segments — not benchmark data</a:t>
            </a:r>
          </a:p>
          <a:p>
            <a:pPr algn="l">
              <a:spcAft>
                <a:spcPts val="600"/>
              </a:spcAft>
            </a:pPr>
            <a:r>
              <a:rPr sz="2000" b="1">
                <a:solidFill>
                  <a:srgbClr val="00B4D8"/>
                </a:solidFill>
                <a:latin typeface="Calibri"/>
              </a:rPr>
              <a:t>• </a:t>
            </a:r>
            <a:r>
              <a:rPr sz="2000" b="0">
                <a:solidFill>
                  <a:srgbClr val="FFFFFF"/>
                </a:solidFill>
                <a:latin typeface="Calibri"/>
              </a:rPr>
              <a:t>Independent expert reviewer scored every one</a:t>
            </a:r>
          </a:p>
          <a:p>
            <a:pPr algn="l">
              <a:spcAft>
                <a:spcPts val="600"/>
              </a:spcAft>
            </a:pPr>
            <a:r>
              <a:rPr sz="2000" b="1">
                <a:solidFill>
                  <a:srgbClr val="00B4D8"/>
                </a:solidFill>
                <a:latin typeface="Calibri"/>
              </a:rPr>
              <a:t>• </a:t>
            </a:r>
            <a:r>
              <a:rPr sz="2000" b="0">
                <a:solidFill>
                  <a:srgbClr val="FFFFFF"/>
                </a:solidFill>
                <a:latin typeface="Calibri"/>
              </a:rPr>
              <a:t>We compared the system's confidence signals to that judgment</a:t>
            </a:r>
          </a:p>
          <a:p>
            <a:pPr algn="l">
              <a:spcAft>
                <a:spcPts val="600"/>
              </a:spcAft>
            </a:pPr>
            <a:r>
              <a:rPr sz="2000" b="1">
                <a:solidFill>
                  <a:srgbClr val="00B4D8"/>
                </a:solidFill>
                <a:latin typeface="Calibri"/>
              </a:rPr>
              <a:t>• </a:t>
            </a:r>
            <a:r>
              <a:rPr sz="2000" b="0">
                <a:solidFill>
                  <a:srgbClr val="FFFFFF"/>
                </a:solidFill>
                <a:latin typeface="Calibri"/>
              </a:rPr>
              <a:t>Result: the trust score and the expert agree on most segments</a:t>
            </a:r>
          </a:p>
        </p:txBody>
      </p:sp>
      <p:sp>
        <p:nvSpPr>
          <p:cNvPr id="5" name="TextBox 4"/>
          <p:cNvSpPr txBox="1"/>
          <p:nvPr/>
        </p:nvSpPr>
        <p:spPr>
          <a:xfrm>
            <a:off x="548640" y="5989320"/>
            <a:ext cx="11091672" cy="365760"/>
          </a:xfrm>
          <a:prstGeom prst="rect">
            <a:avLst/>
          </a:prstGeom>
          <a:noFill/>
        </p:spPr>
        <p:txBody>
          <a:bodyPr wrap="square" anchor="t"/>
          <a:lstStyle/>
          <a:p>
            <a:pPr algn="ctr"/>
            <a:r>
              <a:rPr sz="1000" b="0" i="1">
                <a:solidFill>
                  <a:srgbClr val="666666"/>
                </a:solidFill>
                <a:latin typeface="Calibri"/>
              </a:rPr>
              <a:t>Real-world YouTube footage — varied lighting, head angles, multi-speaker scenes, accents. Not curated lab footage.</a:t>
            </a:r>
          </a:p>
        </p:txBody>
      </p:sp>
      <p:pic>
        <p:nvPicPr>
          <p:cNvPr id="6" name="Picture 5" descr="WhiteLogo.jpeg"/>
          <p:cNvPicPr>
            <a:picLocks noChangeAspect="1"/>
          </p:cNvPicPr>
          <p:nvPr/>
        </p:nvPicPr>
        <p:blipFill>
          <a:blip r:embed="rId2"/>
          <a:stretch>
            <a:fillRect/>
          </a:stretch>
        </p:blipFill>
        <p:spPr>
          <a:xfrm>
            <a:off x="11323320" y="6428232"/>
            <a:ext cx="269634" cy="320040"/>
          </a:xfrm>
          <a:prstGeom prst="rect">
            <a:avLst/>
          </a:prstGeom>
        </p:spPr>
      </p:pic>
      <p:sp>
        <p:nvSpPr>
          <p:cNvPr id="7" name="TextBox 6"/>
          <p:cNvSpPr txBox="1"/>
          <p:nvPr/>
        </p:nvSpPr>
        <p:spPr>
          <a:xfrm>
            <a:off x="548640" y="6510528"/>
            <a:ext cx="457200" cy="228600"/>
          </a:xfrm>
          <a:prstGeom prst="rect">
            <a:avLst/>
          </a:prstGeom>
          <a:noFill/>
        </p:spPr>
        <p:txBody>
          <a:bodyPr wrap="none">
            <a:spAutoFit/>
          </a:bodyPr>
          <a:lstStyle/>
          <a:p>
            <a:r>
              <a:rPr sz="900" b="0" i="0">
                <a:solidFill>
                  <a:srgbClr val="666666"/>
                </a:solidFill>
                <a:latin typeface="Calibri"/>
              </a:rPr>
              <a:t>25</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0D1B2A"/>
        </a:solidFill>
        <a:effectLst/>
      </p:bgPr>
    </p:bg>
    <p:spTree>
      <p:nvGrpSpPr>
        <p:cNvPr id="1" name=""/>
        <p:cNvGrpSpPr/>
        <p:nvPr/>
      </p:nvGrpSpPr>
      <p:grpSpPr/>
      <p:sp>
        <p:nvSpPr>
          <p:cNvPr id="2" name="TextBox 1"/>
          <p:cNvSpPr txBox="1"/>
          <p:nvPr/>
        </p:nvSpPr>
        <p:spPr>
          <a:xfrm>
            <a:off x="548640" y="365760"/>
            <a:ext cx="11091672" cy="685800"/>
          </a:xfrm>
          <a:prstGeom prst="rect">
            <a:avLst/>
          </a:prstGeom>
          <a:noFill/>
        </p:spPr>
        <p:txBody>
          <a:bodyPr wrap="square">
            <a:spAutoFit/>
          </a:bodyPr>
          <a:lstStyle/>
          <a:p>
            <a:r>
              <a:rPr sz="3200" b="1" i="0">
                <a:solidFill>
                  <a:srgbClr val="FFFFFF"/>
                </a:solidFill>
                <a:latin typeface="Calibri"/>
              </a:rPr>
              <a:t>Agrees with the expert reviewer 82% of the time</a:t>
            </a:r>
          </a:p>
        </p:txBody>
      </p:sp>
      <p:sp>
        <p:nvSpPr>
          <p:cNvPr id="3" name="Rectangle 2"/>
          <p:cNvSpPr/>
          <p:nvPr/>
        </p:nvSpPr>
        <p:spPr>
          <a:xfrm>
            <a:off x="548640" y="1097280"/>
            <a:ext cx="11091672" cy="1905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463040" y="2560320"/>
            <a:ext cx="9144000" cy="1097280"/>
          </a:xfrm>
          <a:prstGeom prst="rect">
            <a:avLst/>
          </a:prstGeom>
          <a:solidFill>
            <a:srgbClr val="1A35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463040" y="2560320"/>
            <a:ext cx="7498079" cy="1097280"/>
          </a:xfrm>
          <a:prstGeom prst="rect">
            <a:avLst/>
          </a:prstGeom>
          <a:solidFill>
            <a:srgbClr val="4CAF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463040" y="2103120"/>
            <a:ext cx="7498079" cy="365760"/>
          </a:xfrm>
          <a:prstGeom prst="rect">
            <a:avLst/>
          </a:prstGeom>
          <a:noFill/>
        </p:spPr>
        <p:txBody>
          <a:bodyPr wrap="square" anchor="t"/>
          <a:lstStyle/>
          <a:p>
            <a:pPr algn="ctr"/>
            <a:r>
              <a:rPr sz="2000" b="1" i="0">
                <a:solidFill>
                  <a:srgbClr val="4CAF50"/>
                </a:solidFill>
                <a:latin typeface="Calibri"/>
              </a:rPr>
              <a:t>82%</a:t>
            </a:r>
          </a:p>
        </p:txBody>
      </p:sp>
      <p:sp>
        <p:nvSpPr>
          <p:cNvPr id="7" name="TextBox 6"/>
          <p:cNvSpPr txBox="1"/>
          <p:nvPr/>
        </p:nvSpPr>
        <p:spPr>
          <a:xfrm>
            <a:off x="8961119" y="2103120"/>
            <a:ext cx="1645921" cy="365760"/>
          </a:xfrm>
          <a:prstGeom prst="rect">
            <a:avLst/>
          </a:prstGeom>
          <a:noFill/>
        </p:spPr>
        <p:txBody>
          <a:bodyPr wrap="square" anchor="t"/>
          <a:lstStyle/>
          <a:p>
            <a:pPr algn="ctr"/>
            <a:r>
              <a:rPr sz="1400" b="0" i="0">
                <a:solidFill>
                  <a:srgbClr val="AAAAAA"/>
                </a:solidFill>
                <a:latin typeface="Calibri"/>
              </a:rPr>
              <a:t>18%</a:t>
            </a:r>
          </a:p>
        </p:txBody>
      </p:sp>
      <p:sp>
        <p:nvSpPr>
          <p:cNvPr id="8" name="TextBox 7"/>
          <p:cNvSpPr txBox="1"/>
          <p:nvPr/>
        </p:nvSpPr>
        <p:spPr>
          <a:xfrm>
            <a:off x="1463040" y="3840480"/>
            <a:ext cx="7498079" cy="365760"/>
          </a:xfrm>
          <a:prstGeom prst="rect">
            <a:avLst/>
          </a:prstGeom>
          <a:noFill/>
        </p:spPr>
        <p:txBody>
          <a:bodyPr wrap="square" anchor="t"/>
          <a:lstStyle/>
          <a:p>
            <a:pPr algn="ctr"/>
            <a:r>
              <a:rPr sz="1200" b="1" i="0">
                <a:solidFill>
                  <a:srgbClr val="FFFFFF"/>
                </a:solidFill>
                <a:latin typeface="Calibri"/>
              </a:rPr>
              <a:t>AGREES WITH EXPERT</a:t>
            </a:r>
          </a:p>
        </p:txBody>
      </p:sp>
      <p:sp>
        <p:nvSpPr>
          <p:cNvPr id="9" name="TextBox 8"/>
          <p:cNvSpPr txBox="1"/>
          <p:nvPr/>
        </p:nvSpPr>
        <p:spPr>
          <a:xfrm>
            <a:off x="8961119" y="3840480"/>
            <a:ext cx="1645921" cy="365760"/>
          </a:xfrm>
          <a:prstGeom prst="rect">
            <a:avLst/>
          </a:prstGeom>
          <a:noFill/>
        </p:spPr>
        <p:txBody>
          <a:bodyPr wrap="square" anchor="t"/>
          <a:lstStyle/>
          <a:p>
            <a:pPr algn="ctr"/>
            <a:r>
              <a:rPr sz="1100" b="0" i="0">
                <a:solidFill>
                  <a:srgbClr val="AAAAAA"/>
                </a:solidFill>
                <a:latin typeface="Calibri"/>
              </a:rPr>
              <a:t>DISAGREES</a:t>
            </a:r>
          </a:p>
        </p:txBody>
      </p:sp>
      <p:sp>
        <p:nvSpPr>
          <p:cNvPr id="10" name="TextBox 9"/>
          <p:cNvSpPr txBox="1"/>
          <p:nvPr/>
        </p:nvSpPr>
        <p:spPr>
          <a:xfrm>
            <a:off x="548640" y="5394960"/>
            <a:ext cx="11091672" cy="365760"/>
          </a:xfrm>
          <a:prstGeom prst="rect">
            <a:avLst/>
          </a:prstGeom>
          <a:noFill/>
        </p:spPr>
        <p:txBody>
          <a:bodyPr wrap="square" anchor="t"/>
          <a:lstStyle/>
          <a:p>
            <a:pPr algn="ctr"/>
            <a:r>
              <a:rPr sz="1200" b="0" i="1">
                <a:solidFill>
                  <a:srgbClr val="AAAAAA"/>
                </a:solidFill>
                <a:latin typeface="Calibri"/>
              </a:rPr>
              <a:t>Validated on the same 1,497 segments — "any useful meaning" judgment.</a:t>
            </a:r>
          </a:p>
        </p:txBody>
      </p:sp>
      <p:pic>
        <p:nvPicPr>
          <p:cNvPr id="11" name="Picture 10" descr="WhiteLogo.jpeg"/>
          <p:cNvPicPr>
            <a:picLocks noChangeAspect="1"/>
          </p:cNvPicPr>
          <p:nvPr/>
        </p:nvPicPr>
        <p:blipFill>
          <a:blip r:embed="rId2"/>
          <a:stretch>
            <a:fillRect/>
          </a:stretch>
        </p:blipFill>
        <p:spPr>
          <a:xfrm>
            <a:off x="11323320" y="6428232"/>
            <a:ext cx="269634" cy="320040"/>
          </a:xfrm>
          <a:prstGeom prst="rect">
            <a:avLst/>
          </a:prstGeom>
        </p:spPr>
      </p:pic>
      <p:sp>
        <p:nvSpPr>
          <p:cNvPr id="12" name="TextBox 11"/>
          <p:cNvSpPr txBox="1"/>
          <p:nvPr/>
        </p:nvSpPr>
        <p:spPr>
          <a:xfrm>
            <a:off x="548640" y="6510528"/>
            <a:ext cx="457200" cy="228600"/>
          </a:xfrm>
          <a:prstGeom prst="rect">
            <a:avLst/>
          </a:prstGeom>
          <a:noFill/>
        </p:spPr>
        <p:txBody>
          <a:bodyPr wrap="none">
            <a:spAutoFit/>
          </a:bodyPr>
          <a:lstStyle/>
          <a:p>
            <a:r>
              <a:rPr sz="900" b="0" i="0">
                <a:solidFill>
                  <a:srgbClr val="666666"/>
                </a:solidFill>
                <a:latin typeface="Calibri"/>
              </a:rPr>
              <a:t>26</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0D1B2A"/>
        </a:solidFill>
        <a:effectLst/>
      </p:bgPr>
    </p:bg>
    <p:spTree>
      <p:nvGrpSpPr>
        <p:cNvPr id="1" name=""/>
        <p:cNvGrpSpPr/>
        <p:nvPr/>
      </p:nvGrpSpPr>
      <p:grpSpPr/>
      <p:sp>
        <p:nvSpPr>
          <p:cNvPr id="2" name="TextBox 1"/>
          <p:cNvSpPr txBox="1"/>
          <p:nvPr/>
        </p:nvSpPr>
        <p:spPr>
          <a:xfrm>
            <a:off x="548640" y="365760"/>
            <a:ext cx="11091672" cy="685800"/>
          </a:xfrm>
          <a:prstGeom prst="rect">
            <a:avLst/>
          </a:prstGeom>
          <a:noFill/>
        </p:spPr>
        <p:txBody>
          <a:bodyPr wrap="square">
            <a:spAutoFit/>
          </a:bodyPr>
          <a:lstStyle/>
          <a:p>
            <a:r>
              <a:rPr sz="3200" b="1" i="0">
                <a:solidFill>
                  <a:srgbClr val="FFFFFF"/>
                </a:solidFill>
                <a:latin typeface="Calibri"/>
              </a:rPr>
              <a:t>The trust signal stays stable</a:t>
            </a:r>
          </a:p>
        </p:txBody>
      </p:sp>
      <p:sp>
        <p:nvSpPr>
          <p:cNvPr id="3" name="Rectangle 2"/>
          <p:cNvSpPr/>
          <p:nvPr/>
        </p:nvSpPr>
        <p:spPr>
          <a:xfrm>
            <a:off x="548640" y="1097280"/>
            <a:ext cx="11091672" cy="1905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737360"/>
            <a:ext cx="11091672" cy="3200400"/>
          </a:xfrm>
          <a:prstGeom prst="rect">
            <a:avLst/>
          </a:prstGeom>
          <a:noFill/>
        </p:spPr>
        <p:txBody>
          <a:bodyPr wrap="square">
            <a:spAutoFit/>
          </a:bodyPr>
          <a:lstStyle/>
          <a:p>
            <a:pPr algn="l">
              <a:spcAft>
                <a:spcPts val="600"/>
              </a:spcAft>
            </a:pPr>
            <a:r>
              <a:rPr sz="2200" b="1">
                <a:solidFill>
                  <a:srgbClr val="00B4D8"/>
                </a:solidFill>
                <a:latin typeface="Calibri"/>
              </a:rPr>
              <a:t>• </a:t>
            </a:r>
            <a:r>
              <a:rPr sz="2200" b="0">
                <a:solidFill>
                  <a:srgbClr val="FFFFFF"/>
                </a:solidFill>
                <a:latin typeface="Calibri"/>
              </a:rPr>
              <a:t>We changed decode settings 16 different ways</a:t>
            </a:r>
          </a:p>
          <a:p>
            <a:pPr algn="l">
              <a:spcAft>
                <a:spcPts val="600"/>
              </a:spcAft>
            </a:pPr>
            <a:r>
              <a:rPr sz="2200" b="1">
                <a:solidFill>
                  <a:srgbClr val="00B4D8"/>
                </a:solidFill>
                <a:latin typeface="Calibri"/>
              </a:rPr>
              <a:t>• </a:t>
            </a:r>
            <a:r>
              <a:rPr sz="2200" b="0">
                <a:solidFill>
                  <a:srgbClr val="FFFFFF"/>
                </a:solidFill>
                <a:latin typeface="Calibri"/>
              </a:rPr>
              <a:t>The trust signal moved less than a percentage point</a:t>
            </a:r>
          </a:p>
          <a:p>
            <a:pPr algn="l">
              <a:spcAft>
                <a:spcPts val="600"/>
              </a:spcAft>
            </a:pPr>
            <a:r>
              <a:rPr sz="2200" b="1">
                <a:solidFill>
                  <a:srgbClr val="00B4D8"/>
                </a:solidFill>
                <a:latin typeface="Calibri"/>
              </a:rPr>
              <a:t>• </a:t>
            </a:r>
            <a:r>
              <a:rPr sz="2200" b="0">
                <a:solidFill>
                  <a:srgbClr val="FFFFFF"/>
                </a:solidFill>
                <a:latin typeface="Calibri"/>
              </a:rPr>
              <a:t>Translation: it isn't a fluke of one specific run</a:t>
            </a:r>
          </a:p>
        </p:txBody>
      </p:sp>
      <p:sp>
        <p:nvSpPr>
          <p:cNvPr id="5" name="TextBox 4"/>
          <p:cNvSpPr txBox="1"/>
          <p:nvPr/>
        </p:nvSpPr>
        <p:spPr>
          <a:xfrm>
            <a:off x="548640" y="4572000"/>
            <a:ext cx="11091672" cy="1280160"/>
          </a:xfrm>
          <a:prstGeom prst="rect">
            <a:avLst/>
          </a:prstGeom>
          <a:noFill/>
        </p:spPr>
        <p:txBody>
          <a:bodyPr wrap="square" anchor="t"/>
          <a:lstStyle/>
          <a:p>
            <a:pPr algn="l"/>
            <a:r>
              <a:rPr sz="1500" b="0" i="1">
                <a:solidFill>
                  <a:srgbClr val="00B4D8"/>
                </a:solidFill>
                <a:latin typeface="Calibri"/>
              </a:rPr>
              <a:t>What this means: the confidence numbers you see in the demo are the same confidence numbers you'd see on your data, on your infrastructure, on your settings.</a:t>
            </a:r>
          </a:p>
        </p:txBody>
      </p:sp>
      <p:sp>
        <p:nvSpPr>
          <p:cNvPr id="6" name="TextBox 5"/>
          <p:cNvSpPr txBox="1"/>
          <p:nvPr/>
        </p:nvSpPr>
        <p:spPr>
          <a:xfrm>
            <a:off x="548640" y="5989320"/>
            <a:ext cx="11091672" cy="365760"/>
          </a:xfrm>
          <a:prstGeom prst="rect">
            <a:avLst/>
          </a:prstGeom>
          <a:noFill/>
        </p:spPr>
        <p:txBody>
          <a:bodyPr wrap="square" anchor="t"/>
          <a:lstStyle/>
          <a:p>
            <a:pPr algn="ctr"/>
            <a:r>
              <a:rPr sz="1000" b="0" i="1">
                <a:solidFill>
                  <a:srgbClr val="666666"/>
                </a:solidFill>
                <a:latin typeface="Calibri"/>
              </a:rPr>
              <a:t>Tested across 16 different decode configurations on the same 1,497 segments.</a:t>
            </a:r>
          </a:p>
        </p:txBody>
      </p:sp>
      <p:pic>
        <p:nvPicPr>
          <p:cNvPr id="7" name="Picture 6" descr="WhiteLogo.jpeg"/>
          <p:cNvPicPr>
            <a:picLocks noChangeAspect="1"/>
          </p:cNvPicPr>
          <p:nvPr/>
        </p:nvPicPr>
        <p:blipFill>
          <a:blip r:embed="rId2"/>
          <a:stretch>
            <a:fillRect/>
          </a:stretch>
        </p:blipFill>
        <p:spPr>
          <a:xfrm>
            <a:off x="11323320" y="6428232"/>
            <a:ext cx="269634" cy="320040"/>
          </a:xfrm>
          <a:prstGeom prst="rect">
            <a:avLst/>
          </a:prstGeom>
        </p:spPr>
      </p:pic>
      <p:sp>
        <p:nvSpPr>
          <p:cNvPr id="8" name="TextBox 7"/>
          <p:cNvSpPr txBox="1"/>
          <p:nvPr/>
        </p:nvSpPr>
        <p:spPr>
          <a:xfrm>
            <a:off x="548640" y="6510528"/>
            <a:ext cx="457200" cy="228600"/>
          </a:xfrm>
          <a:prstGeom prst="rect">
            <a:avLst/>
          </a:prstGeom>
          <a:noFill/>
        </p:spPr>
        <p:txBody>
          <a:bodyPr wrap="none">
            <a:spAutoFit/>
          </a:bodyPr>
          <a:lstStyle/>
          <a:p>
            <a:r>
              <a:rPr sz="900" b="0" i="0">
                <a:solidFill>
                  <a:srgbClr val="666666"/>
                </a:solidFill>
                <a:latin typeface="Calibri"/>
              </a:rPr>
              <a:t>27</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0D1B2A"/>
        </a:solidFill>
        <a:effectLst/>
      </p:bgPr>
    </p:bg>
    <p:spTree>
      <p:nvGrpSpPr>
        <p:cNvPr id="1" name=""/>
        <p:cNvGrpSpPr/>
        <p:nvPr/>
      </p:nvGrpSpPr>
      <p:grpSpPr/>
      <p:sp>
        <p:nvSpPr>
          <p:cNvPr id="2" name="TextBox 1"/>
          <p:cNvSpPr txBox="1"/>
          <p:nvPr/>
        </p:nvSpPr>
        <p:spPr>
          <a:xfrm>
            <a:off x="548640" y="365760"/>
            <a:ext cx="11091672" cy="685800"/>
          </a:xfrm>
          <a:prstGeom prst="rect">
            <a:avLst/>
          </a:prstGeom>
          <a:noFill/>
        </p:spPr>
        <p:txBody>
          <a:bodyPr wrap="square">
            <a:spAutoFit/>
          </a:bodyPr>
          <a:lstStyle/>
          <a:p>
            <a:r>
              <a:rPr sz="3200" b="1" i="0">
                <a:solidFill>
                  <a:srgbClr val="FFFFFF"/>
                </a:solidFill>
                <a:latin typeface="Calibri"/>
              </a:rPr>
              <a:t>An independent expert agreed 82% of the time</a:t>
            </a:r>
          </a:p>
        </p:txBody>
      </p:sp>
      <p:sp>
        <p:nvSpPr>
          <p:cNvPr id="3" name="Rectangle 2"/>
          <p:cNvSpPr/>
          <p:nvPr/>
        </p:nvSpPr>
        <p:spPr>
          <a:xfrm>
            <a:off x="548640" y="1097280"/>
            <a:ext cx="11091672" cy="1905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194560"/>
            <a:ext cx="11091672" cy="2011680"/>
          </a:xfrm>
          <a:prstGeom prst="rect">
            <a:avLst/>
          </a:prstGeom>
          <a:noFill/>
        </p:spPr>
        <p:txBody>
          <a:bodyPr wrap="square" anchor="t"/>
          <a:lstStyle/>
          <a:p>
            <a:pPr algn="l"/>
            <a:r>
              <a:rPr sz="2000" b="0" i="0">
                <a:solidFill>
                  <a:srgbClr val="FFFFFF"/>
                </a:solidFill>
                <a:latin typeface="Calibri"/>
              </a:rPr>
              <a:t>Not validated by us. Validated by an independent reviewer that didn't see our code, our scores, or our reasoning. That's the credibility behind every confidence number on every slide.</a:t>
            </a:r>
          </a:p>
        </p:txBody>
      </p:sp>
      <p:pic>
        <p:nvPicPr>
          <p:cNvPr id="5" name="Picture 4" descr="WhiteLogo.jpeg"/>
          <p:cNvPicPr>
            <a:picLocks noChangeAspect="1"/>
          </p:cNvPicPr>
          <p:nvPr/>
        </p:nvPicPr>
        <p:blipFill>
          <a:blip r:embed="rId2"/>
          <a:stretch>
            <a:fillRect/>
          </a:stretch>
        </p:blipFill>
        <p:spPr>
          <a:xfrm>
            <a:off x="11323320" y="6428232"/>
            <a:ext cx="269634" cy="320040"/>
          </a:xfrm>
          <a:prstGeom prst="rect">
            <a:avLst/>
          </a:prstGeom>
        </p:spPr>
      </p:pic>
      <p:sp>
        <p:nvSpPr>
          <p:cNvPr id="6" name="TextBox 5"/>
          <p:cNvSpPr txBox="1"/>
          <p:nvPr/>
        </p:nvSpPr>
        <p:spPr>
          <a:xfrm>
            <a:off x="548640" y="6510528"/>
            <a:ext cx="457200" cy="228600"/>
          </a:xfrm>
          <a:prstGeom prst="rect">
            <a:avLst/>
          </a:prstGeom>
          <a:noFill/>
        </p:spPr>
        <p:txBody>
          <a:bodyPr wrap="none">
            <a:spAutoFit/>
          </a:bodyPr>
          <a:lstStyle/>
          <a:p>
            <a:r>
              <a:rPr sz="900" b="0" i="0">
                <a:solidFill>
                  <a:srgbClr val="666666"/>
                </a:solidFill>
                <a:latin typeface="Calibri"/>
              </a:rPr>
              <a:t>28</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0D1B2A"/>
        </a:solidFill>
        <a:effectLst/>
      </p:bgPr>
    </p:bg>
    <p:spTree>
      <p:nvGrpSpPr>
        <p:cNvPr id="1" name=""/>
        <p:cNvGrpSpPr/>
        <p:nvPr/>
      </p:nvGrpSpPr>
      <p:grpSpPr/>
      <p:sp>
        <p:nvSpPr>
          <p:cNvPr id="2" name="TextBox 1"/>
          <p:cNvSpPr txBox="1"/>
          <p:nvPr/>
        </p:nvSpPr>
        <p:spPr>
          <a:xfrm>
            <a:off x="548640" y="2560320"/>
            <a:ext cx="11091672" cy="914400"/>
          </a:xfrm>
          <a:prstGeom prst="rect">
            <a:avLst/>
          </a:prstGeom>
          <a:noFill/>
        </p:spPr>
        <p:txBody>
          <a:bodyPr wrap="square" anchor="t"/>
          <a:lstStyle/>
          <a:p>
            <a:pPr algn="ctr"/>
            <a:r>
              <a:rPr sz="4400" b="1" i="0">
                <a:solidFill>
                  <a:srgbClr val="00B4D8"/>
                </a:solidFill>
                <a:latin typeface="Calibri"/>
              </a:rPr>
              <a:t>PIPELINE &amp; ARCHITECTURE</a:t>
            </a:r>
          </a:p>
        </p:txBody>
      </p:sp>
      <p:sp>
        <p:nvSpPr>
          <p:cNvPr id="3" name="TextBox 2"/>
          <p:cNvSpPr txBox="1"/>
          <p:nvPr/>
        </p:nvSpPr>
        <p:spPr>
          <a:xfrm>
            <a:off x="548640" y="3566160"/>
            <a:ext cx="11091672" cy="731520"/>
          </a:xfrm>
          <a:prstGeom prst="rect">
            <a:avLst/>
          </a:prstGeom>
          <a:noFill/>
        </p:spPr>
        <p:txBody>
          <a:bodyPr wrap="square" anchor="t"/>
          <a:lstStyle/>
          <a:p>
            <a:pPr algn="ctr"/>
            <a:r>
              <a:rPr sz="2000" b="0" i="1">
                <a:solidFill>
                  <a:srgbClr val="AAAAAA"/>
                </a:solidFill>
                <a:latin typeface="Calibri"/>
              </a:rPr>
              <a:t>What runs under the hood — light touch</a:t>
            </a:r>
          </a:p>
        </p:txBody>
      </p:sp>
      <p:pic>
        <p:nvPicPr>
          <p:cNvPr id="4" name="Picture 3" descr="WhiteLogo.jpeg"/>
          <p:cNvPicPr>
            <a:picLocks noChangeAspect="1"/>
          </p:cNvPicPr>
          <p:nvPr/>
        </p:nvPicPr>
        <p:blipFill>
          <a:blip r:embed="rId2"/>
          <a:stretch>
            <a:fillRect/>
          </a:stretch>
        </p:blipFill>
        <p:spPr>
          <a:xfrm>
            <a:off x="11323320" y="6428232"/>
            <a:ext cx="269634" cy="320040"/>
          </a:xfrm>
          <a:prstGeom prst="rect">
            <a:avLst/>
          </a:prstGeom>
        </p:spPr>
      </p:pic>
      <p:sp>
        <p:nvSpPr>
          <p:cNvPr id="5" name="TextBox 4"/>
          <p:cNvSpPr txBox="1"/>
          <p:nvPr/>
        </p:nvSpPr>
        <p:spPr>
          <a:xfrm>
            <a:off x="548640" y="6510528"/>
            <a:ext cx="457200" cy="228600"/>
          </a:xfrm>
          <a:prstGeom prst="rect">
            <a:avLst/>
          </a:prstGeom>
          <a:noFill/>
        </p:spPr>
        <p:txBody>
          <a:bodyPr wrap="none">
            <a:spAutoFit/>
          </a:bodyPr>
          <a:lstStyle/>
          <a:p>
            <a:r>
              <a:rPr sz="900" b="0" i="0">
                <a:solidFill>
                  <a:srgbClr val="666666"/>
                </a:solidFill>
                <a:latin typeface="Calibri"/>
              </a:rPr>
              <a:t>29</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0D1B2A"/>
        </a:solidFill>
        <a:effectLst/>
      </p:bgPr>
    </p:bg>
    <p:spTree>
      <p:nvGrpSpPr>
        <p:cNvPr id="1" name=""/>
        <p:cNvGrpSpPr/>
        <p:nvPr/>
      </p:nvGrpSpPr>
      <p:grpSpPr/>
      <p:sp>
        <p:nvSpPr>
          <p:cNvPr id="2" name="TextBox 1"/>
          <p:cNvSpPr txBox="1"/>
          <p:nvPr/>
        </p:nvSpPr>
        <p:spPr>
          <a:xfrm>
            <a:off x="548640" y="365760"/>
            <a:ext cx="11091672" cy="685800"/>
          </a:xfrm>
          <a:prstGeom prst="rect">
            <a:avLst/>
          </a:prstGeom>
          <a:noFill/>
        </p:spPr>
        <p:txBody>
          <a:bodyPr wrap="square">
            <a:spAutoFit/>
          </a:bodyPr>
          <a:lstStyle/>
          <a:p>
            <a:r>
              <a:rPr sz="3200" b="1" i="0">
                <a:solidFill>
                  <a:srgbClr val="FFFFFF"/>
                </a:solidFill>
                <a:latin typeface="Calibri"/>
              </a:rPr>
              <a:t>How It Works: Data Flow</a:t>
            </a:r>
          </a:p>
        </p:txBody>
      </p:sp>
      <p:sp>
        <p:nvSpPr>
          <p:cNvPr id="3" name="Rectangle 2"/>
          <p:cNvSpPr/>
          <p:nvPr/>
        </p:nvSpPr>
        <p:spPr>
          <a:xfrm>
            <a:off x="548640" y="1097280"/>
            <a:ext cx="11091672" cy="1905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280160" y="1417320"/>
            <a:ext cx="9601200" cy="685800"/>
          </a:xfrm>
          <a:prstGeom prst="roundRect">
            <a:avLst/>
          </a:prstGeom>
          <a:solidFill>
            <a:srgbClr val="152A40"/>
          </a:solidFill>
          <a:ln w="25400">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640080" y="1508760"/>
            <a:ext cx="502920" cy="502920"/>
          </a:xfrm>
          <a:prstGeom prst="ellipse">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508760"/>
            <a:ext cx="502920" cy="502920"/>
          </a:xfrm>
          <a:prstGeom prst="rect">
            <a:avLst/>
          </a:prstGeom>
          <a:noFill/>
        </p:spPr>
        <p:txBody>
          <a:bodyPr wrap="square" anchor="t"/>
          <a:lstStyle/>
          <a:p>
            <a:pPr algn="ctr"/>
            <a:r>
              <a:rPr sz="2000" b="1" i="0">
                <a:solidFill>
                  <a:srgbClr val="FFFFFF"/>
                </a:solidFill>
                <a:latin typeface="Calibri"/>
              </a:rPr>
              <a:t>1</a:t>
            </a:r>
          </a:p>
        </p:txBody>
      </p:sp>
      <p:sp>
        <p:nvSpPr>
          <p:cNvPr id="7" name="TextBox 6"/>
          <p:cNvSpPr txBox="1"/>
          <p:nvPr/>
        </p:nvSpPr>
        <p:spPr>
          <a:xfrm>
            <a:off x="1463040" y="1508760"/>
            <a:ext cx="9235440" cy="502920"/>
          </a:xfrm>
          <a:prstGeom prst="rect">
            <a:avLst/>
          </a:prstGeom>
          <a:noFill/>
        </p:spPr>
        <p:txBody>
          <a:bodyPr wrap="square">
            <a:spAutoFit/>
          </a:bodyPr>
          <a:lstStyle/>
          <a:p>
            <a:pPr algn="l">
              <a:spcAft>
                <a:spcPts val="600"/>
              </a:spcAft>
            </a:pPr>
            <a:r>
              <a:rPr sz="1600" b="1" i="0">
                <a:solidFill>
                  <a:srgbClr val="FFFFFF"/>
                </a:solidFill>
                <a:latin typeface="Calibri"/>
              </a:rPr>
              <a:t>Video Frames</a:t>
            </a:r>
            <a:r>
              <a:rPr sz="1300" b="0" i="0">
                <a:solidFill>
                  <a:srgbClr val="AAAAAA"/>
                </a:solidFill>
                <a:latin typeface="Calibri"/>
              </a:rPr>
              <a:t>  —  25 fps raw video input</a:t>
            </a:r>
          </a:p>
        </p:txBody>
      </p:sp>
      <p:sp>
        <p:nvSpPr>
          <p:cNvPr id="8" name="TextBox 7"/>
          <p:cNvSpPr txBox="1"/>
          <p:nvPr/>
        </p:nvSpPr>
        <p:spPr>
          <a:xfrm>
            <a:off x="5897880" y="2057400"/>
            <a:ext cx="365760" cy="274320"/>
          </a:xfrm>
          <a:prstGeom prst="rect">
            <a:avLst/>
          </a:prstGeom>
          <a:noFill/>
        </p:spPr>
        <p:txBody>
          <a:bodyPr wrap="square" anchor="t"/>
          <a:lstStyle/>
          <a:p>
            <a:pPr algn="ctr"/>
            <a:r>
              <a:rPr sz="1600" b="0" i="0">
                <a:solidFill>
                  <a:srgbClr val="00B4D8"/>
                </a:solidFill>
                <a:latin typeface="Calibri"/>
              </a:rPr>
              <a:t>↓</a:t>
            </a:r>
          </a:p>
        </p:txBody>
      </p:sp>
      <p:sp>
        <p:nvSpPr>
          <p:cNvPr id="9" name="Rounded Rectangle 8"/>
          <p:cNvSpPr/>
          <p:nvPr/>
        </p:nvSpPr>
        <p:spPr>
          <a:xfrm>
            <a:off x="1280160" y="2240280"/>
            <a:ext cx="9601200" cy="685800"/>
          </a:xfrm>
          <a:prstGeom prst="roundRect">
            <a:avLst/>
          </a:prstGeom>
          <a:solidFill>
            <a:srgbClr val="152A40"/>
          </a:solidFill>
          <a:ln w="25400">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40080" y="2331720"/>
            <a:ext cx="502920" cy="502920"/>
          </a:xfrm>
          <a:prstGeom prst="ellipse">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 y="2331720"/>
            <a:ext cx="502920" cy="502920"/>
          </a:xfrm>
          <a:prstGeom prst="rect">
            <a:avLst/>
          </a:prstGeom>
          <a:noFill/>
        </p:spPr>
        <p:txBody>
          <a:bodyPr wrap="square" anchor="t"/>
          <a:lstStyle/>
          <a:p>
            <a:pPr algn="ctr"/>
            <a:r>
              <a:rPr sz="2000" b="1" i="0">
                <a:solidFill>
                  <a:srgbClr val="FFFFFF"/>
                </a:solidFill>
                <a:latin typeface="Calibri"/>
              </a:rPr>
              <a:t>2</a:t>
            </a:r>
          </a:p>
        </p:txBody>
      </p:sp>
      <p:sp>
        <p:nvSpPr>
          <p:cNvPr id="12" name="TextBox 11"/>
          <p:cNvSpPr txBox="1"/>
          <p:nvPr/>
        </p:nvSpPr>
        <p:spPr>
          <a:xfrm>
            <a:off x="1463040" y="2331720"/>
            <a:ext cx="9235440" cy="502920"/>
          </a:xfrm>
          <a:prstGeom prst="rect">
            <a:avLst/>
          </a:prstGeom>
          <a:noFill/>
        </p:spPr>
        <p:txBody>
          <a:bodyPr wrap="square">
            <a:spAutoFit/>
          </a:bodyPr>
          <a:lstStyle/>
          <a:p>
            <a:pPr algn="l">
              <a:spcAft>
                <a:spcPts val="600"/>
              </a:spcAft>
            </a:pPr>
            <a:r>
              <a:rPr sz="1600" b="1" i="0">
                <a:solidFill>
                  <a:srgbClr val="FFFFFF"/>
                </a:solidFill>
                <a:latin typeface="Calibri"/>
              </a:rPr>
              <a:t>Mouth Crop</a:t>
            </a:r>
            <a:r>
              <a:rPr sz="1300" b="0" i="0">
                <a:solidFill>
                  <a:srgbClr val="AAAAAA"/>
                </a:solidFill>
                <a:latin typeface="Calibri"/>
              </a:rPr>
              <a:t>  —  96×96 pixel region around lips</a:t>
            </a:r>
          </a:p>
        </p:txBody>
      </p:sp>
      <p:sp>
        <p:nvSpPr>
          <p:cNvPr id="13" name="TextBox 12"/>
          <p:cNvSpPr txBox="1"/>
          <p:nvPr/>
        </p:nvSpPr>
        <p:spPr>
          <a:xfrm>
            <a:off x="5897880" y="2880360"/>
            <a:ext cx="365760" cy="274320"/>
          </a:xfrm>
          <a:prstGeom prst="rect">
            <a:avLst/>
          </a:prstGeom>
          <a:noFill/>
        </p:spPr>
        <p:txBody>
          <a:bodyPr wrap="square" anchor="t"/>
          <a:lstStyle/>
          <a:p>
            <a:pPr algn="ctr"/>
            <a:r>
              <a:rPr sz="1600" b="0" i="0">
                <a:solidFill>
                  <a:srgbClr val="00B4D8"/>
                </a:solidFill>
                <a:latin typeface="Calibri"/>
              </a:rPr>
              <a:t>↓</a:t>
            </a:r>
          </a:p>
        </p:txBody>
      </p:sp>
      <p:sp>
        <p:nvSpPr>
          <p:cNvPr id="14" name="Rounded Rectangle 13"/>
          <p:cNvSpPr/>
          <p:nvPr/>
        </p:nvSpPr>
        <p:spPr>
          <a:xfrm>
            <a:off x="1280160" y="3063240"/>
            <a:ext cx="9601200" cy="685800"/>
          </a:xfrm>
          <a:prstGeom prst="roundRect">
            <a:avLst/>
          </a:prstGeom>
          <a:solidFill>
            <a:srgbClr val="152A40"/>
          </a:solidFill>
          <a:ln w="25400">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640080" y="3154680"/>
            <a:ext cx="502920" cy="502920"/>
          </a:xfrm>
          <a:prstGeom prst="ellipse">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3154680"/>
            <a:ext cx="502920" cy="502920"/>
          </a:xfrm>
          <a:prstGeom prst="rect">
            <a:avLst/>
          </a:prstGeom>
          <a:noFill/>
        </p:spPr>
        <p:txBody>
          <a:bodyPr wrap="square" anchor="t"/>
          <a:lstStyle/>
          <a:p>
            <a:pPr algn="ctr"/>
            <a:r>
              <a:rPr sz="2000" b="1" i="0">
                <a:solidFill>
                  <a:srgbClr val="FFFFFF"/>
                </a:solidFill>
                <a:latin typeface="Calibri"/>
              </a:rPr>
              <a:t>3</a:t>
            </a:r>
          </a:p>
        </p:txBody>
      </p:sp>
      <p:sp>
        <p:nvSpPr>
          <p:cNvPr id="17" name="TextBox 16"/>
          <p:cNvSpPr txBox="1"/>
          <p:nvPr/>
        </p:nvSpPr>
        <p:spPr>
          <a:xfrm>
            <a:off x="1463040" y="3154680"/>
            <a:ext cx="9235440" cy="502920"/>
          </a:xfrm>
          <a:prstGeom prst="rect">
            <a:avLst/>
          </a:prstGeom>
          <a:noFill/>
        </p:spPr>
        <p:txBody>
          <a:bodyPr wrap="square">
            <a:spAutoFit/>
          </a:bodyPr>
          <a:lstStyle/>
          <a:p>
            <a:pPr algn="l">
              <a:spcAft>
                <a:spcPts val="600"/>
              </a:spcAft>
            </a:pPr>
            <a:r>
              <a:rPr sz="1600" b="1" i="0">
                <a:solidFill>
                  <a:srgbClr val="FFFFFF"/>
                </a:solidFill>
                <a:latin typeface="Calibri"/>
              </a:rPr>
              <a:t>Visual Features</a:t>
            </a:r>
            <a:r>
              <a:rPr sz="1300" b="0" i="0">
                <a:solidFill>
                  <a:srgbClr val="AAAAAA"/>
                </a:solidFill>
                <a:latin typeface="Calibri"/>
              </a:rPr>
              <a:t>  —  AV-HuBERT encoder → 1024-dim vectors</a:t>
            </a:r>
          </a:p>
        </p:txBody>
      </p:sp>
      <p:sp>
        <p:nvSpPr>
          <p:cNvPr id="18" name="TextBox 17"/>
          <p:cNvSpPr txBox="1"/>
          <p:nvPr/>
        </p:nvSpPr>
        <p:spPr>
          <a:xfrm>
            <a:off x="5897880" y="3703320"/>
            <a:ext cx="365760" cy="274320"/>
          </a:xfrm>
          <a:prstGeom prst="rect">
            <a:avLst/>
          </a:prstGeom>
          <a:noFill/>
        </p:spPr>
        <p:txBody>
          <a:bodyPr wrap="square" anchor="t"/>
          <a:lstStyle/>
          <a:p>
            <a:pPr algn="ctr"/>
            <a:r>
              <a:rPr sz="1600" b="0" i="0">
                <a:solidFill>
                  <a:srgbClr val="00B4D8"/>
                </a:solidFill>
                <a:latin typeface="Calibri"/>
              </a:rPr>
              <a:t>↓</a:t>
            </a:r>
          </a:p>
        </p:txBody>
      </p:sp>
      <p:sp>
        <p:nvSpPr>
          <p:cNvPr id="19" name="Rounded Rectangle 18"/>
          <p:cNvSpPr/>
          <p:nvPr/>
        </p:nvSpPr>
        <p:spPr>
          <a:xfrm>
            <a:off x="1280160" y="3886200"/>
            <a:ext cx="9601200" cy="685800"/>
          </a:xfrm>
          <a:prstGeom prst="roundRect">
            <a:avLst/>
          </a:prstGeom>
          <a:solidFill>
            <a:srgbClr val="152A40"/>
          </a:solidFill>
          <a:ln w="25400">
            <a:solidFill>
              <a:srgbClr val="E06C7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640080" y="3977640"/>
            <a:ext cx="502920" cy="502920"/>
          </a:xfrm>
          <a:prstGeom prst="ellipse">
            <a:avLst/>
          </a:prstGeom>
          <a:solidFill>
            <a:srgbClr val="E06C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0080" y="3977640"/>
            <a:ext cx="502920" cy="502920"/>
          </a:xfrm>
          <a:prstGeom prst="rect">
            <a:avLst/>
          </a:prstGeom>
          <a:noFill/>
        </p:spPr>
        <p:txBody>
          <a:bodyPr wrap="square" anchor="t"/>
          <a:lstStyle/>
          <a:p>
            <a:pPr algn="ctr"/>
            <a:r>
              <a:rPr sz="2000" b="1" i="0">
                <a:solidFill>
                  <a:srgbClr val="FFFFFF"/>
                </a:solidFill>
                <a:latin typeface="Calibri"/>
              </a:rPr>
              <a:t>4</a:t>
            </a:r>
          </a:p>
        </p:txBody>
      </p:sp>
      <p:sp>
        <p:nvSpPr>
          <p:cNvPr id="22" name="TextBox 21"/>
          <p:cNvSpPr txBox="1"/>
          <p:nvPr/>
        </p:nvSpPr>
        <p:spPr>
          <a:xfrm>
            <a:off x="1463040" y="3977640"/>
            <a:ext cx="9235440" cy="502920"/>
          </a:xfrm>
          <a:prstGeom prst="rect">
            <a:avLst/>
          </a:prstGeom>
          <a:noFill/>
        </p:spPr>
        <p:txBody>
          <a:bodyPr wrap="square">
            <a:spAutoFit/>
          </a:bodyPr>
          <a:lstStyle/>
          <a:p>
            <a:pPr algn="l">
              <a:spcAft>
                <a:spcPts val="600"/>
              </a:spcAft>
            </a:pPr>
            <a:r>
              <a:rPr sz="1600" b="1" i="0">
                <a:solidFill>
                  <a:srgbClr val="FFFFFF"/>
                </a:solidFill>
                <a:latin typeface="Calibri"/>
              </a:rPr>
              <a:t>Projection</a:t>
            </a:r>
            <a:r>
              <a:rPr sz="1300" b="0" i="0">
                <a:solidFill>
                  <a:srgbClr val="AAAAAA"/>
                </a:solidFill>
                <a:latin typeface="Calibri"/>
              </a:rPr>
              <a:t>  —  Linear layer: 1024 → 4096-dim (LLM input space)</a:t>
            </a:r>
          </a:p>
        </p:txBody>
      </p:sp>
      <p:sp>
        <p:nvSpPr>
          <p:cNvPr id="23" name="TextBox 22"/>
          <p:cNvSpPr txBox="1"/>
          <p:nvPr/>
        </p:nvSpPr>
        <p:spPr>
          <a:xfrm>
            <a:off x="5897880" y="4526280"/>
            <a:ext cx="365760" cy="274320"/>
          </a:xfrm>
          <a:prstGeom prst="rect">
            <a:avLst/>
          </a:prstGeom>
          <a:noFill/>
        </p:spPr>
        <p:txBody>
          <a:bodyPr wrap="square" anchor="t"/>
          <a:lstStyle/>
          <a:p>
            <a:pPr algn="ctr"/>
            <a:r>
              <a:rPr sz="1600" b="0" i="0">
                <a:solidFill>
                  <a:srgbClr val="00B4D8"/>
                </a:solidFill>
                <a:latin typeface="Calibri"/>
              </a:rPr>
              <a:t>↓</a:t>
            </a:r>
          </a:p>
        </p:txBody>
      </p:sp>
      <p:sp>
        <p:nvSpPr>
          <p:cNvPr id="24" name="Rounded Rectangle 23"/>
          <p:cNvSpPr/>
          <p:nvPr/>
        </p:nvSpPr>
        <p:spPr>
          <a:xfrm>
            <a:off x="1280160" y="4709160"/>
            <a:ext cx="9601200" cy="685800"/>
          </a:xfrm>
          <a:prstGeom prst="roundRect">
            <a:avLst/>
          </a:prstGeom>
          <a:solidFill>
            <a:srgbClr val="152A40"/>
          </a:solidFill>
          <a:ln w="25400">
            <a:solidFill>
              <a:srgbClr val="E06C7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640080" y="4800600"/>
            <a:ext cx="502920" cy="502920"/>
          </a:xfrm>
          <a:prstGeom prst="ellipse">
            <a:avLst/>
          </a:prstGeom>
          <a:solidFill>
            <a:srgbClr val="E06C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40080" y="4800600"/>
            <a:ext cx="502920" cy="502920"/>
          </a:xfrm>
          <a:prstGeom prst="rect">
            <a:avLst/>
          </a:prstGeom>
          <a:noFill/>
        </p:spPr>
        <p:txBody>
          <a:bodyPr wrap="square" anchor="t"/>
          <a:lstStyle/>
          <a:p>
            <a:pPr algn="ctr"/>
            <a:r>
              <a:rPr sz="2000" b="1" i="0">
                <a:solidFill>
                  <a:srgbClr val="FFFFFF"/>
                </a:solidFill>
                <a:latin typeface="Calibri"/>
              </a:rPr>
              <a:t>5</a:t>
            </a:r>
          </a:p>
        </p:txBody>
      </p:sp>
      <p:sp>
        <p:nvSpPr>
          <p:cNvPr id="27" name="TextBox 26"/>
          <p:cNvSpPr txBox="1"/>
          <p:nvPr/>
        </p:nvSpPr>
        <p:spPr>
          <a:xfrm>
            <a:off x="1463040" y="4800600"/>
            <a:ext cx="9235440" cy="502920"/>
          </a:xfrm>
          <a:prstGeom prst="rect">
            <a:avLst/>
          </a:prstGeom>
          <a:noFill/>
        </p:spPr>
        <p:txBody>
          <a:bodyPr wrap="square">
            <a:spAutoFit/>
          </a:bodyPr>
          <a:lstStyle/>
          <a:p>
            <a:pPr algn="l">
              <a:spcAft>
                <a:spcPts val="600"/>
              </a:spcAft>
            </a:pPr>
            <a:r>
              <a:rPr sz="1600" b="1" i="0">
                <a:solidFill>
                  <a:srgbClr val="FFFFFF"/>
                </a:solidFill>
                <a:latin typeface="Calibri"/>
              </a:rPr>
              <a:t>LLM Generates Text</a:t>
            </a:r>
            <a:r>
              <a:rPr sz="1300" b="0" i="0">
                <a:solidFill>
                  <a:srgbClr val="AAAAAA"/>
                </a:solidFill>
                <a:latin typeface="Calibri"/>
              </a:rPr>
              <a:t>  —  LLaMA-2-7B decodes features into words</a:t>
            </a:r>
          </a:p>
        </p:txBody>
      </p:sp>
      <p:sp>
        <p:nvSpPr>
          <p:cNvPr id="28" name="TextBox 27"/>
          <p:cNvSpPr txBox="1"/>
          <p:nvPr/>
        </p:nvSpPr>
        <p:spPr>
          <a:xfrm>
            <a:off x="548640" y="5806440"/>
            <a:ext cx="11091672" cy="365760"/>
          </a:xfrm>
          <a:prstGeom prst="rect">
            <a:avLst/>
          </a:prstGeom>
          <a:noFill/>
        </p:spPr>
        <p:txBody>
          <a:bodyPr wrap="square" anchor="t"/>
          <a:lstStyle/>
          <a:p>
            <a:pPr algn="ctr"/>
            <a:r>
              <a:rPr sz="1300" b="0" i="1">
                <a:solidFill>
                  <a:srgbClr val="AAAAAA"/>
                </a:solidFill>
                <a:latin typeface="Calibri"/>
              </a:rPr>
              <a:t>Visual encoder is frozen (pre-trained on LRS3). Only projection + LoRA adapters are trained.</a:t>
            </a:r>
          </a:p>
        </p:txBody>
      </p:sp>
      <p:pic>
        <p:nvPicPr>
          <p:cNvPr id="29" name="Picture 28" descr="WhiteLogo.jpeg"/>
          <p:cNvPicPr>
            <a:picLocks noChangeAspect="1"/>
          </p:cNvPicPr>
          <p:nvPr/>
        </p:nvPicPr>
        <p:blipFill>
          <a:blip r:embed="rId2"/>
          <a:stretch>
            <a:fillRect/>
          </a:stretch>
        </p:blipFill>
        <p:spPr>
          <a:xfrm>
            <a:off x="11323320" y="6428232"/>
            <a:ext cx="269634" cy="320040"/>
          </a:xfrm>
          <a:prstGeom prst="rect">
            <a:avLst/>
          </a:prstGeom>
        </p:spPr>
      </p:pic>
      <p:sp>
        <p:nvSpPr>
          <p:cNvPr id="30" name="TextBox 29"/>
          <p:cNvSpPr txBox="1"/>
          <p:nvPr/>
        </p:nvSpPr>
        <p:spPr>
          <a:xfrm>
            <a:off x="548640" y="6510528"/>
            <a:ext cx="457200" cy="228600"/>
          </a:xfrm>
          <a:prstGeom prst="rect">
            <a:avLst/>
          </a:prstGeom>
          <a:noFill/>
        </p:spPr>
        <p:txBody>
          <a:bodyPr wrap="none">
            <a:spAutoFit/>
          </a:bodyPr>
          <a:lstStyle/>
          <a:p>
            <a:r>
              <a:rPr sz="900" b="0" i="0">
                <a:solidFill>
                  <a:srgbClr val="666666"/>
                </a:solidFill>
                <a:latin typeface="Calibri"/>
              </a:rPr>
              <a:t>30</a:t>
            </a:r>
          </a:p>
        </p:txBody>
      </p:sp>
    </p:spTree>
  </p:cSld>
  <p:clrMapOvr>
    <a:masterClrMapping/>
  </p:clrMapOvr>
  <p:transition spd="med" advClick="1">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par>
                                <p:cTn id="7" presetID="1" presetClass="entr" presetSubtype="0" fill="hold" grpId="0" nodeType="withEffect">
                                  <p:stCondLst>
                                    <p:cond delay="120"/>
                                  </p:stCondLst>
                                  <p:childTnLst>
                                    <p:set>
                                      <p:cBhvr>
                                        <p:cTn id="8" dur="1" fill="hold">
                                          <p:stCondLst>
                                            <p:cond delay="0"/>
                                          </p:stCondLst>
                                        </p:cTn>
                                        <p:tgtEl>
                                          <p:spTgt spid="10"/>
                                        </p:tgtEl>
                                        <p:attrNameLst>
                                          <p:attrName>style.visibility</p:attrName>
                                        </p:attrNameLst>
                                      </p:cBhvr>
                                      <p:to>
                                        <p:strVal val="visible"/>
                                      </p:to>
                                    </p:set>
                                  </p:childTnLst>
                                </p:cTn>
                              </p:par>
                              <p:par>
                                <p:cTn id="9" presetID="1" presetClass="entr" presetSubtype="0" fill="hold" grpId="0" nodeType="withEffect">
                                  <p:stCondLst>
                                    <p:cond delay="240"/>
                                  </p:stCondLst>
                                  <p:childTnLst>
                                    <p:set>
                                      <p:cBhvr>
                                        <p:cTn id="10" dur="1" fill="hold">
                                          <p:stCondLst>
                                            <p:cond delay="0"/>
                                          </p:stCondLst>
                                        </p:cTn>
                                        <p:tgtEl>
                                          <p:spTgt spid="11"/>
                                        </p:tgtEl>
                                        <p:attrNameLst>
                                          <p:attrName>style.visibility</p:attrName>
                                        </p:attrNameLst>
                                      </p:cBhvr>
                                      <p:to>
                                        <p:strVal val="visible"/>
                                      </p:to>
                                    </p:set>
                                  </p:childTnLst>
                                </p:cTn>
                              </p:par>
                              <p:par>
                                <p:cTn id="11" presetID="1" presetClass="entr" presetSubtype="0" fill="hold" grpId="0" nodeType="withEffect">
                                  <p:stCondLst>
                                    <p:cond delay="360"/>
                                  </p:stCondLst>
                                  <p:childTnLst>
                                    <p:set>
                                      <p:cBhvr>
                                        <p:cTn id="12" dur="1" fill="hold">
                                          <p:stCondLst>
                                            <p:cond delay="0"/>
                                          </p:stCondLst>
                                        </p:cTn>
                                        <p:tgtEl>
                                          <p:spTgt spid="12"/>
                                        </p:tgtEl>
                                        <p:attrNameLst>
                                          <p:attrName>style.visibility</p:attrName>
                                        </p:attrNameLst>
                                      </p:cBhvr>
                                      <p:to>
                                        <p:strVal val="visible"/>
                                      </p:to>
                                    </p:set>
                                  </p:childTnLst>
                                </p:cTn>
                              </p:par>
                              <p:par>
                                <p:cTn id="13" presetID="1" presetClass="entr" presetSubtype="0" fill="hold" grpId="0" nodeType="withEffect">
                                  <p:stCondLst>
                                    <p:cond delay="480"/>
                                  </p:stCondLst>
                                  <p:childTnLst>
                                    <p:set>
                                      <p:cBhvr>
                                        <p:cTn id="14" dur="1" fill="hold">
                                          <p:stCondLst>
                                            <p:cond delay="0"/>
                                          </p:stCondLst>
                                        </p:cTn>
                                        <p:tgtEl>
                                          <p:spTgt spid="1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4"/>
                                        </p:tgtEl>
                                        <p:attrNameLst>
                                          <p:attrName>style.visibility</p:attrName>
                                        </p:attrNameLst>
                                      </p:cBhvr>
                                      <p:to>
                                        <p:strVal val="visible"/>
                                      </p:to>
                                    </p:set>
                                  </p:childTnLst>
                                </p:cTn>
                              </p:par>
                              <p:par>
                                <p:cTn id="19" presetID="1" presetClass="entr" presetSubtype="0" fill="hold" grpId="0" nodeType="withEffect">
                                  <p:stCondLst>
                                    <p:cond delay="120"/>
                                  </p:stCondLst>
                                  <p:childTnLst>
                                    <p:set>
                                      <p:cBhvr>
                                        <p:cTn id="20" dur="1" fill="hold">
                                          <p:stCondLst>
                                            <p:cond delay="0"/>
                                          </p:stCondLst>
                                        </p:cTn>
                                        <p:tgtEl>
                                          <p:spTgt spid="15"/>
                                        </p:tgtEl>
                                        <p:attrNameLst>
                                          <p:attrName>style.visibility</p:attrName>
                                        </p:attrNameLst>
                                      </p:cBhvr>
                                      <p:to>
                                        <p:strVal val="visible"/>
                                      </p:to>
                                    </p:set>
                                  </p:childTnLst>
                                </p:cTn>
                              </p:par>
                              <p:par>
                                <p:cTn id="21" presetID="1" presetClass="entr" presetSubtype="0" fill="hold" grpId="0" nodeType="withEffect">
                                  <p:stCondLst>
                                    <p:cond delay="240"/>
                                  </p:stCondLst>
                                  <p:childTnLst>
                                    <p:set>
                                      <p:cBhvr>
                                        <p:cTn id="22" dur="1" fill="hold">
                                          <p:stCondLst>
                                            <p:cond delay="0"/>
                                          </p:stCondLst>
                                        </p:cTn>
                                        <p:tgtEl>
                                          <p:spTgt spid="16"/>
                                        </p:tgtEl>
                                        <p:attrNameLst>
                                          <p:attrName>style.visibility</p:attrName>
                                        </p:attrNameLst>
                                      </p:cBhvr>
                                      <p:to>
                                        <p:strVal val="visible"/>
                                      </p:to>
                                    </p:set>
                                  </p:childTnLst>
                                </p:cTn>
                              </p:par>
                              <p:par>
                                <p:cTn id="23" presetID="1" presetClass="entr" presetSubtype="0" fill="hold" grpId="0" nodeType="withEffect">
                                  <p:stCondLst>
                                    <p:cond delay="360"/>
                                  </p:stCondLst>
                                  <p:childTnLst>
                                    <p:set>
                                      <p:cBhvr>
                                        <p:cTn id="24" dur="1" fill="hold">
                                          <p:stCondLst>
                                            <p:cond delay="0"/>
                                          </p:stCondLst>
                                        </p:cTn>
                                        <p:tgtEl>
                                          <p:spTgt spid="17"/>
                                        </p:tgtEl>
                                        <p:attrNameLst>
                                          <p:attrName>style.visibility</p:attrName>
                                        </p:attrNameLst>
                                      </p:cBhvr>
                                      <p:to>
                                        <p:strVal val="visible"/>
                                      </p:to>
                                    </p:set>
                                  </p:childTnLst>
                                </p:cTn>
                              </p:par>
                              <p:par>
                                <p:cTn id="25" presetID="1" presetClass="entr" presetSubtype="0" fill="hold" grpId="0" nodeType="withEffect">
                                  <p:stCondLst>
                                    <p:cond delay="480"/>
                                  </p:stCondLst>
                                  <p:childTnLst>
                                    <p:set>
                                      <p:cBhvr>
                                        <p:cTn id="26" dur="1" fill="hold">
                                          <p:stCondLst>
                                            <p:cond delay="0"/>
                                          </p:stCondLst>
                                        </p:cTn>
                                        <p:tgtEl>
                                          <p:spTgt spid="18"/>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9"/>
                                        </p:tgtEl>
                                        <p:attrNameLst>
                                          <p:attrName>style.visibility</p:attrName>
                                        </p:attrNameLst>
                                      </p:cBhvr>
                                      <p:to>
                                        <p:strVal val="visible"/>
                                      </p:to>
                                    </p:set>
                                  </p:childTnLst>
                                </p:cTn>
                              </p:par>
                              <p:par>
                                <p:cTn id="31" presetID="1" presetClass="entr" presetSubtype="0" fill="hold" grpId="0" nodeType="withEffect">
                                  <p:stCondLst>
                                    <p:cond delay="120"/>
                                  </p:stCondLst>
                                  <p:childTnLst>
                                    <p:set>
                                      <p:cBhvr>
                                        <p:cTn id="32" dur="1" fill="hold">
                                          <p:stCondLst>
                                            <p:cond delay="0"/>
                                          </p:stCondLst>
                                        </p:cTn>
                                        <p:tgtEl>
                                          <p:spTgt spid="20"/>
                                        </p:tgtEl>
                                        <p:attrNameLst>
                                          <p:attrName>style.visibility</p:attrName>
                                        </p:attrNameLst>
                                      </p:cBhvr>
                                      <p:to>
                                        <p:strVal val="visible"/>
                                      </p:to>
                                    </p:set>
                                  </p:childTnLst>
                                </p:cTn>
                              </p:par>
                              <p:par>
                                <p:cTn id="33" presetID="1" presetClass="entr" presetSubtype="0" fill="hold" grpId="0" nodeType="withEffect">
                                  <p:stCondLst>
                                    <p:cond delay="240"/>
                                  </p:stCondLst>
                                  <p:childTnLst>
                                    <p:set>
                                      <p:cBhvr>
                                        <p:cTn id="34" dur="1" fill="hold">
                                          <p:stCondLst>
                                            <p:cond delay="0"/>
                                          </p:stCondLst>
                                        </p:cTn>
                                        <p:tgtEl>
                                          <p:spTgt spid="21"/>
                                        </p:tgtEl>
                                        <p:attrNameLst>
                                          <p:attrName>style.visibility</p:attrName>
                                        </p:attrNameLst>
                                      </p:cBhvr>
                                      <p:to>
                                        <p:strVal val="visible"/>
                                      </p:to>
                                    </p:set>
                                  </p:childTnLst>
                                </p:cTn>
                              </p:par>
                              <p:par>
                                <p:cTn id="35" presetID="1" presetClass="entr" presetSubtype="0" fill="hold" grpId="0" nodeType="withEffect">
                                  <p:stCondLst>
                                    <p:cond delay="360"/>
                                  </p:stCondLst>
                                  <p:childTnLst>
                                    <p:set>
                                      <p:cBhvr>
                                        <p:cTn id="36" dur="1" fill="hold">
                                          <p:stCondLst>
                                            <p:cond delay="0"/>
                                          </p:stCondLst>
                                        </p:cTn>
                                        <p:tgtEl>
                                          <p:spTgt spid="22"/>
                                        </p:tgtEl>
                                        <p:attrNameLst>
                                          <p:attrName>style.visibility</p:attrName>
                                        </p:attrNameLst>
                                      </p:cBhvr>
                                      <p:to>
                                        <p:strVal val="visible"/>
                                      </p:to>
                                    </p:set>
                                  </p:childTnLst>
                                </p:cTn>
                              </p:par>
                              <p:par>
                                <p:cTn id="37" presetID="1" presetClass="entr" presetSubtype="0" fill="hold" grpId="0" nodeType="withEffect">
                                  <p:stCondLst>
                                    <p:cond delay="480"/>
                                  </p:stCondLst>
                                  <p:childTnLst>
                                    <p:set>
                                      <p:cBhvr>
                                        <p:cTn id="38" dur="1" fill="hold">
                                          <p:stCondLst>
                                            <p:cond delay="0"/>
                                          </p:stCondLst>
                                        </p:cTn>
                                        <p:tgtEl>
                                          <p:spTgt spid="23"/>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24"/>
                                        </p:tgtEl>
                                        <p:attrNameLst>
                                          <p:attrName>style.visibility</p:attrName>
                                        </p:attrNameLst>
                                      </p:cBhvr>
                                      <p:to>
                                        <p:strVal val="visible"/>
                                      </p:to>
                                    </p:set>
                                  </p:childTnLst>
                                </p:cTn>
                              </p:par>
                              <p:par>
                                <p:cTn id="43" presetID="1" presetClass="entr" presetSubtype="0" fill="hold" grpId="0" nodeType="withEffect">
                                  <p:stCondLst>
                                    <p:cond delay="120"/>
                                  </p:stCondLst>
                                  <p:childTnLst>
                                    <p:set>
                                      <p:cBhvr>
                                        <p:cTn id="44" dur="1" fill="hold">
                                          <p:stCondLst>
                                            <p:cond delay="0"/>
                                          </p:stCondLst>
                                        </p:cTn>
                                        <p:tgtEl>
                                          <p:spTgt spid="25"/>
                                        </p:tgtEl>
                                        <p:attrNameLst>
                                          <p:attrName>style.visibility</p:attrName>
                                        </p:attrNameLst>
                                      </p:cBhvr>
                                      <p:to>
                                        <p:strVal val="visible"/>
                                      </p:to>
                                    </p:set>
                                  </p:childTnLst>
                                </p:cTn>
                              </p:par>
                              <p:par>
                                <p:cTn id="45" presetID="1" presetClass="entr" presetSubtype="0" fill="hold" grpId="0" nodeType="withEffect">
                                  <p:stCondLst>
                                    <p:cond delay="240"/>
                                  </p:stCondLst>
                                  <p:childTnLst>
                                    <p:set>
                                      <p:cBhvr>
                                        <p:cTn id="46" dur="1" fill="hold">
                                          <p:stCondLst>
                                            <p:cond delay="0"/>
                                          </p:stCondLst>
                                        </p:cTn>
                                        <p:tgtEl>
                                          <p:spTgt spid="26"/>
                                        </p:tgtEl>
                                        <p:attrNameLst>
                                          <p:attrName>style.visibility</p:attrName>
                                        </p:attrNameLst>
                                      </p:cBhvr>
                                      <p:to>
                                        <p:strVal val="visible"/>
                                      </p:to>
                                    </p:set>
                                  </p:childTnLst>
                                </p:cTn>
                              </p:par>
                              <p:par>
                                <p:cTn id="47" presetID="1" presetClass="entr" presetSubtype="0" fill="hold" grpId="0" nodeType="withEffect">
                                  <p:stCondLst>
                                    <p:cond delay="360"/>
                                  </p:stCondLst>
                                  <p:childTnLst>
                                    <p:set>
                                      <p:cBhvr>
                                        <p:cTn id="48" dur="1" fill="hold">
                                          <p:stCondLst>
                                            <p:cond delay="0"/>
                                          </p:stCondLst>
                                        </p:cTn>
                                        <p:tgtEl>
                                          <p:spTgt spid="2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Lst>
  </p:timing>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0D1B2A"/>
        </a:solidFill>
        <a:effectLst/>
      </p:bgPr>
    </p:bg>
    <p:spTree>
      <p:nvGrpSpPr>
        <p:cNvPr id="1" name=""/>
        <p:cNvGrpSpPr/>
        <p:nvPr/>
      </p:nvGrpSpPr>
      <p:grpSpPr/>
      <p:sp>
        <p:nvSpPr>
          <p:cNvPr id="2" name="TextBox 1"/>
          <p:cNvSpPr txBox="1"/>
          <p:nvPr/>
        </p:nvSpPr>
        <p:spPr>
          <a:xfrm>
            <a:off x="548640" y="365760"/>
            <a:ext cx="11091672" cy="685800"/>
          </a:xfrm>
          <a:prstGeom prst="rect">
            <a:avLst/>
          </a:prstGeom>
          <a:noFill/>
        </p:spPr>
        <p:txBody>
          <a:bodyPr wrap="square">
            <a:spAutoFit/>
          </a:bodyPr>
          <a:lstStyle/>
          <a:p>
            <a:r>
              <a:rPr sz="3200" b="1" i="0">
                <a:solidFill>
                  <a:srgbClr val="FFFFFF"/>
                </a:solidFill>
                <a:latin typeface="Calibri"/>
              </a:rPr>
              <a:t>Why lip reading is hard</a:t>
            </a:r>
          </a:p>
        </p:txBody>
      </p:sp>
      <p:sp>
        <p:nvSpPr>
          <p:cNvPr id="3" name="Rectangle 2"/>
          <p:cNvSpPr/>
          <p:nvPr/>
        </p:nvSpPr>
        <p:spPr>
          <a:xfrm>
            <a:off x="548640" y="1097280"/>
            <a:ext cx="11091672" cy="1905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554480"/>
            <a:ext cx="11091672" cy="548640"/>
          </a:xfrm>
          <a:prstGeom prst="rect">
            <a:avLst/>
          </a:prstGeom>
          <a:noFill/>
        </p:spPr>
        <p:txBody>
          <a:bodyPr wrap="square" anchor="t"/>
          <a:lstStyle/>
          <a:p>
            <a:pPr algn="ctr"/>
            <a:r>
              <a:rPr sz="2200" b="0" i="1">
                <a:solidFill>
                  <a:srgbClr val="00B4D8"/>
                </a:solidFill>
                <a:latin typeface="Calibri"/>
              </a:rPr>
              <a:t>Many words look identical on the lips. The model has to choose.</a:t>
            </a:r>
          </a:p>
        </p:txBody>
      </p:sp>
      <p:sp>
        <p:nvSpPr>
          <p:cNvPr id="5" name="Rectangle 4"/>
          <p:cNvSpPr/>
          <p:nvPr/>
        </p:nvSpPr>
        <p:spPr>
          <a:xfrm>
            <a:off x="548640" y="2560320"/>
            <a:ext cx="3520440" cy="2194560"/>
          </a:xfrm>
          <a:prstGeom prst="rect">
            <a:avLst/>
          </a:prstGeom>
          <a:solidFill>
            <a:srgbClr val="152A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2788920"/>
            <a:ext cx="2971800" cy="365760"/>
          </a:xfrm>
          <a:prstGeom prst="rect">
            <a:avLst/>
          </a:prstGeom>
          <a:noFill/>
        </p:spPr>
        <p:txBody>
          <a:bodyPr wrap="square" anchor="t"/>
          <a:lstStyle/>
          <a:p>
            <a:pPr algn="l"/>
            <a:r>
              <a:rPr sz="1100" b="1" i="0">
                <a:solidFill>
                  <a:srgbClr val="00B4D8"/>
                </a:solidFill>
                <a:latin typeface="Calibri"/>
              </a:rPr>
              <a:t>LOOK IDENTICAL</a:t>
            </a:r>
          </a:p>
        </p:txBody>
      </p:sp>
      <p:sp>
        <p:nvSpPr>
          <p:cNvPr id="7" name="TextBox 6"/>
          <p:cNvSpPr txBox="1"/>
          <p:nvPr/>
        </p:nvSpPr>
        <p:spPr>
          <a:xfrm>
            <a:off x="822960" y="3337560"/>
            <a:ext cx="2971800" cy="640080"/>
          </a:xfrm>
          <a:prstGeom prst="rect">
            <a:avLst/>
          </a:prstGeom>
          <a:noFill/>
        </p:spPr>
        <p:txBody>
          <a:bodyPr wrap="square" anchor="t"/>
          <a:lstStyle/>
          <a:p>
            <a:pPr algn="ctr"/>
            <a:r>
              <a:rPr sz="2200" b="1" i="0">
                <a:solidFill>
                  <a:srgbClr val="FFFFFF"/>
                </a:solidFill>
                <a:latin typeface="Calibri"/>
              </a:rPr>
              <a:t>pat  ·  bat  ·  mat</a:t>
            </a:r>
          </a:p>
        </p:txBody>
      </p:sp>
      <p:sp>
        <p:nvSpPr>
          <p:cNvPr id="8" name="TextBox 7"/>
          <p:cNvSpPr txBox="1"/>
          <p:nvPr/>
        </p:nvSpPr>
        <p:spPr>
          <a:xfrm>
            <a:off x="822960" y="4114800"/>
            <a:ext cx="2971800" cy="548640"/>
          </a:xfrm>
          <a:prstGeom prst="rect">
            <a:avLst/>
          </a:prstGeom>
          <a:noFill/>
        </p:spPr>
        <p:txBody>
          <a:bodyPr wrap="square" anchor="t"/>
          <a:lstStyle/>
          <a:p>
            <a:pPr algn="ctr"/>
            <a:r>
              <a:rPr sz="1200" b="0" i="1">
                <a:solidFill>
                  <a:srgbClr val="AAAAAA"/>
                </a:solidFill>
                <a:latin typeface="Calibri"/>
              </a:rPr>
              <a:t>Plosive sounds — same lip closure</a:t>
            </a:r>
          </a:p>
        </p:txBody>
      </p:sp>
      <p:sp>
        <p:nvSpPr>
          <p:cNvPr id="9" name="Rectangle 8"/>
          <p:cNvSpPr/>
          <p:nvPr/>
        </p:nvSpPr>
        <p:spPr>
          <a:xfrm>
            <a:off x="4297680" y="2560320"/>
            <a:ext cx="3520440" cy="2194560"/>
          </a:xfrm>
          <a:prstGeom prst="rect">
            <a:avLst/>
          </a:prstGeom>
          <a:solidFill>
            <a:srgbClr val="152A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0" y="2788920"/>
            <a:ext cx="2971800" cy="365760"/>
          </a:xfrm>
          <a:prstGeom prst="rect">
            <a:avLst/>
          </a:prstGeom>
          <a:noFill/>
        </p:spPr>
        <p:txBody>
          <a:bodyPr wrap="square" anchor="t"/>
          <a:lstStyle/>
          <a:p>
            <a:pPr algn="l"/>
            <a:r>
              <a:rPr sz="1100" b="1" i="0">
                <a:solidFill>
                  <a:srgbClr val="FFD54F"/>
                </a:solidFill>
                <a:latin typeface="Calibri"/>
              </a:rPr>
              <a:t>LOOK IDENTICAL</a:t>
            </a:r>
          </a:p>
        </p:txBody>
      </p:sp>
      <p:sp>
        <p:nvSpPr>
          <p:cNvPr id="11" name="TextBox 10"/>
          <p:cNvSpPr txBox="1"/>
          <p:nvPr/>
        </p:nvSpPr>
        <p:spPr>
          <a:xfrm>
            <a:off x="4572000" y="3337560"/>
            <a:ext cx="2971800" cy="640080"/>
          </a:xfrm>
          <a:prstGeom prst="rect">
            <a:avLst/>
          </a:prstGeom>
          <a:noFill/>
        </p:spPr>
        <p:txBody>
          <a:bodyPr wrap="square" anchor="t"/>
          <a:lstStyle/>
          <a:p>
            <a:pPr algn="ctr"/>
            <a:r>
              <a:rPr sz="2200" b="1" i="0">
                <a:solidFill>
                  <a:srgbClr val="FFFFFF"/>
                </a:solidFill>
                <a:latin typeface="Calibri"/>
              </a:rPr>
              <a:t>thin  ·  fin  ·  shin</a:t>
            </a:r>
          </a:p>
        </p:txBody>
      </p:sp>
      <p:sp>
        <p:nvSpPr>
          <p:cNvPr id="12" name="TextBox 11"/>
          <p:cNvSpPr txBox="1"/>
          <p:nvPr/>
        </p:nvSpPr>
        <p:spPr>
          <a:xfrm>
            <a:off x="4572000" y="4114800"/>
            <a:ext cx="2971800" cy="548640"/>
          </a:xfrm>
          <a:prstGeom prst="rect">
            <a:avLst/>
          </a:prstGeom>
          <a:noFill/>
        </p:spPr>
        <p:txBody>
          <a:bodyPr wrap="square" anchor="t"/>
          <a:lstStyle/>
          <a:p>
            <a:pPr algn="ctr"/>
            <a:r>
              <a:rPr sz="1200" b="0" i="1">
                <a:solidFill>
                  <a:srgbClr val="AAAAAA"/>
                </a:solidFill>
                <a:latin typeface="Calibri"/>
              </a:rPr>
              <a:t>Fricatives — invisible airflow</a:t>
            </a:r>
          </a:p>
        </p:txBody>
      </p:sp>
      <p:sp>
        <p:nvSpPr>
          <p:cNvPr id="13" name="Rectangle 12"/>
          <p:cNvSpPr/>
          <p:nvPr/>
        </p:nvSpPr>
        <p:spPr>
          <a:xfrm>
            <a:off x="8046720" y="2560320"/>
            <a:ext cx="3520440" cy="2194560"/>
          </a:xfrm>
          <a:prstGeom prst="rect">
            <a:avLst/>
          </a:prstGeom>
          <a:solidFill>
            <a:srgbClr val="152A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321040" y="2788920"/>
            <a:ext cx="2971800" cy="365760"/>
          </a:xfrm>
          <a:prstGeom prst="rect">
            <a:avLst/>
          </a:prstGeom>
          <a:noFill/>
        </p:spPr>
        <p:txBody>
          <a:bodyPr wrap="square" anchor="t"/>
          <a:lstStyle/>
          <a:p>
            <a:pPr algn="l"/>
            <a:r>
              <a:rPr sz="1100" b="1" i="0">
                <a:solidFill>
                  <a:srgbClr val="E06C75"/>
                </a:solidFill>
                <a:latin typeface="Calibri"/>
              </a:rPr>
              <a:t>LOOK IDENTICAL</a:t>
            </a:r>
          </a:p>
        </p:txBody>
      </p:sp>
      <p:sp>
        <p:nvSpPr>
          <p:cNvPr id="15" name="TextBox 14"/>
          <p:cNvSpPr txBox="1"/>
          <p:nvPr/>
        </p:nvSpPr>
        <p:spPr>
          <a:xfrm>
            <a:off x="8321040" y="3337560"/>
            <a:ext cx="2971800" cy="640080"/>
          </a:xfrm>
          <a:prstGeom prst="rect">
            <a:avLst/>
          </a:prstGeom>
          <a:noFill/>
        </p:spPr>
        <p:txBody>
          <a:bodyPr wrap="square" anchor="t"/>
          <a:lstStyle/>
          <a:p>
            <a:pPr algn="ctr"/>
            <a:r>
              <a:rPr sz="2200" b="1" i="0">
                <a:solidFill>
                  <a:srgbClr val="FFFFFF"/>
                </a:solidFill>
                <a:latin typeface="Calibri"/>
              </a:rPr>
              <a:t>see  ·  zee  ·  thee</a:t>
            </a:r>
          </a:p>
        </p:txBody>
      </p:sp>
      <p:sp>
        <p:nvSpPr>
          <p:cNvPr id="16" name="TextBox 15"/>
          <p:cNvSpPr txBox="1"/>
          <p:nvPr/>
        </p:nvSpPr>
        <p:spPr>
          <a:xfrm>
            <a:off x="8321040" y="4114800"/>
            <a:ext cx="2971800" cy="548640"/>
          </a:xfrm>
          <a:prstGeom prst="rect">
            <a:avLst/>
          </a:prstGeom>
          <a:noFill/>
        </p:spPr>
        <p:txBody>
          <a:bodyPr wrap="square" anchor="t"/>
          <a:lstStyle/>
          <a:p>
            <a:pPr algn="ctr"/>
            <a:r>
              <a:rPr sz="1200" b="0" i="1">
                <a:solidFill>
                  <a:srgbClr val="AAAAAA"/>
                </a:solidFill>
                <a:latin typeface="Calibri"/>
              </a:rPr>
              <a:t>Voicing — invisible vibration</a:t>
            </a:r>
          </a:p>
        </p:txBody>
      </p:sp>
      <p:sp>
        <p:nvSpPr>
          <p:cNvPr id="17" name="TextBox 16"/>
          <p:cNvSpPr txBox="1"/>
          <p:nvPr/>
        </p:nvSpPr>
        <p:spPr>
          <a:xfrm>
            <a:off x="548640" y="5029200"/>
            <a:ext cx="11091672" cy="457200"/>
          </a:xfrm>
          <a:prstGeom prst="rect">
            <a:avLst/>
          </a:prstGeom>
          <a:noFill/>
        </p:spPr>
        <p:txBody>
          <a:bodyPr wrap="square" anchor="t"/>
          <a:lstStyle/>
          <a:p>
            <a:pPr algn="ctr"/>
            <a:r>
              <a:rPr sz="1300" b="0" i="1">
                <a:solidFill>
                  <a:srgbClr val="AAAAAA"/>
                </a:solidFill>
                <a:latin typeface="Calibri"/>
              </a:rPr>
              <a:t>The system uses language context and confidence scoring to pick the right one — and tells you when it can't.</a:t>
            </a:r>
          </a:p>
        </p:txBody>
      </p:sp>
      <p:pic>
        <p:nvPicPr>
          <p:cNvPr id="18" name="Picture 17" descr="WhiteLogo.jpeg"/>
          <p:cNvPicPr>
            <a:picLocks noChangeAspect="1"/>
          </p:cNvPicPr>
          <p:nvPr/>
        </p:nvPicPr>
        <p:blipFill>
          <a:blip r:embed="rId2"/>
          <a:stretch>
            <a:fillRect/>
          </a:stretch>
        </p:blipFill>
        <p:spPr>
          <a:xfrm>
            <a:off x="11323320" y="6428232"/>
            <a:ext cx="269634" cy="320040"/>
          </a:xfrm>
          <a:prstGeom prst="rect">
            <a:avLst/>
          </a:prstGeom>
        </p:spPr>
      </p:pic>
      <p:sp>
        <p:nvSpPr>
          <p:cNvPr id="19" name="TextBox 18"/>
          <p:cNvSpPr txBox="1"/>
          <p:nvPr/>
        </p:nvSpPr>
        <p:spPr>
          <a:xfrm>
            <a:off x="548640" y="6510528"/>
            <a:ext cx="457200" cy="228600"/>
          </a:xfrm>
          <a:prstGeom prst="rect">
            <a:avLst/>
          </a:prstGeom>
          <a:noFill/>
        </p:spPr>
        <p:txBody>
          <a:bodyPr wrap="none">
            <a:spAutoFit/>
          </a:bodyPr>
          <a:lstStyle/>
          <a:p>
            <a:r>
              <a:rPr sz="900" b="0" i="0">
                <a:solidFill>
                  <a:srgbClr val="666666"/>
                </a:solidFill>
                <a:latin typeface="Calibri"/>
              </a:rPr>
              <a:t>31</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0D1B2A"/>
        </a:solidFill>
        <a:effectLst/>
      </p:bgPr>
    </p:bg>
    <p:spTree>
      <p:nvGrpSpPr>
        <p:cNvPr id="1" name=""/>
        <p:cNvGrpSpPr/>
        <p:nvPr/>
      </p:nvGrpSpPr>
      <p:grpSpPr/>
      <p:sp>
        <p:nvSpPr>
          <p:cNvPr id="2" name="TextBox 1"/>
          <p:cNvSpPr txBox="1"/>
          <p:nvPr/>
        </p:nvSpPr>
        <p:spPr>
          <a:xfrm>
            <a:off x="548640" y="365760"/>
            <a:ext cx="11091672" cy="685800"/>
          </a:xfrm>
          <a:prstGeom prst="rect">
            <a:avLst/>
          </a:prstGeom>
          <a:noFill/>
        </p:spPr>
        <p:txBody>
          <a:bodyPr wrap="square">
            <a:spAutoFit/>
          </a:bodyPr>
          <a:lstStyle/>
          <a:p>
            <a:r>
              <a:rPr sz="3200" b="1" i="0">
                <a:solidFill>
                  <a:srgbClr val="FFFFFF"/>
                </a:solidFill>
                <a:latin typeface="Calibri"/>
              </a:rPr>
              <a:t>Three components, end-to-end</a:t>
            </a:r>
          </a:p>
        </p:txBody>
      </p:sp>
      <p:sp>
        <p:nvSpPr>
          <p:cNvPr id="3" name="Rectangle 2"/>
          <p:cNvSpPr/>
          <p:nvPr/>
        </p:nvSpPr>
        <p:spPr>
          <a:xfrm>
            <a:off x="548640" y="1097280"/>
            <a:ext cx="11091672" cy="1905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554480"/>
            <a:ext cx="11091672" cy="457200"/>
          </a:xfrm>
          <a:prstGeom prst="rect">
            <a:avLst/>
          </a:prstGeom>
          <a:noFill/>
        </p:spPr>
        <p:txBody>
          <a:bodyPr wrap="square" anchor="t"/>
          <a:lstStyle/>
          <a:p>
            <a:pPr algn="ctr"/>
            <a:r>
              <a:rPr sz="1800" b="0" i="1">
                <a:solidFill>
                  <a:srgbClr val="AAAAAA"/>
                </a:solidFill>
                <a:latin typeface="Calibri"/>
              </a:rPr>
              <a:t>From a raw video frame to a confidence-scored transcript.</a:t>
            </a:r>
          </a:p>
        </p:txBody>
      </p:sp>
      <p:sp>
        <p:nvSpPr>
          <p:cNvPr id="5" name="Rectangle 4"/>
          <p:cNvSpPr/>
          <p:nvPr/>
        </p:nvSpPr>
        <p:spPr>
          <a:xfrm>
            <a:off x="790956" y="2468880"/>
            <a:ext cx="3291840" cy="2743200"/>
          </a:xfrm>
          <a:prstGeom prst="rect">
            <a:avLst/>
          </a:prstGeom>
          <a:solidFill>
            <a:srgbClr val="152A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65276" y="2697480"/>
            <a:ext cx="2743200" cy="457200"/>
          </a:xfrm>
          <a:prstGeom prst="rect">
            <a:avLst/>
          </a:prstGeom>
          <a:noFill/>
        </p:spPr>
        <p:txBody>
          <a:bodyPr wrap="square" anchor="t"/>
          <a:lstStyle/>
          <a:p>
            <a:pPr algn="l"/>
            <a:r>
              <a:rPr sz="2800" b="1" i="0">
                <a:solidFill>
                  <a:srgbClr val="00B4D8"/>
                </a:solidFill>
                <a:latin typeface="Calibri"/>
              </a:rPr>
              <a:t>1.</a:t>
            </a:r>
          </a:p>
        </p:txBody>
      </p:sp>
      <p:sp>
        <p:nvSpPr>
          <p:cNvPr id="7" name="TextBox 6"/>
          <p:cNvSpPr txBox="1"/>
          <p:nvPr/>
        </p:nvSpPr>
        <p:spPr>
          <a:xfrm>
            <a:off x="1065276" y="3246120"/>
            <a:ext cx="2743200" cy="731520"/>
          </a:xfrm>
          <a:prstGeom prst="rect">
            <a:avLst/>
          </a:prstGeom>
          <a:noFill/>
        </p:spPr>
        <p:txBody>
          <a:bodyPr wrap="square" anchor="t"/>
          <a:lstStyle/>
          <a:p>
            <a:pPr algn="l"/>
            <a:r>
              <a:rPr sz="1300" b="1" i="0">
                <a:solidFill>
                  <a:srgbClr val="FFFFFF"/>
                </a:solidFill>
                <a:latin typeface="Calibri"/>
              </a:rPr>
              <a:t>FACE DETECTION &amp; MOUTH CROPPING</a:t>
            </a:r>
          </a:p>
        </p:txBody>
      </p:sp>
      <p:sp>
        <p:nvSpPr>
          <p:cNvPr id="8" name="TextBox 7"/>
          <p:cNvSpPr txBox="1"/>
          <p:nvPr/>
        </p:nvSpPr>
        <p:spPr>
          <a:xfrm>
            <a:off x="1065276" y="4023360"/>
            <a:ext cx="2743200" cy="1097280"/>
          </a:xfrm>
          <a:prstGeom prst="rect">
            <a:avLst/>
          </a:prstGeom>
          <a:noFill/>
        </p:spPr>
        <p:txBody>
          <a:bodyPr wrap="square" anchor="t"/>
          <a:lstStyle/>
          <a:p>
            <a:pPr algn="l"/>
            <a:r>
              <a:rPr sz="1200" b="0" i="0">
                <a:solidFill>
                  <a:srgbClr val="AAAAAA"/>
                </a:solidFill>
                <a:latin typeface="Calibri"/>
              </a:rPr>
              <a:t>Find the speaker. Crop a stable, centered window around the mouth across every frame.</a:t>
            </a:r>
          </a:p>
        </p:txBody>
      </p:sp>
      <p:sp>
        <p:nvSpPr>
          <p:cNvPr id="9" name="Rectangle 8"/>
          <p:cNvSpPr/>
          <p:nvPr/>
        </p:nvSpPr>
        <p:spPr>
          <a:xfrm>
            <a:off x="4448556" y="2468880"/>
            <a:ext cx="3291840" cy="2743200"/>
          </a:xfrm>
          <a:prstGeom prst="rect">
            <a:avLst/>
          </a:prstGeom>
          <a:solidFill>
            <a:srgbClr val="152A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722876" y="2697480"/>
            <a:ext cx="2743200" cy="457200"/>
          </a:xfrm>
          <a:prstGeom prst="rect">
            <a:avLst/>
          </a:prstGeom>
          <a:noFill/>
        </p:spPr>
        <p:txBody>
          <a:bodyPr wrap="square" anchor="t"/>
          <a:lstStyle/>
          <a:p>
            <a:pPr algn="l"/>
            <a:r>
              <a:rPr sz="2800" b="1" i="0">
                <a:solidFill>
                  <a:srgbClr val="FFD54F"/>
                </a:solidFill>
                <a:latin typeface="Calibri"/>
              </a:rPr>
              <a:t>2.</a:t>
            </a:r>
          </a:p>
        </p:txBody>
      </p:sp>
      <p:sp>
        <p:nvSpPr>
          <p:cNvPr id="11" name="TextBox 10"/>
          <p:cNvSpPr txBox="1"/>
          <p:nvPr/>
        </p:nvSpPr>
        <p:spPr>
          <a:xfrm>
            <a:off x="4722876" y="3246120"/>
            <a:ext cx="2743200" cy="731520"/>
          </a:xfrm>
          <a:prstGeom prst="rect">
            <a:avLst/>
          </a:prstGeom>
          <a:noFill/>
        </p:spPr>
        <p:txBody>
          <a:bodyPr wrap="square" anchor="t"/>
          <a:lstStyle/>
          <a:p>
            <a:pPr algn="l"/>
            <a:r>
              <a:rPr sz="1300" b="1" i="0">
                <a:solidFill>
                  <a:srgbClr val="FFFFFF"/>
                </a:solidFill>
                <a:latin typeface="Calibri"/>
              </a:rPr>
              <a:t>VISUAL FEATURE EXTRACTION</a:t>
            </a:r>
          </a:p>
        </p:txBody>
      </p:sp>
      <p:sp>
        <p:nvSpPr>
          <p:cNvPr id="12" name="TextBox 11"/>
          <p:cNvSpPr txBox="1"/>
          <p:nvPr/>
        </p:nvSpPr>
        <p:spPr>
          <a:xfrm>
            <a:off x="4722876" y="4023360"/>
            <a:ext cx="2743200" cy="1097280"/>
          </a:xfrm>
          <a:prstGeom prst="rect">
            <a:avLst/>
          </a:prstGeom>
          <a:noFill/>
        </p:spPr>
        <p:txBody>
          <a:bodyPr wrap="square" anchor="t"/>
          <a:lstStyle/>
          <a:p>
            <a:pPr algn="l"/>
            <a:r>
              <a:rPr sz="1200" b="0" i="0">
                <a:solidFill>
                  <a:srgbClr val="AAAAAA"/>
                </a:solidFill>
                <a:latin typeface="Calibri"/>
              </a:rPr>
              <a:t>Convert the mouth movement into a compact representation the language model can read.</a:t>
            </a:r>
          </a:p>
        </p:txBody>
      </p:sp>
      <p:sp>
        <p:nvSpPr>
          <p:cNvPr id="13" name="Rectangle 12"/>
          <p:cNvSpPr/>
          <p:nvPr/>
        </p:nvSpPr>
        <p:spPr>
          <a:xfrm>
            <a:off x="8106156" y="2468880"/>
            <a:ext cx="3291840" cy="2743200"/>
          </a:xfrm>
          <a:prstGeom prst="rect">
            <a:avLst/>
          </a:prstGeom>
          <a:solidFill>
            <a:srgbClr val="152A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380476" y="2697480"/>
            <a:ext cx="2743200" cy="457200"/>
          </a:xfrm>
          <a:prstGeom prst="rect">
            <a:avLst/>
          </a:prstGeom>
          <a:noFill/>
        </p:spPr>
        <p:txBody>
          <a:bodyPr wrap="square" anchor="t"/>
          <a:lstStyle/>
          <a:p>
            <a:pPr algn="l"/>
            <a:r>
              <a:rPr sz="2800" b="1" i="0">
                <a:solidFill>
                  <a:srgbClr val="4CAF50"/>
                </a:solidFill>
                <a:latin typeface="Calibri"/>
              </a:rPr>
              <a:t>3.</a:t>
            </a:r>
          </a:p>
        </p:txBody>
      </p:sp>
      <p:sp>
        <p:nvSpPr>
          <p:cNvPr id="15" name="TextBox 14"/>
          <p:cNvSpPr txBox="1"/>
          <p:nvPr/>
        </p:nvSpPr>
        <p:spPr>
          <a:xfrm>
            <a:off x="8380476" y="3246120"/>
            <a:ext cx="2743200" cy="731520"/>
          </a:xfrm>
          <a:prstGeom prst="rect">
            <a:avLst/>
          </a:prstGeom>
          <a:noFill/>
        </p:spPr>
        <p:txBody>
          <a:bodyPr wrap="square" anchor="t"/>
          <a:lstStyle/>
          <a:p>
            <a:pPr algn="l"/>
            <a:r>
              <a:rPr sz="1300" b="1" i="0">
                <a:solidFill>
                  <a:srgbClr val="FFFFFF"/>
                </a:solidFill>
                <a:latin typeface="Calibri"/>
              </a:rPr>
              <a:t>LANGUAGE DECODING</a:t>
            </a:r>
          </a:p>
        </p:txBody>
      </p:sp>
      <p:sp>
        <p:nvSpPr>
          <p:cNvPr id="16" name="TextBox 15"/>
          <p:cNvSpPr txBox="1"/>
          <p:nvPr/>
        </p:nvSpPr>
        <p:spPr>
          <a:xfrm>
            <a:off x="8380476" y="4023360"/>
            <a:ext cx="2743200" cy="1097280"/>
          </a:xfrm>
          <a:prstGeom prst="rect">
            <a:avLst/>
          </a:prstGeom>
          <a:noFill/>
        </p:spPr>
        <p:txBody>
          <a:bodyPr wrap="square" anchor="t"/>
          <a:lstStyle/>
          <a:p>
            <a:pPr algn="l"/>
            <a:r>
              <a:rPr sz="1200" b="0" i="0">
                <a:solidFill>
                  <a:srgbClr val="AAAAAA"/>
                </a:solidFill>
                <a:latin typeface="Calibri"/>
              </a:rPr>
              <a:t>Generate the transcript word-by-word. Capture per-word confidence as we go.</a:t>
            </a:r>
          </a:p>
        </p:txBody>
      </p:sp>
      <p:pic>
        <p:nvPicPr>
          <p:cNvPr id="17" name="Picture 16" descr="WhiteLogo.jpeg"/>
          <p:cNvPicPr>
            <a:picLocks noChangeAspect="1"/>
          </p:cNvPicPr>
          <p:nvPr/>
        </p:nvPicPr>
        <p:blipFill>
          <a:blip r:embed="rId2"/>
          <a:stretch>
            <a:fillRect/>
          </a:stretch>
        </p:blipFill>
        <p:spPr>
          <a:xfrm>
            <a:off x="11323320" y="6428232"/>
            <a:ext cx="269634" cy="320040"/>
          </a:xfrm>
          <a:prstGeom prst="rect">
            <a:avLst/>
          </a:prstGeom>
        </p:spPr>
      </p:pic>
      <p:sp>
        <p:nvSpPr>
          <p:cNvPr id="18" name="TextBox 17"/>
          <p:cNvSpPr txBox="1"/>
          <p:nvPr/>
        </p:nvSpPr>
        <p:spPr>
          <a:xfrm>
            <a:off x="548640" y="6510528"/>
            <a:ext cx="457200" cy="228600"/>
          </a:xfrm>
          <a:prstGeom prst="rect">
            <a:avLst/>
          </a:prstGeom>
          <a:noFill/>
        </p:spPr>
        <p:txBody>
          <a:bodyPr wrap="none">
            <a:spAutoFit/>
          </a:bodyPr>
          <a:lstStyle/>
          <a:p>
            <a:r>
              <a:rPr sz="900" b="0" i="0">
                <a:solidFill>
                  <a:srgbClr val="666666"/>
                </a:solidFill>
                <a:latin typeface="Calibri"/>
              </a:rPr>
              <a:t>32</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0D1B2A"/>
        </a:solidFill>
        <a:effectLst/>
      </p:bgPr>
    </p:bg>
    <p:spTree>
      <p:nvGrpSpPr>
        <p:cNvPr id="1" name=""/>
        <p:cNvGrpSpPr/>
        <p:nvPr/>
      </p:nvGrpSpPr>
      <p:grpSpPr/>
      <p:sp>
        <p:nvSpPr>
          <p:cNvPr id="2" name="TextBox 1"/>
          <p:cNvSpPr txBox="1"/>
          <p:nvPr/>
        </p:nvSpPr>
        <p:spPr>
          <a:xfrm>
            <a:off x="548640" y="365760"/>
            <a:ext cx="11091672" cy="685800"/>
          </a:xfrm>
          <a:prstGeom prst="rect">
            <a:avLst/>
          </a:prstGeom>
          <a:noFill/>
        </p:spPr>
        <p:txBody>
          <a:bodyPr wrap="square">
            <a:spAutoFit/>
          </a:bodyPr>
          <a:lstStyle/>
          <a:p>
            <a:r>
              <a:rPr sz="3200" b="1" i="0">
                <a:solidFill>
                  <a:srgbClr val="FFFFFF"/>
                </a:solidFill>
                <a:latin typeface="Calibri"/>
              </a:rPr>
              <a:t>Deploys where you need it</a:t>
            </a:r>
          </a:p>
        </p:txBody>
      </p:sp>
      <p:sp>
        <p:nvSpPr>
          <p:cNvPr id="3" name="Rectangle 2"/>
          <p:cNvSpPr/>
          <p:nvPr/>
        </p:nvSpPr>
        <p:spPr>
          <a:xfrm>
            <a:off x="548640" y="1097280"/>
            <a:ext cx="11091672" cy="1905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554480"/>
            <a:ext cx="11091672" cy="457200"/>
          </a:xfrm>
          <a:prstGeom prst="rect">
            <a:avLst/>
          </a:prstGeom>
          <a:noFill/>
        </p:spPr>
        <p:txBody>
          <a:bodyPr wrap="square" anchor="t"/>
          <a:lstStyle/>
          <a:p>
            <a:pPr algn="ctr"/>
            <a:r>
              <a:rPr sz="1800" b="0" i="1">
                <a:solidFill>
                  <a:srgbClr val="AAAAAA"/>
                </a:solidFill>
                <a:latin typeface="Calibri"/>
              </a:rPr>
              <a:t>Same pipeline, two deployment paths. You pick.</a:t>
            </a:r>
          </a:p>
        </p:txBody>
      </p:sp>
      <p:sp>
        <p:nvSpPr>
          <p:cNvPr id="5" name="Rectangle 4"/>
          <p:cNvSpPr/>
          <p:nvPr/>
        </p:nvSpPr>
        <p:spPr>
          <a:xfrm>
            <a:off x="548640" y="2377440"/>
            <a:ext cx="5349240" cy="3291840"/>
          </a:xfrm>
          <a:prstGeom prst="rect">
            <a:avLst/>
          </a:prstGeom>
          <a:solidFill>
            <a:srgbClr val="152A40"/>
          </a:solidFill>
          <a:ln w="12700">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2651760"/>
            <a:ext cx="4800600" cy="548640"/>
          </a:xfrm>
          <a:prstGeom prst="rect">
            <a:avLst/>
          </a:prstGeom>
          <a:noFill/>
        </p:spPr>
        <p:txBody>
          <a:bodyPr wrap="square" anchor="t"/>
          <a:lstStyle/>
          <a:p>
            <a:pPr algn="l"/>
            <a:r>
              <a:rPr sz="2800" b="1" i="0">
                <a:solidFill>
                  <a:srgbClr val="00B4D8"/>
                </a:solidFill>
                <a:latin typeface="Calibri"/>
              </a:rPr>
              <a:t>CLOUD</a:t>
            </a:r>
          </a:p>
        </p:txBody>
      </p:sp>
      <p:sp>
        <p:nvSpPr>
          <p:cNvPr id="7" name="TextBox 6"/>
          <p:cNvSpPr txBox="1"/>
          <p:nvPr/>
        </p:nvSpPr>
        <p:spPr>
          <a:xfrm>
            <a:off x="822960" y="3383280"/>
            <a:ext cx="4800600" cy="914400"/>
          </a:xfrm>
          <a:prstGeom prst="rect">
            <a:avLst/>
          </a:prstGeom>
          <a:noFill/>
        </p:spPr>
        <p:txBody>
          <a:bodyPr wrap="square" anchor="t"/>
          <a:lstStyle/>
          <a:p>
            <a:pPr algn="l"/>
            <a:r>
              <a:rPr sz="1400" b="0" i="0">
                <a:solidFill>
                  <a:srgbClr val="FFFFFF"/>
                </a:solidFill>
                <a:latin typeface="Calibri"/>
              </a:rPr>
              <a:t>Hosted on your AWS / GCP / Azure account. We run the GPU infra; you pay per minute of video.</a:t>
            </a:r>
          </a:p>
        </p:txBody>
      </p:sp>
      <p:sp>
        <p:nvSpPr>
          <p:cNvPr id="8" name="TextBox 7"/>
          <p:cNvSpPr txBox="1"/>
          <p:nvPr/>
        </p:nvSpPr>
        <p:spPr>
          <a:xfrm>
            <a:off x="822960" y="4297680"/>
            <a:ext cx="4800600" cy="1280160"/>
          </a:xfrm>
          <a:prstGeom prst="rect">
            <a:avLst/>
          </a:prstGeom>
          <a:noFill/>
        </p:spPr>
        <p:txBody>
          <a:bodyPr wrap="square">
            <a:spAutoFit/>
          </a:bodyPr>
          <a:lstStyle/>
          <a:p>
            <a:pPr algn="l">
              <a:spcAft>
                <a:spcPts val="600"/>
              </a:spcAft>
            </a:pPr>
            <a:r>
              <a:rPr sz="1300" b="1">
                <a:solidFill>
                  <a:srgbClr val="00B4D8"/>
                </a:solidFill>
                <a:latin typeface="Calibri"/>
              </a:rPr>
              <a:t>• </a:t>
            </a:r>
            <a:r>
              <a:rPr sz="1300" b="0">
                <a:solidFill>
                  <a:srgbClr val="FFFFFF"/>
                </a:solidFill>
                <a:latin typeface="Calibri"/>
              </a:rPr>
              <a:t>Faster setup, no hardware procurement</a:t>
            </a:r>
          </a:p>
          <a:p>
            <a:pPr algn="l">
              <a:spcAft>
                <a:spcPts val="600"/>
              </a:spcAft>
            </a:pPr>
            <a:r>
              <a:rPr sz="1300" b="1">
                <a:solidFill>
                  <a:srgbClr val="00B4D8"/>
                </a:solidFill>
                <a:latin typeface="Calibri"/>
              </a:rPr>
              <a:t>• </a:t>
            </a:r>
            <a:r>
              <a:rPr sz="1300" b="0">
                <a:solidFill>
                  <a:srgbClr val="FFFFFF"/>
                </a:solidFill>
                <a:latin typeface="Calibri"/>
              </a:rPr>
              <a:t>Scales elastically with your queue</a:t>
            </a:r>
          </a:p>
          <a:p>
            <a:pPr algn="l">
              <a:spcAft>
                <a:spcPts val="600"/>
              </a:spcAft>
            </a:pPr>
            <a:r>
              <a:rPr sz="1300" b="1">
                <a:solidFill>
                  <a:srgbClr val="00B4D8"/>
                </a:solidFill>
                <a:latin typeface="Calibri"/>
              </a:rPr>
              <a:t>• </a:t>
            </a:r>
            <a:r>
              <a:rPr sz="1300" b="0">
                <a:solidFill>
                  <a:srgbClr val="FFFFFF"/>
                </a:solidFill>
                <a:latin typeface="Calibri"/>
              </a:rPr>
              <a:t>We patch and update the stack</a:t>
            </a:r>
          </a:p>
        </p:txBody>
      </p:sp>
      <p:sp>
        <p:nvSpPr>
          <p:cNvPr id="9" name="Rectangle 8"/>
          <p:cNvSpPr/>
          <p:nvPr/>
        </p:nvSpPr>
        <p:spPr>
          <a:xfrm>
            <a:off x="6263640" y="2377440"/>
            <a:ext cx="5349240" cy="3291840"/>
          </a:xfrm>
          <a:prstGeom prst="rect">
            <a:avLst/>
          </a:prstGeom>
          <a:solidFill>
            <a:srgbClr val="152A40"/>
          </a:solidFill>
          <a:ln w="12700">
            <a:solidFill>
              <a:srgbClr val="FFD54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37960" y="2651760"/>
            <a:ext cx="4800600" cy="548640"/>
          </a:xfrm>
          <a:prstGeom prst="rect">
            <a:avLst/>
          </a:prstGeom>
          <a:noFill/>
        </p:spPr>
        <p:txBody>
          <a:bodyPr wrap="square" anchor="t"/>
          <a:lstStyle/>
          <a:p>
            <a:pPr algn="l"/>
            <a:r>
              <a:rPr sz="2800" b="1" i="0">
                <a:solidFill>
                  <a:srgbClr val="FFD54F"/>
                </a:solidFill>
                <a:latin typeface="Calibri"/>
              </a:rPr>
              <a:t>ON-PREMISE</a:t>
            </a:r>
          </a:p>
        </p:txBody>
      </p:sp>
      <p:sp>
        <p:nvSpPr>
          <p:cNvPr id="11" name="TextBox 10"/>
          <p:cNvSpPr txBox="1"/>
          <p:nvPr/>
        </p:nvSpPr>
        <p:spPr>
          <a:xfrm>
            <a:off x="6537960" y="3383280"/>
            <a:ext cx="4800600" cy="914400"/>
          </a:xfrm>
          <a:prstGeom prst="rect">
            <a:avLst/>
          </a:prstGeom>
          <a:noFill/>
        </p:spPr>
        <p:txBody>
          <a:bodyPr wrap="square" anchor="t"/>
          <a:lstStyle/>
          <a:p>
            <a:pPr algn="l"/>
            <a:r>
              <a:rPr sz="1400" b="0" i="0">
                <a:solidFill>
                  <a:srgbClr val="FFFFFF"/>
                </a:solidFill>
                <a:latin typeface="Calibri"/>
              </a:rPr>
              <a:t>Containerized install on your hardware. Your data never leaves your network.</a:t>
            </a:r>
          </a:p>
        </p:txBody>
      </p:sp>
      <p:sp>
        <p:nvSpPr>
          <p:cNvPr id="12" name="TextBox 11"/>
          <p:cNvSpPr txBox="1"/>
          <p:nvPr/>
        </p:nvSpPr>
        <p:spPr>
          <a:xfrm>
            <a:off x="6537960" y="4297680"/>
            <a:ext cx="4800600" cy="1280160"/>
          </a:xfrm>
          <a:prstGeom prst="rect">
            <a:avLst/>
          </a:prstGeom>
          <a:noFill/>
        </p:spPr>
        <p:txBody>
          <a:bodyPr wrap="square">
            <a:spAutoFit/>
          </a:bodyPr>
          <a:lstStyle/>
          <a:p>
            <a:pPr algn="l">
              <a:spcAft>
                <a:spcPts val="600"/>
              </a:spcAft>
            </a:pPr>
            <a:r>
              <a:rPr sz="1300" b="1">
                <a:solidFill>
                  <a:srgbClr val="00B4D8"/>
                </a:solidFill>
                <a:latin typeface="Calibri"/>
              </a:rPr>
              <a:t>• </a:t>
            </a:r>
            <a:r>
              <a:rPr sz="1300" b="0">
                <a:solidFill>
                  <a:srgbClr val="FFFFFF"/>
                </a:solidFill>
                <a:latin typeface="Calibri"/>
              </a:rPr>
              <a:t>Air-gapped operation supported</a:t>
            </a:r>
          </a:p>
          <a:p>
            <a:pPr algn="l">
              <a:spcAft>
                <a:spcPts val="600"/>
              </a:spcAft>
            </a:pPr>
            <a:r>
              <a:rPr sz="1300" b="1">
                <a:solidFill>
                  <a:srgbClr val="00B4D8"/>
                </a:solidFill>
                <a:latin typeface="Calibri"/>
              </a:rPr>
              <a:t>• </a:t>
            </a:r>
            <a:r>
              <a:rPr sz="1300" b="0">
                <a:solidFill>
                  <a:srgbClr val="FFFFFF"/>
                </a:solidFill>
                <a:latin typeface="Calibri"/>
              </a:rPr>
              <a:t>GPU on your own machines (T4 minimum)</a:t>
            </a:r>
          </a:p>
          <a:p>
            <a:pPr algn="l">
              <a:spcAft>
                <a:spcPts val="600"/>
              </a:spcAft>
            </a:pPr>
            <a:r>
              <a:rPr sz="1300" b="1">
                <a:solidFill>
                  <a:srgbClr val="00B4D8"/>
                </a:solidFill>
                <a:latin typeface="Calibri"/>
              </a:rPr>
              <a:t>• </a:t>
            </a:r>
            <a:r>
              <a:rPr sz="1300" b="0">
                <a:solidFill>
                  <a:srgbClr val="FFFFFF"/>
                </a:solidFill>
                <a:latin typeface="Calibri"/>
              </a:rPr>
              <a:t>We support and maintain remotely</a:t>
            </a:r>
          </a:p>
        </p:txBody>
      </p:sp>
      <p:pic>
        <p:nvPicPr>
          <p:cNvPr id="13" name="Picture 12" descr="WhiteLogo.jpeg"/>
          <p:cNvPicPr>
            <a:picLocks noChangeAspect="1"/>
          </p:cNvPicPr>
          <p:nvPr/>
        </p:nvPicPr>
        <p:blipFill>
          <a:blip r:embed="rId2"/>
          <a:stretch>
            <a:fillRect/>
          </a:stretch>
        </p:blipFill>
        <p:spPr>
          <a:xfrm>
            <a:off x="11323320" y="6428232"/>
            <a:ext cx="269634" cy="320040"/>
          </a:xfrm>
          <a:prstGeom prst="rect">
            <a:avLst/>
          </a:prstGeom>
        </p:spPr>
      </p:pic>
      <p:sp>
        <p:nvSpPr>
          <p:cNvPr id="14" name="TextBox 13"/>
          <p:cNvSpPr txBox="1"/>
          <p:nvPr/>
        </p:nvSpPr>
        <p:spPr>
          <a:xfrm>
            <a:off x="548640" y="6510528"/>
            <a:ext cx="457200" cy="228600"/>
          </a:xfrm>
          <a:prstGeom prst="rect">
            <a:avLst/>
          </a:prstGeom>
          <a:noFill/>
        </p:spPr>
        <p:txBody>
          <a:bodyPr wrap="none">
            <a:spAutoFit/>
          </a:bodyPr>
          <a:lstStyle/>
          <a:p>
            <a:r>
              <a:rPr sz="900" b="0" i="0">
                <a:solidFill>
                  <a:srgbClr val="666666"/>
                </a:solidFill>
                <a:latin typeface="Calibri"/>
              </a:rPr>
              <a:t>33</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0D1B2A"/>
        </a:solidFill>
        <a:effectLst/>
      </p:bgPr>
    </p:bg>
    <p:spTree>
      <p:nvGrpSpPr>
        <p:cNvPr id="1" name=""/>
        <p:cNvGrpSpPr/>
        <p:nvPr/>
      </p:nvGrpSpPr>
      <p:grpSpPr/>
      <p:sp>
        <p:nvSpPr>
          <p:cNvPr id="2" name="TextBox 1"/>
          <p:cNvSpPr txBox="1"/>
          <p:nvPr/>
        </p:nvSpPr>
        <p:spPr>
          <a:xfrm>
            <a:off x="548640" y="365760"/>
            <a:ext cx="11091672" cy="685800"/>
          </a:xfrm>
          <a:prstGeom prst="rect">
            <a:avLst/>
          </a:prstGeom>
          <a:noFill/>
        </p:spPr>
        <p:txBody>
          <a:bodyPr wrap="square">
            <a:spAutoFit/>
          </a:bodyPr>
          <a:lstStyle/>
          <a:p>
            <a:r>
              <a:rPr sz="3200" b="1" i="0">
                <a:solidFill>
                  <a:srgbClr val="FFFFFF"/>
                </a:solidFill>
                <a:latin typeface="Calibri"/>
              </a:rPr>
              <a:t>Live Demo</a:t>
            </a:r>
          </a:p>
        </p:txBody>
      </p:sp>
      <p:sp>
        <p:nvSpPr>
          <p:cNvPr id="3" name="Rectangle 2"/>
          <p:cNvSpPr/>
          <p:nvPr/>
        </p:nvSpPr>
        <p:spPr>
          <a:xfrm>
            <a:off x="548640" y="1097280"/>
            <a:ext cx="11091672" cy="1905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600200"/>
            <a:ext cx="11091672" cy="1371600"/>
          </a:xfrm>
          <a:prstGeom prst="rect">
            <a:avLst/>
          </a:prstGeom>
          <a:noFill/>
        </p:spPr>
        <p:txBody>
          <a:bodyPr wrap="square" anchor="t"/>
          <a:lstStyle/>
          <a:p>
            <a:pPr algn="ctr"/>
            <a:r>
              <a:rPr sz="9600" b="1" i="0">
                <a:solidFill>
                  <a:srgbClr val="00B4D8"/>
                </a:solidFill>
                <a:latin typeface="Calibri"/>
              </a:rPr>
              <a:t>▶</a:t>
            </a:r>
          </a:p>
        </p:txBody>
      </p:sp>
      <p:sp>
        <p:nvSpPr>
          <p:cNvPr id="5" name="TextBox 4"/>
          <p:cNvSpPr txBox="1"/>
          <p:nvPr/>
        </p:nvSpPr>
        <p:spPr>
          <a:xfrm>
            <a:off x="548640" y="3154680"/>
            <a:ext cx="11091672" cy="548640"/>
          </a:xfrm>
          <a:prstGeom prst="rect">
            <a:avLst/>
          </a:prstGeom>
          <a:noFill/>
        </p:spPr>
        <p:txBody>
          <a:bodyPr wrap="square" anchor="t"/>
          <a:lstStyle/>
          <a:p>
            <a:pPr algn="ctr"/>
            <a:r>
              <a:rPr sz="2800" b="1" i="0">
                <a:solidFill>
                  <a:srgbClr val="FFFFFF"/>
                </a:solidFill>
                <a:latin typeface="Calibri"/>
              </a:rPr>
              <a:t>We will now run the full pipeline live</a:t>
            </a:r>
          </a:p>
        </p:txBody>
      </p:sp>
      <p:sp>
        <p:nvSpPr>
          <p:cNvPr id="6" name="TextBox 5"/>
          <p:cNvSpPr txBox="1"/>
          <p:nvPr/>
        </p:nvSpPr>
        <p:spPr>
          <a:xfrm>
            <a:off x="548640" y="3886200"/>
            <a:ext cx="11091672" cy="457200"/>
          </a:xfrm>
          <a:prstGeom prst="rect">
            <a:avLst/>
          </a:prstGeom>
          <a:noFill/>
        </p:spPr>
        <p:txBody>
          <a:bodyPr wrap="square" anchor="t"/>
          <a:lstStyle/>
          <a:p>
            <a:pPr algn="ctr"/>
            <a:r>
              <a:rPr sz="1600" b="0" i="0">
                <a:solidFill>
                  <a:srgbClr val="AAAAAA"/>
                </a:solidFill>
                <a:latin typeface="Calibri"/>
              </a:rPr>
              <a:t>Upload a video  →  8-stage processing  →  Per-segment results with IS scores</a:t>
            </a:r>
          </a:p>
        </p:txBody>
      </p:sp>
      <p:sp>
        <p:nvSpPr>
          <p:cNvPr id="7" name="Rounded Rectangle 6"/>
          <p:cNvSpPr/>
          <p:nvPr/>
        </p:nvSpPr>
        <p:spPr>
          <a:xfrm>
            <a:off x="975360" y="4800600"/>
            <a:ext cx="2926080" cy="1097280"/>
          </a:xfrm>
          <a:prstGeom prst="roundRect">
            <a:avLst/>
          </a:prstGeom>
          <a:solidFill>
            <a:srgbClr val="152A40"/>
          </a:solidFill>
          <a:ln w="12700">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75360" y="4846320"/>
            <a:ext cx="2926080" cy="365760"/>
          </a:xfrm>
          <a:prstGeom prst="rect">
            <a:avLst/>
          </a:prstGeom>
          <a:noFill/>
        </p:spPr>
        <p:txBody>
          <a:bodyPr wrap="square" anchor="t"/>
          <a:lstStyle/>
          <a:p>
            <a:pPr algn="ctr"/>
            <a:r>
              <a:rPr sz="2400" b="0" i="0">
                <a:solidFill>
                  <a:srgbClr val="00B4D8"/>
                </a:solidFill>
                <a:latin typeface="Calibri"/>
              </a:rPr>
              <a:t>☁</a:t>
            </a:r>
          </a:p>
        </p:txBody>
      </p:sp>
      <p:sp>
        <p:nvSpPr>
          <p:cNvPr id="9" name="TextBox 8"/>
          <p:cNvSpPr txBox="1"/>
          <p:nvPr/>
        </p:nvSpPr>
        <p:spPr>
          <a:xfrm>
            <a:off x="975360" y="5212080"/>
            <a:ext cx="2926080" cy="274320"/>
          </a:xfrm>
          <a:prstGeom prst="rect">
            <a:avLst/>
          </a:prstGeom>
          <a:noFill/>
        </p:spPr>
        <p:txBody>
          <a:bodyPr wrap="square" anchor="t"/>
          <a:lstStyle/>
          <a:p>
            <a:pPr algn="ctr"/>
            <a:r>
              <a:rPr sz="1400" b="1" i="0">
                <a:solidFill>
                  <a:srgbClr val="FFFFFF"/>
                </a:solidFill>
                <a:latin typeface="Calibri"/>
              </a:rPr>
              <a:t>Drag &amp; Drop</a:t>
            </a:r>
          </a:p>
        </p:txBody>
      </p:sp>
      <p:sp>
        <p:nvSpPr>
          <p:cNvPr id="10" name="TextBox 9"/>
          <p:cNvSpPr txBox="1"/>
          <p:nvPr/>
        </p:nvSpPr>
        <p:spPr>
          <a:xfrm>
            <a:off x="975360" y="5532120"/>
            <a:ext cx="2926080" cy="274320"/>
          </a:xfrm>
          <a:prstGeom prst="rect">
            <a:avLst/>
          </a:prstGeom>
          <a:noFill/>
        </p:spPr>
        <p:txBody>
          <a:bodyPr wrap="square" anchor="t"/>
          <a:lstStyle/>
          <a:p>
            <a:pPr algn="ctr"/>
            <a:r>
              <a:rPr sz="1100" b="0" i="0">
                <a:solidFill>
                  <a:srgbClr val="AAAAAA"/>
                </a:solidFill>
                <a:latin typeface="Calibri"/>
              </a:rPr>
              <a:t>No command line</a:t>
            </a:r>
          </a:p>
        </p:txBody>
      </p:sp>
      <p:sp>
        <p:nvSpPr>
          <p:cNvPr id="11" name="Rounded Rectangle 10"/>
          <p:cNvSpPr/>
          <p:nvPr/>
        </p:nvSpPr>
        <p:spPr>
          <a:xfrm>
            <a:off x="4632960" y="4800600"/>
            <a:ext cx="2926080" cy="1097280"/>
          </a:xfrm>
          <a:prstGeom prst="roundRect">
            <a:avLst/>
          </a:prstGeom>
          <a:solidFill>
            <a:srgbClr val="152A40"/>
          </a:solidFill>
          <a:ln w="12700">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632960" y="4846320"/>
            <a:ext cx="2926080" cy="365760"/>
          </a:xfrm>
          <a:prstGeom prst="rect">
            <a:avLst/>
          </a:prstGeom>
          <a:noFill/>
        </p:spPr>
        <p:txBody>
          <a:bodyPr wrap="square" anchor="t"/>
          <a:lstStyle/>
          <a:p>
            <a:pPr algn="ctr"/>
            <a:r>
              <a:rPr sz="2400" b="0" i="0">
                <a:solidFill>
                  <a:srgbClr val="00B4D8"/>
                </a:solidFill>
                <a:latin typeface="Calibri"/>
              </a:rPr>
              <a:t>⚙</a:t>
            </a:r>
          </a:p>
        </p:txBody>
      </p:sp>
      <p:sp>
        <p:nvSpPr>
          <p:cNvPr id="13" name="TextBox 12"/>
          <p:cNvSpPr txBox="1"/>
          <p:nvPr/>
        </p:nvSpPr>
        <p:spPr>
          <a:xfrm>
            <a:off x="4632960" y="5212080"/>
            <a:ext cx="2926080" cy="274320"/>
          </a:xfrm>
          <a:prstGeom prst="rect">
            <a:avLst/>
          </a:prstGeom>
          <a:noFill/>
        </p:spPr>
        <p:txBody>
          <a:bodyPr wrap="square" anchor="t"/>
          <a:lstStyle/>
          <a:p>
            <a:pPr algn="ctr"/>
            <a:r>
              <a:rPr sz="1400" b="1" i="0">
                <a:solidFill>
                  <a:srgbClr val="FFFFFF"/>
                </a:solidFill>
                <a:latin typeface="Calibri"/>
              </a:rPr>
              <a:t>8 Stages</a:t>
            </a:r>
          </a:p>
        </p:txBody>
      </p:sp>
      <p:sp>
        <p:nvSpPr>
          <p:cNvPr id="14" name="TextBox 13"/>
          <p:cNvSpPr txBox="1"/>
          <p:nvPr/>
        </p:nvSpPr>
        <p:spPr>
          <a:xfrm>
            <a:off x="4632960" y="5532120"/>
            <a:ext cx="2926080" cy="274320"/>
          </a:xfrm>
          <a:prstGeom prst="rect">
            <a:avLst/>
          </a:prstGeom>
          <a:noFill/>
        </p:spPr>
        <p:txBody>
          <a:bodyPr wrap="square" anchor="t"/>
          <a:lstStyle/>
          <a:p>
            <a:pPr algn="ctr"/>
            <a:r>
              <a:rPr sz="1100" b="0" i="0">
                <a:solidFill>
                  <a:srgbClr val="AAAAAA"/>
                </a:solidFill>
                <a:latin typeface="Calibri"/>
              </a:rPr>
              <a:t>Fully automatic</a:t>
            </a:r>
          </a:p>
        </p:txBody>
      </p:sp>
      <p:sp>
        <p:nvSpPr>
          <p:cNvPr id="15" name="Rounded Rectangle 14"/>
          <p:cNvSpPr/>
          <p:nvPr/>
        </p:nvSpPr>
        <p:spPr>
          <a:xfrm>
            <a:off x="8290560" y="4800600"/>
            <a:ext cx="2926080" cy="1097280"/>
          </a:xfrm>
          <a:prstGeom prst="roundRect">
            <a:avLst/>
          </a:prstGeom>
          <a:solidFill>
            <a:srgbClr val="152A40"/>
          </a:solidFill>
          <a:ln w="12700">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90560" y="4846320"/>
            <a:ext cx="2926080" cy="365760"/>
          </a:xfrm>
          <a:prstGeom prst="rect">
            <a:avLst/>
          </a:prstGeom>
          <a:noFill/>
        </p:spPr>
        <p:txBody>
          <a:bodyPr wrap="square" anchor="t"/>
          <a:lstStyle/>
          <a:p>
            <a:pPr algn="ctr"/>
            <a:r>
              <a:rPr sz="2400" b="0" i="0">
                <a:solidFill>
                  <a:srgbClr val="00B4D8"/>
                </a:solidFill>
                <a:latin typeface="Calibri"/>
              </a:rPr>
              <a:t>✔</a:t>
            </a:r>
          </a:p>
        </p:txBody>
      </p:sp>
      <p:sp>
        <p:nvSpPr>
          <p:cNvPr id="17" name="TextBox 16"/>
          <p:cNvSpPr txBox="1"/>
          <p:nvPr/>
        </p:nvSpPr>
        <p:spPr>
          <a:xfrm>
            <a:off x="8290560" y="5212080"/>
            <a:ext cx="2926080" cy="274320"/>
          </a:xfrm>
          <a:prstGeom prst="rect">
            <a:avLst/>
          </a:prstGeom>
          <a:noFill/>
        </p:spPr>
        <p:txBody>
          <a:bodyPr wrap="square" anchor="t"/>
          <a:lstStyle/>
          <a:p>
            <a:pPr algn="ctr"/>
            <a:r>
              <a:rPr sz="1400" b="1" i="0">
                <a:solidFill>
                  <a:srgbClr val="FFFFFF"/>
                </a:solidFill>
                <a:latin typeface="Calibri"/>
              </a:rPr>
              <a:t>IS Scoring</a:t>
            </a:r>
          </a:p>
        </p:txBody>
      </p:sp>
      <p:sp>
        <p:nvSpPr>
          <p:cNvPr id="18" name="TextBox 17"/>
          <p:cNvSpPr txBox="1"/>
          <p:nvPr/>
        </p:nvSpPr>
        <p:spPr>
          <a:xfrm>
            <a:off x="8290560" y="5532120"/>
            <a:ext cx="2926080" cy="274320"/>
          </a:xfrm>
          <a:prstGeom prst="rect">
            <a:avLst/>
          </a:prstGeom>
          <a:noFill/>
        </p:spPr>
        <p:txBody>
          <a:bodyPr wrap="square" anchor="t"/>
          <a:lstStyle/>
          <a:p>
            <a:pPr algn="ctr"/>
            <a:r>
              <a:rPr sz="1100" b="0" i="0">
                <a:solidFill>
                  <a:srgbClr val="AAAAAA"/>
                </a:solidFill>
                <a:latin typeface="Calibri"/>
              </a:rPr>
              <a:t>Per-segment quality</a:t>
            </a:r>
          </a:p>
        </p:txBody>
      </p:sp>
      <p:pic>
        <p:nvPicPr>
          <p:cNvPr id="19" name="Picture 18" descr="WhiteLogo.jpeg"/>
          <p:cNvPicPr>
            <a:picLocks noChangeAspect="1"/>
          </p:cNvPicPr>
          <p:nvPr/>
        </p:nvPicPr>
        <p:blipFill>
          <a:blip r:embed="rId2"/>
          <a:stretch>
            <a:fillRect/>
          </a:stretch>
        </p:blipFill>
        <p:spPr>
          <a:xfrm>
            <a:off x="11323320" y="6428232"/>
            <a:ext cx="269634" cy="320040"/>
          </a:xfrm>
          <a:prstGeom prst="rect">
            <a:avLst/>
          </a:prstGeom>
        </p:spPr>
      </p:pic>
      <p:sp>
        <p:nvSpPr>
          <p:cNvPr id="20" name="TextBox 19"/>
          <p:cNvSpPr txBox="1"/>
          <p:nvPr/>
        </p:nvSpPr>
        <p:spPr>
          <a:xfrm>
            <a:off x="548640" y="6510528"/>
            <a:ext cx="457200" cy="228600"/>
          </a:xfrm>
          <a:prstGeom prst="rect">
            <a:avLst/>
          </a:prstGeom>
          <a:noFill/>
        </p:spPr>
        <p:txBody>
          <a:bodyPr wrap="none">
            <a:spAutoFit/>
          </a:bodyPr>
          <a:lstStyle/>
          <a:p>
            <a:r>
              <a:rPr sz="900" b="0" i="0">
                <a:solidFill>
                  <a:srgbClr val="666666"/>
                </a:solidFill>
                <a:latin typeface="Calibri"/>
              </a:rPr>
              <a:t>34</a:t>
            </a:r>
          </a:p>
        </p:txBody>
      </p:sp>
    </p:spTree>
  </p:cSld>
  <p:clrMapOvr>
    <a:masterClrMapping/>
  </p:clrMapOvr>
  <p:transition spd="med" advClick="1">
    <p:fade/>
  </p:transition>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0D1B2A"/>
        </a:solidFill>
        <a:effectLst/>
      </p:bgPr>
    </p:bg>
    <p:spTree>
      <p:nvGrpSpPr>
        <p:cNvPr id="1" name=""/>
        <p:cNvGrpSpPr/>
        <p:nvPr/>
      </p:nvGrpSpPr>
      <p:grpSpPr/>
      <p:sp>
        <p:nvSpPr>
          <p:cNvPr id="2" name="TextBox 1"/>
          <p:cNvSpPr txBox="1"/>
          <p:nvPr/>
        </p:nvSpPr>
        <p:spPr>
          <a:xfrm>
            <a:off x="548640" y="2560320"/>
            <a:ext cx="11091672" cy="914400"/>
          </a:xfrm>
          <a:prstGeom prst="rect">
            <a:avLst/>
          </a:prstGeom>
          <a:noFill/>
        </p:spPr>
        <p:txBody>
          <a:bodyPr wrap="square" anchor="t"/>
          <a:lstStyle/>
          <a:p>
            <a:pPr algn="ctr"/>
            <a:r>
              <a:rPr sz="4400" b="1" i="0">
                <a:solidFill>
                  <a:srgbClr val="00B4D8"/>
                </a:solidFill>
                <a:latin typeface="Calibri"/>
              </a:rPr>
              <a:t>PRE-PROCESSING ROADMAP</a:t>
            </a:r>
          </a:p>
        </p:txBody>
      </p:sp>
      <p:sp>
        <p:nvSpPr>
          <p:cNvPr id="3" name="TextBox 2"/>
          <p:cNvSpPr txBox="1"/>
          <p:nvPr/>
        </p:nvSpPr>
        <p:spPr>
          <a:xfrm>
            <a:off x="548640" y="3566160"/>
            <a:ext cx="11091672" cy="731520"/>
          </a:xfrm>
          <a:prstGeom prst="rect">
            <a:avLst/>
          </a:prstGeom>
          <a:noFill/>
        </p:spPr>
        <p:txBody>
          <a:bodyPr wrap="square" anchor="t"/>
          <a:lstStyle/>
          <a:p>
            <a:pPr algn="ctr"/>
            <a:r>
              <a:rPr sz="2000" b="0" i="1">
                <a:solidFill>
                  <a:srgbClr val="AAAAAA"/>
                </a:solidFill>
                <a:latin typeface="Calibri"/>
              </a:rPr>
              <a:t>Making it better starts before the model runs</a:t>
            </a:r>
          </a:p>
        </p:txBody>
      </p:sp>
      <p:pic>
        <p:nvPicPr>
          <p:cNvPr id="4" name="Picture 3" descr="WhiteLogo.jpeg"/>
          <p:cNvPicPr>
            <a:picLocks noChangeAspect="1"/>
          </p:cNvPicPr>
          <p:nvPr/>
        </p:nvPicPr>
        <p:blipFill>
          <a:blip r:embed="rId2"/>
          <a:stretch>
            <a:fillRect/>
          </a:stretch>
        </p:blipFill>
        <p:spPr>
          <a:xfrm>
            <a:off x="11323320" y="6428232"/>
            <a:ext cx="269634" cy="320040"/>
          </a:xfrm>
          <a:prstGeom prst="rect">
            <a:avLst/>
          </a:prstGeom>
        </p:spPr>
      </p:pic>
      <p:sp>
        <p:nvSpPr>
          <p:cNvPr id="5" name="TextBox 4"/>
          <p:cNvSpPr txBox="1"/>
          <p:nvPr/>
        </p:nvSpPr>
        <p:spPr>
          <a:xfrm>
            <a:off x="548640" y="6510528"/>
            <a:ext cx="457200" cy="228600"/>
          </a:xfrm>
          <a:prstGeom prst="rect">
            <a:avLst/>
          </a:prstGeom>
          <a:noFill/>
        </p:spPr>
        <p:txBody>
          <a:bodyPr wrap="none">
            <a:spAutoFit/>
          </a:bodyPr>
          <a:lstStyle/>
          <a:p>
            <a:r>
              <a:rPr sz="900" b="0" i="0">
                <a:solidFill>
                  <a:srgbClr val="666666"/>
                </a:solidFill>
                <a:latin typeface="Calibri"/>
              </a:rPr>
              <a:t>35</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0D1B2A"/>
        </a:solidFill>
        <a:effectLst/>
      </p:bgPr>
    </p:bg>
    <p:spTree>
      <p:nvGrpSpPr>
        <p:cNvPr id="1" name=""/>
        <p:cNvGrpSpPr/>
        <p:nvPr/>
      </p:nvGrpSpPr>
      <p:grpSpPr/>
      <p:sp>
        <p:nvSpPr>
          <p:cNvPr id="2" name="TextBox 1"/>
          <p:cNvSpPr txBox="1"/>
          <p:nvPr/>
        </p:nvSpPr>
        <p:spPr>
          <a:xfrm>
            <a:off x="548640" y="365760"/>
            <a:ext cx="11091672" cy="685800"/>
          </a:xfrm>
          <a:prstGeom prst="rect">
            <a:avLst/>
          </a:prstGeom>
          <a:noFill/>
        </p:spPr>
        <p:txBody>
          <a:bodyPr wrap="square">
            <a:spAutoFit/>
          </a:bodyPr>
          <a:lstStyle/>
          <a:p>
            <a:r>
              <a:rPr sz="3200" b="1" i="0">
                <a:solidFill>
                  <a:srgbClr val="FFFFFF"/>
                </a:solidFill>
                <a:latin typeface="Calibri"/>
              </a:rPr>
              <a:t>Pre-processing 1 — Per-speaker entity split</a:t>
            </a:r>
          </a:p>
        </p:txBody>
      </p:sp>
      <p:sp>
        <p:nvSpPr>
          <p:cNvPr id="3" name="Rectangle 2"/>
          <p:cNvSpPr/>
          <p:nvPr/>
        </p:nvSpPr>
        <p:spPr>
          <a:xfrm>
            <a:off x="548640" y="1097280"/>
            <a:ext cx="11091672" cy="1905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822960" y="2011680"/>
            <a:ext cx="4937760" cy="3108960"/>
          </a:xfrm>
          <a:prstGeom prst="rect">
            <a:avLst/>
          </a:prstGeom>
          <a:solidFill>
            <a:srgbClr val="152A40"/>
          </a:solidFill>
          <a:ln w="12700">
            <a:solidFill>
              <a:srgbClr val="AAAA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1645920"/>
            <a:ext cx="4937760" cy="320040"/>
          </a:xfrm>
          <a:prstGeom prst="rect">
            <a:avLst/>
          </a:prstGeom>
          <a:noFill/>
        </p:spPr>
        <p:txBody>
          <a:bodyPr wrap="square" anchor="t"/>
          <a:lstStyle/>
          <a:p>
            <a:pPr algn="ctr"/>
            <a:r>
              <a:rPr sz="1200" b="1" i="0">
                <a:solidFill>
                  <a:srgbClr val="AAAAAA"/>
                </a:solidFill>
                <a:latin typeface="Calibri"/>
              </a:rPr>
              <a:t>INPUT — multi-speaker frame</a:t>
            </a:r>
          </a:p>
        </p:txBody>
      </p:sp>
      <p:sp>
        <p:nvSpPr>
          <p:cNvPr id="6" name="Oval 5"/>
          <p:cNvSpPr/>
          <p:nvPr/>
        </p:nvSpPr>
        <p:spPr>
          <a:xfrm>
            <a:off x="1828800" y="2697480"/>
            <a:ext cx="640080" cy="640080"/>
          </a:xfrm>
          <a:prstGeom prst="ellipse">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554480" y="3383280"/>
            <a:ext cx="1188720" cy="914400"/>
          </a:xfrm>
          <a:prstGeom prst="round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371600" y="4389119"/>
            <a:ext cx="1554480" cy="274320"/>
          </a:xfrm>
          <a:prstGeom prst="rect">
            <a:avLst/>
          </a:prstGeom>
          <a:noFill/>
        </p:spPr>
        <p:txBody>
          <a:bodyPr wrap="square" anchor="t"/>
          <a:lstStyle/>
          <a:p>
            <a:pPr algn="ctr"/>
            <a:r>
              <a:rPr sz="1100" b="1" i="0">
                <a:solidFill>
                  <a:srgbClr val="FFFFFF"/>
                </a:solidFill>
                <a:latin typeface="Calibri"/>
              </a:rPr>
              <a:t>Speaker A</a:t>
            </a:r>
          </a:p>
        </p:txBody>
      </p:sp>
      <p:sp>
        <p:nvSpPr>
          <p:cNvPr id="9" name="Oval 8"/>
          <p:cNvSpPr/>
          <p:nvPr/>
        </p:nvSpPr>
        <p:spPr>
          <a:xfrm>
            <a:off x="3931920" y="2697480"/>
            <a:ext cx="640080" cy="640080"/>
          </a:xfrm>
          <a:prstGeom prst="ellipse">
            <a:avLst/>
          </a:prstGeom>
          <a:solidFill>
            <a:srgbClr val="FFD5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3657600" y="3383280"/>
            <a:ext cx="1188720" cy="914400"/>
          </a:xfrm>
          <a:prstGeom prst="roundRect">
            <a:avLst/>
          </a:prstGeom>
          <a:solidFill>
            <a:srgbClr val="FFD5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474720" y="4389119"/>
            <a:ext cx="1554480" cy="274320"/>
          </a:xfrm>
          <a:prstGeom prst="rect">
            <a:avLst/>
          </a:prstGeom>
          <a:noFill/>
        </p:spPr>
        <p:txBody>
          <a:bodyPr wrap="square" anchor="t"/>
          <a:lstStyle/>
          <a:p>
            <a:pPr algn="ctr"/>
            <a:r>
              <a:rPr sz="1100" b="1" i="0">
                <a:solidFill>
                  <a:srgbClr val="FFFFFF"/>
                </a:solidFill>
                <a:latin typeface="Calibri"/>
              </a:rPr>
              <a:t>Speaker B</a:t>
            </a:r>
          </a:p>
        </p:txBody>
      </p:sp>
      <p:sp>
        <p:nvSpPr>
          <p:cNvPr id="12" name="Right Arrow 11"/>
          <p:cNvSpPr/>
          <p:nvPr/>
        </p:nvSpPr>
        <p:spPr>
          <a:xfrm>
            <a:off x="5897880" y="3337560"/>
            <a:ext cx="914400" cy="457200"/>
          </a:xfrm>
          <a:prstGeom prst="rightArrow">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440680" y="2880360"/>
            <a:ext cx="1828800" cy="274320"/>
          </a:xfrm>
          <a:prstGeom prst="rect">
            <a:avLst/>
          </a:prstGeom>
          <a:noFill/>
        </p:spPr>
        <p:txBody>
          <a:bodyPr wrap="square" anchor="t"/>
          <a:lstStyle/>
          <a:p>
            <a:pPr algn="ctr"/>
            <a:r>
              <a:rPr sz="1000" b="1" i="0">
                <a:solidFill>
                  <a:srgbClr val="FFFFFF"/>
                </a:solidFill>
                <a:latin typeface="Calibri"/>
              </a:rPr>
              <a:t>FACE DETECTION + TRACKER</a:t>
            </a:r>
          </a:p>
        </p:txBody>
      </p:sp>
      <p:sp>
        <p:nvSpPr>
          <p:cNvPr id="14" name="TextBox 13"/>
          <p:cNvSpPr txBox="1"/>
          <p:nvPr/>
        </p:nvSpPr>
        <p:spPr>
          <a:xfrm>
            <a:off x="5440680" y="3840480"/>
            <a:ext cx="1828800" cy="274320"/>
          </a:xfrm>
          <a:prstGeom prst="rect">
            <a:avLst/>
          </a:prstGeom>
          <a:noFill/>
        </p:spPr>
        <p:txBody>
          <a:bodyPr wrap="square" anchor="t"/>
          <a:lstStyle/>
          <a:p>
            <a:pPr algn="ctr"/>
            <a:r>
              <a:rPr sz="900" b="0" i="1">
                <a:solidFill>
                  <a:srgbClr val="AAAAAA"/>
                </a:solidFill>
                <a:latin typeface="Calibri"/>
              </a:rPr>
              <a:t>(runs locally)</a:t>
            </a:r>
          </a:p>
        </p:txBody>
      </p:sp>
      <p:sp>
        <p:nvSpPr>
          <p:cNvPr id="15" name="Rectangle 14"/>
          <p:cNvSpPr/>
          <p:nvPr/>
        </p:nvSpPr>
        <p:spPr>
          <a:xfrm>
            <a:off x="7178040" y="2011680"/>
            <a:ext cx="3840480" cy="3108960"/>
          </a:xfrm>
          <a:prstGeom prst="rect">
            <a:avLst/>
          </a:prstGeom>
          <a:solidFill>
            <a:srgbClr val="152A40"/>
          </a:solidFill>
          <a:ln w="12700">
            <a:solidFill>
              <a:srgbClr val="AAAA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178040" y="1645920"/>
            <a:ext cx="3840480" cy="320040"/>
          </a:xfrm>
          <a:prstGeom prst="rect">
            <a:avLst/>
          </a:prstGeom>
          <a:noFill/>
        </p:spPr>
        <p:txBody>
          <a:bodyPr wrap="square" anchor="t"/>
          <a:lstStyle/>
          <a:p>
            <a:pPr algn="ctr"/>
            <a:r>
              <a:rPr sz="1200" b="1" i="0">
                <a:solidFill>
                  <a:srgbClr val="AAAAAA"/>
                </a:solidFill>
                <a:latin typeface="Calibri"/>
              </a:rPr>
              <a:t>OUTPUT — per-speaker crops</a:t>
            </a:r>
          </a:p>
        </p:txBody>
      </p:sp>
      <p:sp>
        <p:nvSpPr>
          <p:cNvPr id="17" name="Rectangle 16"/>
          <p:cNvSpPr/>
          <p:nvPr/>
        </p:nvSpPr>
        <p:spPr>
          <a:xfrm>
            <a:off x="7406640" y="2148840"/>
            <a:ext cx="1280160" cy="1280160"/>
          </a:xfrm>
          <a:prstGeom prst="rect">
            <a:avLst/>
          </a:prstGeom>
          <a:solidFill>
            <a:srgbClr val="1A3550"/>
          </a:solidFill>
          <a:ln w="15240">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7863840" y="2377440"/>
            <a:ext cx="365760" cy="365760"/>
          </a:xfrm>
          <a:prstGeom prst="ellipse">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7726680" y="2788920"/>
            <a:ext cx="640080" cy="502920"/>
          </a:xfrm>
          <a:prstGeom prst="round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869680" y="2606040"/>
            <a:ext cx="2103120" cy="365760"/>
          </a:xfrm>
          <a:prstGeom prst="rect">
            <a:avLst/>
          </a:prstGeom>
          <a:noFill/>
        </p:spPr>
        <p:txBody>
          <a:bodyPr wrap="square" anchor="t"/>
          <a:lstStyle/>
          <a:p>
            <a:pPr algn="l"/>
            <a:r>
              <a:rPr sz="1200" b="0" i="0">
                <a:solidFill>
                  <a:srgbClr val="FFFFFF"/>
                </a:solidFill>
                <a:latin typeface="Calibri"/>
              </a:rPr>
              <a:t>Speaker A → centered crop</a:t>
            </a:r>
          </a:p>
        </p:txBody>
      </p:sp>
      <p:sp>
        <p:nvSpPr>
          <p:cNvPr id="21" name="Rectangle 20"/>
          <p:cNvSpPr/>
          <p:nvPr/>
        </p:nvSpPr>
        <p:spPr>
          <a:xfrm>
            <a:off x="7406640" y="3566160"/>
            <a:ext cx="1280160" cy="1280160"/>
          </a:xfrm>
          <a:prstGeom prst="rect">
            <a:avLst/>
          </a:prstGeom>
          <a:solidFill>
            <a:srgbClr val="1A3550"/>
          </a:solidFill>
          <a:ln w="15240">
            <a:solidFill>
              <a:srgbClr val="FFD54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7863840" y="3794760"/>
            <a:ext cx="365760" cy="365760"/>
          </a:xfrm>
          <a:prstGeom prst="ellipse">
            <a:avLst/>
          </a:prstGeom>
          <a:solidFill>
            <a:srgbClr val="FFD5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7726680" y="4206240"/>
            <a:ext cx="640080" cy="502920"/>
          </a:xfrm>
          <a:prstGeom prst="roundRect">
            <a:avLst/>
          </a:prstGeom>
          <a:solidFill>
            <a:srgbClr val="FFD5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869680" y="4023360"/>
            <a:ext cx="2103120" cy="365760"/>
          </a:xfrm>
          <a:prstGeom prst="rect">
            <a:avLst/>
          </a:prstGeom>
          <a:noFill/>
        </p:spPr>
        <p:txBody>
          <a:bodyPr wrap="square" anchor="t"/>
          <a:lstStyle/>
          <a:p>
            <a:pPr algn="l"/>
            <a:r>
              <a:rPr sz="1200" b="0" i="0">
                <a:solidFill>
                  <a:srgbClr val="FFFFFF"/>
                </a:solidFill>
                <a:latin typeface="Calibri"/>
              </a:rPr>
              <a:t>Speaker B → centered crop</a:t>
            </a:r>
          </a:p>
        </p:txBody>
      </p:sp>
      <p:sp>
        <p:nvSpPr>
          <p:cNvPr id="25" name="TextBox 24"/>
          <p:cNvSpPr txBox="1"/>
          <p:nvPr/>
        </p:nvSpPr>
        <p:spPr>
          <a:xfrm>
            <a:off x="548640" y="5486400"/>
            <a:ext cx="11091672" cy="365760"/>
          </a:xfrm>
          <a:prstGeom prst="rect">
            <a:avLst/>
          </a:prstGeom>
          <a:noFill/>
        </p:spPr>
        <p:txBody>
          <a:bodyPr wrap="square" anchor="t"/>
          <a:lstStyle/>
          <a:p>
            <a:pPr algn="ctr"/>
            <a:r>
              <a:rPr sz="1300" b="0" i="1">
                <a:solidFill>
                  <a:srgbClr val="00B4D8"/>
                </a:solidFill>
                <a:latin typeface="Calibri"/>
              </a:rPr>
              <a:t>Two speakers in one frame become two centered crops. Each speaker gets its own clean lip-reading pass.</a:t>
            </a:r>
          </a:p>
        </p:txBody>
      </p:sp>
      <p:sp>
        <p:nvSpPr>
          <p:cNvPr id="26" name="TextBox 25"/>
          <p:cNvSpPr txBox="1"/>
          <p:nvPr/>
        </p:nvSpPr>
        <p:spPr>
          <a:xfrm>
            <a:off x="548640" y="5897880"/>
            <a:ext cx="11091672" cy="320040"/>
          </a:xfrm>
          <a:prstGeom prst="rect">
            <a:avLst/>
          </a:prstGeom>
          <a:noFill/>
        </p:spPr>
        <p:txBody>
          <a:bodyPr wrap="square" anchor="t"/>
          <a:lstStyle/>
          <a:p>
            <a:pPr algn="ctr"/>
            <a:r>
              <a:rPr sz="1000" b="0" i="1">
                <a:solidFill>
                  <a:srgbClr val="AAAAAA"/>
                </a:solidFill>
                <a:latin typeface="Calibri"/>
              </a:rPr>
              <a:t>Status: planned ablation. Runs locally. No cloud dependency.</a:t>
            </a:r>
          </a:p>
        </p:txBody>
      </p:sp>
      <p:pic>
        <p:nvPicPr>
          <p:cNvPr id="27" name="Picture 26" descr="WhiteLogo.jpeg"/>
          <p:cNvPicPr>
            <a:picLocks noChangeAspect="1"/>
          </p:cNvPicPr>
          <p:nvPr/>
        </p:nvPicPr>
        <p:blipFill>
          <a:blip r:embed="rId2"/>
          <a:stretch>
            <a:fillRect/>
          </a:stretch>
        </p:blipFill>
        <p:spPr>
          <a:xfrm>
            <a:off x="11323320" y="6428232"/>
            <a:ext cx="269634" cy="320040"/>
          </a:xfrm>
          <a:prstGeom prst="rect">
            <a:avLst/>
          </a:prstGeom>
        </p:spPr>
      </p:pic>
      <p:sp>
        <p:nvSpPr>
          <p:cNvPr id="28" name="TextBox 27"/>
          <p:cNvSpPr txBox="1"/>
          <p:nvPr/>
        </p:nvSpPr>
        <p:spPr>
          <a:xfrm>
            <a:off x="548640" y="6510528"/>
            <a:ext cx="457200" cy="228600"/>
          </a:xfrm>
          <a:prstGeom prst="rect">
            <a:avLst/>
          </a:prstGeom>
          <a:noFill/>
        </p:spPr>
        <p:txBody>
          <a:bodyPr wrap="none">
            <a:spAutoFit/>
          </a:bodyPr>
          <a:lstStyle/>
          <a:p>
            <a:r>
              <a:rPr sz="900" b="0" i="0">
                <a:solidFill>
                  <a:srgbClr val="666666"/>
                </a:solidFill>
                <a:latin typeface="Calibri"/>
              </a:rPr>
              <a:t>36</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0D1B2A"/>
        </a:solidFill>
        <a:effectLst/>
      </p:bgPr>
    </p:bg>
    <p:spTree>
      <p:nvGrpSpPr>
        <p:cNvPr id="1" name=""/>
        <p:cNvGrpSpPr/>
        <p:nvPr/>
      </p:nvGrpSpPr>
      <p:grpSpPr/>
      <p:sp>
        <p:nvSpPr>
          <p:cNvPr id="2" name="TextBox 1"/>
          <p:cNvSpPr txBox="1"/>
          <p:nvPr/>
        </p:nvSpPr>
        <p:spPr>
          <a:xfrm>
            <a:off x="548640" y="365760"/>
            <a:ext cx="11091672" cy="685800"/>
          </a:xfrm>
          <a:prstGeom prst="rect">
            <a:avLst/>
          </a:prstGeom>
          <a:noFill/>
        </p:spPr>
        <p:txBody>
          <a:bodyPr wrap="square">
            <a:spAutoFit/>
          </a:bodyPr>
          <a:lstStyle/>
          <a:p>
            <a:r>
              <a:rPr sz="3200" b="1" i="0">
                <a:solidFill>
                  <a:srgbClr val="FFFFFF"/>
                </a:solidFill>
                <a:latin typeface="Calibri"/>
              </a:rPr>
              <a:t>Pre-processing 2 — Quality pre-filter</a:t>
            </a:r>
          </a:p>
        </p:txBody>
      </p:sp>
      <p:sp>
        <p:nvSpPr>
          <p:cNvPr id="3" name="Rectangle 2"/>
          <p:cNvSpPr/>
          <p:nvPr/>
        </p:nvSpPr>
        <p:spPr>
          <a:xfrm>
            <a:off x="548640" y="1097280"/>
            <a:ext cx="11091672" cy="1905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371600"/>
            <a:ext cx="11091672" cy="365760"/>
          </a:xfrm>
          <a:prstGeom prst="rect">
            <a:avLst/>
          </a:prstGeom>
          <a:noFill/>
        </p:spPr>
        <p:txBody>
          <a:bodyPr wrap="square" anchor="t"/>
          <a:lstStyle/>
          <a:p>
            <a:pPr algn="ctr"/>
            <a:r>
              <a:rPr sz="1600" b="0" i="1">
                <a:solidFill>
                  <a:srgbClr val="AAAAAA"/>
                </a:solidFill>
                <a:latin typeface="Calibri"/>
              </a:rPr>
              <a:t>Reject bad clips before they reach the model.</a:t>
            </a:r>
          </a:p>
        </p:txBody>
      </p:sp>
      <p:sp>
        <p:nvSpPr>
          <p:cNvPr id="5" name="TextBox 4"/>
          <p:cNvSpPr txBox="1"/>
          <p:nvPr/>
        </p:nvSpPr>
        <p:spPr>
          <a:xfrm>
            <a:off x="548640" y="2029968"/>
            <a:ext cx="2651760" cy="365760"/>
          </a:xfrm>
          <a:prstGeom prst="rect">
            <a:avLst/>
          </a:prstGeom>
          <a:noFill/>
        </p:spPr>
        <p:txBody>
          <a:bodyPr wrap="square" anchor="t"/>
          <a:lstStyle/>
          <a:p>
            <a:pPr algn="r"/>
            <a:r>
              <a:rPr sz="1300" b="1" i="0">
                <a:solidFill>
                  <a:srgbClr val="FFFFFF"/>
                </a:solidFill>
                <a:latin typeface="Calibri"/>
              </a:rPr>
              <a:t>All uploaded clips</a:t>
            </a:r>
          </a:p>
        </p:txBody>
      </p:sp>
      <p:sp>
        <p:nvSpPr>
          <p:cNvPr id="6" name="Rectangle 5"/>
          <p:cNvSpPr/>
          <p:nvPr/>
        </p:nvSpPr>
        <p:spPr>
          <a:xfrm>
            <a:off x="2926080" y="1920240"/>
            <a:ext cx="4572000" cy="594360"/>
          </a:xfrm>
          <a:prstGeom prst="rect">
            <a:avLst/>
          </a:prstGeom>
          <a:solidFill>
            <a:srgbClr val="6666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926080" y="2029968"/>
            <a:ext cx="4572000" cy="365760"/>
          </a:xfrm>
          <a:prstGeom prst="rect">
            <a:avLst/>
          </a:prstGeom>
          <a:noFill/>
        </p:spPr>
        <p:txBody>
          <a:bodyPr wrap="square" anchor="t"/>
          <a:lstStyle/>
          <a:p>
            <a:pPr algn="ctr"/>
            <a:r>
              <a:rPr sz="1500" b="1" i="0">
                <a:solidFill>
                  <a:srgbClr val="0D1B2A"/>
                </a:solidFill>
                <a:latin typeface="Calibri"/>
              </a:rPr>
              <a:t>100%</a:t>
            </a:r>
          </a:p>
        </p:txBody>
      </p:sp>
      <p:sp>
        <p:nvSpPr>
          <p:cNvPr id="8" name="TextBox 7"/>
          <p:cNvSpPr txBox="1"/>
          <p:nvPr/>
        </p:nvSpPr>
        <p:spPr>
          <a:xfrm>
            <a:off x="548640" y="2788920"/>
            <a:ext cx="2651760" cy="365760"/>
          </a:xfrm>
          <a:prstGeom prst="rect">
            <a:avLst/>
          </a:prstGeom>
          <a:noFill/>
        </p:spPr>
        <p:txBody>
          <a:bodyPr wrap="square" anchor="t"/>
          <a:lstStyle/>
          <a:p>
            <a:pPr algn="r"/>
            <a:r>
              <a:rPr sz="1300" b="1" i="0">
                <a:solidFill>
                  <a:srgbClr val="FFFFFF"/>
                </a:solidFill>
                <a:latin typeface="Calibri"/>
              </a:rPr>
              <a:t>Head angle ≤ N°</a:t>
            </a:r>
          </a:p>
        </p:txBody>
      </p:sp>
      <p:sp>
        <p:nvSpPr>
          <p:cNvPr id="9" name="Rectangle 8"/>
          <p:cNvSpPr/>
          <p:nvPr/>
        </p:nvSpPr>
        <p:spPr>
          <a:xfrm>
            <a:off x="3154680" y="2679192"/>
            <a:ext cx="4114800" cy="59436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154680" y="2788920"/>
            <a:ext cx="4114800" cy="365760"/>
          </a:xfrm>
          <a:prstGeom prst="rect">
            <a:avLst/>
          </a:prstGeom>
          <a:noFill/>
        </p:spPr>
        <p:txBody>
          <a:bodyPr wrap="square" anchor="t"/>
          <a:lstStyle/>
          <a:p>
            <a:pPr algn="ctr"/>
            <a:r>
              <a:rPr sz="1500" b="1" i="0">
                <a:solidFill>
                  <a:srgbClr val="0D1B2A"/>
                </a:solidFill>
                <a:latin typeface="Calibri"/>
              </a:rPr>
              <a:t>90%</a:t>
            </a:r>
          </a:p>
        </p:txBody>
      </p:sp>
      <p:sp>
        <p:nvSpPr>
          <p:cNvPr id="11" name="TextBox 10"/>
          <p:cNvSpPr txBox="1"/>
          <p:nvPr/>
        </p:nvSpPr>
        <p:spPr>
          <a:xfrm>
            <a:off x="7772400" y="2843784"/>
            <a:ext cx="3291840" cy="365760"/>
          </a:xfrm>
          <a:prstGeom prst="rect">
            <a:avLst/>
          </a:prstGeom>
          <a:noFill/>
        </p:spPr>
        <p:txBody>
          <a:bodyPr wrap="square" anchor="t"/>
          <a:lstStyle/>
          <a:p>
            <a:pPr algn="l"/>
            <a:r>
              <a:rPr sz="1000" b="0" i="1">
                <a:solidFill>
                  <a:srgbClr val="AAAAAA"/>
                </a:solidFill>
                <a:latin typeface="Calibri"/>
              </a:rPr>
              <a:t>rejected: face too profile (-10%)</a:t>
            </a:r>
          </a:p>
        </p:txBody>
      </p:sp>
      <p:sp>
        <p:nvSpPr>
          <p:cNvPr id="12" name="TextBox 11"/>
          <p:cNvSpPr txBox="1"/>
          <p:nvPr/>
        </p:nvSpPr>
        <p:spPr>
          <a:xfrm>
            <a:off x="548640" y="3547872"/>
            <a:ext cx="2651760" cy="365760"/>
          </a:xfrm>
          <a:prstGeom prst="rect">
            <a:avLst/>
          </a:prstGeom>
          <a:noFill/>
        </p:spPr>
        <p:txBody>
          <a:bodyPr wrap="square" anchor="t"/>
          <a:lstStyle/>
          <a:p>
            <a:pPr algn="r"/>
            <a:r>
              <a:rPr sz="1300" b="1" i="0">
                <a:solidFill>
                  <a:srgbClr val="FFFFFF"/>
                </a:solidFill>
                <a:latin typeface="Calibri"/>
              </a:rPr>
              <a:t>Mouth visibility</a:t>
            </a:r>
          </a:p>
        </p:txBody>
      </p:sp>
      <p:sp>
        <p:nvSpPr>
          <p:cNvPr id="13" name="Rectangle 12"/>
          <p:cNvSpPr/>
          <p:nvPr/>
        </p:nvSpPr>
        <p:spPr>
          <a:xfrm>
            <a:off x="3337560" y="3438144"/>
            <a:ext cx="3749040" cy="59436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337560" y="3547872"/>
            <a:ext cx="3749040" cy="365760"/>
          </a:xfrm>
          <a:prstGeom prst="rect">
            <a:avLst/>
          </a:prstGeom>
          <a:noFill/>
        </p:spPr>
        <p:txBody>
          <a:bodyPr wrap="square" anchor="t"/>
          <a:lstStyle/>
          <a:p>
            <a:pPr algn="ctr"/>
            <a:r>
              <a:rPr sz="1500" b="1" i="0">
                <a:solidFill>
                  <a:srgbClr val="0D1B2A"/>
                </a:solidFill>
                <a:latin typeface="Calibri"/>
              </a:rPr>
              <a:t>82%</a:t>
            </a:r>
          </a:p>
        </p:txBody>
      </p:sp>
      <p:sp>
        <p:nvSpPr>
          <p:cNvPr id="15" name="TextBox 14"/>
          <p:cNvSpPr txBox="1"/>
          <p:nvPr/>
        </p:nvSpPr>
        <p:spPr>
          <a:xfrm>
            <a:off x="7772400" y="3602736"/>
            <a:ext cx="3291840" cy="365760"/>
          </a:xfrm>
          <a:prstGeom prst="rect">
            <a:avLst/>
          </a:prstGeom>
          <a:noFill/>
        </p:spPr>
        <p:txBody>
          <a:bodyPr wrap="square" anchor="t"/>
          <a:lstStyle/>
          <a:p>
            <a:pPr algn="l"/>
            <a:r>
              <a:rPr sz="1000" b="0" i="1">
                <a:solidFill>
                  <a:srgbClr val="AAAAAA"/>
                </a:solidFill>
                <a:latin typeface="Calibri"/>
              </a:rPr>
              <a:t>rejected: mouth occluded (-8%)</a:t>
            </a:r>
          </a:p>
        </p:txBody>
      </p:sp>
      <p:sp>
        <p:nvSpPr>
          <p:cNvPr id="16" name="TextBox 15"/>
          <p:cNvSpPr txBox="1"/>
          <p:nvPr/>
        </p:nvSpPr>
        <p:spPr>
          <a:xfrm>
            <a:off x="548640" y="4306824"/>
            <a:ext cx="2651760" cy="365760"/>
          </a:xfrm>
          <a:prstGeom prst="rect">
            <a:avLst/>
          </a:prstGeom>
          <a:noFill/>
        </p:spPr>
        <p:txBody>
          <a:bodyPr wrap="square" anchor="t"/>
          <a:lstStyle/>
          <a:p>
            <a:pPr algn="r"/>
            <a:r>
              <a:rPr sz="1300" b="1" i="0">
                <a:solidFill>
                  <a:srgbClr val="FFFFFF"/>
                </a:solidFill>
                <a:latin typeface="Calibri"/>
              </a:rPr>
              <a:t>Lighting / contrast</a:t>
            </a:r>
          </a:p>
        </p:txBody>
      </p:sp>
      <p:sp>
        <p:nvSpPr>
          <p:cNvPr id="17" name="Rectangle 16"/>
          <p:cNvSpPr/>
          <p:nvPr/>
        </p:nvSpPr>
        <p:spPr>
          <a:xfrm>
            <a:off x="3497580" y="4197096"/>
            <a:ext cx="3429000" cy="59436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497580" y="4306824"/>
            <a:ext cx="3429000" cy="365760"/>
          </a:xfrm>
          <a:prstGeom prst="rect">
            <a:avLst/>
          </a:prstGeom>
          <a:noFill/>
        </p:spPr>
        <p:txBody>
          <a:bodyPr wrap="square" anchor="t"/>
          <a:lstStyle/>
          <a:p>
            <a:pPr algn="ctr"/>
            <a:r>
              <a:rPr sz="1500" b="1" i="0">
                <a:solidFill>
                  <a:srgbClr val="0D1B2A"/>
                </a:solidFill>
                <a:latin typeface="Calibri"/>
              </a:rPr>
              <a:t>75%</a:t>
            </a:r>
          </a:p>
        </p:txBody>
      </p:sp>
      <p:sp>
        <p:nvSpPr>
          <p:cNvPr id="19" name="TextBox 18"/>
          <p:cNvSpPr txBox="1"/>
          <p:nvPr/>
        </p:nvSpPr>
        <p:spPr>
          <a:xfrm>
            <a:off x="7772400" y="4361688"/>
            <a:ext cx="3291840" cy="365760"/>
          </a:xfrm>
          <a:prstGeom prst="rect">
            <a:avLst/>
          </a:prstGeom>
          <a:noFill/>
        </p:spPr>
        <p:txBody>
          <a:bodyPr wrap="square" anchor="t"/>
          <a:lstStyle/>
          <a:p>
            <a:pPr algn="l"/>
            <a:r>
              <a:rPr sz="1000" b="0" i="1">
                <a:solidFill>
                  <a:srgbClr val="AAAAAA"/>
                </a:solidFill>
                <a:latin typeface="Calibri"/>
              </a:rPr>
              <a:t>rejected: too dark or washed out (-7%)</a:t>
            </a:r>
          </a:p>
        </p:txBody>
      </p:sp>
      <p:sp>
        <p:nvSpPr>
          <p:cNvPr id="20" name="TextBox 19"/>
          <p:cNvSpPr txBox="1"/>
          <p:nvPr/>
        </p:nvSpPr>
        <p:spPr>
          <a:xfrm>
            <a:off x="548640" y="5065776"/>
            <a:ext cx="2651760" cy="365760"/>
          </a:xfrm>
          <a:prstGeom prst="rect">
            <a:avLst/>
          </a:prstGeom>
          <a:noFill/>
        </p:spPr>
        <p:txBody>
          <a:bodyPr wrap="square" anchor="t"/>
          <a:lstStyle/>
          <a:p>
            <a:pPr algn="r"/>
            <a:r>
              <a:rPr sz="1300" b="1" i="0">
                <a:solidFill>
                  <a:srgbClr val="FFFFFF"/>
                </a:solidFill>
                <a:latin typeface="Calibri"/>
              </a:rPr>
              <a:t>Reaches the model</a:t>
            </a:r>
          </a:p>
        </p:txBody>
      </p:sp>
      <p:sp>
        <p:nvSpPr>
          <p:cNvPr id="21" name="Rectangle 20"/>
          <p:cNvSpPr/>
          <p:nvPr/>
        </p:nvSpPr>
        <p:spPr>
          <a:xfrm>
            <a:off x="3497580" y="4956048"/>
            <a:ext cx="3429000" cy="594360"/>
          </a:xfrm>
          <a:prstGeom prst="rect">
            <a:avLst/>
          </a:prstGeom>
          <a:solidFill>
            <a:srgbClr val="4CAF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497580" y="5065776"/>
            <a:ext cx="3429000" cy="365760"/>
          </a:xfrm>
          <a:prstGeom prst="rect">
            <a:avLst/>
          </a:prstGeom>
          <a:noFill/>
        </p:spPr>
        <p:txBody>
          <a:bodyPr wrap="square" anchor="t"/>
          <a:lstStyle/>
          <a:p>
            <a:pPr algn="ctr"/>
            <a:r>
              <a:rPr sz="1500" b="1" i="0">
                <a:solidFill>
                  <a:srgbClr val="0D1B2A"/>
                </a:solidFill>
                <a:latin typeface="Calibri"/>
              </a:rPr>
              <a:t>75%</a:t>
            </a:r>
          </a:p>
        </p:txBody>
      </p:sp>
      <p:sp>
        <p:nvSpPr>
          <p:cNvPr id="23" name="TextBox 22"/>
          <p:cNvSpPr txBox="1"/>
          <p:nvPr/>
        </p:nvSpPr>
        <p:spPr>
          <a:xfrm>
            <a:off x="548640" y="5943600"/>
            <a:ext cx="11091672" cy="548640"/>
          </a:xfrm>
          <a:prstGeom prst="rect">
            <a:avLst/>
          </a:prstGeom>
          <a:noFill/>
        </p:spPr>
        <p:txBody>
          <a:bodyPr wrap="square" anchor="t"/>
          <a:lstStyle/>
          <a:p>
            <a:pPr algn="ctr"/>
            <a:r>
              <a:rPr sz="1100" b="0" i="1">
                <a:solidFill>
                  <a:srgbClr val="AAAAAA"/>
                </a:solidFill>
                <a:latin typeface="Calibri"/>
              </a:rPr>
              <a:t>Three frame-level CV checks, all running locally. Status: planned ablation. Percentages illustrative — actual rejection rates depend on your video conditions.</a:t>
            </a:r>
          </a:p>
        </p:txBody>
      </p:sp>
      <p:pic>
        <p:nvPicPr>
          <p:cNvPr id="24" name="Picture 23" descr="WhiteLogo.jpeg"/>
          <p:cNvPicPr>
            <a:picLocks noChangeAspect="1"/>
          </p:cNvPicPr>
          <p:nvPr/>
        </p:nvPicPr>
        <p:blipFill>
          <a:blip r:embed="rId2"/>
          <a:stretch>
            <a:fillRect/>
          </a:stretch>
        </p:blipFill>
        <p:spPr>
          <a:xfrm>
            <a:off x="11323320" y="6428232"/>
            <a:ext cx="269634" cy="320040"/>
          </a:xfrm>
          <a:prstGeom prst="rect">
            <a:avLst/>
          </a:prstGeom>
        </p:spPr>
      </p:pic>
      <p:sp>
        <p:nvSpPr>
          <p:cNvPr id="25" name="TextBox 24"/>
          <p:cNvSpPr txBox="1"/>
          <p:nvPr/>
        </p:nvSpPr>
        <p:spPr>
          <a:xfrm>
            <a:off x="548640" y="6510528"/>
            <a:ext cx="457200" cy="228600"/>
          </a:xfrm>
          <a:prstGeom prst="rect">
            <a:avLst/>
          </a:prstGeom>
          <a:noFill/>
        </p:spPr>
        <p:txBody>
          <a:bodyPr wrap="none">
            <a:spAutoFit/>
          </a:bodyPr>
          <a:lstStyle/>
          <a:p>
            <a:r>
              <a:rPr sz="900" b="0" i="0">
                <a:solidFill>
                  <a:srgbClr val="666666"/>
                </a:solidFill>
                <a:latin typeface="Calibri"/>
              </a:rPr>
              <a:t>37</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0D1B2A"/>
        </a:solidFill>
        <a:effectLst/>
      </p:bgPr>
    </p:bg>
    <p:spTree>
      <p:nvGrpSpPr>
        <p:cNvPr id="1" name=""/>
        <p:cNvGrpSpPr/>
        <p:nvPr/>
      </p:nvGrpSpPr>
      <p:grpSpPr/>
      <p:sp>
        <p:nvSpPr>
          <p:cNvPr id="2" name="TextBox 1"/>
          <p:cNvSpPr txBox="1"/>
          <p:nvPr/>
        </p:nvSpPr>
        <p:spPr>
          <a:xfrm>
            <a:off x="548640" y="365760"/>
            <a:ext cx="11091672" cy="685800"/>
          </a:xfrm>
          <a:prstGeom prst="rect">
            <a:avLst/>
          </a:prstGeom>
          <a:noFill/>
        </p:spPr>
        <p:txBody>
          <a:bodyPr wrap="square">
            <a:spAutoFit/>
          </a:bodyPr>
          <a:lstStyle/>
          <a:p>
            <a:r>
              <a:rPr sz="3200" b="1" i="0">
                <a:solidFill>
                  <a:srgbClr val="FFFFFF"/>
                </a:solidFill>
                <a:latin typeface="Calibri"/>
              </a:rPr>
              <a:t>Why pre-processing is the highest-leverage work</a:t>
            </a:r>
          </a:p>
        </p:txBody>
      </p:sp>
      <p:sp>
        <p:nvSpPr>
          <p:cNvPr id="3" name="Rectangle 2"/>
          <p:cNvSpPr/>
          <p:nvPr/>
        </p:nvSpPr>
        <p:spPr>
          <a:xfrm>
            <a:off x="548640" y="1097280"/>
            <a:ext cx="11091672" cy="1905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828800"/>
            <a:ext cx="11091672" cy="731520"/>
          </a:xfrm>
          <a:prstGeom prst="rect">
            <a:avLst/>
          </a:prstGeom>
          <a:noFill/>
        </p:spPr>
        <p:txBody>
          <a:bodyPr wrap="square" anchor="t"/>
          <a:lstStyle/>
          <a:p>
            <a:pPr algn="ctr"/>
            <a:r>
              <a:rPr sz="2200" b="0" i="1">
                <a:solidFill>
                  <a:srgbClr val="00B4D8"/>
                </a:solidFill>
                <a:latin typeface="Calibri"/>
              </a:rPr>
              <a:t>The model is never tested in isolation. What reaches it is what matters.</a:t>
            </a:r>
          </a:p>
        </p:txBody>
      </p:sp>
      <p:sp>
        <p:nvSpPr>
          <p:cNvPr id="5" name="TextBox 4"/>
          <p:cNvSpPr txBox="1"/>
          <p:nvPr/>
        </p:nvSpPr>
        <p:spPr>
          <a:xfrm>
            <a:off x="548640" y="3108960"/>
            <a:ext cx="11091672" cy="2743200"/>
          </a:xfrm>
          <a:prstGeom prst="rect">
            <a:avLst/>
          </a:prstGeom>
          <a:noFill/>
        </p:spPr>
        <p:txBody>
          <a:bodyPr wrap="square">
            <a:spAutoFit/>
          </a:bodyPr>
          <a:lstStyle/>
          <a:p>
            <a:pPr algn="l">
              <a:spcAft>
                <a:spcPts val="600"/>
              </a:spcAft>
            </a:pPr>
            <a:r>
              <a:rPr sz="1800" b="1">
                <a:solidFill>
                  <a:srgbClr val="00B4D8"/>
                </a:solidFill>
                <a:latin typeface="Calibri"/>
              </a:rPr>
              <a:t>• </a:t>
            </a:r>
            <a:r>
              <a:rPr sz="1800" b="0">
                <a:solidFill>
                  <a:srgbClr val="FFFFFF"/>
                </a:solidFill>
                <a:latin typeface="Calibri"/>
              </a:rPr>
              <a:t>Both stages run on your local machine — no extra cloud cost</a:t>
            </a:r>
          </a:p>
          <a:p>
            <a:pPr algn="l">
              <a:spcAft>
                <a:spcPts val="600"/>
              </a:spcAft>
            </a:pPr>
            <a:r>
              <a:rPr sz="1800" b="1">
                <a:solidFill>
                  <a:srgbClr val="00B4D8"/>
                </a:solidFill>
                <a:latin typeface="Calibri"/>
              </a:rPr>
              <a:t>• </a:t>
            </a:r>
            <a:r>
              <a:rPr sz="1800" b="0">
                <a:solidFill>
                  <a:srgbClr val="FFFFFF"/>
                </a:solidFill>
                <a:latin typeface="Calibri"/>
              </a:rPr>
              <a:t>Both reduce wasted compute on unusable footage</a:t>
            </a:r>
          </a:p>
          <a:p>
            <a:pPr algn="l">
              <a:spcAft>
                <a:spcPts val="600"/>
              </a:spcAft>
            </a:pPr>
            <a:r>
              <a:rPr sz="1800" b="1">
                <a:solidFill>
                  <a:srgbClr val="00B4D8"/>
                </a:solidFill>
                <a:latin typeface="Calibri"/>
              </a:rPr>
              <a:t>• </a:t>
            </a:r>
            <a:r>
              <a:rPr sz="1800" b="0">
                <a:solidFill>
                  <a:srgbClr val="FFFFFF"/>
                </a:solidFill>
                <a:latin typeface="Calibri"/>
              </a:rPr>
              <a:t>Both ship as clear ablation studies with measurable impact</a:t>
            </a:r>
          </a:p>
          <a:p>
            <a:pPr algn="l">
              <a:spcAft>
                <a:spcPts val="600"/>
              </a:spcAft>
            </a:pPr>
            <a:r>
              <a:rPr sz="1800" b="1">
                <a:solidFill>
                  <a:srgbClr val="00B4D8"/>
                </a:solidFill>
                <a:latin typeface="Calibri"/>
              </a:rPr>
              <a:t>• </a:t>
            </a:r>
            <a:r>
              <a:rPr sz="1800" b="0">
                <a:solidFill>
                  <a:srgbClr val="FFFFFF"/>
                </a:solidFill>
                <a:latin typeface="Calibri"/>
              </a:rPr>
              <a:t>Together: a more reliable, more efficient pipeline by default</a:t>
            </a:r>
          </a:p>
        </p:txBody>
      </p:sp>
      <p:pic>
        <p:nvPicPr>
          <p:cNvPr id="6" name="Picture 5" descr="WhiteLogo.jpeg"/>
          <p:cNvPicPr>
            <a:picLocks noChangeAspect="1"/>
          </p:cNvPicPr>
          <p:nvPr/>
        </p:nvPicPr>
        <p:blipFill>
          <a:blip r:embed="rId2"/>
          <a:stretch>
            <a:fillRect/>
          </a:stretch>
        </p:blipFill>
        <p:spPr>
          <a:xfrm>
            <a:off x="11323320" y="6428232"/>
            <a:ext cx="269634" cy="320040"/>
          </a:xfrm>
          <a:prstGeom prst="rect">
            <a:avLst/>
          </a:prstGeom>
        </p:spPr>
      </p:pic>
      <p:sp>
        <p:nvSpPr>
          <p:cNvPr id="7" name="TextBox 6"/>
          <p:cNvSpPr txBox="1"/>
          <p:nvPr/>
        </p:nvSpPr>
        <p:spPr>
          <a:xfrm>
            <a:off x="548640" y="6510528"/>
            <a:ext cx="457200" cy="228600"/>
          </a:xfrm>
          <a:prstGeom prst="rect">
            <a:avLst/>
          </a:prstGeom>
          <a:noFill/>
        </p:spPr>
        <p:txBody>
          <a:bodyPr wrap="none">
            <a:spAutoFit/>
          </a:bodyPr>
          <a:lstStyle/>
          <a:p>
            <a:r>
              <a:rPr sz="900" b="0" i="0">
                <a:solidFill>
                  <a:srgbClr val="666666"/>
                </a:solidFill>
                <a:latin typeface="Calibri"/>
              </a:rPr>
              <a:t>38</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0D1B2A"/>
        </a:solidFill>
        <a:effectLst/>
      </p:bgPr>
    </p:bg>
    <p:spTree>
      <p:nvGrpSpPr>
        <p:cNvPr id="1" name=""/>
        <p:cNvGrpSpPr/>
        <p:nvPr/>
      </p:nvGrpSpPr>
      <p:grpSpPr/>
      <p:sp>
        <p:nvSpPr>
          <p:cNvPr id="2" name="TextBox 1"/>
          <p:cNvSpPr txBox="1"/>
          <p:nvPr/>
        </p:nvSpPr>
        <p:spPr>
          <a:xfrm>
            <a:off x="548640" y="2560320"/>
            <a:ext cx="11091672" cy="914400"/>
          </a:xfrm>
          <a:prstGeom prst="rect">
            <a:avLst/>
          </a:prstGeom>
          <a:noFill/>
        </p:spPr>
        <p:txBody>
          <a:bodyPr wrap="square" anchor="t"/>
          <a:lstStyle/>
          <a:p>
            <a:pPr algn="ctr"/>
            <a:r>
              <a:rPr sz="4400" b="1" i="0">
                <a:solidFill>
                  <a:srgbClr val="00B4D8"/>
                </a:solidFill>
                <a:latin typeface="Calibri"/>
              </a:rPr>
              <a:t>ROADMAP &amp; INVESTMENT</a:t>
            </a:r>
          </a:p>
        </p:txBody>
      </p:sp>
      <p:sp>
        <p:nvSpPr>
          <p:cNvPr id="3" name="TextBox 2"/>
          <p:cNvSpPr txBox="1"/>
          <p:nvPr/>
        </p:nvSpPr>
        <p:spPr>
          <a:xfrm>
            <a:off x="548640" y="3566160"/>
            <a:ext cx="11091672" cy="731520"/>
          </a:xfrm>
          <a:prstGeom prst="rect">
            <a:avLst/>
          </a:prstGeom>
          <a:noFill/>
        </p:spPr>
        <p:txBody>
          <a:bodyPr wrap="square" anchor="t"/>
          <a:lstStyle/>
          <a:p>
            <a:pPr algn="ctr"/>
            <a:r>
              <a:rPr sz="2000" b="0" i="1">
                <a:solidFill>
                  <a:srgbClr val="AAAAAA"/>
                </a:solidFill>
                <a:latin typeface="Calibri"/>
              </a:rPr>
              <a:t>Where we're going and what it takes to get there</a:t>
            </a:r>
          </a:p>
        </p:txBody>
      </p:sp>
      <p:pic>
        <p:nvPicPr>
          <p:cNvPr id="4" name="Picture 3" descr="WhiteLogo.jpeg"/>
          <p:cNvPicPr>
            <a:picLocks noChangeAspect="1"/>
          </p:cNvPicPr>
          <p:nvPr/>
        </p:nvPicPr>
        <p:blipFill>
          <a:blip r:embed="rId2"/>
          <a:stretch>
            <a:fillRect/>
          </a:stretch>
        </p:blipFill>
        <p:spPr>
          <a:xfrm>
            <a:off x="11323320" y="6428232"/>
            <a:ext cx="269634" cy="320040"/>
          </a:xfrm>
          <a:prstGeom prst="rect">
            <a:avLst/>
          </a:prstGeom>
        </p:spPr>
      </p:pic>
      <p:sp>
        <p:nvSpPr>
          <p:cNvPr id="5" name="TextBox 4"/>
          <p:cNvSpPr txBox="1"/>
          <p:nvPr/>
        </p:nvSpPr>
        <p:spPr>
          <a:xfrm>
            <a:off x="548640" y="6510528"/>
            <a:ext cx="457200" cy="228600"/>
          </a:xfrm>
          <a:prstGeom prst="rect">
            <a:avLst/>
          </a:prstGeom>
          <a:noFill/>
        </p:spPr>
        <p:txBody>
          <a:bodyPr wrap="none">
            <a:spAutoFit/>
          </a:bodyPr>
          <a:lstStyle/>
          <a:p>
            <a:r>
              <a:rPr sz="900" b="0" i="0">
                <a:solidFill>
                  <a:srgbClr val="666666"/>
                </a:solidFill>
                <a:latin typeface="Calibri"/>
              </a:rPr>
              <a:t>39</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0D1B2A"/>
        </a:solidFill>
        <a:effectLst/>
      </p:bgPr>
    </p:bg>
    <p:spTree>
      <p:nvGrpSpPr>
        <p:cNvPr id="1" name=""/>
        <p:cNvGrpSpPr/>
        <p:nvPr/>
      </p:nvGrpSpPr>
      <p:grpSpPr/>
      <p:sp>
        <p:nvSpPr>
          <p:cNvPr id="2" name="TextBox 1"/>
          <p:cNvSpPr txBox="1"/>
          <p:nvPr/>
        </p:nvSpPr>
        <p:spPr>
          <a:xfrm>
            <a:off x="548640" y="365760"/>
            <a:ext cx="11091672" cy="685800"/>
          </a:xfrm>
          <a:prstGeom prst="rect">
            <a:avLst/>
          </a:prstGeom>
          <a:noFill/>
        </p:spPr>
        <p:txBody>
          <a:bodyPr wrap="square">
            <a:spAutoFit/>
          </a:bodyPr>
          <a:lstStyle/>
          <a:p>
            <a:r>
              <a:rPr sz="3200" b="1" i="0">
                <a:solidFill>
                  <a:srgbClr val="FFFFFF"/>
                </a:solidFill>
                <a:latin typeface="Calibri"/>
              </a:rPr>
              <a:t>Where we are vs. where we're going</a:t>
            </a:r>
          </a:p>
        </p:txBody>
      </p:sp>
      <p:sp>
        <p:nvSpPr>
          <p:cNvPr id="3" name="Rectangle 2"/>
          <p:cNvSpPr/>
          <p:nvPr/>
        </p:nvSpPr>
        <p:spPr>
          <a:xfrm>
            <a:off x="548640" y="1097280"/>
            <a:ext cx="11091672" cy="1905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48640" y="1737360"/>
            <a:ext cx="3520440" cy="3749039"/>
          </a:xfrm>
          <a:prstGeom prst="rect">
            <a:avLst/>
          </a:prstGeom>
          <a:solidFill>
            <a:srgbClr val="152A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2103120"/>
            <a:ext cx="3520440" cy="548640"/>
          </a:xfrm>
          <a:prstGeom prst="rect">
            <a:avLst/>
          </a:prstGeom>
          <a:noFill/>
        </p:spPr>
        <p:txBody>
          <a:bodyPr wrap="square" anchor="t"/>
          <a:lstStyle/>
          <a:p>
            <a:pPr algn="ctr"/>
            <a:r>
              <a:rPr sz="2800" b="1" i="0">
                <a:solidFill>
                  <a:srgbClr val="00B4D8"/>
                </a:solidFill>
                <a:latin typeface="Calibri"/>
              </a:rPr>
              <a:t>TODAY</a:t>
            </a:r>
          </a:p>
        </p:txBody>
      </p:sp>
      <p:sp>
        <p:nvSpPr>
          <p:cNvPr id="6" name="TextBox 5"/>
          <p:cNvSpPr txBox="1"/>
          <p:nvPr/>
        </p:nvSpPr>
        <p:spPr>
          <a:xfrm>
            <a:off x="822960" y="3200400"/>
            <a:ext cx="2971800" cy="2285999"/>
          </a:xfrm>
          <a:prstGeom prst="rect">
            <a:avLst/>
          </a:prstGeom>
          <a:noFill/>
        </p:spPr>
        <p:txBody>
          <a:bodyPr wrap="square" anchor="t"/>
          <a:lstStyle/>
          <a:p>
            <a:pPr algn="ctr"/>
            <a:r>
              <a:rPr sz="1400" b="0" i="0">
                <a:solidFill>
                  <a:srgbClr val="FFFFFF"/>
                </a:solidFill>
                <a:latin typeface="Calibri"/>
              </a:rPr>
              <a:t>Working pipeline, validated trust signals, deployable today.</a:t>
            </a:r>
          </a:p>
        </p:txBody>
      </p:sp>
      <p:sp>
        <p:nvSpPr>
          <p:cNvPr id="7" name="Rectangle 6"/>
          <p:cNvSpPr/>
          <p:nvPr/>
        </p:nvSpPr>
        <p:spPr>
          <a:xfrm>
            <a:off x="4297680" y="2011680"/>
            <a:ext cx="3520440" cy="3474719"/>
          </a:xfrm>
          <a:prstGeom prst="rect">
            <a:avLst/>
          </a:prstGeom>
          <a:solidFill>
            <a:srgbClr val="152A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297680" y="2377440"/>
            <a:ext cx="3520440" cy="548640"/>
          </a:xfrm>
          <a:prstGeom prst="rect">
            <a:avLst/>
          </a:prstGeom>
          <a:noFill/>
        </p:spPr>
        <p:txBody>
          <a:bodyPr wrap="square" anchor="t"/>
          <a:lstStyle/>
          <a:p>
            <a:pPr algn="ctr"/>
            <a:r>
              <a:rPr sz="2800" b="1" i="0">
                <a:solidFill>
                  <a:srgbClr val="FFD54F"/>
                </a:solidFill>
                <a:latin typeface="Calibri"/>
              </a:rPr>
              <a:t>NEXT</a:t>
            </a:r>
          </a:p>
        </p:txBody>
      </p:sp>
      <p:sp>
        <p:nvSpPr>
          <p:cNvPr id="9" name="TextBox 8"/>
          <p:cNvSpPr txBox="1"/>
          <p:nvPr/>
        </p:nvSpPr>
        <p:spPr>
          <a:xfrm>
            <a:off x="4572000" y="3474720"/>
            <a:ext cx="2971800" cy="2011679"/>
          </a:xfrm>
          <a:prstGeom prst="rect">
            <a:avLst/>
          </a:prstGeom>
          <a:noFill/>
        </p:spPr>
        <p:txBody>
          <a:bodyPr wrap="square" anchor="t"/>
          <a:lstStyle/>
          <a:p>
            <a:pPr algn="ctr"/>
            <a:r>
              <a:rPr sz="1400" b="0" i="0">
                <a:solidFill>
                  <a:srgbClr val="FFFFFF"/>
                </a:solidFill>
                <a:latin typeface="Calibri"/>
              </a:rPr>
              <a:t>Stronger model, more training data, pre-processing live.</a:t>
            </a:r>
          </a:p>
        </p:txBody>
      </p:sp>
      <p:sp>
        <p:nvSpPr>
          <p:cNvPr id="10" name="Rectangle 9"/>
          <p:cNvSpPr/>
          <p:nvPr/>
        </p:nvSpPr>
        <p:spPr>
          <a:xfrm>
            <a:off x="8046720" y="2286000"/>
            <a:ext cx="3520440" cy="3200399"/>
          </a:xfrm>
          <a:prstGeom prst="rect">
            <a:avLst/>
          </a:prstGeom>
          <a:solidFill>
            <a:srgbClr val="152A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046720" y="2651760"/>
            <a:ext cx="3520440" cy="548640"/>
          </a:xfrm>
          <a:prstGeom prst="rect">
            <a:avLst/>
          </a:prstGeom>
          <a:noFill/>
        </p:spPr>
        <p:txBody>
          <a:bodyPr wrap="square" anchor="t"/>
          <a:lstStyle/>
          <a:p>
            <a:pPr algn="ctr"/>
            <a:r>
              <a:rPr sz="2800" b="1" i="0">
                <a:solidFill>
                  <a:srgbClr val="4CAF50"/>
                </a:solidFill>
                <a:latin typeface="Calibri"/>
              </a:rPr>
              <a:t>AFTER</a:t>
            </a:r>
          </a:p>
        </p:txBody>
      </p:sp>
      <p:sp>
        <p:nvSpPr>
          <p:cNvPr id="12" name="TextBox 11"/>
          <p:cNvSpPr txBox="1"/>
          <p:nvPr/>
        </p:nvSpPr>
        <p:spPr>
          <a:xfrm>
            <a:off x="8321040" y="3749040"/>
            <a:ext cx="2971800" cy="1737359"/>
          </a:xfrm>
          <a:prstGeom prst="rect">
            <a:avLst/>
          </a:prstGeom>
          <a:noFill/>
        </p:spPr>
        <p:txBody>
          <a:bodyPr wrap="square" anchor="t"/>
          <a:lstStyle/>
          <a:p>
            <a:pPr algn="ctr"/>
            <a:r>
              <a:rPr sz="1400" b="0" i="0">
                <a:solidFill>
                  <a:srgbClr val="FFFFFF"/>
                </a:solidFill>
                <a:latin typeface="Calibri"/>
              </a:rPr>
              <a:t>Domain-specialized fine-tunes for your content.</a:t>
            </a:r>
          </a:p>
        </p:txBody>
      </p:sp>
      <p:pic>
        <p:nvPicPr>
          <p:cNvPr id="13" name="Picture 12" descr="WhiteLogo.jpeg"/>
          <p:cNvPicPr>
            <a:picLocks noChangeAspect="1"/>
          </p:cNvPicPr>
          <p:nvPr/>
        </p:nvPicPr>
        <p:blipFill>
          <a:blip r:embed="rId2"/>
          <a:stretch>
            <a:fillRect/>
          </a:stretch>
        </p:blipFill>
        <p:spPr>
          <a:xfrm>
            <a:off x="11323320" y="6428232"/>
            <a:ext cx="269634" cy="320040"/>
          </a:xfrm>
          <a:prstGeom prst="rect">
            <a:avLst/>
          </a:prstGeom>
        </p:spPr>
      </p:pic>
      <p:sp>
        <p:nvSpPr>
          <p:cNvPr id="14" name="TextBox 13"/>
          <p:cNvSpPr txBox="1"/>
          <p:nvPr/>
        </p:nvSpPr>
        <p:spPr>
          <a:xfrm>
            <a:off x="548640" y="6510528"/>
            <a:ext cx="457200" cy="228600"/>
          </a:xfrm>
          <a:prstGeom prst="rect">
            <a:avLst/>
          </a:prstGeom>
          <a:noFill/>
        </p:spPr>
        <p:txBody>
          <a:bodyPr wrap="none">
            <a:spAutoFit/>
          </a:bodyPr>
          <a:lstStyle/>
          <a:p>
            <a:r>
              <a:rPr sz="900" b="0" i="0">
                <a:solidFill>
                  <a:srgbClr val="666666"/>
                </a:solidFill>
                <a:latin typeface="Calibri"/>
              </a:rPr>
              <a:t>40</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0D1B2A"/>
        </a:solidFill>
        <a:effectLst/>
      </p:bgPr>
    </p:bg>
    <p:spTree>
      <p:nvGrpSpPr>
        <p:cNvPr id="1" name=""/>
        <p:cNvGrpSpPr/>
        <p:nvPr/>
      </p:nvGrpSpPr>
      <p:grpSpPr/>
      <p:sp>
        <p:nvSpPr>
          <p:cNvPr id="2" name="TextBox 1"/>
          <p:cNvSpPr txBox="1"/>
          <p:nvPr/>
        </p:nvSpPr>
        <p:spPr>
          <a:xfrm>
            <a:off x="548640" y="365760"/>
            <a:ext cx="11091672" cy="685800"/>
          </a:xfrm>
          <a:prstGeom prst="rect">
            <a:avLst/>
          </a:prstGeom>
          <a:noFill/>
        </p:spPr>
        <p:txBody>
          <a:bodyPr wrap="square">
            <a:spAutoFit/>
          </a:bodyPr>
          <a:lstStyle/>
          <a:p>
            <a:r>
              <a:rPr sz="3200" b="1" i="0">
                <a:solidFill>
                  <a:srgbClr val="FFFFFF"/>
                </a:solidFill>
                <a:latin typeface="Calibri"/>
              </a:rPr>
              <a:t>A stronger model, same architecture</a:t>
            </a:r>
          </a:p>
        </p:txBody>
      </p:sp>
      <p:sp>
        <p:nvSpPr>
          <p:cNvPr id="3" name="Rectangle 2"/>
          <p:cNvSpPr/>
          <p:nvPr/>
        </p:nvSpPr>
        <p:spPr>
          <a:xfrm>
            <a:off x="548640" y="1097280"/>
            <a:ext cx="11091672" cy="1905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828800"/>
            <a:ext cx="11091672" cy="548640"/>
          </a:xfrm>
          <a:prstGeom prst="rect">
            <a:avLst/>
          </a:prstGeom>
          <a:noFill/>
        </p:spPr>
        <p:txBody>
          <a:bodyPr wrap="square" anchor="t"/>
          <a:lstStyle/>
          <a:p>
            <a:pPr algn="ctr"/>
            <a:r>
              <a:rPr sz="2200" b="0" i="1">
                <a:solidFill>
                  <a:srgbClr val="00B4D8"/>
                </a:solidFill>
                <a:latin typeface="Calibri"/>
              </a:rPr>
              <a:t>The same pipeline. A larger, better-trained brain on the back.</a:t>
            </a:r>
          </a:p>
        </p:txBody>
      </p:sp>
      <p:sp>
        <p:nvSpPr>
          <p:cNvPr id="5" name="TextBox 4"/>
          <p:cNvSpPr txBox="1"/>
          <p:nvPr/>
        </p:nvSpPr>
        <p:spPr>
          <a:xfrm>
            <a:off x="548640" y="2743200"/>
            <a:ext cx="11091672" cy="3108960"/>
          </a:xfrm>
          <a:prstGeom prst="rect">
            <a:avLst/>
          </a:prstGeom>
          <a:noFill/>
        </p:spPr>
        <p:txBody>
          <a:bodyPr wrap="square">
            <a:spAutoFit/>
          </a:bodyPr>
          <a:lstStyle/>
          <a:p>
            <a:pPr algn="l">
              <a:spcAft>
                <a:spcPts val="600"/>
              </a:spcAft>
            </a:pPr>
            <a:r>
              <a:rPr sz="1700" b="1">
                <a:solidFill>
                  <a:srgbClr val="00B4D8"/>
                </a:solidFill>
                <a:latin typeface="Calibri"/>
              </a:rPr>
              <a:t>• </a:t>
            </a:r>
            <a:r>
              <a:rPr sz="1700" b="0">
                <a:solidFill>
                  <a:srgbClr val="FFFFFF"/>
                </a:solidFill>
                <a:latin typeface="Calibri"/>
              </a:rPr>
              <a:t>Drop-in upgrade of the language model that produces the final transcript</a:t>
            </a:r>
          </a:p>
          <a:p>
            <a:pPr algn="l">
              <a:spcAft>
                <a:spcPts val="600"/>
              </a:spcAft>
            </a:pPr>
            <a:r>
              <a:rPr sz="1700" b="1">
                <a:solidFill>
                  <a:srgbClr val="00B4D8"/>
                </a:solidFill>
                <a:latin typeface="Calibri"/>
              </a:rPr>
              <a:t>• </a:t>
            </a:r>
            <a:r>
              <a:rPr sz="1700" b="0">
                <a:solidFill>
                  <a:srgbClr val="FFFFFF"/>
                </a:solidFill>
                <a:latin typeface="Calibri"/>
              </a:rPr>
              <a:t>Better grasp of context, named entities, and uncommon vocabulary</a:t>
            </a:r>
          </a:p>
          <a:p>
            <a:pPr algn="l">
              <a:spcAft>
                <a:spcPts val="600"/>
              </a:spcAft>
            </a:pPr>
            <a:r>
              <a:rPr sz="1700" b="1">
                <a:solidFill>
                  <a:srgbClr val="00B4D8"/>
                </a:solidFill>
                <a:latin typeface="Calibri"/>
              </a:rPr>
              <a:t>• </a:t>
            </a:r>
            <a:r>
              <a:rPr sz="1700" b="0">
                <a:solidFill>
                  <a:srgbClr val="FFFFFF"/>
                </a:solidFill>
                <a:latin typeface="Calibri"/>
              </a:rPr>
              <a:t>No change to your integration — same inputs, same outputs, better text</a:t>
            </a:r>
          </a:p>
          <a:p>
            <a:pPr algn="l">
              <a:spcAft>
                <a:spcPts val="600"/>
              </a:spcAft>
            </a:pPr>
            <a:r>
              <a:rPr sz="1700" b="1">
                <a:solidFill>
                  <a:srgbClr val="00B4D8"/>
                </a:solidFill>
                <a:latin typeface="Calibri"/>
              </a:rPr>
              <a:t>• </a:t>
            </a:r>
            <a:r>
              <a:rPr sz="1700" b="0">
                <a:solidFill>
                  <a:srgbClr val="FFFFFF"/>
                </a:solidFill>
                <a:latin typeface="Calibri"/>
              </a:rPr>
              <a:t>Requires retraining — not a switch, an investment</a:t>
            </a:r>
          </a:p>
        </p:txBody>
      </p:sp>
      <p:sp>
        <p:nvSpPr>
          <p:cNvPr id="6" name="TextBox 5"/>
          <p:cNvSpPr txBox="1"/>
          <p:nvPr/>
        </p:nvSpPr>
        <p:spPr>
          <a:xfrm>
            <a:off x="548640" y="5989320"/>
            <a:ext cx="11091672" cy="411480"/>
          </a:xfrm>
          <a:prstGeom prst="rect">
            <a:avLst/>
          </a:prstGeom>
          <a:noFill/>
        </p:spPr>
        <p:txBody>
          <a:bodyPr wrap="square" anchor="t"/>
          <a:lstStyle/>
          <a:p>
            <a:pPr algn="ctr"/>
            <a:r>
              <a:rPr sz="1000" b="0" i="1">
                <a:solidFill>
                  <a:srgbClr val="666666"/>
                </a:solidFill>
                <a:latin typeface="Calibri"/>
              </a:rPr>
              <a:t>Biggest expected lift: yellow / red segments — where richer language priors help disambiguate visemically-identical words.</a:t>
            </a:r>
          </a:p>
        </p:txBody>
      </p:sp>
      <p:pic>
        <p:nvPicPr>
          <p:cNvPr id="7" name="Picture 6" descr="WhiteLogo.jpeg"/>
          <p:cNvPicPr>
            <a:picLocks noChangeAspect="1"/>
          </p:cNvPicPr>
          <p:nvPr/>
        </p:nvPicPr>
        <p:blipFill>
          <a:blip r:embed="rId2"/>
          <a:stretch>
            <a:fillRect/>
          </a:stretch>
        </p:blipFill>
        <p:spPr>
          <a:xfrm>
            <a:off x="11323320" y="6428232"/>
            <a:ext cx="269634" cy="320040"/>
          </a:xfrm>
          <a:prstGeom prst="rect">
            <a:avLst/>
          </a:prstGeom>
        </p:spPr>
      </p:pic>
      <p:sp>
        <p:nvSpPr>
          <p:cNvPr id="8" name="TextBox 7"/>
          <p:cNvSpPr txBox="1"/>
          <p:nvPr/>
        </p:nvSpPr>
        <p:spPr>
          <a:xfrm>
            <a:off x="548640" y="6510528"/>
            <a:ext cx="457200" cy="228600"/>
          </a:xfrm>
          <a:prstGeom prst="rect">
            <a:avLst/>
          </a:prstGeom>
          <a:noFill/>
        </p:spPr>
        <p:txBody>
          <a:bodyPr wrap="none">
            <a:spAutoFit/>
          </a:bodyPr>
          <a:lstStyle/>
          <a:p>
            <a:r>
              <a:rPr sz="900" b="0" i="0">
                <a:solidFill>
                  <a:srgbClr val="666666"/>
                </a:solidFill>
                <a:latin typeface="Calibri"/>
              </a:rPr>
              <a:t>41</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0D1B2A"/>
        </a:solidFill>
        <a:effectLst/>
      </p:bgPr>
    </p:bg>
    <p:spTree>
      <p:nvGrpSpPr>
        <p:cNvPr id="1" name=""/>
        <p:cNvGrpSpPr/>
        <p:nvPr/>
      </p:nvGrpSpPr>
      <p:grpSpPr/>
      <p:sp>
        <p:nvSpPr>
          <p:cNvPr id="2" name="TextBox 1"/>
          <p:cNvSpPr txBox="1"/>
          <p:nvPr/>
        </p:nvSpPr>
        <p:spPr>
          <a:xfrm>
            <a:off x="548640" y="365760"/>
            <a:ext cx="11091672" cy="685800"/>
          </a:xfrm>
          <a:prstGeom prst="rect">
            <a:avLst/>
          </a:prstGeom>
          <a:noFill/>
        </p:spPr>
        <p:txBody>
          <a:bodyPr wrap="square">
            <a:spAutoFit/>
          </a:bodyPr>
          <a:lstStyle/>
          <a:p>
            <a:r>
              <a:rPr sz="3200" b="1" i="0">
                <a:solidFill>
                  <a:srgbClr val="FFFFFF"/>
                </a:solidFill>
                <a:latin typeface="Calibri"/>
              </a:rPr>
              <a:t>Today's data is a slice. There's a ceiling.</a:t>
            </a:r>
          </a:p>
        </p:txBody>
      </p:sp>
      <p:sp>
        <p:nvSpPr>
          <p:cNvPr id="3" name="Rectangle 2"/>
          <p:cNvSpPr/>
          <p:nvPr/>
        </p:nvSpPr>
        <p:spPr>
          <a:xfrm>
            <a:off x="548640" y="1097280"/>
            <a:ext cx="11091672" cy="1905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828800"/>
            <a:ext cx="11091672" cy="3200400"/>
          </a:xfrm>
          <a:prstGeom prst="rect">
            <a:avLst/>
          </a:prstGeom>
          <a:noFill/>
        </p:spPr>
        <p:txBody>
          <a:bodyPr wrap="square">
            <a:spAutoFit/>
          </a:bodyPr>
          <a:lstStyle/>
          <a:p>
            <a:pPr algn="l">
              <a:spcAft>
                <a:spcPts val="600"/>
              </a:spcAft>
            </a:pPr>
            <a:r>
              <a:rPr sz="2000" b="1">
                <a:solidFill>
                  <a:srgbClr val="00B4D8"/>
                </a:solidFill>
                <a:latin typeface="Calibri"/>
              </a:rPr>
              <a:t>• </a:t>
            </a:r>
            <a:r>
              <a:rPr sz="2000" b="0">
                <a:solidFill>
                  <a:srgbClr val="FFFFFF"/>
                </a:solidFill>
                <a:latin typeface="Calibri"/>
              </a:rPr>
              <a:t>We've identified the data ceiling on the current dataset</a:t>
            </a:r>
          </a:p>
          <a:p>
            <a:pPr algn="l">
              <a:spcAft>
                <a:spcPts val="600"/>
              </a:spcAft>
            </a:pPr>
            <a:r>
              <a:rPr sz="2000" b="1">
                <a:solidFill>
                  <a:srgbClr val="00B4D8"/>
                </a:solidFill>
                <a:latin typeface="Calibri"/>
              </a:rPr>
              <a:t>• </a:t>
            </a:r>
            <a:r>
              <a:rPr sz="2000" b="0">
                <a:solidFill>
                  <a:srgbClr val="FFFFFF"/>
                </a:solidFill>
                <a:latin typeface="Calibri"/>
              </a:rPr>
              <a:t>Expanding the training set is the next unlock</a:t>
            </a:r>
          </a:p>
          <a:p>
            <a:pPr algn="l">
              <a:spcAft>
                <a:spcPts val="600"/>
              </a:spcAft>
            </a:pPr>
            <a:r>
              <a:rPr sz="2000" b="1">
                <a:solidFill>
                  <a:srgbClr val="00B4D8"/>
                </a:solidFill>
                <a:latin typeface="Calibri"/>
              </a:rPr>
              <a:t>• </a:t>
            </a:r>
            <a:r>
              <a:rPr sz="2000" b="0">
                <a:solidFill>
                  <a:srgbClr val="FFFFFF"/>
                </a:solidFill>
                <a:latin typeface="Calibri"/>
              </a:rPr>
              <a:t>More data → better domain coverage → fewer flagged segments</a:t>
            </a:r>
          </a:p>
          <a:p>
            <a:pPr algn="l">
              <a:spcAft>
                <a:spcPts val="600"/>
              </a:spcAft>
            </a:pPr>
            <a:r>
              <a:rPr sz="2000" b="1">
                <a:solidFill>
                  <a:srgbClr val="00B4D8"/>
                </a:solidFill>
                <a:latin typeface="Calibri"/>
              </a:rPr>
              <a:t>• </a:t>
            </a:r>
            <a:r>
              <a:rPr sz="2000" b="0">
                <a:solidFill>
                  <a:srgbClr val="FFFFFF"/>
                </a:solidFill>
                <a:latin typeface="Calibri"/>
              </a:rPr>
              <a:t>Especially powerful when paired with the stronger model</a:t>
            </a:r>
          </a:p>
        </p:txBody>
      </p:sp>
      <p:sp>
        <p:nvSpPr>
          <p:cNvPr id="5" name="TextBox 4"/>
          <p:cNvSpPr txBox="1"/>
          <p:nvPr/>
        </p:nvSpPr>
        <p:spPr>
          <a:xfrm>
            <a:off x="548640" y="5120640"/>
            <a:ext cx="11091672" cy="457200"/>
          </a:xfrm>
          <a:prstGeom prst="rect">
            <a:avLst/>
          </a:prstGeom>
          <a:noFill/>
        </p:spPr>
        <p:txBody>
          <a:bodyPr wrap="square" anchor="t"/>
          <a:lstStyle/>
          <a:p>
            <a:pPr algn="ctr"/>
            <a:r>
              <a:rPr sz="1300" b="0" i="1">
                <a:solidFill>
                  <a:srgbClr val="AAAAAA"/>
                </a:solidFill>
                <a:latin typeface="Calibri"/>
              </a:rPr>
              <a:t>Direction matters more than the exact number here — we know which way the curve points.</a:t>
            </a:r>
          </a:p>
        </p:txBody>
      </p:sp>
      <p:pic>
        <p:nvPicPr>
          <p:cNvPr id="6" name="Picture 5" descr="WhiteLogo.jpeg"/>
          <p:cNvPicPr>
            <a:picLocks noChangeAspect="1"/>
          </p:cNvPicPr>
          <p:nvPr/>
        </p:nvPicPr>
        <p:blipFill>
          <a:blip r:embed="rId2"/>
          <a:stretch>
            <a:fillRect/>
          </a:stretch>
        </p:blipFill>
        <p:spPr>
          <a:xfrm>
            <a:off x="11323320" y="6428232"/>
            <a:ext cx="269634" cy="320040"/>
          </a:xfrm>
          <a:prstGeom prst="rect">
            <a:avLst/>
          </a:prstGeom>
        </p:spPr>
      </p:pic>
      <p:sp>
        <p:nvSpPr>
          <p:cNvPr id="7" name="TextBox 6"/>
          <p:cNvSpPr txBox="1"/>
          <p:nvPr/>
        </p:nvSpPr>
        <p:spPr>
          <a:xfrm>
            <a:off x="548640" y="6510528"/>
            <a:ext cx="457200" cy="228600"/>
          </a:xfrm>
          <a:prstGeom prst="rect">
            <a:avLst/>
          </a:prstGeom>
          <a:noFill/>
        </p:spPr>
        <p:txBody>
          <a:bodyPr wrap="none">
            <a:spAutoFit/>
          </a:bodyPr>
          <a:lstStyle/>
          <a:p>
            <a:r>
              <a:rPr sz="900" b="0" i="0">
                <a:solidFill>
                  <a:srgbClr val="666666"/>
                </a:solidFill>
                <a:latin typeface="Calibri"/>
              </a:rPr>
              <a:t>42</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0D1B2A"/>
        </a:solidFill>
        <a:effectLst/>
      </p:bgPr>
    </p:bg>
    <p:spTree>
      <p:nvGrpSpPr>
        <p:cNvPr id="1" name=""/>
        <p:cNvGrpSpPr/>
        <p:nvPr/>
      </p:nvGrpSpPr>
      <p:grpSpPr/>
      <p:sp>
        <p:nvSpPr>
          <p:cNvPr id="2" name="TextBox 1"/>
          <p:cNvSpPr txBox="1"/>
          <p:nvPr/>
        </p:nvSpPr>
        <p:spPr>
          <a:xfrm>
            <a:off x="548640" y="365760"/>
            <a:ext cx="11091672" cy="685800"/>
          </a:xfrm>
          <a:prstGeom prst="rect">
            <a:avLst/>
          </a:prstGeom>
          <a:noFill/>
        </p:spPr>
        <p:txBody>
          <a:bodyPr wrap="square">
            <a:spAutoFit/>
          </a:bodyPr>
          <a:lstStyle/>
          <a:p>
            <a:r>
              <a:rPr sz="3200" b="1" i="0">
                <a:solidFill>
                  <a:srgbClr val="FFFFFF"/>
                </a:solidFill>
                <a:latin typeface="Calibri"/>
              </a:rPr>
              <a:t>Arabic Pipeline: Replication Roadmap</a:t>
            </a:r>
          </a:p>
        </p:txBody>
      </p:sp>
      <p:sp>
        <p:nvSpPr>
          <p:cNvPr id="3" name="Rectangle 2"/>
          <p:cNvSpPr/>
          <p:nvPr/>
        </p:nvSpPr>
        <p:spPr>
          <a:xfrm>
            <a:off x="548640" y="1097280"/>
            <a:ext cx="11091672" cy="1905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325880"/>
            <a:ext cx="5029200" cy="320040"/>
          </a:xfrm>
          <a:prstGeom prst="rect">
            <a:avLst/>
          </a:prstGeom>
          <a:noFill/>
        </p:spPr>
        <p:txBody>
          <a:bodyPr wrap="square" anchor="t"/>
          <a:lstStyle/>
          <a:p>
            <a:pPr algn="l"/>
            <a:r>
              <a:rPr sz="1800" b="1" i="0">
                <a:solidFill>
                  <a:srgbClr val="00B4D8"/>
                </a:solidFill>
                <a:latin typeface="Calibri"/>
              </a:rPr>
              <a:t>What’s Needed &amp; How We’ll Do It</a:t>
            </a:r>
          </a:p>
        </p:txBody>
      </p:sp>
      <p:sp>
        <p:nvSpPr>
          <p:cNvPr id="5" name="TextBox 4"/>
          <p:cNvSpPr txBox="1"/>
          <p:nvPr/>
        </p:nvSpPr>
        <p:spPr>
          <a:xfrm>
            <a:off x="548640" y="1737360"/>
            <a:ext cx="5029200" cy="777240"/>
          </a:xfrm>
          <a:prstGeom prst="rect">
            <a:avLst/>
          </a:prstGeom>
          <a:noFill/>
        </p:spPr>
        <p:txBody>
          <a:bodyPr wrap="square">
            <a:spAutoFit/>
          </a:bodyPr>
          <a:lstStyle/>
          <a:p>
            <a:pPr algn="l">
              <a:spcAft>
                <a:spcPts val="600"/>
              </a:spcAft>
            </a:pPr>
            <a:r>
              <a:rPr sz="1300" b="1">
                <a:solidFill>
                  <a:srgbClr val="00B4D8"/>
                </a:solidFill>
                <a:latin typeface="Calibri"/>
              </a:rPr>
              <a:t>• </a:t>
            </a:r>
            <a:r>
              <a:rPr sz="1300" b="1">
                <a:solidFill>
                  <a:srgbClr val="00B4D8"/>
                </a:solidFill>
                <a:latin typeface="Calibri"/>
              </a:rPr>
              <a:t>Arabic AV-HuBERT encoder (BOTTLENECK)</a:t>
            </a:r>
          </a:p>
          <a:p>
            <a:pPr algn="l">
              <a:spcAft>
                <a:spcPts val="600"/>
              </a:spcAft>
            </a:pPr>
            <a:r>
              <a:rPr sz="1300" b="1">
                <a:solidFill>
                  <a:srgbClr val="00B4D8"/>
                </a:solidFill>
                <a:latin typeface="Calibri"/>
              </a:rPr>
              <a:t>• </a:t>
            </a:r>
            <a:r>
              <a:rPr sz="1300" b="0">
                <a:solidFill>
                  <a:srgbClr val="FFFFFF"/>
                </a:solidFill>
                <a:latin typeface="Calibri"/>
              </a:rPr>
              <a:t>Arabic has different phonemes (pharyngeals, emphatics) — without fine-tuning, Arabic lips map to wrong clusters</a:t>
            </a:r>
          </a:p>
        </p:txBody>
      </p:sp>
      <p:sp>
        <p:nvSpPr>
          <p:cNvPr id="6" name="TextBox 5"/>
          <p:cNvSpPr txBox="1"/>
          <p:nvPr/>
        </p:nvSpPr>
        <p:spPr>
          <a:xfrm>
            <a:off x="548640" y="2514600"/>
            <a:ext cx="5029200" cy="777240"/>
          </a:xfrm>
          <a:prstGeom prst="rect">
            <a:avLst/>
          </a:prstGeom>
          <a:noFill/>
        </p:spPr>
        <p:txBody>
          <a:bodyPr wrap="square">
            <a:spAutoFit/>
          </a:bodyPr>
          <a:lstStyle/>
          <a:p>
            <a:pPr algn="l">
              <a:spcAft>
                <a:spcPts val="600"/>
              </a:spcAft>
            </a:pPr>
            <a:r>
              <a:rPr sz="1300" b="1">
                <a:solidFill>
                  <a:srgbClr val="00B4D8"/>
                </a:solidFill>
                <a:latin typeface="Calibri"/>
              </a:rPr>
              <a:t>• </a:t>
            </a:r>
            <a:r>
              <a:rPr sz="1300" b="1">
                <a:solidFill>
                  <a:srgbClr val="00B4D8"/>
                </a:solidFill>
                <a:latin typeface="Calibri"/>
              </a:rPr>
              <a:t>Arabic LLM backend</a:t>
            </a:r>
          </a:p>
          <a:p>
            <a:pPr algn="l">
              <a:spcAft>
                <a:spcPts val="600"/>
              </a:spcAft>
            </a:pPr>
            <a:r>
              <a:rPr sz="1300" b="1">
                <a:solidFill>
                  <a:srgbClr val="00B4D8"/>
                </a:solidFill>
                <a:latin typeface="Calibri"/>
              </a:rPr>
              <a:t>• </a:t>
            </a:r>
            <a:r>
              <a:rPr sz="1300" b="0">
                <a:solidFill>
                  <a:srgbClr val="FFFFFF"/>
                </a:solidFill>
                <a:latin typeface="Calibri"/>
              </a:rPr>
              <a:t>Swap Llama-2 for Arabic-capable LLM (e.g. Jais, AceGPT, or Arabic-tuned Llama 3)</a:t>
            </a:r>
          </a:p>
        </p:txBody>
      </p:sp>
      <p:sp>
        <p:nvSpPr>
          <p:cNvPr id="7" name="TextBox 6"/>
          <p:cNvSpPr txBox="1"/>
          <p:nvPr/>
        </p:nvSpPr>
        <p:spPr>
          <a:xfrm>
            <a:off x="548640" y="3291840"/>
            <a:ext cx="5029200" cy="777240"/>
          </a:xfrm>
          <a:prstGeom prst="rect">
            <a:avLst/>
          </a:prstGeom>
          <a:noFill/>
        </p:spPr>
        <p:txBody>
          <a:bodyPr wrap="square">
            <a:spAutoFit/>
          </a:bodyPr>
          <a:lstStyle/>
          <a:p>
            <a:pPr algn="l">
              <a:spcAft>
                <a:spcPts val="600"/>
              </a:spcAft>
            </a:pPr>
            <a:r>
              <a:rPr sz="1300" b="1">
                <a:solidFill>
                  <a:srgbClr val="00B4D8"/>
                </a:solidFill>
                <a:latin typeface="Calibri"/>
              </a:rPr>
              <a:t>• </a:t>
            </a:r>
            <a:r>
              <a:rPr sz="1300" b="1">
                <a:solidFill>
                  <a:srgbClr val="E06C75"/>
                </a:solidFill>
                <a:latin typeface="Calibri"/>
              </a:rPr>
              <a:t>Arabic evaluation dataset (UNKNOWN)</a:t>
            </a:r>
          </a:p>
          <a:p>
            <a:pPr algn="l">
              <a:spcAft>
                <a:spcPts val="600"/>
              </a:spcAft>
            </a:pPr>
            <a:r>
              <a:rPr sz="1300" b="1">
                <a:solidFill>
                  <a:srgbClr val="00B4D8"/>
                </a:solidFill>
                <a:latin typeface="Calibri"/>
              </a:rPr>
              <a:t>• </a:t>
            </a:r>
            <a:r>
              <a:rPr sz="1300" b="0">
                <a:solidFill>
                  <a:srgbClr val="FFFFFF"/>
                </a:solidFill>
                <a:latin typeface="Calibri"/>
              </a:rPr>
              <a:t>No Arabic lip-reading benchmark exists — needs native speakers for MSA + dialect coverage</a:t>
            </a:r>
          </a:p>
        </p:txBody>
      </p:sp>
      <p:sp>
        <p:nvSpPr>
          <p:cNvPr id="8" name="TextBox 7"/>
          <p:cNvSpPr txBox="1"/>
          <p:nvPr/>
        </p:nvSpPr>
        <p:spPr>
          <a:xfrm>
            <a:off x="548640" y="4069080"/>
            <a:ext cx="5029200" cy="777240"/>
          </a:xfrm>
          <a:prstGeom prst="rect">
            <a:avLst/>
          </a:prstGeom>
          <a:noFill/>
        </p:spPr>
        <p:txBody>
          <a:bodyPr wrap="square">
            <a:spAutoFit/>
          </a:bodyPr>
          <a:lstStyle/>
          <a:p>
            <a:pPr algn="l">
              <a:spcAft>
                <a:spcPts val="600"/>
              </a:spcAft>
            </a:pPr>
            <a:r>
              <a:rPr sz="1300" b="1">
                <a:solidFill>
                  <a:srgbClr val="00B4D8"/>
                </a:solidFill>
                <a:latin typeface="Calibri"/>
              </a:rPr>
              <a:t>• </a:t>
            </a:r>
            <a:r>
              <a:rPr sz="1300" b="1">
                <a:solidFill>
                  <a:srgbClr val="4CAF50"/>
                </a:solidFill>
                <a:latin typeface="Calibri"/>
              </a:rPr>
              <a:t>Training infrastructure</a:t>
            </a:r>
          </a:p>
          <a:p>
            <a:pPr algn="l">
              <a:spcAft>
                <a:spcPts val="600"/>
              </a:spcAft>
            </a:pPr>
            <a:r>
              <a:rPr sz="1300" b="1">
                <a:solidFill>
                  <a:srgbClr val="00B4D8"/>
                </a:solidFill>
                <a:latin typeface="Calibri"/>
              </a:rPr>
              <a:t>• </a:t>
            </a:r>
            <a:r>
              <a:rPr sz="1300" b="0">
                <a:solidFill>
                  <a:srgbClr val="FFFFFF"/>
                </a:solidFill>
                <a:latin typeface="Calibri"/>
              </a:rPr>
              <a:t>AWS GPU instance (existing) for AV-HuBERT fine-tuning and K-means reclustering</a:t>
            </a:r>
          </a:p>
        </p:txBody>
      </p:sp>
      <p:sp>
        <p:nvSpPr>
          <p:cNvPr id="9" name="TextBox 8"/>
          <p:cNvSpPr txBox="1"/>
          <p:nvPr/>
        </p:nvSpPr>
        <p:spPr>
          <a:xfrm>
            <a:off x="548640" y="4846320"/>
            <a:ext cx="5029200" cy="777240"/>
          </a:xfrm>
          <a:prstGeom prst="rect">
            <a:avLst/>
          </a:prstGeom>
          <a:noFill/>
        </p:spPr>
        <p:txBody>
          <a:bodyPr wrap="square">
            <a:spAutoFit/>
          </a:bodyPr>
          <a:lstStyle/>
          <a:p>
            <a:pPr algn="l">
              <a:spcAft>
                <a:spcPts val="600"/>
              </a:spcAft>
            </a:pPr>
            <a:r>
              <a:rPr sz="1300" b="1">
                <a:solidFill>
                  <a:srgbClr val="00B4D8"/>
                </a:solidFill>
                <a:latin typeface="Calibri"/>
              </a:rPr>
              <a:t>• </a:t>
            </a:r>
            <a:r>
              <a:rPr sz="1300" b="1">
                <a:solidFill>
                  <a:srgbClr val="E06C75"/>
                </a:solidFill>
                <a:latin typeface="Calibri"/>
              </a:rPr>
              <a:t>RTL text &amp; normalization</a:t>
            </a:r>
          </a:p>
          <a:p>
            <a:pPr algn="l">
              <a:spcAft>
                <a:spcPts val="600"/>
              </a:spcAft>
            </a:pPr>
            <a:r>
              <a:rPr sz="1300" b="1">
                <a:solidFill>
                  <a:srgbClr val="00B4D8"/>
                </a:solidFill>
                <a:latin typeface="Calibri"/>
              </a:rPr>
              <a:t>• </a:t>
            </a:r>
            <a:r>
              <a:rPr sz="1300" b="0">
                <a:solidFill>
                  <a:srgbClr val="FFFFFF"/>
                </a:solidFill>
                <a:latin typeface="Calibri"/>
              </a:rPr>
              <a:t>RTL handling, spaCy Arabic, diacritic handling, Arabic NER — maturity unknown</a:t>
            </a:r>
          </a:p>
        </p:txBody>
      </p:sp>
      <p:sp>
        <p:nvSpPr>
          <p:cNvPr id="10" name="TextBox 9"/>
          <p:cNvSpPr txBox="1"/>
          <p:nvPr/>
        </p:nvSpPr>
        <p:spPr>
          <a:xfrm>
            <a:off x="6611111" y="1325880"/>
            <a:ext cx="5029200" cy="320040"/>
          </a:xfrm>
          <a:prstGeom prst="rect">
            <a:avLst/>
          </a:prstGeom>
          <a:noFill/>
        </p:spPr>
        <p:txBody>
          <a:bodyPr wrap="square" anchor="t"/>
          <a:lstStyle/>
          <a:p>
            <a:pPr algn="l"/>
            <a:r>
              <a:rPr sz="1800" b="1" i="0">
                <a:solidFill>
                  <a:srgbClr val="4CAF50"/>
                </a:solidFill>
                <a:latin typeface="Calibri"/>
              </a:rPr>
              <a:t>Practical Timeline</a:t>
            </a:r>
          </a:p>
        </p:txBody>
      </p:sp>
      <p:graphicFrame>
        <p:nvGraphicFramePr>
          <p:cNvPr id="11" name="Table 10"/>
          <p:cNvGraphicFramePr>
            <a:graphicFrameLocks noGrp="1"/>
          </p:cNvGraphicFramePr>
          <p:nvPr/>
        </p:nvGraphicFramePr>
        <p:xfrm>
          <a:off x="6611111" y="1737360"/>
          <a:ext cx="5029200" cy="2514600"/>
        </p:xfrm>
        <a:graphic>
          <a:graphicData uri="http://schemas.openxmlformats.org/drawingml/2006/table">
            <a:tbl>
              <a:tblPr firstRow="0" bandRow="0" lastRow="0" bandCol="0">
                <a:tableStyleId>{5C22544A-7EE6-4342-B048-85BDC9FD1C3A}</a:tableStyleId>
              </a:tblPr>
              <a:tblGrid>
                <a:gridCol w="1371600"/>
                <a:gridCol w="1188720"/>
                <a:gridCol w="2468880"/>
              </a:tblGrid>
              <a:tr h="502920">
                <a:tc>
                  <a:txBody>
                    <a:bodyPr/>
                    <a:lstStyle/>
                    <a:p>
                      <a:pPr algn="ctr"/>
                      <a:r>
                        <a:rPr sz="1100" b="1" i="0">
                          <a:solidFill>
                            <a:srgbClr val="FFFFFF"/>
                          </a:solidFill>
                          <a:latin typeface="Calibri"/>
                        </a:rPr>
                        <a:t>Step</a:t>
                      </a:r>
                    </a:p>
                  </a:txBody>
                  <a:tcPr>
                    <a:solidFill>
                      <a:srgbClr val="00b4d8"/>
                    </a:solidFill>
                  </a:tcPr>
                </a:tc>
                <a:tc>
                  <a:txBody>
                    <a:bodyPr/>
                    <a:lstStyle/>
                    <a:p>
                      <a:pPr algn="ctr"/>
                      <a:r>
                        <a:rPr sz="1100" b="1" i="0">
                          <a:solidFill>
                            <a:srgbClr val="FFFFFF"/>
                          </a:solidFill>
                          <a:latin typeface="Calibri"/>
                        </a:rPr>
                        <a:t>Effort</a:t>
                      </a:r>
                    </a:p>
                  </a:txBody>
                  <a:tcPr>
                    <a:solidFill>
                      <a:srgbClr val="00b4d8"/>
                    </a:solidFill>
                  </a:tcPr>
                </a:tc>
                <a:tc>
                  <a:txBody>
                    <a:bodyPr/>
                    <a:lstStyle/>
                    <a:p>
                      <a:pPr algn="ctr"/>
                      <a:r>
                        <a:rPr sz="1100" b="1" i="0">
                          <a:solidFill>
                            <a:srgbClr val="FFFFFF"/>
                          </a:solidFill>
                          <a:latin typeface="Calibri"/>
                        </a:rPr>
                        <a:t>Risks / Unknowns</a:t>
                      </a:r>
                    </a:p>
                  </a:txBody>
                  <a:tcPr>
                    <a:solidFill>
                      <a:srgbClr val="00b4d8"/>
                    </a:solidFill>
                  </a:tcPr>
                </a:tc>
              </a:tr>
              <a:tr h="502920">
                <a:tc>
                  <a:txBody>
                    <a:bodyPr/>
                    <a:lstStyle/>
                    <a:p>
                      <a:pPr algn="l"/>
                      <a:r>
                        <a:rPr sz="1100" b="0" i="0">
                          <a:solidFill>
                            <a:srgbClr val="FFFFFF"/>
                          </a:solidFill>
                          <a:latin typeface="Calibri"/>
                        </a:rPr>
                        <a:t>AV-HuBERT fine-tune</a:t>
                      </a:r>
                    </a:p>
                    <a:p>
                      <a:pPr algn="l"/>
                      <a:r>
                        <a:rPr sz="1100" b="0" i="0">
                          <a:solidFill>
                            <a:srgbClr val="FFFFFF"/>
                          </a:solidFill>
                          <a:latin typeface="Calibri"/>
                        </a:rPr>
                        <a:t>+ K-means</a:t>
                      </a:r>
                    </a:p>
                  </a:txBody>
                  <a:tcPr>
                    <a:solidFill>
                      <a:srgbClr val="0d1b2a"/>
                    </a:solidFill>
                  </a:tcPr>
                </a:tc>
                <a:tc>
                  <a:txBody>
                    <a:bodyPr/>
                    <a:lstStyle/>
                    <a:p>
                      <a:pPr algn="l"/>
                      <a:r>
                        <a:rPr sz="1100" b="0" i="0">
                          <a:solidFill>
                            <a:srgbClr val="FFFFFF"/>
                          </a:solidFill>
                          <a:latin typeface="Calibri"/>
                        </a:rPr>
                        <a:t>5–10 weeks</a:t>
                      </a:r>
                    </a:p>
                  </a:txBody>
                  <a:tcPr>
                    <a:solidFill>
                      <a:srgbClr val="0d1b2a"/>
                    </a:solidFill>
                  </a:tcPr>
                </a:tc>
                <a:tc>
                  <a:txBody>
                    <a:bodyPr/>
                    <a:lstStyle/>
                    <a:p>
                      <a:pPr algn="l"/>
                      <a:r>
                        <a:rPr sz="1100" b="0" i="0">
                          <a:solidFill>
                            <a:srgbClr val="FFFFFF"/>
                          </a:solidFill>
                          <a:latin typeface="Calibri"/>
                        </a:rPr>
                        <a:t>Arabic visual data</a:t>
                      </a:r>
                    </a:p>
                    <a:p>
                      <a:pPr algn="l"/>
                      <a:r>
                        <a:rPr sz="1100" b="0" i="0">
                          <a:solidFill>
                            <a:srgbClr val="FFFFFF"/>
                          </a:solidFill>
                          <a:latin typeface="Calibri"/>
                        </a:rPr>
                        <a:t>quality unknown</a:t>
                      </a:r>
                    </a:p>
                  </a:txBody>
                  <a:tcPr>
                    <a:solidFill>
                      <a:srgbClr val="0d1b2a"/>
                    </a:solidFill>
                  </a:tcPr>
                </a:tc>
              </a:tr>
              <a:tr h="502920">
                <a:tc>
                  <a:txBody>
                    <a:bodyPr/>
                    <a:lstStyle/>
                    <a:p>
                      <a:pPr algn="l"/>
                      <a:r>
                        <a:rPr sz="1100" b="0" i="0">
                          <a:solidFill>
                            <a:srgbClr val="FFFFFF"/>
                          </a:solidFill>
                          <a:latin typeface="Calibri"/>
                        </a:rPr>
                        <a:t>Arabic LLM</a:t>
                      </a:r>
                    </a:p>
                    <a:p>
                      <a:pPr algn="l"/>
                      <a:r>
                        <a:rPr sz="1100" b="0" i="0">
                          <a:solidFill>
                            <a:srgbClr val="FFFFFF"/>
                          </a:solidFill>
                          <a:latin typeface="Calibri"/>
                        </a:rPr>
                        <a:t>swap</a:t>
                      </a:r>
                    </a:p>
                  </a:txBody>
                  <a:tcPr>
                    <a:solidFill>
                      <a:srgbClr val="152a40"/>
                    </a:solidFill>
                  </a:tcPr>
                </a:tc>
                <a:tc>
                  <a:txBody>
                    <a:bodyPr/>
                    <a:lstStyle/>
                    <a:p>
                      <a:pPr algn="l"/>
                      <a:r>
                        <a:rPr sz="1100" b="0" i="0">
                          <a:solidFill>
                            <a:srgbClr val="FFFFFF"/>
                          </a:solidFill>
                          <a:latin typeface="Calibri"/>
                        </a:rPr>
                        <a:t>1–2 weeks</a:t>
                      </a:r>
                    </a:p>
                  </a:txBody>
                  <a:tcPr>
                    <a:solidFill>
                      <a:srgbClr val="152a40"/>
                    </a:solidFill>
                  </a:tcPr>
                </a:tc>
                <a:tc>
                  <a:txBody>
                    <a:bodyPr/>
                    <a:lstStyle/>
                    <a:p>
                      <a:pPr algn="l"/>
                      <a:r>
                        <a:rPr sz="1100" b="0" i="0">
                          <a:solidFill>
                            <a:srgbClr val="FFFFFF"/>
                          </a:solidFill>
                          <a:latin typeface="Calibri"/>
                        </a:rPr>
                        <a:t>Tokenizer quality</a:t>
                      </a:r>
                    </a:p>
                    <a:p>
                      <a:pPr algn="l"/>
                      <a:r>
                        <a:rPr sz="1100" b="0" i="0">
                          <a:solidFill>
                            <a:srgbClr val="FFFFFF"/>
                          </a:solidFill>
                          <a:latin typeface="Calibri"/>
                        </a:rPr>
                        <a:t>varies by model</a:t>
                      </a:r>
                    </a:p>
                  </a:txBody>
                  <a:tcPr>
                    <a:solidFill>
                      <a:srgbClr val="152a40"/>
                    </a:solidFill>
                  </a:tcPr>
                </a:tc>
              </a:tr>
              <a:tr h="502920">
                <a:tc>
                  <a:txBody>
                    <a:bodyPr/>
                    <a:lstStyle/>
                    <a:p>
                      <a:pPr algn="l"/>
                      <a:r>
                        <a:rPr sz="1100" b="0" i="0">
                          <a:solidFill>
                            <a:srgbClr val="FFFFFF"/>
                          </a:solidFill>
                          <a:latin typeface="Calibri"/>
                        </a:rPr>
                        <a:t>Eval dataset</a:t>
                      </a:r>
                    </a:p>
                  </a:txBody>
                  <a:tcPr>
                    <a:solidFill>
                      <a:srgbClr val="0d1b2a"/>
                    </a:solidFill>
                  </a:tcPr>
                </a:tc>
                <a:tc>
                  <a:txBody>
                    <a:bodyPr/>
                    <a:lstStyle/>
                    <a:p>
                      <a:pPr algn="l"/>
                      <a:r>
                        <a:rPr sz="1100" b="0" i="0">
                          <a:solidFill>
                            <a:srgbClr val="FFFFFF"/>
                          </a:solidFill>
                          <a:latin typeface="Calibri"/>
                        </a:rPr>
                        <a:t>4–8 weeks</a:t>
                      </a:r>
                    </a:p>
                  </a:txBody>
                  <a:tcPr>
                    <a:solidFill>
                      <a:srgbClr val="0d1b2a"/>
                    </a:solidFill>
                  </a:tcPr>
                </a:tc>
                <a:tc>
                  <a:txBody>
                    <a:bodyPr/>
                    <a:lstStyle/>
                    <a:p>
                      <a:pPr algn="l"/>
                      <a:r>
                        <a:rPr sz="1100" b="0" i="0">
                          <a:solidFill>
                            <a:srgbClr val="FFFFFF"/>
                          </a:solidFill>
                          <a:latin typeface="Calibri"/>
                        </a:rPr>
                        <a:t>No benchmark exists;</a:t>
                      </a:r>
                    </a:p>
                    <a:p>
                      <a:pPr algn="l"/>
                      <a:r>
                        <a:rPr sz="1100" b="0" i="0">
                          <a:solidFill>
                            <a:srgbClr val="FFFFFF"/>
                          </a:solidFill>
                          <a:latin typeface="Calibri"/>
                        </a:rPr>
                        <a:t>needs native speakers</a:t>
                      </a:r>
                    </a:p>
                  </a:txBody>
                  <a:tcPr>
                    <a:solidFill>
                      <a:srgbClr val="0d1b2a"/>
                    </a:solidFill>
                  </a:tcPr>
                </a:tc>
              </a:tr>
              <a:tr h="502920">
                <a:tc>
                  <a:txBody>
                    <a:bodyPr/>
                    <a:lstStyle/>
                    <a:p>
                      <a:pPr algn="l"/>
                      <a:r>
                        <a:rPr sz="1100" b="0" i="0">
                          <a:solidFill>
                            <a:srgbClr val="FFFFFF"/>
                          </a:solidFill>
                          <a:latin typeface="Calibri"/>
                        </a:rPr>
                        <a:t>RTL normalization</a:t>
                      </a:r>
                    </a:p>
                    <a:p>
                      <a:pPr algn="l"/>
                      <a:r>
                        <a:rPr sz="1100" b="0" i="0">
                          <a:solidFill>
                            <a:srgbClr val="FFFFFF"/>
                          </a:solidFill>
                          <a:latin typeface="Calibri"/>
                        </a:rPr>
                        <a:t>+ testing</a:t>
                      </a:r>
                    </a:p>
                  </a:txBody>
                  <a:tcPr>
                    <a:solidFill>
                      <a:srgbClr val="152a40"/>
                    </a:solidFill>
                  </a:tcPr>
                </a:tc>
                <a:tc>
                  <a:txBody>
                    <a:bodyPr/>
                    <a:lstStyle/>
                    <a:p>
                      <a:pPr algn="l"/>
                      <a:r>
                        <a:rPr sz="1100" b="0" i="0">
                          <a:solidFill>
                            <a:srgbClr val="FFFFFF"/>
                          </a:solidFill>
                          <a:latin typeface="Calibri"/>
                        </a:rPr>
                        <a:t>3–6 weeks</a:t>
                      </a:r>
                    </a:p>
                  </a:txBody>
                  <a:tcPr>
                    <a:solidFill>
                      <a:srgbClr val="152a40"/>
                    </a:solidFill>
                  </a:tcPr>
                </a:tc>
                <a:tc>
                  <a:txBody>
                    <a:bodyPr/>
                    <a:lstStyle/>
                    <a:p>
                      <a:pPr algn="l"/>
                      <a:r>
                        <a:rPr sz="1100" b="0" i="0">
                          <a:solidFill>
                            <a:srgbClr val="FFFFFF"/>
                          </a:solidFill>
                          <a:latin typeface="Calibri"/>
                        </a:rPr>
                        <a:t>RTL handling +</a:t>
                      </a:r>
                    </a:p>
                    <a:p>
                      <a:pPr algn="l"/>
                      <a:r>
                        <a:rPr sz="1100" b="0" i="0">
                          <a:solidFill>
                            <a:srgbClr val="FFFFFF"/>
                          </a:solidFill>
                          <a:latin typeface="Calibri"/>
                        </a:rPr>
                        <a:t>end-to-end validation</a:t>
                      </a:r>
                    </a:p>
                  </a:txBody>
                  <a:tcPr>
                    <a:solidFill>
                      <a:srgbClr val="152a40"/>
                    </a:solidFill>
                  </a:tcPr>
                </a:tc>
              </a:tr>
            </a:tbl>
          </a:graphicData>
        </a:graphic>
      </p:graphicFrame>
      <p:sp>
        <p:nvSpPr>
          <p:cNvPr id="12" name="Rounded Rectangle 11"/>
          <p:cNvSpPr/>
          <p:nvPr/>
        </p:nvSpPr>
        <p:spPr>
          <a:xfrm>
            <a:off x="548640" y="5349240"/>
            <a:ext cx="11091672" cy="502920"/>
          </a:xfrm>
          <a:prstGeom prst="roundRect">
            <a:avLst/>
          </a:prstGeom>
          <a:solidFill>
            <a:srgbClr val="152A40"/>
          </a:solidFill>
          <a:ln w="25400">
            <a:solidFill>
              <a:srgbClr val="E06C7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2960" y="5394960"/>
            <a:ext cx="10543032" cy="365760"/>
          </a:xfrm>
          <a:prstGeom prst="rect">
            <a:avLst/>
          </a:prstGeom>
          <a:noFill/>
        </p:spPr>
        <p:txBody>
          <a:bodyPr wrap="square" anchor="t"/>
          <a:lstStyle/>
          <a:p>
            <a:pPr algn="ctr"/>
            <a:r>
              <a:rPr sz="2000" b="1" i="0">
                <a:solidFill>
                  <a:srgbClr val="E06C75"/>
                </a:solidFill>
                <a:latin typeface="Calibri"/>
              </a:rPr>
              <a:t>Realistic estimate: 2–3 months (encoder pre-training is the bottleneck)</a:t>
            </a:r>
          </a:p>
        </p:txBody>
      </p:sp>
      <p:sp>
        <p:nvSpPr>
          <p:cNvPr id="14" name="TextBox 13"/>
          <p:cNvSpPr txBox="1"/>
          <p:nvPr/>
        </p:nvSpPr>
        <p:spPr>
          <a:xfrm>
            <a:off x="548640" y="5897880"/>
            <a:ext cx="11091672" cy="320040"/>
          </a:xfrm>
          <a:prstGeom prst="rect">
            <a:avLst/>
          </a:prstGeom>
          <a:noFill/>
        </p:spPr>
        <p:txBody>
          <a:bodyPr wrap="square" anchor="t"/>
          <a:lstStyle/>
          <a:p>
            <a:pPr algn="ctr"/>
            <a:r>
              <a:rPr sz="1200" b="0" i="1">
                <a:solidFill>
                  <a:srgbClr val="AAAAAA"/>
                </a:solidFill>
                <a:latin typeface="Calibri"/>
              </a:rPr>
              <a:t>Pipeline code is language-agnostic. Main bottlenecks: encoder pre-training data and eval dataset collection. No Arabic lip-reading benchmark exists.</a:t>
            </a:r>
          </a:p>
        </p:txBody>
      </p:sp>
      <p:pic>
        <p:nvPicPr>
          <p:cNvPr id="15" name="Picture 14" descr="WhiteLogo.jpeg"/>
          <p:cNvPicPr>
            <a:picLocks noChangeAspect="1"/>
          </p:cNvPicPr>
          <p:nvPr/>
        </p:nvPicPr>
        <p:blipFill>
          <a:blip r:embed="rId2"/>
          <a:stretch>
            <a:fillRect/>
          </a:stretch>
        </p:blipFill>
        <p:spPr>
          <a:xfrm>
            <a:off x="11323320" y="6428232"/>
            <a:ext cx="269634" cy="320040"/>
          </a:xfrm>
          <a:prstGeom prst="rect">
            <a:avLst/>
          </a:prstGeom>
        </p:spPr>
      </p:pic>
      <p:sp>
        <p:nvSpPr>
          <p:cNvPr id="16" name="TextBox 15"/>
          <p:cNvSpPr txBox="1"/>
          <p:nvPr/>
        </p:nvSpPr>
        <p:spPr>
          <a:xfrm>
            <a:off x="548640" y="6510528"/>
            <a:ext cx="457200" cy="228600"/>
          </a:xfrm>
          <a:prstGeom prst="rect">
            <a:avLst/>
          </a:prstGeom>
          <a:noFill/>
        </p:spPr>
        <p:txBody>
          <a:bodyPr wrap="none">
            <a:spAutoFit/>
          </a:bodyPr>
          <a:lstStyle/>
          <a:p>
            <a:r>
              <a:rPr sz="900" b="0" i="0">
                <a:solidFill>
                  <a:srgbClr val="666666"/>
                </a:solidFill>
                <a:latin typeface="Calibri"/>
              </a:rPr>
              <a:t>43</a:t>
            </a:r>
          </a:p>
        </p:txBody>
      </p:sp>
    </p:spTree>
  </p:cSld>
  <p:clrMapOvr>
    <a:masterClrMapping/>
  </p:clrMapOvr>
  <p:transition spd="med" advClick="1">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9"/>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0"/>
                                        </p:tgtEl>
                                        <p:attrNameLst>
                                          <p:attrName>style.visibility</p:attrName>
                                        </p:attrNameLst>
                                      </p:cBhvr>
                                      <p:to>
                                        <p:strVal val="visible"/>
                                      </p:to>
                                    </p:set>
                                  </p:childTnLst>
                                </p:cTn>
                              </p:par>
                              <p:par>
                                <p:cTn id="27" presetID="1" presetClass="entr" presetSubtype="0" fill="hold" grpId="0" nodeType="withEffect">
                                  <p:stCondLst>
                                    <p:cond delay="120"/>
                                  </p:stCondLst>
                                  <p:childTnLst>
                                    <p:set>
                                      <p:cBhvr>
                                        <p:cTn id="28" dur="1" fill="hold">
                                          <p:stCondLst>
                                            <p:cond delay="0"/>
                                          </p:stCondLst>
                                        </p:cTn>
                                        <p:tgtEl>
                                          <p:spTgt spid="11"/>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12"/>
                                        </p:tgtEl>
                                        <p:attrNameLst>
                                          <p:attrName>style.visibility</p:attrName>
                                        </p:attrNameLst>
                                      </p:cBhvr>
                                      <p:to>
                                        <p:strVal val="visible"/>
                                      </p:to>
                                    </p:set>
                                  </p:childTnLst>
                                </p:cTn>
                              </p:par>
                              <p:par>
                                <p:cTn id="33" presetID="1" presetClass="entr" presetSubtype="0" fill="hold" grpId="0" nodeType="withEffect">
                                  <p:stCondLst>
                                    <p:cond delay="120"/>
                                  </p:stCondLst>
                                  <p:childTnLst>
                                    <p:set>
                                      <p:cBhvr>
                                        <p:cTn id="34" dur="1" fill="hold">
                                          <p:stCondLst>
                                            <p:cond delay="0"/>
                                          </p:stCondLst>
                                        </p:cTn>
                                        <p:tgtEl>
                                          <p:spTgt spid="13"/>
                                        </p:tgtEl>
                                        <p:attrNameLst>
                                          <p:attrName>style.visibility</p:attrName>
                                        </p:attrNameLst>
                                      </p:cBhvr>
                                      <p:to>
                                        <p:strVal val="visible"/>
                                      </p:to>
                                    </p:set>
                                  </p:childTnLst>
                                </p:cTn>
                              </p:par>
                              <p:par>
                                <p:cTn id="35" presetID="1" presetClass="entr" presetSubtype="0" fill="hold" grpId="0" nodeType="withEffect">
                                  <p:stCondLst>
                                    <p:cond delay="240"/>
                                  </p:stCondLst>
                                  <p:childTnLst>
                                    <p:set>
                                      <p:cBhvr>
                                        <p:cTn id="36"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Lst>
  </p:timing>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0D1B2A"/>
        </a:solidFill>
        <a:effectLst/>
      </p:bgPr>
    </p:bg>
    <p:spTree>
      <p:nvGrpSpPr>
        <p:cNvPr id="1" name=""/>
        <p:cNvGrpSpPr/>
        <p:nvPr/>
      </p:nvGrpSpPr>
      <p:grpSpPr/>
      <p:sp>
        <p:nvSpPr>
          <p:cNvPr id="2" name="TextBox 1"/>
          <p:cNvSpPr txBox="1"/>
          <p:nvPr/>
        </p:nvSpPr>
        <p:spPr>
          <a:xfrm>
            <a:off x="548640" y="365760"/>
            <a:ext cx="11091672" cy="685800"/>
          </a:xfrm>
          <a:prstGeom prst="rect">
            <a:avLst/>
          </a:prstGeom>
          <a:noFill/>
        </p:spPr>
        <p:txBody>
          <a:bodyPr wrap="square">
            <a:spAutoFit/>
          </a:bodyPr>
          <a:lstStyle/>
          <a:p>
            <a:r>
              <a:rPr sz="3200" b="1" i="0">
                <a:solidFill>
                  <a:srgbClr val="FFFFFF"/>
                </a:solidFill>
                <a:latin typeface="Calibri"/>
              </a:rPr>
              <a:t>What it takes to ship the next model</a:t>
            </a:r>
          </a:p>
        </p:txBody>
      </p:sp>
      <p:sp>
        <p:nvSpPr>
          <p:cNvPr id="3" name="Rectangle 2"/>
          <p:cNvSpPr/>
          <p:nvPr/>
        </p:nvSpPr>
        <p:spPr>
          <a:xfrm>
            <a:off x="548640" y="1097280"/>
            <a:ext cx="11091672" cy="1905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737360"/>
            <a:ext cx="11091672" cy="1097280"/>
          </a:xfrm>
          <a:prstGeom prst="rect">
            <a:avLst/>
          </a:prstGeom>
          <a:noFill/>
        </p:spPr>
        <p:txBody>
          <a:bodyPr wrap="square" anchor="t"/>
          <a:lstStyle/>
          <a:p>
            <a:pPr algn="ctr"/>
            <a:r>
              <a:rPr sz="2200" b="1" i="0">
                <a:solidFill>
                  <a:srgbClr val="FFFFFF"/>
                </a:solidFill>
                <a:latin typeface="Calibri"/>
              </a:rPr>
              <a:t>To train the next model on the data scale needed, we need a training-budget commitment.</a:t>
            </a:r>
          </a:p>
        </p:txBody>
      </p:sp>
      <p:sp>
        <p:nvSpPr>
          <p:cNvPr id="5" name="Rectangle 4"/>
          <p:cNvSpPr/>
          <p:nvPr/>
        </p:nvSpPr>
        <p:spPr>
          <a:xfrm>
            <a:off x="548640" y="3108960"/>
            <a:ext cx="3520440" cy="2194560"/>
          </a:xfrm>
          <a:prstGeom prst="rect">
            <a:avLst/>
          </a:prstGeom>
          <a:solidFill>
            <a:srgbClr val="152A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3291840"/>
            <a:ext cx="3154680" cy="365760"/>
          </a:xfrm>
          <a:prstGeom prst="rect">
            <a:avLst/>
          </a:prstGeom>
          <a:noFill/>
        </p:spPr>
        <p:txBody>
          <a:bodyPr wrap="square" anchor="t"/>
          <a:lstStyle/>
          <a:p>
            <a:pPr algn="l"/>
            <a:r>
              <a:rPr sz="1500" b="1" i="0">
                <a:solidFill>
                  <a:srgbClr val="00B4D8"/>
                </a:solidFill>
                <a:latin typeface="Calibri"/>
              </a:rPr>
              <a:t>Compute</a:t>
            </a:r>
          </a:p>
        </p:txBody>
      </p:sp>
      <p:sp>
        <p:nvSpPr>
          <p:cNvPr id="7" name="TextBox 6"/>
          <p:cNvSpPr txBox="1"/>
          <p:nvPr/>
        </p:nvSpPr>
        <p:spPr>
          <a:xfrm>
            <a:off x="731520" y="3886200"/>
            <a:ext cx="3154680" cy="1325880"/>
          </a:xfrm>
          <a:prstGeom prst="rect">
            <a:avLst/>
          </a:prstGeom>
          <a:noFill/>
        </p:spPr>
        <p:txBody>
          <a:bodyPr wrap="square" anchor="t"/>
          <a:lstStyle/>
          <a:p>
            <a:pPr algn="l"/>
            <a:r>
              <a:rPr sz="1400" b="0" i="0">
                <a:solidFill>
                  <a:srgbClr val="FFFFFF"/>
                </a:solidFill>
                <a:latin typeface="Calibri"/>
              </a:rPr>
              <a:t>GPU hours for full training, not a quick partial pass.</a:t>
            </a:r>
          </a:p>
        </p:txBody>
      </p:sp>
      <p:sp>
        <p:nvSpPr>
          <p:cNvPr id="8" name="Rectangle 7"/>
          <p:cNvSpPr/>
          <p:nvPr/>
        </p:nvSpPr>
        <p:spPr>
          <a:xfrm>
            <a:off x="4297680" y="3108960"/>
            <a:ext cx="3520440" cy="2194560"/>
          </a:xfrm>
          <a:prstGeom prst="rect">
            <a:avLst/>
          </a:prstGeom>
          <a:solidFill>
            <a:srgbClr val="152A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480560" y="3291840"/>
            <a:ext cx="3154680" cy="365760"/>
          </a:xfrm>
          <a:prstGeom prst="rect">
            <a:avLst/>
          </a:prstGeom>
          <a:noFill/>
        </p:spPr>
        <p:txBody>
          <a:bodyPr wrap="square" anchor="t"/>
          <a:lstStyle/>
          <a:p>
            <a:pPr algn="l"/>
            <a:r>
              <a:rPr sz="1500" b="1" i="0">
                <a:solidFill>
                  <a:srgbClr val="FFD54F"/>
                </a:solidFill>
                <a:latin typeface="Calibri"/>
              </a:rPr>
              <a:t>Data</a:t>
            </a:r>
          </a:p>
        </p:txBody>
      </p:sp>
      <p:sp>
        <p:nvSpPr>
          <p:cNvPr id="10" name="TextBox 9"/>
          <p:cNvSpPr txBox="1"/>
          <p:nvPr/>
        </p:nvSpPr>
        <p:spPr>
          <a:xfrm>
            <a:off x="4480560" y="3886200"/>
            <a:ext cx="3154680" cy="1325880"/>
          </a:xfrm>
          <a:prstGeom prst="rect">
            <a:avLst/>
          </a:prstGeom>
          <a:noFill/>
        </p:spPr>
        <p:txBody>
          <a:bodyPr wrap="square" anchor="t"/>
          <a:lstStyle/>
          <a:p>
            <a:pPr algn="l"/>
            <a:r>
              <a:rPr sz="1400" b="0" i="0">
                <a:solidFill>
                  <a:srgbClr val="FFFFFF"/>
                </a:solidFill>
                <a:latin typeface="Calibri"/>
              </a:rPr>
              <a:t>Curated and labeled domain segments — your domain.</a:t>
            </a:r>
          </a:p>
        </p:txBody>
      </p:sp>
      <p:sp>
        <p:nvSpPr>
          <p:cNvPr id="11" name="Rectangle 10"/>
          <p:cNvSpPr/>
          <p:nvPr/>
        </p:nvSpPr>
        <p:spPr>
          <a:xfrm>
            <a:off x="8046720" y="3108960"/>
            <a:ext cx="3520440" cy="2194560"/>
          </a:xfrm>
          <a:prstGeom prst="rect">
            <a:avLst/>
          </a:prstGeom>
          <a:solidFill>
            <a:srgbClr val="152A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29600" y="3291840"/>
            <a:ext cx="3154680" cy="365760"/>
          </a:xfrm>
          <a:prstGeom prst="rect">
            <a:avLst/>
          </a:prstGeom>
          <a:noFill/>
        </p:spPr>
        <p:txBody>
          <a:bodyPr wrap="square" anchor="t"/>
          <a:lstStyle/>
          <a:p>
            <a:pPr algn="l"/>
            <a:r>
              <a:rPr sz="1500" b="1" i="0">
                <a:solidFill>
                  <a:srgbClr val="4CAF50"/>
                </a:solidFill>
                <a:latin typeface="Calibri"/>
              </a:rPr>
              <a:t>Engineering</a:t>
            </a:r>
          </a:p>
        </p:txBody>
      </p:sp>
      <p:sp>
        <p:nvSpPr>
          <p:cNvPr id="13" name="TextBox 12"/>
          <p:cNvSpPr txBox="1"/>
          <p:nvPr/>
        </p:nvSpPr>
        <p:spPr>
          <a:xfrm>
            <a:off x="8229600" y="3886200"/>
            <a:ext cx="3154680" cy="1325880"/>
          </a:xfrm>
          <a:prstGeom prst="rect">
            <a:avLst/>
          </a:prstGeom>
          <a:noFill/>
        </p:spPr>
        <p:txBody>
          <a:bodyPr wrap="square" anchor="t"/>
          <a:lstStyle/>
          <a:p>
            <a:pPr algn="l"/>
            <a:r>
              <a:rPr sz="1400" b="0" i="0">
                <a:solidFill>
                  <a:srgbClr val="FFFFFF"/>
                </a:solidFill>
                <a:latin typeface="Calibri"/>
              </a:rPr>
              <a:t>Pipeline integration, testing, and on-prem handoff.</a:t>
            </a:r>
          </a:p>
        </p:txBody>
      </p:sp>
      <p:sp>
        <p:nvSpPr>
          <p:cNvPr id="14" name="TextBox 13"/>
          <p:cNvSpPr txBox="1"/>
          <p:nvPr/>
        </p:nvSpPr>
        <p:spPr>
          <a:xfrm>
            <a:off x="548640" y="5577840"/>
            <a:ext cx="11091672" cy="365760"/>
          </a:xfrm>
          <a:prstGeom prst="rect">
            <a:avLst/>
          </a:prstGeom>
          <a:noFill/>
        </p:spPr>
        <p:txBody>
          <a:bodyPr wrap="square" anchor="t"/>
          <a:lstStyle/>
          <a:p>
            <a:pPr algn="ctr"/>
            <a:r>
              <a:rPr sz="1200" b="0" i="1">
                <a:solidFill>
                  <a:srgbClr val="AAAAAA"/>
                </a:solidFill>
                <a:latin typeface="Calibri"/>
              </a:rPr>
              <a:t>Specific numbers in the follow-up — today is direction, not invoice.</a:t>
            </a:r>
          </a:p>
        </p:txBody>
      </p:sp>
      <p:pic>
        <p:nvPicPr>
          <p:cNvPr id="15" name="Picture 14" descr="WhiteLogo.jpeg"/>
          <p:cNvPicPr>
            <a:picLocks noChangeAspect="1"/>
          </p:cNvPicPr>
          <p:nvPr/>
        </p:nvPicPr>
        <p:blipFill>
          <a:blip r:embed="rId2"/>
          <a:stretch>
            <a:fillRect/>
          </a:stretch>
        </p:blipFill>
        <p:spPr>
          <a:xfrm>
            <a:off x="11323320" y="6428232"/>
            <a:ext cx="269634" cy="320040"/>
          </a:xfrm>
          <a:prstGeom prst="rect">
            <a:avLst/>
          </a:prstGeom>
        </p:spPr>
      </p:pic>
      <p:sp>
        <p:nvSpPr>
          <p:cNvPr id="16" name="TextBox 15"/>
          <p:cNvSpPr txBox="1"/>
          <p:nvPr/>
        </p:nvSpPr>
        <p:spPr>
          <a:xfrm>
            <a:off x="548640" y="6510528"/>
            <a:ext cx="457200" cy="228600"/>
          </a:xfrm>
          <a:prstGeom prst="rect">
            <a:avLst/>
          </a:prstGeom>
          <a:noFill/>
        </p:spPr>
        <p:txBody>
          <a:bodyPr wrap="none">
            <a:spAutoFit/>
          </a:bodyPr>
          <a:lstStyle/>
          <a:p>
            <a:r>
              <a:rPr sz="900" b="0" i="0">
                <a:solidFill>
                  <a:srgbClr val="666666"/>
                </a:solidFill>
                <a:latin typeface="Calibri"/>
              </a:rPr>
              <a:t>44</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0D1B2A"/>
        </a:solidFill>
        <a:effectLst/>
      </p:bgPr>
    </p:bg>
    <p:spTree>
      <p:nvGrpSpPr>
        <p:cNvPr id="1" name=""/>
        <p:cNvGrpSpPr/>
        <p:nvPr/>
      </p:nvGrpSpPr>
      <p:grpSpPr/>
      <p:sp>
        <p:nvSpPr>
          <p:cNvPr id="2" name="TextBox 1"/>
          <p:cNvSpPr txBox="1"/>
          <p:nvPr/>
        </p:nvSpPr>
        <p:spPr>
          <a:xfrm>
            <a:off x="548640" y="2560320"/>
            <a:ext cx="11091672" cy="914400"/>
          </a:xfrm>
          <a:prstGeom prst="rect">
            <a:avLst/>
          </a:prstGeom>
          <a:noFill/>
        </p:spPr>
        <p:txBody>
          <a:bodyPr wrap="square" anchor="t"/>
          <a:lstStyle/>
          <a:p>
            <a:pPr algn="ctr"/>
            <a:r>
              <a:rPr sz="4400" b="1" i="0">
                <a:solidFill>
                  <a:srgbClr val="00B4D8"/>
                </a:solidFill>
                <a:latin typeface="Calibri"/>
              </a:rPr>
              <a:t>INTEGRATION &amp; NEXT STEPS</a:t>
            </a:r>
          </a:p>
        </p:txBody>
      </p:sp>
      <p:sp>
        <p:nvSpPr>
          <p:cNvPr id="3" name="TextBox 2"/>
          <p:cNvSpPr txBox="1"/>
          <p:nvPr/>
        </p:nvSpPr>
        <p:spPr>
          <a:xfrm>
            <a:off x="548640" y="3566160"/>
            <a:ext cx="11091672" cy="731520"/>
          </a:xfrm>
          <a:prstGeom prst="rect">
            <a:avLst/>
          </a:prstGeom>
          <a:noFill/>
        </p:spPr>
        <p:txBody>
          <a:bodyPr wrap="square" anchor="t"/>
          <a:lstStyle/>
          <a:p>
            <a:pPr algn="ctr"/>
            <a:r>
              <a:rPr sz="2000" b="0" i="1">
                <a:solidFill>
                  <a:srgbClr val="AAAAAA"/>
                </a:solidFill>
                <a:latin typeface="Calibri"/>
              </a:rPr>
              <a:t>How we deploy this on your infrastructure</a:t>
            </a:r>
          </a:p>
        </p:txBody>
      </p:sp>
      <p:pic>
        <p:nvPicPr>
          <p:cNvPr id="4" name="Picture 3" descr="WhiteLogo.jpeg"/>
          <p:cNvPicPr>
            <a:picLocks noChangeAspect="1"/>
          </p:cNvPicPr>
          <p:nvPr/>
        </p:nvPicPr>
        <p:blipFill>
          <a:blip r:embed="rId2"/>
          <a:stretch>
            <a:fillRect/>
          </a:stretch>
        </p:blipFill>
        <p:spPr>
          <a:xfrm>
            <a:off x="11323320" y="6428232"/>
            <a:ext cx="269634" cy="320040"/>
          </a:xfrm>
          <a:prstGeom prst="rect">
            <a:avLst/>
          </a:prstGeom>
        </p:spPr>
      </p:pic>
      <p:sp>
        <p:nvSpPr>
          <p:cNvPr id="5" name="TextBox 4"/>
          <p:cNvSpPr txBox="1"/>
          <p:nvPr/>
        </p:nvSpPr>
        <p:spPr>
          <a:xfrm>
            <a:off x="548640" y="6510528"/>
            <a:ext cx="457200" cy="228600"/>
          </a:xfrm>
          <a:prstGeom prst="rect">
            <a:avLst/>
          </a:prstGeom>
          <a:noFill/>
        </p:spPr>
        <p:txBody>
          <a:bodyPr wrap="none">
            <a:spAutoFit/>
          </a:bodyPr>
          <a:lstStyle/>
          <a:p>
            <a:r>
              <a:rPr sz="900" b="0" i="0">
                <a:solidFill>
                  <a:srgbClr val="666666"/>
                </a:solidFill>
                <a:latin typeface="Calibri"/>
              </a:rPr>
              <a:t>45</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0D1B2A"/>
        </a:solidFill>
        <a:effectLst/>
      </p:bgPr>
    </p:bg>
    <p:spTree>
      <p:nvGrpSpPr>
        <p:cNvPr id="1" name=""/>
        <p:cNvGrpSpPr/>
        <p:nvPr/>
      </p:nvGrpSpPr>
      <p:grpSpPr/>
      <p:sp>
        <p:nvSpPr>
          <p:cNvPr id="2" name="TextBox 1"/>
          <p:cNvSpPr txBox="1"/>
          <p:nvPr/>
        </p:nvSpPr>
        <p:spPr>
          <a:xfrm>
            <a:off x="548640" y="365760"/>
            <a:ext cx="11091672" cy="685800"/>
          </a:xfrm>
          <a:prstGeom prst="rect">
            <a:avLst/>
          </a:prstGeom>
          <a:noFill/>
        </p:spPr>
        <p:txBody>
          <a:bodyPr wrap="square">
            <a:spAutoFit/>
          </a:bodyPr>
          <a:lstStyle/>
          <a:p>
            <a:r>
              <a:rPr sz="3200" b="1" i="0">
                <a:solidFill>
                  <a:srgbClr val="FFFFFF"/>
                </a:solidFill>
                <a:latin typeface="Calibri"/>
              </a:rPr>
              <a:t>Three things to take with you</a:t>
            </a:r>
          </a:p>
        </p:txBody>
      </p:sp>
      <p:sp>
        <p:nvSpPr>
          <p:cNvPr id="3" name="Rectangle 2"/>
          <p:cNvSpPr/>
          <p:nvPr/>
        </p:nvSpPr>
        <p:spPr>
          <a:xfrm>
            <a:off x="548640" y="1097280"/>
            <a:ext cx="11091672" cy="1905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48640" y="1737360"/>
            <a:ext cx="3520440" cy="3657600"/>
          </a:xfrm>
          <a:prstGeom prst="rect">
            <a:avLst/>
          </a:prstGeom>
          <a:solidFill>
            <a:srgbClr val="152A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2194560"/>
            <a:ext cx="3520440" cy="640080"/>
          </a:xfrm>
          <a:prstGeom prst="rect">
            <a:avLst/>
          </a:prstGeom>
          <a:noFill/>
        </p:spPr>
        <p:txBody>
          <a:bodyPr wrap="square" anchor="t"/>
          <a:lstStyle/>
          <a:p>
            <a:pPr algn="ctr"/>
            <a:r>
              <a:rPr sz="2800" b="1" i="0">
                <a:solidFill>
                  <a:srgbClr val="4CAF50"/>
                </a:solidFill>
                <a:latin typeface="Calibri"/>
              </a:rPr>
              <a:t>IT WORKS</a:t>
            </a:r>
          </a:p>
        </p:txBody>
      </p:sp>
      <p:sp>
        <p:nvSpPr>
          <p:cNvPr id="6" name="TextBox 5"/>
          <p:cNvSpPr txBox="1"/>
          <p:nvPr/>
        </p:nvSpPr>
        <p:spPr>
          <a:xfrm>
            <a:off x="822960" y="3291840"/>
            <a:ext cx="2971800" cy="2103120"/>
          </a:xfrm>
          <a:prstGeom prst="rect">
            <a:avLst/>
          </a:prstGeom>
          <a:noFill/>
        </p:spPr>
        <p:txBody>
          <a:bodyPr wrap="square" anchor="t"/>
          <a:lstStyle/>
          <a:p>
            <a:pPr algn="ctr"/>
            <a:r>
              <a:rPr sz="1500" b="0" i="0">
                <a:solidFill>
                  <a:srgbClr val="FFFFFF"/>
                </a:solidFill>
                <a:latin typeface="Calibri"/>
              </a:rPr>
              <a:t>Real pipeline, finished UI, usable today.</a:t>
            </a:r>
          </a:p>
        </p:txBody>
      </p:sp>
      <p:sp>
        <p:nvSpPr>
          <p:cNvPr id="7" name="Rectangle 6"/>
          <p:cNvSpPr/>
          <p:nvPr/>
        </p:nvSpPr>
        <p:spPr>
          <a:xfrm>
            <a:off x="4297680" y="1737360"/>
            <a:ext cx="3520440" cy="3657600"/>
          </a:xfrm>
          <a:prstGeom prst="rect">
            <a:avLst/>
          </a:prstGeom>
          <a:solidFill>
            <a:srgbClr val="152A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297680" y="2194560"/>
            <a:ext cx="3520440" cy="640080"/>
          </a:xfrm>
          <a:prstGeom prst="rect">
            <a:avLst/>
          </a:prstGeom>
          <a:noFill/>
        </p:spPr>
        <p:txBody>
          <a:bodyPr wrap="square" anchor="t"/>
          <a:lstStyle/>
          <a:p>
            <a:pPr algn="ctr"/>
            <a:r>
              <a:rPr sz="2800" b="1" i="0">
                <a:solidFill>
                  <a:srgbClr val="00B4D8"/>
                </a:solidFill>
                <a:latin typeface="Calibri"/>
              </a:rPr>
              <a:t>YOU CAN TRUST IT</a:t>
            </a:r>
          </a:p>
        </p:txBody>
      </p:sp>
      <p:sp>
        <p:nvSpPr>
          <p:cNvPr id="9" name="TextBox 8"/>
          <p:cNvSpPr txBox="1"/>
          <p:nvPr/>
        </p:nvSpPr>
        <p:spPr>
          <a:xfrm>
            <a:off x="4572000" y="3291840"/>
            <a:ext cx="2971800" cy="2103120"/>
          </a:xfrm>
          <a:prstGeom prst="rect">
            <a:avLst/>
          </a:prstGeom>
          <a:noFill/>
        </p:spPr>
        <p:txBody>
          <a:bodyPr wrap="square" anchor="t"/>
          <a:lstStyle/>
          <a:p>
            <a:pPr algn="ctr"/>
            <a:r>
              <a:rPr sz="1500" b="0" i="0">
                <a:solidFill>
                  <a:srgbClr val="FFFFFF"/>
                </a:solidFill>
                <a:latin typeface="Calibri"/>
              </a:rPr>
              <a:t>Two layers of confidence — per word and per segment.</a:t>
            </a:r>
          </a:p>
        </p:txBody>
      </p:sp>
      <p:sp>
        <p:nvSpPr>
          <p:cNvPr id="10" name="Rectangle 9"/>
          <p:cNvSpPr/>
          <p:nvPr/>
        </p:nvSpPr>
        <p:spPr>
          <a:xfrm>
            <a:off x="8046720" y="1737360"/>
            <a:ext cx="3520440" cy="3657600"/>
          </a:xfrm>
          <a:prstGeom prst="rect">
            <a:avLst/>
          </a:prstGeom>
          <a:solidFill>
            <a:srgbClr val="152A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046720" y="2194560"/>
            <a:ext cx="3520440" cy="640080"/>
          </a:xfrm>
          <a:prstGeom prst="rect">
            <a:avLst/>
          </a:prstGeom>
          <a:noFill/>
        </p:spPr>
        <p:txBody>
          <a:bodyPr wrap="square" anchor="t"/>
          <a:lstStyle/>
          <a:p>
            <a:pPr algn="ctr"/>
            <a:r>
              <a:rPr sz="2800" b="1" i="0">
                <a:solidFill>
                  <a:srgbClr val="FFD54F"/>
                </a:solidFill>
                <a:latin typeface="Calibri"/>
              </a:rPr>
              <a:t>WE DEPLOY IT</a:t>
            </a:r>
          </a:p>
        </p:txBody>
      </p:sp>
      <p:sp>
        <p:nvSpPr>
          <p:cNvPr id="12" name="TextBox 11"/>
          <p:cNvSpPr txBox="1"/>
          <p:nvPr/>
        </p:nvSpPr>
        <p:spPr>
          <a:xfrm>
            <a:off x="8321040" y="3291840"/>
            <a:ext cx="2971800" cy="2103120"/>
          </a:xfrm>
          <a:prstGeom prst="rect">
            <a:avLst/>
          </a:prstGeom>
          <a:noFill/>
        </p:spPr>
        <p:txBody>
          <a:bodyPr wrap="square" anchor="t"/>
          <a:lstStyle/>
          <a:p>
            <a:pPr algn="ctr"/>
            <a:r>
              <a:rPr sz="1500" b="0" i="0">
                <a:solidFill>
                  <a:srgbClr val="FFFFFF"/>
                </a:solidFill>
                <a:latin typeface="Calibri"/>
              </a:rPr>
              <a:t>End-to-end on your infrastructure, not an API call.</a:t>
            </a:r>
          </a:p>
        </p:txBody>
      </p:sp>
      <p:pic>
        <p:nvPicPr>
          <p:cNvPr id="13" name="Picture 12" descr="WhiteLogo.jpeg"/>
          <p:cNvPicPr>
            <a:picLocks noChangeAspect="1"/>
          </p:cNvPicPr>
          <p:nvPr/>
        </p:nvPicPr>
        <p:blipFill>
          <a:blip r:embed="rId2"/>
          <a:stretch>
            <a:fillRect/>
          </a:stretch>
        </p:blipFill>
        <p:spPr>
          <a:xfrm>
            <a:off x="11323320" y="6428232"/>
            <a:ext cx="269634" cy="320040"/>
          </a:xfrm>
          <a:prstGeom prst="rect">
            <a:avLst/>
          </a:prstGeom>
        </p:spPr>
      </p:pic>
      <p:sp>
        <p:nvSpPr>
          <p:cNvPr id="14" name="TextBox 13"/>
          <p:cNvSpPr txBox="1"/>
          <p:nvPr/>
        </p:nvSpPr>
        <p:spPr>
          <a:xfrm>
            <a:off x="548640" y="6510528"/>
            <a:ext cx="457200" cy="228600"/>
          </a:xfrm>
          <a:prstGeom prst="rect">
            <a:avLst/>
          </a:prstGeom>
          <a:noFill/>
        </p:spPr>
        <p:txBody>
          <a:bodyPr wrap="none">
            <a:spAutoFit/>
          </a:bodyPr>
          <a:lstStyle/>
          <a:p>
            <a:r>
              <a:rPr sz="900" b="0" i="0">
                <a:solidFill>
                  <a:srgbClr val="666666"/>
                </a:solidFill>
                <a:latin typeface="Calibri"/>
              </a:rPr>
              <a:t>46</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0D1B2A"/>
        </a:solidFill>
        <a:effectLst/>
      </p:bgPr>
    </p:bg>
    <p:spTree>
      <p:nvGrpSpPr>
        <p:cNvPr id="1" name=""/>
        <p:cNvGrpSpPr/>
        <p:nvPr/>
      </p:nvGrpSpPr>
      <p:grpSpPr/>
      <p:sp>
        <p:nvSpPr>
          <p:cNvPr id="2" name="TextBox 1"/>
          <p:cNvSpPr txBox="1"/>
          <p:nvPr/>
        </p:nvSpPr>
        <p:spPr>
          <a:xfrm>
            <a:off x="548640" y="365760"/>
            <a:ext cx="11091672" cy="685800"/>
          </a:xfrm>
          <a:prstGeom prst="rect">
            <a:avLst/>
          </a:prstGeom>
          <a:noFill/>
        </p:spPr>
        <p:txBody>
          <a:bodyPr wrap="square">
            <a:spAutoFit/>
          </a:bodyPr>
          <a:lstStyle/>
          <a:p>
            <a:r>
              <a:rPr sz="3200" b="1" i="0">
                <a:solidFill>
                  <a:srgbClr val="FFFFFF"/>
                </a:solidFill>
                <a:latin typeface="Calibri"/>
              </a:rPr>
              <a:t>We deploy this on your infrastructure</a:t>
            </a:r>
          </a:p>
        </p:txBody>
      </p:sp>
      <p:sp>
        <p:nvSpPr>
          <p:cNvPr id="3" name="Rectangle 2"/>
          <p:cNvSpPr/>
          <p:nvPr/>
        </p:nvSpPr>
        <p:spPr>
          <a:xfrm>
            <a:off x="548640" y="1097280"/>
            <a:ext cx="11091672" cy="1905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737360"/>
            <a:ext cx="11091672" cy="1097280"/>
          </a:xfrm>
          <a:prstGeom prst="rect">
            <a:avLst/>
          </a:prstGeom>
          <a:noFill/>
        </p:spPr>
        <p:txBody>
          <a:bodyPr wrap="square" anchor="t"/>
          <a:lstStyle/>
          <a:p>
            <a:pPr algn="ctr"/>
            <a:r>
              <a:rPr sz="2200" b="0" i="1">
                <a:solidFill>
                  <a:srgbClr val="FFFFFF"/>
                </a:solidFill>
                <a:latin typeface="Calibri"/>
              </a:rPr>
              <a:t>You're not buying an API call. You're buying a working pipeline that runs in your environment.</a:t>
            </a:r>
          </a:p>
        </p:txBody>
      </p:sp>
      <p:sp>
        <p:nvSpPr>
          <p:cNvPr id="5" name="Rectangle 4"/>
          <p:cNvSpPr/>
          <p:nvPr/>
        </p:nvSpPr>
        <p:spPr>
          <a:xfrm>
            <a:off x="608076" y="3108960"/>
            <a:ext cx="2606040" cy="2194560"/>
          </a:xfrm>
          <a:prstGeom prst="rect">
            <a:avLst/>
          </a:prstGeom>
          <a:solidFill>
            <a:srgbClr val="152A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45236" y="3291840"/>
            <a:ext cx="2331720" cy="365760"/>
          </a:xfrm>
          <a:prstGeom prst="rect">
            <a:avLst/>
          </a:prstGeom>
          <a:noFill/>
        </p:spPr>
        <p:txBody>
          <a:bodyPr wrap="square" anchor="t"/>
          <a:lstStyle/>
          <a:p>
            <a:pPr algn="l"/>
            <a:r>
              <a:rPr sz="1300" b="1" i="0">
                <a:solidFill>
                  <a:srgbClr val="00B4D8"/>
                </a:solidFill>
                <a:latin typeface="Calibri"/>
              </a:rPr>
              <a:t>1. INSTALL</a:t>
            </a:r>
          </a:p>
        </p:txBody>
      </p:sp>
      <p:sp>
        <p:nvSpPr>
          <p:cNvPr id="7" name="TextBox 6"/>
          <p:cNvSpPr txBox="1"/>
          <p:nvPr/>
        </p:nvSpPr>
        <p:spPr>
          <a:xfrm>
            <a:off x="745236" y="3886200"/>
            <a:ext cx="2331720" cy="1325880"/>
          </a:xfrm>
          <a:prstGeom prst="rect">
            <a:avLst/>
          </a:prstGeom>
          <a:noFill/>
        </p:spPr>
        <p:txBody>
          <a:bodyPr wrap="square" anchor="t"/>
          <a:lstStyle/>
          <a:p>
            <a:pPr algn="l"/>
            <a:r>
              <a:rPr sz="1200" b="0" i="0">
                <a:solidFill>
                  <a:srgbClr val="FFFFFF"/>
                </a:solidFill>
                <a:latin typeface="Calibri"/>
              </a:rPr>
              <a:t>On-premise or your cloud. Your hardware, your rules.</a:t>
            </a:r>
          </a:p>
        </p:txBody>
      </p:sp>
      <p:sp>
        <p:nvSpPr>
          <p:cNvPr id="8" name="Rectangle 7"/>
          <p:cNvSpPr/>
          <p:nvPr/>
        </p:nvSpPr>
        <p:spPr>
          <a:xfrm>
            <a:off x="3396996" y="3108960"/>
            <a:ext cx="2606040" cy="2194560"/>
          </a:xfrm>
          <a:prstGeom prst="rect">
            <a:avLst/>
          </a:prstGeom>
          <a:solidFill>
            <a:srgbClr val="152A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534156" y="3291840"/>
            <a:ext cx="2331720" cy="365760"/>
          </a:xfrm>
          <a:prstGeom prst="rect">
            <a:avLst/>
          </a:prstGeom>
          <a:noFill/>
        </p:spPr>
        <p:txBody>
          <a:bodyPr wrap="square" anchor="t"/>
          <a:lstStyle/>
          <a:p>
            <a:pPr algn="l"/>
            <a:r>
              <a:rPr sz="1300" b="1" i="0">
                <a:solidFill>
                  <a:srgbClr val="FFD54F"/>
                </a:solidFill>
                <a:latin typeface="Calibri"/>
              </a:rPr>
              <a:t>2. INTEGRATE</a:t>
            </a:r>
          </a:p>
        </p:txBody>
      </p:sp>
      <p:sp>
        <p:nvSpPr>
          <p:cNvPr id="10" name="TextBox 9"/>
          <p:cNvSpPr txBox="1"/>
          <p:nvPr/>
        </p:nvSpPr>
        <p:spPr>
          <a:xfrm>
            <a:off x="3534156" y="3886200"/>
            <a:ext cx="2331720" cy="1325880"/>
          </a:xfrm>
          <a:prstGeom prst="rect">
            <a:avLst/>
          </a:prstGeom>
          <a:noFill/>
        </p:spPr>
        <p:txBody>
          <a:bodyPr wrap="square" anchor="t"/>
          <a:lstStyle/>
          <a:p>
            <a:pPr algn="l"/>
            <a:r>
              <a:rPr sz="1200" b="0" i="0">
                <a:solidFill>
                  <a:srgbClr val="FFFFFF"/>
                </a:solidFill>
                <a:latin typeface="Calibri"/>
              </a:rPr>
              <a:t>Wire into your existing systems and workflow.</a:t>
            </a:r>
          </a:p>
        </p:txBody>
      </p:sp>
      <p:sp>
        <p:nvSpPr>
          <p:cNvPr id="11" name="Rectangle 10"/>
          <p:cNvSpPr/>
          <p:nvPr/>
        </p:nvSpPr>
        <p:spPr>
          <a:xfrm>
            <a:off x="6185916" y="3108960"/>
            <a:ext cx="2606040" cy="2194560"/>
          </a:xfrm>
          <a:prstGeom prst="rect">
            <a:avLst/>
          </a:prstGeom>
          <a:solidFill>
            <a:srgbClr val="152A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23076" y="3291840"/>
            <a:ext cx="2331720" cy="365760"/>
          </a:xfrm>
          <a:prstGeom prst="rect">
            <a:avLst/>
          </a:prstGeom>
          <a:noFill/>
        </p:spPr>
        <p:txBody>
          <a:bodyPr wrap="square" anchor="t"/>
          <a:lstStyle/>
          <a:p>
            <a:pPr algn="l"/>
            <a:r>
              <a:rPr sz="1300" b="1" i="0">
                <a:solidFill>
                  <a:srgbClr val="4CAF50"/>
                </a:solidFill>
                <a:latin typeface="Calibri"/>
              </a:rPr>
              <a:t>3. TRAIN</a:t>
            </a:r>
          </a:p>
        </p:txBody>
      </p:sp>
      <p:sp>
        <p:nvSpPr>
          <p:cNvPr id="13" name="TextBox 12"/>
          <p:cNvSpPr txBox="1"/>
          <p:nvPr/>
        </p:nvSpPr>
        <p:spPr>
          <a:xfrm>
            <a:off x="6323076" y="3886200"/>
            <a:ext cx="2331720" cy="1325880"/>
          </a:xfrm>
          <a:prstGeom prst="rect">
            <a:avLst/>
          </a:prstGeom>
          <a:noFill/>
        </p:spPr>
        <p:txBody>
          <a:bodyPr wrap="square" anchor="t"/>
          <a:lstStyle/>
          <a:p>
            <a:pPr algn="l"/>
            <a:r>
              <a:rPr sz="1200" b="0" i="0">
                <a:solidFill>
                  <a:srgbClr val="FFFFFF"/>
                </a:solidFill>
                <a:latin typeface="Calibri"/>
              </a:rPr>
              <a:t>Onboard your team end-to-end — ops, review, troubleshoot.</a:t>
            </a:r>
          </a:p>
        </p:txBody>
      </p:sp>
      <p:sp>
        <p:nvSpPr>
          <p:cNvPr id="14" name="Rectangle 13"/>
          <p:cNvSpPr/>
          <p:nvPr/>
        </p:nvSpPr>
        <p:spPr>
          <a:xfrm>
            <a:off x="8974836" y="3108960"/>
            <a:ext cx="2606040" cy="2194560"/>
          </a:xfrm>
          <a:prstGeom prst="rect">
            <a:avLst/>
          </a:prstGeom>
          <a:solidFill>
            <a:srgbClr val="152A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111996" y="3291840"/>
            <a:ext cx="2331720" cy="365760"/>
          </a:xfrm>
          <a:prstGeom prst="rect">
            <a:avLst/>
          </a:prstGeom>
          <a:noFill/>
        </p:spPr>
        <p:txBody>
          <a:bodyPr wrap="square" anchor="t"/>
          <a:lstStyle/>
          <a:p>
            <a:pPr algn="l"/>
            <a:r>
              <a:rPr sz="1300" b="1" i="0">
                <a:solidFill>
                  <a:srgbClr val="E06C75"/>
                </a:solidFill>
                <a:latin typeface="Calibri"/>
              </a:rPr>
              <a:t>4. HANDOFF</a:t>
            </a:r>
          </a:p>
        </p:txBody>
      </p:sp>
      <p:sp>
        <p:nvSpPr>
          <p:cNvPr id="16" name="TextBox 15"/>
          <p:cNvSpPr txBox="1"/>
          <p:nvPr/>
        </p:nvSpPr>
        <p:spPr>
          <a:xfrm>
            <a:off x="9111996" y="3886200"/>
            <a:ext cx="2331720" cy="1325880"/>
          </a:xfrm>
          <a:prstGeom prst="rect">
            <a:avLst/>
          </a:prstGeom>
          <a:noFill/>
        </p:spPr>
        <p:txBody>
          <a:bodyPr wrap="square" anchor="t"/>
          <a:lstStyle/>
          <a:p>
            <a:pPr algn="l"/>
            <a:r>
              <a:rPr sz="1200" b="0" i="0">
                <a:solidFill>
                  <a:srgbClr val="FFFFFF"/>
                </a:solidFill>
                <a:latin typeface="Calibri"/>
              </a:rPr>
              <a:t>Documented, supported, owned by you.</a:t>
            </a:r>
          </a:p>
        </p:txBody>
      </p:sp>
      <p:sp>
        <p:nvSpPr>
          <p:cNvPr id="17" name="TextBox 16"/>
          <p:cNvSpPr txBox="1"/>
          <p:nvPr/>
        </p:nvSpPr>
        <p:spPr>
          <a:xfrm>
            <a:off x="548640" y="5989320"/>
            <a:ext cx="11091672" cy="365760"/>
          </a:xfrm>
          <a:prstGeom prst="rect">
            <a:avLst/>
          </a:prstGeom>
          <a:noFill/>
        </p:spPr>
        <p:txBody>
          <a:bodyPr wrap="square" anchor="t"/>
          <a:lstStyle/>
          <a:p>
            <a:pPr algn="ctr"/>
            <a:r>
              <a:rPr sz="1000" b="0" i="1">
                <a:solidFill>
                  <a:srgbClr val="666666"/>
                </a:solidFill>
                <a:latin typeface="Calibri"/>
              </a:rPr>
              <a:t>Typical handoff: 4-8 weeks from contract to first end-to-end run on your data.</a:t>
            </a:r>
          </a:p>
        </p:txBody>
      </p:sp>
      <p:pic>
        <p:nvPicPr>
          <p:cNvPr id="18" name="Picture 17" descr="WhiteLogo.jpeg"/>
          <p:cNvPicPr>
            <a:picLocks noChangeAspect="1"/>
          </p:cNvPicPr>
          <p:nvPr/>
        </p:nvPicPr>
        <p:blipFill>
          <a:blip r:embed="rId2"/>
          <a:stretch>
            <a:fillRect/>
          </a:stretch>
        </p:blipFill>
        <p:spPr>
          <a:xfrm>
            <a:off x="11323320" y="6428232"/>
            <a:ext cx="269634" cy="320040"/>
          </a:xfrm>
          <a:prstGeom prst="rect">
            <a:avLst/>
          </a:prstGeom>
        </p:spPr>
      </p:pic>
      <p:sp>
        <p:nvSpPr>
          <p:cNvPr id="19" name="TextBox 18"/>
          <p:cNvSpPr txBox="1"/>
          <p:nvPr/>
        </p:nvSpPr>
        <p:spPr>
          <a:xfrm>
            <a:off x="548640" y="6510528"/>
            <a:ext cx="457200" cy="228600"/>
          </a:xfrm>
          <a:prstGeom prst="rect">
            <a:avLst/>
          </a:prstGeom>
          <a:noFill/>
        </p:spPr>
        <p:txBody>
          <a:bodyPr wrap="none">
            <a:spAutoFit/>
          </a:bodyPr>
          <a:lstStyle/>
          <a:p>
            <a:r>
              <a:rPr sz="900" b="0" i="0">
                <a:solidFill>
                  <a:srgbClr val="666666"/>
                </a:solidFill>
                <a:latin typeface="Calibri"/>
              </a:rPr>
              <a:t>47</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0D1B2A"/>
        </a:solidFill>
        <a:effectLst/>
      </p:bgPr>
    </p:bg>
    <p:spTree>
      <p:nvGrpSpPr>
        <p:cNvPr id="1" name=""/>
        <p:cNvGrpSpPr/>
        <p:nvPr/>
      </p:nvGrpSpPr>
      <p:grpSpPr/>
      <p:sp>
        <p:nvSpPr>
          <p:cNvPr id="2" name="TextBox 1"/>
          <p:cNvSpPr txBox="1"/>
          <p:nvPr/>
        </p:nvSpPr>
        <p:spPr>
          <a:xfrm>
            <a:off x="548640" y="365760"/>
            <a:ext cx="11091672" cy="685800"/>
          </a:xfrm>
          <a:prstGeom prst="rect">
            <a:avLst/>
          </a:prstGeom>
          <a:noFill/>
        </p:spPr>
        <p:txBody>
          <a:bodyPr wrap="square">
            <a:spAutoFit/>
          </a:bodyPr>
          <a:lstStyle/>
          <a:p>
            <a:r>
              <a:rPr sz="3200" b="1" i="0">
                <a:solidFill>
                  <a:srgbClr val="FFFFFF"/>
                </a:solidFill>
                <a:latin typeface="Calibri"/>
              </a:rPr>
              <a:t>Next steps</a:t>
            </a:r>
          </a:p>
        </p:txBody>
      </p:sp>
      <p:sp>
        <p:nvSpPr>
          <p:cNvPr id="3" name="Rectangle 2"/>
          <p:cNvSpPr/>
          <p:nvPr/>
        </p:nvSpPr>
        <p:spPr>
          <a:xfrm>
            <a:off x="548640" y="1097280"/>
            <a:ext cx="11091672" cy="1905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48640" y="1691640"/>
            <a:ext cx="5349240" cy="1965960"/>
          </a:xfrm>
          <a:prstGeom prst="rect">
            <a:avLst/>
          </a:prstGeom>
          <a:solidFill>
            <a:srgbClr val="152A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1920240"/>
            <a:ext cx="4800600" cy="457200"/>
          </a:xfrm>
          <a:prstGeom prst="rect">
            <a:avLst/>
          </a:prstGeom>
          <a:noFill/>
        </p:spPr>
        <p:txBody>
          <a:bodyPr wrap="square" anchor="t"/>
          <a:lstStyle/>
          <a:p>
            <a:pPr algn="l"/>
            <a:r>
              <a:rPr sz="2000" b="1" i="0">
                <a:solidFill>
                  <a:srgbClr val="00B4D8"/>
                </a:solidFill>
                <a:latin typeface="Calibri"/>
              </a:rPr>
              <a:t>Pilot dataset</a:t>
            </a:r>
          </a:p>
        </p:txBody>
      </p:sp>
      <p:sp>
        <p:nvSpPr>
          <p:cNvPr id="6" name="TextBox 5"/>
          <p:cNvSpPr txBox="1"/>
          <p:nvPr/>
        </p:nvSpPr>
        <p:spPr>
          <a:xfrm>
            <a:off x="822960" y="2560320"/>
            <a:ext cx="4800600" cy="1005840"/>
          </a:xfrm>
          <a:prstGeom prst="rect">
            <a:avLst/>
          </a:prstGeom>
          <a:noFill/>
        </p:spPr>
        <p:txBody>
          <a:bodyPr wrap="square" anchor="t"/>
          <a:lstStyle/>
          <a:p>
            <a:pPr algn="l"/>
            <a:r>
              <a:rPr sz="1300" b="0" i="1">
                <a:solidFill>
                  <a:srgbClr val="AAAAAA"/>
                </a:solidFill>
                <a:latin typeface="Calibri"/>
              </a:rPr>
              <a:t>Size, content type, sample source</a:t>
            </a:r>
          </a:p>
        </p:txBody>
      </p:sp>
      <p:sp>
        <p:nvSpPr>
          <p:cNvPr id="7" name="Rectangle 6"/>
          <p:cNvSpPr/>
          <p:nvPr/>
        </p:nvSpPr>
        <p:spPr>
          <a:xfrm>
            <a:off x="6263640" y="1691640"/>
            <a:ext cx="5349240" cy="1965960"/>
          </a:xfrm>
          <a:prstGeom prst="rect">
            <a:avLst/>
          </a:prstGeom>
          <a:solidFill>
            <a:srgbClr val="152A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37960" y="1920240"/>
            <a:ext cx="4800600" cy="457200"/>
          </a:xfrm>
          <a:prstGeom prst="rect">
            <a:avLst/>
          </a:prstGeom>
          <a:noFill/>
        </p:spPr>
        <p:txBody>
          <a:bodyPr wrap="square" anchor="t"/>
          <a:lstStyle/>
          <a:p>
            <a:pPr algn="l"/>
            <a:r>
              <a:rPr sz="2000" b="1" i="0">
                <a:solidFill>
                  <a:srgbClr val="FFD54F"/>
                </a:solidFill>
                <a:latin typeface="Calibri"/>
              </a:rPr>
              <a:t>Integration scope</a:t>
            </a:r>
          </a:p>
        </p:txBody>
      </p:sp>
      <p:sp>
        <p:nvSpPr>
          <p:cNvPr id="9" name="TextBox 8"/>
          <p:cNvSpPr txBox="1"/>
          <p:nvPr/>
        </p:nvSpPr>
        <p:spPr>
          <a:xfrm>
            <a:off x="6537960" y="2560320"/>
            <a:ext cx="4800600" cy="1005840"/>
          </a:xfrm>
          <a:prstGeom prst="rect">
            <a:avLst/>
          </a:prstGeom>
          <a:noFill/>
        </p:spPr>
        <p:txBody>
          <a:bodyPr wrap="square" anchor="t"/>
          <a:lstStyle/>
          <a:p>
            <a:pPr algn="l"/>
            <a:r>
              <a:rPr sz="1300" b="0" i="1">
                <a:solidFill>
                  <a:srgbClr val="AAAAAA"/>
                </a:solidFill>
                <a:latin typeface="Calibri"/>
              </a:rPr>
              <a:t>Systems and pipelines to wire into</a:t>
            </a:r>
          </a:p>
        </p:txBody>
      </p:sp>
      <p:sp>
        <p:nvSpPr>
          <p:cNvPr id="10" name="Rectangle 9"/>
          <p:cNvSpPr/>
          <p:nvPr/>
        </p:nvSpPr>
        <p:spPr>
          <a:xfrm>
            <a:off x="548640" y="3931920"/>
            <a:ext cx="5349240" cy="1965960"/>
          </a:xfrm>
          <a:prstGeom prst="rect">
            <a:avLst/>
          </a:prstGeom>
          <a:solidFill>
            <a:srgbClr val="152A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2960" y="4160520"/>
            <a:ext cx="4800600" cy="457200"/>
          </a:xfrm>
          <a:prstGeom prst="rect">
            <a:avLst/>
          </a:prstGeom>
          <a:noFill/>
        </p:spPr>
        <p:txBody>
          <a:bodyPr wrap="square" anchor="t"/>
          <a:lstStyle/>
          <a:p>
            <a:pPr algn="l"/>
            <a:r>
              <a:rPr sz="2000" b="1" i="0">
                <a:solidFill>
                  <a:srgbClr val="4CAF50"/>
                </a:solidFill>
                <a:latin typeface="Calibri"/>
              </a:rPr>
              <a:t>Timeline</a:t>
            </a:r>
          </a:p>
        </p:txBody>
      </p:sp>
      <p:sp>
        <p:nvSpPr>
          <p:cNvPr id="12" name="TextBox 11"/>
          <p:cNvSpPr txBox="1"/>
          <p:nvPr/>
        </p:nvSpPr>
        <p:spPr>
          <a:xfrm>
            <a:off x="822960" y="4800600"/>
            <a:ext cx="4800600" cy="1005840"/>
          </a:xfrm>
          <a:prstGeom prst="rect">
            <a:avLst/>
          </a:prstGeom>
          <a:noFill/>
        </p:spPr>
        <p:txBody>
          <a:bodyPr wrap="square" anchor="t"/>
          <a:lstStyle/>
          <a:p>
            <a:pPr algn="l"/>
            <a:r>
              <a:rPr sz="1300" b="0" i="1">
                <a:solidFill>
                  <a:srgbClr val="AAAAAA"/>
                </a:solidFill>
                <a:latin typeface="Calibri"/>
              </a:rPr>
              <a:t>Weeks to first end-to-end run on your data</a:t>
            </a:r>
          </a:p>
        </p:txBody>
      </p:sp>
      <p:sp>
        <p:nvSpPr>
          <p:cNvPr id="13" name="Rectangle 12"/>
          <p:cNvSpPr/>
          <p:nvPr/>
        </p:nvSpPr>
        <p:spPr>
          <a:xfrm>
            <a:off x="6263640" y="3931920"/>
            <a:ext cx="5349240" cy="1965960"/>
          </a:xfrm>
          <a:prstGeom prst="rect">
            <a:avLst/>
          </a:prstGeom>
          <a:solidFill>
            <a:srgbClr val="152A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537960" y="4160520"/>
            <a:ext cx="4800600" cy="457200"/>
          </a:xfrm>
          <a:prstGeom prst="rect">
            <a:avLst/>
          </a:prstGeom>
          <a:noFill/>
        </p:spPr>
        <p:txBody>
          <a:bodyPr wrap="square" anchor="t"/>
          <a:lstStyle/>
          <a:p>
            <a:pPr algn="l"/>
            <a:r>
              <a:rPr sz="2000" b="1" i="0">
                <a:solidFill>
                  <a:srgbClr val="E06C75"/>
                </a:solidFill>
                <a:latin typeface="Calibri"/>
              </a:rPr>
              <a:t>Success criteria</a:t>
            </a:r>
          </a:p>
        </p:txBody>
      </p:sp>
      <p:sp>
        <p:nvSpPr>
          <p:cNvPr id="15" name="TextBox 14"/>
          <p:cNvSpPr txBox="1"/>
          <p:nvPr/>
        </p:nvSpPr>
        <p:spPr>
          <a:xfrm>
            <a:off x="6537960" y="4800600"/>
            <a:ext cx="4800600" cy="1005840"/>
          </a:xfrm>
          <a:prstGeom prst="rect">
            <a:avLst/>
          </a:prstGeom>
          <a:noFill/>
        </p:spPr>
        <p:txBody>
          <a:bodyPr wrap="square" anchor="t"/>
          <a:lstStyle/>
          <a:p>
            <a:pPr algn="l"/>
            <a:r>
              <a:rPr sz="1300" b="0" i="1">
                <a:solidFill>
                  <a:srgbClr val="AAAAAA"/>
                </a:solidFill>
                <a:latin typeface="Calibri"/>
              </a:rPr>
              <a:t>What good looks like for your team</a:t>
            </a:r>
          </a:p>
        </p:txBody>
      </p:sp>
      <p:sp>
        <p:nvSpPr>
          <p:cNvPr id="16" name="TextBox 15"/>
          <p:cNvSpPr txBox="1"/>
          <p:nvPr/>
        </p:nvSpPr>
        <p:spPr>
          <a:xfrm>
            <a:off x="548640" y="5989320"/>
            <a:ext cx="11091672" cy="365760"/>
          </a:xfrm>
          <a:prstGeom prst="rect">
            <a:avLst/>
          </a:prstGeom>
          <a:noFill/>
        </p:spPr>
        <p:txBody>
          <a:bodyPr wrap="square" anchor="t"/>
          <a:lstStyle/>
          <a:p>
            <a:pPr algn="ctr"/>
            <a:r>
              <a:rPr sz="1000" b="0" i="1">
                <a:solidFill>
                  <a:srgbClr val="666666"/>
                </a:solidFill>
                <a:latin typeface="Calibri"/>
              </a:rPr>
              <a:t>Customize per-client during prep — placeholder copy intentionally generic.</a:t>
            </a:r>
          </a:p>
        </p:txBody>
      </p:sp>
      <p:pic>
        <p:nvPicPr>
          <p:cNvPr id="17" name="Picture 16" descr="WhiteLogo.jpeg"/>
          <p:cNvPicPr>
            <a:picLocks noChangeAspect="1"/>
          </p:cNvPicPr>
          <p:nvPr/>
        </p:nvPicPr>
        <p:blipFill>
          <a:blip r:embed="rId2"/>
          <a:stretch>
            <a:fillRect/>
          </a:stretch>
        </p:blipFill>
        <p:spPr>
          <a:xfrm>
            <a:off x="11323320" y="6428232"/>
            <a:ext cx="269634" cy="320040"/>
          </a:xfrm>
          <a:prstGeom prst="rect">
            <a:avLst/>
          </a:prstGeom>
        </p:spPr>
      </p:pic>
      <p:sp>
        <p:nvSpPr>
          <p:cNvPr id="18" name="TextBox 17"/>
          <p:cNvSpPr txBox="1"/>
          <p:nvPr/>
        </p:nvSpPr>
        <p:spPr>
          <a:xfrm>
            <a:off x="548640" y="6510528"/>
            <a:ext cx="457200" cy="228600"/>
          </a:xfrm>
          <a:prstGeom prst="rect">
            <a:avLst/>
          </a:prstGeom>
          <a:noFill/>
        </p:spPr>
        <p:txBody>
          <a:bodyPr wrap="none">
            <a:spAutoFit/>
          </a:bodyPr>
          <a:lstStyle/>
          <a:p>
            <a:r>
              <a:rPr sz="900" b="0" i="0">
                <a:solidFill>
                  <a:srgbClr val="666666"/>
                </a:solidFill>
                <a:latin typeface="Calibri"/>
              </a:rPr>
              <a:t>48</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0D1B2A"/>
        </a:solidFill>
        <a:effectLst/>
      </p:bgPr>
    </p:bg>
    <p:spTree>
      <p:nvGrpSpPr>
        <p:cNvPr id="1" name=""/>
        <p:cNvGrpSpPr/>
        <p:nvPr/>
      </p:nvGrpSpPr>
      <p:grpSpPr/>
      <p:sp>
        <p:nvSpPr>
          <p:cNvPr id="2" name="TextBox 1"/>
          <p:cNvSpPr txBox="1"/>
          <p:nvPr/>
        </p:nvSpPr>
        <p:spPr>
          <a:xfrm>
            <a:off x="548640" y="1828800"/>
            <a:ext cx="11091672" cy="1097280"/>
          </a:xfrm>
          <a:prstGeom prst="rect">
            <a:avLst/>
          </a:prstGeom>
          <a:noFill/>
        </p:spPr>
        <p:txBody>
          <a:bodyPr wrap="square" anchor="t"/>
          <a:lstStyle/>
          <a:p>
            <a:pPr algn="ctr"/>
            <a:r>
              <a:rPr sz="5600" b="1" i="0">
                <a:solidFill>
                  <a:srgbClr val="FFFFFF"/>
                </a:solidFill>
                <a:latin typeface="Calibri"/>
              </a:rPr>
              <a:t>Thank You</a:t>
            </a:r>
          </a:p>
        </p:txBody>
      </p:sp>
      <p:sp>
        <p:nvSpPr>
          <p:cNvPr id="3" name="Rectangle 2"/>
          <p:cNvSpPr/>
          <p:nvPr/>
        </p:nvSpPr>
        <p:spPr>
          <a:xfrm>
            <a:off x="4114800" y="3108960"/>
            <a:ext cx="3959352" cy="36576"/>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474720"/>
            <a:ext cx="11091672" cy="548640"/>
          </a:xfrm>
          <a:prstGeom prst="rect">
            <a:avLst/>
          </a:prstGeom>
          <a:noFill/>
        </p:spPr>
        <p:txBody>
          <a:bodyPr wrap="square" anchor="t"/>
          <a:lstStyle/>
          <a:p>
            <a:pPr algn="ctr"/>
            <a:r>
              <a:rPr sz="2400" b="0" i="0">
                <a:solidFill>
                  <a:srgbClr val="00B4D8"/>
                </a:solidFill>
                <a:latin typeface="Calibri"/>
              </a:rPr>
              <a:t>Questions &amp; Discussion</a:t>
            </a:r>
          </a:p>
        </p:txBody>
      </p:sp>
      <p:sp>
        <p:nvSpPr>
          <p:cNvPr id="5" name="TextBox 4"/>
          <p:cNvSpPr txBox="1"/>
          <p:nvPr/>
        </p:nvSpPr>
        <p:spPr>
          <a:xfrm>
            <a:off x="548640" y="4389120"/>
            <a:ext cx="11091672" cy="731520"/>
          </a:xfrm>
          <a:prstGeom prst="rect">
            <a:avLst/>
          </a:prstGeom>
          <a:noFill/>
        </p:spPr>
        <p:txBody>
          <a:bodyPr wrap="square" anchor="t"/>
          <a:lstStyle/>
          <a:p>
            <a:pPr algn="ctr"/>
            <a:r>
              <a:rPr sz="1500" b="0" i="0">
                <a:solidFill>
                  <a:srgbClr val="AAAAAA"/>
                </a:solidFill>
                <a:latin typeface="Calibri"/>
              </a:rPr>
              <a:t>1,497 segments  •  6 quality signals  •  5 failure categories  •  13 experiments</a:t>
            </a:r>
            <a:br/>
            <a:r>
              <a:rPr sz="1500" b="0" i="0">
                <a:solidFill>
                  <a:srgbClr val="AAAAAA"/>
                </a:solidFill>
                <a:latin typeface="Calibri"/>
              </a:rPr>
              <a:t>8-stage pipeline  •  37 bugs fixed  •  8 research reports</a:t>
            </a:r>
          </a:p>
        </p:txBody>
      </p:sp>
      <p:pic>
        <p:nvPicPr>
          <p:cNvPr id="6" name="Picture 5" descr="WhiteLogo.jpeg"/>
          <p:cNvPicPr>
            <a:picLocks noChangeAspect="1"/>
          </p:cNvPicPr>
          <p:nvPr/>
        </p:nvPicPr>
        <p:blipFill>
          <a:blip r:embed="rId2"/>
          <a:stretch>
            <a:fillRect/>
          </a:stretch>
        </p:blipFill>
        <p:spPr>
          <a:xfrm>
            <a:off x="11323320" y="6428232"/>
            <a:ext cx="269634" cy="320040"/>
          </a:xfrm>
          <a:prstGeom prst="rect">
            <a:avLst/>
          </a:prstGeom>
        </p:spPr>
      </p:pic>
      <p:sp>
        <p:nvSpPr>
          <p:cNvPr id="7" name="TextBox 6"/>
          <p:cNvSpPr txBox="1"/>
          <p:nvPr/>
        </p:nvSpPr>
        <p:spPr>
          <a:xfrm>
            <a:off x="548640" y="6510528"/>
            <a:ext cx="457200" cy="228600"/>
          </a:xfrm>
          <a:prstGeom prst="rect">
            <a:avLst/>
          </a:prstGeom>
          <a:noFill/>
        </p:spPr>
        <p:txBody>
          <a:bodyPr wrap="none">
            <a:spAutoFit/>
          </a:bodyPr>
          <a:lstStyle/>
          <a:p>
            <a:r>
              <a:rPr sz="900" b="0" i="0">
                <a:solidFill>
                  <a:srgbClr val="666666"/>
                </a:solidFill>
                <a:latin typeface="Calibri"/>
              </a:rPr>
              <a:t>49</a:t>
            </a:r>
          </a:p>
        </p:txBody>
      </p:sp>
    </p:spTree>
  </p:cSld>
  <p:clrMapOvr>
    <a:masterClrMapping/>
  </p:clrMapOvr>
  <p:transition spd="med" advClick="1">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