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presentation covers 3 months of research and engineering on a visual speech processing system — reading lips from video, no audio. We'll cover what we found, what we built, and where we go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summary. Three months of work on visual speech processing. Key finding: WER dramatically overstates failure. Our Intelligibility Score shows 40% of output is properly captured, not the 11% WER suggests. Complete production system delivered. Clear roadmap to improve further.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sections. Context sets the stage — what is lip reading, how the system works. Research findings are the core: our novel evaluation framework and what we learned. Engineering covers the production system. Future directions lays out the improvement roadmap.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VIDEO: IEa7qEkMvfQ_3__c5447488_with_hyp.mp4 — 33 words about health insurance, WER 0%. Play the video first, then explain: this is the best case. The system perfectly reads 33 consecutive words from lip movement alone. Now let's see how it works.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50-70% of English sounds are invisible on lips. Multiple sounds produce identical mouth shapes called visemes. Admiral and animal look the same. Mom and bomb look the same. Context is the only disambiguation signal, which is why the LLM component is critical.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components. Visual encoder (AV-HuBERT) is frozen — pre-trained on LRS3 lip-reading data. It outputs 1024-dim features per frame. A linear projection maps to 4096-dim (LLM input space). Then LLaMA-2-7B generates text. Key: only the LoRA adapters and projection layer are trained — 12.6M of 7B parameters. And the LLM is swappable: Llama 3.1 8B has the same hidden dimension, making it a trivial 1-2 hour swap.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Five-step data flow. Raw video at 25fps is cropped to 96x96 mouth region. AV-HuBERT extracts 1024-dim visual features. Linear projection maps to 4096-dim LLM input space. LLaMA-2-7B generates text. The visual encoder is frozen — only the projection layer and LoRA adapters are trained.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paper claims 25.4% Word Error Rate on LRS3 — a curated dataset of 1,000+ hours of TED talks with controlled studio lighting, frontal faces, professional speakers, and high-quality audio alignment. Our dataset: 1,497 segments from diverse YouTube videos — uncontrolled conditions, multiple accents, varied topics. Result: 64.1% WER, 2.5x worse. And more importantly — is WER even the right way to measure this?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1,497 segments from diverse YouTube videos. Not a curated benchmark. Multiple topics, speakers, accents, lighting conditions. Business and Finance has the highest IS (3.08) because it's closest to the TED talk training data. DIY/Home is worst (2.13) due to inherently visual content.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1,497 diverse YouTube segments. 64.1% mean WER — 2.5x worse than the paper's 25.4%. Only 11.4% usable by WER standards. And 20.6% are hallucinations — fluent text that's completely fabricated. This is the most dangerous failure mode. But WER is misleading — it treats all errors equally.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 formula: substitutions plus deletions plus insertions divided by reference word count. Simple and standard, but treats all errors equally. Admiral-to-animal gets the same penalty as the-to-a. No credit for meaning preservation or phonetic similarity. Can exceed 100% when the model generates extra words (insertions).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low WER on the left, high WER on the right — but the real difference is meaning. Left: minor grammatical change, meaning fully preserved at WER 29%. Right: 'probiotics' becomes 'permafrost' — phonetically similar but completely wrong product. Structure intact, key terms destroyed. This motivated our Intelligibility Score.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slide: WER is blind to meaning. We created IS — a composite 0-5 metric combining 6 quality signals. IS &gt;= 3.0 means the viewer gets the right message. Designed at development time, runs as deterministic Python at evaluation time.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transition: we now present the research findings — our novel Intelligibility Score metric, root cause analysis, failure mode taxonomy, and decode tuning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introduction. WER can't distinguish meaning preservation from destruction. IS is a composite 0-5 metric combining 6 signals that together capture whether a viewer would understand the output. Designed at development time, runs as pure deterministic Python at evaluation time. IS &gt;= 3.0 means properly captured.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signals with weight rationale. Semantic (25%) gets the highest weight because meaning preservation is the ultimate goal — it drives 28.5% of IS variance. The other 5 signals each get 15%. Phonetic, WER, WWER, and NEA form a 'word accuracy' cluster (60% total weight) that measures whether the encoder decoded the right words. Length ratio is a safety check for hallucination and truncation. The 3 independent dimensions: word accuracy (~60%), meaning preservation (~28%), output sanity (~9%).</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Weight rationale. The 6 IS signals collapse into 3 independent dimensions: word accuracy (60%, 4 signals at 15% each), meaning preservation (28%, semantic at 25%), and output sanity (9%, length at 15%). Semantic gets double weight because meaning is the ultimate goal. The 4 word-accuracy signals overlap heavily (r&gt;0.79), so equal 15% weights avoid over-counting. Validated: r=0.93 with expert heuristic, kappa=0.77.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PCA analysis reveals three independent dimensions. Word Accuracy (60% of variance) combines WER, WWER, and Phonetic — they all measure the same thing: visual encoder quality. Meaning Preservation (29%) is the semantic similarity tiebreaker. Output Sanity (9%) is mostly length ratio. Four of six signals are redundant — but deliberate: cross-validation makes the metric robust.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IS calculation examples. Left: good segment (IS 4.2) with high scores across all signals. Right: hallucination (IS 0.9) where only length ratio is non-zero — the output is a completely different topic. The formula is IS = (sum of weighted scores) x 5, mapping to 0-5 scale.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Radar chart comparing mean component values for IS &gt;= 3.0 (green) vs IS &lt; 3.0 (red). Captured segments are strong across all 6 signals. Failed segments collapse on meaning and entity preservation while maintaining only partial length ratio.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Intelligibility Score combines 6 signals into a 0-5 composite. Key insight: 39.9% of segments are properly captured (IS &gt;= 3.0) — 3.5x more than WER's 11.4% 'usable.' WER dramatically overstates failure. Methodology: LLM-distilled evaluation — the rubric, selected signals and weights, defined tier boundaries. Validated across 16 decode configs: LLM heuristic judge r=0.925 with IS, 88.6% agreement.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root causes explain most failures: domain mismatch (model trained on TED, tested on YouTube), short segments lacking context, and hallucination where the LLM generates fluent but fabricated text.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mismatch is a major factor. Business and Finance has IS 3.08 (57% captured) because it's closest to the TED talk training data. DIY/Home is worst at IS 2.13 (30% captured) — inherently visual content that doesn't translate to speech patterns. 19% of segments (~284) show domain vocabulary confusion where a topic label would help.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PLOT EXPLANATION (NEA Recall vs WWER Per Segment):</a:t>
            </a:r>
          </a:p>
          <a:p/>
          <a:p>
            <a:r>
              <a:t>This scatter plot shows every segment as a dot, with WWER (Weighted Word Error Rate) on the x-axis and Named Entity Recall on the y-axis. Each dot color represents a different decode configuration (A: Baseline, C: LenPen=1, E: Sampling t=0.5, G: Greedy, J: LP1+t=0.5).</a:t>
            </a:r>
          </a:p>
          <a:p/>
          <a:p>
            <a:r>
              <a:t>KEY PATTERNS TO NOTE:</a:t>
            </a:r>
          </a:p>
          <a:p>
            <a:r>
              <a:t>1. Top-left cluster (low WWER, high NEA): These are the success cases — segments where both word accuracy and entity preservation are high. Most captured segments live here.</a:t>
            </a:r>
          </a:p>
          <a:p/>
          <a:p>
            <a:r>
              <a:t>2. Bottom row at NEA=0: A large cluster of segments with ZERO entity recall across ALL WWER values. This means many segments lose ALL named entities regardless of how many other words they get right. This is why NEA is the swing factor — entity destruction is binary.</a:t>
            </a:r>
          </a:p>
          <a:p/>
          <a:p>
            <a:r>
              <a:t>3. Right side (WWER &gt; 100%): These are hallucinated segments where the model generates more wrong words than the reference contains. Even some of these have high NEA (top-right dots) — meaning the model hallucinated but still preserved some entity names.</a:t>
            </a:r>
          </a:p>
          <a:p/>
          <a:p>
            <a:r>
              <a:t>4. All configurations cluster together: different decode parameters don't change the fundamental NEA vs WWER relationship. The visual encoder determines entity preservation, not the decoder.</a:t>
            </a:r>
          </a:p>
          <a:p/>
          <a:p>
            <a:r>
              <a:t>TAKEAWAY: Named entities are binary — either preserved or destroyed. The dense cluster at NEA=0 across all WWER levels shows that entity loss is catastrophic and independent of general word accuracy. This is why NEA accounts for 17.3% of IS variance despite only 15% weight — it's the single most discriminating signal between captured and failed.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Five-category failure taxonomy grounded in ASR error research (Fosler-Lussier 2004) and LLM hallucination analysis (ACL 2025). Key insight: Wrong Topic is the LARGEST category at 31.6% — it merges the old Topic Drift and Phonetic Wrong Topic categories because the fix is the same (stronger LLM, more training data). Signal Loss and Accumulated Errors are the bookends: one produces nothing, the other produces something but death-by-a-thousand-cuts erodes meaning. Each segment gets exactly one label, checked in priority order 1 through 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real examples for the three most confusing categories. Hallucination vs Wrong Topic: hallucination generates MORE words than the reference (WER &gt;= 100%), while Wrong Topic substitutes at similar length. Wrong Topic vs Right Topic Wrong Details: semantic similarity threshold of 0.2 separates them — below 0.2 means completely different subject, above 0.2 means topic preserved but details lost. Right Topic Wrong Details is the 'frustrating near-miss' — you can tell what the speaker was ABOUT but not what they SAID.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900 failed segments classified into 5 failure categories. Wrong Topic is the largest (31.6%), combining topic drift and phonetic confusion. Hallucination (12.3%) is the most dangerous: fluent, confident, completely fabricated. Right Topic Wrong Details (22.7%) loses names and numbers. This taxonomy maps directly to our roadmap.</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Impact and fixes table for the 5-category taxonomy. Hallucination is the most dangerous because it sounds convincing — a user cannot tell it is wrong. Wrong Topic is the LARGEST at 31.6% and the most amenable to improvement through LLM upgrade. Signal Loss is the least dangerous because it is obvious (empty output). The key strategic insight: 54.3% of failures (Wrong Topic + Right Topic Wrong Details) trace to the LLM backbone being too weak for out-of-domain content. A stronger LLM is the single highest-leverage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Condensed tuning results. 13 experiments across 4 decode parameters showed minimal improvement. Best config (J) eliminates empty outputs but increases hallucinations by 13%. Net IS gain only +0.08. Per-segment rankings are identical across configs (r &gt; 0.92), proving the bottleneck is the visual encoder, not decode parameters.</a:t>
            </a:r>
          </a:p>
          <a:p/>
          <a:p>
            <a:r>
              <a:t>The original slide included a length penalty sensitivity chart showing the empty-vs-hallucination trade-off: lenpen=-0.5 causes 44.9% empty outputs; baseline (lenpen=0) has 4.7% empties; lenpen=1.0 (Config J) eliminates all empties but hallucinations rise from 20.5% to 23.2%; lenpen=2.0 pushes hallucinations to 52.9%. This demonstrates the fundamental trade-off: length penalty controls whether the model stays silent (empty) or fabricates (hallucination). Config J chose the sweet spot — zero empties at the cost of +41 hallucinations.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Signal correlation analysis. Phonetic similarity is the strongest single predictor at r=0.943, despite only 15% weight. This makes sense: it's the most direct measure of visual encoder quality. Semantic similarity (25% weight) captures 28.5% of IS variance. Length ratio is weakest at 9.1%. The expert heuristic (15-rule decision tree) achieves r=0.934.</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key metric disagreement patterns. WWER&lt;&lt;WER means function words are wrong but content preserved. High NEA + high WER means names survived. High semantic + high WER means paraphrasing. High phonetic + low semantic is the dangerous case — sounds right but wrong meaning.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more metric disagreement patterns. Length collapse = signal loss. Length explosion + low semantic = hallucination. Low NEA + moderate semantic = entity destruction. All-moderate = accumulated errors.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evaluation systems. IS is strict: 39.9% pass at IS &gt;= 3.0. The expert heuristic is generous: identifies 165 additional segments, raising effective capture to 50.9%. They agree 88.6% of the time (r=0.934, kappa=0.773). The heuristic catches meaning preservation that strict metrics miss.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LLM-as-a-Judge gold standard. Claude Opus evaluated all 1,497 pairs blind. Y=23.0% (345), P=41.8% (626), N=35.1% (526). Y+P=64.9% — the LLM says nearly 2 in 3 segments have useful output. Intra-rater reliability 86.7%. Correlation with IS: r=0.85 (Pearson 0.8495).</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Context-aware re-evaluation. When the judge knows the topic, Y drops from 23% to 15% (-8pp). Y+P drops from 64.9% to 62.1%. Context is STRICTER, not lenient. 230 downgrades vs 68 upgrades. Dominant transition: Y to P (138 cases) — the judge realizes domain vocabulary was wrong. Only 1 N-to-Y rescue across all 1,497 pairs.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LLM is a context engine. The visual encoder sees mouth shapes but can't distinguish visemes. The LLM resolves ambiguity using language context. A stronger LLM means better disambiguation. Llama 3.1 8B has quality equivalent to LLaMA-2 70B with the same hidden dimension (4096), making it a trivial 1-2 hour swap.</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 Salvage Analysis: 165 of 900 metric-failed segments (IS &lt; 3.0) are recoverable — meaning a domain-aware viewer would understand them. This raises effective capture from 39.9% to 50.9% (+11pp). The recovery is identified by a deterministic 15-rule decision tree that correlates at r=0.934 with IS.</a:t>
            </a:r>
          </a:p>
          <a:p/>
          <a:p>
            <a:r>
              <a:t>Four levels of measurement: WER says 11.4% usable. IS says 39.9%. LLM salvage says 50.9%. And the LLM Judge gold standard confirms: Y+P = 64.9% — 5.7x WER's assessment.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salvage categories explained in plain English. Phonetic Bridge is the largest (93 segments). Categories overlap. Each represents a different mechanism by which meaning survives despite high WER.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real salvage examples from different recovery categories. Phonetic Bridge (IS 1.29): lip-reading confusions that are linguistically plausible, not hallucinations. Semantic Preservation (IS 2.18): WER 75% but core meaning intact. Structure Match (IS 2.55): perfect grammar, only a number changed. Each shows WHY the heuristic says recoverable.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more salvage examples emphasising domain-context recovery. Religious Context (IS 2.75): 'fear of allah' becomes 'fear of the loss' -- a sermon viewer recognizes the spiritual theme despite name garbling. Geopolitical Context (IS 2.86): country names swap but the argument (foreign places, both sides benefit) is intact. Cooking Context (IS 2.07): 'jalapeno' becomes 'banana' -- absurd in text, but a viewer SEES the pepper on screen and corrects automatically. This is the strongest argument for multimodal context: the visual channel fills gaps that audio-only metrics cannot measure.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salvage detection works: a 15-rule deterministic decision tree that checks 6 linguistic signals and outputs a recovery probability. Validated at r=0.934 with IS, 88.6% agreement, stable across 16 configs.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good looks like: 276 segments (18.4%) achieve IS 4.0-5.0. Perfect word-for-word transcription over 20-40 consecutive words. The architecture works — the challenge is getting it to work consistently across all domains.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examples spanning the quality range. Row 1: perfect lip-reading. Row 2: WER says 29% error but the meaning is fully preserved — IS 4.3. Row 3: near-miss — structure intact but key terms phonetically garbled (probiotics→permafrost). Row 4: complete hallucination — 'carry strap' becomes 'holocaust denier.' This is why WER alone is insufficient.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videos matching the curated examples on Slide 14. Row 1: Perfect transcription, near-miss (probiotics→permafrost), full hallucination, Config J tuning fix (empty→output). Row 2: Topic drift (#1 failure), salvage hidden gem, entity preserved despite wrong numbers, entity completely destroyed. Click each to play.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demos side by side. Left: 'sheetaro' becomes 'just hara' (IS 3.8 — gist right but names garbled, OK quality). Center: 'probiotics' becomes 'permafrost' (near-miss, IS 2.7 — sentence structure preserved but key terms phonetically garbled). Right: 'carry strap' becomes 'holocaust denier' (hallucination, IS 0.1). Click each video to play.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transition: we now move from research analysis to the engineering work that turned three research codebases into a production-ready system.</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started with three independent research codebases: auto_avsr for preprocessing, av_hubert for feature extraction, and VSP-LLM for inference. No documentation, no tests, no integration between them. Research-grade code with hardcoded paths and no error handling. Required 37 bug fixes to reach production quality.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8-stage automated pipeline built from 3 research repos. Row 1 (preprocessing): Normalize, ASR, Mouth Crop, LRS3 Convert. Row 2 (processing): Manifests, K-means, LLM Decode, Outputs. Click to reveal each row.</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engineering journey: 2-3 weeks of pipeline build, 4-5 weeks of migration to Docker (including 1-2 weeks for Web UI migration), and ongoing bug fixing. 37+ bugs including NVENC silent corruption. Refactored from 823-line monolith to 11 reusable modules.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pipeline was a single 823-line bash script. Refactored into a 393-line orchestrator calling 11 reusable modules. 37 automated tests validate every module. Environment-aware: automatically detects EC2 development vs Docker container.</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runs as a standalone Docker container — no cloud, no internet required. Web UI for drag-and-drop video upload. INSTALL.sh handles deployment with automatic backup and 13-point verification. Currently deployed and running at the client site.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web UI provides a simple drag-and-drop interface for non-technical users. Under the hood, 8 pipeline stages run automatically. Each stage is a modular component that can be tested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intelligent features. Transcription reuse: manual corrections persist across runs. Golden k-means: consistent clustering baseline. Smart segmentation: configurable overlap. Intelligibility Score: the IS is a 0-5 composite score combining 6 signals — semantic similarity (25%), phonetic similarity (15%), inverse WER (15%), inverse WWER (15%), Named Entity Accuracy F1 (15%), and length ratio (15%). The entire framework was designed at development time: the rubric, signal selection and weights, tier boundaries (Excellent/Good/Fair/Poor/Failed), 10 failure modes, and 7 success patterns. These were then distilled into deterministic formulas — no LLM is called per sample at runtime. Correlation analysis shows the 6 signals collapse into 3 independent dimensions: word accuracy (WER/WWER/Phonetic, r&gt;0.79, ~60% of IS), meaning preservation (Semantic, 28.5%), and output sanity (Length, 9.1%). Cross-config validation across 16 decode configs: r=0.925, 88.6% agreement, Cohen's kappa 0.773.</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environments: EC2 for development and research, Docker container for production deployment. 26 tracked sync items ensure changes are replicated correctly. Path translations, different Python environments, different hardware. INSTALL.sh handles deployment with automatic backup and 13-point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transition: we now move from what we found to what we recommend doing about it. Five key insights lead to a five-phase improvement roadmap.</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key research insights. The visual encoder is the bottleneck. WER dramatically overstates failure. Domain mismatch is the primary quality driver. Data scarcity limits fine-tuning. And gains are multiplicative — stronger LLM times more data times smart prompts.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turning point. WER says 11.4% usable. Our Intelligibility Score says 39.9% properly captured — 3.5x more. LLM salvage analysis identified 165 additional recoverable segments, raising effective capture to 50.9%. Validated across 16 configs.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phases, each targeting different bottlenecks. Phase 1 is immediate: confidence scoring to surface the 40% that's already good (2-4 hours). Phase 2: N-best aggregation (ROVER/MBR). Phase 3: swap LLM to Llama 3.1 8B plus smart prompts. Phase 4: the biggest gain — scale training data. Phase 5: Error Correction (GER) post-processing. Key: ICLR 2024 shows these gains are multiplicative.</a:t>
            </a:r>
          </a:p>
          <a:p/>
          <a:p>
            <a:r>
              <a:t>HOW THIS TRANSLATES TO IS:</a:t>
            </a:r>
          </a:p>
          <a:p>
            <a:r>
              <a:t>Current: WER 64.1% -&gt; IS 2.52 (39.9% captured).</a:t>
            </a:r>
          </a:p>
          <a:p>
            <a:r>
              <a:t>Each ~10pp WER reduction typically improves IS by ~0.3-0.5 points and captured rate by ~8-12pp.</a:t>
            </a:r>
          </a:p>
          <a:p>
            <a:r>
              <a:t>Phase 3 target (42% WER) would project to roughly IS 3.5-4.0 and 55-65% captured rate.</a:t>
            </a:r>
          </a:p>
          <a:p>
            <a:r>
              <a:t>The relationship is non-linear — improvements accelerate as more segments cross the IS &gt;= 3.0 threshold.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improvement trajectory paralleling the WER reduction roadmap. Current IS 2.52 (39.9% captured) → Phase 3 target IS 3.80 (65% captured). The IS ≥ 3.0 threshold marks 'captured' segments. Key insight: relationship is non-linear — improvements accelerate as more segments cross the IS ≥ 3.0 threshold.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of the roadmap: confidence scoring. Assign a probability to each decoded segment indicating how likely it is to be correctly transcribed (IS &gt;= 3.0). Uses decode-time signals like beam score, token entropy, N-best agreement, and length ratio. Can be trained on our existing 1,497 labeled segments. Implementation: 2-4 hours. Impact: users see only trusted output, perceived error rate drops from 60% to ~20%.</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is the quick win. Beam search already computes probability scores for every hypothesis — we just don't surface them. Confidence scoring means attaching these scores to outputs so users can trust high-confidence results and flag low-confidence for review. No extra model inference needed — the scores are a free byproduct of decode. 2-4 hours of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2 exploits beam search output. Currently we keep only the top hypothesis and throw away 19 alternatives. ROVER aligns all 20 and votes word-by-word. MBR picks the hypothesis closest to the consensus. Both are established ASR techniques with consistent 5-15% gains. Targets the Accumulated Errors category (24.4% of failures).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scaling projections based on ICLR 2024 multiplicative scaling law. Current 1,273 segments is far below minimum. 20K segments with Llama 3.1 8B projects to IS 3.5-4.0 (55-65% captured). AVSpeech has 290K videos available for training data curation.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Fine-tuning experiments with LoRA on 1,273 segments. Exp A (rank 16): 62.94% val accuracy, severe overfitting. Exp B (rank 64): 3.1pp worse. IS scores actually decreased: baseline 2.49, Exp A 2.31, Exp B 2.02. Empty outputs increased dramatically. The bottleneck is data quantity (need 20K+), not model capacity or parameter tuning.</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columns of future capability. Left: LLM swap to Llama 3.1 8B is trivial — same hidden dimension, 1-2 hours. Center: 7 prompt strategies are a force multiplier — more effective on stronger models. GER uses N-best hypotheses + correction LLM for +8-15pp with no retraining. Right: Arabic support exists, VALLR achieves 18.7% WER with a 3B model.</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Arabic replication roadmap with practical details. We have AVSpeech Arabic videos for training data and an AWS GPU instance for fine-tuning. Steps: fine-tune AV-HuBERT on Arabic (1-2 weeks), recluster K-means (2-3 days), swap to Arabic LLM (1-2 days), build eval dataset with native speakers (1-2 weeks), end-to-end testing (3-5 days). Total 3-5 weeks. Pipeline code is language-agnostic.</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takeaways. One: rigorous assessment with novel IS metric. Two: production system delivered. Three: data is the bottleneck (fine-tuning proved it). Four: clear roadmap from IS 2.52 to 3.5-4.0, each phase targeting a different failure category.</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slide. Thank the audience and open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Homophenes: visually identical mouth shapes for different sounds. 50-70% of sounds invisible on lips. Admiral/animal, mom/bomb — context is the only way to disambiguate. This is why the LLM matters.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Config H (lenpen=2.0) produces catastrophic hallucinations. Mean WER 539.6%. The model generates entire paragraphs of fluent but completely fabricated text. This dramatically illustrates the LLM prior overwhelming the visual signal.</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components collapse into 3 dimensions: word accuracy (60%), meaning (28%), output sanity (9%). Cross-config: Semantic, Phonetic, NEA are stable; WER and Length Ratio are volatile. Heuristic: r=0.925, agreement 88.6%, kappa 0.773.</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165 of 900 metric-failed segments are recoverable by the LLM heuristic. Effective capture rises from 39.9% to 50.9%. 6 recovery categories (overlap, not disjoint). 58% have moderate WER (50-70%).</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Curated examples showing each of the 6 recovery categories. All have IS &lt; 3.0 but the heuristic identifies recoverable meaning. Categories overlap: a segment can exhibit multiple recovery signals.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failure categories with real examples from the 1,497-segment baseline. Wrong Topic is the largest (31.6%). Hallucination is the most dangerous — fluent but completely fabricated text.</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map of all 34 unique example segments used across the presentation. 12 are embedded as clickable videos on Slides 14b and A11b. All 1,497 burned videos are available at english_full_results/client_outputs/burned_videos/. Segment IDs map directly to filenames: {id}_with_hyp.mp4.</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 Judge cross-tabulated with IS tiers. Strong agreement at the extremes: 57% Y for Tier 5, 81% N for Tier 1. The interesting middle: Tiers 2-3 get majority P verdicts — the LLM sees partial meaning preservation that strict metrics miss. Pearson r=0.8495.</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transition matrix and per-topic deltas for context-aware evaluation. 230 downgrades vs 68 upgrades. Dominant: Y to P (138). Context is uniformly stricter across all 7 topics, with DIY/Home showing the largest delta. Cross-condition agreement: 80.0%.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2.jpg"/><Relationship Id="rId5" Type="http://schemas.openxmlformats.org/officeDocument/2006/relationships/image" Target="../media/image1.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8.jpg"/><Relationship Id="rId4" Type="http://schemas.openxmlformats.org/officeDocument/2006/relationships/image" Target="../media/image9.jpg"/><Relationship Id="rId5" Type="http://schemas.openxmlformats.org/officeDocument/2006/relationships/image" Target="../media/image10.jpg"/><Relationship Id="rId6" Type="http://schemas.openxmlformats.org/officeDocument/2006/relationships/image" Target="../media/image11.jpg"/><Relationship Id="rId7" Type="http://schemas.openxmlformats.org/officeDocument/2006/relationships/image" Target="../media/image12.jpg"/><Relationship Id="rId8" Type="http://schemas.openxmlformats.org/officeDocument/2006/relationships/image" Target="../media/image13.jpg"/><Relationship Id="rId9" Type="http://schemas.openxmlformats.org/officeDocument/2006/relationships/image" Target="../media/image14.jpg"/><Relationship Id="rId10" Type="http://schemas.openxmlformats.org/officeDocument/2006/relationships/image" Target="../media/image1.png"/><Relationship Id="rId11"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8.jpg"/><Relationship Id="rId4" Type="http://schemas.openxmlformats.org/officeDocument/2006/relationships/image" Target="../media/image9.jpg"/><Relationship Id="rId5" Type="http://schemas.openxmlformats.org/officeDocument/2006/relationships/image" Target="../media/image1.png"/><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png"/><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png"/><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pic>
        <p:nvPicPr>
          <p:cNvPr id="2" name="Picture 1" descr="BlackLogo300x300-W-BG.png"/>
          <p:cNvPicPr>
            <a:picLocks noChangeAspect="1"/>
          </p:cNvPicPr>
          <p:nvPr/>
        </p:nvPicPr>
        <p:blipFill>
          <a:blip r:embed="rId2"/>
          <a:stretch>
            <a:fillRect/>
          </a:stretch>
        </p:blipFill>
        <p:spPr>
          <a:xfrm>
            <a:off x="10820400" y="274320"/>
            <a:ext cx="697157" cy="822960"/>
          </a:xfrm>
          <a:prstGeom prst="rect">
            <a:avLst/>
          </a:prstGeom>
        </p:spPr>
      </p:pic>
      <p:sp>
        <p:nvSpPr>
          <p:cNvPr id="3" name="TextBox 2"/>
          <p:cNvSpPr txBox="1"/>
          <p:nvPr/>
        </p:nvSpPr>
        <p:spPr>
          <a:xfrm>
            <a:off x="548640" y="1828800"/>
            <a:ext cx="11091672" cy="914400"/>
          </a:xfrm>
          <a:prstGeom prst="rect">
            <a:avLst/>
          </a:prstGeom>
          <a:noFill/>
        </p:spPr>
        <p:txBody>
          <a:bodyPr wrap="square" anchor="t"/>
          <a:lstStyle/>
          <a:p>
            <a:pPr algn="l"/>
            <a:r>
              <a:rPr sz="4800" b="1" i="0">
                <a:solidFill>
                  <a:srgbClr val="FFFFFF"/>
                </a:solidFill>
                <a:latin typeface="Calibri"/>
              </a:rPr>
              <a:t>Argos VSP</a:t>
            </a:r>
          </a:p>
        </p:txBody>
      </p:sp>
      <p:sp>
        <p:nvSpPr>
          <p:cNvPr id="4" name="TextBox 3"/>
          <p:cNvSpPr txBox="1"/>
          <p:nvPr/>
        </p:nvSpPr>
        <p:spPr>
          <a:xfrm>
            <a:off x="548640" y="2743200"/>
            <a:ext cx="11091672" cy="640080"/>
          </a:xfrm>
          <a:prstGeom prst="rect">
            <a:avLst/>
          </a:prstGeom>
          <a:noFill/>
        </p:spPr>
        <p:txBody>
          <a:bodyPr wrap="square" anchor="t"/>
          <a:lstStyle/>
          <a:p>
            <a:pPr algn="l"/>
            <a:r>
              <a:rPr sz="2800" b="0" i="0">
                <a:solidFill>
                  <a:srgbClr val="00B4D8"/>
                </a:solidFill>
                <a:latin typeface="Calibri"/>
              </a:rPr>
              <a:t>Research Findings and Production Roadmap</a:t>
            </a:r>
          </a:p>
        </p:txBody>
      </p:sp>
      <p:sp>
        <p:nvSpPr>
          <p:cNvPr id="5" name="TextBox 4"/>
          <p:cNvSpPr txBox="1"/>
          <p:nvPr/>
        </p:nvSpPr>
        <p:spPr>
          <a:xfrm>
            <a:off x="548640" y="3474720"/>
            <a:ext cx="11091672" cy="457200"/>
          </a:xfrm>
          <a:prstGeom prst="rect">
            <a:avLst/>
          </a:prstGeom>
          <a:noFill/>
        </p:spPr>
        <p:txBody>
          <a:bodyPr wrap="square" anchor="t"/>
          <a:lstStyle/>
          <a:p>
            <a:pPr algn="l"/>
            <a:r>
              <a:rPr sz="1800" b="0" i="1">
                <a:solidFill>
                  <a:srgbClr val="AAAAAA"/>
                </a:solidFill>
                <a:latin typeface="Calibri"/>
              </a:rPr>
              <a:t>Visual Speech Processing — Project Review</a:t>
            </a:r>
          </a:p>
        </p:txBody>
      </p:sp>
      <p:sp>
        <p:nvSpPr>
          <p:cNvPr id="6" name="Rectangle 5"/>
          <p:cNvSpPr/>
          <p:nvPr/>
        </p:nvSpPr>
        <p:spPr>
          <a:xfrm>
            <a:off x="548640" y="4114800"/>
            <a:ext cx="274320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754880"/>
            <a:ext cx="3657600" cy="365760"/>
          </a:xfrm>
          <a:prstGeom prst="rect">
            <a:avLst/>
          </a:prstGeom>
          <a:noFill/>
        </p:spPr>
        <p:txBody>
          <a:bodyPr wrap="square" anchor="t"/>
          <a:lstStyle/>
          <a:p>
            <a:pPr algn="l"/>
            <a:r>
              <a:rPr sz="1600" b="0" i="0">
                <a:solidFill>
                  <a:srgbClr val="AAAAAA"/>
                </a:solidFill>
                <a:latin typeface="Calibri"/>
              </a:rPr>
              <a:t>February 2026</a:t>
            </a:r>
          </a:p>
        </p:txBody>
      </p:sp>
      <p:sp>
        <p:nvSpPr>
          <p:cNvPr id="8" name="TextBox 7"/>
          <p:cNvSpPr txBox="1"/>
          <p:nvPr/>
        </p:nvSpPr>
        <p:spPr>
          <a:xfrm>
            <a:off x="548640" y="5120640"/>
            <a:ext cx="4572000" cy="365760"/>
          </a:xfrm>
          <a:prstGeom prst="rect">
            <a:avLst/>
          </a:prstGeom>
          <a:noFill/>
        </p:spPr>
        <p:txBody>
          <a:bodyPr wrap="square" anchor="t"/>
          <a:lstStyle/>
          <a:p>
            <a:pPr algn="l"/>
            <a:r>
              <a:rPr sz="1400" b="0" i="0">
                <a:solidFill>
                  <a:srgbClr val="666666"/>
                </a:solidFill>
                <a:latin typeface="Calibri"/>
              </a:rPr>
              <a:t>Yoad Oxman  •  The Orchard</a:t>
            </a:r>
          </a:p>
        </p:txBody>
      </p:sp>
      <p:sp>
        <p:nvSpPr>
          <p:cNvPr id="9" name="TextBox 8"/>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childTnLst>
                    </p:cTn>
                  </p:par>
                  <p:par>
                    <p:cTn id="7" fill="hold">
                      <p:stCondLst>
                        <p:cond delay="0"/>
                      </p:stCondLst>
                      <p:childTnLst>
                        <p:par>
                          <p:cTn id="8" fill="hold">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fill="hold">
                            <p:stCondLst>
                              <p:cond delay="12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Executive Summary</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65760"/>
          </a:xfrm>
          <a:prstGeom prst="rect">
            <a:avLst/>
          </a:prstGeom>
          <a:noFill/>
        </p:spPr>
        <p:txBody>
          <a:bodyPr wrap="square" anchor="t"/>
          <a:lstStyle/>
          <a:p>
            <a:pPr algn="l"/>
            <a:r>
              <a:rPr sz="1600" b="0" i="1">
                <a:solidFill>
                  <a:srgbClr val="AAAAAA"/>
                </a:solidFill>
                <a:latin typeface="Calibri"/>
              </a:rPr>
              <a:t>Three months of research and engineering on visual speech processing:</a:t>
            </a:r>
          </a:p>
        </p:txBody>
      </p:sp>
      <p:sp>
        <p:nvSpPr>
          <p:cNvPr id="5" name="TextBox 4"/>
          <p:cNvSpPr txBox="1"/>
          <p:nvPr/>
        </p:nvSpPr>
        <p:spPr>
          <a:xfrm>
            <a:off x="548640" y="1874520"/>
            <a:ext cx="11091672" cy="3657600"/>
          </a:xfrm>
          <a:prstGeom prst="rect">
            <a:avLst/>
          </a:prstGeom>
          <a:noFill/>
        </p:spPr>
        <p:txBody>
          <a:bodyPr wrap="square">
            <a:spAutoFit/>
          </a:bodyPr>
          <a:lstStyle/>
          <a:p>
            <a:pPr algn="l">
              <a:spcAft>
                <a:spcPts val="1400"/>
              </a:spcAft>
            </a:pPr>
            <a:r>
              <a:rPr sz="1700" b="1">
                <a:solidFill>
                  <a:srgbClr val="00B4D8"/>
                </a:solidFill>
                <a:latin typeface="Calibri"/>
              </a:rPr>
              <a:t>• </a:t>
            </a:r>
            <a:r>
              <a:rPr sz="1700" b="1">
                <a:solidFill>
                  <a:srgbClr val="FFFFFF"/>
                </a:solidFill>
                <a:latin typeface="Calibri"/>
              </a:rPr>
              <a:t>Evaluated a lip-reading AI on 1,497 real-world YouTube segments</a:t>
            </a:r>
          </a:p>
          <a:p>
            <a:pPr algn="l">
              <a:spcAft>
                <a:spcPts val="1400"/>
              </a:spcAft>
            </a:pPr>
            <a:r>
              <a:rPr sz="1700" b="1">
                <a:solidFill>
                  <a:srgbClr val="00B4D8"/>
                </a:solidFill>
                <a:latin typeface="Calibri"/>
              </a:rPr>
              <a:t>• </a:t>
            </a:r>
            <a:r>
              <a:rPr sz="1700" b="0">
                <a:solidFill>
                  <a:srgbClr val="FFFFFF"/>
                </a:solidFill>
                <a:latin typeface="Calibri"/>
              </a:rPr>
              <a:t>Standard metric (WER) reports 64.1% error — 2.5× worse than benchmark</a:t>
            </a:r>
          </a:p>
          <a:p>
            <a:pPr algn="l">
              <a:spcAft>
                <a:spcPts val="1400"/>
              </a:spcAft>
            </a:pPr>
            <a:r>
              <a:rPr sz="1700" b="1">
                <a:solidFill>
                  <a:srgbClr val="00B4D8"/>
                </a:solidFill>
                <a:latin typeface="Calibri"/>
              </a:rPr>
              <a:t>• </a:t>
            </a:r>
            <a:r>
              <a:rPr sz="1700" b="1">
                <a:solidFill>
                  <a:srgbClr val="00B4D8"/>
                </a:solidFill>
                <a:latin typeface="Calibri"/>
              </a:rPr>
              <a:t>Our new Intelligibility Score (IS) reveals 40% is actually useful — 3.5× more than WER admits</a:t>
            </a:r>
          </a:p>
          <a:p>
            <a:pPr algn="l">
              <a:spcAft>
                <a:spcPts val="1400"/>
              </a:spcAft>
            </a:pPr>
            <a:r>
              <a:rPr sz="1700" b="1">
                <a:solidFill>
                  <a:srgbClr val="00B4D8"/>
                </a:solidFill>
                <a:latin typeface="Calibri"/>
              </a:rPr>
              <a:t>• </a:t>
            </a:r>
            <a:r>
              <a:rPr sz="1700" b="0">
                <a:solidFill>
                  <a:srgbClr val="FFFFFF"/>
                </a:solidFill>
                <a:latin typeface="Calibri"/>
              </a:rPr>
              <a:t>Built a complete production system: 8-stage pipeline, standalone container</a:t>
            </a:r>
          </a:p>
          <a:p>
            <a:pPr algn="l">
              <a:spcAft>
                <a:spcPts val="1400"/>
              </a:spcAft>
            </a:pPr>
            <a:r>
              <a:rPr sz="1700" b="1">
                <a:solidFill>
                  <a:srgbClr val="00B4D8"/>
                </a:solidFill>
                <a:latin typeface="Calibri"/>
              </a:rPr>
              <a:t>• </a:t>
            </a:r>
            <a:r>
              <a:rPr sz="1700" b="0">
                <a:solidFill>
                  <a:srgbClr val="00B4D8"/>
                </a:solidFill>
                <a:latin typeface="Calibri"/>
              </a:rPr>
              <a:t>Clear roadmap to IS 3.5–4.0 (from 2.52) through data scaling + LLM upgrade</a:t>
            </a:r>
          </a:p>
          <a:p>
            <a:pPr algn="l">
              <a:spcAft>
                <a:spcPts val="1400"/>
              </a:spcAft>
            </a:pPr>
            <a:r>
              <a:rPr sz="1700" b="1">
                <a:solidFill>
                  <a:srgbClr val="00B4D8"/>
                </a:solidFill>
                <a:latin typeface="Calibri"/>
              </a:rPr>
              <a:t>• </a:t>
            </a:r>
            <a:r>
              <a:rPr sz="1700" b="0">
                <a:solidFill>
                  <a:srgbClr val="FFFFFF"/>
                </a:solidFill>
                <a:latin typeface="Calibri"/>
              </a:rPr>
              <a:t>Produced 8 comprehensive research reports</a:t>
            </a:r>
          </a:p>
        </p:txBody>
      </p:sp>
      <p:pic>
        <p:nvPicPr>
          <p:cNvPr id="6" name="Picture 5"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7" name="TextBox 6"/>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00"/>
                                  <p:tgtEl>
                                    <p:spTgt spid="5"/>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Presentation Overview</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17320"/>
            <a:ext cx="11091672" cy="960120"/>
          </a:xfrm>
          <a:prstGeom prst="roundRect">
            <a:avLst/>
          </a:prstGeom>
          <a:solidFill>
            <a:srgbClr val="152A40"/>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08760"/>
            <a:ext cx="10543032" cy="365760"/>
          </a:xfrm>
          <a:prstGeom prst="rect">
            <a:avLst/>
          </a:prstGeom>
          <a:noFill/>
        </p:spPr>
        <p:txBody>
          <a:bodyPr wrap="square" anchor="t"/>
          <a:lstStyle/>
          <a:p>
            <a:pPr algn="l"/>
            <a:r>
              <a:rPr sz="2200" b="1" i="0">
                <a:solidFill>
                  <a:srgbClr val="FFFFFF"/>
                </a:solidFill>
                <a:latin typeface="Calibri"/>
              </a:rPr>
              <a:t>1. Context</a:t>
            </a:r>
          </a:p>
        </p:txBody>
      </p:sp>
      <p:sp>
        <p:nvSpPr>
          <p:cNvPr id="6" name="TextBox 5"/>
          <p:cNvSpPr txBox="1"/>
          <p:nvPr/>
        </p:nvSpPr>
        <p:spPr>
          <a:xfrm>
            <a:off x="822960" y="1920240"/>
            <a:ext cx="10543032" cy="365760"/>
          </a:xfrm>
          <a:prstGeom prst="rect">
            <a:avLst/>
          </a:prstGeom>
          <a:noFill/>
        </p:spPr>
        <p:txBody>
          <a:bodyPr wrap="square" anchor="t"/>
          <a:lstStyle/>
          <a:p>
            <a:pPr algn="l"/>
            <a:r>
              <a:rPr sz="1300" b="0" i="0">
                <a:solidFill>
                  <a:srgbClr val="AAAAAA"/>
                </a:solidFill>
                <a:latin typeface="Calibri"/>
              </a:rPr>
              <a:t>What is lip reading? • How does the system work? • What's the benchmark?</a:t>
            </a:r>
          </a:p>
        </p:txBody>
      </p:sp>
      <p:sp>
        <p:nvSpPr>
          <p:cNvPr id="7" name="Rounded Rectangle 6"/>
          <p:cNvSpPr/>
          <p:nvPr/>
        </p:nvSpPr>
        <p:spPr>
          <a:xfrm>
            <a:off x="548640" y="2560320"/>
            <a:ext cx="11091672" cy="960120"/>
          </a:xfrm>
          <a:prstGeom prst="roundRect">
            <a:avLst/>
          </a:prstGeom>
          <a:solidFill>
            <a:srgbClr val="152A40"/>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651760"/>
            <a:ext cx="10543032" cy="365760"/>
          </a:xfrm>
          <a:prstGeom prst="rect">
            <a:avLst/>
          </a:prstGeom>
          <a:noFill/>
        </p:spPr>
        <p:txBody>
          <a:bodyPr wrap="square" anchor="t"/>
          <a:lstStyle/>
          <a:p>
            <a:pPr algn="l"/>
            <a:r>
              <a:rPr sz="2200" b="1" i="0">
                <a:solidFill>
                  <a:srgbClr val="FFFFFF"/>
                </a:solidFill>
                <a:latin typeface="Calibri"/>
              </a:rPr>
              <a:t>2. Research Findings</a:t>
            </a:r>
          </a:p>
        </p:txBody>
      </p:sp>
      <p:sp>
        <p:nvSpPr>
          <p:cNvPr id="9" name="TextBox 8"/>
          <p:cNvSpPr txBox="1"/>
          <p:nvPr/>
        </p:nvSpPr>
        <p:spPr>
          <a:xfrm>
            <a:off x="822960" y="3063240"/>
            <a:ext cx="10543032" cy="365760"/>
          </a:xfrm>
          <a:prstGeom prst="rect">
            <a:avLst/>
          </a:prstGeom>
          <a:noFill/>
        </p:spPr>
        <p:txBody>
          <a:bodyPr wrap="square" anchor="t"/>
          <a:lstStyle/>
          <a:p>
            <a:pPr algn="l"/>
            <a:r>
              <a:rPr sz="1300" b="0" i="0">
                <a:solidFill>
                  <a:srgbClr val="AAAAAA"/>
                </a:solidFill>
                <a:latin typeface="Calibri"/>
              </a:rPr>
              <a:t>Real-world evaluation • Intelligibility Score metric • Failure analysis • Tuning experiments</a:t>
            </a:r>
          </a:p>
        </p:txBody>
      </p:sp>
      <p:sp>
        <p:nvSpPr>
          <p:cNvPr id="10" name="Rounded Rectangle 9"/>
          <p:cNvSpPr/>
          <p:nvPr/>
        </p:nvSpPr>
        <p:spPr>
          <a:xfrm>
            <a:off x="548640" y="3703320"/>
            <a:ext cx="11091672" cy="960120"/>
          </a:xfrm>
          <a:prstGeom prst="roundRect">
            <a:avLst/>
          </a:prstGeom>
          <a:solidFill>
            <a:srgbClr val="152A40"/>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794760"/>
            <a:ext cx="10543032" cy="365760"/>
          </a:xfrm>
          <a:prstGeom prst="rect">
            <a:avLst/>
          </a:prstGeom>
          <a:noFill/>
        </p:spPr>
        <p:txBody>
          <a:bodyPr wrap="square" anchor="t"/>
          <a:lstStyle/>
          <a:p>
            <a:pPr algn="l"/>
            <a:r>
              <a:rPr sz="2200" b="1" i="0">
                <a:solidFill>
                  <a:srgbClr val="FFFFFF"/>
                </a:solidFill>
                <a:latin typeface="Calibri"/>
              </a:rPr>
              <a:t>3. Engineering</a:t>
            </a:r>
          </a:p>
        </p:txBody>
      </p:sp>
      <p:sp>
        <p:nvSpPr>
          <p:cNvPr id="12" name="TextBox 11"/>
          <p:cNvSpPr txBox="1"/>
          <p:nvPr/>
        </p:nvSpPr>
        <p:spPr>
          <a:xfrm>
            <a:off x="822960" y="4206240"/>
            <a:ext cx="10543032" cy="365760"/>
          </a:xfrm>
          <a:prstGeom prst="rect">
            <a:avLst/>
          </a:prstGeom>
          <a:noFill/>
        </p:spPr>
        <p:txBody>
          <a:bodyPr wrap="square" anchor="t"/>
          <a:lstStyle/>
          <a:p>
            <a:pPr algn="l"/>
            <a:r>
              <a:rPr sz="1300" b="0" i="0">
                <a:solidFill>
                  <a:srgbClr val="AAAAAA"/>
                </a:solidFill>
                <a:latin typeface="Calibri"/>
              </a:rPr>
              <a:t>8-stage pipeline • Modular refactoring • Standalone container • Evaluation infrastructure</a:t>
            </a:r>
          </a:p>
        </p:txBody>
      </p:sp>
      <p:sp>
        <p:nvSpPr>
          <p:cNvPr id="13" name="Rounded Rectangle 12"/>
          <p:cNvSpPr/>
          <p:nvPr/>
        </p:nvSpPr>
        <p:spPr>
          <a:xfrm>
            <a:off x="548640" y="4846320"/>
            <a:ext cx="11091672" cy="960120"/>
          </a:xfrm>
          <a:prstGeom prst="roundRect">
            <a:avLst/>
          </a:prstGeom>
          <a:solidFill>
            <a:srgbClr val="152A40"/>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937760"/>
            <a:ext cx="10543032" cy="365760"/>
          </a:xfrm>
          <a:prstGeom prst="rect">
            <a:avLst/>
          </a:prstGeom>
          <a:noFill/>
        </p:spPr>
        <p:txBody>
          <a:bodyPr wrap="square" anchor="t"/>
          <a:lstStyle/>
          <a:p>
            <a:pPr algn="l"/>
            <a:r>
              <a:rPr sz="2200" b="1" i="0">
                <a:solidFill>
                  <a:srgbClr val="FFFFFF"/>
                </a:solidFill>
                <a:latin typeface="Calibri"/>
              </a:rPr>
              <a:t>4. Future Directions</a:t>
            </a:r>
          </a:p>
        </p:txBody>
      </p:sp>
      <p:sp>
        <p:nvSpPr>
          <p:cNvPr id="15" name="TextBox 14"/>
          <p:cNvSpPr txBox="1"/>
          <p:nvPr/>
        </p:nvSpPr>
        <p:spPr>
          <a:xfrm>
            <a:off x="822960" y="5349240"/>
            <a:ext cx="10543032" cy="365760"/>
          </a:xfrm>
          <a:prstGeom prst="rect">
            <a:avLst/>
          </a:prstGeom>
          <a:noFill/>
        </p:spPr>
        <p:txBody>
          <a:bodyPr wrap="square" anchor="t"/>
          <a:lstStyle/>
          <a:p>
            <a:pPr algn="l"/>
            <a:r>
              <a:rPr sz="1300" b="0" i="0">
                <a:solidFill>
                  <a:srgbClr val="AAAAAA"/>
                </a:solidFill>
                <a:latin typeface="Calibri"/>
              </a:rPr>
              <a:t>Improvement roadmap • Data scaling • LLM upgrade • Target: IS 3.5–4.0</a:t>
            </a:r>
          </a:p>
        </p:txBody>
      </p:sp>
      <p:pic>
        <p:nvPicPr>
          <p:cNvPr id="16" name="Picture 15"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7" name="TextBox 16"/>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childTnLst>
                    </p:cTn>
                  </p:par>
                  <p:par>
                    <p:cTn id="7" fill="hold">
                      <p:stCondLst>
                        <p:cond delay="0"/>
                      </p:stCondLst>
                      <p:childTnLst>
                        <p:par>
                          <p:cTn id="8" fill="hold">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par>
                    <p:cTn id="11" fill="hold">
                      <p:stCondLst>
                        <p:cond delay="0"/>
                      </p:stCondLst>
                      <p:childTnLst>
                        <p:par>
                          <p:cTn id="12" fill="hold">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childTnLst>
                    </p:cTn>
                  </p:par>
                  <p:par>
                    <p:cTn id="15" fill="hold">
                      <p:stCondLst>
                        <p:cond delay="0"/>
                      </p:stCondLst>
                      <p:childTnLst>
                        <p:par>
                          <p:cTn id="16" fill="hold">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p:bldP spid="10" grpId="2"/>
      <p:bldP spid="13" grpId="3"/>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What is Visual Speech Processing?</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11091672" cy="365760"/>
          </a:xfrm>
          <a:prstGeom prst="rect">
            <a:avLst/>
          </a:prstGeom>
          <a:noFill/>
        </p:spPr>
        <p:txBody>
          <a:bodyPr wrap="square" anchor="t"/>
          <a:lstStyle/>
          <a:p>
            <a:pPr algn="ctr"/>
            <a:r>
              <a:rPr sz="2000" b="0" i="0">
                <a:solidFill>
                  <a:srgbClr val="AAAAAA"/>
                </a:solidFill>
                <a:latin typeface="Calibri"/>
              </a:rPr>
              <a:t>A system that reads lips from video — no audio needed.</a:t>
            </a:r>
          </a:p>
        </p:txBody>
      </p:sp>
      <p:pic>
        <p:nvPicPr>
          <p:cNvPr id="5" name="IEa7qEkMvfQ_3__c5447488_with_hyp.mp4"/>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2209800" y="1920240"/>
            <a:ext cx="7772400" cy="3931920"/>
          </a:xfrm>
          <a:prstGeom prst="rect">
            <a:avLst/>
          </a:prstGeom>
        </p:spPr>
      </p:pic>
      <p:sp>
        <p:nvSpPr>
          <p:cNvPr id="6" name="TextBox 5"/>
          <p:cNvSpPr txBox="1"/>
          <p:nvPr/>
        </p:nvSpPr>
        <p:spPr>
          <a:xfrm>
            <a:off x="548640" y="6035040"/>
            <a:ext cx="11091672" cy="365760"/>
          </a:xfrm>
          <a:prstGeom prst="rect">
            <a:avLst/>
          </a:prstGeom>
          <a:noFill/>
        </p:spPr>
        <p:txBody>
          <a:bodyPr wrap="square" anchor="t"/>
          <a:lstStyle/>
          <a:p>
            <a:pPr algn="ctr"/>
            <a:r>
              <a:rPr sz="1200" b="0" i="1">
                <a:solidFill>
                  <a:srgbClr val="666666"/>
                </a:solidFill>
                <a:latin typeface="Calibri"/>
              </a:rPr>
              <a:t>33 words about health insurance — WER 0%, IS 5.0. Click the video to play.</a:t>
            </a:r>
          </a:p>
        </p:txBody>
      </p:sp>
      <p:pic>
        <p:nvPicPr>
          <p:cNvPr id="7" name="Picture 6" descr="BlackLogo300x300-W-BG.png"/>
          <p:cNvPicPr>
            <a:picLocks noChangeAspect="1"/>
          </p:cNvPicPr>
          <p:nvPr/>
        </p:nvPicPr>
        <p:blipFill>
          <a:blip r:embed="rId5"/>
          <a:stretch>
            <a:fillRect/>
          </a:stretch>
        </p:blipFill>
        <p:spPr>
          <a:xfrm>
            <a:off x="11323320" y="6428232"/>
            <a:ext cx="271117" cy="320040"/>
          </a:xfrm>
          <a:prstGeom prst="rect">
            <a:avLst/>
          </a:prstGeom>
        </p:spPr>
      </p:pic>
      <p:sp>
        <p:nvSpPr>
          <p:cNvPr id="8" name="TextBox 7"/>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a:t>
            </a:r>
          </a:p>
        </p:txBody>
      </p:sp>
    </p:spTree>
  </p:cSld>
  <p:clrMapOvr>
    <a:masterClrMapping/>
  </p:clrMapOvr>
  <p:transition spd="med" advClick="1">
    <p:fade/>
  </p:transition>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The Invisible Problem: Visemes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365760"/>
          </a:xfrm>
          <a:prstGeom prst="rect">
            <a:avLst/>
          </a:prstGeom>
          <a:noFill/>
        </p:spPr>
        <p:txBody>
          <a:bodyPr wrap="square" anchor="t"/>
          <a:lstStyle/>
          <a:p>
            <a:pPr algn="l"/>
            <a:r>
              <a:rPr sz="1800" b="1" i="0">
                <a:solidFill>
                  <a:srgbClr val="E06C75"/>
                </a:solidFill>
                <a:latin typeface="Calibri"/>
              </a:rPr>
              <a:t>The Invisible Problem</a:t>
            </a:r>
          </a:p>
        </p:txBody>
      </p:sp>
      <p:sp>
        <p:nvSpPr>
          <p:cNvPr id="5" name="TextBox 4"/>
          <p:cNvSpPr txBox="1"/>
          <p:nvPr/>
        </p:nvSpPr>
        <p:spPr>
          <a:xfrm>
            <a:off x="548640" y="1783080"/>
            <a:ext cx="5029200" cy="1371600"/>
          </a:xfrm>
          <a:prstGeom prst="rect">
            <a:avLst/>
          </a:prstGeom>
          <a:noFill/>
        </p:spPr>
        <p:txBody>
          <a:bodyPr wrap="square">
            <a:spAutoFit/>
          </a:bodyPr>
          <a:lstStyle/>
          <a:p>
            <a:pPr algn="l">
              <a:spcAft>
                <a:spcPts val="600"/>
              </a:spcAft>
            </a:pPr>
            <a:r>
              <a:rPr sz="1500" b="1">
                <a:solidFill>
                  <a:srgbClr val="00B4D8"/>
                </a:solidFill>
                <a:latin typeface="Calibri"/>
              </a:rPr>
              <a:t>• </a:t>
            </a:r>
            <a:r>
              <a:rPr sz="1500" b="1">
                <a:solidFill>
                  <a:srgbClr val="FFFFFF"/>
                </a:solidFill>
                <a:latin typeface="Calibri"/>
              </a:rPr>
              <a:t>50–70% of English sounds are invisible on lips</a:t>
            </a:r>
          </a:p>
          <a:p>
            <a:pPr algn="l">
              <a:spcAft>
                <a:spcPts val="600"/>
              </a:spcAft>
            </a:pPr>
            <a:r>
              <a:rPr sz="1500" b="1">
                <a:solidFill>
                  <a:srgbClr val="00B4D8"/>
                </a:solidFill>
                <a:latin typeface="Calibri"/>
              </a:rPr>
              <a:t>• </a:t>
            </a:r>
            <a:r>
              <a:rPr sz="1500" b="0">
                <a:solidFill>
                  <a:srgbClr val="FFFFFF"/>
                </a:solidFill>
                <a:latin typeface="Calibri"/>
              </a:rPr>
              <a:t>Multiple sounds produce identical mouth shapes (visemes)</a:t>
            </a:r>
          </a:p>
          <a:p>
            <a:pPr algn="l">
              <a:spcAft>
                <a:spcPts val="600"/>
              </a:spcAft>
            </a:pPr>
            <a:r>
              <a:rPr sz="1500" b="1">
                <a:solidFill>
                  <a:srgbClr val="00B4D8"/>
                </a:solidFill>
                <a:latin typeface="Calibri"/>
              </a:rPr>
              <a:t>• </a:t>
            </a:r>
            <a:r>
              <a:rPr sz="1500" b="0">
                <a:solidFill>
                  <a:srgbClr val="FFFFFF"/>
                </a:solidFill>
                <a:latin typeface="Calibri"/>
              </a:rPr>
              <a:t>Context is the ONLY disambiguation signal</a:t>
            </a:r>
          </a:p>
        </p:txBody>
      </p:sp>
      <p:graphicFrame>
        <p:nvGraphicFramePr>
          <p:cNvPr id="6" name="Table 5"/>
          <p:cNvGraphicFramePr>
            <a:graphicFrameLocks noGrp="1"/>
          </p:cNvGraphicFramePr>
          <p:nvPr/>
        </p:nvGraphicFramePr>
        <p:xfrm>
          <a:off x="548640" y="3429000"/>
          <a:ext cx="5029200" cy="1737360"/>
        </p:xfrm>
        <a:graphic>
          <a:graphicData uri="http://schemas.openxmlformats.org/drawingml/2006/table">
            <a:tbl>
              <a:tblPr firstRow="0" bandRow="0" lastRow="0" bandCol="0">
                <a:tableStyleId>{5C22544A-7EE6-4342-B048-85BDC9FD1C3A}</a:tableStyleId>
              </a:tblPr>
              <a:tblGrid>
                <a:gridCol w="2514600"/>
                <a:gridCol w="2514600"/>
              </a:tblGrid>
              <a:tr h="347472">
                <a:tc>
                  <a:txBody>
                    <a:bodyPr/>
                    <a:lstStyle/>
                    <a:p>
                      <a:pPr algn="ctr"/>
                      <a:r>
                        <a:rPr sz="1200" b="1" i="0">
                          <a:solidFill>
                            <a:srgbClr val="FFFFFF"/>
                          </a:solidFill>
                          <a:latin typeface="Calibri"/>
                        </a:rPr>
                        <a:t>Viseme Group</a:t>
                      </a:r>
                    </a:p>
                  </a:txBody>
                  <a:tcPr>
                    <a:solidFill>
                      <a:srgbClr val="00b4d8"/>
                    </a:solidFill>
                  </a:tcPr>
                </a:tc>
                <a:tc>
                  <a:txBody>
                    <a:bodyPr/>
                    <a:lstStyle/>
                    <a:p>
                      <a:pPr algn="ctr"/>
                      <a:r>
                        <a:rPr sz="1200" b="1" i="0">
                          <a:solidFill>
                            <a:srgbClr val="FFFFFF"/>
                          </a:solidFill>
                          <a:latin typeface="Calibri"/>
                        </a:rPr>
                        <a:t>Sounds</a:t>
                      </a:r>
                    </a:p>
                  </a:txBody>
                  <a:tcPr>
                    <a:solidFill>
                      <a:srgbClr val="00b4d8"/>
                    </a:solidFill>
                  </a:tcPr>
                </a:tc>
              </a:tr>
              <a:tr h="347472">
                <a:tc>
                  <a:txBody>
                    <a:bodyPr/>
                    <a:lstStyle/>
                    <a:p>
                      <a:pPr algn="l"/>
                      <a:r>
                        <a:rPr sz="1200" b="0" i="0">
                          <a:solidFill>
                            <a:srgbClr val="FFFFFF"/>
                          </a:solidFill>
                          <a:latin typeface="Calibri"/>
                        </a:rPr>
                        <a:t>Bilabial</a:t>
                      </a:r>
                    </a:p>
                  </a:txBody>
                  <a:tcPr>
                    <a:solidFill>
                      <a:srgbClr val="0d1b2a"/>
                    </a:solidFill>
                  </a:tcPr>
                </a:tc>
                <a:tc>
                  <a:txBody>
                    <a:bodyPr/>
                    <a:lstStyle/>
                    <a:p>
                      <a:pPr algn="l"/>
                      <a:r>
                        <a:rPr sz="1200" b="0" i="0">
                          <a:solidFill>
                            <a:srgbClr val="FFFFFF"/>
                          </a:solidFill>
                          <a:latin typeface="Calibri"/>
                        </a:rPr>
                        <a:t>p, b, m</a:t>
                      </a:r>
                    </a:p>
                  </a:txBody>
                  <a:tcPr>
                    <a:solidFill>
                      <a:srgbClr val="0d1b2a"/>
                    </a:solidFill>
                  </a:tcPr>
                </a:tc>
              </a:tr>
              <a:tr h="347472">
                <a:tc>
                  <a:txBody>
                    <a:bodyPr/>
                    <a:lstStyle/>
                    <a:p>
                      <a:pPr algn="l"/>
                      <a:r>
                        <a:rPr sz="1200" b="0" i="0">
                          <a:solidFill>
                            <a:srgbClr val="FFFFFF"/>
                          </a:solidFill>
                          <a:latin typeface="Calibri"/>
                        </a:rPr>
                        <a:t>Alveolar</a:t>
                      </a:r>
                    </a:p>
                  </a:txBody>
                  <a:tcPr>
                    <a:solidFill>
                      <a:srgbClr val="152a40"/>
                    </a:solidFill>
                  </a:tcPr>
                </a:tc>
                <a:tc>
                  <a:txBody>
                    <a:bodyPr/>
                    <a:lstStyle/>
                    <a:p>
                      <a:pPr algn="l"/>
                      <a:r>
                        <a:rPr sz="1200" b="0" i="0">
                          <a:solidFill>
                            <a:srgbClr val="FFFFFF"/>
                          </a:solidFill>
                          <a:latin typeface="Calibri"/>
                        </a:rPr>
                        <a:t>t, d, n, s, z, l</a:t>
                      </a:r>
                    </a:p>
                  </a:txBody>
                  <a:tcPr>
                    <a:solidFill>
                      <a:srgbClr val="152a40"/>
                    </a:solidFill>
                  </a:tcPr>
                </a:tc>
              </a:tr>
              <a:tr h="347472">
                <a:tc>
                  <a:txBody>
                    <a:bodyPr/>
                    <a:lstStyle/>
                    <a:p>
                      <a:pPr algn="l"/>
                      <a:r>
                        <a:rPr sz="1200" b="0" i="0">
                          <a:solidFill>
                            <a:srgbClr val="FFFFFF"/>
                          </a:solidFill>
                          <a:latin typeface="Calibri"/>
                        </a:rPr>
                        <a:t>Velar</a:t>
                      </a:r>
                    </a:p>
                  </a:txBody>
                  <a:tcPr>
                    <a:solidFill>
                      <a:srgbClr val="0d1b2a"/>
                    </a:solidFill>
                  </a:tcPr>
                </a:tc>
                <a:tc>
                  <a:txBody>
                    <a:bodyPr/>
                    <a:lstStyle/>
                    <a:p>
                      <a:pPr algn="l"/>
                      <a:r>
                        <a:rPr sz="1200" b="0" i="0">
                          <a:solidFill>
                            <a:srgbClr val="FFFFFF"/>
                          </a:solidFill>
                          <a:latin typeface="Calibri"/>
                        </a:rPr>
                        <a:t>k, g, ng</a:t>
                      </a:r>
                    </a:p>
                  </a:txBody>
                  <a:tcPr>
                    <a:solidFill>
                      <a:srgbClr val="0d1b2a"/>
                    </a:solidFill>
                  </a:tcPr>
                </a:tc>
              </a:tr>
              <a:tr h="347472">
                <a:tc>
                  <a:txBody>
                    <a:bodyPr/>
                    <a:lstStyle/>
                    <a:p>
                      <a:pPr algn="l"/>
                      <a:r>
                        <a:rPr sz="1200" b="0" i="0">
                          <a:solidFill>
                            <a:srgbClr val="FFFFFF"/>
                          </a:solidFill>
                          <a:latin typeface="Calibri"/>
                        </a:rPr>
                        <a:t>Labiodental</a:t>
                      </a:r>
                    </a:p>
                  </a:txBody>
                  <a:tcPr>
                    <a:solidFill>
                      <a:srgbClr val="152a40"/>
                    </a:solidFill>
                  </a:tcPr>
                </a:tc>
                <a:tc>
                  <a:txBody>
                    <a:bodyPr/>
                    <a:lstStyle/>
                    <a:p>
                      <a:pPr algn="l"/>
                      <a:r>
                        <a:rPr sz="1200" b="0" i="0">
                          <a:solidFill>
                            <a:srgbClr val="FFFFFF"/>
                          </a:solidFill>
                          <a:latin typeface="Calibri"/>
                        </a:rPr>
                        <a:t>f, v</a:t>
                      </a:r>
                    </a:p>
                  </a:txBody>
                  <a:tcPr>
                    <a:solidFill>
                      <a:srgbClr val="152a40"/>
                    </a:solidFill>
                  </a:tcPr>
                </a:tc>
              </a:tr>
            </a:tbl>
          </a:graphicData>
        </a:graphic>
      </p:graphicFrame>
      <p:sp>
        <p:nvSpPr>
          <p:cNvPr id="7" name="TextBox 6"/>
          <p:cNvSpPr txBox="1"/>
          <p:nvPr/>
        </p:nvSpPr>
        <p:spPr>
          <a:xfrm>
            <a:off x="6611111" y="1325880"/>
            <a:ext cx="5029200" cy="365760"/>
          </a:xfrm>
          <a:prstGeom prst="rect">
            <a:avLst/>
          </a:prstGeom>
          <a:noFill/>
        </p:spPr>
        <p:txBody>
          <a:bodyPr wrap="square" anchor="t"/>
          <a:lstStyle/>
          <a:p>
            <a:pPr algn="l"/>
            <a:r>
              <a:rPr sz="1800" b="1" i="0">
                <a:solidFill>
                  <a:srgbClr val="00B4D8"/>
                </a:solidFill>
                <a:latin typeface="Calibri"/>
              </a:rPr>
              <a:t>Confusable Pairs</a:t>
            </a:r>
          </a:p>
        </p:txBody>
      </p:sp>
      <p:graphicFrame>
        <p:nvGraphicFramePr>
          <p:cNvPr id="8" name="Table 7"/>
          <p:cNvGraphicFramePr>
            <a:graphicFrameLocks noGrp="1"/>
          </p:cNvGraphicFramePr>
          <p:nvPr/>
        </p:nvGraphicFramePr>
        <p:xfrm>
          <a:off x="6611111" y="1783080"/>
          <a:ext cx="5029200" cy="2084832"/>
        </p:xfrm>
        <a:graphic>
          <a:graphicData uri="http://schemas.openxmlformats.org/drawingml/2006/table">
            <a:tbl>
              <a:tblPr firstRow="0" bandRow="0" lastRow="0" bandCol="0">
                <a:tableStyleId>{5C22544A-7EE6-4342-B048-85BDC9FD1C3A}</a:tableStyleId>
              </a:tblPr>
              <a:tblGrid>
                <a:gridCol w="2514600"/>
                <a:gridCol w="2514600"/>
              </a:tblGrid>
              <a:tr h="347472">
                <a:tc>
                  <a:txBody>
                    <a:bodyPr/>
                    <a:lstStyle/>
                    <a:p>
                      <a:pPr algn="ctr"/>
                      <a:r>
                        <a:rPr sz="1300" b="1" i="0">
                          <a:solidFill>
                            <a:srgbClr val="FFFFFF"/>
                          </a:solidFill>
                          <a:latin typeface="Calibri"/>
                        </a:rPr>
                        <a:t>Word A</a:t>
                      </a:r>
                    </a:p>
                  </a:txBody>
                  <a:tcPr>
                    <a:solidFill>
                      <a:srgbClr val="00b4d8"/>
                    </a:solidFill>
                  </a:tcPr>
                </a:tc>
                <a:tc>
                  <a:txBody>
                    <a:bodyPr/>
                    <a:lstStyle/>
                    <a:p>
                      <a:pPr algn="ctr"/>
                      <a:r>
                        <a:rPr sz="1300" b="1" i="0">
                          <a:solidFill>
                            <a:srgbClr val="FFFFFF"/>
                          </a:solidFill>
                          <a:latin typeface="Calibri"/>
                        </a:rPr>
                        <a:t>Word B</a:t>
                      </a:r>
                    </a:p>
                  </a:txBody>
                  <a:tcPr>
                    <a:solidFill>
                      <a:srgbClr val="00b4d8"/>
                    </a:solidFill>
                  </a:tcPr>
                </a:tc>
              </a:tr>
              <a:tr h="347472">
                <a:tc>
                  <a:txBody>
                    <a:bodyPr/>
                    <a:lstStyle/>
                    <a:p>
                      <a:pPr algn="l"/>
                      <a:r>
                        <a:rPr sz="1300" b="0" i="0">
                          <a:solidFill>
                            <a:srgbClr val="FFFFFF"/>
                          </a:solidFill>
                          <a:latin typeface="Calibri"/>
                        </a:rPr>
                        <a:t>admiral</a:t>
                      </a:r>
                    </a:p>
                  </a:txBody>
                  <a:tcPr>
                    <a:solidFill>
                      <a:srgbClr val="0d1b2a"/>
                    </a:solidFill>
                  </a:tcPr>
                </a:tc>
                <a:tc>
                  <a:txBody>
                    <a:bodyPr/>
                    <a:lstStyle/>
                    <a:p>
                      <a:pPr algn="l"/>
                      <a:r>
                        <a:rPr sz="1300" b="0" i="0">
                          <a:solidFill>
                            <a:srgbClr val="FFFFFF"/>
                          </a:solidFill>
                          <a:latin typeface="Calibri"/>
                        </a:rPr>
                        <a:t>animal</a:t>
                      </a:r>
                    </a:p>
                  </a:txBody>
                  <a:tcPr>
                    <a:solidFill>
                      <a:srgbClr val="0d1b2a"/>
                    </a:solidFill>
                  </a:tcPr>
                </a:tc>
              </a:tr>
              <a:tr h="347472">
                <a:tc>
                  <a:txBody>
                    <a:bodyPr/>
                    <a:lstStyle/>
                    <a:p>
                      <a:pPr algn="l"/>
                      <a:r>
                        <a:rPr sz="1300" b="0" i="0">
                          <a:solidFill>
                            <a:srgbClr val="FFFFFF"/>
                          </a:solidFill>
                          <a:latin typeface="Calibri"/>
                        </a:rPr>
                        <a:t>mom</a:t>
                      </a:r>
                    </a:p>
                  </a:txBody>
                  <a:tcPr>
                    <a:solidFill>
                      <a:srgbClr val="152a40"/>
                    </a:solidFill>
                  </a:tcPr>
                </a:tc>
                <a:tc>
                  <a:txBody>
                    <a:bodyPr/>
                    <a:lstStyle/>
                    <a:p>
                      <a:pPr algn="l"/>
                      <a:r>
                        <a:rPr sz="1300" b="0" i="0">
                          <a:solidFill>
                            <a:srgbClr val="FFFFFF"/>
                          </a:solidFill>
                          <a:latin typeface="Calibri"/>
                        </a:rPr>
                        <a:t>bomb</a:t>
                      </a:r>
                    </a:p>
                  </a:txBody>
                  <a:tcPr>
                    <a:solidFill>
                      <a:srgbClr val="152a40"/>
                    </a:solidFill>
                  </a:tcPr>
                </a:tc>
              </a:tr>
              <a:tr h="347472">
                <a:tc>
                  <a:txBody>
                    <a:bodyPr/>
                    <a:lstStyle/>
                    <a:p>
                      <a:pPr algn="l"/>
                      <a:r>
                        <a:rPr sz="1300" b="0" i="0">
                          <a:solidFill>
                            <a:srgbClr val="FFFFFF"/>
                          </a:solidFill>
                          <a:latin typeface="Calibri"/>
                        </a:rPr>
                        <a:t>pat</a:t>
                      </a:r>
                    </a:p>
                  </a:txBody>
                  <a:tcPr>
                    <a:solidFill>
                      <a:srgbClr val="0d1b2a"/>
                    </a:solidFill>
                  </a:tcPr>
                </a:tc>
                <a:tc>
                  <a:txBody>
                    <a:bodyPr/>
                    <a:lstStyle/>
                    <a:p>
                      <a:pPr algn="l"/>
                      <a:r>
                        <a:rPr sz="1300" b="0" i="0">
                          <a:solidFill>
                            <a:srgbClr val="FFFFFF"/>
                          </a:solidFill>
                          <a:latin typeface="Calibri"/>
                        </a:rPr>
                        <a:t>bat</a:t>
                      </a:r>
                    </a:p>
                  </a:txBody>
                  <a:tcPr>
                    <a:solidFill>
                      <a:srgbClr val="0d1b2a"/>
                    </a:solidFill>
                  </a:tcPr>
                </a:tc>
              </a:tr>
              <a:tr h="347472">
                <a:tc>
                  <a:txBody>
                    <a:bodyPr/>
                    <a:lstStyle/>
                    <a:p>
                      <a:pPr algn="l"/>
                      <a:r>
                        <a:rPr sz="1300" b="0" i="0">
                          <a:solidFill>
                            <a:srgbClr val="FFFFFF"/>
                          </a:solidFill>
                          <a:latin typeface="Calibri"/>
                        </a:rPr>
                        <a:t>collar</a:t>
                      </a:r>
                    </a:p>
                  </a:txBody>
                  <a:tcPr>
                    <a:solidFill>
                      <a:srgbClr val="152a40"/>
                    </a:solidFill>
                  </a:tcPr>
                </a:tc>
                <a:tc>
                  <a:txBody>
                    <a:bodyPr/>
                    <a:lstStyle/>
                    <a:p>
                      <a:pPr algn="l"/>
                      <a:r>
                        <a:rPr sz="1300" b="0" i="0">
                          <a:solidFill>
                            <a:srgbClr val="FFFFFF"/>
                          </a:solidFill>
                          <a:latin typeface="Calibri"/>
                        </a:rPr>
                        <a:t>color</a:t>
                      </a:r>
                    </a:p>
                  </a:txBody>
                  <a:tcPr>
                    <a:solidFill>
                      <a:srgbClr val="152a40"/>
                    </a:solidFill>
                  </a:tcPr>
                </a:tc>
              </a:tr>
              <a:tr h="347472">
                <a:tc>
                  <a:txBody>
                    <a:bodyPr/>
                    <a:lstStyle/>
                    <a:p>
                      <a:pPr algn="l"/>
                      <a:r>
                        <a:rPr sz="1300" b="0" i="0">
                          <a:solidFill>
                            <a:srgbClr val="FFFFFF"/>
                          </a:solidFill>
                          <a:latin typeface="Calibri"/>
                        </a:rPr>
                        <a:t>probiotics</a:t>
                      </a:r>
                    </a:p>
                  </a:txBody>
                  <a:tcPr>
                    <a:solidFill>
                      <a:srgbClr val="0d1b2a"/>
                    </a:solidFill>
                  </a:tcPr>
                </a:tc>
                <a:tc>
                  <a:txBody>
                    <a:bodyPr/>
                    <a:lstStyle/>
                    <a:p>
                      <a:pPr algn="l"/>
                      <a:r>
                        <a:rPr sz="1300" b="0" i="0">
                          <a:solidFill>
                            <a:srgbClr val="FFFFFF"/>
                          </a:solidFill>
                          <a:latin typeface="Calibri"/>
                        </a:rPr>
                        <a:t>permafrost</a:t>
                      </a:r>
                    </a:p>
                  </a:txBody>
                  <a:tcPr>
                    <a:solidFill>
                      <a:srgbClr val="0d1b2a"/>
                    </a:solidFill>
                  </a:tcPr>
                </a:tc>
              </a:tr>
            </a:tbl>
          </a:graphicData>
        </a:graphic>
      </p:graphicFrame>
      <p:sp>
        <p:nvSpPr>
          <p:cNvPr id="9" name="TextBox 8"/>
          <p:cNvSpPr txBox="1"/>
          <p:nvPr/>
        </p:nvSpPr>
        <p:spPr>
          <a:xfrm>
            <a:off x="548640" y="5806440"/>
            <a:ext cx="11091672" cy="365760"/>
          </a:xfrm>
          <a:prstGeom prst="rect">
            <a:avLst/>
          </a:prstGeom>
          <a:noFill/>
        </p:spPr>
        <p:txBody>
          <a:bodyPr wrap="square" anchor="t"/>
          <a:lstStyle/>
          <a:p>
            <a:pPr algn="ctr"/>
            <a:r>
              <a:rPr sz="1400" b="0" i="1">
                <a:solidFill>
                  <a:srgbClr val="00B4D8"/>
                </a:solidFill>
                <a:latin typeface="Calibri"/>
              </a:rPr>
              <a:t>Context is the ONLY disambiguation signal — this is why the LLM matters.</a:t>
            </a:r>
          </a:p>
        </p:txBody>
      </p:sp>
      <p:pic>
        <p:nvPicPr>
          <p:cNvPr id="10" name="Picture 9"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1" name="TextBox 10"/>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fill="hold">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par>
                          <p:cTn id="10" fill="hold">
                            <p:stCondLst>
                              <p:cond delay="24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par>
                    <p:cTn id="13" fill="hold">
                      <p:stCondLst>
                        <p:cond delay="0"/>
                      </p:stCondLst>
                      <p:childTnLst>
                        <p:par>
                          <p:cTn id="14" fill="hold">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fill="hold">
                            <p:stCondLst>
                              <p:cond delay="12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p:bldP spid="8" grpId="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How It Works: Three Components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del_architecture.png"/>
          <p:cNvPicPr>
            <a:picLocks noChangeAspect="1"/>
          </p:cNvPicPr>
          <p:nvPr/>
        </p:nvPicPr>
        <p:blipFill>
          <a:blip r:embed="rId2"/>
          <a:stretch>
            <a:fillRect/>
          </a:stretch>
        </p:blipFill>
        <p:spPr>
          <a:xfrm>
            <a:off x="548640" y="1325880"/>
            <a:ext cx="11091672" cy="3291840"/>
          </a:xfrm>
          <a:prstGeom prst="rect">
            <a:avLst/>
          </a:prstGeom>
        </p:spPr>
      </p:pic>
      <p:sp>
        <p:nvSpPr>
          <p:cNvPr id="5" name="Rounded Rectangle 4"/>
          <p:cNvSpPr/>
          <p:nvPr/>
        </p:nvSpPr>
        <p:spPr>
          <a:xfrm>
            <a:off x="929640" y="4937760"/>
            <a:ext cx="3200400" cy="64008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1080" y="4983480"/>
            <a:ext cx="3017520" cy="548640"/>
          </a:xfrm>
          <a:prstGeom prst="rect">
            <a:avLst/>
          </a:prstGeom>
          <a:noFill/>
        </p:spPr>
        <p:txBody>
          <a:bodyPr wrap="square" anchor="t"/>
          <a:lstStyle/>
          <a:p>
            <a:pPr algn="ctr"/>
            <a:r>
              <a:rPr sz="1200" b="0" i="0">
                <a:solidFill>
                  <a:srgbClr val="FFFFFF"/>
                </a:solidFill>
                <a:latin typeface="Calibri"/>
              </a:rPr>
              <a:t>AV-HuBERT</a:t>
            </a:r>
            <a:br/>
            <a:r>
              <a:rPr sz="1200" b="0" i="0">
                <a:solidFill>
                  <a:srgbClr val="FFFFFF"/>
                </a:solidFill>
                <a:latin typeface="Calibri"/>
              </a:rPr>
              <a:t>Visual Encoder, frozen, 1024-dim</a:t>
            </a:r>
          </a:p>
        </p:txBody>
      </p:sp>
      <p:sp>
        <p:nvSpPr>
          <p:cNvPr id="7" name="Rounded Rectangle 6"/>
          <p:cNvSpPr/>
          <p:nvPr/>
        </p:nvSpPr>
        <p:spPr>
          <a:xfrm>
            <a:off x="4495800" y="4937760"/>
            <a:ext cx="3200400" cy="640080"/>
          </a:xfrm>
          <a:prstGeom prst="roundRect">
            <a:avLst/>
          </a:prstGeom>
          <a:solidFill>
            <a:srgbClr val="152A40"/>
          </a:solidFill>
          <a:ln w="2540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87240" y="4983480"/>
            <a:ext cx="3017520" cy="548640"/>
          </a:xfrm>
          <a:prstGeom prst="rect">
            <a:avLst/>
          </a:prstGeom>
          <a:noFill/>
        </p:spPr>
        <p:txBody>
          <a:bodyPr wrap="square" anchor="t"/>
          <a:lstStyle/>
          <a:p>
            <a:pPr algn="ctr"/>
            <a:r>
              <a:rPr sz="1200" b="0" i="0">
                <a:solidFill>
                  <a:srgbClr val="FFFFFF"/>
                </a:solidFill>
                <a:latin typeface="Calibri"/>
              </a:rPr>
              <a:t>Linear Projection</a:t>
            </a:r>
            <a:br/>
            <a:r>
              <a:rPr sz="1200" b="0" i="0">
                <a:solidFill>
                  <a:srgbClr val="FFFFFF"/>
                </a:solidFill>
                <a:latin typeface="Calibri"/>
              </a:rPr>
              <a:t>1024 → 4096</a:t>
            </a:r>
          </a:p>
        </p:txBody>
      </p:sp>
      <p:sp>
        <p:nvSpPr>
          <p:cNvPr id="9" name="Rounded Rectangle 8"/>
          <p:cNvSpPr/>
          <p:nvPr/>
        </p:nvSpPr>
        <p:spPr>
          <a:xfrm>
            <a:off x="8061960" y="4937760"/>
            <a:ext cx="3200400" cy="64008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53400" y="4983480"/>
            <a:ext cx="3017520" cy="548640"/>
          </a:xfrm>
          <a:prstGeom prst="rect">
            <a:avLst/>
          </a:prstGeom>
          <a:noFill/>
        </p:spPr>
        <p:txBody>
          <a:bodyPr wrap="square" anchor="t"/>
          <a:lstStyle/>
          <a:p>
            <a:pPr algn="ctr"/>
            <a:r>
              <a:rPr sz="1200" b="0" i="0">
                <a:solidFill>
                  <a:srgbClr val="FFFFFF"/>
                </a:solidFill>
                <a:latin typeface="Calibri"/>
              </a:rPr>
              <a:t>LLaMA-2-7B</a:t>
            </a:r>
            <a:br/>
            <a:r>
              <a:rPr sz="1200" b="0" i="0">
                <a:solidFill>
                  <a:srgbClr val="FFFFFF"/>
                </a:solidFill>
                <a:latin typeface="Calibri"/>
              </a:rPr>
              <a:t>4-bit QLoRA, r=16</a:t>
            </a:r>
          </a:p>
        </p:txBody>
      </p:sp>
      <p:sp>
        <p:nvSpPr>
          <p:cNvPr id="11" name="TextBox 10"/>
          <p:cNvSpPr txBox="1"/>
          <p:nvPr/>
        </p:nvSpPr>
        <p:spPr>
          <a:xfrm>
            <a:off x="4175760" y="5029200"/>
            <a:ext cx="274320" cy="457200"/>
          </a:xfrm>
          <a:prstGeom prst="rect">
            <a:avLst/>
          </a:prstGeom>
          <a:noFill/>
        </p:spPr>
        <p:txBody>
          <a:bodyPr wrap="square" anchor="t"/>
          <a:lstStyle/>
          <a:p>
            <a:pPr algn="ctr"/>
            <a:r>
              <a:rPr sz="2400" b="0" i="0">
                <a:solidFill>
                  <a:srgbClr val="00B4D8"/>
                </a:solidFill>
                <a:latin typeface="Calibri"/>
              </a:rPr>
              <a:t>→</a:t>
            </a:r>
          </a:p>
        </p:txBody>
      </p:sp>
      <p:sp>
        <p:nvSpPr>
          <p:cNvPr id="12" name="TextBox 11"/>
          <p:cNvSpPr txBox="1"/>
          <p:nvPr/>
        </p:nvSpPr>
        <p:spPr>
          <a:xfrm>
            <a:off x="7741920" y="5029200"/>
            <a:ext cx="274320" cy="457200"/>
          </a:xfrm>
          <a:prstGeom prst="rect">
            <a:avLst/>
          </a:prstGeom>
          <a:noFill/>
        </p:spPr>
        <p:txBody>
          <a:bodyPr wrap="square" anchor="t"/>
          <a:lstStyle/>
          <a:p>
            <a:pPr algn="ctr"/>
            <a:r>
              <a:rPr sz="2400" b="0" i="0">
                <a:solidFill>
                  <a:srgbClr val="00B4D8"/>
                </a:solidFill>
                <a:latin typeface="Calibri"/>
              </a:rPr>
              <a:t>→</a:t>
            </a:r>
          </a:p>
        </p:txBody>
      </p:sp>
      <p:sp>
        <p:nvSpPr>
          <p:cNvPr id="13" name="TextBox 12"/>
          <p:cNvSpPr txBox="1"/>
          <p:nvPr/>
        </p:nvSpPr>
        <p:spPr>
          <a:xfrm>
            <a:off x="548640" y="5760720"/>
            <a:ext cx="11091672" cy="457200"/>
          </a:xfrm>
          <a:prstGeom prst="rect">
            <a:avLst/>
          </a:prstGeom>
          <a:noFill/>
        </p:spPr>
        <p:txBody>
          <a:bodyPr wrap="square" anchor="t"/>
          <a:lstStyle/>
          <a:p>
            <a:pPr algn="l"/>
            <a:r>
              <a:rPr sz="1200" b="0" i="1">
                <a:solidFill>
                  <a:srgbClr val="666666"/>
                </a:solidFill>
                <a:latin typeface="Calibri"/>
              </a:rPr>
              <a:t>Only 12.6M trainable params (0.19%). LLM is swappable — Llama 3.1 8B is a drop-in replacement (same 4096 hidden size).</a:t>
            </a:r>
          </a:p>
        </p:txBody>
      </p:sp>
      <p:pic>
        <p:nvPicPr>
          <p:cNvPr id="14" name="Picture 13" descr="BlackLogo300x300-W-BG.png"/>
          <p:cNvPicPr>
            <a:picLocks noChangeAspect="1"/>
          </p:cNvPicPr>
          <p:nvPr/>
        </p:nvPicPr>
        <p:blipFill>
          <a:blip r:embed="rId3"/>
          <a:stretch>
            <a:fillRect/>
          </a:stretch>
        </p:blipFill>
        <p:spPr>
          <a:xfrm>
            <a:off x="11323320" y="6428232"/>
            <a:ext cx="271117" cy="320040"/>
          </a:xfrm>
          <a:prstGeom prst="rect">
            <a:avLst/>
          </a:prstGeom>
        </p:spPr>
      </p:pic>
      <p:sp>
        <p:nvSpPr>
          <p:cNvPr id="15" name="TextBox 14"/>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5</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childTnLst>
                    </p:cTn>
                  </p:par>
                  <p:par>
                    <p:cTn id="7" fill="hold">
                      <p:stCondLst>
                        <p:cond delay="0"/>
                      </p:stCondLst>
                      <p:childTnLst>
                        <p:par>
                          <p:cTn id="8" fill="hold">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fill="hold">
                            <p:stCondLst>
                              <p:cond delay="12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fill="hold">
                            <p:stCondLst>
                              <p:cond delay="24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5" grpId="1"/>
      <p:bldP spid="7" grpId="1"/>
      <p:bldP spid="9" grpId="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How It Works: Data Flow</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280160" y="1417320"/>
            <a:ext cx="9601200" cy="68580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1508760"/>
            <a:ext cx="502920" cy="50292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08760"/>
            <a:ext cx="502920" cy="502920"/>
          </a:xfrm>
          <a:prstGeom prst="rect">
            <a:avLst/>
          </a:prstGeom>
          <a:noFill/>
        </p:spPr>
        <p:txBody>
          <a:bodyPr wrap="square" anchor="t"/>
          <a:lstStyle/>
          <a:p>
            <a:pPr algn="ctr"/>
            <a:r>
              <a:rPr sz="2000" b="1" i="0">
                <a:solidFill>
                  <a:srgbClr val="FFFFFF"/>
                </a:solidFill>
                <a:latin typeface="Calibri"/>
              </a:rPr>
              <a:t>1</a:t>
            </a:r>
          </a:p>
        </p:txBody>
      </p:sp>
      <p:sp>
        <p:nvSpPr>
          <p:cNvPr id="7" name="TextBox 6"/>
          <p:cNvSpPr txBox="1"/>
          <p:nvPr/>
        </p:nvSpPr>
        <p:spPr>
          <a:xfrm>
            <a:off x="1463040" y="1508760"/>
            <a:ext cx="9235440" cy="502920"/>
          </a:xfrm>
          <a:prstGeom prst="rect">
            <a:avLst/>
          </a:prstGeom>
          <a:noFill/>
        </p:spPr>
        <p:txBody>
          <a:bodyPr wrap="square">
            <a:spAutoFit/>
          </a:bodyPr>
          <a:lstStyle/>
          <a:p>
            <a:pPr algn="l">
              <a:spcAft>
                <a:spcPts val="600"/>
              </a:spcAft>
            </a:pPr>
            <a:r>
              <a:rPr sz="1600" b="1" i="0">
                <a:solidFill>
                  <a:srgbClr val="FFFFFF"/>
                </a:solidFill>
                <a:latin typeface="Calibri"/>
              </a:rPr>
              <a:t>Video Frames</a:t>
            </a:r>
            <a:r>
              <a:rPr sz="1300" b="0" i="0">
                <a:solidFill>
                  <a:srgbClr val="AAAAAA"/>
                </a:solidFill>
                <a:latin typeface="Calibri"/>
              </a:rPr>
              <a:t>  —  25 fps raw video input</a:t>
            </a:r>
          </a:p>
        </p:txBody>
      </p:sp>
      <p:sp>
        <p:nvSpPr>
          <p:cNvPr id="8" name="TextBox 7"/>
          <p:cNvSpPr txBox="1"/>
          <p:nvPr/>
        </p:nvSpPr>
        <p:spPr>
          <a:xfrm>
            <a:off x="5897880" y="2057400"/>
            <a:ext cx="365760" cy="274320"/>
          </a:xfrm>
          <a:prstGeom prst="rect">
            <a:avLst/>
          </a:prstGeom>
          <a:noFill/>
        </p:spPr>
        <p:txBody>
          <a:bodyPr wrap="square" anchor="t"/>
          <a:lstStyle/>
          <a:p>
            <a:pPr algn="ctr"/>
            <a:r>
              <a:rPr sz="1600" b="0" i="0">
                <a:solidFill>
                  <a:srgbClr val="00B4D8"/>
                </a:solidFill>
                <a:latin typeface="Calibri"/>
              </a:rPr>
              <a:t>↓</a:t>
            </a:r>
          </a:p>
        </p:txBody>
      </p:sp>
      <p:sp>
        <p:nvSpPr>
          <p:cNvPr id="9" name="Rounded Rectangle 8"/>
          <p:cNvSpPr/>
          <p:nvPr/>
        </p:nvSpPr>
        <p:spPr>
          <a:xfrm>
            <a:off x="1280160" y="2240280"/>
            <a:ext cx="9601200" cy="68580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0080" y="2331720"/>
            <a:ext cx="502920" cy="50292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331720"/>
            <a:ext cx="502920" cy="502920"/>
          </a:xfrm>
          <a:prstGeom prst="rect">
            <a:avLst/>
          </a:prstGeom>
          <a:noFill/>
        </p:spPr>
        <p:txBody>
          <a:bodyPr wrap="square" anchor="t"/>
          <a:lstStyle/>
          <a:p>
            <a:pPr algn="ctr"/>
            <a:r>
              <a:rPr sz="2000" b="1" i="0">
                <a:solidFill>
                  <a:srgbClr val="FFFFFF"/>
                </a:solidFill>
                <a:latin typeface="Calibri"/>
              </a:rPr>
              <a:t>2</a:t>
            </a:r>
          </a:p>
        </p:txBody>
      </p:sp>
      <p:sp>
        <p:nvSpPr>
          <p:cNvPr id="12" name="TextBox 11"/>
          <p:cNvSpPr txBox="1"/>
          <p:nvPr/>
        </p:nvSpPr>
        <p:spPr>
          <a:xfrm>
            <a:off x="1463040" y="2331720"/>
            <a:ext cx="9235440" cy="502920"/>
          </a:xfrm>
          <a:prstGeom prst="rect">
            <a:avLst/>
          </a:prstGeom>
          <a:noFill/>
        </p:spPr>
        <p:txBody>
          <a:bodyPr wrap="square">
            <a:spAutoFit/>
          </a:bodyPr>
          <a:lstStyle/>
          <a:p>
            <a:pPr algn="l">
              <a:spcAft>
                <a:spcPts val="600"/>
              </a:spcAft>
            </a:pPr>
            <a:r>
              <a:rPr sz="1600" b="1" i="0">
                <a:solidFill>
                  <a:srgbClr val="FFFFFF"/>
                </a:solidFill>
                <a:latin typeface="Calibri"/>
              </a:rPr>
              <a:t>Mouth Crop</a:t>
            </a:r>
            <a:r>
              <a:rPr sz="1300" b="0" i="0">
                <a:solidFill>
                  <a:srgbClr val="AAAAAA"/>
                </a:solidFill>
                <a:latin typeface="Calibri"/>
              </a:rPr>
              <a:t>  —  96×96 pixel region around lips</a:t>
            </a:r>
          </a:p>
        </p:txBody>
      </p:sp>
      <p:sp>
        <p:nvSpPr>
          <p:cNvPr id="13" name="TextBox 12"/>
          <p:cNvSpPr txBox="1"/>
          <p:nvPr/>
        </p:nvSpPr>
        <p:spPr>
          <a:xfrm>
            <a:off x="5897880" y="2880360"/>
            <a:ext cx="365760" cy="274320"/>
          </a:xfrm>
          <a:prstGeom prst="rect">
            <a:avLst/>
          </a:prstGeom>
          <a:noFill/>
        </p:spPr>
        <p:txBody>
          <a:bodyPr wrap="square" anchor="t"/>
          <a:lstStyle/>
          <a:p>
            <a:pPr algn="ctr"/>
            <a:r>
              <a:rPr sz="1600" b="0" i="0">
                <a:solidFill>
                  <a:srgbClr val="00B4D8"/>
                </a:solidFill>
                <a:latin typeface="Calibri"/>
              </a:rPr>
              <a:t>↓</a:t>
            </a:r>
          </a:p>
        </p:txBody>
      </p:sp>
      <p:sp>
        <p:nvSpPr>
          <p:cNvPr id="14" name="Rounded Rectangle 13"/>
          <p:cNvSpPr/>
          <p:nvPr/>
        </p:nvSpPr>
        <p:spPr>
          <a:xfrm>
            <a:off x="1280160" y="3063240"/>
            <a:ext cx="9601200" cy="68580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0080" y="3154680"/>
            <a:ext cx="502920" cy="50292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154680"/>
            <a:ext cx="502920" cy="502920"/>
          </a:xfrm>
          <a:prstGeom prst="rect">
            <a:avLst/>
          </a:prstGeom>
          <a:noFill/>
        </p:spPr>
        <p:txBody>
          <a:bodyPr wrap="square" anchor="t"/>
          <a:lstStyle/>
          <a:p>
            <a:pPr algn="ctr"/>
            <a:r>
              <a:rPr sz="2000" b="1" i="0">
                <a:solidFill>
                  <a:srgbClr val="FFFFFF"/>
                </a:solidFill>
                <a:latin typeface="Calibri"/>
              </a:rPr>
              <a:t>3</a:t>
            </a:r>
          </a:p>
        </p:txBody>
      </p:sp>
      <p:sp>
        <p:nvSpPr>
          <p:cNvPr id="17" name="TextBox 16"/>
          <p:cNvSpPr txBox="1"/>
          <p:nvPr/>
        </p:nvSpPr>
        <p:spPr>
          <a:xfrm>
            <a:off x="1463040" y="3154680"/>
            <a:ext cx="9235440" cy="502920"/>
          </a:xfrm>
          <a:prstGeom prst="rect">
            <a:avLst/>
          </a:prstGeom>
          <a:noFill/>
        </p:spPr>
        <p:txBody>
          <a:bodyPr wrap="square">
            <a:spAutoFit/>
          </a:bodyPr>
          <a:lstStyle/>
          <a:p>
            <a:pPr algn="l">
              <a:spcAft>
                <a:spcPts val="600"/>
              </a:spcAft>
            </a:pPr>
            <a:r>
              <a:rPr sz="1600" b="1" i="0">
                <a:solidFill>
                  <a:srgbClr val="FFFFFF"/>
                </a:solidFill>
                <a:latin typeface="Calibri"/>
              </a:rPr>
              <a:t>Visual Features</a:t>
            </a:r>
            <a:r>
              <a:rPr sz="1300" b="0" i="0">
                <a:solidFill>
                  <a:srgbClr val="AAAAAA"/>
                </a:solidFill>
                <a:latin typeface="Calibri"/>
              </a:rPr>
              <a:t>  —  AV-HuBERT encoder → 1024-dim vectors</a:t>
            </a:r>
          </a:p>
        </p:txBody>
      </p:sp>
      <p:sp>
        <p:nvSpPr>
          <p:cNvPr id="18" name="TextBox 17"/>
          <p:cNvSpPr txBox="1"/>
          <p:nvPr/>
        </p:nvSpPr>
        <p:spPr>
          <a:xfrm>
            <a:off x="5897880" y="3703320"/>
            <a:ext cx="365760" cy="274320"/>
          </a:xfrm>
          <a:prstGeom prst="rect">
            <a:avLst/>
          </a:prstGeom>
          <a:noFill/>
        </p:spPr>
        <p:txBody>
          <a:bodyPr wrap="square" anchor="t"/>
          <a:lstStyle/>
          <a:p>
            <a:pPr algn="ctr"/>
            <a:r>
              <a:rPr sz="1600" b="0" i="0">
                <a:solidFill>
                  <a:srgbClr val="00B4D8"/>
                </a:solidFill>
                <a:latin typeface="Calibri"/>
              </a:rPr>
              <a:t>↓</a:t>
            </a:r>
          </a:p>
        </p:txBody>
      </p:sp>
      <p:sp>
        <p:nvSpPr>
          <p:cNvPr id="19" name="Rounded Rectangle 18"/>
          <p:cNvSpPr/>
          <p:nvPr/>
        </p:nvSpPr>
        <p:spPr>
          <a:xfrm>
            <a:off x="1280160" y="3886200"/>
            <a:ext cx="9601200" cy="68580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0080" y="3977640"/>
            <a:ext cx="502920" cy="502920"/>
          </a:xfrm>
          <a:prstGeom prst="ellipse">
            <a:avLst/>
          </a:prstGeom>
          <a:solidFill>
            <a:srgbClr val="E06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977640"/>
            <a:ext cx="502920" cy="502920"/>
          </a:xfrm>
          <a:prstGeom prst="rect">
            <a:avLst/>
          </a:prstGeom>
          <a:noFill/>
        </p:spPr>
        <p:txBody>
          <a:bodyPr wrap="square" anchor="t"/>
          <a:lstStyle/>
          <a:p>
            <a:pPr algn="ctr"/>
            <a:r>
              <a:rPr sz="2000" b="1" i="0">
                <a:solidFill>
                  <a:srgbClr val="FFFFFF"/>
                </a:solidFill>
                <a:latin typeface="Calibri"/>
              </a:rPr>
              <a:t>4</a:t>
            </a:r>
          </a:p>
        </p:txBody>
      </p:sp>
      <p:sp>
        <p:nvSpPr>
          <p:cNvPr id="22" name="TextBox 21"/>
          <p:cNvSpPr txBox="1"/>
          <p:nvPr/>
        </p:nvSpPr>
        <p:spPr>
          <a:xfrm>
            <a:off x="1463040" y="3977640"/>
            <a:ext cx="9235440" cy="502920"/>
          </a:xfrm>
          <a:prstGeom prst="rect">
            <a:avLst/>
          </a:prstGeom>
          <a:noFill/>
        </p:spPr>
        <p:txBody>
          <a:bodyPr wrap="square">
            <a:spAutoFit/>
          </a:bodyPr>
          <a:lstStyle/>
          <a:p>
            <a:pPr algn="l">
              <a:spcAft>
                <a:spcPts val="600"/>
              </a:spcAft>
            </a:pPr>
            <a:r>
              <a:rPr sz="1600" b="1" i="0">
                <a:solidFill>
                  <a:srgbClr val="FFFFFF"/>
                </a:solidFill>
                <a:latin typeface="Calibri"/>
              </a:rPr>
              <a:t>Projection</a:t>
            </a:r>
            <a:r>
              <a:rPr sz="1300" b="0" i="0">
                <a:solidFill>
                  <a:srgbClr val="AAAAAA"/>
                </a:solidFill>
                <a:latin typeface="Calibri"/>
              </a:rPr>
              <a:t>  —  Linear layer: 1024 → 4096-dim (LLM input space)</a:t>
            </a:r>
          </a:p>
        </p:txBody>
      </p:sp>
      <p:sp>
        <p:nvSpPr>
          <p:cNvPr id="23" name="TextBox 22"/>
          <p:cNvSpPr txBox="1"/>
          <p:nvPr/>
        </p:nvSpPr>
        <p:spPr>
          <a:xfrm>
            <a:off x="5897880" y="4526280"/>
            <a:ext cx="365760" cy="274320"/>
          </a:xfrm>
          <a:prstGeom prst="rect">
            <a:avLst/>
          </a:prstGeom>
          <a:noFill/>
        </p:spPr>
        <p:txBody>
          <a:bodyPr wrap="square" anchor="t"/>
          <a:lstStyle/>
          <a:p>
            <a:pPr algn="ctr"/>
            <a:r>
              <a:rPr sz="1600" b="0" i="0">
                <a:solidFill>
                  <a:srgbClr val="00B4D8"/>
                </a:solidFill>
                <a:latin typeface="Calibri"/>
              </a:rPr>
              <a:t>↓</a:t>
            </a:r>
          </a:p>
        </p:txBody>
      </p:sp>
      <p:sp>
        <p:nvSpPr>
          <p:cNvPr id="24" name="Rounded Rectangle 23"/>
          <p:cNvSpPr/>
          <p:nvPr/>
        </p:nvSpPr>
        <p:spPr>
          <a:xfrm>
            <a:off x="1280160" y="4709160"/>
            <a:ext cx="9601200" cy="68580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0080" y="4800600"/>
            <a:ext cx="502920" cy="502920"/>
          </a:xfrm>
          <a:prstGeom prst="ellipse">
            <a:avLst/>
          </a:prstGeom>
          <a:solidFill>
            <a:srgbClr val="E06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4800600"/>
            <a:ext cx="502920" cy="502920"/>
          </a:xfrm>
          <a:prstGeom prst="rect">
            <a:avLst/>
          </a:prstGeom>
          <a:noFill/>
        </p:spPr>
        <p:txBody>
          <a:bodyPr wrap="square" anchor="t"/>
          <a:lstStyle/>
          <a:p>
            <a:pPr algn="ctr"/>
            <a:r>
              <a:rPr sz="2000" b="1" i="0">
                <a:solidFill>
                  <a:srgbClr val="FFFFFF"/>
                </a:solidFill>
                <a:latin typeface="Calibri"/>
              </a:rPr>
              <a:t>5</a:t>
            </a:r>
          </a:p>
        </p:txBody>
      </p:sp>
      <p:sp>
        <p:nvSpPr>
          <p:cNvPr id="27" name="TextBox 26"/>
          <p:cNvSpPr txBox="1"/>
          <p:nvPr/>
        </p:nvSpPr>
        <p:spPr>
          <a:xfrm>
            <a:off x="1463040" y="4800600"/>
            <a:ext cx="9235440" cy="502920"/>
          </a:xfrm>
          <a:prstGeom prst="rect">
            <a:avLst/>
          </a:prstGeom>
          <a:noFill/>
        </p:spPr>
        <p:txBody>
          <a:bodyPr wrap="square">
            <a:spAutoFit/>
          </a:bodyPr>
          <a:lstStyle/>
          <a:p>
            <a:pPr algn="l">
              <a:spcAft>
                <a:spcPts val="600"/>
              </a:spcAft>
            </a:pPr>
            <a:r>
              <a:rPr sz="1600" b="1" i="0">
                <a:solidFill>
                  <a:srgbClr val="FFFFFF"/>
                </a:solidFill>
                <a:latin typeface="Calibri"/>
              </a:rPr>
              <a:t>LLM Generates Text</a:t>
            </a:r>
            <a:r>
              <a:rPr sz="1300" b="0" i="0">
                <a:solidFill>
                  <a:srgbClr val="AAAAAA"/>
                </a:solidFill>
                <a:latin typeface="Calibri"/>
              </a:rPr>
              <a:t>  —  LLaMA-2-7B decodes features into words</a:t>
            </a:r>
          </a:p>
        </p:txBody>
      </p:sp>
      <p:sp>
        <p:nvSpPr>
          <p:cNvPr id="28" name="TextBox 27"/>
          <p:cNvSpPr txBox="1"/>
          <p:nvPr/>
        </p:nvSpPr>
        <p:spPr>
          <a:xfrm>
            <a:off x="548640" y="5806440"/>
            <a:ext cx="11091672" cy="365760"/>
          </a:xfrm>
          <a:prstGeom prst="rect">
            <a:avLst/>
          </a:prstGeom>
          <a:noFill/>
        </p:spPr>
        <p:txBody>
          <a:bodyPr wrap="square" anchor="t"/>
          <a:lstStyle/>
          <a:p>
            <a:pPr algn="ctr"/>
            <a:r>
              <a:rPr sz="1300" b="0" i="1">
                <a:solidFill>
                  <a:srgbClr val="AAAAAA"/>
                </a:solidFill>
                <a:latin typeface="Calibri"/>
              </a:rPr>
              <a:t>Visual encoder is frozen (pre-trained on LRS3). Only projection + LoRA adapters are trained.</a:t>
            </a:r>
          </a:p>
        </p:txBody>
      </p:sp>
      <p:pic>
        <p:nvPicPr>
          <p:cNvPr id="29" name="Picture 28"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30" name="TextBox 29"/>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6</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fill="hold">
                            <p:stCondLst>
                              <p:cond delay="12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500"/>
                                  <p:tgtEl>
                                    <p:spTgt spid="9"/>
                                  </p:tgtEl>
                                </p:cBhvr>
                              </p:animEffect>
                            </p:childTnLst>
                          </p:cTn>
                        </p:par>
                        <p:par>
                          <p:cTn id="10" fill="hold">
                            <p:stCondLst>
                              <p:cond delay="24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par>
                          <p:cTn id="13" fill="hold">
                            <p:stCondLst>
                              <p:cond delay="36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fill="hold">
                            <p:stCondLst>
                              <p:cond delay="48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500"/>
                                  <p:tgtEl>
                                    <p:spTgt spid="24"/>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4" grpId="0"/>
      <p:bldP spid="19" grpId="0"/>
      <p:bldP spid="24" grpId="0"/>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The Benchmark: Paper vs Reality</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120640" cy="1005840"/>
          </a:xfrm>
          <a:prstGeom prst="rect">
            <a:avLst/>
          </a:prstGeom>
          <a:noFill/>
        </p:spPr>
        <p:txBody>
          <a:bodyPr wrap="square" anchor="t"/>
          <a:lstStyle/>
          <a:p>
            <a:pPr algn="l"/>
            <a:r>
              <a:rPr sz="7200" b="1" i="0">
                <a:solidFill>
                  <a:srgbClr val="00B4D8"/>
                </a:solidFill>
                <a:latin typeface="Calibri"/>
              </a:rPr>
              <a:t>25.4%</a:t>
            </a:r>
          </a:p>
        </p:txBody>
      </p:sp>
      <p:sp>
        <p:nvSpPr>
          <p:cNvPr id="5" name="TextBox 4"/>
          <p:cNvSpPr txBox="1"/>
          <p:nvPr/>
        </p:nvSpPr>
        <p:spPr>
          <a:xfrm>
            <a:off x="548640" y="2331720"/>
            <a:ext cx="5120640" cy="457200"/>
          </a:xfrm>
          <a:prstGeom prst="rect">
            <a:avLst/>
          </a:prstGeom>
          <a:noFill/>
        </p:spPr>
        <p:txBody>
          <a:bodyPr wrap="square" anchor="t"/>
          <a:lstStyle/>
          <a:p>
            <a:pPr algn="l"/>
            <a:r>
              <a:rPr sz="1500" b="0" i="0">
                <a:solidFill>
                  <a:srgbClr val="AAAAAA"/>
                </a:solidFill>
                <a:latin typeface="Calibri"/>
              </a:rPr>
              <a:t>WER on LRS3 (TED Talks)</a:t>
            </a:r>
          </a:p>
        </p:txBody>
      </p:sp>
      <p:sp>
        <p:nvSpPr>
          <p:cNvPr id="6" name="TextBox 5"/>
          <p:cNvSpPr txBox="1"/>
          <p:nvPr/>
        </p:nvSpPr>
        <p:spPr>
          <a:xfrm>
            <a:off x="548640" y="2834640"/>
            <a:ext cx="5120640" cy="2743200"/>
          </a:xfrm>
          <a:prstGeom prst="rect">
            <a:avLst/>
          </a:prstGeom>
          <a:noFill/>
        </p:spPr>
        <p:txBody>
          <a:bodyPr wrap="square">
            <a:spAutoFit/>
          </a:bodyPr>
          <a:lstStyle/>
          <a:p>
            <a:pPr algn="l">
              <a:spcAft>
                <a:spcPts val="600"/>
              </a:spcAft>
            </a:pPr>
            <a:r>
              <a:rPr sz="1500" b="1">
                <a:solidFill>
                  <a:srgbClr val="00B4D8"/>
                </a:solidFill>
                <a:latin typeface="Calibri"/>
              </a:rPr>
              <a:t>• </a:t>
            </a:r>
            <a:r>
              <a:rPr sz="1500" b="1">
                <a:solidFill>
                  <a:srgbClr val="FFFFFF"/>
                </a:solidFill>
                <a:latin typeface="Calibri"/>
              </a:rPr>
              <a:t>LRS3: 1,000+ hours of TED talks</a:t>
            </a:r>
          </a:p>
          <a:p>
            <a:pPr algn="l">
              <a:spcAft>
                <a:spcPts val="600"/>
              </a:spcAft>
            </a:pPr>
            <a:r>
              <a:rPr sz="1500" b="1">
                <a:solidFill>
                  <a:srgbClr val="00B4D8"/>
                </a:solidFill>
                <a:latin typeface="Calibri"/>
              </a:rPr>
              <a:t>• </a:t>
            </a:r>
            <a:r>
              <a:rPr sz="1500" b="0">
                <a:solidFill>
                  <a:srgbClr val="FFFFFF"/>
                </a:solidFill>
                <a:latin typeface="Calibri"/>
              </a:rPr>
              <a:t>Controlled studio lighting, frontal face, professional speakers</a:t>
            </a:r>
          </a:p>
          <a:p>
            <a:pPr algn="l">
              <a:spcAft>
                <a:spcPts val="600"/>
              </a:spcAft>
            </a:pPr>
            <a:r>
              <a:rPr sz="1500" b="1">
                <a:solidFill>
                  <a:srgbClr val="00B4D8"/>
                </a:solidFill>
                <a:latin typeface="Calibri"/>
              </a:rPr>
              <a:t>• </a:t>
            </a:r>
            <a:r>
              <a:rPr sz="1500" b="0">
                <a:solidFill>
                  <a:srgbClr val="FFFFFF"/>
                </a:solidFill>
                <a:latin typeface="Calibri"/>
              </a:rPr>
              <a:t>High-quality audio alignment, clean transcripts</a:t>
            </a:r>
          </a:p>
          <a:p>
            <a:pPr algn="l">
              <a:spcAft>
                <a:spcPts val="600"/>
              </a:spcAft>
            </a:pPr>
            <a:r>
              <a:rPr sz="1500" b="1">
                <a:solidFill>
                  <a:srgbClr val="00B4D8"/>
                </a:solidFill>
                <a:latin typeface="Calibri"/>
              </a:rPr>
              <a:t>• </a:t>
            </a:r>
            <a:r>
              <a:rPr sz="1500" b="0">
                <a:solidFill>
                  <a:srgbClr val="E06C75"/>
                </a:solidFill>
                <a:latin typeface="Calibri"/>
              </a:rPr>
              <a:t>Our dataset: 1,497 YouTube segments</a:t>
            </a:r>
          </a:p>
          <a:p>
            <a:pPr algn="l">
              <a:spcAft>
                <a:spcPts val="600"/>
              </a:spcAft>
            </a:pPr>
            <a:r>
              <a:rPr sz="1500" b="1">
                <a:solidFill>
                  <a:srgbClr val="00B4D8"/>
                </a:solidFill>
                <a:latin typeface="Calibri"/>
              </a:rPr>
              <a:t>• </a:t>
            </a:r>
            <a:r>
              <a:rPr sz="1500" b="0">
                <a:solidFill>
                  <a:srgbClr val="FFFFFF"/>
                </a:solidFill>
                <a:latin typeface="Calibri"/>
              </a:rPr>
              <a:t>Uncontrolled conditions, diverse topics, multiple accents</a:t>
            </a:r>
          </a:p>
          <a:p>
            <a:pPr algn="l">
              <a:spcAft>
                <a:spcPts val="600"/>
              </a:spcAft>
            </a:pPr>
            <a:r>
              <a:rPr sz="1500" b="1">
                <a:solidFill>
                  <a:srgbClr val="00B4D8"/>
                </a:solidFill>
                <a:latin typeface="Calibri"/>
              </a:rPr>
              <a:t>• </a:t>
            </a:r>
            <a:r>
              <a:rPr sz="1500" b="1">
                <a:solidFill>
                  <a:srgbClr val="E06C75"/>
                </a:solidFill>
                <a:latin typeface="Calibri"/>
              </a:rPr>
              <a:t>Real-world YouTube: 64.1% WER — 2.5× worse</a:t>
            </a:r>
          </a:p>
        </p:txBody>
      </p:sp>
      <p:sp>
        <p:nvSpPr>
          <p:cNvPr id="7" name="TextBox 6"/>
          <p:cNvSpPr txBox="1"/>
          <p:nvPr/>
        </p:nvSpPr>
        <p:spPr>
          <a:xfrm>
            <a:off x="548640" y="5897880"/>
            <a:ext cx="11091672" cy="457200"/>
          </a:xfrm>
          <a:prstGeom prst="rect">
            <a:avLst/>
          </a:prstGeom>
          <a:noFill/>
        </p:spPr>
        <p:txBody>
          <a:bodyPr wrap="square" anchor="t"/>
          <a:lstStyle/>
          <a:p>
            <a:pPr algn="l"/>
            <a:r>
              <a:rPr sz="1300" b="0" i="1">
                <a:solidFill>
                  <a:srgbClr val="AAAAAA"/>
                </a:solidFill>
                <a:latin typeface="Calibri"/>
              </a:rPr>
              <a:t>Two questions: How does this hold on real-world video? And is WER even the right metric?</a:t>
            </a:r>
          </a:p>
        </p:txBody>
      </p:sp>
      <p:pic>
        <p:nvPicPr>
          <p:cNvPr id="8" name="Picture 7" descr="P2_paper_vs_reality.png"/>
          <p:cNvPicPr>
            <a:picLocks noChangeAspect="1"/>
          </p:cNvPicPr>
          <p:nvPr/>
        </p:nvPicPr>
        <p:blipFill>
          <a:blip r:embed="rId2"/>
          <a:stretch>
            <a:fillRect/>
          </a:stretch>
        </p:blipFill>
        <p:spPr>
          <a:xfrm>
            <a:off x="5943600" y="1325880"/>
            <a:ext cx="5422392" cy="4140673"/>
          </a:xfrm>
          <a:prstGeom prst="rect">
            <a:avLst/>
          </a:prstGeom>
        </p:spPr>
      </p:pic>
      <p:pic>
        <p:nvPicPr>
          <p:cNvPr id="9" name="Picture 8" descr="BlackLogo300x300-W-BG.png"/>
          <p:cNvPicPr>
            <a:picLocks noChangeAspect="1"/>
          </p:cNvPicPr>
          <p:nvPr/>
        </p:nvPicPr>
        <p:blipFill>
          <a:blip r:embed="rId3"/>
          <a:stretch>
            <a:fillRect/>
          </a:stretch>
        </p:blipFill>
        <p:spPr>
          <a:xfrm>
            <a:off x="11323320" y="6428232"/>
            <a:ext cx="271117" cy="320040"/>
          </a:xfrm>
          <a:prstGeom prst="rect">
            <a:avLst/>
          </a:prstGeom>
        </p:spPr>
      </p:pic>
      <p:sp>
        <p:nvSpPr>
          <p:cNvPr id="10" name="TextBox 9"/>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7</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fill="hold">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par>
                          <p:cTn id="10" fill="hold">
                            <p:stCondLst>
                              <p:cond delay="24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fill="hold">
                            <p:stCondLst>
                              <p:cond delay="36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par>
                    <p:cTn id="16" fill="hold">
                      <p:stCondLst>
                        <p:cond delay="0"/>
                      </p:stCondLst>
                      <p:childTnLst>
                        <p:par>
                          <p:cTn id="17" fill="hold">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8" grpId="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Our Evaluation: 1,497 Real-World Segments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914400"/>
          </a:xfrm>
          <a:prstGeom prst="rect">
            <a:avLst/>
          </a:prstGeom>
          <a:noFill/>
        </p:spPr>
        <p:txBody>
          <a:bodyPr wrap="square" anchor="t"/>
          <a:lstStyle/>
          <a:p>
            <a:pPr algn="l"/>
            <a:r>
              <a:rPr sz="6400" b="1" i="0">
                <a:solidFill>
                  <a:srgbClr val="00B4D8"/>
                </a:solidFill>
                <a:latin typeface="Calibri"/>
              </a:rPr>
              <a:t>1,497</a:t>
            </a:r>
          </a:p>
        </p:txBody>
      </p:sp>
      <p:sp>
        <p:nvSpPr>
          <p:cNvPr id="5" name="TextBox 4"/>
          <p:cNvSpPr txBox="1"/>
          <p:nvPr/>
        </p:nvSpPr>
        <p:spPr>
          <a:xfrm>
            <a:off x="548640" y="2240280"/>
            <a:ext cx="5029200" cy="365760"/>
          </a:xfrm>
          <a:prstGeom prst="rect">
            <a:avLst/>
          </a:prstGeom>
          <a:noFill/>
        </p:spPr>
        <p:txBody>
          <a:bodyPr wrap="square" anchor="t"/>
          <a:lstStyle/>
          <a:p>
            <a:pPr algn="l"/>
            <a:r>
              <a:rPr sz="1600" b="0" i="0">
                <a:solidFill>
                  <a:srgbClr val="FFFFFF"/>
                </a:solidFill>
                <a:latin typeface="Calibri"/>
              </a:rPr>
              <a:t>segments from diverse YouTube videos</a:t>
            </a:r>
          </a:p>
        </p:txBody>
      </p:sp>
      <p:sp>
        <p:nvSpPr>
          <p:cNvPr id="6" name="TextBox 5"/>
          <p:cNvSpPr txBox="1"/>
          <p:nvPr/>
        </p:nvSpPr>
        <p:spPr>
          <a:xfrm>
            <a:off x="548640" y="2788920"/>
            <a:ext cx="5029200" cy="2286000"/>
          </a:xfrm>
          <a:prstGeom prst="rect">
            <a:avLst/>
          </a:prstGeom>
          <a:noFill/>
        </p:spPr>
        <p:txBody>
          <a:bodyPr wrap="square">
            <a:spAutoFit/>
          </a:bodyPr>
          <a:lstStyle/>
          <a:p>
            <a:pPr algn="l">
              <a:spcAft>
                <a:spcPts val="600"/>
              </a:spcAft>
            </a:pPr>
            <a:r>
              <a:rPr sz="1400" b="1">
                <a:solidFill>
                  <a:srgbClr val="00B4D8"/>
                </a:solidFill>
                <a:latin typeface="Calibri"/>
              </a:rPr>
              <a:t>• </a:t>
            </a:r>
            <a:r>
              <a:rPr sz="1400" b="0">
                <a:solidFill>
                  <a:srgbClr val="FFFFFF"/>
                </a:solidFill>
                <a:latin typeface="Calibri"/>
              </a:rPr>
              <a:t>Uncontrolled lighting, angles, occlusions</a:t>
            </a:r>
          </a:p>
          <a:p>
            <a:pPr algn="l">
              <a:spcAft>
                <a:spcPts val="600"/>
              </a:spcAft>
            </a:pPr>
            <a:r>
              <a:rPr sz="1400" b="1">
                <a:solidFill>
                  <a:srgbClr val="00B4D8"/>
                </a:solidFill>
                <a:latin typeface="Calibri"/>
              </a:rPr>
              <a:t>• </a:t>
            </a:r>
            <a:r>
              <a:rPr sz="1400" b="0">
                <a:solidFill>
                  <a:srgbClr val="FFFFFF"/>
                </a:solidFill>
                <a:latin typeface="Calibri"/>
              </a:rPr>
              <a:t>Multiple speakers and accents</a:t>
            </a:r>
          </a:p>
          <a:p>
            <a:pPr algn="l">
              <a:spcAft>
                <a:spcPts val="600"/>
              </a:spcAft>
            </a:pPr>
            <a:r>
              <a:rPr sz="1400" b="1">
                <a:solidFill>
                  <a:srgbClr val="00B4D8"/>
                </a:solidFill>
                <a:latin typeface="Calibri"/>
              </a:rPr>
              <a:t>• </a:t>
            </a:r>
            <a:r>
              <a:rPr sz="1400" b="0">
                <a:solidFill>
                  <a:srgbClr val="FFFFFF"/>
                </a:solidFill>
                <a:latin typeface="Calibri"/>
              </a:rPr>
              <a:t>Diverse topics: business to DIY to gaming</a:t>
            </a:r>
          </a:p>
          <a:p>
            <a:pPr algn="l">
              <a:spcAft>
                <a:spcPts val="600"/>
              </a:spcAft>
            </a:pPr>
            <a:r>
              <a:rPr sz="1400" b="1">
                <a:solidFill>
                  <a:srgbClr val="00B4D8"/>
                </a:solidFill>
                <a:latin typeface="Calibri"/>
              </a:rPr>
              <a:t>• </a:t>
            </a:r>
            <a:r>
              <a:rPr sz="1400" b="1">
                <a:solidFill>
                  <a:srgbClr val="FFFFFF"/>
                </a:solidFill>
                <a:latin typeface="Calibri"/>
              </a:rPr>
              <a:t>Not a curated benchmark — real-world difficulty</a:t>
            </a:r>
          </a:p>
        </p:txBody>
      </p:sp>
      <p:sp>
        <p:nvSpPr>
          <p:cNvPr id="7" name="TextBox 6"/>
          <p:cNvSpPr txBox="1"/>
          <p:nvPr/>
        </p:nvSpPr>
        <p:spPr>
          <a:xfrm>
            <a:off x="6611111" y="1325880"/>
            <a:ext cx="5029200" cy="365760"/>
          </a:xfrm>
          <a:prstGeom prst="rect">
            <a:avLst/>
          </a:prstGeom>
          <a:noFill/>
        </p:spPr>
        <p:txBody>
          <a:bodyPr wrap="square" anchor="t"/>
          <a:lstStyle/>
          <a:p>
            <a:pPr algn="l"/>
            <a:r>
              <a:rPr sz="1700" b="1" i="0">
                <a:solidFill>
                  <a:srgbClr val="E06C75"/>
                </a:solidFill>
                <a:latin typeface="Calibri"/>
              </a:rPr>
              <a:t>Topic Distribution</a:t>
            </a:r>
          </a:p>
        </p:txBody>
      </p:sp>
      <p:graphicFrame>
        <p:nvGraphicFramePr>
          <p:cNvPr id="8" name="Table 7"/>
          <p:cNvGraphicFramePr>
            <a:graphicFrameLocks noGrp="1"/>
          </p:cNvGraphicFramePr>
          <p:nvPr/>
        </p:nvGraphicFramePr>
        <p:xfrm>
          <a:off x="6611111" y="1783080"/>
          <a:ext cx="5029200" cy="2779776"/>
        </p:xfrm>
        <a:graphic>
          <a:graphicData uri="http://schemas.openxmlformats.org/drawingml/2006/table">
            <a:tbl>
              <a:tblPr firstRow="0" bandRow="0" lastRow="0" bandCol="0">
                <a:tableStyleId>{5C22544A-7EE6-4342-B048-85BDC9FD1C3A}</a:tableStyleId>
              </a:tblPr>
              <a:tblGrid>
                <a:gridCol w="1676400"/>
                <a:gridCol w="1676400"/>
                <a:gridCol w="1676400"/>
              </a:tblGrid>
              <a:tr h="347472">
                <a:tc>
                  <a:txBody>
                    <a:bodyPr/>
                    <a:lstStyle/>
                    <a:p>
                      <a:pPr algn="ctr"/>
                      <a:r>
                        <a:rPr sz="1200" b="1" i="0">
                          <a:solidFill>
                            <a:srgbClr val="FFFFFF"/>
                          </a:solidFill>
                          <a:latin typeface="Calibri"/>
                        </a:rPr>
                        <a:t>Topic</a:t>
                      </a:r>
                    </a:p>
                  </a:txBody>
                  <a:tcPr>
                    <a:solidFill>
                      <a:srgbClr val="00b4d8"/>
                    </a:solidFill>
                  </a:tcPr>
                </a:tc>
                <a:tc>
                  <a:txBody>
                    <a:bodyPr/>
                    <a:lstStyle/>
                    <a:p>
                      <a:pPr algn="ctr"/>
                      <a:r>
                        <a:rPr sz="1200" b="1" i="0">
                          <a:solidFill>
                            <a:srgbClr val="FFFFFF"/>
                          </a:solidFill>
                          <a:latin typeface="Calibri"/>
                        </a:rPr>
                        <a:t>Segments</a:t>
                      </a:r>
                    </a:p>
                  </a:txBody>
                  <a:tcPr>
                    <a:solidFill>
                      <a:srgbClr val="00b4d8"/>
                    </a:solidFill>
                  </a:tcPr>
                </a:tc>
                <a:tc>
                  <a:txBody>
                    <a:bodyPr/>
                    <a:lstStyle/>
                    <a:p>
                      <a:pPr algn="ctr"/>
                      <a:r>
                        <a:rPr sz="1200" b="1" i="0">
                          <a:solidFill>
                            <a:srgbClr val="FFFFFF"/>
                          </a:solidFill>
                          <a:latin typeface="Calibri"/>
                        </a:rPr>
                        <a:t>IS</a:t>
                      </a:r>
                    </a:p>
                  </a:txBody>
                  <a:tcPr>
                    <a:solidFill>
                      <a:srgbClr val="00b4d8"/>
                    </a:solidFill>
                  </a:tcPr>
                </a:tc>
              </a:tr>
              <a:tr h="347472">
                <a:tc>
                  <a:txBody>
                    <a:bodyPr/>
                    <a:lstStyle/>
                    <a:p>
                      <a:pPr algn="l"/>
                      <a:r>
                        <a:rPr sz="1200" b="0" i="0">
                          <a:solidFill>
                            <a:srgbClr val="FFFFFF"/>
                          </a:solidFill>
                          <a:latin typeface="Calibri"/>
                        </a:rPr>
                        <a:t>Business/Finance</a:t>
                      </a:r>
                    </a:p>
                  </a:txBody>
                  <a:tcPr>
                    <a:solidFill>
                      <a:srgbClr val="0d1b2a"/>
                    </a:solidFill>
                  </a:tcPr>
                </a:tc>
                <a:tc>
                  <a:txBody>
                    <a:bodyPr/>
                    <a:lstStyle/>
                    <a:p>
                      <a:pPr algn="l"/>
                      <a:r>
                        <a:rPr sz="1200" b="0" i="0">
                          <a:solidFill>
                            <a:srgbClr val="FFFFFF"/>
                          </a:solidFill>
                          <a:latin typeface="Calibri"/>
                        </a:rPr>
                        <a:t>214</a:t>
                      </a:r>
                    </a:p>
                  </a:txBody>
                  <a:tcPr>
                    <a:solidFill>
                      <a:srgbClr val="0d1b2a"/>
                    </a:solidFill>
                  </a:tcPr>
                </a:tc>
                <a:tc>
                  <a:txBody>
                    <a:bodyPr/>
                    <a:lstStyle/>
                    <a:p>
                      <a:pPr algn="l"/>
                      <a:r>
                        <a:rPr sz="1200" b="0" i="0">
                          <a:solidFill>
                            <a:srgbClr val="4CAF50"/>
                          </a:solidFill>
                          <a:latin typeface="Calibri"/>
                        </a:rPr>
                        <a:t>3.08</a:t>
                      </a:r>
                    </a:p>
                  </a:txBody>
                  <a:tcPr>
                    <a:solidFill>
                      <a:srgbClr val="0d1b2a"/>
                    </a:solidFill>
                  </a:tcPr>
                </a:tc>
              </a:tr>
              <a:tr h="347472">
                <a:tc>
                  <a:txBody>
                    <a:bodyPr/>
                    <a:lstStyle/>
                    <a:p>
                      <a:pPr algn="l"/>
                      <a:r>
                        <a:rPr sz="1200" b="0" i="0">
                          <a:solidFill>
                            <a:srgbClr val="FFFFFF"/>
                          </a:solidFill>
                          <a:latin typeface="Calibri"/>
                        </a:rPr>
                        <a:t>Education/Lecture</a:t>
                      </a:r>
                    </a:p>
                  </a:txBody>
                  <a:tcPr>
                    <a:solidFill>
                      <a:srgbClr val="152a40"/>
                    </a:solidFill>
                  </a:tcPr>
                </a:tc>
                <a:tc>
                  <a:txBody>
                    <a:bodyPr/>
                    <a:lstStyle/>
                    <a:p>
                      <a:pPr algn="l"/>
                      <a:r>
                        <a:rPr sz="1200" b="0" i="0">
                          <a:solidFill>
                            <a:srgbClr val="FFFFFF"/>
                          </a:solidFill>
                          <a:latin typeface="Calibri"/>
                        </a:rPr>
                        <a:t>312</a:t>
                      </a:r>
                    </a:p>
                  </a:txBody>
                  <a:tcPr>
                    <a:solidFill>
                      <a:srgbClr val="152a40"/>
                    </a:solidFill>
                  </a:tcPr>
                </a:tc>
                <a:tc>
                  <a:txBody>
                    <a:bodyPr/>
                    <a:lstStyle/>
                    <a:p>
                      <a:pPr algn="l"/>
                      <a:r>
                        <a:rPr sz="1200" b="0" i="0">
                          <a:solidFill>
                            <a:srgbClr val="FFFFFF"/>
                          </a:solidFill>
                          <a:latin typeface="Calibri"/>
                        </a:rPr>
                        <a:t>2.63</a:t>
                      </a:r>
                    </a:p>
                  </a:txBody>
                  <a:tcPr>
                    <a:solidFill>
                      <a:srgbClr val="152a40"/>
                    </a:solidFill>
                  </a:tcPr>
                </a:tc>
              </a:tr>
              <a:tr h="347472">
                <a:tc>
                  <a:txBody>
                    <a:bodyPr/>
                    <a:lstStyle/>
                    <a:p>
                      <a:pPr algn="l"/>
                      <a:r>
                        <a:rPr sz="1200" b="0" i="0">
                          <a:solidFill>
                            <a:srgbClr val="FFFFFF"/>
                          </a:solidFill>
                          <a:latin typeface="Calibri"/>
                        </a:rPr>
                        <a:t>Entertainment</a:t>
                      </a:r>
                    </a:p>
                  </a:txBody>
                  <a:tcPr>
                    <a:solidFill>
                      <a:srgbClr val="0d1b2a"/>
                    </a:solidFill>
                  </a:tcPr>
                </a:tc>
                <a:tc>
                  <a:txBody>
                    <a:bodyPr/>
                    <a:lstStyle/>
                    <a:p>
                      <a:pPr algn="l"/>
                      <a:r>
                        <a:rPr sz="1200" b="0" i="0">
                          <a:solidFill>
                            <a:srgbClr val="FFFFFF"/>
                          </a:solidFill>
                          <a:latin typeface="Calibri"/>
                        </a:rPr>
                        <a:t>198</a:t>
                      </a:r>
                    </a:p>
                  </a:txBody>
                  <a:tcPr>
                    <a:solidFill>
                      <a:srgbClr val="0d1b2a"/>
                    </a:solidFill>
                  </a:tcPr>
                </a:tc>
                <a:tc>
                  <a:txBody>
                    <a:bodyPr/>
                    <a:lstStyle/>
                    <a:p>
                      <a:pPr algn="l"/>
                      <a:r>
                        <a:rPr sz="1200" b="0" i="0">
                          <a:solidFill>
                            <a:srgbClr val="FFFFFF"/>
                          </a:solidFill>
                          <a:latin typeface="Calibri"/>
                        </a:rPr>
                        <a:t>2.51</a:t>
                      </a:r>
                    </a:p>
                  </a:txBody>
                  <a:tcPr>
                    <a:solidFill>
                      <a:srgbClr val="0d1b2a"/>
                    </a:solidFill>
                  </a:tcPr>
                </a:tc>
              </a:tr>
              <a:tr h="347472">
                <a:tc>
                  <a:txBody>
                    <a:bodyPr/>
                    <a:lstStyle/>
                    <a:p>
                      <a:pPr algn="l"/>
                      <a:r>
                        <a:rPr sz="1200" b="0" i="0">
                          <a:solidFill>
                            <a:srgbClr val="FFFFFF"/>
                          </a:solidFill>
                          <a:latin typeface="Calibri"/>
                        </a:rPr>
                        <a:t>News/Politics</a:t>
                      </a:r>
                    </a:p>
                  </a:txBody>
                  <a:tcPr>
                    <a:solidFill>
                      <a:srgbClr val="152a40"/>
                    </a:solidFill>
                  </a:tcPr>
                </a:tc>
                <a:tc>
                  <a:txBody>
                    <a:bodyPr/>
                    <a:lstStyle/>
                    <a:p>
                      <a:pPr algn="l"/>
                      <a:r>
                        <a:rPr sz="1200" b="0" i="0">
                          <a:solidFill>
                            <a:srgbClr val="FFFFFF"/>
                          </a:solidFill>
                          <a:latin typeface="Calibri"/>
                        </a:rPr>
                        <a:t>267</a:t>
                      </a:r>
                    </a:p>
                  </a:txBody>
                  <a:tcPr>
                    <a:solidFill>
                      <a:srgbClr val="152a40"/>
                    </a:solidFill>
                  </a:tcPr>
                </a:tc>
                <a:tc>
                  <a:txBody>
                    <a:bodyPr/>
                    <a:lstStyle/>
                    <a:p>
                      <a:pPr algn="l"/>
                      <a:r>
                        <a:rPr sz="1200" b="0" i="0">
                          <a:solidFill>
                            <a:srgbClr val="FFFFFF"/>
                          </a:solidFill>
                          <a:latin typeface="Calibri"/>
                        </a:rPr>
                        <a:t>2.48</a:t>
                      </a:r>
                    </a:p>
                  </a:txBody>
                  <a:tcPr>
                    <a:solidFill>
                      <a:srgbClr val="152a40"/>
                    </a:solidFill>
                  </a:tcPr>
                </a:tc>
              </a:tr>
              <a:tr h="347472">
                <a:tc>
                  <a:txBody>
                    <a:bodyPr/>
                    <a:lstStyle/>
                    <a:p>
                      <a:pPr algn="l"/>
                      <a:r>
                        <a:rPr sz="1200" b="0" i="0">
                          <a:solidFill>
                            <a:srgbClr val="FFFFFF"/>
                          </a:solidFill>
                          <a:latin typeface="Calibri"/>
                        </a:rPr>
                        <a:t>Tech/Science</a:t>
                      </a:r>
                    </a:p>
                  </a:txBody>
                  <a:tcPr>
                    <a:solidFill>
                      <a:srgbClr val="0d1b2a"/>
                    </a:solidFill>
                  </a:tcPr>
                </a:tc>
                <a:tc>
                  <a:txBody>
                    <a:bodyPr/>
                    <a:lstStyle/>
                    <a:p>
                      <a:pPr algn="l"/>
                      <a:r>
                        <a:rPr sz="1200" b="0" i="0">
                          <a:solidFill>
                            <a:srgbClr val="FFFFFF"/>
                          </a:solidFill>
                          <a:latin typeface="Calibri"/>
                        </a:rPr>
                        <a:t>186</a:t>
                      </a:r>
                    </a:p>
                  </a:txBody>
                  <a:tcPr>
                    <a:solidFill>
                      <a:srgbClr val="0d1b2a"/>
                    </a:solidFill>
                  </a:tcPr>
                </a:tc>
                <a:tc>
                  <a:txBody>
                    <a:bodyPr/>
                    <a:lstStyle/>
                    <a:p>
                      <a:pPr algn="l"/>
                      <a:r>
                        <a:rPr sz="1200" b="0" i="0">
                          <a:solidFill>
                            <a:srgbClr val="FFFFFF"/>
                          </a:solidFill>
                          <a:latin typeface="Calibri"/>
                        </a:rPr>
                        <a:t>2.43</a:t>
                      </a:r>
                    </a:p>
                  </a:txBody>
                  <a:tcPr>
                    <a:solidFill>
                      <a:srgbClr val="0d1b2a"/>
                    </a:solidFill>
                  </a:tcPr>
                </a:tc>
              </a:tr>
              <a:tr h="347472">
                <a:tc>
                  <a:txBody>
                    <a:bodyPr/>
                    <a:lstStyle/>
                    <a:p>
                      <a:pPr algn="l"/>
                      <a:r>
                        <a:rPr sz="1200" b="0" i="0">
                          <a:solidFill>
                            <a:srgbClr val="FFFFFF"/>
                          </a:solidFill>
                          <a:latin typeface="Calibri"/>
                        </a:rPr>
                        <a:t>Sports/Health</a:t>
                      </a:r>
                    </a:p>
                  </a:txBody>
                  <a:tcPr>
                    <a:solidFill>
                      <a:srgbClr val="152a40"/>
                    </a:solidFill>
                  </a:tcPr>
                </a:tc>
                <a:tc>
                  <a:txBody>
                    <a:bodyPr/>
                    <a:lstStyle/>
                    <a:p>
                      <a:pPr algn="l"/>
                      <a:r>
                        <a:rPr sz="1200" b="0" i="0">
                          <a:solidFill>
                            <a:srgbClr val="FFFFFF"/>
                          </a:solidFill>
                          <a:latin typeface="Calibri"/>
                        </a:rPr>
                        <a:t>153</a:t>
                      </a:r>
                    </a:p>
                  </a:txBody>
                  <a:tcPr>
                    <a:solidFill>
                      <a:srgbClr val="152a40"/>
                    </a:solidFill>
                  </a:tcPr>
                </a:tc>
                <a:tc>
                  <a:txBody>
                    <a:bodyPr/>
                    <a:lstStyle/>
                    <a:p>
                      <a:pPr algn="l"/>
                      <a:r>
                        <a:rPr sz="1200" b="0" i="0">
                          <a:solidFill>
                            <a:srgbClr val="FFFFFF"/>
                          </a:solidFill>
                          <a:latin typeface="Calibri"/>
                        </a:rPr>
                        <a:t>2.38</a:t>
                      </a:r>
                    </a:p>
                  </a:txBody>
                  <a:tcPr>
                    <a:solidFill>
                      <a:srgbClr val="152a40"/>
                    </a:solidFill>
                  </a:tcPr>
                </a:tc>
              </a:tr>
              <a:tr h="347472">
                <a:tc>
                  <a:txBody>
                    <a:bodyPr/>
                    <a:lstStyle/>
                    <a:p>
                      <a:pPr algn="l"/>
                      <a:r>
                        <a:rPr sz="1200" b="0" i="0">
                          <a:solidFill>
                            <a:srgbClr val="FFFFFF"/>
                          </a:solidFill>
                          <a:latin typeface="Calibri"/>
                        </a:rPr>
                        <a:t>DIY/Home</a:t>
                      </a:r>
                    </a:p>
                  </a:txBody>
                  <a:tcPr>
                    <a:solidFill>
                      <a:srgbClr val="0d1b2a"/>
                    </a:solidFill>
                  </a:tcPr>
                </a:tc>
                <a:tc>
                  <a:txBody>
                    <a:bodyPr/>
                    <a:lstStyle/>
                    <a:p>
                      <a:pPr algn="l"/>
                      <a:r>
                        <a:rPr sz="1200" b="0" i="0">
                          <a:solidFill>
                            <a:srgbClr val="FFFFFF"/>
                          </a:solidFill>
                          <a:latin typeface="Calibri"/>
                        </a:rPr>
                        <a:t>167</a:t>
                      </a:r>
                    </a:p>
                  </a:txBody>
                  <a:tcPr>
                    <a:solidFill>
                      <a:srgbClr val="0d1b2a"/>
                    </a:solidFill>
                  </a:tcPr>
                </a:tc>
                <a:tc>
                  <a:txBody>
                    <a:bodyPr/>
                    <a:lstStyle/>
                    <a:p>
                      <a:pPr algn="l"/>
                      <a:r>
                        <a:rPr sz="1200" b="0" i="0">
                          <a:solidFill>
                            <a:srgbClr val="E06C75"/>
                          </a:solidFill>
                          <a:latin typeface="Calibri"/>
                        </a:rPr>
                        <a:t>2.13</a:t>
                      </a:r>
                    </a:p>
                  </a:txBody>
                  <a:tcPr>
                    <a:solidFill>
                      <a:srgbClr val="0d1b2a"/>
                    </a:solidFill>
                  </a:tcPr>
                </a:tc>
              </a:tr>
            </a:tbl>
          </a:graphicData>
        </a:graphic>
      </p:graphicFrame>
      <p:pic>
        <p:nvPicPr>
          <p:cNvPr id="9" name="Picture 8"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0" name="TextBox 9"/>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8</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fill="hold">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par>
                          <p:cTn id="10" fill="hold">
                            <p:stCondLst>
                              <p:cond delay="24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par>
                    <p:cTn id="13" fill="hold">
                      <p:stCondLst>
                        <p:cond delay="0"/>
                      </p:stCondLst>
                      <p:childTnLst>
                        <p:par>
                          <p:cTn id="14" fill="hold">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8" grpId="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The Reality Gap</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120640" cy="1005840"/>
          </a:xfrm>
          <a:prstGeom prst="rect">
            <a:avLst/>
          </a:prstGeom>
          <a:noFill/>
        </p:spPr>
        <p:txBody>
          <a:bodyPr wrap="square" anchor="t"/>
          <a:lstStyle/>
          <a:p>
            <a:pPr algn="l"/>
            <a:r>
              <a:rPr sz="7200" b="1" i="0">
                <a:solidFill>
                  <a:srgbClr val="E06C75"/>
                </a:solidFill>
                <a:latin typeface="Calibri"/>
              </a:rPr>
              <a:t>64.1%</a:t>
            </a:r>
          </a:p>
        </p:txBody>
      </p:sp>
      <p:sp>
        <p:nvSpPr>
          <p:cNvPr id="5" name="TextBox 4"/>
          <p:cNvSpPr txBox="1"/>
          <p:nvPr/>
        </p:nvSpPr>
        <p:spPr>
          <a:xfrm>
            <a:off x="548640" y="2331720"/>
            <a:ext cx="5120640" cy="457200"/>
          </a:xfrm>
          <a:prstGeom prst="rect">
            <a:avLst/>
          </a:prstGeom>
          <a:noFill/>
        </p:spPr>
        <p:txBody>
          <a:bodyPr wrap="square" anchor="t"/>
          <a:lstStyle/>
          <a:p>
            <a:pPr algn="l"/>
            <a:r>
              <a:rPr sz="1500" b="0" i="0">
                <a:solidFill>
                  <a:srgbClr val="AAAAAA"/>
                </a:solidFill>
                <a:latin typeface="Calibri"/>
              </a:rPr>
              <a:t>Mean WER across 1,497 real-world segments</a:t>
            </a:r>
          </a:p>
        </p:txBody>
      </p:sp>
      <p:sp>
        <p:nvSpPr>
          <p:cNvPr id="6" name="TextBox 5"/>
          <p:cNvSpPr txBox="1"/>
          <p:nvPr/>
        </p:nvSpPr>
        <p:spPr>
          <a:xfrm>
            <a:off x="548640" y="2834640"/>
            <a:ext cx="5120640" cy="2743200"/>
          </a:xfrm>
          <a:prstGeom prst="rect">
            <a:avLst/>
          </a:prstGeom>
          <a:noFill/>
        </p:spPr>
        <p:txBody>
          <a:bodyPr wrap="square">
            <a:spAutoFit/>
          </a:bodyPr>
          <a:lstStyle/>
          <a:p>
            <a:pPr algn="l">
              <a:spcAft>
                <a:spcPts val="600"/>
              </a:spcAft>
            </a:pPr>
            <a:r>
              <a:rPr sz="1500" b="1">
                <a:solidFill>
                  <a:srgbClr val="4CAF50"/>
                </a:solidFill>
                <a:latin typeface="Calibri"/>
              </a:rPr>
              <a:t>● </a:t>
            </a:r>
            <a:r>
              <a:rPr sz="1500" b="0">
                <a:solidFill>
                  <a:srgbClr val="FFFFFF"/>
                </a:solidFill>
                <a:latin typeface="Calibri"/>
              </a:rPr>
              <a:t>11.4% Usable (&lt;30%)</a:t>
            </a:r>
          </a:p>
          <a:p>
            <a:pPr algn="l">
              <a:spcAft>
                <a:spcPts val="600"/>
              </a:spcAft>
            </a:pPr>
            <a:r>
              <a:rPr sz="1500" b="1">
                <a:solidFill>
                  <a:srgbClr val="FFC107"/>
                </a:solidFill>
                <a:latin typeface="Calibri"/>
              </a:rPr>
              <a:t>● </a:t>
            </a:r>
            <a:r>
              <a:rPr sz="1500" b="0">
                <a:solidFill>
                  <a:srgbClr val="FFFFFF"/>
                </a:solidFill>
                <a:latin typeface="Calibri"/>
              </a:rPr>
              <a:t>17.4% Marginal (30-50%)</a:t>
            </a:r>
          </a:p>
          <a:p>
            <a:pPr algn="l">
              <a:spcAft>
                <a:spcPts val="600"/>
              </a:spcAft>
            </a:pPr>
            <a:r>
              <a:rPr sz="1500" b="1">
                <a:solidFill>
                  <a:srgbClr val="FF9800"/>
                </a:solidFill>
                <a:latin typeface="Calibri"/>
              </a:rPr>
              <a:t>● </a:t>
            </a:r>
            <a:r>
              <a:rPr sz="1500" b="0">
                <a:solidFill>
                  <a:srgbClr val="FFFFFF"/>
                </a:solidFill>
                <a:latin typeface="Calibri"/>
              </a:rPr>
              <a:t>17.8% Poor (50-75%)</a:t>
            </a:r>
          </a:p>
          <a:p>
            <a:pPr algn="l">
              <a:spcAft>
                <a:spcPts val="600"/>
              </a:spcAft>
            </a:pPr>
            <a:r>
              <a:rPr sz="1500" b="1">
                <a:solidFill>
                  <a:srgbClr val="F44336"/>
                </a:solidFill>
                <a:latin typeface="Calibri"/>
              </a:rPr>
              <a:t>● </a:t>
            </a:r>
            <a:r>
              <a:rPr sz="1500" b="0">
                <a:solidFill>
                  <a:srgbClr val="FFFFFF"/>
                </a:solidFill>
                <a:latin typeface="Calibri"/>
              </a:rPr>
              <a:t>32.8% Unusable (75-100%)</a:t>
            </a:r>
          </a:p>
          <a:p>
            <a:pPr algn="l">
              <a:spcAft>
                <a:spcPts val="600"/>
              </a:spcAft>
            </a:pPr>
            <a:r>
              <a:rPr sz="1500" b="1">
                <a:solidFill>
                  <a:srgbClr val="B71C1C"/>
                </a:solidFill>
                <a:latin typeface="Calibri"/>
              </a:rPr>
              <a:t>● </a:t>
            </a:r>
            <a:r>
              <a:rPr sz="1500" b="0">
                <a:solidFill>
                  <a:srgbClr val="FFFFFF"/>
                </a:solidFill>
                <a:latin typeface="Calibri"/>
              </a:rPr>
              <a:t>20.6% Hallucinated (&gt;100%)</a:t>
            </a:r>
          </a:p>
        </p:txBody>
      </p:sp>
      <p:sp>
        <p:nvSpPr>
          <p:cNvPr id="7" name="TextBox 6"/>
          <p:cNvSpPr txBox="1"/>
          <p:nvPr/>
        </p:nvSpPr>
        <p:spPr>
          <a:xfrm>
            <a:off x="548640" y="5897880"/>
            <a:ext cx="11091672" cy="457200"/>
          </a:xfrm>
          <a:prstGeom prst="rect">
            <a:avLst/>
          </a:prstGeom>
          <a:noFill/>
        </p:spPr>
        <p:txBody>
          <a:bodyPr wrap="square" anchor="t"/>
          <a:lstStyle/>
          <a:p>
            <a:pPr algn="l"/>
            <a:r>
              <a:rPr sz="1300" b="0" i="1">
                <a:solidFill>
                  <a:srgbClr val="AAAAAA"/>
                </a:solidFill>
                <a:latin typeface="Calibri"/>
              </a:rPr>
              <a:t>But WER overstates failure — see next slide.</a:t>
            </a:r>
          </a:p>
        </p:txBody>
      </p:sp>
      <p:pic>
        <p:nvPicPr>
          <p:cNvPr id="8" name="Picture 7" descr="P1_quality_tiers.png"/>
          <p:cNvPicPr>
            <a:picLocks noChangeAspect="1"/>
          </p:cNvPicPr>
          <p:nvPr/>
        </p:nvPicPr>
        <p:blipFill>
          <a:blip r:embed="rId2"/>
          <a:stretch>
            <a:fillRect/>
          </a:stretch>
        </p:blipFill>
        <p:spPr>
          <a:xfrm>
            <a:off x="5943600" y="1325880"/>
            <a:ext cx="5422392" cy="2314142"/>
          </a:xfrm>
          <a:prstGeom prst="rect">
            <a:avLst/>
          </a:prstGeom>
        </p:spPr>
      </p:pic>
      <p:pic>
        <p:nvPicPr>
          <p:cNvPr id="9" name="Picture 8" descr="BlackLogo300x300-W-BG.png"/>
          <p:cNvPicPr>
            <a:picLocks noChangeAspect="1"/>
          </p:cNvPicPr>
          <p:nvPr/>
        </p:nvPicPr>
        <p:blipFill>
          <a:blip r:embed="rId3"/>
          <a:stretch>
            <a:fillRect/>
          </a:stretch>
        </p:blipFill>
        <p:spPr>
          <a:xfrm>
            <a:off x="11323320" y="6428232"/>
            <a:ext cx="271117" cy="320040"/>
          </a:xfrm>
          <a:prstGeom prst="rect">
            <a:avLst/>
          </a:prstGeom>
        </p:spPr>
      </p:pic>
      <p:sp>
        <p:nvSpPr>
          <p:cNvPr id="10" name="TextBox 9"/>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9</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fill="hold">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par>
                          <p:cTn id="10" fill="hold">
                            <p:stCondLst>
                              <p:cond delay="24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fill="hold">
                            <p:stCondLst>
                              <p:cond delay="36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par>
                    <p:cTn id="16" fill="hold">
                      <p:stCondLst>
                        <p:cond delay="0"/>
                      </p:stCondLst>
                      <p:childTnLst>
                        <p:par>
                          <p:cTn id="17" fill="hold">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8" grpId="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Word Error Rate: What It Measures (and Misses)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365760"/>
          </a:xfrm>
          <a:prstGeom prst="rect">
            <a:avLst/>
          </a:prstGeom>
          <a:noFill/>
        </p:spPr>
        <p:txBody>
          <a:bodyPr wrap="square" anchor="t"/>
          <a:lstStyle/>
          <a:p>
            <a:pPr algn="l"/>
            <a:r>
              <a:rPr sz="1800" b="1" i="0">
                <a:solidFill>
                  <a:srgbClr val="00B4D8"/>
                </a:solidFill>
                <a:latin typeface="Calibri"/>
              </a:rPr>
              <a:t>The Formula</a:t>
            </a:r>
          </a:p>
        </p:txBody>
      </p:sp>
      <p:sp>
        <p:nvSpPr>
          <p:cNvPr id="5" name="TextBox 4"/>
          <p:cNvSpPr txBox="1"/>
          <p:nvPr/>
        </p:nvSpPr>
        <p:spPr>
          <a:xfrm>
            <a:off x="822960" y="1828800"/>
            <a:ext cx="4480560" cy="457200"/>
          </a:xfrm>
          <a:prstGeom prst="rect">
            <a:avLst/>
          </a:prstGeom>
          <a:noFill/>
        </p:spPr>
        <p:txBody>
          <a:bodyPr wrap="square" anchor="t"/>
          <a:lstStyle/>
          <a:p>
            <a:pPr algn="ctr"/>
            <a:r>
              <a:rPr sz="2200" b="1" i="0">
                <a:solidFill>
                  <a:srgbClr val="FFFFFF"/>
                </a:solidFill>
                <a:latin typeface="Calibri"/>
              </a:rPr>
              <a:t>WER = (S + D + I) / N</a:t>
            </a:r>
          </a:p>
        </p:txBody>
      </p:sp>
      <p:sp>
        <p:nvSpPr>
          <p:cNvPr id="6" name="TextBox 5"/>
          <p:cNvSpPr txBox="1"/>
          <p:nvPr/>
        </p:nvSpPr>
        <p:spPr>
          <a:xfrm>
            <a:off x="548640" y="2423160"/>
            <a:ext cx="5029200" cy="1371600"/>
          </a:xfrm>
          <a:prstGeom prst="rect">
            <a:avLst/>
          </a:prstGeom>
          <a:noFill/>
        </p:spPr>
        <p:txBody>
          <a:bodyPr wrap="square">
            <a:spAutoFit/>
          </a:bodyPr>
          <a:lstStyle/>
          <a:p>
            <a:pPr algn="l">
              <a:spcAft>
                <a:spcPts val="600"/>
              </a:spcAft>
            </a:pPr>
            <a:r>
              <a:rPr sz="1400" b="1">
                <a:solidFill>
                  <a:srgbClr val="00B4D8"/>
                </a:solidFill>
                <a:latin typeface="Calibri"/>
              </a:rPr>
              <a:t>• </a:t>
            </a:r>
            <a:r>
              <a:rPr sz="1400" b="0">
                <a:solidFill>
                  <a:srgbClr val="FFFFFF"/>
                </a:solidFill>
                <a:latin typeface="Calibri"/>
              </a:rPr>
              <a:t>S = substitutions (wrong word)</a:t>
            </a:r>
          </a:p>
          <a:p>
            <a:pPr algn="l">
              <a:spcAft>
                <a:spcPts val="600"/>
              </a:spcAft>
            </a:pPr>
            <a:r>
              <a:rPr sz="1400" b="1">
                <a:solidFill>
                  <a:srgbClr val="00B4D8"/>
                </a:solidFill>
                <a:latin typeface="Calibri"/>
              </a:rPr>
              <a:t>• </a:t>
            </a:r>
            <a:r>
              <a:rPr sz="1400" b="0">
                <a:solidFill>
                  <a:srgbClr val="FFFFFF"/>
                </a:solidFill>
                <a:latin typeface="Calibri"/>
              </a:rPr>
              <a:t>D = deletions (missing word)</a:t>
            </a:r>
          </a:p>
          <a:p>
            <a:pPr algn="l">
              <a:spcAft>
                <a:spcPts val="600"/>
              </a:spcAft>
            </a:pPr>
            <a:r>
              <a:rPr sz="1400" b="1">
                <a:solidFill>
                  <a:srgbClr val="00B4D8"/>
                </a:solidFill>
                <a:latin typeface="Calibri"/>
              </a:rPr>
              <a:t>• </a:t>
            </a:r>
            <a:r>
              <a:rPr sz="1400" b="0">
                <a:solidFill>
                  <a:srgbClr val="FFFFFF"/>
                </a:solidFill>
                <a:latin typeface="Calibri"/>
              </a:rPr>
              <a:t>I = insertions (extra word)</a:t>
            </a:r>
          </a:p>
          <a:p>
            <a:pPr algn="l">
              <a:spcAft>
                <a:spcPts val="600"/>
              </a:spcAft>
            </a:pPr>
            <a:r>
              <a:rPr sz="1400" b="1">
                <a:solidFill>
                  <a:srgbClr val="00B4D8"/>
                </a:solidFill>
                <a:latin typeface="Calibri"/>
              </a:rPr>
              <a:t>• </a:t>
            </a:r>
            <a:r>
              <a:rPr sz="1400" b="0">
                <a:solidFill>
                  <a:srgbClr val="FFFFFF"/>
                </a:solidFill>
                <a:latin typeface="Calibri"/>
              </a:rPr>
              <a:t>N = total words in reference</a:t>
            </a:r>
          </a:p>
        </p:txBody>
      </p:sp>
      <p:sp>
        <p:nvSpPr>
          <p:cNvPr id="7" name="TextBox 6"/>
          <p:cNvSpPr txBox="1"/>
          <p:nvPr/>
        </p:nvSpPr>
        <p:spPr>
          <a:xfrm>
            <a:off x="548640" y="3886200"/>
            <a:ext cx="5029200" cy="274320"/>
          </a:xfrm>
          <a:prstGeom prst="rect">
            <a:avLst/>
          </a:prstGeom>
          <a:noFill/>
        </p:spPr>
        <p:txBody>
          <a:bodyPr wrap="square" anchor="t"/>
          <a:lstStyle/>
          <a:p>
            <a:pPr algn="l"/>
            <a:r>
              <a:rPr sz="1500" b="1" i="0">
                <a:solidFill>
                  <a:srgbClr val="00B4D8"/>
                </a:solidFill>
                <a:latin typeface="Calibri"/>
              </a:rPr>
              <a:t>Example:</a:t>
            </a:r>
          </a:p>
        </p:txBody>
      </p:sp>
      <p:sp>
        <p:nvSpPr>
          <p:cNvPr id="8" name="TextBox 7"/>
          <p:cNvSpPr txBox="1"/>
          <p:nvPr/>
        </p:nvSpPr>
        <p:spPr>
          <a:xfrm>
            <a:off x="731520" y="4251960"/>
            <a:ext cx="4663440" cy="1097280"/>
          </a:xfrm>
          <a:prstGeom prst="rect">
            <a:avLst/>
          </a:prstGeom>
          <a:noFill/>
        </p:spPr>
        <p:txBody>
          <a:bodyPr wrap="square" anchor="t"/>
          <a:lstStyle/>
          <a:p>
            <a:pPr algn="l"/>
            <a:r>
              <a:rPr sz="1300" b="0" i="0">
                <a:solidFill>
                  <a:srgbClr val="FFFFFF"/>
                </a:solidFill>
                <a:latin typeface="Calibri"/>
              </a:rPr>
              <a:t>Ref: "the admiral gave orders"</a:t>
            </a:r>
            <a:br/>
            <a:r>
              <a:rPr sz="1300" b="0" i="0">
                <a:solidFill>
                  <a:srgbClr val="FFFFFF"/>
                </a:solidFill>
                <a:latin typeface="Calibri"/>
              </a:rPr>
              <a:t>Hyp: "the animal gave water"</a:t>
            </a:r>
            <a:br/>
            <a:r>
              <a:rPr sz="1300" b="0" i="0">
                <a:solidFill>
                  <a:srgbClr val="FFFFFF"/>
                </a:solidFill>
                <a:latin typeface="Calibri"/>
              </a:rPr>
              <a:t>WER = 2/4 = 50% (2 substitutions)</a:t>
            </a:r>
          </a:p>
        </p:txBody>
      </p:sp>
      <p:sp>
        <p:nvSpPr>
          <p:cNvPr id="9" name="TextBox 8"/>
          <p:cNvSpPr txBox="1"/>
          <p:nvPr/>
        </p:nvSpPr>
        <p:spPr>
          <a:xfrm>
            <a:off x="6611111" y="1325880"/>
            <a:ext cx="5029200" cy="365760"/>
          </a:xfrm>
          <a:prstGeom prst="rect">
            <a:avLst/>
          </a:prstGeom>
          <a:noFill/>
        </p:spPr>
        <p:txBody>
          <a:bodyPr wrap="square" anchor="t"/>
          <a:lstStyle/>
          <a:p>
            <a:pPr algn="l"/>
            <a:r>
              <a:rPr sz="1800" b="1" i="0">
                <a:solidFill>
                  <a:srgbClr val="4CAF50"/>
                </a:solidFill>
                <a:latin typeface="Calibri"/>
              </a:rPr>
              <a:t>What WER Captures</a:t>
            </a:r>
          </a:p>
        </p:txBody>
      </p:sp>
      <p:sp>
        <p:nvSpPr>
          <p:cNvPr id="10" name="TextBox 9"/>
          <p:cNvSpPr txBox="1"/>
          <p:nvPr/>
        </p:nvSpPr>
        <p:spPr>
          <a:xfrm>
            <a:off x="6611111" y="1783080"/>
            <a:ext cx="5029200" cy="1097280"/>
          </a:xfrm>
          <a:prstGeom prst="rect">
            <a:avLst/>
          </a:prstGeom>
          <a:noFill/>
        </p:spPr>
        <p:txBody>
          <a:bodyPr wrap="square">
            <a:spAutoFit/>
          </a:bodyPr>
          <a:lstStyle/>
          <a:p>
            <a:pPr algn="l">
              <a:spcAft>
                <a:spcPts val="600"/>
              </a:spcAft>
            </a:pPr>
            <a:r>
              <a:rPr sz="1400" b="1">
                <a:solidFill>
                  <a:srgbClr val="4CAF50"/>
                </a:solidFill>
                <a:latin typeface="Calibri"/>
              </a:rPr>
              <a:t>• </a:t>
            </a:r>
            <a:r>
              <a:rPr sz="1400" b="0">
                <a:solidFill>
                  <a:srgbClr val="FFFFFF"/>
                </a:solidFill>
                <a:latin typeface="Calibri"/>
              </a:rPr>
              <a:t>Exact word-level accuracy</a:t>
            </a:r>
          </a:p>
          <a:p>
            <a:pPr algn="l">
              <a:spcAft>
                <a:spcPts val="600"/>
              </a:spcAft>
            </a:pPr>
            <a:r>
              <a:rPr sz="1400" b="1">
                <a:solidFill>
                  <a:srgbClr val="4CAF50"/>
                </a:solidFill>
                <a:latin typeface="Calibri"/>
              </a:rPr>
              <a:t>• </a:t>
            </a:r>
            <a:r>
              <a:rPr sz="1400" b="0">
                <a:solidFill>
                  <a:srgbClr val="FFFFFF"/>
                </a:solidFill>
                <a:latin typeface="Calibri"/>
              </a:rPr>
              <a:t>Simple, widely understood</a:t>
            </a:r>
          </a:p>
          <a:p>
            <a:pPr algn="l">
              <a:spcAft>
                <a:spcPts val="600"/>
              </a:spcAft>
            </a:pPr>
            <a:r>
              <a:rPr sz="1400" b="1">
                <a:solidFill>
                  <a:srgbClr val="4CAF50"/>
                </a:solidFill>
                <a:latin typeface="Calibri"/>
              </a:rPr>
              <a:t>• </a:t>
            </a:r>
            <a:r>
              <a:rPr sz="1400" b="0">
                <a:solidFill>
                  <a:srgbClr val="FFFFFF"/>
                </a:solidFill>
                <a:latin typeface="Calibri"/>
              </a:rPr>
              <a:t>Standard in ASR research</a:t>
            </a:r>
          </a:p>
        </p:txBody>
      </p:sp>
      <p:sp>
        <p:nvSpPr>
          <p:cNvPr id="11" name="TextBox 10"/>
          <p:cNvSpPr txBox="1"/>
          <p:nvPr/>
        </p:nvSpPr>
        <p:spPr>
          <a:xfrm>
            <a:off x="6611111" y="3154680"/>
            <a:ext cx="5029200" cy="365760"/>
          </a:xfrm>
          <a:prstGeom prst="rect">
            <a:avLst/>
          </a:prstGeom>
          <a:noFill/>
        </p:spPr>
        <p:txBody>
          <a:bodyPr wrap="square" anchor="t"/>
          <a:lstStyle/>
          <a:p>
            <a:pPr algn="l"/>
            <a:r>
              <a:rPr sz="1800" b="1" i="0">
                <a:solidFill>
                  <a:srgbClr val="E06C75"/>
                </a:solidFill>
                <a:latin typeface="Calibri"/>
              </a:rPr>
              <a:t>What WER Misses</a:t>
            </a:r>
          </a:p>
        </p:txBody>
      </p:sp>
      <p:sp>
        <p:nvSpPr>
          <p:cNvPr id="12" name="TextBox 11"/>
          <p:cNvSpPr txBox="1"/>
          <p:nvPr/>
        </p:nvSpPr>
        <p:spPr>
          <a:xfrm>
            <a:off x="6611111" y="3611880"/>
            <a:ext cx="5029200" cy="2286000"/>
          </a:xfrm>
          <a:prstGeom prst="rect">
            <a:avLst/>
          </a:prstGeom>
          <a:noFill/>
        </p:spPr>
        <p:txBody>
          <a:bodyPr wrap="square">
            <a:spAutoFit/>
          </a:bodyPr>
          <a:lstStyle/>
          <a:p>
            <a:pPr algn="l">
              <a:spcAft>
                <a:spcPts val="600"/>
              </a:spcAft>
            </a:pPr>
            <a:r>
              <a:rPr sz="1400" b="1">
                <a:solidFill>
                  <a:srgbClr val="E06C75"/>
                </a:solidFill>
                <a:latin typeface="Calibri"/>
              </a:rPr>
              <a:t>• </a:t>
            </a:r>
            <a:r>
              <a:rPr sz="1400" b="0">
                <a:solidFill>
                  <a:srgbClr val="E06C75"/>
                </a:solidFill>
                <a:latin typeface="Calibri"/>
              </a:rPr>
              <a:t>All errors weighted equally</a:t>
            </a:r>
          </a:p>
          <a:p>
            <a:pPr algn="l">
              <a:spcAft>
                <a:spcPts val="600"/>
              </a:spcAft>
            </a:pPr>
            <a:r>
              <a:rPr sz="1400" b="1">
                <a:solidFill>
                  <a:srgbClr val="E06C75"/>
                </a:solidFill>
                <a:latin typeface="Calibri"/>
              </a:rPr>
              <a:t>• </a:t>
            </a:r>
            <a:r>
              <a:rPr sz="1400" b="0">
                <a:solidFill>
                  <a:srgbClr val="E06C75"/>
                </a:solidFill>
                <a:latin typeface="Calibri"/>
              </a:rPr>
              <a:t>"admiral"→"animal" = "the"→"a"</a:t>
            </a:r>
          </a:p>
          <a:p>
            <a:pPr algn="l">
              <a:spcAft>
                <a:spcPts val="600"/>
              </a:spcAft>
            </a:pPr>
            <a:r>
              <a:rPr sz="1400" b="1">
                <a:solidFill>
                  <a:srgbClr val="E06C75"/>
                </a:solidFill>
                <a:latin typeface="Calibri"/>
              </a:rPr>
              <a:t>• </a:t>
            </a:r>
            <a:r>
              <a:rPr sz="1400" b="0">
                <a:solidFill>
                  <a:srgbClr val="FFFFFF"/>
                </a:solidFill>
                <a:latin typeface="Calibri"/>
              </a:rPr>
              <a:t>No meaning preservation signal</a:t>
            </a:r>
          </a:p>
          <a:p>
            <a:pPr algn="l">
              <a:spcAft>
                <a:spcPts val="600"/>
              </a:spcAft>
            </a:pPr>
            <a:r>
              <a:rPr sz="1400" b="1">
                <a:solidFill>
                  <a:srgbClr val="E06C75"/>
                </a:solidFill>
                <a:latin typeface="Calibri"/>
              </a:rPr>
              <a:t>• </a:t>
            </a:r>
            <a:r>
              <a:rPr sz="1400" b="0">
                <a:solidFill>
                  <a:srgbClr val="FFFFFF"/>
                </a:solidFill>
                <a:latin typeface="Calibri"/>
              </a:rPr>
              <a:t>No phonetic similarity credit</a:t>
            </a:r>
          </a:p>
          <a:p>
            <a:pPr algn="l">
              <a:spcAft>
                <a:spcPts val="600"/>
              </a:spcAft>
            </a:pPr>
            <a:r>
              <a:rPr sz="1400" b="1">
                <a:solidFill>
                  <a:srgbClr val="E06C75"/>
                </a:solidFill>
                <a:latin typeface="Calibri"/>
              </a:rPr>
              <a:t>• </a:t>
            </a:r>
            <a:r>
              <a:rPr sz="1400" b="0">
                <a:solidFill>
                  <a:srgbClr val="E06C75"/>
                </a:solidFill>
                <a:latin typeface="Calibri"/>
              </a:rPr>
              <a:t>Can exceed 100% (insertions)</a:t>
            </a:r>
          </a:p>
        </p:txBody>
      </p:sp>
      <p:pic>
        <p:nvPicPr>
          <p:cNvPr id="13" name="Picture 12"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4" name="TextBox 13"/>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10</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childTnLst>
                    </p:cTn>
                  </p:par>
                  <p:par>
                    <p:cTn id="7" fill="hold">
                      <p:stCondLst>
                        <p:cond delay="0"/>
                      </p:stCondLst>
                      <p:childTnLst>
                        <p:par>
                          <p:cTn id="8" fill="hold">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fill="hold">
                            <p:stCondLst>
                              <p:cond delay="12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fill="hold">
                            <p:stCondLst>
                              <p:cond delay="24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9" grpId="1"/>
      <p:bldP spid="10" grpId="1"/>
      <p:bldP spid="12" grpId="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WER Is Blind to Meaning</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17320"/>
            <a:ext cx="5029200" cy="3474720"/>
          </a:xfrm>
          <a:prstGeom prst="roundRect">
            <a:avLst/>
          </a:prstGeom>
          <a:solidFill>
            <a:srgbClr val="152A40"/>
          </a:solidFill>
          <a:ln w="317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00200"/>
            <a:ext cx="4480560" cy="365760"/>
          </a:xfrm>
          <a:prstGeom prst="rect">
            <a:avLst/>
          </a:prstGeom>
          <a:noFill/>
        </p:spPr>
        <p:txBody>
          <a:bodyPr wrap="square" anchor="t"/>
          <a:lstStyle/>
          <a:p>
            <a:pPr algn="l"/>
            <a:r>
              <a:rPr sz="1400" b="1" i="0">
                <a:solidFill>
                  <a:srgbClr val="4CAF50"/>
                </a:solidFill>
                <a:latin typeface="Calibri"/>
              </a:rPr>
              <a:t>WER 29%  •  IS 4.3 — Fully Intelligible</a:t>
            </a:r>
          </a:p>
        </p:txBody>
      </p:sp>
      <p:sp>
        <p:nvSpPr>
          <p:cNvPr id="6" name="TextBox 5"/>
          <p:cNvSpPr txBox="1"/>
          <p:nvPr/>
        </p:nvSpPr>
        <p:spPr>
          <a:xfrm>
            <a:off x="822960" y="2148840"/>
            <a:ext cx="4480560" cy="2286000"/>
          </a:xfrm>
          <a:prstGeom prst="rect">
            <a:avLst/>
          </a:prstGeom>
          <a:noFill/>
        </p:spPr>
        <p:txBody>
          <a:bodyPr wrap="square" anchor="t"/>
          <a:lstStyle/>
          <a:p>
            <a:pPr algn="l"/>
            <a:r>
              <a:rPr sz="1500" b="0" i="0">
                <a:solidFill>
                  <a:srgbClr val="FFFFFF"/>
                </a:solidFill>
                <a:latin typeface="Calibri"/>
              </a:rPr>
              <a:t>Ref: "allow you to work with the team in a more"</a:t>
            </a:r>
            <a:br/>
            <a:r>
              <a:rPr sz="1500" b="0" i="0">
                <a:solidFill>
                  <a:srgbClr val="FFFFFF"/>
                </a:solidFill>
                <a:latin typeface="Calibri"/>
              </a:rPr>
              <a:t>Hyp: "allow you to work with a team and more"</a:t>
            </a:r>
          </a:p>
        </p:txBody>
      </p:sp>
      <p:sp>
        <p:nvSpPr>
          <p:cNvPr id="7" name="Rounded Rectangle 6"/>
          <p:cNvSpPr/>
          <p:nvPr/>
        </p:nvSpPr>
        <p:spPr>
          <a:xfrm>
            <a:off x="6611111" y="1417320"/>
            <a:ext cx="5029200" cy="3474720"/>
          </a:xfrm>
          <a:prstGeom prst="roundRect">
            <a:avLst/>
          </a:prstGeom>
          <a:solidFill>
            <a:srgbClr val="152A40"/>
          </a:solidFill>
          <a:ln w="31750">
            <a:solidFill>
              <a:srgbClr val="F443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85431" y="1600200"/>
            <a:ext cx="4480560" cy="365760"/>
          </a:xfrm>
          <a:prstGeom prst="rect">
            <a:avLst/>
          </a:prstGeom>
          <a:noFill/>
        </p:spPr>
        <p:txBody>
          <a:bodyPr wrap="square" anchor="t"/>
          <a:lstStyle/>
          <a:p>
            <a:pPr algn="l"/>
            <a:r>
              <a:rPr sz="1400" b="1" i="0">
                <a:solidFill>
                  <a:srgbClr val="F44336"/>
                </a:solidFill>
                <a:latin typeface="Calibri"/>
              </a:rPr>
              <a:t>WER 58%  •  IS 2.7 — Near-Miss</a:t>
            </a:r>
          </a:p>
        </p:txBody>
      </p:sp>
      <p:sp>
        <p:nvSpPr>
          <p:cNvPr id="9" name="TextBox 8"/>
          <p:cNvSpPr txBox="1"/>
          <p:nvPr/>
        </p:nvSpPr>
        <p:spPr>
          <a:xfrm>
            <a:off x="6885431" y="2148840"/>
            <a:ext cx="4480560" cy="2286000"/>
          </a:xfrm>
          <a:prstGeom prst="rect">
            <a:avLst/>
          </a:prstGeom>
          <a:noFill/>
        </p:spPr>
        <p:txBody>
          <a:bodyPr wrap="square" anchor="t"/>
          <a:lstStyle/>
          <a:p>
            <a:pPr algn="l"/>
            <a:r>
              <a:rPr sz="1500" b="0" i="0">
                <a:solidFill>
                  <a:srgbClr val="FFFFFF"/>
                </a:solidFill>
                <a:latin typeface="Calibri"/>
              </a:rPr>
              <a:t>Ref: "1 billion cfus of probiotics"</a:t>
            </a:r>
            <a:br/>
            <a:r>
              <a:rPr sz="1500" b="0" i="0">
                <a:solidFill>
                  <a:srgbClr val="FFFFFF"/>
                </a:solidFill>
                <a:latin typeface="Calibri"/>
              </a:rPr>
              <a:t>Hyp: "1 million cfus of permafrost"</a:t>
            </a:r>
          </a:p>
        </p:txBody>
      </p:sp>
      <p:sp>
        <p:nvSpPr>
          <p:cNvPr id="10" name="TextBox 9"/>
          <p:cNvSpPr txBox="1"/>
          <p:nvPr/>
        </p:nvSpPr>
        <p:spPr>
          <a:xfrm>
            <a:off x="548640" y="5760720"/>
            <a:ext cx="11091672" cy="457200"/>
          </a:xfrm>
          <a:prstGeom prst="rect">
            <a:avLst/>
          </a:prstGeom>
          <a:noFill/>
        </p:spPr>
        <p:txBody>
          <a:bodyPr wrap="square" anchor="t"/>
          <a:lstStyle/>
          <a:p>
            <a:pPr algn="ctr"/>
            <a:r>
              <a:rPr sz="1400" b="0" i="1">
                <a:solidFill>
                  <a:srgbClr val="AAAAAA"/>
                </a:solidFill>
                <a:latin typeface="Calibri"/>
              </a:rPr>
              <a:t>WER says equal. Meaning says opposite. So we built a metric to capture this.</a:t>
            </a:r>
          </a:p>
        </p:txBody>
      </p:sp>
      <p:pic>
        <p:nvPicPr>
          <p:cNvPr id="11" name="Picture 10"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2" name="TextBox 11"/>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11</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childTnLst>
                    </p:cTn>
                  </p:par>
                  <p:par>
                    <p:cTn id="7" fill="hold">
                      <p:stCondLst>
                        <p:cond delay="0"/>
                      </p:stCondLst>
                      <p:childTnLst>
                        <p:par>
                          <p:cTn id="8" fill="hold">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We Need a Better Metric</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508760"/>
            <a:ext cx="11091672" cy="3200400"/>
          </a:xfrm>
          <a:prstGeom prst="rect">
            <a:avLst/>
          </a:prstGeom>
          <a:noFill/>
        </p:spPr>
        <p:txBody>
          <a:bodyPr wrap="square">
            <a:spAutoFit/>
          </a:bodyPr>
          <a:lstStyle/>
          <a:p>
            <a:pPr algn="l">
              <a:spcAft>
                <a:spcPts val="600"/>
              </a:spcAft>
            </a:pPr>
            <a:r>
              <a:rPr sz="1700" b="1">
                <a:solidFill>
                  <a:srgbClr val="00B4D8"/>
                </a:solidFill>
                <a:latin typeface="Calibri"/>
              </a:rPr>
              <a:t>• </a:t>
            </a:r>
            <a:r>
              <a:rPr sz="1700" b="0">
                <a:solidFill>
                  <a:srgbClr val="FFFFFF"/>
                </a:solidFill>
                <a:latin typeface="Calibri"/>
              </a:rPr>
              <a:t>WER counts word errors — but ignores whether the viewer understood</a:t>
            </a:r>
          </a:p>
          <a:p>
            <a:pPr algn="l">
              <a:spcAft>
                <a:spcPts val="600"/>
              </a:spcAft>
            </a:pPr>
            <a:r>
              <a:rPr sz="1700" b="1">
                <a:solidFill>
                  <a:srgbClr val="00B4D8"/>
                </a:solidFill>
                <a:latin typeface="Calibri"/>
              </a:rPr>
              <a:t>• </a:t>
            </a:r>
            <a:r>
              <a:rPr sz="1700" b="1">
                <a:solidFill>
                  <a:srgbClr val="00B4D8"/>
                </a:solidFill>
                <a:latin typeface="Calibri"/>
              </a:rPr>
              <a:t>We created the Intelligibility Score (IS): a composite 0–5 metric</a:t>
            </a:r>
          </a:p>
          <a:p>
            <a:pPr algn="l">
              <a:spcAft>
                <a:spcPts val="600"/>
              </a:spcAft>
            </a:pPr>
            <a:r>
              <a:rPr sz="1700" b="1">
                <a:solidFill>
                  <a:srgbClr val="00B4D8"/>
                </a:solidFill>
                <a:latin typeface="Calibri"/>
              </a:rPr>
              <a:t>• </a:t>
            </a:r>
            <a:r>
              <a:rPr sz="1700" b="0">
                <a:solidFill>
                  <a:srgbClr val="FFFFFF"/>
                </a:solidFill>
                <a:latin typeface="Calibri"/>
              </a:rPr>
              <a:t>Combines 6 quality signals: meaning, phonetics, word accuracy, entities, length</a:t>
            </a:r>
          </a:p>
          <a:p>
            <a:pPr algn="l">
              <a:spcAft>
                <a:spcPts val="600"/>
              </a:spcAft>
            </a:pPr>
            <a:r>
              <a:rPr sz="1700" b="1">
                <a:solidFill>
                  <a:srgbClr val="00B4D8"/>
                </a:solidFill>
                <a:latin typeface="Calibri"/>
              </a:rPr>
              <a:t>• </a:t>
            </a:r>
            <a:r>
              <a:rPr sz="1700" b="1">
                <a:solidFill>
                  <a:srgbClr val="4CAF50"/>
                </a:solidFill>
                <a:latin typeface="Calibri"/>
              </a:rPr>
              <a:t>IS ≥ 3.0 = “Properly Captured” — the viewer gets the right message</a:t>
            </a:r>
          </a:p>
        </p:txBody>
      </p:sp>
      <p:sp>
        <p:nvSpPr>
          <p:cNvPr id="5" name="TextBox 4"/>
          <p:cNvSpPr txBox="1"/>
          <p:nvPr/>
        </p:nvSpPr>
        <p:spPr>
          <a:xfrm>
            <a:off x="548640" y="4572000"/>
            <a:ext cx="11091672" cy="457200"/>
          </a:xfrm>
          <a:prstGeom prst="rect">
            <a:avLst/>
          </a:prstGeom>
          <a:noFill/>
        </p:spPr>
        <p:txBody>
          <a:bodyPr wrap="square" anchor="t"/>
          <a:lstStyle/>
          <a:p>
            <a:pPr algn="ctr"/>
            <a:r>
              <a:rPr sz="1400" b="0" i="1">
                <a:solidFill>
                  <a:srgbClr val="AAAAAA"/>
                </a:solidFill>
                <a:latin typeface="Calibri"/>
              </a:rPr>
              <a:t>Designed at development time, runs as pure deterministic Python — $0 per evaluation, 100% reproducible.</a:t>
            </a:r>
          </a:p>
        </p:txBody>
      </p:sp>
      <p:pic>
        <p:nvPicPr>
          <p:cNvPr id="6" name="Picture 5"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7" name="TextBox 6"/>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12</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2011680"/>
            <a:ext cx="11091672" cy="1097280"/>
          </a:xfrm>
          <a:prstGeom prst="rect">
            <a:avLst/>
          </a:prstGeom>
          <a:noFill/>
        </p:spPr>
        <p:txBody>
          <a:bodyPr wrap="square" anchor="t"/>
          <a:lstStyle/>
          <a:p>
            <a:pPr algn="ctr"/>
            <a:r>
              <a:rPr sz="4800" b="1" i="0">
                <a:solidFill>
                  <a:srgbClr val="E06C75"/>
                </a:solidFill>
                <a:latin typeface="Calibri"/>
              </a:rPr>
              <a:t>RESEARCH FINDINGS</a:t>
            </a:r>
          </a:p>
        </p:txBody>
      </p:sp>
      <p:sp>
        <p:nvSpPr>
          <p:cNvPr id="3" name="TextBox 2"/>
          <p:cNvSpPr txBox="1"/>
          <p:nvPr/>
        </p:nvSpPr>
        <p:spPr>
          <a:xfrm>
            <a:off x="548640" y="3200400"/>
            <a:ext cx="11091672" cy="548640"/>
          </a:xfrm>
          <a:prstGeom prst="rect">
            <a:avLst/>
          </a:prstGeom>
          <a:noFill/>
        </p:spPr>
        <p:txBody>
          <a:bodyPr wrap="square" anchor="t"/>
          <a:lstStyle/>
          <a:p>
            <a:pPr algn="ctr"/>
            <a:r>
              <a:rPr sz="2200" b="0" i="0">
                <a:solidFill>
                  <a:srgbClr val="AAAAAA"/>
                </a:solidFill>
                <a:latin typeface="Calibri"/>
              </a:rPr>
              <a:t>Understanding What Works, What Fails, and Why</a:t>
            </a:r>
          </a:p>
        </p:txBody>
      </p:sp>
      <p:sp>
        <p:nvSpPr>
          <p:cNvPr id="4" name="Rectangle 3"/>
          <p:cNvSpPr/>
          <p:nvPr/>
        </p:nvSpPr>
        <p:spPr>
          <a:xfrm>
            <a:off x="4114800" y="3931920"/>
            <a:ext cx="3959352" cy="36576"/>
          </a:xfrm>
          <a:prstGeom prst="rect">
            <a:avLst/>
          </a:prstGeom>
          <a:solidFill>
            <a:srgbClr val="E06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389120"/>
            <a:ext cx="11091672" cy="457200"/>
          </a:xfrm>
          <a:prstGeom prst="rect">
            <a:avLst/>
          </a:prstGeom>
          <a:noFill/>
        </p:spPr>
        <p:txBody>
          <a:bodyPr wrap="square" anchor="t"/>
          <a:lstStyle/>
          <a:p>
            <a:pPr algn="ctr"/>
            <a:r>
              <a:rPr sz="1600" b="0" i="0">
                <a:solidFill>
                  <a:srgbClr val="666666"/>
                </a:solidFill>
                <a:latin typeface="Calibri"/>
              </a:rPr>
              <a:t>1,497 segments  •  6 quality signals  •  5 failure categories  •  13 tuning experiments</a:t>
            </a:r>
          </a:p>
        </p:txBody>
      </p:sp>
      <p:pic>
        <p:nvPicPr>
          <p:cNvPr id="6" name="Picture 5"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7" name="TextBox 6"/>
          <p:cNvSpPr txBox="1"/>
          <p:nvPr/>
        </p:nvSpPr>
        <p:spPr>
          <a:xfrm>
            <a:off x="548640" y="6510528"/>
            <a:ext cx="457200" cy="228600"/>
          </a:xfrm>
          <a:prstGeom prst="rect">
            <a:avLst/>
          </a:prstGeom>
          <a:noFill/>
        </p:spPr>
        <p:txBody>
          <a:bodyPr wrap="none">
            <a:spAutoFit/>
          </a:bodyPr>
          <a:lstStyle/>
          <a:p>
            <a:pPr>
              <a:defRPr sz="900" b="0" i="0">
                <a:solidFill>
                  <a:srgbClr val="666666"/>
                </a:solidFill>
                <a:latin typeface="Calibri"/>
              </a:defRPr>
            </a:pPr>
          </a:p>
        </p:txBody>
      </p:sp>
    </p:spTree>
  </p:cSld>
  <p:clrMapOvr>
    <a:masterClrMapping/>
  </p:clrMapOvr>
  <p:transition spd="med"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Introducing the Intelligibility Score</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365760"/>
          </a:xfrm>
          <a:prstGeom prst="rect">
            <a:avLst/>
          </a:prstGeom>
          <a:noFill/>
        </p:spPr>
        <p:txBody>
          <a:bodyPr wrap="square" anchor="t"/>
          <a:lstStyle/>
          <a:p>
            <a:pPr algn="l"/>
            <a:r>
              <a:rPr sz="2000" b="1" i="0">
                <a:solidFill>
                  <a:srgbClr val="E06C75"/>
                </a:solidFill>
                <a:latin typeface="Calibri"/>
              </a:rPr>
              <a:t>Why a new metric?</a:t>
            </a:r>
          </a:p>
        </p:txBody>
      </p:sp>
      <p:sp>
        <p:nvSpPr>
          <p:cNvPr id="5" name="TextBox 4"/>
          <p:cNvSpPr txBox="1"/>
          <p:nvPr/>
        </p:nvSpPr>
        <p:spPr>
          <a:xfrm>
            <a:off x="548640" y="1828800"/>
            <a:ext cx="5029200" cy="2743200"/>
          </a:xfrm>
          <a:prstGeom prst="rect">
            <a:avLst/>
          </a:prstGeom>
          <a:noFill/>
        </p:spPr>
        <p:txBody>
          <a:bodyPr wrap="square">
            <a:spAutoFit/>
          </a:bodyPr>
          <a:lstStyle/>
          <a:p>
            <a:pPr algn="l">
              <a:spcAft>
                <a:spcPts val="600"/>
              </a:spcAft>
            </a:pPr>
            <a:r>
              <a:rPr sz="1500" b="1">
                <a:solidFill>
                  <a:srgbClr val="00B4D8"/>
                </a:solidFill>
                <a:latin typeface="Calibri"/>
              </a:rPr>
              <a:t>• </a:t>
            </a:r>
            <a:r>
              <a:rPr sz="1500" b="0">
                <a:solidFill>
                  <a:srgbClr val="FFFFFF"/>
                </a:solidFill>
                <a:latin typeface="Calibri"/>
              </a:rPr>
              <a:t>WER counts word errors but ignores meaning</a:t>
            </a:r>
          </a:p>
          <a:p>
            <a:pPr algn="l">
              <a:spcAft>
                <a:spcPts val="600"/>
              </a:spcAft>
            </a:pPr>
            <a:r>
              <a:rPr sz="1500" b="1">
                <a:solidFill>
                  <a:srgbClr val="00B4D8"/>
                </a:solidFill>
                <a:latin typeface="Calibri"/>
              </a:rPr>
              <a:t>• </a:t>
            </a:r>
            <a:r>
              <a:rPr sz="1500" b="0">
                <a:solidFill>
                  <a:srgbClr val="FFFFFF"/>
                </a:solidFill>
                <a:latin typeface="Calibri"/>
              </a:rPr>
              <a:t>"admiral" → "animal" gets same WER as "the" → "a"</a:t>
            </a:r>
          </a:p>
          <a:p>
            <a:pPr algn="l">
              <a:spcAft>
                <a:spcPts val="600"/>
              </a:spcAft>
            </a:pPr>
            <a:r>
              <a:rPr sz="1500" b="1">
                <a:solidFill>
                  <a:srgbClr val="00B4D8"/>
                </a:solidFill>
                <a:latin typeface="Calibri"/>
              </a:rPr>
              <a:t>• </a:t>
            </a:r>
            <a:r>
              <a:rPr sz="1500" b="0">
                <a:solidFill>
                  <a:srgbClr val="FFFFFF"/>
                </a:solidFill>
                <a:latin typeface="Calibri"/>
              </a:rPr>
              <a:t>WER treats all errors equally — but not all errors matter equally</a:t>
            </a:r>
          </a:p>
          <a:p>
            <a:pPr algn="l">
              <a:spcAft>
                <a:spcPts val="600"/>
              </a:spcAft>
            </a:pPr>
            <a:r>
              <a:rPr sz="1500" b="1">
                <a:solidFill>
                  <a:srgbClr val="00B4D8"/>
                </a:solidFill>
                <a:latin typeface="Calibri"/>
              </a:rPr>
              <a:t>• </a:t>
            </a:r>
            <a:r>
              <a:rPr sz="1500" b="0">
                <a:solidFill>
                  <a:srgbClr val="FFFFFF"/>
                </a:solidFill>
                <a:latin typeface="Calibri"/>
              </a:rPr>
              <a:t>We need: does a viewer get the right message?</a:t>
            </a:r>
          </a:p>
        </p:txBody>
      </p:sp>
      <p:sp>
        <p:nvSpPr>
          <p:cNvPr id="6" name="TextBox 5"/>
          <p:cNvSpPr txBox="1"/>
          <p:nvPr/>
        </p:nvSpPr>
        <p:spPr>
          <a:xfrm>
            <a:off x="6611111" y="1325880"/>
            <a:ext cx="5029201" cy="365760"/>
          </a:xfrm>
          <a:prstGeom prst="rect">
            <a:avLst/>
          </a:prstGeom>
          <a:noFill/>
        </p:spPr>
        <p:txBody>
          <a:bodyPr wrap="square" anchor="t"/>
          <a:lstStyle/>
          <a:p>
            <a:pPr algn="l"/>
            <a:r>
              <a:rPr sz="2000" b="1" i="0">
                <a:solidFill>
                  <a:srgbClr val="00B4D8"/>
                </a:solidFill>
                <a:latin typeface="Calibri"/>
              </a:rPr>
              <a:t>What is IS?</a:t>
            </a:r>
          </a:p>
        </p:txBody>
      </p:sp>
      <p:sp>
        <p:nvSpPr>
          <p:cNvPr id="7" name="TextBox 6"/>
          <p:cNvSpPr txBox="1"/>
          <p:nvPr/>
        </p:nvSpPr>
        <p:spPr>
          <a:xfrm>
            <a:off x="6611111" y="1828800"/>
            <a:ext cx="5029201" cy="3200400"/>
          </a:xfrm>
          <a:prstGeom prst="rect">
            <a:avLst/>
          </a:prstGeom>
          <a:noFill/>
        </p:spPr>
        <p:txBody>
          <a:bodyPr wrap="square">
            <a:spAutoFit/>
          </a:bodyPr>
          <a:lstStyle/>
          <a:p>
            <a:pPr algn="l">
              <a:spcAft>
                <a:spcPts val="600"/>
              </a:spcAft>
            </a:pPr>
            <a:r>
              <a:rPr sz="1500" b="1">
                <a:solidFill>
                  <a:srgbClr val="00B4D8"/>
                </a:solidFill>
                <a:latin typeface="Calibri"/>
              </a:rPr>
              <a:t>• </a:t>
            </a:r>
            <a:r>
              <a:rPr sz="1500" b="1">
                <a:solidFill>
                  <a:srgbClr val="FFFFFF"/>
                </a:solidFill>
                <a:latin typeface="Calibri"/>
              </a:rPr>
              <a:t>Composite score from 0 to 5</a:t>
            </a:r>
          </a:p>
          <a:p>
            <a:pPr algn="l">
              <a:spcAft>
                <a:spcPts val="600"/>
              </a:spcAft>
            </a:pPr>
            <a:r>
              <a:rPr sz="1500" b="1">
                <a:solidFill>
                  <a:srgbClr val="00B4D8"/>
                </a:solidFill>
                <a:latin typeface="Calibri"/>
              </a:rPr>
              <a:t>• </a:t>
            </a:r>
            <a:r>
              <a:rPr sz="1500" b="0">
                <a:solidFill>
                  <a:srgbClr val="FFFFFF"/>
                </a:solidFill>
                <a:latin typeface="Calibri"/>
              </a:rPr>
              <a:t>Combines 6 complementary quality signals</a:t>
            </a:r>
          </a:p>
          <a:p>
            <a:pPr algn="l">
              <a:spcAft>
                <a:spcPts val="600"/>
              </a:spcAft>
            </a:pPr>
            <a:r>
              <a:rPr sz="1500" b="1">
                <a:solidFill>
                  <a:srgbClr val="00B4D8"/>
                </a:solidFill>
                <a:latin typeface="Calibri"/>
              </a:rPr>
              <a:t>• </a:t>
            </a:r>
            <a:r>
              <a:rPr sz="1500" b="0">
                <a:solidFill>
                  <a:srgbClr val="FFFFFF"/>
                </a:solidFill>
                <a:latin typeface="Calibri"/>
              </a:rPr>
              <a:t>Designed at development time, not per-sample</a:t>
            </a:r>
          </a:p>
          <a:p>
            <a:pPr algn="l">
              <a:spcAft>
                <a:spcPts val="600"/>
              </a:spcAft>
            </a:pPr>
            <a:r>
              <a:rPr sz="1500" b="1">
                <a:solidFill>
                  <a:srgbClr val="00B4D8"/>
                </a:solidFill>
                <a:latin typeface="Calibri"/>
              </a:rPr>
              <a:t>• </a:t>
            </a:r>
            <a:r>
              <a:rPr sz="1500" b="0">
                <a:solidFill>
                  <a:srgbClr val="FFFFFF"/>
                </a:solidFill>
                <a:latin typeface="Calibri"/>
              </a:rPr>
              <a:t>Fully deterministic at runtime — no LLM per sample</a:t>
            </a:r>
          </a:p>
          <a:p>
            <a:pPr algn="l">
              <a:spcAft>
                <a:spcPts val="600"/>
              </a:spcAft>
            </a:pPr>
            <a:r>
              <a:rPr sz="1500" b="1">
                <a:solidFill>
                  <a:srgbClr val="00B4D8"/>
                </a:solidFill>
                <a:latin typeface="Calibri"/>
              </a:rPr>
              <a:t>• </a:t>
            </a:r>
            <a:r>
              <a:rPr sz="1500" b="0">
                <a:solidFill>
                  <a:srgbClr val="FFFFFF"/>
                </a:solidFill>
                <a:latin typeface="Calibri"/>
              </a:rPr>
              <a:t>Free, reproducible, decomposable</a:t>
            </a:r>
          </a:p>
          <a:p>
            <a:pPr algn="l">
              <a:spcAft>
                <a:spcPts val="600"/>
              </a:spcAft>
            </a:pPr>
            <a:r>
              <a:rPr sz="1500" b="1">
                <a:solidFill>
                  <a:srgbClr val="00B4D8"/>
                </a:solidFill>
                <a:latin typeface="Calibri"/>
              </a:rPr>
              <a:t>• </a:t>
            </a:r>
            <a:r>
              <a:rPr sz="1500" b="1">
                <a:solidFill>
                  <a:srgbClr val="00B4D8"/>
                </a:solidFill>
                <a:latin typeface="Calibri"/>
              </a:rPr>
              <a:t>IS ≥ 3.0 = "Properly Captured"</a:t>
            </a:r>
          </a:p>
        </p:txBody>
      </p:sp>
      <p:sp>
        <p:nvSpPr>
          <p:cNvPr id="8" name="TextBox 7"/>
          <p:cNvSpPr txBox="1"/>
          <p:nvPr/>
        </p:nvSpPr>
        <p:spPr>
          <a:xfrm>
            <a:off x="548640" y="4800600"/>
            <a:ext cx="11091672" cy="1828800"/>
          </a:xfrm>
          <a:prstGeom prst="rect">
            <a:avLst/>
          </a:prstGeom>
          <a:noFill/>
        </p:spPr>
        <p:txBody>
          <a:bodyPr wrap="square">
            <a:spAutoFit/>
          </a:bodyPr>
          <a:lstStyle/>
          <a:p>
            <a:pPr algn="l">
              <a:spcAft>
                <a:spcPts val="600"/>
              </a:spcAft>
            </a:pPr>
            <a:r>
              <a:rPr sz="1300" b="1" i="0">
                <a:solidFill>
                  <a:srgbClr val="FFFFFF"/>
                </a:solidFill>
                <a:latin typeface="Calibri"/>
              </a:rPr>
              <a:t>How each signal is calculated:</a:t>
            </a:r>
          </a:p>
          <a:p>
            <a:pPr algn="l">
              <a:spcAft>
                <a:spcPts val="600"/>
              </a:spcAft>
            </a:pPr>
            <a:r>
              <a:rPr sz="1100" b="1" i="0">
                <a:solidFill>
                  <a:srgbClr val="00B4D8"/>
                </a:solidFill>
                <a:latin typeface="Calibri"/>
              </a:rPr>
              <a:t>Semantic (25%): </a:t>
            </a:r>
            <a:r>
              <a:rPr sz="1100" b="0" i="0">
                <a:solidFill>
                  <a:srgbClr val="AAAAAA"/>
                </a:solidFill>
                <a:latin typeface="Calibri"/>
              </a:rPr>
              <a:t>Encode ref &amp; hyp with sentence-transformer (MiniLM), compute cosine similarity. Captures whether the overall MEANING is preserved.</a:t>
            </a:r>
          </a:p>
          <a:p>
            <a:pPr algn="l">
              <a:spcAft>
                <a:spcPts val="600"/>
              </a:spcAft>
            </a:pPr>
            <a:r>
              <a:rPr sz="1100" b="1" i="0">
                <a:solidFill>
                  <a:srgbClr val="00B4D8"/>
                </a:solidFill>
                <a:latin typeface="Calibri"/>
              </a:rPr>
              <a:t>Phonetic (15%): </a:t>
            </a:r>
            <a:r>
              <a:rPr sz="1100" b="0" i="0">
                <a:solidFill>
                  <a:srgbClr val="AAAAAA"/>
                </a:solidFill>
                <a:latin typeface="Calibri"/>
              </a:rPr>
              <a:t>Convert text to phoneme sequences (g2p), compute edit-distance similarity. Detects when words SOUND right even if spelled differently.</a:t>
            </a:r>
          </a:p>
          <a:p>
            <a:pPr algn="l">
              <a:spcAft>
                <a:spcPts val="600"/>
              </a:spcAft>
            </a:pPr>
            <a:r>
              <a:rPr sz="1100" b="1" i="0">
                <a:solidFill>
                  <a:srgbClr val="00B4D8"/>
                </a:solidFill>
                <a:latin typeface="Calibri"/>
              </a:rPr>
              <a:t>WWER (15%): </a:t>
            </a:r>
            <a:r>
              <a:rPr sz="1100" b="0" i="0">
                <a:solidFill>
                  <a:srgbClr val="AAAAAA"/>
                </a:solidFill>
                <a:latin typeface="Calibri"/>
              </a:rPr>
              <a:t>WER with content words (nouns, verbs, names) penalized 2× vs function words ('the', 'a').</a:t>
            </a:r>
          </a:p>
          <a:p>
            <a:pPr algn="l">
              <a:spcAft>
                <a:spcPts val="600"/>
              </a:spcAft>
            </a:pPr>
            <a:r>
              <a:rPr sz="1100" b="1" i="0">
                <a:solidFill>
                  <a:srgbClr val="00B4D8"/>
                </a:solidFill>
                <a:latin typeface="Calibri"/>
              </a:rPr>
              <a:t>NEA (15%): </a:t>
            </a:r>
            <a:r>
              <a:rPr sz="1100" b="0" i="0">
                <a:solidFill>
                  <a:srgbClr val="AAAAAA"/>
                </a:solidFill>
                <a:latin typeface="Calibri"/>
              </a:rPr>
              <a:t>Named Entity F1 — are names, numbers, proper nouns preserved? Binary: right or wrong.</a:t>
            </a:r>
          </a:p>
          <a:p>
            <a:pPr algn="l">
              <a:spcAft>
                <a:spcPts val="600"/>
              </a:spcAft>
            </a:pPr>
            <a:r>
              <a:rPr sz="1100" b="1" i="0">
                <a:solidFill>
                  <a:srgbClr val="00B4D8"/>
                </a:solidFill>
                <a:latin typeface="Calibri"/>
              </a:rPr>
              <a:t>Length (15%): </a:t>
            </a:r>
            <a:r>
              <a:rPr sz="1100" b="0" i="0">
                <a:solidFill>
                  <a:srgbClr val="AAAAAA"/>
                </a:solidFill>
                <a:latin typeface="Calibri"/>
              </a:rPr>
              <a:t>Output length vs reference length ratio. Catches truncation (too short) and hallucination (too long).</a:t>
            </a:r>
          </a:p>
        </p:txBody>
      </p:sp>
      <p:pic>
        <p:nvPicPr>
          <p:cNvPr id="9" name="Picture 8"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0" name="TextBox 9"/>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13</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fill="hold">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10" fill="hold">
                      <p:stCondLst>
                        <p:cond delay="0"/>
                      </p:stCondLst>
                      <p:childTnLst>
                        <p:par>
                          <p:cTn id="11" fill="hold">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fill="hold">
                            <p:stCondLst>
                              <p:cond delay="12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par>
                    <p:cTn id="17" fill="hold">
                      <p:stCondLst>
                        <p:cond delay="0"/>
                      </p:stCondLst>
                      <p:childTnLst>
                        <p:par>
                          <p:cTn id="18" fill="hold">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p:bldP spid="7" grpId="1"/>
      <p:bldP spid="8" grpId="2"/>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IS: Six Signals of Quality</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25880"/>
            <a:ext cx="5266944" cy="150876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80744"/>
            <a:ext cx="4992624" cy="256032"/>
          </a:xfrm>
          <a:prstGeom prst="rect">
            <a:avLst/>
          </a:prstGeom>
          <a:noFill/>
        </p:spPr>
        <p:txBody>
          <a:bodyPr wrap="square" anchor="t"/>
          <a:lstStyle/>
          <a:p>
            <a:pPr algn="l"/>
            <a:r>
              <a:rPr sz="1400" b="1" i="0">
                <a:solidFill>
                  <a:srgbClr val="00B4D8"/>
                </a:solidFill>
                <a:latin typeface="Calibri"/>
              </a:rPr>
              <a:t>Semantic Similarity (25%)</a:t>
            </a:r>
          </a:p>
        </p:txBody>
      </p:sp>
      <p:sp>
        <p:nvSpPr>
          <p:cNvPr id="6" name="TextBox 5"/>
          <p:cNvSpPr txBox="1"/>
          <p:nvPr/>
        </p:nvSpPr>
        <p:spPr>
          <a:xfrm>
            <a:off x="685800" y="1636776"/>
            <a:ext cx="4992624" cy="256032"/>
          </a:xfrm>
          <a:prstGeom prst="rect">
            <a:avLst/>
          </a:prstGeom>
          <a:noFill/>
        </p:spPr>
        <p:txBody>
          <a:bodyPr wrap="square" anchor="t"/>
          <a:lstStyle/>
          <a:p>
            <a:pPr algn="l"/>
            <a:r>
              <a:rPr sz="1200" b="0" i="0">
                <a:solidFill>
                  <a:srgbClr val="FFFFFF"/>
                </a:solidFill>
                <a:latin typeface="Calibri"/>
              </a:rPr>
              <a:t>Does the output preserve the intended meaning?</a:t>
            </a:r>
          </a:p>
        </p:txBody>
      </p:sp>
      <p:sp>
        <p:nvSpPr>
          <p:cNvPr id="7" name="TextBox 6"/>
          <p:cNvSpPr txBox="1"/>
          <p:nvPr/>
        </p:nvSpPr>
        <p:spPr>
          <a:xfrm>
            <a:off x="685800" y="1892808"/>
            <a:ext cx="4992624" cy="256032"/>
          </a:xfrm>
          <a:prstGeom prst="rect">
            <a:avLst/>
          </a:prstGeom>
          <a:noFill/>
        </p:spPr>
        <p:txBody>
          <a:bodyPr wrap="square" anchor="t"/>
          <a:lstStyle/>
          <a:p>
            <a:pPr algn="l"/>
            <a:r>
              <a:rPr sz="1000" b="0" i="1">
                <a:solidFill>
                  <a:srgbClr val="AAAAAA"/>
                </a:solidFill>
                <a:latin typeface="Calibri"/>
              </a:rPr>
              <a:t>Sentence embeddings (SBERT) — cosine distance in 384-dim meaning space</a:t>
            </a:r>
          </a:p>
        </p:txBody>
      </p:sp>
      <p:sp>
        <p:nvSpPr>
          <p:cNvPr id="8" name="TextBox 7"/>
          <p:cNvSpPr txBox="1"/>
          <p:nvPr/>
        </p:nvSpPr>
        <p:spPr>
          <a:xfrm>
            <a:off x="685800" y="2167128"/>
            <a:ext cx="4992624" cy="621792"/>
          </a:xfrm>
          <a:prstGeom prst="rect">
            <a:avLst/>
          </a:prstGeom>
          <a:noFill/>
        </p:spPr>
        <p:txBody>
          <a:bodyPr wrap="square" anchor="t"/>
          <a:lstStyle/>
          <a:p>
            <a:pPr algn="l"/>
            <a:r>
              <a:rPr sz="1100" b="0" i="0">
                <a:solidFill>
                  <a:srgbClr val="FFD54F"/>
                </a:solidFill>
                <a:latin typeface="Calibri"/>
              </a:rPr>
              <a:t>▸ Standard WER treats "admiral" → "animal" the same as "the" → "a". Semantic similarity captures that these are fundamentally different errors — one destroys meaning, the other doesn't.</a:t>
            </a:r>
          </a:p>
        </p:txBody>
      </p:sp>
      <p:sp>
        <p:nvSpPr>
          <p:cNvPr id="9" name="Rounded Rectangle 8"/>
          <p:cNvSpPr/>
          <p:nvPr/>
        </p:nvSpPr>
        <p:spPr>
          <a:xfrm>
            <a:off x="6364224" y="1325880"/>
            <a:ext cx="5266944" cy="150876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01384" y="1380744"/>
            <a:ext cx="4992624" cy="256032"/>
          </a:xfrm>
          <a:prstGeom prst="rect">
            <a:avLst/>
          </a:prstGeom>
          <a:noFill/>
        </p:spPr>
        <p:txBody>
          <a:bodyPr wrap="square" anchor="t"/>
          <a:lstStyle/>
          <a:p>
            <a:pPr algn="l"/>
            <a:r>
              <a:rPr sz="1400" b="1" i="0">
                <a:solidFill>
                  <a:srgbClr val="00B4D8"/>
                </a:solidFill>
                <a:latin typeface="Calibri"/>
              </a:rPr>
              <a:t>Phonetic Similarity (15%)</a:t>
            </a:r>
          </a:p>
        </p:txBody>
      </p:sp>
      <p:sp>
        <p:nvSpPr>
          <p:cNvPr id="11" name="TextBox 10"/>
          <p:cNvSpPr txBox="1"/>
          <p:nvPr/>
        </p:nvSpPr>
        <p:spPr>
          <a:xfrm>
            <a:off x="6501384" y="1636776"/>
            <a:ext cx="4992624" cy="256032"/>
          </a:xfrm>
          <a:prstGeom prst="rect">
            <a:avLst/>
          </a:prstGeom>
          <a:noFill/>
        </p:spPr>
        <p:txBody>
          <a:bodyPr wrap="square" anchor="t"/>
          <a:lstStyle/>
          <a:p>
            <a:pPr algn="l"/>
            <a:r>
              <a:rPr sz="1200" b="0" i="0">
                <a:solidFill>
                  <a:srgbClr val="FFFFFF"/>
                </a:solidFill>
                <a:latin typeface="Calibri"/>
              </a:rPr>
              <a:t>Do the words sound like what was actually said?</a:t>
            </a:r>
          </a:p>
        </p:txBody>
      </p:sp>
      <p:sp>
        <p:nvSpPr>
          <p:cNvPr id="12" name="TextBox 11"/>
          <p:cNvSpPr txBox="1"/>
          <p:nvPr/>
        </p:nvSpPr>
        <p:spPr>
          <a:xfrm>
            <a:off x="6501384" y="1892808"/>
            <a:ext cx="4992624" cy="256032"/>
          </a:xfrm>
          <a:prstGeom prst="rect">
            <a:avLst/>
          </a:prstGeom>
          <a:noFill/>
        </p:spPr>
        <p:txBody>
          <a:bodyPr wrap="square" anchor="t"/>
          <a:lstStyle/>
          <a:p>
            <a:pPr algn="l"/>
            <a:r>
              <a:rPr sz="1000" b="0" i="1">
                <a:solidFill>
                  <a:srgbClr val="AAAAAA"/>
                </a:solidFill>
                <a:latin typeface="Calibri"/>
              </a:rPr>
              <a:t>Double Metaphone encoding — maps words to pronunciation codes</a:t>
            </a:r>
          </a:p>
        </p:txBody>
      </p:sp>
      <p:sp>
        <p:nvSpPr>
          <p:cNvPr id="13" name="TextBox 12"/>
          <p:cNvSpPr txBox="1"/>
          <p:nvPr/>
        </p:nvSpPr>
        <p:spPr>
          <a:xfrm>
            <a:off x="6501384" y="2167128"/>
            <a:ext cx="4992624" cy="621792"/>
          </a:xfrm>
          <a:prstGeom prst="rect">
            <a:avLst/>
          </a:prstGeom>
          <a:noFill/>
        </p:spPr>
        <p:txBody>
          <a:bodyPr wrap="square" anchor="t"/>
          <a:lstStyle/>
          <a:p>
            <a:pPr algn="l"/>
            <a:r>
              <a:rPr sz="1100" b="0" i="0">
                <a:solidFill>
                  <a:srgbClr val="FFD54F"/>
                </a:solidFill>
                <a:latin typeface="Calibri"/>
              </a:rPr>
              <a:t>▸ Lip-reading outputs are phonetically constrained — the model sees mouth shapes, not text. Phonetic similarity measures how well it decoded what the lips actually produced.</a:t>
            </a:r>
          </a:p>
        </p:txBody>
      </p:sp>
      <p:sp>
        <p:nvSpPr>
          <p:cNvPr id="14" name="Rounded Rectangle 13"/>
          <p:cNvSpPr/>
          <p:nvPr/>
        </p:nvSpPr>
        <p:spPr>
          <a:xfrm>
            <a:off x="548640" y="2880360"/>
            <a:ext cx="5266944" cy="150876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935224"/>
            <a:ext cx="4992624" cy="256032"/>
          </a:xfrm>
          <a:prstGeom prst="rect">
            <a:avLst/>
          </a:prstGeom>
          <a:noFill/>
        </p:spPr>
        <p:txBody>
          <a:bodyPr wrap="square" anchor="t"/>
          <a:lstStyle/>
          <a:p>
            <a:pPr algn="l"/>
            <a:r>
              <a:rPr sz="1400" b="1" i="0">
                <a:solidFill>
                  <a:srgbClr val="00B4D8"/>
                </a:solidFill>
                <a:latin typeface="Calibri"/>
              </a:rPr>
              <a:t>Inverse WER (15%)</a:t>
            </a:r>
          </a:p>
        </p:txBody>
      </p:sp>
      <p:sp>
        <p:nvSpPr>
          <p:cNvPr id="16" name="TextBox 15"/>
          <p:cNvSpPr txBox="1"/>
          <p:nvPr/>
        </p:nvSpPr>
        <p:spPr>
          <a:xfrm>
            <a:off x="685800" y="3191256"/>
            <a:ext cx="4992624" cy="256032"/>
          </a:xfrm>
          <a:prstGeom prst="rect">
            <a:avLst/>
          </a:prstGeom>
          <a:noFill/>
        </p:spPr>
        <p:txBody>
          <a:bodyPr wrap="square" anchor="t"/>
          <a:lstStyle/>
          <a:p>
            <a:pPr algn="l"/>
            <a:r>
              <a:rPr sz="1200" b="0" i="0">
                <a:solidFill>
                  <a:srgbClr val="FFFFFF"/>
                </a:solidFill>
                <a:latin typeface="Calibri"/>
              </a:rPr>
              <a:t>How many words are correct at the surface level?</a:t>
            </a:r>
          </a:p>
        </p:txBody>
      </p:sp>
      <p:sp>
        <p:nvSpPr>
          <p:cNvPr id="17" name="TextBox 16"/>
          <p:cNvSpPr txBox="1"/>
          <p:nvPr/>
        </p:nvSpPr>
        <p:spPr>
          <a:xfrm>
            <a:off x="685800" y="3447288"/>
            <a:ext cx="4992624" cy="256032"/>
          </a:xfrm>
          <a:prstGeom prst="rect">
            <a:avLst/>
          </a:prstGeom>
          <a:noFill/>
        </p:spPr>
        <p:txBody>
          <a:bodyPr wrap="square" anchor="t"/>
          <a:lstStyle/>
          <a:p>
            <a:pPr algn="l"/>
            <a:r>
              <a:rPr sz="1000" b="0" i="1">
                <a:solidFill>
                  <a:srgbClr val="AAAAAA"/>
                </a:solidFill>
                <a:latin typeface="Calibri"/>
              </a:rPr>
              <a:t>Standard 1 − WER (edit distance: substitutions + insertions + deletions)</a:t>
            </a:r>
          </a:p>
        </p:txBody>
      </p:sp>
      <p:sp>
        <p:nvSpPr>
          <p:cNvPr id="18" name="TextBox 17"/>
          <p:cNvSpPr txBox="1"/>
          <p:nvPr/>
        </p:nvSpPr>
        <p:spPr>
          <a:xfrm>
            <a:off x="685800" y="3721608"/>
            <a:ext cx="4992624" cy="621792"/>
          </a:xfrm>
          <a:prstGeom prst="rect">
            <a:avLst/>
          </a:prstGeom>
          <a:noFill/>
        </p:spPr>
        <p:txBody>
          <a:bodyPr wrap="square" anchor="t"/>
          <a:lstStyle/>
          <a:p>
            <a:pPr algn="l"/>
            <a:r>
              <a:rPr sz="1100" b="0" i="0">
                <a:solidFill>
                  <a:srgbClr val="FFD54F"/>
                </a:solidFill>
                <a:latin typeface="Calibri"/>
              </a:rPr>
              <a:t>▸ The universal baseline in speech recognition. Necessary but insufficient — a WER of 60% tells you nothing about whether the meaning survived.</a:t>
            </a:r>
          </a:p>
        </p:txBody>
      </p:sp>
      <p:sp>
        <p:nvSpPr>
          <p:cNvPr id="19" name="Rounded Rectangle 18"/>
          <p:cNvSpPr/>
          <p:nvPr/>
        </p:nvSpPr>
        <p:spPr>
          <a:xfrm>
            <a:off x="6364224" y="2880360"/>
            <a:ext cx="5266944" cy="150876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01384" y="2935224"/>
            <a:ext cx="4992624" cy="256032"/>
          </a:xfrm>
          <a:prstGeom prst="rect">
            <a:avLst/>
          </a:prstGeom>
          <a:noFill/>
        </p:spPr>
        <p:txBody>
          <a:bodyPr wrap="square" anchor="t"/>
          <a:lstStyle/>
          <a:p>
            <a:pPr algn="l"/>
            <a:r>
              <a:rPr sz="1400" b="1" i="0">
                <a:solidFill>
                  <a:srgbClr val="00B4D8"/>
                </a:solidFill>
                <a:latin typeface="Calibri"/>
              </a:rPr>
              <a:t>Inverse WWER (15%)</a:t>
            </a:r>
          </a:p>
        </p:txBody>
      </p:sp>
      <p:sp>
        <p:nvSpPr>
          <p:cNvPr id="21" name="TextBox 20"/>
          <p:cNvSpPr txBox="1"/>
          <p:nvPr/>
        </p:nvSpPr>
        <p:spPr>
          <a:xfrm>
            <a:off x="6501384" y="3191256"/>
            <a:ext cx="4992624" cy="256032"/>
          </a:xfrm>
          <a:prstGeom prst="rect">
            <a:avLst/>
          </a:prstGeom>
          <a:noFill/>
        </p:spPr>
        <p:txBody>
          <a:bodyPr wrap="square" anchor="t"/>
          <a:lstStyle/>
          <a:p>
            <a:pPr algn="l"/>
            <a:r>
              <a:rPr sz="1200" b="0" i="0">
                <a:solidFill>
                  <a:srgbClr val="FFFFFF"/>
                </a:solidFill>
                <a:latin typeface="Calibri"/>
              </a:rPr>
              <a:t>Are the important words correct?</a:t>
            </a:r>
          </a:p>
        </p:txBody>
      </p:sp>
      <p:sp>
        <p:nvSpPr>
          <p:cNvPr id="22" name="TextBox 21"/>
          <p:cNvSpPr txBox="1"/>
          <p:nvPr/>
        </p:nvSpPr>
        <p:spPr>
          <a:xfrm>
            <a:off x="6501384" y="3447288"/>
            <a:ext cx="4992624" cy="256032"/>
          </a:xfrm>
          <a:prstGeom prst="rect">
            <a:avLst/>
          </a:prstGeom>
          <a:noFill/>
        </p:spPr>
        <p:txBody>
          <a:bodyPr wrap="square" anchor="t"/>
          <a:lstStyle/>
          <a:p>
            <a:pPr algn="l"/>
            <a:r>
              <a:rPr sz="1000" b="0" i="1">
                <a:solidFill>
                  <a:srgbClr val="AAAAAA"/>
                </a:solidFill>
                <a:latin typeface="Calibri"/>
              </a:rPr>
              <a:t>Entities weighted 2×, content words 1×, function words 0.5×</a:t>
            </a:r>
          </a:p>
        </p:txBody>
      </p:sp>
      <p:sp>
        <p:nvSpPr>
          <p:cNvPr id="23" name="TextBox 22"/>
          <p:cNvSpPr txBox="1"/>
          <p:nvPr/>
        </p:nvSpPr>
        <p:spPr>
          <a:xfrm>
            <a:off x="6501384" y="3721608"/>
            <a:ext cx="4992624" cy="621792"/>
          </a:xfrm>
          <a:prstGeom prst="rect">
            <a:avLst/>
          </a:prstGeom>
          <a:noFill/>
        </p:spPr>
        <p:txBody>
          <a:bodyPr wrap="square" anchor="t"/>
          <a:lstStyle/>
          <a:p>
            <a:pPr algn="l"/>
            <a:r>
              <a:rPr sz="1100" b="0" i="0">
                <a:solidFill>
                  <a:srgbClr val="FFD54F"/>
                </a:solidFill>
                <a:latin typeface="Calibri"/>
              </a:rPr>
              <a:t>▸ Not all words carry equal information. Losing "the" barely matters; losing "Admiral McRae" is catastrophic. WWER weights errors by information content.</a:t>
            </a:r>
          </a:p>
        </p:txBody>
      </p:sp>
      <p:sp>
        <p:nvSpPr>
          <p:cNvPr id="24" name="Rounded Rectangle 23"/>
          <p:cNvSpPr/>
          <p:nvPr/>
        </p:nvSpPr>
        <p:spPr>
          <a:xfrm>
            <a:off x="548640" y="4434840"/>
            <a:ext cx="5266944" cy="150876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4489704"/>
            <a:ext cx="4992624" cy="256032"/>
          </a:xfrm>
          <a:prstGeom prst="rect">
            <a:avLst/>
          </a:prstGeom>
          <a:noFill/>
        </p:spPr>
        <p:txBody>
          <a:bodyPr wrap="square" anchor="t"/>
          <a:lstStyle/>
          <a:p>
            <a:pPr algn="l"/>
            <a:r>
              <a:rPr sz="1400" b="1" i="0">
                <a:solidFill>
                  <a:srgbClr val="E06C75"/>
                </a:solidFill>
                <a:latin typeface="Calibri"/>
              </a:rPr>
              <a:t>Named Entity F1 (15%)</a:t>
            </a:r>
          </a:p>
        </p:txBody>
      </p:sp>
      <p:sp>
        <p:nvSpPr>
          <p:cNvPr id="26" name="TextBox 25"/>
          <p:cNvSpPr txBox="1"/>
          <p:nvPr/>
        </p:nvSpPr>
        <p:spPr>
          <a:xfrm>
            <a:off x="685800" y="4745736"/>
            <a:ext cx="4992624" cy="256032"/>
          </a:xfrm>
          <a:prstGeom prst="rect">
            <a:avLst/>
          </a:prstGeom>
          <a:noFill/>
        </p:spPr>
        <p:txBody>
          <a:bodyPr wrap="square" anchor="t"/>
          <a:lstStyle/>
          <a:p>
            <a:pPr algn="l"/>
            <a:r>
              <a:rPr sz="1200" b="0" i="0">
                <a:solidFill>
                  <a:srgbClr val="FFFFFF"/>
                </a:solidFill>
                <a:latin typeface="Calibri"/>
              </a:rPr>
              <a:t>Are names, numbers, and places preserved?</a:t>
            </a:r>
          </a:p>
        </p:txBody>
      </p:sp>
      <p:sp>
        <p:nvSpPr>
          <p:cNvPr id="27" name="TextBox 26"/>
          <p:cNvSpPr txBox="1"/>
          <p:nvPr/>
        </p:nvSpPr>
        <p:spPr>
          <a:xfrm>
            <a:off x="685800" y="5001768"/>
            <a:ext cx="4992624" cy="256032"/>
          </a:xfrm>
          <a:prstGeom prst="rect">
            <a:avLst/>
          </a:prstGeom>
          <a:noFill/>
        </p:spPr>
        <p:txBody>
          <a:bodyPr wrap="square" anchor="t"/>
          <a:lstStyle/>
          <a:p>
            <a:pPr algn="l"/>
            <a:r>
              <a:rPr sz="1000" b="0" i="1">
                <a:solidFill>
                  <a:srgbClr val="AAAAAA"/>
                </a:solidFill>
                <a:latin typeface="Calibri"/>
              </a:rPr>
              <a:t>spaCy NER extraction → precision/recall on proper nouns</a:t>
            </a:r>
          </a:p>
        </p:txBody>
      </p:sp>
      <p:sp>
        <p:nvSpPr>
          <p:cNvPr id="28" name="TextBox 27"/>
          <p:cNvSpPr txBox="1"/>
          <p:nvPr/>
        </p:nvSpPr>
        <p:spPr>
          <a:xfrm>
            <a:off x="685800" y="5276088"/>
            <a:ext cx="4992624" cy="621792"/>
          </a:xfrm>
          <a:prstGeom prst="rect">
            <a:avLst/>
          </a:prstGeom>
          <a:noFill/>
        </p:spPr>
        <p:txBody>
          <a:bodyPr wrap="square" anchor="t"/>
          <a:lstStyle/>
          <a:p>
            <a:pPr algn="l"/>
            <a:r>
              <a:rPr sz="1100" b="0" i="0">
                <a:solidFill>
                  <a:srgbClr val="FFD54F"/>
                </a:solidFill>
                <a:latin typeface="Calibri"/>
              </a:rPr>
              <a:t>▸ Entities are irreplaceable — a viewer can infer a missing 'the' from context, but cannot recover a lost name or number. Binary pass/fail nature makes it the swing factor.</a:t>
            </a:r>
          </a:p>
        </p:txBody>
      </p:sp>
      <p:sp>
        <p:nvSpPr>
          <p:cNvPr id="29" name="Rounded Rectangle 28"/>
          <p:cNvSpPr/>
          <p:nvPr/>
        </p:nvSpPr>
        <p:spPr>
          <a:xfrm>
            <a:off x="6364224" y="4434840"/>
            <a:ext cx="5266944" cy="1508760"/>
          </a:xfrm>
          <a:prstGeom prst="roundRect">
            <a:avLst/>
          </a:prstGeom>
          <a:solidFill>
            <a:srgbClr val="152A40"/>
          </a:solidFill>
          <a:ln w="2540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01384" y="4489704"/>
            <a:ext cx="4992624" cy="256032"/>
          </a:xfrm>
          <a:prstGeom prst="rect">
            <a:avLst/>
          </a:prstGeom>
          <a:noFill/>
        </p:spPr>
        <p:txBody>
          <a:bodyPr wrap="square" anchor="t"/>
          <a:lstStyle/>
          <a:p>
            <a:pPr algn="l"/>
            <a:r>
              <a:rPr sz="1400" b="1" i="0">
                <a:solidFill>
                  <a:srgbClr val="AAAAAA"/>
                </a:solidFill>
                <a:latin typeface="Calibri"/>
              </a:rPr>
              <a:t>Length Ratio (15%)</a:t>
            </a:r>
          </a:p>
        </p:txBody>
      </p:sp>
      <p:sp>
        <p:nvSpPr>
          <p:cNvPr id="31" name="TextBox 30"/>
          <p:cNvSpPr txBox="1"/>
          <p:nvPr/>
        </p:nvSpPr>
        <p:spPr>
          <a:xfrm>
            <a:off x="6501384" y="4745736"/>
            <a:ext cx="4992624" cy="256032"/>
          </a:xfrm>
          <a:prstGeom prst="rect">
            <a:avLst/>
          </a:prstGeom>
          <a:noFill/>
        </p:spPr>
        <p:txBody>
          <a:bodyPr wrap="square" anchor="t"/>
          <a:lstStyle/>
          <a:p>
            <a:pPr algn="l"/>
            <a:r>
              <a:rPr sz="1200" b="0" i="0">
                <a:solidFill>
                  <a:srgbClr val="FFFFFF"/>
                </a:solidFill>
                <a:latin typeface="Calibri"/>
              </a:rPr>
              <a:t>Is the output the right length?</a:t>
            </a:r>
          </a:p>
        </p:txBody>
      </p:sp>
      <p:sp>
        <p:nvSpPr>
          <p:cNvPr id="32" name="TextBox 31"/>
          <p:cNvSpPr txBox="1"/>
          <p:nvPr/>
        </p:nvSpPr>
        <p:spPr>
          <a:xfrm>
            <a:off x="6501384" y="5001768"/>
            <a:ext cx="4992624" cy="256032"/>
          </a:xfrm>
          <a:prstGeom prst="rect">
            <a:avLst/>
          </a:prstGeom>
          <a:noFill/>
        </p:spPr>
        <p:txBody>
          <a:bodyPr wrap="square" anchor="t"/>
          <a:lstStyle/>
          <a:p>
            <a:pPr algn="l"/>
            <a:r>
              <a:rPr sz="1000" b="0" i="1">
                <a:solidFill>
                  <a:srgbClr val="AAAAAA"/>
                </a:solidFill>
                <a:latin typeface="Calibri"/>
              </a:rPr>
              <a:t>len(hypothesis) / len(reference) — ideal = 1.0</a:t>
            </a:r>
          </a:p>
        </p:txBody>
      </p:sp>
      <p:sp>
        <p:nvSpPr>
          <p:cNvPr id="33" name="TextBox 32"/>
          <p:cNvSpPr txBox="1"/>
          <p:nvPr/>
        </p:nvSpPr>
        <p:spPr>
          <a:xfrm>
            <a:off x="6501384" y="5276088"/>
            <a:ext cx="4992624" cy="621792"/>
          </a:xfrm>
          <a:prstGeom prst="rect">
            <a:avLst/>
          </a:prstGeom>
          <a:noFill/>
        </p:spPr>
        <p:txBody>
          <a:bodyPr wrap="square" anchor="t"/>
          <a:lstStyle/>
          <a:p>
            <a:pPr algn="l"/>
            <a:r>
              <a:rPr sz="1100" b="0" i="0">
                <a:solidFill>
                  <a:srgbClr val="FFD54F"/>
                </a:solidFill>
                <a:latin typeface="Calibri"/>
              </a:rPr>
              <a:t>▸ Safety net for extreme failures: ratio &gt; 2.0 = hallucination (model rambling), ratio &lt; 0.3 = truncation (model gave up). Lowest real impact — most outputs are roughly correct length.</a:t>
            </a:r>
          </a:p>
        </p:txBody>
      </p:sp>
      <p:sp>
        <p:nvSpPr>
          <p:cNvPr id="34" name="TextBox 33"/>
          <p:cNvSpPr txBox="1"/>
          <p:nvPr/>
        </p:nvSpPr>
        <p:spPr>
          <a:xfrm>
            <a:off x="548640" y="5989320"/>
            <a:ext cx="11091672" cy="365760"/>
          </a:xfrm>
          <a:prstGeom prst="rect">
            <a:avLst/>
          </a:prstGeom>
          <a:noFill/>
        </p:spPr>
        <p:txBody>
          <a:bodyPr wrap="square" anchor="t"/>
          <a:lstStyle/>
          <a:p>
            <a:pPr algn="ctr"/>
            <a:r>
              <a:rPr sz="1200" b="0" i="0">
                <a:solidFill>
                  <a:srgbClr val="AAAAAA"/>
                </a:solidFill>
                <a:latin typeface="Calibri"/>
              </a:rPr>
              <a:t>IS = 0.25×Semantic + 0.15×(Phonetic + InvWER + InvWWER + NEA + Length)   •   Score: 0–5   •   Threshold: IS ≥ 3.0</a:t>
            </a:r>
          </a:p>
        </p:txBody>
      </p:sp>
      <p:pic>
        <p:nvPicPr>
          <p:cNvPr id="35" name="Picture 34"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36" name="TextBox 35"/>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14</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childTnLst>
                    </p:cTn>
                  </p:par>
                  <p:par>
                    <p:cTn id="7" fill="hold">
                      <p:stCondLst>
                        <p:cond delay="0"/>
                      </p:stCondLst>
                      <p:childTnLst>
                        <p:par>
                          <p:cTn id="8" fill="hold">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par>
                    <p:cTn id="11" fill="hold">
                      <p:stCondLst>
                        <p:cond delay="0"/>
                      </p:stCondLst>
                      <p:childTnLst>
                        <p:par>
                          <p:cTn id="12" fill="hold">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500"/>
                                  <p:tgtEl>
                                    <p:spTgt spid="14"/>
                                  </p:tgtEl>
                                </p:cBhvr>
                              </p:animEffect>
                            </p:childTnLst>
                          </p:cTn>
                        </p:par>
                      </p:childTnLst>
                    </p:cTn>
                  </p:par>
                  <p:par>
                    <p:cTn id="15" fill="hold">
                      <p:stCondLst>
                        <p:cond delay="0"/>
                      </p:stCondLst>
                      <p:childTnLst>
                        <p:par>
                          <p:cTn id="16" fill="hold">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childTnLst>
                    </p:cTn>
                  </p:par>
                  <p:par>
                    <p:cTn id="19" fill="hold">
                      <p:stCondLst>
                        <p:cond delay="0"/>
                      </p:stCondLst>
                      <p:childTnLst>
                        <p:par>
                          <p:cTn id="20" fill="hold">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par>
                    <p:cTn id="23" fill="hold">
                      <p:stCondLst>
                        <p:cond delay="0"/>
                      </p:stCondLst>
                      <p:childTnLst>
                        <p:par>
                          <p:cTn id="24" fill="hold">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4" grpId="0"/>
      <p:bldP spid="19" grpId="0"/>
      <p:bldP spid="24" grpId="0"/>
      <p:bldP spid="29" grpId="0"/>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Why These Weights? Three Dimensions of Quality</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365760"/>
          </a:xfrm>
          <a:prstGeom prst="rect">
            <a:avLst/>
          </a:prstGeom>
          <a:noFill/>
        </p:spPr>
        <p:txBody>
          <a:bodyPr wrap="square" anchor="t"/>
          <a:lstStyle/>
          <a:p>
            <a:pPr algn="l"/>
            <a:r>
              <a:rPr sz="2000" b="1" i="0">
                <a:solidFill>
                  <a:srgbClr val="00B4D8"/>
                </a:solidFill>
                <a:latin typeface="Calibri"/>
              </a:rPr>
              <a:t>Three Independent Dimensions</a:t>
            </a:r>
          </a:p>
        </p:txBody>
      </p:sp>
      <p:sp>
        <p:nvSpPr>
          <p:cNvPr id="5" name="TextBox 4"/>
          <p:cNvSpPr txBox="1"/>
          <p:nvPr/>
        </p:nvSpPr>
        <p:spPr>
          <a:xfrm>
            <a:off x="640080" y="1828800"/>
            <a:ext cx="4846320" cy="320040"/>
          </a:xfrm>
          <a:prstGeom prst="rect">
            <a:avLst/>
          </a:prstGeom>
          <a:noFill/>
        </p:spPr>
        <p:txBody>
          <a:bodyPr wrap="square" anchor="t"/>
          <a:lstStyle/>
          <a:p>
            <a:pPr algn="l"/>
            <a:r>
              <a:rPr sz="1400" b="1" i="0">
                <a:solidFill>
                  <a:srgbClr val="00B4D8"/>
                </a:solidFill>
                <a:latin typeface="Calibri"/>
              </a:rPr>
              <a:t>Word Accuracy (~60% of IS)</a:t>
            </a:r>
          </a:p>
        </p:txBody>
      </p:sp>
      <p:sp>
        <p:nvSpPr>
          <p:cNvPr id="6" name="TextBox 5"/>
          <p:cNvSpPr txBox="1"/>
          <p:nvPr/>
        </p:nvSpPr>
        <p:spPr>
          <a:xfrm>
            <a:off x="640080" y="2148840"/>
            <a:ext cx="4846320" cy="1005840"/>
          </a:xfrm>
          <a:prstGeom prst="rect">
            <a:avLst/>
          </a:prstGeom>
          <a:noFill/>
        </p:spPr>
        <p:txBody>
          <a:bodyPr wrap="square" anchor="t"/>
          <a:lstStyle/>
          <a:p>
            <a:pPr algn="l"/>
            <a:r>
              <a:rPr sz="1100" b="0" i="0">
                <a:solidFill>
                  <a:srgbClr val="FFFFFF"/>
                </a:solidFill>
                <a:latin typeface="Calibri"/>
              </a:rPr>
              <a:t>Phonetic + WER + WWER + NEA (4 × 15% = 60%)</a:t>
            </a:r>
            <a:br/>
            <a:r>
              <a:rPr sz="1100" b="0" i="0">
                <a:solidFill>
                  <a:srgbClr val="FFFFFF"/>
                </a:solidFill>
                <a:latin typeface="Calibri"/>
              </a:rPr>
              <a:t>All 4 signals correlate tightly (r &gt; 0.79 with each other). They measure overlapping aspects of: did the model get the right words? For lip-reading this is the foundation.</a:t>
            </a:r>
          </a:p>
        </p:txBody>
      </p:sp>
      <p:sp>
        <p:nvSpPr>
          <p:cNvPr id="7" name="TextBox 6"/>
          <p:cNvSpPr txBox="1"/>
          <p:nvPr/>
        </p:nvSpPr>
        <p:spPr>
          <a:xfrm>
            <a:off x="640080" y="3246120"/>
            <a:ext cx="4846320" cy="320040"/>
          </a:xfrm>
          <a:prstGeom prst="rect">
            <a:avLst/>
          </a:prstGeom>
          <a:noFill/>
        </p:spPr>
        <p:txBody>
          <a:bodyPr wrap="square" anchor="t"/>
          <a:lstStyle/>
          <a:p>
            <a:pPr algn="l"/>
            <a:r>
              <a:rPr sz="1400" b="1" i="0">
                <a:solidFill>
                  <a:srgbClr val="4CAF50"/>
                </a:solidFill>
                <a:latin typeface="Calibri"/>
              </a:rPr>
              <a:t>Meaning Preservation (~28%)</a:t>
            </a:r>
          </a:p>
        </p:txBody>
      </p:sp>
      <p:sp>
        <p:nvSpPr>
          <p:cNvPr id="8" name="TextBox 7"/>
          <p:cNvSpPr txBox="1"/>
          <p:nvPr/>
        </p:nvSpPr>
        <p:spPr>
          <a:xfrm>
            <a:off x="640080" y="3566160"/>
            <a:ext cx="4846320" cy="1005840"/>
          </a:xfrm>
          <a:prstGeom prst="rect">
            <a:avLst/>
          </a:prstGeom>
          <a:noFill/>
        </p:spPr>
        <p:txBody>
          <a:bodyPr wrap="square" anchor="t"/>
          <a:lstStyle/>
          <a:p>
            <a:pPr algn="l"/>
            <a:r>
              <a:rPr sz="1100" b="0" i="0">
                <a:solidFill>
                  <a:srgbClr val="FFFFFF"/>
                </a:solidFill>
                <a:latin typeface="Calibri"/>
              </a:rPr>
              <a:t>Semantic Similarity (1 × 25%)</a:t>
            </a:r>
            <a:br/>
            <a:r>
              <a:rPr sz="1100" b="0" i="0">
                <a:solidFill>
                  <a:srgbClr val="FFFFFF"/>
                </a:solidFill>
                <a:latin typeface="Calibri"/>
              </a:rPr>
              <a:t>Gets highest single weight because meaning is the ultimate goal. Partially redundant with word accuracy (r=0.82) — correct words usually mean correct meaning — but captures paraphrasing and near-misses.</a:t>
            </a:r>
          </a:p>
        </p:txBody>
      </p:sp>
      <p:sp>
        <p:nvSpPr>
          <p:cNvPr id="9" name="TextBox 8"/>
          <p:cNvSpPr txBox="1"/>
          <p:nvPr/>
        </p:nvSpPr>
        <p:spPr>
          <a:xfrm>
            <a:off x="640080" y="4663440"/>
            <a:ext cx="4846320" cy="320040"/>
          </a:xfrm>
          <a:prstGeom prst="rect">
            <a:avLst/>
          </a:prstGeom>
          <a:noFill/>
        </p:spPr>
        <p:txBody>
          <a:bodyPr wrap="square" anchor="t"/>
          <a:lstStyle/>
          <a:p>
            <a:pPr algn="l"/>
            <a:r>
              <a:rPr sz="1400" b="1" i="0">
                <a:solidFill>
                  <a:srgbClr val="AAAAAA"/>
                </a:solidFill>
                <a:latin typeface="Calibri"/>
              </a:rPr>
              <a:t>Output Sanity (~9%)</a:t>
            </a:r>
          </a:p>
        </p:txBody>
      </p:sp>
      <p:sp>
        <p:nvSpPr>
          <p:cNvPr id="10" name="TextBox 9"/>
          <p:cNvSpPr txBox="1"/>
          <p:nvPr/>
        </p:nvSpPr>
        <p:spPr>
          <a:xfrm>
            <a:off x="640080" y="4983480"/>
            <a:ext cx="4846320" cy="1005840"/>
          </a:xfrm>
          <a:prstGeom prst="rect">
            <a:avLst/>
          </a:prstGeom>
          <a:noFill/>
        </p:spPr>
        <p:txBody>
          <a:bodyPr wrap="square" anchor="t"/>
          <a:lstStyle/>
          <a:p>
            <a:pPr algn="l"/>
            <a:r>
              <a:rPr sz="1100" b="0" i="0">
                <a:solidFill>
                  <a:srgbClr val="FFFFFF"/>
                </a:solidFill>
                <a:latin typeface="Calibri"/>
              </a:rPr>
              <a:t>Length Ratio (1 × 15%)</a:t>
            </a:r>
            <a:br/>
            <a:r>
              <a:rPr sz="1100" b="0" i="0">
                <a:solidFill>
                  <a:srgbClr val="FFFFFF"/>
                </a:solidFill>
                <a:latin typeface="Calibri"/>
              </a:rPr>
              <a:t>Safety net, not a quality signal. Catches extreme hallucinations (output 3× too long) and truncation (output barely started). Lowest real impact — most outputs are roughly the right length.</a:t>
            </a:r>
          </a:p>
        </p:txBody>
      </p:sp>
      <p:sp>
        <p:nvSpPr>
          <p:cNvPr id="11" name="TextBox 10"/>
          <p:cNvSpPr txBox="1"/>
          <p:nvPr/>
        </p:nvSpPr>
        <p:spPr>
          <a:xfrm>
            <a:off x="6611111" y="1325880"/>
            <a:ext cx="5029201" cy="365760"/>
          </a:xfrm>
          <a:prstGeom prst="rect">
            <a:avLst/>
          </a:prstGeom>
          <a:noFill/>
        </p:spPr>
        <p:txBody>
          <a:bodyPr wrap="square" anchor="t"/>
          <a:lstStyle/>
          <a:p>
            <a:pPr algn="l"/>
            <a:r>
              <a:rPr sz="2000" b="1" i="0">
                <a:solidFill>
                  <a:srgbClr val="E06C75"/>
                </a:solidFill>
                <a:latin typeface="Calibri"/>
              </a:rPr>
              <a:t>Why 25% / 15%?</a:t>
            </a:r>
          </a:p>
        </p:txBody>
      </p:sp>
      <p:sp>
        <p:nvSpPr>
          <p:cNvPr id="12" name="TextBox 11"/>
          <p:cNvSpPr txBox="1"/>
          <p:nvPr/>
        </p:nvSpPr>
        <p:spPr>
          <a:xfrm>
            <a:off x="6611111" y="1828800"/>
            <a:ext cx="5029201" cy="4114800"/>
          </a:xfrm>
          <a:prstGeom prst="rect">
            <a:avLst/>
          </a:prstGeom>
          <a:noFill/>
        </p:spPr>
        <p:txBody>
          <a:bodyPr wrap="square">
            <a:spAutoFit/>
          </a:bodyPr>
          <a:lstStyle/>
          <a:p>
            <a:pPr algn="l">
              <a:spcAft>
                <a:spcPts val="600"/>
              </a:spcAft>
            </a:pPr>
            <a:r>
              <a:rPr sz="1300" b="1">
                <a:solidFill>
                  <a:srgbClr val="00B4D8"/>
                </a:solidFill>
                <a:latin typeface="Calibri"/>
              </a:rPr>
              <a:t>• </a:t>
            </a:r>
            <a:r>
              <a:rPr sz="1300" b="1">
                <a:solidFill>
                  <a:srgbClr val="4CAF50"/>
                </a:solidFill>
                <a:latin typeface="Calibri"/>
              </a:rPr>
              <a:t>Semantic gets 25%: meaning is the ultimate deliverable</a:t>
            </a:r>
          </a:p>
          <a:p>
            <a:pPr algn="l">
              <a:spcAft>
                <a:spcPts val="600"/>
              </a:spcAft>
            </a:pPr>
            <a:r>
              <a:rPr sz="1300" b="1">
                <a:solidFill>
                  <a:srgbClr val="00B4D8"/>
                </a:solidFill>
                <a:latin typeface="Calibri"/>
              </a:rPr>
              <a:t>• </a:t>
            </a:r>
            <a:r>
              <a:rPr sz="1300" b="0">
                <a:solidFill>
                  <a:srgbClr val="FFFFFF"/>
                </a:solidFill>
                <a:latin typeface="Calibri"/>
              </a:rPr>
              <a:t>If a viewer understands the message, the transcription succeeded — even if exact wording differs. This is the goal of lip reading.</a:t>
            </a:r>
          </a:p>
          <a:p>
            <a:pPr algn="l">
              <a:spcAft>
                <a:spcPts val="600"/>
              </a:spcAft>
            </a:pPr>
            <a:r>
              <a:rPr sz="1300" b="1">
                <a:solidFill>
                  <a:srgbClr val="00B4D8"/>
                </a:solidFill>
                <a:latin typeface="Calibri"/>
              </a:rPr>
              <a:t>• </a:t>
            </a:r>
            <a:r>
              <a:rPr sz="1300" b="1">
                <a:solidFill>
                  <a:srgbClr val="00B4D8"/>
                </a:solidFill>
                <a:latin typeface="Calibri"/>
              </a:rPr>
              <a:t>4 word-accuracy signals share 60%: diminishing returns</a:t>
            </a:r>
          </a:p>
          <a:p>
            <a:pPr algn="l">
              <a:spcAft>
                <a:spcPts val="600"/>
              </a:spcAft>
            </a:pPr>
            <a:r>
              <a:rPr sz="1300" b="1">
                <a:solidFill>
                  <a:srgbClr val="00B4D8"/>
                </a:solidFill>
                <a:latin typeface="Calibri"/>
              </a:rPr>
              <a:t>• </a:t>
            </a:r>
            <a:r>
              <a:rPr sz="1300" b="0">
                <a:solidFill>
                  <a:srgbClr val="FFFFFF"/>
                </a:solidFill>
                <a:latin typeface="Calibri"/>
              </a:rPr>
              <a:t>WER, WWER, Phonetic, and NEA all measure overlapping aspects of 'did the model get the right words?' Equal 15% weights prevent any single word-level metric from dominating.</a:t>
            </a:r>
          </a:p>
          <a:p>
            <a:pPr algn="l">
              <a:spcAft>
                <a:spcPts val="600"/>
              </a:spcAft>
            </a:pPr>
            <a:r>
              <a:rPr sz="1300" b="1">
                <a:solidFill>
                  <a:srgbClr val="00B4D8"/>
                </a:solidFill>
                <a:latin typeface="Calibri"/>
              </a:rPr>
              <a:t>• </a:t>
            </a:r>
            <a:r>
              <a:rPr sz="1300" b="1">
                <a:solidFill>
                  <a:srgbClr val="FFFFFF"/>
                </a:solidFill>
                <a:latin typeface="Calibri"/>
              </a:rPr>
              <a:t>Length ratio at 15%: a safety net, not a quality signal</a:t>
            </a:r>
          </a:p>
          <a:p>
            <a:pPr algn="l">
              <a:spcAft>
                <a:spcPts val="600"/>
              </a:spcAft>
            </a:pPr>
            <a:r>
              <a:rPr sz="1300" b="1">
                <a:solidFill>
                  <a:srgbClr val="00B4D8"/>
                </a:solidFill>
                <a:latin typeface="Calibri"/>
              </a:rPr>
              <a:t>• </a:t>
            </a:r>
            <a:r>
              <a:rPr sz="1300" b="0">
                <a:solidFill>
                  <a:srgbClr val="FFFFFF"/>
                </a:solidFill>
                <a:latin typeface="Calibri"/>
              </a:rPr>
              <a:t>Catches hallucination and truncation — the two catastrophic failure modes that other signals can miss.</a:t>
            </a:r>
          </a:p>
          <a:p>
            <a:pPr algn="l">
              <a:spcAft>
                <a:spcPts val="600"/>
              </a:spcAft>
            </a:pPr>
            <a:r>
              <a:rPr sz="1300" b="1">
                <a:solidFill>
                  <a:srgbClr val="00B4D8"/>
                </a:solidFill>
                <a:latin typeface="Calibri"/>
              </a:rPr>
              <a:t>• </a:t>
            </a:r>
            <a:r>
              <a:rPr sz="1300" b="0">
                <a:solidFill>
                  <a:srgbClr val="FFD54F"/>
                </a:solidFill>
                <a:latin typeface="Calibri"/>
              </a:rPr>
              <a:t>Validated: r=0.93 with expert judgment, κ=0.77</a:t>
            </a:r>
          </a:p>
        </p:txBody>
      </p:sp>
      <p:sp>
        <p:nvSpPr>
          <p:cNvPr id="13" name="TextBox 12"/>
          <p:cNvSpPr txBox="1"/>
          <p:nvPr/>
        </p:nvSpPr>
        <p:spPr>
          <a:xfrm>
            <a:off x="548640" y="5806440"/>
            <a:ext cx="11091672" cy="365760"/>
          </a:xfrm>
          <a:prstGeom prst="rect">
            <a:avLst/>
          </a:prstGeom>
          <a:noFill/>
        </p:spPr>
        <p:txBody>
          <a:bodyPr wrap="square" anchor="t"/>
          <a:lstStyle/>
          <a:p>
            <a:pPr algn="ctr"/>
            <a:r>
              <a:rPr sz="1100" b="0" i="1">
                <a:solidFill>
                  <a:srgbClr val="AAAAAA"/>
                </a:solidFill>
                <a:latin typeface="Calibri"/>
              </a:rPr>
              <a:t>Validated against 1,497 segments: the resulting IS correlates at r=0.93 with an independent expert heuristic and κ=0.77 with human-like judgment.</a:t>
            </a:r>
          </a:p>
        </p:txBody>
      </p:sp>
      <p:pic>
        <p:nvPicPr>
          <p:cNvPr id="14" name="Picture 13"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5" name="TextBox 14"/>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15</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fill="hold">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par>
                          <p:cTn id="10" fill="hold">
                            <p:stCondLst>
                              <p:cond delay="24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fill="hold">
                            <p:stCondLst>
                              <p:cond delay="36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0"/>
                      </p:stCondLst>
                      <p:childTnLst>
                        <p:par>
                          <p:cTn id="17" fill="hold">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fill="hold">
                            <p:stCondLst>
                              <p:cond delay="12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11" grpId="1"/>
      <p:bldP spid="12" grpId="1"/>
    </p:bld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Three Dimensions of Quality</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65760"/>
          </a:xfrm>
          <a:prstGeom prst="rect">
            <a:avLst/>
          </a:prstGeom>
          <a:noFill/>
        </p:spPr>
        <p:txBody>
          <a:bodyPr wrap="square" anchor="t"/>
          <a:lstStyle/>
          <a:p>
            <a:pPr algn="l"/>
            <a:r>
              <a:rPr sz="1500" b="0" i="0">
                <a:solidFill>
                  <a:srgbClr val="AAAAAA"/>
                </a:solidFill>
                <a:latin typeface="Calibri"/>
              </a:rPr>
              <a:t>PCA reveals the 6 IS signals collapse into 3 independent dimensions:</a:t>
            </a:r>
          </a:p>
        </p:txBody>
      </p:sp>
      <p:sp>
        <p:nvSpPr>
          <p:cNvPr id="5" name="Rounded Rectangle 4"/>
          <p:cNvSpPr/>
          <p:nvPr/>
        </p:nvSpPr>
        <p:spPr>
          <a:xfrm>
            <a:off x="701040" y="1828800"/>
            <a:ext cx="3291840" cy="3657600"/>
          </a:xfrm>
          <a:prstGeom prst="roundRect">
            <a:avLst/>
          </a:prstGeom>
          <a:solidFill>
            <a:srgbClr val="152A40"/>
          </a:solidFill>
          <a:ln w="317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3920" y="2011680"/>
            <a:ext cx="2926080" cy="548640"/>
          </a:xfrm>
          <a:prstGeom prst="rect">
            <a:avLst/>
          </a:prstGeom>
          <a:noFill/>
        </p:spPr>
        <p:txBody>
          <a:bodyPr wrap="square" anchor="t"/>
          <a:lstStyle/>
          <a:p>
            <a:pPr algn="ctr"/>
            <a:r>
              <a:rPr sz="3600" b="1" i="0">
                <a:solidFill>
                  <a:srgbClr val="00B4D8"/>
                </a:solidFill>
                <a:latin typeface="Calibri"/>
              </a:rPr>
              <a:t>60%</a:t>
            </a:r>
          </a:p>
        </p:txBody>
      </p:sp>
      <p:sp>
        <p:nvSpPr>
          <p:cNvPr id="7" name="TextBox 6"/>
          <p:cNvSpPr txBox="1"/>
          <p:nvPr/>
        </p:nvSpPr>
        <p:spPr>
          <a:xfrm>
            <a:off x="883920" y="2560320"/>
            <a:ext cx="2926080" cy="320040"/>
          </a:xfrm>
          <a:prstGeom prst="rect">
            <a:avLst/>
          </a:prstGeom>
          <a:noFill/>
        </p:spPr>
        <p:txBody>
          <a:bodyPr wrap="square" anchor="t"/>
          <a:lstStyle/>
          <a:p>
            <a:pPr algn="ctr"/>
            <a:r>
              <a:rPr sz="1200" b="0" i="0">
                <a:solidFill>
                  <a:srgbClr val="AAAAAA"/>
                </a:solidFill>
                <a:latin typeface="Calibri"/>
              </a:rPr>
              <a:t>of IS variance</a:t>
            </a:r>
          </a:p>
        </p:txBody>
      </p:sp>
      <p:sp>
        <p:nvSpPr>
          <p:cNvPr id="8" name="TextBox 7"/>
          <p:cNvSpPr txBox="1"/>
          <p:nvPr/>
        </p:nvSpPr>
        <p:spPr>
          <a:xfrm>
            <a:off x="883920" y="3017520"/>
            <a:ext cx="2926080" cy="320040"/>
          </a:xfrm>
          <a:prstGeom prst="rect">
            <a:avLst/>
          </a:prstGeom>
          <a:noFill/>
        </p:spPr>
        <p:txBody>
          <a:bodyPr wrap="square" anchor="t"/>
          <a:lstStyle/>
          <a:p>
            <a:pPr algn="ctr"/>
            <a:r>
              <a:rPr sz="1600" b="1" i="0">
                <a:solidFill>
                  <a:srgbClr val="00B4D8"/>
                </a:solidFill>
                <a:latin typeface="Calibri"/>
              </a:rPr>
              <a:t>Word Accuracy</a:t>
            </a:r>
          </a:p>
        </p:txBody>
      </p:sp>
      <p:sp>
        <p:nvSpPr>
          <p:cNvPr id="9" name="TextBox 8"/>
          <p:cNvSpPr txBox="1"/>
          <p:nvPr/>
        </p:nvSpPr>
        <p:spPr>
          <a:xfrm>
            <a:off x="883920" y="3474720"/>
            <a:ext cx="2926080" cy="731520"/>
          </a:xfrm>
          <a:prstGeom prst="rect">
            <a:avLst/>
          </a:prstGeom>
          <a:noFill/>
        </p:spPr>
        <p:txBody>
          <a:bodyPr wrap="square" anchor="t"/>
          <a:lstStyle/>
          <a:p>
            <a:pPr algn="ctr"/>
            <a:r>
              <a:rPr sz="1300" b="0" i="0">
                <a:solidFill>
                  <a:srgbClr val="FFFFFF"/>
                </a:solidFill>
                <a:latin typeface="Calibri"/>
              </a:rPr>
              <a:t>WER + WWER + Phonetic</a:t>
            </a:r>
            <a:br/>
            <a:r>
              <a:rPr sz="1300" b="0" i="0">
                <a:solidFill>
                  <a:srgbClr val="FFFFFF"/>
                </a:solidFill>
                <a:latin typeface="Calibri"/>
              </a:rPr>
              <a:t>(r &gt; 0.79 between them)</a:t>
            </a:r>
          </a:p>
        </p:txBody>
      </p:sp>
      <p:sp>
        <p:nvSpPr>
          <p:cNvPr id="10" name="TextBox 9"/>
          <p:cNvSpPr txBox="1"/>
          <p:nvPr/>
        </p:nvSpPr>
        <p:spPr>
          <a:xfrm>
            <a:off x="883920" y="4389120"/>
            <a:ext cx="2926080" cy="731520"/>
          </a:xfrm>
          <a:prstGeom prst="rect">
            <a:avLst/>
          </a:prstGeom>
          <a:noFill/>
        </p:spPr>
        <p:txBody>
          <a:bodyPr wrap="square" anchor="t"/>
          <a:lstStyle/>
          <a:p>
            <a:pPr algn="ctr"/>
            <a:r>
              <a:rPr sz="1200" b="0" i="1">
                <a:solidFill>
                  <a:srgbClr val="AAAAAA"/>
                </a:solidFill>
                <a:latin typeface="Calibri"/>
              </a:rPr>
              <a:t>The visual encoder’s core capability</a:t>
            </a:r>
          </a:p>
        </p:txBody>
      </p:sp>
      <p:sp>
        <p:nvSpPr>
          <p:cNvPr id="11" name="Rounded Rectangle 10"/>
          <p:cNvSpPr/>
          <p:nvPr/>
        </p:nvSpPr>
        <p:spPr>
          <a:xfrm>
            <a:off x="4450080" y="1828800"/>
            <a:ext cx="3291840" cy="3657600"/>
          </a:xfrm>
          <a:prstGeom prst="roundRect">
            <a:avLst/>
          </a:prstGeom>
          <a:solidFill>
            <a:srgbClr val="152A40"/>
          </a:solidFill>
          <a:ln w="317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32960" y="2011680"/>
            <a:ext cx="2926080" cy="548640"/>
          </a:xfrm>
          <a:prstGeom prst="rect">
            <a:avLst/>
          </a:prstGeom>
          <a:noFill/>
        </p:spPr>
        <p:txBody>
          <a:bodyPr wrap="square" anchor="t"/>
          <a:lstStyle/>
          <a:p>
            <a:pPr algn="ctr"/>
            <a:r>
              <a:rPr sz="3600" b="1" i="0">
                <a:solidFill>
                  <a:srgbClr val="4CAF50"/>
                </a:solidFill>
                <a:latin typeface="Calibri"/>
              </a:rPr>
              <a:t>29%</a:t>
            </a:r>
          </a:p>
        </p:txBody>
      </p:sp>
      <p:sp>
        <p:nvSpPr>
          <p:cNvPr id="13" name="TextBox 12"/>
          <p:cNvSpPr txBox="1"/>
          <p:nvPr/>
        </p:nvSpPr>
        <p:spPr>
          <a:xfrm>
            <a:off x="4632960" y="2560320"/>
            <a:ext cx="2926080" cy="320040"/>
          </a:xfrm>
          <a:prstGeom prst="rect">
            <a:avLst/>
          </a:prstGeom>
          <a:noFill/>
        </p:spPr>
        <p:txBody>
          <a:bodyPr wrap="square" anchor="t"/>
          <a:lstStyle/>
          <a:p>
            <a:pPr algn="ctr"/>
            <a:r>
              <a:rPr sz="1200" b="0" i="0">
                <a:solidFill>
                  <a:srgbClr val="AAAAAA"/>
                </a:solidFill>
                <a:latin typeface="Calibri"/>
              </a:rPr>
              <a:t>of IS variance</a:t>
            </a:r>
          </a:p>
        </p:txBody>
      </p:sp>
      <p:sp>
        <p:nvSpPr>
          <p:cNvPr id="14" name="TextBox 13"/>
          <p:cNvSpPr txBox="1"/>
          <p:nvPr/>
        </p:nvSpPr>
        <p:spPr>
          <a:xfrm>
            <a:off x="4632960" y="3017520"/>
            <a:ext cx="2926080" cy="320040"/>
          </a:xfrm>
          <a:prstGeom prst="rect">
            <a:avLst/>
          </a:prstGeom>
          <a:noFill/>
        </p:spPr>
        <p:txBody>
          <a:bodyPr wrap="square" anchor="t"/>
          <a:lstStyle/>
          <a:p>
            <a:pPr algn="ctr"/>
            <a:r>
              <a:rPr sz="1600" b="1" i="0">
                <a:solidFill>
                  <a:srgbClr val="4CAF50"/>
                </a:solidFill>
                <a:latin typeface="Calibri"/>
              </a:rPr>
              <a:t>Meaning Preservation</a:t>
            </a:r>
          </a:p>
        </p:txBody>
      </p:sp>
      <p:sp>
        <p:nvSpPr>
          <p:cNvPr id="15" name="TextBox 14"/>
          <p:cNvSpPr txBox="1"/>
          <p:nvPr/>
        </p:nvSpPr>
        <p:spPr>
          <a:xfrm>
            <a:off x="4632960" y="3474720"/>
            <a:ext cx="2926080" cy="731520"/>
          </a:xfrm>
          <a:prstGeom prst="rect">
            <a:avLst/>
          </a:prstGeom>
          <a:noFill/>
        </p:spPr>
        <p:txBody>
          <a:bodyPr wrap="square" anchor="t"/>
          <a:lstStyle/>
          <a:p>
            <a:pPr algn="ctr"/>
            <a:r>
              <a:rPr sz="1300" b="0" i="0">
                <a:solidFill>
                  <a:srgbClr val="FFFFFF"/>
                </a:solidFill>
                <a:latin typeface="Calibri"/>
              </a:rPr>
              <a:t>Semantic similarity</a:t>
            </a:r>
            <a:br/>
            <a:r>
              <a:rPr sz="1300" b="0" i="0">
                <a:solidFill>
                  <a:srgbClr val="FFFFFF"/>
                </a:solidFill>
                <a:latin typeface="Calibri"/>
              </a:rPr>
              <a:t>(sentence embeddings)</a:t>
            </a:r>
          </a:p>
        </p:txBody>
      </p:sp>
      <p:sp>
        <p:nvSpPr>
          <p:cNvPr id="16" name="TextBox 15"/>
          <p:cNvSpPr txBox="1"/>
          <p:nvPr/>
        </p:nvSpPr>
        <p:spPr>
          <a:xfrm>
            <a:off x="4632960" y="4389120"/>
            <a:ext cx="2926080" cy="731520"/>
          </a:xfrm>
          <a:prstGeom prst="rect">
            <a:avLst/>
          </a:prstGeom>
          <a:noFill/>
        </p:spPr>
        <p:txBody>
          <a:bodyPr wrap="square" anchor="t"/>
          <a:lstStyle/>
          <a:p>
            <a:pPr algn="ctr"/>
            <a:r>
              <a:rPr sz="1200" b="0" i="1">
                <a:solidFill>
                  <a:srgbClr val="AAAAAA"/>
                </a:solidFill>
                <a:latin typeface="Calibri"/>
              </a:rPr>
              <a:t>Tiebreaker between</a:t>
            </a:r>
            <a:br/>
            <a:r>
              <a:rPr sz="1200" b="0" i="1">
                <a:solidFill>
                  <a:srgbClr val="AAAAAA"/>
                </a:solidFill>
                <a:latin typeface="Calibri"/>
              </a:rPr>
              <a:t>similar-accuracy segments</a:t>
            </a:r>
          </a:p>
        </p:txBody>
      </p:sp>
      <p:sp>
        <p:nvSpPr>
          <p:cNvPr id="17" name="Rounded Rectangle 16"/>
          <p:cNvSpPr/>
          <p:nvPr/>
        </p:nvSpPr>
        <p:spPr>
          <a:xfrm>
            <a:off x="8199120" y="1828800"/>
            <a:ext cx="3291840" cy="3657600"/>
          </a:xfrm>
          <a:prstGeom prst="roundRect">
            <a:avLst/>
          </a:prstGeom>
          <a:solidFill>
            <a:srgbClr val="152A40"/>
          </a:solidFill>
          <a:ln w="3175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82000" y="2011680"/>
            <a:ext cx="2926080" cy="548640"/>
          </a:xfrm>
          <a:prstGeom prst="rect">
            <a:avLst/>
          </a:prstGeom>
          <a:noFill/>
        </p:spPr>
        <p:txBody>
          <a:bodyPr wrap="square" anchor="t"/>
          <a:lstStyle/>
          <a:p>
            <a:pPr algn="ctr"/>
            <a:r>
              <a:rPr sz="3600" b="1" i="0">
                <a:solidFill>
                  <a:srgbClr val="AAAAAA"/>
                </a:solidFill>
                <a:latin typeface="Calibri"/>
              </a:rPr>
              <a:t>9%</a:t>
            </a:r>
          </a:p>
        </p:txBody>
      </p:sp>
      <p:sp>
        <p:nvSpPr>
          <p:cNvPr id="19" name="TextBox 18"/>
          <p:cNvSpPr txBox="1"/>
          <p:nvPr/>
        </p:nvSpPr>
        <p:spPr>
          <a:xfrm>
            <a:off x="8382000" y="2560320"/>
            <a:ext cx="2926080" cy="320040"/>
          </a:xfrm>
          <a:prstGeom prst="rect">
            <a:avLst/>
          </a:prstGeom>
          <a:noFill/>
        </p:spPr>
        <p:txBody>
          <a:bodyPr wrap="square" anchor="t"/>
          <a:lstStyle/>
          <a:p>
            <a:pPr algn="ctr"/>
            <a:r>
              <a:rPr sz="1200" b="0" i="0">
                <a:solidFill>
                  <a:srgbClr val="AAAAAA"/>
                </a:solidFill>
                <a:latin typeface="Calibri"/>
              </a:rPr>
              <a:t>of IS variance</a:t>
            </a:r>
          </a:p>
        </p:txBody>
      </p:sp>
      <p:sp>
        <p:nvSpPr>
          <p:cNvPr id="20" name="TextBox 19"/>
          <p:cNvSpPr txBox="1"/>
          <p:nvPr/>
        </p:nvSpPr>
        <p:spPr>
          <a:xfrm>
            <a:off x="8382000" y="3017520"/>
            <a:ext cx="2926080" cy="320040"/>
          </a:xfrm>
          <a:prstGeom prst="rect">
            <a:avLst/>
          </a:prstGeom>
          <a:noFill/>
        </p:spPr>
        <p:txBody>
          <a:bodyPr wrap="square" anchor="t"/>
          <a:lstStyle/>
          <a:p>
            <a:pPr algn="ctr"/>
            <a:r>
              <a:rPr sz="1600" b="1" i="0">
                <a:solidFill>
                  <a:srgbClr val="AAAAAA"/>
                </a:solidFill>
                <a:latin typeface="Calibri"/>
              </a:rPr>
              <a:t>Output Sanity</a:t>
            </a:r>
          </a:p>
        </p:txBody>
      </p:sp>
      <p:sp>
        <p:nvSpPr>
          <p:cNvPr id="21" name="TextBox 20"/>
          <p:cNvSpPr txBox="1"/>
          <p:nvPr/>
        </p:nvSpPr>
        <p:spPr>
          <a:xfrm>
            <a:off x="8382000" y="3474720"/>
            <a:ext cx="2926080" cy="731520"/>
          </a:xfrm>
          <a:prstGeom prst="rect">
            <a:avLst/>
          </a:prstGeom>
          <a:noFill/>
        </p:spPr>
        <p:txBody>
          <a:bodyPr wrap="square" anchor="t"/>
          <a:lstStyle/>
          <a:p>
            <a:pPr algn="ctr"/>
            <a:r>
              <a:rPr sz="1300" b="0" i="0">
                <a:solidFill>
                  <a:srgbClr val="FFFFFF"/>
                </a:solidFill>
                <a:latin typeface="Calibri"/>
              </a:rPr>
              <a:t>Length ratio</a:t>
            </a:r>
            <a:br/>
            <a:r>
              <a:rPr sz="1300" b="0" i="0">
                <a:solidFill>
                  <a:srgbClr val="FFFFFF"/>
                </a:solidFill>
                <a:latin typeface="Calibri"/>
              </a:rPr>
              <a:t>(hyp vs ref word count)</a:t>
            </a:r>
          </a:p>
        </p:txBody>
      </p:sp>
      <p:sp>
        <p:nvSpPr>
          <p:cNvPr id="22" name="TextBox 21"/>
          <p:cNvSpPr txBox="1"/>
          <p:nvPr/>
        </p:nvSpPr>
        <p:spPr>
          <a:xfrm>
            <a:off x="8382000" y="4389120"/>
            <a:ext cx="2926080" cy="731520"/>
          </a:xfrm>
          <a:prstGeom prst="rect">
            <a:avLst/>
          </a:prstGeom>
          <a:noFill/>
        </p:spPr>
        <p:txBody>
          <a:bodyPr wrap="square" anchor="t"/>
          <a:lstStyle/>
          <a:p>
            <a:pPr algn="ctr"/>
            <a:r>
              <a:rPr sz="1200" b="0" i="1">
                <a:solidFill>
                  <a:srgbClr val="AAAAAA"/>
                </a:solidFill>
                <a:latin typeface="Calibri"/>
              </a:rPr>
              <a:t>Catches hallucination</a:t>
            </a:r>
            <a:br/>
            <a:r>
              <a:rPr sz="1200" b="0" i="1">
                <a:solidFill>
                  <a:srgbClr val="AAAAAA"/>
                </a:solidFill>
                <a:latin typeface="Calibri"/>
              </a:rPr>
              <a:t>and truncation</a:t>
            </a:r>
          </a:p>
        </p:txBody>
      </p:sp>
      <p:pic>
        <p:nvPicPr>
          <p:cNvPr id="23" name="Picture 22"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24" name="TextBox 23"/>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16</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00"/>
                                  <p:tgtEl>
                                    <p:spTgt spid="5"/>
                                  </p:tgtEl>
                                </p:cBhvr>
                              </p:animEffect>
                            </p:childTnLst>
                          </p:cTn>
                        </p:par>
                      </p:childTnLst>
                    </p:cTn>
                  </p:par>
                  <p:par>
                    <p:cTn id="7" fill="hold">
                      <p:stCondLst>
                        <p:cond delay="0"/>
                      </p:stCondLst>
                      <p:childTnLst>
                        <p:par>
                          <p:cTn id="8" fill="hold">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par>
                    <p:cTn id="11" fill="hold">
                      <p:stCondLst>
                        <p:cond delay="0"/>
                      </p:stCondLst>
                      <p:childTnLst>
                        <p:par>
                          <p:cTn id="12" fill="hold">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500"/>
                                  <p:tgtEl>
                                    <p:spTgt spid="1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11" grpId="1"/>
      <p:bldP spid="17" grpId="2"/>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IS in Action: Two Real Segments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25880"/>
            <a:ext cx="5303520" cy="4206240"/>
          </a:xfrm>
          <a:prstGeom prst="roundRect">
            <a:avLst/>
          </a:prstGeom>
          <a:solidFill>
            <a:srgbClr val="152A40"/>
          </a:solidFill>
          <a:ln w="381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5120640" cy="457200"/>
          </a:xfrm>
          <a:prstGeom prst="round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35608"/>
            <a:ext cx="5120640" cy="457200"/>
          </a:xfrm>
          <a:prstGeom prst="rect">
            <a:avLst/>
          </a:prstGeom>
          <a:noFill/>
        </p:spPr>
        <p:txBody>
          <a:bodyPr wrap="square" anchor="t"/>
          <a:lstStyle/>
          <a:p>
            <a:pPr algn="ctr"/>
            <a:r>
              <a:rPr sz="1800" b="1" i="0">
                <a:solidFill>
                  <a:srgbClr val="0D1B2A"/>
                </a:solidFill>
                <a:latin typeface="Calibri"/>
              </a:rPr>
              <a:t>Good Segment — IS = 4.2</a:t>
            </a:r>
          </a:p>
        </p:txBody>
      </p:sp>
      <p:sp>
        <p:nvSpPr>
          <p:cNvPr id="7" name="TextBox 6"/>
          <p:cNvSpPr txBox="1"/>
          <p:nvPr/>
        </p:nvSpPr>
        <p:spPr>
          <a:xfrm>
            <a:off x="777240" y="1920240"/>
            <a:ext cx="4846320" cy="594360"/>
          </a:xfrm>
          <a:prstGeom prst="rect">
            <a:avLst/>
          </a:prstGeom>
          <a:noFill/>
        </p:spPr>
        <p:txBody>
          <a:bodyPr wrap="square">
            <a:spAutoFit/>
          </a:bodyPr>
          <a:lstStyle/>
          <a:p>
            <a:pPr algn="l">
              <a:spcAft>
                <a:spcPts val="600"/>
              </a:spcAft>
            </a:pPr>
            <a:r>
              <a:rPr sz="1200" b="1" i="0">
                <a:solidFill>
                  <a:srgbClr val="AAAAAA"/>
                </a:solidFill>
                <a:latin typeface="Calibri"/>
              </a:rPr>
              <a:t>Ref: </a:t>
            </a:r>
            <a:r>
              <a:rPr sz="1200" b="0" i="0">
                <a:solidFill>
                  <a:srgbClr val="FFFFFF"/>
                </a:solidFill>
                <a:latin typeface="Calibri"/>
              </a:rPr>
              <a:t>“allow you to work with the team in a more”</a:t>
            </a:r>
          </a:p>
          <a:p>
            <a:pPr algn="l">
              <a:spcAft>
                <a:spcPts val="600"/>
              </a:spcAft>
            </a:pPr>
            <a:r>
              <a:rPr sz="1200" b="1" i="0">
                <a:solidFill>
                  <a:srgbClr val="AAAAAA"/>
                </a:solidFill>
                <a:latin typeface="Calibri"/>
              </a:rPr>
              <a:t>Hyp: </a:t>
            </a:r>
            <a:r>
              <a:rPr sz="1200" b="0" i="0">
                <a:solidFill>
                  <a:srgbClr val="FFFFFF"/>
                </a:solidFill>
                <a:latin typeface="Calibri"/>
              </a:rPr>
              <a:t>“allow you to work with a team and more”</a:t>
            </a:r>
          </a:p>
        </p:txBody>
      </p:sp>
      <p:sp>
        <p:nvSpPr>
          <p:cNvPr id="8" name="TextBox 7"/>
          <p:cNvSpPr txBox="1"/>
          <p:nvPr/>
        </p:nvSpPr>
        <p:spPr>
          <a:xfrm>
            <a:off x="822960" y="2651760"/>
            <a:ext cx="1645920" cy="292608"/>
          </a:xfrm>
          <a:prstGeom prst="rect">
            <a:avLst/>
          </a:prstGeom>
          <a:noFill/>
        </p:spPr>
        <p:txBody>
          <a:bodyPr wrap="square" anchor="t"/>
          <a:lstStyle/>
          <a:p>
            <a:pPr algn="l"/>
            <a:r>
              <a:rPr sz="1200" b="0" i="0">
                <a:solidFill>
                  <a:srgbClr val="AAAAAA"/>
                </a:solidFill>
                <a:latin typeface="Calibri"/>
              </a:rPr>
              <a:t>Semantic Sim</a:t>
            </a:r>
          </a:p>
        </p:txBody>
      </p:sp>
      <p:sp>
        <p:nvSpPr>
          <p:cNvPr id="9" name="TextBox 8"/>
          <p:cNvSpPr txBox="1"/>
          <p:nvPr/>
        </p:nvSpPr>
        <p:spPr>
          <a:xfrm>
            <a:off x="2560320" y="2651760"/>
            <a:ext cx="640080" cy="292608"/>
          </a:xfrm>
          <a:prstGeom prst="rect">
            <a:avLst/>
          </a:prstGeom>
          <a:noFill/>
        </p:spPr>
        <p:txBody>
          <a:bodyPr wrap="square" anchor="t"/>
          <a:lstStyle/>
          <a:p>
            <a:pPr algn="l"/>
            <a:r>
              <a:rPr sz="1200" b="1" i="0">
                <a:solidFill>
                  <a:srgbClr val="4CAF50"/>
                </a:solidFill>
                <a:latin typeface="Calibri"/>
              </a:rPr>
              <a:t>0.82</a:t>
            </a:r>
          </a:p>
        </p:txBody>
      </p:sp>
      <p:sp>
        <p:nvSpPr>
          <p:cNvPr id="10" name="TextBox 9"/>
          <p:cNvSpPr txBox="1"/>
          <p:nvPr/>
        </p:nvSpPr>
        <p:spPr>
          <a:xfrm>
            <a:off x="3200400" y="2651760"/>
            <a:ext cx="731520" cy="292608"/>
          </a:xfrm>
          <a:prstGeom prst="rect">
            <a:avLst/>
          </a:prstGeom>
          <a:noFill/>
        </p:spPr>
        <p:txBody>
          <a:bodyPr wrap="square" anchor="t"/>
          <a:lstStyle/>
          <a:p>
            <a:pPr algn="l"/>
            <a:r>
              <a:rPr sz="1200" b="0" i="0">
                <a:solidFill>
                  <a:srgbClr val="AAAAAA"/>
                </a:solidFill>
                <a:latin typeface="Calibri"/>
              </a:rPr>
              <a:t>× 0.25</a:t>
            </a:r>
          </a:p>
        </p:txBody>
      </p:sp>
      <p:sp>
        <p:nvSpPr>
          <p:cNvPr id="11" name="TextBox 10"/>
          <p:cNvSpPr txBox="1"/>
          <p:nvPr/>
        </p:nvSpPr>
        <p:spPr>
          <a:xfrm>
            <a:off x="3931920" y="2651760"/>
            <a:ext cx="822960" cy="292608"/>
          </a:xfrm>
          <a:prstGeom prst="rect">
            <a:avLst/>
          </a:prstGeom>
          <a:noFill/>
        </p:spPr>
        <p:txBody>
          <a:bodyPr wrap="square" anchor="t"/>
          <a:lstStyle/>
          <a:p>
            <a:pPr algn="l"/>
            <a:r>
              <a:rPr sz="1200" b="1" i="0">
                <a:solidFill>
                  <a:srgbClr val="FFFFFF"/>
                </a:solidFill>
                <a:latin typeface="Calibri"/>
              </a:rPr>
              <a:t>= 0.205</a:t>
            </a:r>
          </a:p>
        </p:txBody>
      </p:sp>
      <p:sp>
        <p:nvSpPr>
          <p:cNvPr id="12" name="TextBox 11"/>
          <p:cNvSpPr txBox="1"/>
          <p:nvPr/>
        </p:nvSpPr>
        <p:spPr>
          <a:xfrm>
            <a:off x="822960" y="2971800"/>
            <a:ext cx="1645920" cy="292608"/>
          </a:xfrm>
          <a:prstGeom prst="rect">
            <a:avLst/>
          </a:prstGeom>
          <a:noFill/>
        </p:spPr>
        <p:txBody>
          <a:bodyPr wrap="square" anchor="t"/>
          <a:lstStyle/>
          <a:p>
            <a:pPr algn="l"/>
            <a:r>
              <a:rPr sz="1200" b="0" i="0">
                <a:solidFill>
                  <a:srgbClr val="AAAAAA"/>
                </a:solidFill>
                <a:latin typeface="Calibri"/>
              </a:rPr>
              <a:t>Phonetic Sim</a:t>
            </a:r>
          </a:p>
        </p:txBody>
      </p:sp>
      <p:sp>
        <p:nvSpPr>
          <p:cNvPr id="13" name="TextBox 12"/>
          <p:cNvSpPr txBox="1"/>
          <p:nvPr/>
        </p:nvSpPr>
        <p:spPr>
          <a:xfrm>
            <a:off x="2560320" y="2971800"/>
            <a:ext cx="640080" cy="292608"/>
          </a:xfrm>
          <a:prstGeom prst="rect">
            <a:avLst/>
          </a:prstGeom>
          <a:noFill/>
        </p:spPr>
        <p:txBody>
          <a:bodyPr wrap="square" anchor="t"/>
          <a:lstStyle/>
          <a:p>
            <a:pPr algn="l"/>
            <a:r>
              <a:rPr sz="1200" b="1" i="0">
                <a:solidFill>
                  <a:srgbClr val="4CAF50"/>
                </a:solidFill>
                <a:latin typeface="Calibri"/>
              </a:rPr>
              <a:t>0.89</a:t>
            </a:r>
          </a:p>
        </p:txBody>
      </p:sp>
      <p:sp>
        <p:nvSpPr>
          <p:cNvPr id="14" name="TextBox 13"/>
          <p:cNvSpPr txBox="1"/>
          <p:nvPr/>
        </p:nvSpPr>
        <p:spPr>
          <a:xfrm>
            <a:off x="3200400" y="2971800"/>
            <a:ext cx="731520" cy="292608"/>
          </a:xfrm>
          <a:prstGeom prst="rect">
            <a:avLst/>
          </a:prstGeom>
          <a:noFill/>
        </p:spPr>
        <p:txBody>
          <a:bodyPr wrap="square" anchor="t"/>
          <a:lstStyle/>
          <a:p>
            <a:pPr algn="l"/>
            <a:r>
              <a:rPr sz="1200" b="0" i="0">
                <a:solidFill>
                  <a:srgbClr val="AAAAAA"/>
                </a:solidFill>
                <a:latin typeface="Calibri"/>
              </a:rPr>
              <a:t>× 0.15</a:t>
            </a:r>
          </a:p>
        </p:txBody>
      </p:sp>
      <p:sp>
        <p:nvSpPr>
          <p:cNvPr id="15" name="TextBox 14"/>
          <p:cNvSpPr txBox="1"/>
          <p:nvPr/>
        </p:nvSpPr>
        <p:spPr>
          <a:xfrm>
            <a:off x="3931920" y="2971800"/>
            <a:ext cx="822960" cy="292608"/>
          </a:xfrm>
          <a:prstGeom prst="rect">
            <a:avLst/>
          </a:prstGeom>
          <a:noFill/>
        </p:spPr>
        <p:txBody>
          <a:bodyPr wrap="square" anchor="t"/>
          <a:lstStyle/>
          <a:p>
            <a:pPr algn="l"/>
            <a:r>
              <a:rPr sz="1200" b="1" i="0">
                <a:solidFill>
                  <a:srgbClr val="FFFFFF"/>
                </a:solidFill>
                <a:latin typeface="Calibri"/>
              </a:rPr>
              <a:t>= 0.134</a:t>
            </a:r>
          </a:p>
        </p:txBody>
      </p:sp>
      <p:sp>
        <p:nvSpPr>
          <p:cNvPr id="16" name="TextBox 15"/>
          <p:cNvSpPr txBox="1"/>
          <p:nvPr/>
        </p:nvSpPr>
        <p:spPr>
          <a:xfrm>
            <a:off x="822960" y="3291840"/>
            <a:ext cx="1645920" cy="292608"/>
          </a:xfrm>
          <a:prstGeom prst="rect">
            <a:avLst/>
          </a:prstGeom>
          <a:noFill/>
        </p:spPr>
        <p:txBody>
          <a:bodyPr wrap="square" anchor="t"/>
          <a:lstStyle/>
          <a:p>
            <a:pPr algn="l"/>
            <a:r>
              <a:rPr sz="1200" b="0" i="0">
                <a:solidFill>
                  <a:srgbClr val="AAAAAA"/>
                </a:solidFill>
                <a:latin typeface="Calibri"/>
              </a:rPr>
              <a:t>Inverse WER</a:t>
            </a:r>
          </a:p>
        </p:txBody>
      </p:sp>
      <p:sp>
        <p:nvSpPr>
          <p:cNvPr id="17" name="TextBox 16"/>
          <p:cNvSpPr txBox="1"/>
          <p:nvPr/>
        </p:nvSpPr>
        <p:spPr>
          <a:xfrm>
            <a:off x="2560320" y="3291840"/>
            <a:ext cx="640080" cy="292608"/>
          </a:xfrm>
          <a:prstGeom prst="rect">
            <a:avLst/>
          </a:prstGeom>
          <a:noFill/>
        </p:spPr>
        <p:txBody>
          <a:bodyPr wrap="square" anchor="t"/>
          <a:lstStyle/>
          <a:p>
            <a:pPr algn="l"/>
            <a:r>
              <a:rPr sz="1200" b="1" i="0">
                <a:solidFill>
                  <a:srgbClr val="00B4D8"/>
                </a:solidFill>
                <a:latin typeface="Calibri"/>
              </a:rPr>
              <a:t>0.71</a:t>
            </a:r>
          </a:p>
        </p:txBody>
      </p:sp>
      <p:sp>
        <p:nvSpPr>
          <p:cNvPr id="18" name="TextBox 17"/>
          <p:cNvSpPr txBox="1"/>
          <p:nvPr/>
        </p:nvSpPr>
        <p:spPr>
          <a:xfrm>
            <a:off x="3200400" y="3291840"/>
            <a:ext cx="731520" cy="292608"/>
          </a:xfrm>
          <a:prstGeom prst="rect">
            <a:avLst/>
          </a:prstGeom>
          <a:noFill/>
        </p:spPr>
        <p:txBody>
          <a:bodyPr wrap="square" anchor="t"/>
          <a:lstStyle/>
          <a:p>
            <a:pPr algn="l"/>
            <a:r>
              <a:rPr sz="1200" b="0" i="0">
                <a:solidFill>
                  <a:srgbClr val="AAAAAA"/>
                </a:solidFill>
                <a:latin typeface="Calibri"/>
              </a:rPr>
              <a:t>× 0.15</a:t>
            </a:r>
          </a:p>
        </p:txBody>
      </p:sp>
      <p:sp>
        <p:nvSpPr>
          <p:cNvPr id="19" name="TextBox 18"/>
          <p:cNvSpPr txBox="1"/>
          <p:nvPr/>
        </p:nvSpPr>
        <p:spPr>
          <a:xfrm>
            <a:off x="3931920" y="3291840"/>
            <a:ext cx="822960" cy="292608"/>
          </a:xfrm>
          <a:prstGeom prst="rect">
            <a:avLst/>
          </a:prstGeom>
          <a:noFill/>
        </p:spPr>
        <p:txBody>
          <a:bodyPr wrap="square" anchor="t"/>
          <a:lstStyle/>
          <a:p>
            <a:pPr algn="l"/>
            <a:r>
              <a:rPr sz="1200" b="1" i="0">
                <a:solidFill>
                  <a:srgbClr val="FFFFFF"/>
                </a:solidFill>
                <a:latin typeface="Calibri"/>
              </a:rPr>
              <a:t>= 0.107</a:t>
            </a:r>
          </a:p>
        </p:txBody>
      </p:sp>
      <p:sp>
        <p:nvSpPr>
          <p:cNvPr id="20" name="TextBox 19"/>
          <p:cNvSpPr txBox="1"/>
          <p:nvPr/>
        </p:nvSpPr>
        <p:spPr>
          <a:xfrm>
            <a:off x="822960" y="3611880"/>
            <a:ext cx="1645920" cy="292608"/>
          </a:xfrm>
          <a:prstGeom prst="rect">
            <a:avLst/>
          </a:prstGeom>
          <a:noFill/>
        </p:spPr>
        <p:txBody>
          <a:bodyPr wrap="square" anchor="t"/>
          <a:lstStyle/>
          <a:p>
            <a:pPr algn="l"/>
            <a:r>
              <a:rPr sz="1200" b="0" i="0">
                <a:solidFill>
                  <a:srgbClr val="AAAAAA"/>
                </a:solidFill>
                <a:latin typeface="Calibri"/>
              </a:rPr>
              <a:t>Inverse WWER</a:t>
            </a:r>
          </a:p>
        </p:txBody>
      </p:sp>
      <p:sp>
        <p:nvSpPr>
          <p:cNvPr id="21" name="TextBox 20"/>
          <p:cNvSpPr txBox="1"/>
          <p:nvPr/>
        </p:nvSpPr>
        <p:spPr>
          <a:xfrm>
            <a:off x="2560320" y="3611880"/>
            <a:ext cx="640080" cy="292608"/>
          </a:xfrm>
          <a:prstGeom prst="rect">
            <a:avLst/>
          </a:prstGeom>
          <a:noFill/>
        </p:spPr>
        <p:txBody>
          <a:bodyPr wrap="square" anchor="t"/>
          <a:lstStyle/>
          <a:p>
            <a:pPr algn="l"/>
            <a:r>
              <a:rPr sz="1200" b="1" i="0">
                <a:solidFill>
                  <a:srgbClr val="00B4D8"/>
                </a:solidFill>
                <a:latin typeface="Calibri"/>
              </a:rPr>
              <a:t>0.76</a:t>
            </a:r>
          </a:p>
        </p:txBody>
      </p:sp>
      <p:sp>
        <p:nvSpPr>
          <p:cNvPr id="22" name="TextBox 21"/>
          <p:cNvSpPr txBox="1"/>
          <p:nvPr/>
        </p:nvSpPr>
        <p:spPr>
          <a:xfrm>
            <a:off x="3200400" y="3611880"/>
            <a:ext cx="731520" cy="292608"/>
          </a:xfrm>
          <a:prstGeom prst="rect">
            <a:avLst/>
          </a:prstGeom>
          <a:noFill/>
        </p:spPr>
        <p:txBody>
          <a:bodyPr wrap="square" anchor="t"/>
          <a:lstStyle/>
          <a:p>
            <a:pPr algn="l"/>
            <a:r>
              <a:rPr sz="1200" b="0" i="0">
                <a:solidFill>
                  <a:srgbClr val="AAAAAA"/>
                </a:solidFill>
                <a:latin typeface="Calibri"/>
              </a:rPr>
              <a:t>× 0.15</a:t>
            </a:r>
          </a:p>
        </p:txBody>
      </p:sp>
      <p:sp>
        <p:nvSpPr>
          <p:cNvPr id="23" name="TextBox 22"/>
          <p:cNvSpPr txBox="1"/>
          <p:nvPr/>
        </p:nvSpPr>
        <p:spPr>
          <a:xfrm>
            <a:off x="3931920" y="3611880"/>
            <a:ext cx="822960" cy="292608"/>
          </a:xfrm>
          <a:prstGeom prst="rect">
            <a:avLst/>
          </a:prstGeom>
          <a:noFill/>
        </p:spPr>
        <p:txBody>
          <a:bodyPr wrap="square" anchor="t"/>
          <a:lstStyle/>
          <a:p>
            <a:pPr algn="l"/>
            <a:r>
              <a:rPr sz="1200" b="1" i="0">
                <a:solidFill>
                  <a:srgbClr val="FFFFFF"/>
                </a:solidFill>
                <a:latin typeface="Calibri"/>
              </a:rPr>
              <a:t>= 0.114</a:t>
            </a:r>
          </a:p>
        </p:txBody>
      </p:sp>
      <p:sp>
        <p:nvSpPr>
          <p:cNvPr id="24" name="TextBox 23"/>
          <p:cNvSpPr txBox="1"/>
          <p:nvPr/>
        </p:nvSpPr>
        <p:spPr>
          <a:xfrm>
            <a:off x="822960" y="3931920"/>
            <a:ext cx="1645920" cy="292608"/>
          </a:xfrm>
          <a:prstGeom prst="rect">
            <a:avLst/>
          </a:prstGeom>
          <a:noFill/>
        </p:spPr>
        <p:txBody>
          <a:bodyPr wrap="square" anchor="t"/>
          <a:lstStyle/>
          <a:p>
            <a:pPr algn="l"/>
            <a:r>
              <a:rPr sz="1200" b="0" i="0">
                <a:solidFill>
                  <a:srgbClr val="AAAAAA"/>
                </a:solidFill>
                <a:latin typeface="Calibri"/>
              </a:rPr>
              <a:t>NEA F1</a:t>
            </a:r>
          </a:p>
        </p:txBody>
      </p:sp>
      <p:sp>
        <p:nvSpPr>
          <p:cNvPr id="25" name="TextBox 24"/>
          <p:cNvSpPr txBox="1"/>
          <p:nvPr/>
        </p:nvSpPr>
        <p:spPr>
          <a:xfrm>
            <a:off x="2560320" y="3931920"/>
            <a:ext cx="640080" cy="292608"/>
          </a:xfrm>
          <a:prstGeom prst="rect">
            <a:avLst/>
          </a:prstGeom>
          <a:noFill/>
        </p:spPr>
        <p:txBody>
          <a:bodyPr wrap="square" anchor="t"/>
          <a:lstStyle/>
          <a:p>
            <a:pPr algn="l"/>
            <a:r>
              <a:rPr sz="1200" b="1" i="0">
                <a:solidFill>
                  <a:srgbClr val="00B4D8"/>
                </a:solidFill>
                <a:latin typeface="Calibri"/>
              </a:rPr>
              <a:t>1.00</a:t>
            </a:r>
          </a:p>
        </p:txBody>
      </p:sp>
      <p:sp>
        <p:nvSpPr>
          <p:cNvPr id="26" name="TextBox 25"/>
          <p:cNvSpPr txBox="1"/>
          <p:nvPr/>
        </p:nvSpPr>
        <p:spPr>
          <a:xfrm>
            <a:off x="3200400" y="3931920"/>
            <a:ext cx="731520" cy="292608"/>
          </a:xfrm>
          <a:prstGeom prst="rect">
            <a:avLst/>
          </a:prstGeom>
          <a:noFill/>
        </p:spPr>
        <p:txBody>
          <a:bodyPr wrap="square" anchor="t"/>
          <a:lstStyle/>
          <a:p>
            <a:pPr algn="l"/>
            <a:r>
              <a:rPr sz="1200" b="0" i="0">
                <a:solidFill>
                  <a:srgbClr val="AAAAAA"/>
                </a:solidFill>
                <a:latin typeface="Calibri"/>
              </a:rPr>
              <a:t>× 0.15</a:t>
            </a:r>
          </a:p>
        </p:txBody>
      </p:sp>
      <p:sp>
        <p:nvSpPr>
          <p:cNvPr id="27" name="TextBox 26"/>
          <p:cNvSpPr txBox="1"/>
          <p:nvPr/>
        </p:nvSpPr>
        <p:spPr>
          <a:xfrm>
            <a:off x="3931920" y="3931920"/>
            <a:ext cx="822960" cy="292608"/>
          </a:xfrm>
          <a:prstGeom prst="rect">
            <a:avLst/>
          </a:prstGeom>
          <a:noFill/>
        </p:spPr>
        <p:txBody>
          <a:bodyPr wrap="square" anchor="t"/>
          <a:lstStyle/>
          <a:p>
            <a:pPr algn="l"/>
            <a:r>
              <a:rPr sz="1200" b="1" i="0">
                <a:solidFill>
                  <a:srgbClr val="FFFFFF"/>
                </a:solidFill>
                <a:latin typeface="Calibri"/>
              </a:rPr>
              <a:t>= 0.150</a:t>
            </a:r>
          </a:p>
        </p:txBody>
      </p:sp>
      <p:sp>
        <p:nvSpPr>
          <p:cNvPr id="28" name="TextBox 27"/>
          <p:cNvSpPr txBox="1"/>
          <p:nvPr/>
        </p:nvSpPr>
        <p:spPr>
          <a:xfrm>
            <a:off x="822960" y="4251960"/>
            <a:ext cx="1645920" cy="292608"/>
          </a:xfrm>
          <a:prstGeom prst="rect">
            <a:avLst/>
          </a:prstGeom>
          <a:noFill/>
        </p:spPr>
        <p:txBody>
          <a:bodyPr wrap="square" anchor="t"/>
          <a:lstStyle/>
          <a:p>
            <a:pPr algn="l"/>
            <a:r>
              <a:rPr sz="1200" b="0" i="0">
                <a:solidFill>
                  <a:srgbClr val="AAAAAA"/>
                </a:solidFill>
                <a:latin typeface="Calibri"/>
              </a:rPr>
              <a:t>Length Ratio</a:t>
            </a:r>
          </a:p>
        </p:txBody>
      </p:sp>
      <p:sp>
        <p:nvSpPr>
          <p:cNvPr id="29" name="TextBox 28"/>
          <p:cNvSpPr txBox="1"/>
          <p:nvPr/>
        </p:nvSpPr>
        <p:spPr>
          <a:xfrm>
            <a:off x="2560320" y="4251960"/>
            <a:ext cx="640080" cy="292608"/>
          </a:xfrm>
          <a:prstGeom prst="rect">
            <a:avLst/>
          </a:prstGeom>
          <a:noFill/>
        </p:spPr>
        <p:txBody>
          <a:bodyPr wrap="square" anchor="t"/>
          <a:lstStyle/>
          <a:p>
            <a:pPr algn="l"/>
            <a:r>
              <a:rPr sz="1200" b="1" i="0">
                <a:solidFill>
                  <a:srgbClr val="00B4D8"/>
                </a:solidFill>
                <a:latin typeface="Calibri"/>
              </a:rPr>
              <a:t>0.89</a:t>
            </a:r>
          </a:p>
        </p:txBody>
      </p:sp>
      <p:sp>
        <p:nvSpPr>
          <p:cNvPr id="30" name="TextBox 29"/>
          <p:cNvSpPr txBox="1"/>
          <p:nvPr/>
        </p:nvSpPr>
        <p:spPr>
          <a:xfrm>
            <a:off x="3200400" y="4251960"/>
            <a:ext cx="731520" cy="292608"/>
          </a:xfrm>
          <a:prstGeom prst="rect">
            <a:avLst/>
          </a:prstGeom>
          <a:noFill/>
        </p:spPr>
        <p:txBody>
          <a:bodyPr wrap="square" anchor="t"/>
          <a:lstStyle/>
          <a:p>
            <a:pPr algn="l"/>
            <a:r>
              <a:rPr sz="1200" b="0" i="0">
                <a:solidFill>
                  <a:srgbClr val="AAAAAA"/>
                </a:solidFill>
                <a:latin typeface="Calibri"/>
              </a:rPr>
              <a:t>× 0.15</a:t>
            </a:r>
          </a:p>
        </p:txBody>
      </p:sp>
      <p:sp>
        <p:nvSpPr>
          <p:cNvPr id="31" name="TextBox 30"/>
          <p:cNvSpPr txBox="1"/>
          <p:nvPr/>
        </p:nvSpPr>
        <p:spPr>
          <a:xfrm>
            <a:off x="3931920" y="4251960"/>
            <a:ext cx="822960" cy="292608"/>
          </a:xfrm>
          <a:prstGeom prst="rect">
            <a:avLst/>
          </a:prstGeom>
          <a:noFill/>
        </p:spPr>
        <p:txBody>
          <a:bodyPr wrap="square" anchor="t"/>
          <a:lstStyle/>
          <a:p>
            <a:pPr algn="l"/>
            <a:r>
              <a:rPr sz="1200" b="1" i="0">
                <a:solidFill>
                  <a:srgbClr val="FFFFFF"/>
                </a:solidFill>
                <a:latin typeface="Calibri"/>
              </a:rPr>
              <a:t>= 0.134</a:t>
            </a:r>
          </a:p>
        </p:txBody>
      </p:sp>
      <p:sp>
        <p:nvSpPr>
          <p:cNvPr id="32" name="TextBox 31"/>
          <p:cNvSpPr txBox="1"/>
          <p:nvPr/>
        </p:nvSpPr>
        <p:spPr>
          <a:xfrm>
            <a:off x="822960" y="4754880"/>
            <a:ext cx="4754880" cy="365760"/>
          </a:xfrm>
          <a:prstGeom prst="rect">
            <a:avLst/>
          </a:prstGeom>
          <a:noFill/>
        </p:spPr>
        <p:txBody>
          <a:bodyPr wrap="square" anchor="t"/>
          <a:lstStyle/>
          <a:p>
            <a:pPr algn="l"/>
            <a:r>
              <a:rPr sz="1500" b="1" i="0">
                <a:solidFill>
                  <a:srgbClr val="4CAF50"/>
                </a:solidFill>
                <a:latin typeface="Calibri"/>
              </a:rPr>
              <a:t>Sum × 5 = 4.22 → IS 4.2 (Good)</a:t>
            </a:r>
          </a:p>
        </p:txBody>
      </p:sp>
      <p:sp>
        <p:nvSpPr>
          <p:cNvPr id="33" name="Rounded Rectangle 32"/>
          <p:cNvSpPr/>
          <p:nvPr/>
        </p:nvSpPr>
        <p:spPr>
          <a:xfrm>
            <a:off x="6336792" y="1325880"/>
            <a:ext cx="5303520" cy="4206240"/>
          </a:xfrm>
          <a:prstGeom prst="roundRect">
            <a:avLst/>
          </a:prstGeom>
          <a:solidFill>
            <a:srgbClr val="152A40"/>
          </a:solidFill>
          <a:ln w="381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428232" y="1417320"/>
            <a:ext cx="5120640" cy="457200"/>
          </a:xfrm>
          <a:prstGeom prst="roundRect">
            <a:avLst/>
          </a:prstGeom>
          <a:solidFill>
            <a:srgbClr val="E06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28232" y="1435608"/>
            <a:ext cx="5120640" cy="457200"/>
          </a:xfrm>
          <a:prstGeom prst="rect">
            <a:avLst/>
          </a:prstGeom>
          <a:noFill/>
        </p:spPr>
        <p:txBody>
          <a:bodyPr wrap="square" anchor="t"/>
          <a:lstStyle/>
          <a:p>
            <a:pPr algn="ctr"/>
            <a:r>
              <a:rPr sz="1800" b="1" i="0">
                <a:solidFill>
                  <a:srgbClr val="0D1B2A"/>
                </a:solidFill>
                <a:latin typeface="Calibri"/>
              </a:rPr>
              <a:t>Bad Segment — IS = 0.9</a:t>
            </a:r>
          </a:p>
        </p:txBody>
      </p:sp>
      <p:sp>
        <p:nvSpPr>
          <p:cNvPr id="36" name="TextBox 35"/>
          <p:cNvSpPr txBox="1"/>
          <p:nvPr/>
        </p:nvSpPr>
        <p:spPr>
          <a:xfrm>
            <a:off x="6565392" y="1920240"/>
            <a:ext cx="4846320" cy="594360"/>
          </a:xfrm>
          <a:prstGeom prst="rect">
            <a:avLst/>
          </a:prstGeom>
          <a:noFill/>
        </p:spPr>
        <p:txBody>
          <a:bodyPr wrap="square">
            <a:spAutoFit/>
          </a:bodyPr>
          <a:lstStyle/>
          <a:p>
            <a:pPr algn="l">
              <a:spcAft>
                <a:spcPts val="600"/>
              </a:spcAft>
            </a:pPr>
            <a:r>
              <a:rPr sz="1200" b="1" i="0">
                <a:solidFill>
                  <a:srgbClr val="AAAAAA"/>
                </a:solidFill>
                <a:latin typeface="Calibri"/>
              </a:rPr>
              <a:t>Ref: </a:t>
            </a:r>
            <a:r>
              <a:rPr sz="1200" b="0" i="0">
                <a:solidFill>
                  <a:srgbClr val="FFFFFF"/>
                </a:solidFill>
                <a:latin typeface="Calibri"/>
              </a:rPr>
              <a:t>“carry strap”</a:t>
            </a:r>
          </a:p>
          <a:p>
            <a:pPr algn="l">
              <a:spcAft>
                <a:spcPts val="600"/>
              </a:spcAft>
            </a:pPr>
            <a:r>
              <a:rPr sz="1200" b="1" i="0">
                <a:solidFill>
                  <a:srgbClr val="AAAAAA"/>
                </a:solidFill>
                <a:latin typeface="Calibri"/>
              </a:rPr>
              <a:t>Hyp: </a:t>
            </a:r>
            <a:r>
              <a:rPr sz="1200" b="0" i="0">
                <a:solidFill>
                  <a:srgbClr val="FFFFFF"/>
                </a:solidFill>
                <a:latin typeface="Calibri"/>
              </a:rPr>
              <a:t>“holocaust denier explanation of the final act”</a:t>
            </a:r>
          </a:p>
        </p:txBody>
      </p:sp>
      <p:sp>
        <p:nvSpPr>
          <p:cNvPr id="37" name="TextBox 36"/>
          <p:cNvSpPr txBox="1"/>
          <p:nvPr/>
        </p:nvSpPr>
        <p:spPr>
          <a:xfrm>
            <a:off x="6611112" y="2651760"/>
            <a:ext cx="1645920" cy="292608"/>
          </a:xfrm>
          <a:prstGeom prst="rect">
            <a:avLst/>
          </a:prstGeom>
          <a:noFill/>
        </p:spPr>
        <p:txBody>
          <a:bodyPr wrap="square" anchor="t"/>
          <a:lstStyle/>
          <a:p>
            <a:pPr algn="l"/>
            <a:r>
              <a:rPr sz="1200" b="0" i="0">
                <a:solidFill>
                  <a:srgbClr val="AAAAAA"/>
                </a:solidFill>
                <a:latin typeface="Calibri"/>
              </a:rPr>
              <a:t>Semantic Sim</a:t>
            </a:r>
          </a:p>
        </p:txBody>
      </p:sp>
      <p:sp>
        <p:nvSpPr>
          <p:cNvPr id="38" name="TextBox 37"/>
          <p:cNvSpPr txBox="1"/>
          <p:nvPr/>
        </p:nvSpPr>
        <p:spPr>
          <a:xfrm>
            <a:off x="8348472" y="2651760"/>
            <a:ext cx="640080" cy="292608"/>
          </a:xfrm>
          <a:prstGeom prst="rect">
            <a:avLst/>
          </a:prstGeom>
          <a:noFill/>
        </p:spPr>
        <p:txBody>
          <a:bodyPr wrap="square" anchor="t"/>
          <a:lstStyle/>
          <a:p>
            <a:pPr algn="l"/>
            <a:r>
              <a:rPr sz="1200" b="1" i="0">
                <a:solidFill>
                  <a:srgbClr val="E06C75"/>
                </a:solidFill>
                <a:latin typeface="Calibri"/>
              </a:rPr>
              <a:t>0.04</a:t>
            </a:r>
          </a:p>
        </p:txBody>
      </p:sp>
      <p:sp>
        <p:nvSpPr>
          <p:cNvPr id="39" name="TextBox 38"/>
          <p:cNvSpPr txBox="1"/>
          <p:nvPr/>
        </p:nvSpPr>
        <p:spPr>
          <a:xfrm>
            <a:off x="8988552" y="2651760"/>
            <a:ext cx="731520" cy="292608"/>
          </a:xfrm>
          <a:prstGeom prst="rect">
            <a:avLst/>
          </a:prstGeom>
          <a:noFill/>
        </p:spPr>
        <p:txBody>
          <a:bodyPr wrap="square" anchor="t"/>
          <a:lstStyle/>
          <a:p>
            <a:pPr algn="l"/>
            <a:r>
              <a:rPr sz="1200" b="0" i="0">
                <a:solidFill>
                  <a:srgbClr val="AAAAAA"/>
                </a:solidFill>
                <a:latin typeface="Calibri"/>
              </a:rPr>
              <a:t>× 0.25</a:t>
            </a:r>
          </a:p>
        </p:txBody>
      </p:sp>
      <p:sp>
        <p:nvSpPr>
          <p:cNvPr id="40" name="TextBox 39"/>
          <p:cNvSpPr txBox="1"/>
          <p:nvPr/>
        </p:nvSpPr>
        <p:spPr>
          <a:xfrm>
            <a:off x="9720072" y="2651760"/>
            <a:ext cx="822960" cy="292608"/>
          </a:xfrm>
          <a:prstGeom prst="rect">
            <a:avLst/>
          </a:prstGeom>
          <a:noFill/>
        </p:spPr>
        <p:txBody>
          <a:bodyPr wrap="square" anchor="t"/>
          <a:lstStyle/>
          <a:p>
            <a:pPr algn="l"/>
            <a:r>
              <a:rPr sz="1200" b="1" i="0">
                <a:solidFill>
                  <a:srgbClr val="FFFFFF"/>
                </a:solidFill>
                <a:latin typeface="Calibri"/>
              </a:rPr>
              <a:t>= 0.010</a:t>
            </a:r>
          </a:p>
        </p:txBody>
      </p:sp>
      <p:sp>
        <p:nvSpPr>
          <p:cNvPr id="41" name="TextBox 40"/>
          <p:cNvSpPr txBox="1"/>
          <p:nvPr/>
        </p:nvSpPr>
        <p:spPr>
          <a:xfrm>
            <a:off x="6611112" y="2971800"/>
            <a:ext cx="1645920" cy="292608"/>
          </a:xfrm>
          <a:prstGeom prst="rect">
            <a:avLst/>
          </a:prstGeom>
          <a:noFill/>
        </p:spPr>
        <p:txBody>
          <a:bodyPr wrap="square" anchor="t"/>
          <a:lstStyle/>
          <a:p>
            <a:pPr algn="l"/>
            <a:r>
              <a:rPr sz="1200" b="0" i="0">
                <a:solidFill>
                  <a:srgbClr val="AAAAAA"/>
                </a:solidFill>
                <a:latin typeface="Calibri"/>
              </a:rPr>
              <a:t>Phonetic Sim</a:t>
            </a:r>
          </a:p>
        </p:txBody>
      </p:sp>
      <p:sp>
        <p:nvSpPr>
          <p:cNvPr id="42" name="TextBox 41"/>
          <p:cNvSpPr txBox="1"/>
          <p:nvPr/>
        </p:nvSpPr>
        <p:spPr>
          <a:xfrm>
            <a:off x="8348472" y="2971800"/>
            <a:ext cx="640080" cy="292608"/>
          </a:xfrm>
          <a:prstGeom prst="rect">
            <a:avLst/>
          </a:prstGeom>
          <a:noFill/>
        </p:spPr>
        <p:txBody>
          <a:bodyPr wrap="square" anchor="t"/>
          <a:lstStyle/>
          <a:p>
            <a:pPr algn="l"/>
            <a:r>
              <a:rPr sz="1200" b="1" i="0">
                <a:solidFill>
                  <a:srgbClr val="E06C75"/>
                </a:solidFill>
                <a:latin typeface="Calibri"/>
              </a:rPr>
              <a:t>0.12</a:t>
            </a:r>
          </a:p>
        </p:txBody>
      </p:sp>
      <p:sp>
        <p:nvSpPr>
          <p:cNvPr id="43" name="TextBox 42"/>
          <p:cNvSpPr txBox="1"/>
          <p:nvPr/>
        </p:nvSpPr>
        <p:spPr>
          <a:xfrm>
            <a:off x="8988552" y="2971800"/>
            <a:ext cx="731520" cy="292608"/>
          </a:xfrm>
          <a:prstGeom prst="rect">
            <a:avLst/>
          </a:prstGeom>
          <a:noFill/>
        </p:spPr>
        <p:txBody>
          <a:bodyPr wrap="square" anchor="t"/>
          <a:lstStyle/>
          <a:p>
            <a:pPr algn="l"/>
            <a:r>
              <a:rPr sz="1200" b="0" i="0">
                <a:solidFill>
                  <a:srgbClr val="AAAAAA"/>
                </a:solidFill>
                <a:latin typeface="Calibri"/>
              </a:rPr>
              <a:t>× 0.15</a:t>
            </a:r>
          </a:p>
        </p:txBody>
      </p:sp>
      <p:sp>
        <p:nvSpPr>
          <p:cNvPr id="44" name="TextBox 43"/>
          <p:cNvSpPr txBox="1"/>
          <p:nvPr/>
        </p:nvSpPr>
        <p:spPr>
          <a:xfrm>
            <a:off x="9720072" y="2971800"/>
            <a:ext cx="822960" cy="292608"/>
          </a:xfrm>
          <a:prstGeom prst="rect">
            <a:avLst/>
          </a:prstGeom>
          <a:noFill/>
        </p:spPr>
        <p:txBody>
          <a:bodyPr wrap="square" anchor="t"/>
          <a:lstStyle/>
          <a:p>
            <a:pPr algn="l"/>
            <a:r>
              <a:rPr sz="1200" b="1" i="0">
                <a:solidFill>
                  <a:srgbClr val="FFFFFF"/>
                </a:solidFill>
                <a:latin typeface="Calibri"/>
              </a:rPr>
              <a:t>= 0.018</a:t>
            </a:r>
          </a:p>
        </p:txBody>
      </p:sp>
      <p:sp>
        <p:nvSpPr>
          <p:cNvPr id="45" name="TextBox 44"/>
          <p:cNvSpPr txBox="1"/>
          <p:nvPr/>
        </p:nvSpPr>
        <p:spPr>
          <a:xfrm>
            <a:off x="6611112" y="3291840"/>
            <a:ext cx="1645920" cy="292608"/>
          </a:xfrm>
          <a:prstGeom prst="rect">
            <a:avLst/>
          </a:prstGeom>
          <a:noFill/>
        </p:spPr>
        <p:txBody>
          <a:bodyPr wrap="square" anchor="t"/>
          <a:lstStyle/>
          <a:p>
            <a:pPr algn="l"/>
            <a:r>
              <a:rPr sz="1200" b="0" i="0">
                <a:solidFill>
                  <a:srgbClr val="AAAAAA"/>
                </a:solidFill>
                <a:latin typeface="Calibri"/>
              </a:rPr>
              <a:t>Inverse WER</a:t>
            </a:r>
          </a:p>
        </p:txBody>
      </p:sp>
      <p:sp>
        <p:nvSpPr>
          <p:cNvPr id="46" name="TextBox 45"/>
          <p:cNvSpPr txBox="1"/>
          <p:nvPr/>
        </p:nvSpPr>
        <p:spPr>
          <a:xfrm>
            <a:off x="8348472" y="3291840"/>
            <a:ext cx="640080" cy="292608"/>
          </a:xfrm>
          <a:prstGeom prst="rect">
            <a:avLst/>
          </a:prstGeom>
          <a:noFill/>
        </p:spPr>
        <p:txBody>
          <a:bodyPr wrap="square" anchor="t"/>
          <a:lstStyle/>
          <a:p>
            <a:pPr algn="l"/>
            <a:r>
              <a:rPr sz="1200" b="1" i="0">
                <a:solidFill>
                  <a:srgbClr val="E06C75"/>
                </a:solidFill>
                <a:latin typeface="Calibri"/>
              </a:rPr>
              <a:t>0.00</a:t>
            </a:r>
          </a:p>
        </p:txBody>
      </p:sp>
      <p:sp>
        <p:nvSpPr>
          <p:cNvPr id="47" name="TextBox 46"/>
          <p:cNvSpPr txBox="1"/>
          <p:nvPr/>
        </p:nvSpPr>
        <p:spPr>
          <a:xfrm>
            <a:off x="8988552" y="3291840"/>
            <a:ext cx="731520" cy="292608"/>
          </a:xfrm>
          <a:prstGeom prst="rect">
            <a:avLst/>
          </a:prstGeom>
          <a:noFill/>
        </p:spPr>
        <p:txBody>
          <a:bodyPr wrap="square" anchor="t"/>
          <a:lstStyle/>
          <a:p>
            <a:pPr algn="l"/>
            <a:r>
              <a:rPr sz="1200" b="0" i="0">
                <a:solidFill>
                  <a:srgbClr val="AAAAAA"/>
                </a:solidFill>
                <a:latin typeface="Calibri"/>
              </a:rPr>
              <a:t>× 0.15</a:t>
            </a:r>
          </a:p>
        </p:txBody>
      </p:sp>
      <p:sp>
        <p:nvSpPr>
          <p:cNvPr id="48" name="TextBox 47"/>
          <p:cNvSpPr txBox="1"/>
          <p:nvPr/>
        </p:nvSpPr>
        <p:spPr>
          <a:xfrm>
            <a:off x="9720072" y="3291840"/>
            <a:ext cx="822960" cy="292608"/>
          </a:xfrm>
          <a:prstGeom prst="rect">
            <a:avLst/>
          </a:prstGeom>
          <a:noFill/>
        </p:spPr>
        <p:txBody>
          <a:bodyPr wrap="square" anchor="t"/>
          <a:lstStyle/>
          <a:p>
            <a:pPr algn="l"/>
            <a:r>
              <a:rPr sz="1200" b="1" i="0">
                <a:solidFill>
                  <a:srgbClr val="FFFFFF"/>
                </a:solidFill>
                <a:latin typeface="Calibri"/>
              </a:rPr>
              <a:t>= 0.000</a:t>
            </a:r>
          </a:p>
        </p:txBody>
      </p:sp>
      <p:sp>
        <p:nvSpPr>
          <p:cNvPr id="49" name="TextBox 48"/>
          <p:cNvSpPr txBox="1"/>
          <p:nvPr/>
        </p:nvSpPr>
        <p:spPr>
          <a:xfrm>
            <a:off x="6611112" y="3611880"/>
            <a:ext cx="1645920" cy="292608"/>
          </a:xfrm>
          <a:prstGeom prst="rect">
            <a:avLst/>
          </a:prstGeom>
          <a:noFill/>
        </p:spPr>
        <p:txBody>
          <a:bodyPr wrap="square" anchor="t"/>
          <a:lstStyle/>
          <a:p>
            <a:pPr algn="l"/>
            <a:r>
              <a:rPr sz="1200" b="0" i="0">
                <a:solidFill>
                  <a:srgbClr val="AAAAAA"/>
                </a:solidFill>
                <a:latin typeface="Calibri"/>
              </a:rPr>
              <a:t>Inverse WWER</a:t>
            </a:r>
          </a:p>
        </p:txBody>
      </p:sp>
      <p:sp>
        <p:nvSpPr>
          <p:cNvPr id="50" name="TextBox 49"/>
          <p:cNvSpPr txBox="1"/>
          <p:nvPr/>
        </p:nvSpPr>
        <p:spPr>
          <a:xfrm>
            <a:off x="8348472" y="3611880"/>
            <a:ext cx="640080" cy="292608"/>
          </a:xfrm>
          <a:prstGeom prst="rect">
            <a:avLst/>
          </a:prstGeom>
          <a:noFill/>
        </p:spPr>
        <p:txBody>
          <a:bodyPr wrap="square" anchor="t"/>
          <a:lstStyle/>
          <a:p>
            <a:pPr algn="l"/>
            <a:r>
              <a:rPr sz="1200" b="1" i="0">
                <a:solidFill>
                  <a:srgbClr val="E06C75"/>
                </a:solidFill>
                <a:latin typeface="Calibri"/>
              </a:rPr>
              <a:t>0.00</a:t>
            </a:r>
          </a:p>
        </p:txBody>
      </p:sp>
      <p:sp>
        <p:nvSpPr>
          <p:cNvPr id="51" name="TextBox 50"/>
          <p:cNvSpPr txBox="1"/>
          <p:nvPr/>
        </p:nvSpPr>
        <p:spPr>
          <a:xfrm>
            <a:off x="8988552" y="3611880"/>
            <a:ext cx="731520" cy="292608"/>
          </a:xfrm>
          <a:prstGeom prst="rect">
            <a:avLst/>
          </a:prstGeom>
          <a:noFill/>
        </p:spPr>
        <p:txBody>
          <a:bodyPr wrap="square" anchor="t"/>
          <a:lstStyle/>
          <a:p>
            <a:pPr algn="l"/>
            <a:r>
              <a:rPr sz="1200" b="0" i="0">
                <a:solidFill>
                  <a:srgbClr val="AAAAAA"/>
                </a:solidFill>
                <a:latin typeface="Calibri"/>
              </a:rPr>
              <a:t>× 0.15</a:t>
            </a:r>
          </a:p>
        </p:txBody>
      </p:sp>
      <p:sp>
        <p:nvSpPr>
          <p:cNvPr id="52" name="TextBox 51"/>
          <p:cNvSpPr txBox="1"/>
          <p:nvPr/>
        </p:nvSpPr>
        <p:spPr>
          <a:xfrm>
            <a:off x="9720072" y="3611880"/>
            <a:ext cx="822960" cy="292608"/>
          </a:xfrm>
          <a:prstGeom prst="rect">
            <a:avLst/>
          </a:prstGeom>
          <a:noFill/>
        </p:spPr>
        <p:txBody>
          <a:bodyPr wrap="square" anchor="t"/>
          <a:lstStyle/>
          <a:p>
            <a:pPr algn="l"/>
            <a:r>
              <a:rPr sz="1200" b="1" i="0">
                <a:solidFill>
                  <a:srgbClr val="FFFFFF"/>
                </a:solidFill>
                <a:latin typeface="Calibri"/>
              </a:rPr>
              <a:t>= 0.000</a:t>
            </a:r>
          </a:p>
        </p:txBody>
      </p:sp>
      <p:sp>
        <p:nvSpPr>
          <p:cNvPr id="53" name="TextBox 52"/>
          <p:cNvSpPr txBox="1"/>
          <p:nvPr/>
        </p:nvSpPr>
        <p:spPr>
          <a:xfrm>
            <a:off x="6611112" y="3931920"/>
            <a:ext cx="1645920" cy="292608"/>
          </a:xfrm>
          <a:prstGeom prst="rect">
            <a:avLst/>
          </a:prstGeom>
          <a:noFill/>
        </p:spPr>
        <p:txBody>
          <a:bodyPr wrap="square" anchor="t"/>
          <a:lstStyle/>
          <a:p>
            <a:pPr algn="l"/>
            <a:r>
              <a:rPr sz="1200" b="0" i="0">
                <a:solidFill>
                  <a:srgbClr val="AAAAAA"/>
                </a:solidFill>
                <a:latin typeface="Calibri"/>
              </a:rPr>
              <a:t>NEA F1</a:t>
            </a:r>
          </a:p>
        </p:txBody>
      </p:sp>
      <p:sp>
        <p:nvSpPr>
          <p:cNvPr id="54" name="TextBox 53"/>
          <p:cNvSpPr txBox="1"/>
          <p:nvPr/>
        </p:nvSpPr>
        <p:spPr>
          <a:xfrm>
            <a:off x="8348472" y="3931920"/>
            <a:ext cx="640080" cy="292608"/>
          </a:xfrm>
          <a:prstGeom prst="rect">
            <a:avLst/>
          </a:prstGeom>
          <a:noFill/>
        </p:spPr>
        <p:txBody>
          <a:bodyPr wrap="square" anchor="t"/>
          <a:lstStyle/>
          <a:p>
            <a:pPr algn="l"/>
            <a:r>
              <a:rPr sz="1200" b="1" i="0">
                <a:solidFill>
                  <a:srgbClr val="E06C75"/>
                </a:solidFill>
                <a:latin typeface="Calibri"/>
              </a:rPr>
              <a:t>0.00</a:t>
            </a:r>
          </a:p>
        </p:txBody>
      </p:sp>
      <p:sp>
        <p:nvSpPr>
          <p:cNvPr id="55" name="TextBox 54"/>
          <p:cNvSpPr txBox="1"/>
          <p:nvPr/>
        </p:nvSpPr>
        <p:spPr>
          <a:xfrm>
            <a:off x="8988552" y="3931920"/>
            <a:ext cx="731520" cy="292608"/>
          </a:xfrm>
          <a:prstGeom prst="rect">
            <a:avLst/>
          </a:prstGeom>
          <a:noFill/>
        </p:spPr>
        <p:txBody>
          <a:bodyPr wrap="square" anchor="t"/>
          <a:lstStyle/>
          <a:p>
            <a:pPr algn="l"/>
            <a:r>
              <a:rPr sz="1200" b="0" i="0">
                <a:solidFill>
                  <a:srgbClr val="AAAAAA"/>
                </a:solidFill>
                <a:latin typeface="Calibri"/>
              </a:rPr>
              <a:t>× 0.15</a:t>
            </a:r>
          </a:p>
        </p:txBody>
      </p:sp>
      <p:sp>
        <p:nvSpPr>
          <p:cNvPr id="56" name="TextBox 55"/>
          <p:cNvSpPr txBox="1"/>
          <p:nvPr/>
        </p:nvSpPr>
        <p:spPr>
          <a:xfrm>
            <a:off x="9720072" y="3931920"/>
            <a:ext cx="822960" cy="292608"/>
          </a:xfrm>
          <a:prstGeom prst="rect">
            <a:avLst/>
          </a:prstGeom>
          <a:noFill/>
        </p:spPr>
        <p:txBody>
          <a:bodyPr wrap="square" anchor="t"/>
          <a:lstStyle/>
          <a:p>
            <a:pPr algn="l"/>
            <a:r>
              <a:rPr sz="1200" b="1" i="0">
                <a:solidFill>
                  <a:srgbClr val="FFFFFF"/>
                </a:solidFill>
                <a:latin typeface="Calibri"/>
              </a:rPr>
              <a:t>= 0.000</a:t>
            </a:r>
          </a:p>
        </p:txBody>
      </p:sp>
      <p:sp>
        <p:nvSpPr>
          <p:cNvPr id="57" name="TextBox 56"/>
          <p:cNvSpPr txBox="1"/>
          <p:nvPr/>
        </p:nvSpPr>
        <p:spPr>
          <a:xfrm>
            <a:off x="6611112" y="4251960"/>
            <a:ext cx="1645920" cy="292608"/>
          </a:xfrm>
          <a:prstGeom prst="rect">
            <a:avLst/>
          </a:prstGeom>
          <a:noFill/>
        </p:spPr>
        <p:txBody>
          <a:bodyPr wrap="square" anchor="t"/>
          <a:lstStyle/>
          <a:p>
            <a:pPr algn="l"/>
            <a:r>
              <a:rPr sz="1200" b="0" i="0">
                <a:solidFill>
                  <a:srgbClr val="AAAAAA"/>
                </a:solidFill>
                <a:latin typeface="Calibri"/>
              </a:rPr>
              <a:t>Length Ratio</a:t>
            </a:r>
          </a:p>
        </p:txBody>
      </p:sp>
      <p:sp>
        <p:nvSpPr>
          <p:cNvPr id="58" name="TextBox 57"/>
          <p:cNvSpPr txBox="1"/>
          <p:nvPr/>
        </p:nvSpPr>
        <p:spPr>
          <a:xfrm>
            <a:off x="8348472" y="4251960"/>
            <a:ext cx="640080" cy="292608"/>
          </a:xfrm>
          <a:prstGeom prst="rect">
            <a:avLst/>
          </a:prstGeom>
          <a:noFill/>
        </p:spPr>
        <p:txBody>
          <a:bodyPr wrap="square" anchor="t"/>
          <a:lstStyle/>
          <a:p>
            <a:pPr algn="l"/>
            <a:r>
              <a:rPr sz="1200" b="1" i="0">
                <a:solidFill>
                  <a:srgbClr val="AAAAAA"/>
                </a:solidFill>
                <a:latin typeface="Calibri"/>
              </a:rPr>
              <a:t>1.00</a:t>
            </a:r>
          </a:p>
        </p:txBody>
      </p:sp>
      <p:sp>
        <p:nvSpPr>
          <p:cNvPr id="59" name="TextBox 58"/>
          <p:cNvSpPr txBox="1"/>
          <p:nvPr/>
        </p:nvSpPr>
        <p:spPr>
          <a:xfrm>
            <a:off x="8988552" y="4251960"/>
            <a:ext cx="731520" cy="292608"/>
          </a:xfrm>
          <a:prstGeom prst="rect">
            <a:avLst/>
          </a:prstGeom>
          <a:noFill/>
        </p:spPr>
        <p:txBody>
          <a:bodyPr wrap="square" anchor="t"/>
          <a:lstStyle/>
          <a:p>
            <a:pPr algn="l"/>
            <a:r>
              <a:rPr sz="1200" b="0" i="0">
                <a:solidFill>
                  <a:srgbClr val="AAAAAA"/>
                </a:solidFill>
                <a:latin typeface="Calibri"/>
              </a:rPr>
              <a:t>× 0.15</a:t>
            </a:r>
          </a:p>
        </p:txBody>
      </p:sp>
      <p:sp>
        <p:nvSpPr>
          <p:cNvPr id="60" name="TextBox 59"/>
          <p:cNvSpPr txBox="1"/>
          <p:nvPr/>
        </p:nvSpPr>
        <p:spPr>
          <a:xfrm>
            <a:off x="9720072" y="4251960"/>
            <a:ext cx="822960" cy="292608"/>
          </a:xfrm>
          <a:prstGeom prst="rect">
            <a:avLst/>
          </a:prstGeom>
          <a:noFill/>
        </p:spPr>
        <p:txBody>
          <a:bodyPr wrap="square" anchor="t"/>
          <a:lstStyle/>
          <a:p>
            <a:pPr algn="l"/>
            <a:r>
              <a:rPr sz="1200" b="1" i="0">
                <a:solidFill>
                  <a:srgbClr val="FFFFFF"/>
                </a:solidFill>
                <a:latin typeface="Calibri"/>
              </a:rPr>
              <a:t>= 0.150</a:t>
            </a:r>
          </a:p>
        </p:txBody>
      </p:sp>
      <p:sp>
        <p:nvSpPr>
          <p:cNvPr id="61" name="TextBox 60"/>
          <p:cNvSpPr txBox="1"/>
          <p:nvPr/>
        </p:nvSpPr>
        <p:spPr>
          <a:xfrm>
            <a:off x="6611112" y="4754880"/>
            <a:ext cx="4754880" cy="365760"/>
          </a:xfrm>
          <a:prstGeom prst="rect">
            <a:avLst/>
          </a:prstGeom>
          <a:noFill/>
        </p:spPr>
        <p:txBody>
          <a:bodyPr wrap="square" anchor="t"/>
          <a:lstStyle/>
          <a:p>
            <a:pPr algn="l"/>
            <a:r>
              <a:rPr sz="1500" b="1" i="0">
                <a:solidFill>
                  <a:srgbClr val="E06C75"/>
                </a:solidFill>
                <a:latin typeface="Calibri"/>
              </a:rPr>
              <a:t>Sum × 5 = 0.89 → IS 0.9 (Failed)</a:t>
            </a:r>
          </a:p>
        </p:txBody>
      </p:sp>
      <p:pic>
        <p:nvPicPr>
          <p:cNvPr id="62" name="Picture 61"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63" name="TextBox 62"/>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17</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childTnLst>
                    </p:cTn>
                  </p:par>
                  <p:par>
                    <p:cTn id="7" fill="hold">
                      <p:stCondLst>
                        <p:cond delay="0"/>
                      </p:stCondLst>
                      <p:childTnLst>
                        <p:par>
                          <p:cTn id="8" fill="hold">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500"/>
                                  <p:tgtEl>
                                    <p:spTgt spid="3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3" grpId="1"/>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IS Radar: Success vs Failure Profile</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20040"/>
          </a:xfrm>
          <a:prstGeom prst="rect">
            <a:avLst/>
          </a:prstGeom>
          <a:noFill/>
        </p:spPr>
        <p:txBody>
          <a:bodyPr wrap="square" anchor="t"/>
          <a:lstStyle/>
          <a:p>
            <a:pPr algn="l"/>
            <a:r>
              <a:rPr sz="1600" b="0" i="1">
                <a:solidFill>
                  <a:srgbClr val="AAAAAA"/>
                </a:solidFill>
                <a:latin typeface="Calibri"/>
              </a:rPr>
              <a:t>Captured segments (green) are strong across all 6 signals. Failed segments (red) collapse on meaning and entities.</a:t>
            </a:r>
          </a:p>
        </p:txBody>
      </p:sp>
      <p:pic>
        <p:nvPicPr>
          <p:cNvPr id="5" name="Picture 4" descr="P6_is_radar.png"/>
          <p:cNvPicPr>
            <a:picLocks noChangeAspect="1"/>
          </p:cNvPicPr>
          <p:nvPr/>
        </p:nvPicPr>
        <p:blipFill>
          <a:blip r:embed="rId2"/>
          <a:stretch>
            <a:fillRect/>
          </a:stretch>
        </p:blipFill>
        <p:spPr>
          <a:xfrm>
            <a:off x="548640" y="1691640"/>
            <a:ext cx="11091672" cy="4983480"/>
          </a:xfrm>
          <a:prstGeom prst="rect">
            <a:avLst/>
          </a:prstGeom>
        </p:spPr>
      </p:pic>
      <p:pic>
        <p:nvPicPr>
          <p:cNvPr id="6" name="Picture 5" descr="BlackLogo300x300-W-BG.png"/>
          <p:cNvPicPr>
            <a:picLocks noChangeAspect="1"/>
          </p:cNvPicPr>
          <p:nvPr/>
        </p:nvPicPr>
        <p:blipFill>
          <a:blip r:embed="rId3"/>
          <a:stretch>
            <a:fillRect/>
          </a:stretch>
        </p:blipFill>
        <p:spPr>
          <a:xfrm>
            <a:off x="11323320" y="6428232"/>
            <a:ext cx="271117" cy="320040"/>
          </a:xfrm>
          <a:prstGeom prst="rect">
            <a:avLst/>
          </a:prstGeom>
        </p:spPr>
      </p:pic>
      <p:sp>
        <p:nvSpPr>
          <p:cNvPr id="7" name="TextBox 6"/>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18</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00"/>
                                  <p:tgtEl>
                                    <p:spTgt spid="5"/>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Intelligibility Score: 39.9% Properly Captured</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29640" y="1325880"/>
            <a:ext cx="1554480" cy="100584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1080" y="1417320"/>
            <a:ext cx="1371600" cy="822960"/>
          </a:xfrm>
          <a:prstGeom prst="rect">
            <a:avLst/>
          </a:prstGeom>
          <a:noFill/>
        </p:spPr>
        <p:txBody>
          <a:bodyPr wrap="square" anchor="t"/>
          <a:lstStyle/>
          <a:p>
            <a:pPr algn="ctr"/>
            <a:r>
              <a:rPr sz="1100" b="0" i="0">
                <a:solidFill>
                  <a:srgbClr val="FFFFFF"/>
                </a:solidFill>
                <a:latin typeface="Calibri"/>
              </a:rPr>
              <a:t>Semantic</a:t>
            </a:r>
            <a:br/>
            <a:r>
              <a:rPr sz="1100" b="0" i="0">
                <a:solidFill>
                  <a:srgbClr val="FFFFFF"/>
                </a:solidFill>
                <a:latin typeface="Calibri"/>
              </a:rPr>
              <a:t>Sim</a:t>
            </a:r>
            <a:br/>
            <a:r>
              <a:rPr sz="1100" b="0" i="0">
                <a:solidFill>
                  <a:srgbClr val="FFFFFF"/>
                </a:solidFill>
                <a:latin typeface="Calibri"/>
              </a:rPr>
              <a:t>(25%)</a:t>
            </a:r>
          </a:p>
        </p:txBody>
      </p:sp>
      <p:sp>
        <p:nvSpPr>
          <p:cNvPr id="6" name="Rounded Rectangle 5"/>
          <p:cNvSpPr/>
          <p:nvPr/>
        </p:nvSpPr>
        <p:spPr>
          <a:xfrm>
            <a:off x="2685288" y="1325880"/>
            <a:ext cx="1554480" cy="100584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76728" y="1417320"/>
            <a:ext cx="1371600" cy="822960"/>
          </a:xfrm>
          <a:prstGeom prst="rect">
            <a:avLst/>
          </a:prstGeom>
          <a:noFill/>
        </p:spPr>
        <p:txBody>
          <a:bodyPr wrap="square" anchor="t"/>
          <a:lstStyle/>
          <a:p>
            <a:pPr algn="ctr"/>
            <a:r>
              <a:rPr sz="1100" b="0" i="0">
                <a:solidFill>
                  <a:srgbClr val="FFFFFF"/>
                </a:solidFill>
                <a:latin typeface="Calibri"/>
              </a:rPr>
              <a:t>Phonetic</a:t>
            </a:r>
            <a:br/>
            <a:r>
              <a:rPr sz="1100" b="0" i="0">
                <a:solidFill>
                  <a:srgbClr val="FFFFFF"/>
                </a:solidFill>
                <a:latin typeface="Calibri"/>
              </a:rPr>
              <a:t>Sim</a:t>
            </a:r>
            <a:br/>
            <a:r>
              <a:rPr sz="1100" b="0" i="0">
                <a:solidFill>
                  <a:srgbClr val="FFFFFF"/>
                </a:solidFill>
                <a:latin typeface="Calibri"/>
              </a:rPr>
              <a:t>(15%)</a:t>
            </a:r>
          </a:p>
        </p:txBody>
      </p:sp>
      <p:sp>
        <p:nvSpPr>
          <p:cNvPr id="8" name="Rounded Rectangle 7"/>
          <p:cNvSpPr/>
          <p:nvPr/>
        </p:nvSpPr>
        <p:spPr>
          <a:xfrm>
            <a:off x="4440936" y="1325880"/>
            <a:ext cx="1554480" cy="100584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2376" y="1417320"/>
            <a:ext cx="1371600" cy="822960"/>
          </a:xfrm>
          <a:prstGeom prst="rect">
            <a:avLst/>
          </a:prstGeom>
          <a:noFill/>
        </p:spPr>
        <p:txBody>
          <a:bodyPr wrap="square" anchor="t"/>
          <a:lstStyle/>
          <a:p>
            <a:pPr algn="ctr"/>
            <a:r>
              <a:rPr sz="1100" b="0" i="0">
                <a:solidFill>
                  <a:srgbClr val="FFFFFF"/>
                </a:solidFill>
                <a:latin typeface="Calibri"/>
              </a:rPr>
              <a:t>Inv.</a:t>
            </a:r>
            <a:br/>
            <a:r>
              <a:rPr sz="1100" b="0" i="0">
                <a:solidFill>
                  <a:srgbClr val="FFFFFF"/>
                </a:solidFill>
                <a:latin typeface="Calibri"/>
              </a:rPr>
              <a:t>WER</a:t>
            </a:r>
            <a:br/>
            <a:r>
              <a:rPr sz="1100" b="0" i="0">
                <a:solidFill>
                  <a:srgbClr val="FFFFFF"/>
                </a:solidFill>
                <a:latin typeface="Calibri"/>
              </a:rPr>
              <a:t>(15%)</a:t>
            </a:r>
          </a:p>
        </p:txBody>
      </p:sp>
      <p:sp>
        <p:nvSpPr>
          <p:cNvPr id="10" name="Rounded Rectangle 9"/>
          <p:cNvSpPr/>
          <p:nvPr/>
        </p:nvSpPr>
        <p:spPr>
          <a:xfrm>
            <a:off x="6196584" y="1325880"/>
            <a:ext cx="1554480" cy="100584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88024" y="1417320"/>
            <a:ext cx="1371600" cy="822960"/>
          </a:xfrm>
          <a:prstGeom prst="rect">
            <a:avLst/>
          </a:prstGeom>
          <a:noFill/>
        </p:spPr>
        <p:txBody>
          <a:bodyPr wrap="square" anchor="t"/>
          <a:lstStyle/>
          <a:p>
            <a:pPr algn="ctr"/>
            <a:r>
              <a:rPr sz="1100" b="0" i="0">
                <a:solidFill>
                  <a:srgbClr val="FFFFFF"/>
                </a:solidFill>
                <a:latin typeface="Calibri"/>
              </a:rPr>
              <a:t>Inv.</a:t>
            </a:r>
            <a:br/>
            <a:r>
              <a:rPr sz="1100" b="0" i="0">
                <a:solidFill>
                  <a:srgbClr val="FFFFFF"/>
                </a:solidFill>
                <a:latin typeface="Calibri"/>
              </a:rPr>
              <a:t>WWER</a:t>
            </a:r>
            <a:br/>
            <a:r>
              <a:rPr sz="1100" b="0" i="0">
                <a:solidFill>
                  <a:srgbClr val="FFFFFF"/>
                </a:solidFill>
                <a:latin typeface="Calibri"/>
              </a:rPr>
              <a:t>(15%)</a:t>
            </a:r>
          </a:p>
        </p:txBody>
      </p:sp>
      <p:sp>
        <p:nvSpPr>
          <p:cNvPr id="12" name="Rounded Rectangle 11"/>
          <p:cNvSpPr/>
          <p:nvPr/>
        </p:nvSpPr>
        <p:spPr>
          <a:xfrm>
            <a:off x="7952232" y="1325880"/>
            <a:ext cx="1554480" cy="100584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3672" y="1417320"/>
            <a:ext cx="1371600" cy="822960"/>
          </a:xfrm>
          <a:prstGeom prst="rect">
            <a:avLst/>
          </a:prstGeom>
          <a:noFill/>
        </p:spPr>
        <p:txBody>
          <a:bodyPr wrap="square" anchor="t"/>
          <a:lstStyle/>
          <a:p>
            <a:pPr algn="ctr"/>
            <a:r>
              <a:rPr sz="1100" b="0" i="0">
                <a:solidFill>
                  <a:srgbClr val="FFFFFF"/>
                </a:solidFill>
                <a:latin typeface="Calibri"/>
              </a:rPr>
              <a:t>NEA</a:t>
            </a:r>
            <a:br/>
            <a:r>
              <a:rPr sz="1100" b="0" i="0">
                <a:solidFill>
                  <a:srgbClr val="FFFFFF"/>
                </a:solidFill>
                <a:latin typeface="Calibri"/>
              </a:rPr>
              <a:t>F1</a:t>
            </a:r>
            <a:br/>
            <a:r>
              <a:rPr sz="1100" b="0" i="0">
                <a:solidFill>
                  <a:srgbClr val="FFFFFF"/>
                </a:solidFill>
                <a:latin typeface="Calibri"/>
              </a:rPr>
              <a:t>(15%)</a:t>
            </a:r>
          </a:p>
        </p:txBody>
      </p:sp>
      <p:sp>
        <p:nvSpPr>
          <p:cNvPr id="14" name="Rounded Rectangle 13"/>
          <p:cNvSpPr/>
          <p:nvPr/>
        </p:nvSpPr>
        <p:spPr>
          <a:xfrm>
            <a:off x="9707880" y="1325880"/>
            <a:ext cx="1554480" cy="1005840"/>
          </a:xfrm>
          <a:prstGeom prst="roundRect">
            <a:avLst/>
          </a:prstGeom>
          <a:solidFill>
            <a:srgbClr val="152A40"/>
          </a:solidFill>
          <a:ln w="2540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99320" y="1417320"/>
            <a:ext cx="1371600" cy="822960"/>
          </a:xfrm>
          <a:prstGeom prst="rect">
            <a:avLst/>
          </a:prstGeom>
          <a:noFill/>
        </p:spPr>
        <p:txBody>
          <a:bodyPr wrap="square" anchor="t"/>
          <a:lstStyle/>
          <a:p>
            <a:pPr algn="ctr"/>
            <a:r>
              <a:rPr sz="1100" b="0" i="0">
                <a:solidFill>
                  <a:srgbClr val="FFFFFF"/>
                </a:solidFill>
                <a:latin typeface="Calibri"/>
              </a:rPr>
              <a:t>Length</a:t>
            </a:r>
            <a:br/>
            <a:r>
              <a:rPr sz="1100" b="0" i="0">
                <a:solidFill>
                  <a:srgbClr val="FFFFFF"/>
                </a:solidFill>
                <a:latin typeface="Calibri"/>
              </a:rPr>
              <a:t>Ratio</a:t>
            </a:r>
            <a:br/>
            <a:r>
              <a:rPr sz="1100" b="0" i="0">
                <a:solidFill>
                  <a:srgbClr val="FFFFFF"/>
                </a:solidFill>
                <a:latin typeface="Calibri"/>
              </a:rPr>
              <a:t>(15%)</a:t>
            </a:r>
          </a:p>
        </p:txBody>
      </p:sp>
      <p:sp>
        <p:nvSpPr>
          <p:cNvPr id="16" name="TextBox 15"/>
          <p:cNvSpPr txBox="1"/>
          <p:nvPr/>
        </p:nvSpPr>
        <p:spPr>
          <a:xfrm>
            <a:off x="548640" y="2514600"/>
            <a:ext cx="11091672" cy="502920"/>
          </a:xfrm>
          <a:prstGeom prst="rect">
            <a:avLst/>
          </a:prstGeom>
          <a:noFill/>
        </p:spPr>
        <p:txBody>
          <a:bodyPr wrap="square" anchor="t"/>
          <a:lstStyle/>
          <a:p>
            <a:pPr algn="ctr"/>
            <a:r>
              <a:rPr sz="1400" b="1" i="0">
                <a:solidFill>
                  <a:srgbClr val="00B4D8"/>
                </a:solidFill>
                <a:latin typeface="Calibri"/>
              </a:rPr>
              <a:t>IS ≥ 3.0 = Properly Captured: 39.9% — 3.5× more than WER's 11.4%</a:t>
            </a:r>
            <a:br/>
            <a:r>
              <a:rPr sz="1400" b="1" i="0">
                <a:solidFill>
                  <a:srgbClr val="00B4D8"/>
                </a:solidFill>
                <a:latin typeface="Calibri"/>
              </a:rPr>
              <a:t>Phonetic similarity: 41.5% mean, r=0.943 with IS (strongest single signal)</a:t>
            </a:r>
          </a:p>
        </p:txBody>
      </p:sp>
      <p:sp>
        <p:nvSpPr>
          <p:cNvPr id="17" name="TextBox 16"/>
          <p:cNvSpPr txBox="1"/>
          <p:nvPr/>
        </p:nvSpPr>
        <p:spPr>
          <a:xfrm>
            <a:off x="548640" y="3291840"/>
            <a:ext cx="2743200" cy="347472"/>
          </a:xfrm>
          <a:prstGeom prst="rect">
            <a:avLst/>
          </a:prstGeom>
          <a:noFill/>
        </p:spPr>
        <p:txBody>
          <a:bodyPr wrap="square" anchor="t"/>
          <a:lstStyle/>
          <a:p>
            <a:pPr algn="r"/>
            <a:r>
              <a:rPr sz="1300" b="0" i="0">
                <a:solidFill>
                  <a:srgbClr val="FFFFFF"/>
                </a:solidFill>
                <a:latin typeface="Calibri"/>
              </a:rPr>
              <a:t>18.4% Excellent</a:t>
            </a:r>
          </a:p>
        </p:txBody>
      </p:sp>
      <p:sp>
        <p:nvSpPr>
          <p:cNvPr id="18" name="Rectangle 17"/>
          <p:cNvSpPr/>
          <p:nvPr/>
        </p:nvSpPr>
        <p:spPr>
          <a:xfrm>
            <a:off x="3474720" y="3291840"/>
            <a:ext cx="5383987" cy="347472"/>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749040"/>
            <a:ext cx="2743200" cy="347472"/>
          </a:xfrm>
          <a:prstGeom prst="rect">
            <a:avLst/>
          </a:prstGeom>
          <a:noFill/>
        </p:spPr>
        <p:txBody>
          <a:bodyPr wrap="square" anchor="t"/>
          <a:lstStyle/>
          <a:p>
            <a:pPr algn="r"/>
            <a:r>
              <a:rPr sz="1300" b="0" i="0">
                <a:solidFill>
                  <a:srgbClr val="FFFFFF"/>
                </a:solidFill>
                <a:latin typeface="Calibri"/>
              </a:rPr>
              <a:t>21.4% Good</a:t>
            </a:r>
          </a:p>
        </p:txBody>
      </p:sp>
      <p:sp>
        <p:nvSpPr>
          <p:cNvPr id="20" name="Rectangle 19"/>
          <p:cNvSpPr/>
          <p:nvPr/>
        </p:nvSpPr>
        <p:spPr>
          <a:xfrm>
            <a:off x="3474720" y="3749040"/>
            <a:ext cx="6261811" cy="34747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206240"/>
            <a:ext cx="2743200" cy="347472"/>
          </a:xfrm>
          <a:prstGeom prst="rect">
            <a:avLst/>
          </a:prstGeom>
          <a:noFill/>
        </p:spPr>
        <p:txBody>
          <a:bodyPr wrap="square" anchor="t"/>
          <a:lstStyle/>
          <a:p>
            <a:pPr algn="r"/>
            <a:r>
              <a:rPr sz="1300" b="0" i="0">
                <a:solidFill>
                  <a:srgbClr val="FFFFFF"/>
                </a:solidFill>
                <a:latin typeface="Calibri"/>
              </a:rPr>
              <a:t>21.7% Fair</a:t>
            </a:r>
          </a:p>
        </p:txBody>
      </p:sp>
      <p:sp>
        <p:nvSpPr>
          <p:cNvPr id="22" name="Rectangle 21"/>
          <p:cNvSpPr/>
          <p:nvPr/>
        </p:nvSpPr>
        <p:spPr>
          <a:xfrm>
            <a:off x="3474720" y="4206240"/>
            <a:ext cx="6349593" cy="347472"/>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663440"/>
            <a:ext cx="2743200" cy="347472"/>
          </a:xfrm>
          <a:prstGeom prst="rect">
            <a:avLst/>
          </a:prstGeom>
          <a:noFill/>
        </p:spPr>
        <p:txBody>
          <a:bodyPr wrap="square" anchor="t"/>
          <a:lstStyle/>
          <a:p>
            <a:pPr algn="r"/>
            <a:r>
              <a:rPr sz="1300" b="0" i="0">
                <a:solidFill>
                  <a:srgbClr val="FFFFFF"/>
                </a:solidFill>
                <a:latin typeface="Calibri"/>
              </a:rPr>
              <a:t>22.4% Poor</a:t>
            </a:r>
          </a:p>
        </p:txBody>
      </p:sp>
      <p:sp>
        <p:nvSpPr>
          <p:cNvPr id="24" name="Rectangle 23"/>
          <p:cNvSpPr/>
          <p:nvPr/>
        </p:nvSpPr>
        <p:spPr>
          <a:xfrm>
            <a:off x="3474720" y="4663440"/>
            <a:ext cx="6554419" cy="34747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5120640"/>
            <a:ext cx="2743200" cy="347472"/>
          </a:xfrm>
          <a:prstGeom prst="rect">
            <a:avLst/>
          </a:prstGeom>
          <a:noFill/>
        </p:spPr>
        <p:txBody>
          <a:bodyPr wrap="square" anchor="t"/>
          <a:lstStyle/>
          <a:p>
            <a:pPr algn="r"/>
            <a:r>
              <a:rPr sz="1300" b="0" i="0">
                <a:solidFill>
                  <a:srgbClr val="FFFFFF"/>
                </a:solidFill>
                <a:latin typeface="Calibri"/>
              </a:rPr>
              <a:t>16.0% Failed</a:t>
            </a:r>
          </a:p>
        </p:txBody>
      </p:sp>
      <p:sp>
        <p:nvSpPr>
          <p:cNvPr id="26" name="Rectangle 25"/>
          <p:cNvSpPr/>
          <p:nvPr/>
        </p:nvSpPr>
        <p:spPr>
          <a:xfrm>
            <a:off x="3474720" y="5120640"/>
            <a:ext cx="4681728" cy="347472"/>
          </a:xfrm>
          <a:prstGeom prst="rect">
            <a:avLst/>
          </a:prstGeom>
          <a:solidFill>
            <a:srgbClr val="F44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28" name="TextBox 27"/>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19</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fill="hold">
                            <p:stCondLst>
                              <p:cond delay="12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500"/>
                                  <p:tgtEl>
                                    <p:spTgt spid="6"/>
                                  </p:tgtEl>
                                </p:cBhvr>
                              </p:animEffect>
                            </p:childTnLst>
                          </p:cTn>
                        </p:par>
                        <p:par>
                          <p:cTn id="10" fill="hold">
                            <p:stCondLst>
                              <p:cond delay="24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fill="hold">
                            <p:stCondLst>
                              <p:cond delay="36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fill="hold">
                            <p:stCondLst>
                              <p:cond delay="48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fill="hold">
                            <p:stCondLst>
                              <p:cond delay="60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childTnLst>
                    </p:cTn>
                  </p:par>
                  <p:par>
                    <p:cTn id="22" fill="hold">
                      <p:stCondLst>
                        <p:cond delay="0"/>
                      </p:stCondLst>
                      <p:childTnLst>
                        <p:par>
                          <p:cTn id="23" fill="hold">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childTnLst>
                    </p:cTn>
                  </p:par>
                  <p:par>
                    <p:cTn id="26" fill="hold">
                      <p:stCondLst>
                        <p:cond delay="0"/>
                      </p:stCondLst>
                      <p:childTnLst>
                        <p:par>
                          <p:cTn id="27" fill="hold">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par>
                          <p:cTn id="30" fill="hold">
                            <p:stCondLst>
                              <p:cond delay="12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par>
                          <p:cTn id="33" fill="hold">
                            <p:stCondLst>
                              <p:cond delay="24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par>
                          <p:cTn id="36" fill="hold">
                            <p:stCondLst>
                              <p:cond delay="36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500"/>
                                  <p:tgtEl>
                                    <p:spTgt spid="24"/>
                                  </p:tgtEl>
                                </p:cBhvr>
                              </p:animEffect>
                            </p:childTnLst>
                          </p:cTn>
                        </p:par>
                        <p:par>
                          <p:cTn id="39" fill="hold">
                            <p:stCondLst>
                              <p:cond delay="48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500"/>
                                  <p:tgtEl>
                                    <p:spTgt spid="2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10" grpId="0"/>
      <p:bldP spid="12" grpId="0"/>
      <p:bldP spid="14" grpId="0"/>
      <p:bldP spid="16" grpId="0"/>
      <p:bldP spid="18" grpId="0"/>
      <p:bldP spid="20" grpId="0"/>
      <p:bldP spid="22" grpId="0"/>
      <p:bldP spid="24" grpId="0"/>
      <p:bldP spid="26" grpId="0"/>
    </p:bld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Three Root Causes — Why 64.1% WER?</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365760"/>
          </a:xfrm>
          <a:prstGeom prst="rect">
            <a:avLst/>
          </a:prstGeom>
          <a:noFill/>
        </p:spPr>
        <p:txBody>
          <a:bodyPr wrap="square" anchor="t"/>
          <a:lstStyle/>
          <a:p>
            <a:pPr algn="l"/>
            <a:r>
              <a:rPr sz="1800" b="1" i="0">
                <a:solidFill>
                  <a:srgbClr val="E06C75"/>
                </a:solidFill>
                <a:latin typeface="Calibri"/>
              </a:rPr>
              <a:t>Root Causes</a:t>
            </a:r>
          </a:p>
        </p:txBody>
      </p:sp>
      <p:sp>
        <p:nvSpPr>
          <p:cNvPr id="5" name="TextBox 4"/>
          <p:cNvSpPr txBox="1"/>
          <p:nvPr/>
        </p:nvSpPr>
        <p:spPr>
          <a:xfrm>
            <a:off x="548640" y="1783080"/>
            <a:ext cx="5029200" cy="4617720"/>
          </a:xfrm>
          <a:prstGeom prst="rect">
            <a:avLst/>
          </a:prstGeom>
          <a:noFill/>
        </p:spPr>
        <p:txBody>
          <a:bodyPr wrap="square">
            <a:spAutoFit/>
          </a:bodyPr>
          <a:lstStyle/>
          <a:p>
            <a:pPr algn="l">
              <a:spcAft>
                <a:spcPts val="600"/>
              </a:spcAft>
            </a:pPr>
            <a:r>
              <a:rPr sz="1500" b="1">
                <a:solidFill>
                  <a:srgbClr val="00B4D8"/>
                </a:solidFill>
                <a:latin typeface="Calibri"/>
              </a:rPr>
              <a:t>• </a:t>
            </a:r>
            <a:r>
              <a:rPr sz="1500" b="1">
                <a:solidFill>
                  <a:srgbClr val="00B4D8"/>
                </a:solidFill>
                <a:latin typeface="Calibri"/>
              </a:rPr>
              <a:t>1. Domain Mismatch</a:t>
            </a:r>
          </a:p>
          <a:p>
            <a:pPr algn="l">
              <a:spcAft>
                <a:spcPts val="600"/>
              </a:spcAft>
            </a:pPr>
            <a:r>
              <a:rPr sz="1500" b="1">
                <a:solidFill>
                  <a:srgbClr val="00B4D8"/>
                </a:solidFill>
                <a:latin typeface="Calibri"/>
              </a:rPr>
              <a:t>• </a:t>
            </a:r>
            <a:r>
              <a:rPr sz="1500" b="0">
                <a:solidFill>
                  <a:srgbClr val="FFFFFF"/>
                </a:solidFill>
                <a:latin typeface="Calibri"/>
              </a:rPr>
              <a:t>Model trained on TED talks (LRS3); real-world: DIY, cooking, sports</a:t>
            </a:r>
          </a:p>
          <a:p>
            <a:pPr algn="l">
              <a:spcAft>
                <a:spcPts val="600"/>
              </a:spcAft>
            </a:pPr>
            <a:r>
              <a:rPr sz="1500" b="1">
                <a:solidFill>
                  <a:srgbClr val="00B4D8"/>
                </a:solidFill>
                <a:latin typeface="Calibri"/>
              </a:rPr>
              <a:t>• </a:t>
            </a:r>
            <a:r>
              <a:rPr sz="1500" b="1">
                <a:solidFill>
                  <a:srgbClr val="00B4D8"/>
                </a:solidFill>
                <a:latin typeface="Calibri"/>
              </a:rPr>
              <a:t>2. Short Segments Fail</a:t>
            </a:r>
          </a:p>
          <a:p>
            <a:pPr algn="l">
              <a:spcAft>
                <a:spcPts val="600"/>
              </a:spcAft>
            </a:pPr>
            <a:r>
              <a:rPr sz="1500" b="1">
                <a:solidFill>
                  <a:srgbClr val="00B4D8"/>
                </a:solidFill>
                <a:latin typeface="Calibri"/>
              </a:rPr>
              <a:t>• </a:t>
            </a:r>
            <a:r>
              <a:rPr sz="1500" b="0">
                <a:solidFill>
                  <a:srgbClr val="FFFFFF"/>
                </a:solidFill>
                <a:latin typeface="Calibri"/>
              </a:rPr>
              <a:t>Under 10 words: only 32% captured vs 49% for 20+ words</a:t>
            </a:r>
          </a:p>
          <a:p>
            <a:pPr algn="l">
              <a:spcAft>
                <a:spcPts val="600"/>
              </a:spcAft>
            </a:pPr>
            <a:r>
              <a:rPr sz="1500" b="1">
                <a:solidFill>
                  <a:srgbClr val="00B4D8"/>
                </a:solidFill>
                <a:latin typeface="Calibri"/>
              </a:rPr>
              <a:t>• </a:t>
            </a:r>
            <a:r>
              <a:rPr sz="1500" b="1">
                <a:solidFill>
                  <a:srgbClr val="00B4D8"/>
                </a:solidFill>
                <a:latin typeface="Calibri"/>
              </a:rPr>
              <a:t>3. Hallucination (20.5%)</a:t>
            </a:r>
          </a:p>
          <a:p>
            <a:pPr algn="l">
              <a:spcAft>
                <a:spcPts val="600"/>
              </a:spcAft>
            </a:pPr>
            <a:r>
              <a:rPr sz="1500" b="1">
                <a:solidFill>
                  <a:srgbClr val="00B4D8"/>
                </a:solidFill>
                <a:latin typeface="Calibri"/>
              </a:rPr>
              <a:t>• </a:t>
            </a:r>
            <a:r>
              <a:rPr sz="1500" b="0">
                <a:solidFill>
                  <a:srgbClr val="FFFFFF"/>
                </a:solidFill>
                <a:latin typeface="Calibri"/>
              </a:rPr>
              <a:t>LLM prior overwhelms weak visual signal — fluent but fabricated</a:t>
            </a:r>
          </a:p>
        </p:txBody>
      </p:sp>
      <p:sp>
        <p:nvSpPr>
          <p:cNvPr id="6" name="TextBox 5"/>
          <p:cNvSpPr txBox="1"/>
          <p:nvPr/>
        </p:nvSpPr>
        <p:spPr>
          <a:xfrm>
            <a:off x="6611111" y="1325880"/>
            <a:ext cx="5029200" cy="365760"/>
          </a:xfrm>
          <a:prstGeom prst="rect">
            <a:avLst/>
          </a:prstGeom>
          <a:noFill/>
        </p:spPr>
        <p:txBody>
          <a:bodyPr wrap="square" anchor="t"/>
          <a:lstStyle/>
          <a:p>
            <a:pPr algn="l"/>
            <a:r>
              <a:rPr sz="1800" b="1" i="0">
                <a:solidFill>
                  <a:srgbClr val="00B4D8"/>
                </a:solidFill>
                <a:latin typeface="Calibri"/>
              </a:rPr>
              <a:t>By the Numbers</a:t>
            </a:r>
          </a:p>
        </p:txBody>
      </p:sp>
      <p:sp>
        <p:nvSpPr>
          <p:cNvPr id="7" name="TextBox 6"/>
          <p:cNvSpPr txBox="1"/>
          <p:nvPr/>
        </p:nvSpPr>
        <p:spPr>
          <a:xfrm>
            <a:off x="6611111" y="1783080"/>
            <a:ext cx="5029200" cy="4617720"/>
          </a:xfrm>
          <a:prstGeom prst="rect">
            <a:avLst/>
          </a:prstGeom>
          <a:noFill/>
        </p:spPr>
        <p:txBody>
          <a:bodyPr wrap="square">
            <a:spAutoFit/>
          </a:bodyPr>
          <a:lstStyle/>
          <a:p>
            <a:pPr algn="l">
              <a:spcAft>
                <a:spcPts val="600"/>
              </a:spcAft>
            </a:pPr>
            <a:r>
              <a:rPr sz="1500" b="1">
                <a:solidFill>
                  <a:srgbClr val="00B4D8"/>
                </a:solidFill>
                <a:latin typeface="Calibri"/>
              </a:rPr>
              <a:t>• </a:t>
            </a:r>
            <a:r>
              <a:rPr sz="1500" b="0">
                <a:solidFill>
                  <a:srgbClr val="4CAF50"/>
                </a:solidFill>
                <a:latin typeface="Calibri"/>
              </a:rPr>
              <a:t>Business/Finance: IS 3.08, 57% captured</a:t>
            </a:r>
          </a:p>
          <a:p>
            <a:pPr algn="l">
              <a:spcAft>
                <a:spcPts val="600"/>
              </a:spcAft>
            </a:pPr>
            <a:r>
              <a:rPr sz="1500" b="1">
                <a:solidFill>
                  <a:srgbClr val="00B4D8"/>
                </a:solidFill>
                <a:latin typeface="Calibri"/>
              </a:rPr>
              <a:t>• </a:t>
            </a:r>
            <a:r>
              <a:rPr sz="1500" b="0">
                <a:solidFill>
                  <a:srgbClr val="E06C75"/>
                </a:solidFill>
                <a:latin typeface="Calibri"/>
              </a:rPr>
              <a:t>DIY/Home: IS 2.13, 30% captured — 27pp gap</a:t>
            </a:r>
          </a:p>
          <a:p>
            <a:pPr algn="l">
              <a:spcAft>
                <a:spcPts val="600"/>
              </a:spcAft>
            </a:pPr>
            <a:r>
              <a:rPr sz="1500" b="1">
                <a:solidFill>
                  <a:srgbClr val="00B4D8"/>
                </a:solidFill>
                <a:latin typeface="Calibri"/>
              </a:rPr>
              <a:t>• </a:t>
            </a:r>
            <a:r>
              <a:rPr sz="1500" b="0">
                <a:solidFill>
                  <a:srgbClr val="FFFFFF"/>
                </a:solidFill>
                <a:latin typeface="Calibri"/>
              </a:rPr>
              <a:t>Short (5–10 words): 74% WER, 32% captured</a:t>
            </a:r>
          </a:p>
          <a:p>
            <a:pPr algn="l">
              <a:spcAft>
                <a:spcPts val="600"/>
              </a:spcAft>
            </a:pPr>
            <a:r>
              <a:rPr sz="1500" b="1">
                <a:solidFill>
                  <a:srgbClr val="00B4D8"/>
                </a:solidFill>
                <a:latin typeface="Calibri"/>
              </a:rPr>
              <a:t>• </a:t>
            </a:r>
            <a:r>
              <a:rPr sz="1500" b="0">
                <a:solidFill>
                  <a:srgbClr val="FFFFFF"/>
                </a:solidFill>
                <a:latin typeface="Calibri"/>
              </a:rPr>
              <a:t>Long (20+ words): 55% WER, 49% captured — 17pp gap</a:t>
            </a:r>
          </a:p>
          <a:p>
            <a:pPr algn="l">
              <a:spcAft>
                <a:spcPts val="600"/>
              </a:spcAft>
            </a:pPr>
            <a:r>
              <a:rPr sz="1500" b="1">
                <a:solidFill>
                  <a:srgbClr val="00B4D8"/>
                </a:solidFill>
                <a:latin typeface="Calibri"/>
              </a:rPr>
              <a:t>• </a:t>
            </a:r>
            <a:r>
              <a:rPr sz="1500" b="1">
                <a:solidFill>
                  <a:srgbClr val="E06C75"/>
                </a:solidFill>
                <a:latin typeface="Calibri"/>
              </a:rPr>
              <a:t>28.2% of failures = drift + hallucination</a:t>
            </a:r>
          </a:p>
        </p:txBody>
      </p:sp>
      <p:pic>
        <p:nvPicPr>
          <p:cNvPr id="8" name="Picture 7"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9" name="TextBox 8"/>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20</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fill="hold">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10" fill="hold">
                      <p:stCondLst>
                        <p:cond delay="0"/>
                      </p:stCondLst>
                      <p:childTnLst>
                        <p:par>
                          <p:cTn id="11" fill="hold">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fill="hold">
                            <p:stCondLst>
                              <p:cond delay="12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p:bldP spid="7" grpId="1"/>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Domain Mismatch: Training vs Reality</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943600" cy="365760"/>
          </a:xfrm>
          <a:prstGeom prst="rect">
            <a:avLst/>
          </a:prstGeom>
          <a:noFill/>
        </p:spPr>
        <p:txBody>
          <a:bodyPr wrap="square" anchor="t"/>
          <a:lstStyle/>
          <a:p>
            <a:pPr algn="l"/>
            <a:r>
              <a:rPr sz="1700" b="1" i="0">
                <a:solidFill>
                  <a:srgbClr val="00B4D8"/>
                </a:solidFill>
                <a:latin typeface="Calibri"/>
              </a:rPr>
              <a:t>Performance by Topic</a:t>
            </a:r>
          </a:p>
        </p:txBody>
      </p:sp>
      <p:graphicFrame>
        <p:nvGraphicFramePr>
          <p:cNvPr id="5" name="Table 4"/>
          <p:cNvGraphicFramePr>
            <a:graphicFrameLocks noGrp="1"/>
          </p:cNvGraphicFramePr>
          <p:nvPr/>
        </p:nvGraphicFramePr>
        <p:xfrm>
          <a:off x="548640" y="1783080"/>
          <a:ext cx="5943600" cy="2779776"/>
        </p:xfrm>
        <a:graphic>
          <a:graphicData uri="http://schemas.openxmlformats.org/drawingml/2006/table">
            <a:tbl>
              <a:tblPr firstRow="0" bandRow="0" lastRow="0" bandCol="0">
                <a:tableStyleId>{5C22544A-7EE6-4342-B048-85BDC9FD1C3A}</a:tableStyleId>
              </a:tblPr>
              <a:tblGrid>
                <a:gridCol w="1485900"/>
                <a:gridCol w="1485900"/>
                <a:gridCol w="1485900"/>
                <a:gridCol w="1485900"/>
              </a:tblGrid>
              <a:tr h="347472">
                <a:tc>
                  <a:txBody>
                    <a:bodyPr/>
                    <a:lstStyle/>
                    <a:p>
                      <a:pPr algn="ctr"/>
                      <a:r>
                        <a:rPr sz="1200" b="1" i="0">
                          <a:solidFill>
                            <a:srgbClr val="FFFFFF"/>
                          </a:solidFill>
                          <a:latin typeface="Calibri"/>
                        </a:rPr>
                        <a:t>Topic</a:t>
                      </a:r>
                    </a:p>
                  </a:txBody>
                  <a:tcPr>
                    <a:solidFill>
                      <a:srgbClr val="00b4d8"/>
                    </a:solidFill>
                  </a:tcPr>
                </a:tc>
                <a:tc>
                  <a:txBody>
                    <a:bodyPr/>
                    <a:lstStyle/>
                    <a:p>
                      <a:pPr algn="ctr"/>
                      <a:r>
                        <a:rPr sz="1200" b="1" i="0">
                          <a:solidFill>
                            <a:srgbClr val="FFFFFF"/>
                          </a:solidFill>
                          <a:latin typeface="Calibri"/>
                        </a:rPr>
                        <a:t>IS</a:t>
                      </a:r>
                    </a:p>
                  </a:txBody>
                  <a:tcPr>
                    <a:solidFill>
                      <a:srgbClr val="00b4d8"/>
                    </a:solidFill>
                  </a:tcPr>
                </a:tc>
                <a:tc>
                  <a:txBody>
                    <a:bodyPr/>
                    <a:lstStyle/>
                    <a:p>
                      <a:pPr algn="ctr"/>
                      <a:r>
                        <a:rPr sz="1200" b="1" i="0">
                          <a:solidFill>
                            <a:srgbClr val="FFFFFF"/>
                          </a:solidFill>
                          <a:latin typeface="Calibri"/>
                        </a:rPr>
                        <a:t>Captured</a:t>
                      </a:r>
                    </a:p>
                  </a:txBody>
                  <a:tcPr>
                    <a:solidFill>
                      <a:srgbClr val="00b4d8"/>
                    </a:solidFill>
                  </a:tcPr>
                </a:tc>
                <a:tc>
                  <a:txBody>
                    <a:bodyPr/>
                    <a:lstStyle/>
                    <a:p>
                      <a:pPr algn="ctr"/>
                      <a:r>
                        <a:rPr sz="1200" b="1" i="0">
                          <a:solidFill>
                            <a:srgbClr val="FFFFFF"/>
                          </a:solidFill>
                          <a:latin typeface="Calibri"/>
                        </a:rPr>
                        <a:t>Judge N%</a:t>
                      </a:r>
                    </a:p>
                  </a:txBody>
                  <a:tcPr>
                    <a:solidFill>
                      <a:srgbClr val="00b4d8"/>
                    </a:solidFill>
                  </a:tcPr>
                </a:tc>
              </a:tr>
              <a:tr h="347472">
                <a:tc>
                  <a:txBody>
                    <a:bodyPr/>
                    <a:lstStyle/>
                    <a:p>
                      <a:pPr algn="l"/>
                      <a:r>
                        <a:rPr sz="1200" b="0" i="0">
                          <a:solidFill>
                            <a:srgbClr val="FFFFFF"/>
                          </a:solidFill>
                          <a:latin typeface="Calibri"/>
                        </a:rPr>
                        <a:t>Business/Finance</a:t>
                      </a:r>
                    </a:p>
                  </a:txBody>
                  <a:tcPr>
                    <a:solidFill>
                      <a:srgbClr val="0d1b2a"/>
                    </a:solidFill>
                  </a:tcPr>
                </a:tc>
                <a:tc>
                  <a:txBody>
                    <a:bodyPr/>
                    <a:lstStyle/>
                    <a:p>
                      <a:pPr algn="l"/>
                      <a:r>
                        <a:rPr sz="1200" b="0" i="0">
                          <a:solidFill>
                            <a:srgbClr val="4CAF50"/>
                          </a:solidFill>
                          <a:latin typeface="Calibri"/>
                        </a:rPr>
                        <a:t>3.08</a:t>
                      </a:r>
                    </a:p>
                  </a:txBody>
                  <a:tcPr>
                    <a:solidFill>
                      <a:srgbClr val="0d1b2a"/>
                    </a:solidFill>
                  </a:tcPr>
                </a:tc>
                <a:tc>
                  <a:txBody>
                    <a:bodyPr/>
                    <a:lstStyle/>
                    <a:p>
                      <a:pPr algn="l"/>
                      <a:r>
                        <a:rPr sz="1200" b="0" i="0">
                          <a:solidFill>
                            <a:srgbClr val="4CAF50"/>
                          </a:solidFill>
                          <a:latin typeface="Calibri"/>
                        </a:rPr>
                        <a:t>57%</a:t>
                      </a:r>
                    </a:p>
                  </a:txBody>
                  <a:tcPr>
                    <a:solidFill>
                      <a:srgbClr val="0d1b2a"/>
                    </a:solidFill>
                  </a:tcPr>
                </a:tc>
                <a:tc>
                  <a:txBody>
                    <a:bodyPr/>
                    <a:lstStyle/>
                    <a:p>
                      <a:pPr algn="l"/>
                      <a:r>
                        <a:rPr sz="1200" b="0" i="0">
                          <a:solidFill>
                            <a:srgbClr val="FFFFFF"/>
                          </a:solidFill>
                          <a:latin typeface="Calibri"/>
                        </a:rPr>
                        <a:t>25%</a:t>
                      </a:r>
                    </a:p>
                  </a:txBody>
                  <a:tcPr>
                    <a:solidFill>
                      <a:srgbClr val="0d1b2a"/>
                    </a:solidFill>
                  </a:tcPr>
                </a:tc>
              </a:tr>
              <a:tr h="347472">
                <a:tc>
                  <a:txBody>
                    <a:bodyPr/>
                    <a:lstStyle/>
                    <a:p>
                      <a:pPr algn="l"/>
                      <a:r>
                        <a:rPr sz="1200" b="0" i="0">
                          <a:solidFill>
                            <a:srgbClr val="FFFFFF"/>
                          </a:solidFill>
                          <a:latin typeface="Calibri"/>
                        </a:rPr>
                        <a:t>Education/Lecture</a:t>
                      </a:r>
                    </a:p>
                  </a:txBody>
                  <a:tcPr>
                    <a:solidFill>
                      <a:srgbClr val="152a40"/>
                    </a:solidFill>
                  </a:tcPr>
                </a:tc>
                <a:tc>
                  <a:txBody>
                    <a:bodyPr/>
                    <a:lstStyle/>
                    <a:p>
                      <a:pPr algn="l"/>
                      <a:r>
                        <a:rPr sz="1200" b="0" i="0">
                          <a:solidFill>
                            <a:srgbClr val="FFFFFF"/>
                          </a:solidFill>
                          <a:latin typeface="Calibri"/>
                        </a:rPr>
                        <a:t>2.63</a:t>
                      </a:r>
                    </a:p>
                  </a:txBody>
                  <a:tcPr>
                    <a:solidFill>
                      <a:srgbClr val="152a40"/>
                    </a:solidFill>
                  </a:tcPr>
                </a:tc>
                <a:tc>
                  <a:txBody>
                    <a:bodyPr/>
                    <a:lstStyle/>
                    <a:p>
                      <a:pPr algn="l"/>
                      <a:r>
                        <a:rPr sz="1200" b="0" i="0">
                          <a:solidFill>
                            <a:srgbClr val="FFFFFF"/>
                          </a:solidFill>
                          <a:latin typeface="Calibri"/>
                        </a:rPr>
                        <a:t>42%</a:t>
                      </a:r>
                    </a:p>
                  </a:txBody>
                  <a:tcPr>
                    <a:solidFill>
                      <a:srgbClr val="152a40"/>
                    </a:solidFill>
                  </a:tcPr>
                </a:tc>
                <a:tc>
                  <a:txBody>
                    <a:bodyPr/>
                    <a:lstStyle/>
                    <a:p>
                      <a:pPr algn="l"/>
                      <a:r>
                        <a:rPr sz="1200" b="0" i="0">
                          <a:solidFill>
                            <a:srgbClr val="FFFFFF"/>
                          </a:solidFill>
                          <a:latin typeface="Calibri"/>
                        </a:rPr>
                        <a:t>33%</a:t>
                      </a:r>
                    </a:p>
                  </a:txBody>
                  <a:tcPr>
                    <a:solidFill>
                      <a:srgbClr val="152a40"/>
                    </a:solidFill>
                  </a:tcPr>
                </a:tc>
              </a:tr>
              <a:tr h="347472">
                <a:tc>
                  <a:txBody>
                    <a:bodyPr/>
                    <a:lstStyle/>
                    <a:p>
                      <a:pPr algn="l"/>
                      <a:r>
                        <a:rPr sz="1200" b="0" i="0">
                          <a:solidFill>
                            <a:srgbClr val="FFFFFF"/>
                          </a:solidFill>
                          <a:latin typeface="Calibri"/>
                        </a:rPr>
                        <a:t>Entertainment</a:t>
                      </a:r>
                    </a:p>
                  </a:txBody>
                  <a:tcPr>
                    <a:solidFill>
                      <a:srgbClr val="0d1b2a"/>
                    </a:solidFill>
                  </a:tcPr>
                </a:tc>
                <a:tc>
                  <a:txBody>
                    <a:bodyPr/>
                    <a:lstStyle/>
                    <a:p>
                      <a:pPr algn="l"/>
                      <a:r>
                        <a:rPr sz="1200" b="0" i="0">
                          <a:solidFill>
                            <a:srgbClr val="FFFFFF"/>
                          </a:solidFill>
                          <a:latin typeface="Calibri"/>
                        </a:rPr>
                        <a:t>2.51</a:t>
                      </a:r>
                    </a:p>
                  </a:txBody>
                  <a:tcPr>
                    <a:solidFill>
                      <a:srgbClr val="0d1b2a"/>
                    </a:solidFill>
                  </a:tcPr>
                </a:tc>
                <a:tc>
                  <a:txBody>
                    <a:bodyPr/>
                    <a:lstStyle/>
                    <a:p>
                      <a:pPr algn="l"/>
                      <a:r>
                        <a:rPr sz="1200" b="0" i="0">
                          <a:solidFill>
                            <a:srgbClr val="FFFFFF"/>
                          </a:solidFill>
                          <a:latin typeface="Calibri"/>
                        </a:rPr>
                        <a:t>39%</a:t>
                      </a:r>
                    </a:p>
                  </a:txBody>
                  <a:tcPr>
                    <a:solidFill>
                      <a:srgbClr val="0d1b2a"/>
                    </a:solidFill>
                  </a:tcPr>
                </a:tc>
                <a:tc>
                  <a:txBody>
                    <a:bodyPr/>
                    <a:lstStyle/>
                    <a:p>
                      <a:pPr algn="l"/>
                      <a:r>
                        <a:rPr sz="1200" b="0" i="0">
                          <a:solidFill>
                            <a:srgbClr val="FFFFFF"/>
                          </a:solidFill>
                          <a:latin typeface="Calibri"/>
                        </a:rPr>
                        <a:t>36%</a:t>
                      </a:r>
                    </a:p>
                  </a:txBody>
                  <a:tcPr>
                    <a:solidFill>
                      <a:srgbClr val="0d1b2a"/>
                    </a:solidFill>
                  </a:tcPr>
                </a:tc>
              </a:tr>
              <a:tr h="347472">
                <a:tc>
                  <a:txBody>
                    <a:bodyPr/>
                    <a:lstStyle/>
                    <a:p>
                      <a:pPr algn="l"/>
                      <a:r>
                        <a:rPr sz="1200" b="0" i="0">
                          <a:solidFill>
                            <a:srgbClr val="FFFFFF"/>
                          </a:solidFill>
                          <a:latin typeface="Calibri"/>
                        </a:rPr>
                        <a:t>News/Politics</a:t>
                      </a:r>
                    </a:p>
                  </a:txBody>
                  <a:tcPr>
                    <a:solidFill>
                      <a:srgbClr val="152a40"/>
                    </a:solidFill>
                  </a:tcPr>
                </a:tc>
                <a:tc>
                  <a:txBody>
                    <a:bodyPr/>
                    <a:lstStyle/>
                    <a:p>
                      <a:pPr algn="l"/>
                      <a:r>
                        <a:rPr sz="1200" b="0" i="0">
                          <a:solidFill>
                            <a:srgbClr val="FFFFFF"/>
                          </a:solidFill>
                          <a:latin typeface="Calibri"/>
                        </a:rPr>
                        <a:t>2.48</a:t>
                      </a:r>
                    </a:p>
                  </a:txBody>
                  <a:tcPr>
                    <a:solidFill>
                      <a:srgbClr val="152a40"/>
                    </a:solidFill>
                  </a:tcPr>
                </a:tc>
                <a:tc>
                  <a:txBody>
                    <a:bodyPr/>
                    <a:lstStyle/>
                    <a:p>
                      <a:pPr algn="l"/>
                      <a:r>
                        <a:rPr sz="1200" b="0" i="0">
                          <a:solidFill>
                            <a:srgbClr val="FFFFFF"/>
                          </a:solidFill>
                          <a:latin typeface="Calibri"/>
                        </a:rPr>
                        <a:t>38%</a:t>
                      </a:r>
                    </a:p>
                  </a:txBody>
                  <a:tcPr>
                    <a:solidFill>
                      <a:srgbClr val="152a40"/>
                    </a:solidFill>
                  </a:tcPr>
                </a:tc>
                <a:tc>
                  <a:txBody>
                    <a:bodyPr/>
                    <a:lstStyle/>
                    <a:p>
                      <a:pPr algn="l"/>
                      <a:r>
                        <a:rPr sz="1200" b="0" i="0">
                          <a:solidFill>
                            <a:srgbClr val="FFFFFF"/>
                          </a:solidFill>
                          <a:latin typeface="Calibri"/>
                        </a:rPr>
                        <a:t>37%</a:t>
                      </a:r>
                    </a:p>
                  </a:txBody>
                  <a:tcPr>
                    <a:solidFill>
                      <a:srgbClr val="152a40"/>
                    </a:solidFill>
                  </a:tcPr>
                </a:tc>
              </a:tr>
              <a:tr h="347472">
                <a:tc>
                  <a:txBody>
                    <a:bodyPr/>
                    <a:lstStyle/>
                    <a:p>
                      <a:pPr algn="l"/>
                      <a:r>
                        <a:rPr sz="1200" b="0" i="0">
                          <a:solidFill>
                            <a:srgbClr val="FFFFFF"/>
                          </a:solidFill>
                          <a:latin typeface="Calibri"/>
                        </a:rPr>
                        <a:t>Tech/Science</a:t>
                      </a:r>
                    </a:p>
                  </a:txBody>
                  <a:tcPr>
                    <a:solidFill>
                      <a:srgbClr val="0d1b2a"/>
                    </a:solidFill>
                  </a:tcPr>
                </a:tc>
                <a:tc>
                  <a:txBody>
                    <a:bodyPr/>
                    <a:lstStyle/>
                    <a:p>
                      <a:pPr algn="l"/>
                      <a:r>
                        <a:rPr sz="1200" b="0" i="0">
                          <a:solidFill>
                            <a:srgbClr val="FFFFFF"/>
                          </a:solidFill>
                          <a:latin typeface="Calibri"/>
                        </a:rPr>
                        <a:t>2.43</a:t>
                      </a:r>
                    </a:p>
                  </a:txBody>
                  <a:tcPr>
                    <a:solidFill>
                      <a:srgbClr val="0d1b2a"/>
                    </a:solidFill>
                  </a:tcPr>
                </a:tc>
                <a:tc>
                  <a:txBody>
                    <a:bodyPr/>
                    <a:lstStyle/>
                    <a:p>
                      <a:pPr algn="l"/>
                      <a:r>
                        <a:rPr sz="1200" b="0" i="0">
                          <a:solidFill>
                            <a:srgbClr val="FFFFFF"/>
                          </a:solidFill>
                          <a:latin typeface="Calibri"/>
                        </a:rPr>
                        <a:t>36%</a:t>
                      </a:r>
                    </a:p>
                  </a:txBody>
                  <a:tcPr>
                    <a:solidFill>
                      <a:srgbClr val="0d1b2a"/>
                    </a:solidFill>
                  </a:tcPr>
                </a:tc>
                <a:tc>
                  <a:txBody>
                    <a:bodyPr/>
                    <a:lstStyle/>
                    <a:p>
                      <a:pPr algn="l"/>
                      <a:r>
                        <a:rPr sz="1200" b="0" i="0">
                          <a:solidFill>
                            <a:srgbClr val="FFFFFF"/>
                          </a:solidFill>
                          <a:latin typeface="Calibri"/>
                        </a:rPr>
                        <a:t>39%</a:t>
                      </a:r>
                    </a:p>
                  </a:txBody>
                  <a:tcPr>
                    <a:solidFill>
                      <a:srgbClr val="0d1b2a"/>
                    </a:solidFill>
                  </a:tcPr>
                </a:tc>
              </a:tr>
              <a:tr h="347472">
                <a:tc>
                  <a:txBody>
                    <a:bodyPr/>
                    <a:lstStyle/>
                    <a:p>
                      <a:pPr algn="l"/>
                      <a:r>
                        <a:rPr sz="1200" b="0" i="0">
                          <a:solidFill>
                            <a:srgbClr val="FFFFFF"/>
                          </a:solidFill>
                          <a:latin typeface="Calibri"/>
                        </a:rPr>
                        <a:t>Sports/Health</a:t>
                      </a:r>
                    </a:p>
                  </a:txBody>
                  <a:tcPr>
                    <a:solidFill>
                      <a:srgbClr val="152a40"/>
                    </a:solidFill>
                  </a:tcPr>
                </a:tc>
                <a:tc>
                  <a:txBody>
                    <a:bodyPr/>
                    <a:lstStyle/>
                    <a:p>
                      <a:pPr algn="l"/>
                      <a:r>
                        <a:rPr sz="1200" b="0" i="0">
                          <a:solidFill>
                            <a:srgbClr val="FFFFFF"/>
                          </a:solidFill>
                          <a:latin typeface="Calibri"/>
                        </a:rPr>
                        <a:t>2.38</a:t>
                      </a:r>
                    </a:p>
                  </a:txBody>
                  <a:tcPr>
                    <a:solidFill>
                      <a:srgbClr val="152a40"/>
                    </a:solidFill>
                  </a:tcPr>
                </a:tc>
                <a:tc>
                  <a:txBody>
                    <a:bodyPr/>
                    <a:lstStyle/>
                    <a:p>
                      <a:pPr algn="l"/>
                      <a:r>
                        <a:rPr sz="1200" b="0" i="0">
                          <a:solidFill>
                            <a:srgbClr val="FFFFFF"/>
                          </a:solidFill>
                          <a:latin typeface="Calibri"/>
                        </a:rPr>
                        <a:t>34%</a:t>
                      </a:r>
                    </a:p>
                  </a:txBody>
                  <a:tcPr>
                    <a:solidFill>
                      <a:srgbClr val="152a40"/>
                    </a:solidFill>
                  </a:tcPr>
                </a:tc>
                <a:tc>
                  <a:txBody>
                    <a:bodyPr/>
                    <a:lstStyle/>
                    <a:p>
                      <a:pPr algn="l"/>
                      <a:r>
                        <a:rPr sz="1200" b="0" i="0">
                          <a:solidFill>
                            <a:srgbClr val="FFFFFF"/>
                          </a:solidFill>
                          <a:latin typeface="Calibri"/>
                        </a:rPr>
                        <a:t>41%</a:t>
                      </a:r>
                    </a:p>
                  </a:txBody>
                  <a:tcPr>
                    <a:solidFill>
                      <a:srgbClr val="152a40"/>
                    </a:solidFill>
                  </a:tcPr>
                </a:tc>
              </a:tr>
              <a:tr h="347472">
                <a:tc>
                  <a:txBody>
                    <a:bodyPr/>
                    <a:lstStyle/>
                    <a:p>
                      <a:pPr algn="l"/>
                      <a:r>
                        <a:rPr sz="1200" b="0" i="0">
                          <a:solidFill>
                            <a:srgbClr val="FFFFFF"/>
                          </a:solidFill>
                          <a:latin typeface="Calibri"/>
                        </a:rPr>
                        <a:t>DIY/Home</a:t>
                      </a:r>
                    </a:p>
                  </a:txBody>
                  <a:tcPr>
                    <a:solidFill>
                      <a:srgbClr val="0d1b2a"/>
                    </a:solidFill>
                  </a:tcPr>
                </a:tc>
                <a:tc>
                  <a:txBody>
                    <a:bodyPr/>
                    <a:lstStyle/>
                    <a:p>
                      <a:pPr algn="l"/>
                      <a:r>
                        <a:rPr sz="1200" b="0" i="0">
                          <a:solidFill>
                            <a:srgbClr val="E06C75"/>
                          </a:solidFill>
                          <a:latin typeface="Calibri"/>
                        </a:rPr>
                        <a:t>2.13</a:t>
                      </a:r>
                    </a:p>
                  </a:txBody>
                  <a:tcPr>
                    <a:solidFill>
                      <a:srgbClr val="0d1b2a"/>
                    </a:solidFill>
                  </a:tcPr>
                </a:tc>
                <a:tc>
                  <a:txBody>
                    <a:bodyPr/>
                    <a:lstStyle/>
                    <a:p>
                      <a:pPr algn="l"/>
                      <a:r>
                        <a:rPr sz="1200" b="0" i="0">
                          <a:solidFill>
                            <a:srgbClr val="E06C75"/>
                          </a:solidFill>
                          <a:latin typeface="Calibri"/>
                        </a:rPr>
                        <a:t>30%</a:t>
                      </a:r>
                    </a:p>
                  </a:txBody>
                  <a:tcPr>
                    <a:solidFill>
                      <a:srgbClr val="0d1b2a"/>
                    </a:solidFill>
                  </a:tcPr>
                </a:tc>
                <a:tc>
                  <a:txBody>
                    <a:bodyPr/>
                    <a:lstStyle/>
                    <a:p>
                      <a:pPr algn="l"/>
                      <a:r>
                        <a:rPr sz="1200" b="0" i="0">
                          <a:solidFill>
                            <a:srgbClr val="E06C75"/>
                          </a:solidFill>
                          <a:latin typeface="Calibri"/>
                        </a:rPr>
                        <a:t>52%</a:t>
                      </a:r>
                    </a:p>
                  </a:txBody>
                  <a:tcPr>
                    <a:solidFill>
                      <a:srgbClr val="0d1b2a"/>
                    </a:solidFill>
                  </a:tcPr>
                </a:tc>
              </a:tr>
            </a:tbl>
          </a:graphicData>
        </a:graphic>
      </p:graphicFrame>
      <p:sp>
        <p:nvSpPr>
          <p:cNvPr id="6" name="TextBox 5"/>
          <p:cNvSpPr txBox="1"/>
          <p:nvPr/>
        </p:nvSpPr>
        <p:spPr>
          <a:xfrm>
            <a:off x="7040880" y="1600200"/>
            <a:ext cx="4599432" cy="822960"/>
          </a:xfrm>
          <a:prstGeom prst="rect">
            <a:avLst/>
          </a:prstGeom>
          <a:noFill/>
        </p:spPr>
        <p:txBody>
          <a:bodyPr wrap="square" anchor="t"/>
          <a:lstStyle/>
          <a:p>
            <a:pPr algn="ctr"/>
            <a:r>
              <a:rPr sz="6400" b="1" i="0">
                <a:solidFill>
                  <a:srgbClr val="E06C75"/>
                </a:solidFill>
                <a:latin typeface="Calibri"/>
              </a:rPr>
              <a:t>19%</a:t>
            </a:r>
          </a:p>
        </p:txBody>
      </p:sp>
      <p:sp>
        <p:nvSpPr>
          <p:cNvPr id="7" name="TextBox 6"/>
          <p:cNvSpPr txBox="1"/>
          <p:nvPr/>
        </p:nvSpPr>
        <p:spPr>
          <a:xfrm>
            <a:off x="7040880" y="2423160"/>
            <a:ext cx="4599432" cy="914400"/>
          </a:xfrm>
          <a:prstGeom prst="rect">
            <a:avLst/>
          </a:prstGeom>
          <a:noFill/>
        </p:spPr>
        <p:txBody>
          <a:bodyPr wrap="square" anchor="t"/>
          <a:lstStyle/>
          <a:p>
            <a:pPr algn="ctr"/>
            <a:r>
              <a:rPr sz="1600" b="0" i="0">
                <a:solidFill>
                  <a:srgbClr val="FFFFFF"/>
                </a:solidFill>
                <a:latin typeface="Calibri"/>
              </a:rPr>
              <a:t>of segments show</a:t>
            </a:r>
            <a:br/>
            <a:r>
              <a:rPr sz="1600" b="0" i="0">
                <a:solidFill>
                  <a:srgbClr val="FFFFFF"/>
                </a:solidFill>
                <a:latin typeface="Calibri"/>
              </a:rPr>
              <a:t>domain vocabulary</a:t>
            </a:r>
            <a:br/>
            <a:r>
              <a:rPr sz="1600" b="0" i="0">
                <a:solidFill>
                  <a:srgbClr val="FFFFFF"/>
                </a:solidFill>
                <a:latin typeface="Calibri"/>
              </a:rPr>
              <a:t>confusion</a:t>
            </a:r>
          </a:p>
        </p:txBody>
      </p:sp>
      <p:sp>
        <p:nvSpPr>
          <p:cNvPr id="8" name="TextBox 7"/>
          <p:cNvSpPr txBox="1"/>
          <p:nvPr/>
        </p:nvSpPr>
        <p:spPr>
          <a:xfrm>
            <a:off x="7040880" y="3611880"/>
            <a:ext cx="4599432" cy="2286000"/>
          </a:xfrm>
          <a:prstGeom prst="rect">
            <a:avLst/>
          </a:prstGeom>
          <a:noFill/>
        </p:spPr>
        <p:txBody>
          <a:bodyPr wrap="square">
            <a:spAutoFit/>
          </a:bodyPr>
          <a:lstStyle/>
          <a:p>
            <a:pPr algn="l">
              <a:spcAft>
                <a:spcPts val="600"/>
              </a:spcAft>
            </a:pPr>
            <a:r>
              <a:rPr sz="1300" b="1">
                <a:solidFill>
                  <a:srgbClr val="00B4D8"/>
                </a:solidFill>
                <a:latin typeface="Calibri"/>
              </a:rPr>
              <a:t>• </a:t>
            </a:r>
            <a:r>
              <a:rPr sz="1300" b="0">
                <a:solidFill>
                  <a:srgbClr val="FFFFFF"/>
                </a:solidFill>
                <a:latin typeface="Calibri"/>
              </a:rPr>
              <a:t>Model trained on TED talks (formal, educational)</a:t>
            </a:r>
          </a:p>
          <a:p>
            <a:pPr algn="l">
              <a:spcAft>
                <a:spcPts val="600"/>
              </a:spcAft>
            </a:pPr>
            <a:r>
              <a:rPr sz="1300" b="1">
                <a:solidFill>
                  <a:srgbClr val="00B4D8"/>
                </a:solidFill>
                <a:latin typeface="Calibri"/>
              </a:rPr>
              <a:t>• </a:t>
            </a:r>
            <a:r>
              <a:rPr sz="1300" b="0">
                <a:solidFill>
                  <a:srgbClr val="4CAF50"/>
                </a:solidFill>
                <a:latin typeface="Calibri"/>
              </a:rPr>
              <a:t>Business content closest to training → best results</a:t>
            </a:r>
          </a:p>
          <a:p>
            <a:pPr algn="l">
              <a:spcAft>
                <a:spcPts val="600"/>
              </a:spcAft>
            </a:pPr>
            <a:r>
              <a:rPr sz="1300" b="1">
                <a:solidFill>
                  <a:srgbClr val="00B4D8"/>
                </a:solidFill>
                <a:latin typeface="Calibri"/>
              </a:rPr>
              <a:t>• </a:t>
            </a:r>
            <a:r>
              <a:rPr sz="1300" b="0">
                <a:solidFill>
                  <a:srgbClr val="E06C75"/>
                </a:solidFill>
                <a:latin typeface="Calibri"/>
              </a:rPr>
              <a:t>DIY content most visual, least verbal → worst results</a:t>
            </a:r>
          </a:p>
          <a:p>
            <a:pPr algn="l">
              <a:spcAft>
                <a:spcPts val="600"/>
              </a:spcAft>
            </a:pPr>
            <a:r>
              <a:rPr sz="1300" b="1">
                <a:solidFill>
                  <a:srgbClr val="00B4D8"/>
                </a:solidFill>
                <a:latin typeface="Calibri"/>
              </a:rPr>
              <a:t>• </a:t>
            </a:r>
            <a:r>
              <a:rPr sz="1300" b="0">
                <a:solidFill>
                  <a:srgbClr val="FFFFFF"/>
                </a:solidFill>
                <a:latin typeface="Calibri"/>
              </a:rPr>
              <a:t>A topic label at decode time would help ~284 segments</a:t>
            </a:r>
          </a:p>
        </p:txBody>
      </p:sp>
      <p:pic>
        <p:nvPicPr>
          <p:cNvPr id="9" name="Picture 8"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0" name="TextBox 9"/>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21</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fill="hold">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Named Entity Accuracy: The Largest Differentiator</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4114800" cy="320040"/>
          </a:xfrm>
          <a:prstGeom prst="rect">
            <a:avLst/>
          </a:prstGeom>
          <a:noFill/>
        </p:spPr>
        <p:txBody>
          <a:bodyPr wrap="square" anchor="t"/>
          <a:lstStyle/>
          <a:p>
            <a:pPr algn="l"/>
            <a:r>
              <a:rPr sz="1800" b="1" i="0">
                <a:solidFill>
                  <a:srgbClr val="00B4D8"/>
                </a:solidFill>
                <a:latin typeface="Calibri"/>
              </a:rPr>
              <a:t>What are named entities?</a:t>
            </a:r>
          </a:p>
        </p:txBody>
      </p:sp>
      <p:sp>
        <p:nvSpPr>
          <p:cNvPr id="5" name="TextBox 4"/>
          <p:cNvSpPr txBox="1"/>
          <p:nvPr/>
        </p:nvSpPr>
        <p:spPr>
          <a:xfrm>
            <a:off x="548640" y="1783080"/>
            <a:ext cx="4114800" cy="4114800"/>
          </a:xfrm>
          <a:prstGeom prst="rect">
            <a:avLst/>
          </a:prstGeom>
          <a:noFill/>
        </p:spPr>
        <p:txBody>
          <a:bodyPr wrap="square">
            <a:spAutoFit/>
          </a:bodyPr>
          <a:lstStyle/>
          <a:p>
            <a:pPr algn="l">
              <a:spcAft>
                <a:spcPts val="600"/>
              </a:spcAft>
            </a:pPr>
            <a:r>
              <a:rPr sz="1400" b="1">
                <a:solidFill>
                  <a:srgbClr val="00B4D8"/>
                </a:solidFill>
                <a:latin typeface="Calibri"/>
              </a:rPr>
              <a:t>• </a:t>
            </a:r>
            <a:r>
              <a:rPr sz="1400" b="0">
                <a:solidFill>
                  <a:srgbClr val="FFFFFF"/>
                </a:solidFill>
                <a:latin typeface="Calibri"/>
              </a:rPr>
              <a:t>Names (Admiral McRae), numbers (13th), places, organizations</a:t>
            </a:r>
          </a:p>
          <a:p>
            <a:pPr algn="l">
              <a:spcAft>
                <a:spcPts val="600"/>
              </a:spcAft>
            </a:pPr>
            <a:r>
              <a:rPr sz="1400" b="1">
                <a:solidFill>
                  <a:srgbClr val="00B4D8"/>
                </a:solidFill>
                <a:latin typeface="Calibri"/>
              </a:rPr>
              <a:t>• </a:t>
            </a:r>
            <a:r>
              <a:rPr sz="1400" b="0">
                <a:solidFill>
                  <a:srgbClr val="FFFFFF"/>
                </a:solidFill>
                <a:latin typeface="Calibri"/>
              </a:rPr>
              <a:t>Either correct or destroyed — no partial credit</a:t>
            </a:r>
          </a:p>
          <a:p>
            <a:pPr algn="l">
              <a:spcAft>
                <a:spcPts val="600"/>
              </a:spcAft>
            </a:pPr>
            <a:r>
              <a:rPr sz="1400" b="1">
                <a:solidFill>
                  <a:srgbClr val="00B4D8"/>
                </a:solidFill>
                <a:latin typeface="Calibri"/>
              </a:rPr>
              <a:t>• </a:t>
            </a:r>
            <a:r>
              <a:rPr sz="1400" b="1">
                <a:solidFill>
                  <a:srgbClr val="E06C75"/>
                </a:solidFill>
                <a:latin typeface="Calibri"/>
              </a:rPr>
              <a:t>Captured: 74% NEA F1 vs Failed: 16%</a:t>
            </a:r>
          </a:p>
          <a:p>
            <a:pPr algn="l">
              <a:spcAft>
                <a:spcPts val="600"/>
              </a:spcAft>
            </a:pPr>
            <a:r>
              <a:rPr sz="1400" b="1">
                <a:solidFill>
                  <a:srgbClr val="00B4D8"/>
                </a:solidFill>
                <a:latin typeface="Calibri"/>
              </a:rPr>
              <a:t>• </a:t>
            </a:r>
            <a:r>
              <a:rPr sz="1400" b="0">
                <a:solidFill>
                  <a:srgbClr val="FFFFFF"/>
                </a:solidFill>
                <a:latin typeface="Calibri"/>
              </a:rPr>
              <a:t>58pp gap — largest differentiator of any signal</a:t>
            </a:r>
          </a:p>
          <a:p>
            <a:pPr algn="l">
              <a:spcAft>
                <a:spcPts val="600"/>
              </a:spcAft>
            </a:pPr>
            <a:r>
              <a:rPr sz="1400" b="1">
                <a:solidFill>
                  <a:srgbClr val="00B4D8"/>
                </a:solidFill>
                <a:latin typeface="Calibri"/>
              </a:rPr>
              <a:t>• </a:t>
            </a:r>
            <a:r>
              <a:rPr sz="1400" b="0">
                <a:solidFill>
                  <a:srgbClr val="FFFFFF"/>
                </a:solidFill>
                <a:latin typeface="Calibri"/>
              </a:rPr>
              <a:t>17.3% of IS variance (highest for 15%-weight signal)</a:t>
            </a:r>
          </a:p>
          <a:p>
            <a:pPr algn="l">
              <a:spcAft>
                <a:spcPts val="600"/>
              </a:spcAft>
            </a:pPr>
            <a:r>
              <a:rPr sz="1400" b="1">
                <a:solidFill>
                  <a:srgbClr val="00B4D8"/>
                </a:solidFill>
                <a:latin typeface="Calibri"/>
              </a:rPr>
              <a:t>• </a:t>
            </a:r>
            <a:r>
              <a:rPr sz="1400" b="0">
                <a:solidFill>
                  <a:srgbClr val="FFFFFF"/>
                </a:solidFill>
                <a:latin typeface="Calibri"/>
              </a:rPr>
              <a:t>A viewer can guess a missing "the" but not a missing name</a:t>
            </a:r>
          </a:p>
        </p:txBody>
      </p:sp>
      <p:pic>
        <p:nvPicPr>
          <p:cNvPr id="6" name="Picture 5" descr="14_nea_vs_wwer_scatter.png"/>
          <p:cNvPicPr>
            <a:picLocks noChangeAspect="1"/>
          </p:cNvPicPr>
          <p:nvPr/>
        </p:nvPicPr>
        <p:blipFill>
          <a:blip r:embed="rId2"/>
          <a:stretch>
            <a:fillRect/>
          </a:stretch>
        </p:blipFill>
        <p:spPr>
          <a:xfrm>
            <a:off x="4937760" y="1325880"/>
            <a:ext cx="6702552" cy="3964649"/>
          </a:xfrm>
          <a:prstGeom prst="rect">
            <a:avLst/>
          </a:prstGeom>
        </p:spPr>
      </p:pic>
      <p:pic>
        <p:nvPicPr>
          <p:cNvPr id="7" name="Picture 6" descr="BlackLogo300x300-W-BG.png"/>
          <p:cNvPicPr>
            <a:picLocks noChangeAspect="1"/>
          </p:cNvPicPr>
          <p:nvPr/>
        </p:nvPicPr>
        <p:blipFill>
          <a:blip r:embed="rId3"/>
          <a:stretch>
            <a:fillRect/>
          </a:stretch>
        </p:blipFill>
        <p:spPr>
          <a:xfrm>
            <a:off x="11323320" y="6428232"/>
            <a:ext cx="271117" cy="320040"/>
          </a:xfrm>
          <a:prstGeom prst="rect">
            <a:avLst/>
          </a:prstGeom>
        </p:spPr>
      </p:pic>
      <p:sp>
        <p:nvSpPr>
          <p:cNvPr id="8" name="TextBox 7"/>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22</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fill="hold">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10" fill="hold">
                      <p:stCondLst>
                        <p:cond delay="0"/>
                      </p:stCondLst>
                      <p:childTnLst>
                        <p:par>
                          <p:cTn id="11" fill="hold">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p:bld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Failure Mode Taxonomy: 5 Categories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256032"/>
          </a:xfrm>
          <a:prstGeom prst="rect">
            <a:avLst/>
          </a:prstGeom>
          <a:noFill/>
        </p:spPr>
        <p:txBody>
          <a:bodyPr wrap="square" anchor="t"/>
          <a:lstStyle/>
          <a:p>
            <a:pPr algn="l"/>
            <a:r>
              <a:rPr sz="1300" b="0" i="1">
                <a:solidFill>
                  <a:srgbClr val="AAAAAA"/>
                </a:solidFill>
                <a:latin typeface="Calibri"/>
              </a:rPr>
              <a:t>900 failed segments (IS &lt; 3.0) classified into 5 mutually exclusive categories — each segment gets exactly one label, checked 1→5.</a:t>
            </a:r>
          </a:p>
        </p:txBody>
      </p:sp>
      <p:sp>
        <p:nvSpPr>
          <p:cNvPr id="5" name="TextBox 4"/>
          <p:cNvSpPr txBox="1"/>
          <p:nvPr/>
        </p:nvSpPr>
        <p:spPr>
          <a:xfrm>
            <a:off x="548640" y="1581912"/>
            <a:ext cx="11091672" cy="201168"/>
          </a:xfrm>
          <a:prstGeom prst="rect">
            <a:avLst/>
          </a:prstGeom>
          <a:noFill/>
        </p:spPr>
        <p:txBody>
          <a:bodyPr wrap="square" anchor="t"/>
          <a:lstStyle/>
          <a:p>
            <a:pPr algn="l"/>
            <a:r>
              <a:rPr sz="1000" b="0" i="1">
                <a:solidFill>
                  <a:srgbClr val="666666"/>
                </a:solidFill>
                <a:latin typeface="Calibri"/>
              </a:rPr>
              <a:t>Grounded in ASR error taxonomy (Fosler-Lussier 2004) and LLM hallucination analysis (ACL 2025)</a:t>
            </a:r>
          </a:p>
        </p:txBody>
      </p:sp>
      <p:sp>
        <p:nvSpPr>
          <p:cNvPr id="6" name="Rounded Rectangle 5"/>
          <p:cNvSpPr/>
          <p:nvPr/>
        </p:nvSpPr>
        <p:spPr>
          <a:xfrm>
            <a:off x="548640" y="1828800"/>
            <a:ext cx="11091672" cy="804672"/>
          </a:xfrm>
          <a:prstGeom prst="roundRect">
            <a:avLst/>
          </a:prstGeom>
          <a:solidFill>
            <a:srgbClr val="152A40"/>
          </a:solidFill>
          <a:ln w="2540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74520"/>
            <a:ext cx="2926080" cy="274320"/>
          </a:xfrm>
          <a:prstGeom prst="rect">
            <a:avLst/>
          </a:prstGeom>
          <a:noFill/>
        </p:spPr>
        <p:txBody>
          <a:bodyPr wrap="square" anchor="t"/>
          <a:lstStyle/>
          <a:p>
            <a:pPr algn="l"/>
            <a:r>
              <a:rPr sz="1500" b="1" i="0">
                <a:solidFill>
                  <a:srgbClr val="AAAAAA"/>
                </a:solidFill>
                <a:latin typeface="Calibri"/>
              </a:rPr>
              <a:t>1. Signal Loss  (9.0%)</a:t>
            </a:r>
          </a:p>
        </p:txBody>
      </p:sp>
      <p:sp>
        <p:nvSpPr>
          <p:cNvPr id="8" name="TextBox 7"/>
          <p:cNvSpPr txBox="1"/>
          <p:nvPr/>
        </p:nvSpPr>
        <p:spPr>
          <a:xfrm>
            <a:off x="731520" y="2176272"/>
            <a:ext cx="2926080" cy="411480"/>
          </a:xfrm>
          <a:prstGeom prst="rect">
            <a:avLst/>
          </a:prstGeom>
          <a:noFill/>
        </p:spPr>
        <p:txBody>
          <a:bodyPr wrap="square" anchor="t"/>
          <a:lstStyle/>
          <a:p>
            <a:pPr algn="l"/>
            <a:r>
              <a:rPr sz="1100" b="0" i="0">
                <a:solidFill>
                  <a:srgbClr val="AAAAAA"/>
                </a:solidFill>
                <a:latin typeface="Calibri"/>
              </a:rPr>
              <a:t>Nothing came out  —  81 segments</a:t>
            </a:r>
          </a:p>
        </p:txBody>
      </p:sp>
      <p:sp>
        <p:nvSpPr>
          <p:cNvPr id="9" name="TextBox 8"/>
          <p:cNvSpPr txBox="1"/>
          <p:nvPr/>
        </p:nvSpPr>
        <p:spPr>
          <a:xfrm>
            <a:off x="3749040" y="1883664"/>
            <a:ext cx="7662672" cy="320040"/>
          </a:xfrm>
          <a:prstGeom prst="rect">
            <a:avLst/>
          </a:prstGeom>
          <a:noFill/>
        </p:spPr>
        <p:txBody>
          <a:bodyPr wrap="square" anchor="t"/>
          <a:lstStyle/>
          <a:p>
            <a:pPr algn="l"/>
            <a:r>
              <a:rPr sz="1200" b="0" i="0">
                <a:solidFill>
                  <a:srgbClr val="FFFFFF"/>
                </a:solidFill>
                <a:latin typeface="Calibri"/>
              </a:rPr>
              <a:t>Rule: Empty output OR length ratio &lt; 0.3</a:t>
            </a:r>
          </a:p>
        </p:txBody>
      </p:sp>
      <p:sp>
        <p:nvSpPr>
          <p:cNvPr id="10" name="TextBox 9"/>
          <p:cNvSpPr txBox="1"/>
          <p:nvPr/>
        </p:nvSpPr>
        <p:spPr>
          <a:xfrm>
            <a:off x="3749040" y="2240280"/>
            <a:ext cx="7662672" cy="320040"/>
          </a:xfrm>
          <a:prstGeom prst="rect">
            <a:avLst/>
          </a:prstGeom>
          <a:noFill/>
        </p:spPr>
        <p:txBody>
          <a:bodyPr wrap="square" anchor="t"/>
          <a:lstStyle/>
          <a:p>
            <a:pPr algn="l"/>
            <a:r>
              <a:rPr sz="1100" b="0" i="1">
                <a:solidFill>
                  <a:srgbClr val="AAAAAA"/>
                </a:solidFill>
                <a:latin typeface="Calibri"/>
              </a:rPr>
              <a:t>▸ Ref: “the thirteenth amendment” → Hyp: “”</a:t>
            </a:r>
          </a:p>
        </p:txBody>
      </p:sp>
      <p:sp>
        <p:nvSpPr>
          <p:cNvPr id="11" name="Rounded Rectangle 10"/>
          <p:cNvSpPr/>
          <p:nvPr/>
        </p:nvSpPr>
        <p:spPr>
          <a:xfrm>
            <a:off x="548640" y="2706624"/>
            <a:ext cx="11091672" cy="804672"/>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752344"/>
            <a:ext cx="2926080" cy="274320"/>
          </a:xfrm>
          <a:prstGeom prst="rect">
            <a:avLst/>
          </a:prstGeom>
          <a:noFill/>
        </p:spPr>
        <p:txBody>
          <a:bodyPr wrap="square" anchor="t"/>
          <a:lstStyle/>
          <a:p>
            <a:pPr algn="l"/>
            <a:r>
              <a:rPr sz="1500" b="1" i="0">
                <a:solidFill>
                  <a:srgbClr val="E06C75"/>
                </a:solidFill>
                <a:latin typeface="Calibri"/>
              </a:rPr>
              <a:t>2. Hallucination  (12.3%)</a:t>
            </a:r>
          </a:p>
        </p:txBody>
      </p:sp>
      <p:sp>
        <p:nvSpPr>
          <p:cNvPr id="13" name="TextBox 12"/>
          <p:cNvSpPr txBox="1"/>
          <p:nvPr/>
        </p:nvSpPr>
        <p:spPr>
          <a:xfrm>
            <a:off x="731520" y="3054096"/>
            <a:ext cx="2926080" cy="411480"/>
          </a:xfrm>
          <a:prstGeom prst="rect">
            <a:avLst/>
          </a:prstGeom>
          <a:noFill/>
        </p:spPr>
        <p:txBody>
          <a:bodyPr wrap="square" anchor="t"/>
          <a:lstStyle/>
          <a:p>
            <a:pPr algn="l"/>
            <a:r>
              <a:rPr sz="1100" b="0" i="0">
                <a:solidFill>
                  <a:srgbClr val="AAAAAA"/>
                </a:solidFill>
                <a:latin typeface="Calibri"/>
              </a:rPr>
              <a:t>Model invented fake text  —  111 segments</a:t>
            </a:r>
          </a:p>
        </p:txBody>
      </p:sp>
      <p:sp>
        <p:nvSpPr>
          <p:cNvPr id="14" name="TextBox 13"/>
          <p:cNvSpPr txBox="1"/>
          <p:nvPr/>
        </p:nvSpPr>
        <p:spPr>
          <a:xfrm>
            <a:off x="3749040" y="2761488"/>
            <a:ext cx="7662672" cy="320040"/>
          </a:xfrm>
          <a:prstGeom prst="rect">
            <a:avLst/>
          </a:prstGeom>
          <a:noFill/>
        </p:spPr>
        <p:txBody>
          <a:bodyPr wrap="square" anchor="t"/>
          <a:lstStyle/>
          <a:p>
            <a:pPr algn="l"/>
            <a:r>
              <a:rPr sz="1200" b="0" i="0">
                <a:solidFill>
                  <a:srgbClr val="FFFFFF"/>
                </a:solidFill>
                <a:latin typeface="Calibri"/>
              </a:rPr>
              <a:t>Rule: WER ≥ 100% (output longer than reference)</a:t>
            </a:r>
          </a:p>
        </p:txBody>
      </p:sp>
      <p:sp>
        <p:nvSpPr>
          <p:cNvPr id="15" name="TextBox 14"/>
          <p:cNvSpPr txBox="1"/>
          <p:nvPr/>
        </p:nvSpPr>
        <p:spPr>
          <a:xfrm>
            <a:off x="3749040" y="3118104"/>
            <a:ext cx="7662672" cy="320040"/>
          </a:xfrm>
          <a:prstGeom prst="rect">
            <a:avLst/>
          </a:prstGeom>
          <a:noFill/>
        </p:spPr>
        <p:txBody>
          <a:bodyPr wrap="square" anchor="t"/>
          <a:lstStyle/>
          <a:p>
            <a:pPr algn="l"/>
            <a:r>
              <a:rPr sz="1100" b="0" i="1">
                <a:solidFill>
                  <a:srgbClr val="AAAAAA"/>
                </a:solidFill>
                <a:latin typeface="Calibri"/>
              </a:rPr>
              <a:t>▸ Ref: “carry strap” → Hyp: “holocaust denier explanation of the final act”</a:t>
            </a:r>
          </a:p>
        </p:txBody>
      </p:sp>
      <p:sp>
        <p:nvSpPr>
          <p:cNvPr id="16" name="Rounded Rectangle 15"/>
          <p:cNvSpPr/>
          <p:nvPr/>
        </p:nvSpPr>
        <p:spPr>
          <a:xfrm>
            <a:off x="548640" y="3584448"/>
            <a:ext cx="11091672" cy="804672"/>
          </a:xfrm>
          <a:prstGeom prst="roundRect">
            <a:avLst/>
          </a:prstGeom>
          <a:solidFill>
            <a:srgbClr val="152A40"/>
          </a:solidFill>
          <a:ln w="25400">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630168"/>
            <a:ext cx="2926080" cy="274320"/>
          </a:xfrm>
          <a:prstGeom prst="rect">
            <a:avLst/>
          </a:prstGeom>
          <a:noFill/>
        </p:spPr>
        <p:txBody>
          <a:bodyPr wrap="square" anchor="t"/>
          <a:lstStyle/>
          <a:p>
            <a:pPr algn="l"/>
            <a:r>
              <a:rPr sz="1500" b="1" i="0">
                <a:solidFill>
                  <a:srgbClr val="FFD54F"/>
                </a:solidFill>
                <a:latin typeface="Calibri"/>
              </a:rPr>
              <a:t>3. Wrong Topic  (31.6%)</a:t>
            </a:r>
          </a:p>
        </p:txBody>
      </p:sp>
      <p:sp>
        <p:nvSpPr>
          <p:cNvPr id="18" name="TextBox 17"/>
          <p:cNvSpPr txBox="1"/>
          <p:nvPr/>
        </p:nvSpPr>
        <p:spPr>
          <a:xfrm>
            <a:off x="731520" y="3931920"/>
            <a:ext cx="2926080" cy="411480"/>
          </a:xfrm>
          <a:prstGeom prst="rect">
            <a:avLst/>
          </a:prstGeom>
          <a:noFill/>
        </p:spPr>
        <p:txBody>
          <a:bodyPr wrap="square" anchor="t"/>
          <a:lstStyle/>
          <a:p>
            <a:pPr algn="l"/>
            <a:r>
              <a:rPr sz="1100" b="0" i="0">
                <a:solidFill>
                  <a:srgbClr val="AAAAAA"/>
                </a:solidFill>
                <a:latin typeface="Calibri"/>
              </a:rPr>
              <a:t>Mouth shapes decoded to wrong domain  —  284 segments</a:t>
            </a:r>
          </a:p>
        </p:txBody>
      </p:sp>
      <p:sp>
        <p:nvSpPr>
          <p:cNvPr id="19" name="TextBox 18"/>
          <p:cNvSpPr txBox="1"/>
          <p:nvPr/>
        </p:nvSpPr>
        <p:spPr>
          <a:xfrm>
            <a:off x="3749040" y="3639312"/>
            <a:ext cx="7662672" cy="320040"/>
          </a:xfrm>
          <a:prstGeom prst="rect">
            <a:avLst/>
          </a:prstGeom>
          <a:noFill/>
        </p:spPr>
        <p:txBody>
          <a:bodyPr wrap="square" anchor="t"/>
          <a:lstStyle/>
          <a:p>
            <a:pPr algn="l"/>
            <a:r>
              <a:rPr sz="1200" b="0" i="0">
                <a:solidFill>
                  <a:srgbClr val="FFFFFF"/>
                </a:solidFill>
                <a:latin typeface="Calibri"/>
              </a:rPr>
              <a:t>Rule: Semantic &lt; 0.2 (phonetic-matched or not)</a:t>
            </a:r>
          </a:p>
        </p:txBody>
      </p:sp>
      <p:sp>
        <p:nvSpPr>
          <p:cNvPr id="20" name="TextBox 19"/>
          <p:cNvSpPr txBox="1"/>
          <p:nvPr/>
        </p:nvSpPr>
        <p:spPr>
          <a:xfrm>
            <a:off x="3749040" y="3995928"/>
            <a:ext cx="7662672" cy="320040"/>
          </a:xfrm>
          <a:prstGeom prst="rect">
            <a:avLst/>
          </a:prstGeom>
          <a:noFill/>
        </p:spPr>
        <p:txBody>
          <a:bodyPr wrap="square" anchor="t"/>
          <a:lstStyle/>
          <a:p>
            <a:pPr algn="l"/>
            <a:r>
              <a:rPr sz="1100" b="0" i="1">
                <a:solidFill>
                  <a:srgbClr val="AAAAAA"/>
                </a:solidFill>
                <a:latin typeface="Calibri"/>
              </a:rPr>
              <a:t>▸ Ref: “weight loss and diet” → Hyp: “wanted to be a princess”</a:t>
            </a:r>
          </a:p>
        </p:txBody>
      </p:sp>
      <p:sp>
        <p:nvSpPr>
          <p:cNvPr id="21" name="Rounded Rectangle 20"/>
          <p:cNvSpPr/>
          <p:nvPr/>
        </p:nvSpPr>
        <p:spPr>
          <a:xfrm>
            <a:off x="548640" y="4462272"/>
            <a:ext cx="11091672" cy="804672"/>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507992"/>
            <a:ext cx="2926080" cy="274320"/>
          </a:xfrm>
          <a:prstGeom prst="rect">
            <a:avLst/>
          </a:prstGeom>
          <a:noFill/>
        </p:spPr>
        <p:txBody>
          <a:bodyPr wrap="square" anchor="t"/>
          <a:lstStyle/>
          <a:p>
            <a:pPr algn="l"/>
            <a:r>
              <a:rPr sz="1500" b="1" i="0">
                <a:solidFill>
                  <a:srgbClr val="00B4D8"/>
                </a:solidFill>
                <a:latin typeface="Calibri"/>
              </a:rPr>
              <a:t>4. Right Topic, Wrong Details  (22.7%)</a:t>
            </a:r>
          </a:p>
        </p:txBody>
      </p:sp>
      <p:sp>
        <p:nvSpPr>
          <p:cNvPr id="23" name="TextBox 22"/>
          <p:cNvSpPr txBox="1"/>
          <p:nvPr/>
        </p:nvSpPr>
        <p:spPr>
          <a:xfrm>
            <a:off x="731520" y="4809744"/>
            <a:ext cx="2926080" cy="411480"/>
          </a:xfrm>
          <a:prstGeom prst="rect">
            <a:avLst/>
          </a:prstGeom>
          <a:noFill/>
        </p:spPr>
        <p:txBody>
          <a:bodyPr wrap="square" anchor="t"/>
          <a:lstStyle/>
          <a:p>
            <a:pPr algn="l"/>
            <a:r>
              <a:rPr sz="1100" b="0" i="0">
                <a:solidFill>
                  <a:srgbClr val="AAAAAA"/>
                </a:solidFill>
                <a:latin typeface="Calibri"/>
              </a:rPr>
              <a:t>Roughly right but names/content words lost  —  204 segments</a:t>
            </a:r>
          </a:p>
        </p:txBody>
      </p:sp>
      <p:sp>
        <p:nvSpPr>
          <p:cNvPr id="24" name="TextBox 23"/>
          <p:cNvSpPr txBox="1"/>
          <p:nvPr/>
        </p:nvSpPr>
        <p:spPr>
          <a:xfrm>
            <a:off x="3749040" y="4517136"/>
            <a:ext cx="7662672" cy="320040"/>
          </a:xfrm>
          <a:prstGeom prst="rect">
            <a:avLst/>
          </a:prstGeom>
          <a:noFill/>
        </p:spPr>
        <p:txBody>
          <a:bodyPr wrap="square" anchor="t"/>
          <a:lstStyle/>
          <a:p>
            <a:pPr algn="l"/>
            <a:r>
              <a:rPr sz="1200" b="0" i="0">
                <a:solidFill>
                  <a:srgbClr val="FFFFFF"/>
                </a:solidFill>
                <a:latin typeface="Calibri"/>
              </a:rPr>
              <a:t>Rule: NEA F1 &lt; 20% OR key content words substituted (Semantic ≥ 0.2)</a:t>
            </a:r>
          </a:p>
        </p:txBody>
      </p:sp>
      <p:sp>
        <p:nvSpPr>
          <p:cNvPr id="25" name="TextBox 24"/>
          <p:cNvSpPr txBox="1"/>
          <p:nvPr/>
        </p:nvSpPr>
        <p:spPr>
          <a:xfrm>
            <a:off x="3749040" y="4873752"/>
            <a:ext cx="7662672" cy="320040"/>
          </a:xfrm>
          <a:prstGeom prst="rect">
            <a:avLst/>
          </a:prstGeom>
          <a:noFill/>
        </p:spPr>
        <p:txBody>
          <a:bodyPr wrap="square" anchor="t"/>
          <a:lstStyle/>
          <a:p>
            <a:pPr algn="l"/>
            <a:r>
              <a:rPr sz="1100" b="0" i="1">
                <a:solidFill>
                  <a:srgbClr val="AAAAAA"/>
                </a:solidFill>
                <a:latin typeface="Calibri"/>
              </a:rPr>
              <a:t>▸ Ref: “13th amendment is going” → Hyp: “13th may mean something to him”</a:t>
            </a:r>
          </a:p>
        </p:txBody>
      </p:sp>
      <p:sp>
        <p:nvSpPr>
          <p:cNvPr id="26" name="Rounded Rectangle 25"/>
          <p:cNvSpPr/>
          <p:nvPr/>
        </p:nvSpPr>
        <p:spPr>
          <a:xfrm>
            <a:off x="548640" y="5340096"/>
            <a:ext cx="11091672" cy="804672"/>
          </a:xfrm>
          <a:prstGeom prst="roundRect">
            <a:avLst/>
          </a:prstGeom>
          <a:solidFill>
            <a:srgbClr val="152A40"/>
          </a:solidFill>
          <a:ln w="2540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5385816"/>
            <a:ext cx="2926080" cy="274320"/>
          </a:xfrm>
          <a:prstGeom prst="rect">
            <a:avLst/>
          </a:prstGeom>
          <a:noFill/>
        </p:spPr>
        <p:txBody>
          <a:bodyPr wrap="square" anchor="t"/>
          <a:lstStyle/>
          <a:p>
            <a:pPr algn="l"/>
            <a:r>
              <a:rPr sz="1500" b="1" i="0">
                <a:solidFill>
                  <a:srgbClr val="AAAAAA"/>
                </a:solidFill>
                <a:latin typeface="Calibri"/>
              </a:rPr>
              <a:t>5. Accumulated Errors  (24.4%)</a:t>
            </a:r>
          </a:p>
        </p:txBody>
      </p:sp>
      <p:sp>
        <p:nvSpPr>
          <p:cNvPr id="28" name="TextBox 27"/>
          <p:cNvSpPr txBox="1"/>
          <p:nvPr/>
        </p:nvSpPr>
        <p:spPr>
          <a:xfrm>
            <a:off x="731520" y="5687568"/>
            <a:ext cx="2926080" cy="411480"/>
          </a:xfrm>
          <a:prstGeom prst="rect">
            <a:avLst/>
          </a:prstGeom>
          <a:noFill/>
        </p:spPr>
        <p:txBody>
          <a:bodyPr wrap="square" anchor="t"/>
          <a:lstStyle/>
          <a:p>
            <a:pPr algn="l"/>
            <a:r>
              <a:rPr sz="1100" b="0" i="0">
                <a:solidFill>
                  <a:srgbClr val="AAAAAA"/>
                </a:solidFill>
                <a:latin typeface="Calibri"/>
              </a:rPr>
              <a:t>Many small errors compound  —  220 segments</a:t>
            </a:r>
          </a:p>
        </p:txBody>
      </p:sp>
      <p:sp>
        <p:nvSpPr>
          <p:cNvPr id="29" name="TextBox 28"/>
          <p:cNvSpPr txBox="1"/>
          <p:nvPr/>
        </p:nvSpPr>
        <p:spPr>
          <a:xfrm>
            <a:off x="3749040" y="5394960"/>
            <a:ext cx="7662672" cy="320040"/>
          </a:xfrm>
          <a:prstGeom prst="rect">
            <a:avLst/>
          </a:prstGeom>
          <a:noFill/>
        </p:spPr>
        <p:txBody>
          <a:bodyPr wrap="square" anchor="t"/>
          <a:lstStyle/>
          <a:p>
            <a:pPr algn="l"/>
            <a:r>
              <a:rPr sz="1200" b="0" i="0">
                <a:solidFill>
                  <a:srgbClr val="FFFFFF"/>
                </a:solidFill>
                <a:latin typeface="Calibri"/>
              </a:rPr>
              <a:t>Rule: IS &lt; 3.0 and doesn’t match categories 1–4</a:t>
            </a:r>
          </a:p>
        </p:txBody>
      </p:sp>
      <p:sp>
        <p:nvSpPr>
          <p:cNvPr id="30" name="TextBox 29"/>
          <p:cNvSpPr txBox="1"/>
          <p:nvPr/>
        </p:nvSpPr>
        <p:spPr>
          <a:xfrm>
            <a:off x="3749040" y="5751576"/>
            <a:ext cx="7662672" cy="320040"/>
          </a:xfrm>
          <a:prstGeom prst="rect">
            <a:avLst/>
          </a:prstGeom>
          <a:noFill/>
        </p:spPr>
        <p:txBody>
          <a:bodyPr wrap="square" anchor="t"/>
          <a:lstStyle/>
          <a:p>
            <a:pPr algn="l"/>
            <a:r>
              <a:rPr sz="1100" b="0" i="1">
                <a:solidFill>
                  <a:srgbClr val="AAAAAA"/>
                </a:solidFill>
                <a:latin typeface="Calibri"/>
              </a:rPr>
              <a:t>▸ Many words slightly wrong throughout, meaning erodes</a:t>
            </a:r>
          </a:p>
        </p:txBody>
      </p:sp>
      <p:sp>
        <p:nvSpPr>
          <p:cNvPr id="31" name="TextBox 30"/>
          <p:cNvSpPr txBox="1"/>
          <p:nvPr/>
        </p:nvSpPr>
        <p:spPr>
          <a:xfrm>
            <a:off x="548640" y="5989320"/>
            <a:ext cx="11091672" cy="320040"/>
          </a:xfrm>
          <a:prstGeom prst="rect">
            <a:avLst/>
          </a:prstGeom>
          <a:noFill/>
        </p:spPr>
        <p:txBody>
          <a:bodyPr wrap="square" anchor="t"/>
          <a:lstStyle/>
          <a:p>
            <a:pPr algn="ctr"/>
            <a:r>
              <a:rPr sz="1100" b="0" i="1">
                <a:solidFill>
                  <a:srgbClr val="AAAAAA"/>
                </a:solidFill>
                <a:latin typeface="Calibri"/>
              </a:rPr>
              <a:t>Priority: Signal Loss → Hallucination → Wrong Topic → Right Topic Wrong Details → Accumulated Errors</a:t>
            </a:r>
          </a:p>
        </p:txBody>
      </p:sp>
      <p:pic>
        <p:nvPicPr>
          <p:cNvPr id="32" name="Picture 31"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33" name="TextBox 32"/>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23</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00"/>
                                  <p:tgtEl>
                                    <p:spTgt spid="6"/>
                                  </p:tgtEl>
                                </p:cBhvr>
                              </p:animEffect>
                            </p:childTnLst>
                          </p:cTn>
                        </p:par>
                      </p:childTnLst>
                    </p:cTn>
                  </p:par>
                  <p:par>
                    <p:cTn id="7" fill="hold">
                      <p:stCondLst>
                        <p:cond delay="0"/>
                      </p:stCondLst>
                      <p:childTnLst>
                        <p:par>
                          <p:cTn id="8" fill="hold">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par>
                    <p:cTn id="11" fill="hold">
                      <p:stCondLst>
                        <p:cond delay="0"/>
                      </p:stCondLst>
                      <p:childTnLst>
                        <p:par>
                          <p:cTn id="12" fill="hold">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500"/>
                                  <p:tgtEl>
                                    <p:spTgt spid="16"/>
                                  </p:tgtEl>
                                </p:cBhvr>
                              </p:animEffect>
                            </p:childTnLst>
                          </p:cTn>
                        </p:par>
                      </p:childTnLst>
                    </p:cTn>
                  </p:par>
                  <p:par>
                    <p:cTn id="15" fill="hold">
                      <p:stCondLst>
                        <p:cond delay="0"/>
                      </p:stCondLst>
                      <p:childTnLst>
                        <p:par>
                          <p:cTn id="16" fill="hold">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childTnLst>
                    </p:cTn>
                  </p:par>
                  <p:par>
                    <p:cTn id="19" fill="hold">
                      <p:stCondLst>
                        <p:cond delay="0"/>
                      </p:stCondLst>
                      <p:childTnLst>
                        <p:par>
                          <p:cTn id="20" fill="hold">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11" grpId="1"/>
      <p:bldP spid="16" grpId="2"/>
      <p:bldP spid="21" grpId="3"/>
      <p:bldP spid="26" grpId="4"/>
    </p:bld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Failure Modes: Real Examples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37032" y="1371600"/>
            <a:ext cx="3474720" cy="448056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4192" y="1463040"/>
            <a:ext cx="3200400" cy="320040"/>
          </a:xfrm>
          <a:prstGeom prst="rect">
            <a:avLst/>
          </a:prstGeom>
          <a:noFill/>
        </p:spPr>
        <p:txBody>
          <a:bodyPr wrap="square" anchor="t"/>
          <a:lstStyle/>
          <a:p>
            <a:pPr algn="ctr"/>
            <a:r>
              <a:rPr sz="1400" b="1" i="0">
                <a:solidFill>
                  <a:srgbClr val="E06C75"/>
                </a:solidFill>
                <a:latin typeface="Calibri"/>
              </a:rPr>
              <a:t>Hallucination  (12.3%)</a:t>
            </a:r>
          </a:p>
        </p:txBody>
      </p:sp>
      <p:sp>
        <p:nvSpPr>
          <p:cNvPr id="6" name="TextBox 5"/>
          <p:cNvSpPr txBox="1"/>
          <p:nvPr/>
        </p:nvSpPr>
        <p:spPr>
          <a:xfrm>
            <a:off x="774192" y="1828800"/>
            <a:ext cx="3200400" cy="201168"/>
          </a:xfrm>
          <a:prstGeom prst="rect">
            <a:avLst/>
          </a:prstGeom>
          <a:noFill/>
        </p:spPr>
        <p:txBody>
          <a:bodyPr wrap="square" anchor="t"/>
          <a:lstStyle/>
          <a:p>
            <a:pPr algn="l"/>
            <a:r>
              <a:rPr sz="900" b="1" i="0">
                <a:solidFill>
                  <a:srgbClr val="AAAAAA"/>
                </a:solidFill>
                <a:latin typeface="Calibri"/>
              </a:rPr>
              <a:t>Reference:</a:t>
            </a:r>
          </a:p>
        </p:txBody>
      </p:sp>
      <p:sp>
        <p:nvSpPr>
          <p:cNvPr id="7" name="TextBox 6"/>
          <p:cNvSpPr txBox="1"/>
          <p:nvPr/>
        </p:nvSpPr>
        <p:spPr>
          <a:xfrm>
            <a:off x="774192" y="2011680"/>
            <a:ext cx="3200400" cy="548640"/>
          </a:xfrm>
          <a:prstGeom prst="rect">
            <a:avLst/>
          </a:prstGeom>
          <a:noFill/>
        </p:spPr>
        <p:txBody>
          <a:bodyPr wrap="square" anchor="t"/>
          <a:lstStyle/>
          <a:p>
            <a:pPr algn="l"/>
            <a:r>
              <a:rPr sz="1000" b="0" i="1">
                <a:solidFill>
                  <a:srgbClr val="FFFFFF"/>
                </a:solidFill>
                <a:latin typeface="Calibri"/>
              </a:rPr>
              <a:t>“carry strap”</a:t>
            </a:r>
          </a:p>
        </p:txBody>
      </p:sp>
      <p:sp>
        <p:nvSpPr>
          <p:cNvPr id="8" name="TextBox 7"/>
          <p:cNvSpPr txBox="1"/>
          <p:nvPr/>
        </p:nvSpPr>
        <p:spPr>
          <a:xfrm>
            <a:off x="774192" y="2606040"/>
            <a:ext cx="3200400" cy="201168"/>
          </a:xfrm>
          <a:prstGeom prst="rect">
            <a:avLst/>
          </a:prstGeom>
          <a:noFill/>
        </p:spPr>
        <p:txBody>
          <a:bodyPr wrap="square" anchor="t"/>
          <a:lstStyle/>
          <a:p>
            <a:pPr algn="l"/>
            <a:r>
              <a:rPr sz="900" b="1" i="0">
                <a:solidFill>
                  <a:srgbClr val="AAAAAA"/>
                </a:solidFill>
                <a:latin typeface="Calibri"/>
              </a:rPr>
              <a:t>Prediction:</a:t>
            </a:r>
          </a:p>
        </p:txBody>
      </p:sp>
      <p:sp>
        <p:nvSpPr>
          <p:cNvPr id="9" name="TextBox 8"/>
          <p:cNvSpPr txBox="1"/>
          <p:nvPr/>
        </p:nvSpPr>
        <p:spPr>
          <a:xfrm>
            <a:off x="774192" y="2788920"/>
            <a:ext cx="3200400" cy="548640"/>
          </a:xfrm>
          <a:prstGeom prst="rect">
            <a:avLst/>
          </a:prstGeom>
          <a:noFill/>
        </p:spPr>
        <p:txBody>
          <a:bodyPr wrap="square" anchor="t"/>
          <a:lstStyle/>
          <a:p>
            <a:pPr algn="l"/>
            <a:r>
              <a:rPr sz="1000" b="0" i="1">
                <a:solidFill>
                  <a:srgbClr val="E06C75"/>
                </a:solidFill>
                <a:latin typeface="Calibri"/>
              </a:rPr>
              <a:t>“holocaust denier explanation</a:t>
            </a:r>
            <a:br/>
            <a:r>
              <a:rPr sz="1000" b="0" i="1">
                <a:solidFill>
                  <a:srgbClr val="E06C75"/>
                </a:solidFill>
                <a:latin typeface="Calibri"/>
              </a:rPr>
              <a:t>of the final act”</a:t>
            </a:r>
          </a:p>
        </p:txBody>
      </p:sp>
      <p:sp>
        <p:nvSpPr>
          <p:cNvPr id="10" name="TextBox 9"/>
          <p:cNvSpPr txBox="1"/>
          <p:nvPr/>
        </p:nvSpPr>
        <p:spPr>
          <a:xfrm>
            <a:off x="774192" y="3429000"/>
            <a:ext cx="3200400" cy="274320"/>
          </a:xfrm>
          <a:prstGeom prst="rect">
            <a:avLst/>
          </a:prstGeom>
          <a:noFill/>
        </p:spPr>
        <p:txBody>
          <a:bodyPr wrap="square" anchor="t"/>
          <a:lstStyle/>
          <a:p>
            <a:pPr algn="ctr"/>
            <a:r>
              <a:rPr sz="1100" b="1" i="0">
                <a:solidFill>
                  <a:srgbClr val="FFFFFF"/>
                </a:solidFill>
                <a:latin typeface="Calibri"/>
              </a:rPr>
              <a:t>WER 100%  |  IS 0.1</a:t>
            </a:r>
          </a:p>
        </p:txBody>
      </p:sp>
      <p:sp>
        <p:nvSpPr>
          <p:cNvPr id="11" name="TextBox 10"/>
          <p:cNvSpPr txBox="1"/>
          <p:nvPr/>
        </p:nvSpPr>
        <p:spPr>
          <a:xfrm>
            <a:off x="774192" y="3840480"/>
            <a:ext cx="3200400" cy="201168"/>
          </a:xfrm>
          <a:prstGeom prst="rect">
            <a:avLst/>
          </a:prstGeom>
          <a:noFill/>
        </p:spPr>
        <p:txBody>
          <a:bodyPr wrap="square" anchor="t"/>
          <a:lstStyle/>
          <a:p>
            <a:pPr algn="l"/>
            <a:r>
              <a:rPr sz="900" b="1" i="0">
                <a:solidFill>
                  <a:srgbClr val="00B4D8"/>
                </a:solidFill>
                <a:latin typeface="Calibri"/>
              </a:rPr>
              <a:t>Why this category?</a:t>
            </a:r>
          </a:p>
        </p:txBody>
      </p:sp>
      <p:sp>
        <p:nvSpPr>
          <p:cNvPr id="12" name="TextBox 11"/>
          <p:cNvSpPr txBox="1"/>
          <p:nvPr/>
        </p:nvSpPr>
        <p:spPr>
          <a:xfrm>
            <a:off x="774192" y="4023360"/>
            <a:ext cx="3200400" cy="1645920"/>
          </a:xfrm>
          <a:prstGeom prst="rect">
            <a:avLst/>
          </a:prstGeom>
          <a:noFill/>
        </p:spPr>
        <p:txBody>
          <a:bodyPr wrap="square" anchor="t"/>
          <a:lstStyle/>
          <a:p>
            <a:pPr algn="l"/>
            <a:r>
              <a:rPr sz="1000" b="0" i="0">
                <a:solidFill>
                  <a:srgbClr val="AAAAAA"/>
                </a:solidFill>
                <a:latin typeface="Calibri"/>
              </a:rPr>
              <a:t>The model generated 8 words from</a:t>
            </a:r>
            <a:br/>
            <a:r>
              <a:rPr sz="1000" b="0" i="0">
                <a:solidFill>
                  <a:srgbClr val="AAAAAA"/>
                </a:solidFill>
                <a:latin typeface="Calibri"/>
              </a:rPr>
              <a:t>a 2-word input. The LLM’s language</a:t>
            </a:r>
            <a:br/>
            <a:r>
              <a:rPr sz="1000" b="0" i="0">
                <a:solidFill>
                  <a:srgbClr val="AAAAAA"/>
                </a:solidFill>
                <a:latin typeface="Calibri"/>
              </a:rPr>
              <a:t>model ‘ran away’ — output is fluent</a:t>
            </a:r>
            <a:br/>
            <a:r>
              <a:rPr sz="1000" b="0" i="0">
                <a:solidFill>
                  <a:srgbClr val="AAAAAA"/>
                </a:solidFill>
                <a:latin typeface="Calibri"/>
              </a:rPr>
              <a:t>English but completely fabricated.</a:t>
            </a:r>
            <a:br/>
            <a:r>
              <a:rPr sz="1000" b="0" i="0">
                <a:solidFill>
                  <a:srgbClr val="AAAAAA"/>
                </a:solidFill>
                <a:latin typeface="Calibri"/>
              </a:rPr>
              <a:t>Distinguishing feature: output is</a:t>
            </a:r>
            <a:br/>
            <a:r>
              <a:rPr sz="1000" b="0" i="0">
                <a:solidFill>
                  <a:srgbClr val="AAAAAA"/>
                </a:solidFill>
                <a:latin typeface="Calibri"/>
              </a:rPr>
              <a:t>LONGER than reference (WER ≥ 100%).</a:t>
            </a:r>
          </a:p>
        </p:txBody>
      </p:sp>
      <p:sp>
        <p:nvSpPr>
          <p:cNvPr id="13" name="Rounded Rectangle 12"/>
          <p:cNvSpPr/>
          <p:nvPr/>
        </p:nvSpPr>
        <p:spPr>
          <a:xfrm>
            <a:off x="4358640" y="1371600"/>
            <a:ext cx="3474720" cy="4480560"/>
          </a:xfrm>
          <a:prstGeom prst="roundRect">
            <a:avLst/>
          </a:prstGeom>
          <a:solidFill>
            <a:srgbClr val="152A40"/>
          </a:solidFill>
          <a:ln w="25400">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5800" y="1463040"/>
            <a:ext cx="3200400" cy="320040"/>
          </a:xfrm>
          <a:prstGeom prst="rect">
            <a:avLst/>
          </a:prstGeom>
          <a:noFill/>
        </p:spPr>
        <p:txBody>
          <a:bodyPr wrap="square" anchor="t"/>
          <a:lstStyle/>
          <a:p>
            <a:pPr algn="ctr"/>
            <a:r>
              <a:rPr sz="1400" b="1" i="0">
                <a:solidFill>
                  <a:srgbClr val="FFD54F"/>
                </a:solidFill>
                <a:latin typeface="Calibri"/>
              </a:rPr>
              <a:t>Wrong Topic  (31.6%)</a:t>
            </a:r>
          </a:p>
        </p:txBody>
      </p:sp>
      <p:sp>
        <p:nvSpPr>
          <p:cNvPr id="15" name="TextBox 14"/>
          <p:cNvSpPr txBox="1"/>
          <p:nvPr/>
        </p:nvSpPr>
        <p:spPr>
          <a:xfrm>
            <a:off x="4495800" y="1828800"/>
            <a:ext cx="3200400" cy="201168"/>
          </a:xfrm>
          <a:prstGeom prst="rect">
            <a:avLst/>
          </a:prstGeom>
          <a:noFill/>
        </p:spPr>
        <p:txBody>
          <a:bodyPr wrap="square" anchor="t"/>
          <a:lstStyle/>
          <a:p>
            <a:pPr algn="l"/>
            <a:r>
              <a:rPr sz="900" b="1" i="0">
                <a:solidFill>
                  <a:srgbClr val="AAAAAA"/>
                </a:solidFill>
                <a:latin typeface="Calibri"/>
              </a:rPr>
              <a:t>Reference:</a:t>
            </a:r>
          </a:p>
        </p:txBody>
      </p:sp>
      <p:sp>
        <p:nvSpPr>
          <p:cNvPr id="16" name="TextBox 15"/>
          <p:cNvSpPr txBox="1"/>
          <p:nvPr/>
        </p:nvSpPr>
        <p:spPr>
          <a:xfrm>
            <a:off x="4495800" y="2011680"/>
            <a:ext cx="3200400" cy="548640"/>
          </a:xfrm>
          <a:prstGeom prst="rect">
            <a:avLst/>
          </a:prstGeom>
          <a:noFill/>
        </p:spPr>
        <p:txBody>
          <a:bodyPr wrap="square" anchor="t"/>
          <a:lstStyle/>
          <a:p>
            <a:pPr algn="l"/>
            <a:r>
              <a:rPr sz="1000" b="0" i="1">
                <a:solidFill>
                  <a:srgbClr val="FFFFFF"/>
                </a:solidFill>
                <a:latin typeface="Calibri"/>
              </a:rPr>
              <a:t>“i’ve made lots of videos</a:t>
            </a:r>
            <a:br/>
            <a:r>
              <a:rPr sz="1000" b="0" i="1">
                <a:solidFill>
                  <a:srgbClr val="FFFFFF"/>
                </a:solidFill>
                <a:latin typeface="Calibri"/>
              </a:rPr>
              <a:t>about weight loss and diet”</a:t>
            </a:r>
          </a:p>
        </p:txBody>
      </p:sp>
      <p:sp>
        <p:nvSpPr>
          <p:cNvPr id="17" name="TextBox 16"/>
          <p:cNvSpPr txBox="1"/>
          <p:nvPr/>
        </p:nvSpPr>
        <p:spPr>
          <a:xfrm>
            <a:off x="4495800" y="2606040"/>
            <a:ext cx="3200400" cy="201168"/>
          </a:xfrm>
          <a:prstGeom prst="rect">
            <a:avLst/>
          </a:prstGeom>
          <a:noFill/>
        </p:spPr>
        <p:txBody>
          <a:bodyPr wrap="square" anchor="t"/>
          <a:lstStyle/>
          <a:p>
            <a:pPr algn="l"/>
            <a:r>
              <a:rPr sz="900" b="1" i="0">
                <a:solidFill>
                  <a:srgbClr val="AAAAAA"/>
                </a:solidFill>
                <a:latin typeface="Calibri"/>
              </a:rPr>
              <a:t>Prediction:</a:t>
            </a:r>
          </a:p>
        </p:txBody>
      </p:sp>
      <p:sp>
        <p:nvSpPr>
          <p:cNvPr id="18" name="TextBox 17"/>
          <p:cNvSpPr txBox="1"/>
          <p:nvPr/>
        </p:nvSpPr>
        <p:spPr>
          <a:xfrm>
            <a:off x="4495800" y="2788920"/>
            <a:ext cx="3200400" cy="548640"/>
          </a:xfrm>
          <a:prstGeom prst="rect">
            <a:avLst/>
          </a:prstGeom>
          <a:noFill/>
        </p:spPr>
        <p:txBody>
          <a:bodyPr wrap="square" anchor="t"/>
          <a:lstStyle/>
          <a:p>
            <a:pPr algn="l"/>
            <a:r>
              <a:rPr sz="1000" b="0" i="1">
                <a:solidFill>
                  <a:srgbClr val="FFD54F"/>
                </a:solidFill>
                <a:latin typeface="Calibri"/>
              </a:rPr>
              <a:t>“when i was a little girl i</a:t>
            </a:r>
            <a:br/>
            <a:r>
              <a:rPr sz="1000" b="0" i="1">
                <a:solidFill>
                  <a:srgbClr val="FFD54F"/>
                </a:solidFill>
                <a:latin typeface="Calibri"/>
              </a:rPr>
              <a:t>always wanted to be a princess”</a:t>
            </a:r>
          </a:p>
        </p:txBody>
      </p:sp>
      <p:sp>
        <p:nvSpPr>
          <p:cNvPr id="19" name="TextBox 18"/>
          <p:cNvSpPr txBox="1"/>
          <p:nvPr/>
        </p:nvSpPr>
        <p:spPr>
          <a:xfrm>
            <a:off x="4495800" y="3429000"/>
            <a:ext cx="3200400" cy="274320"/>
          </a:xfrm>
          <a:prstGeom prst="rect">
            <a:avLst/>
          </a:prstGeom>
          <a:noFill/>
        </p:spPr>
        <p:txBody>
          <a:bodyPr wrap="square" anchor="t"/>
          <a:lstStyle/>
          <a:p>
            <a:pPr algn="ctr"/>
            <a:r>
              <a:rPr sz="1100" b="1" i="0">
                <a:solidFill>
                  <a:srgbClr val="FFFFFF"/>
                </a:solidFill>
                <a:latin typeface="Calibri"/>
              </a:rPr>
              <a:t>WER 97%  |  IS 0.38</a:t>
            </a:r>
          </a:p>
        </p:txBody>
      </p:sp>
      <p:sp>
        <p:nvSpPr>
          <p:cNvPr id="20" name="TextBox 19"/>
          <p:cNvSpPr txBox="1"/>
          <p:nvPr/>
        </p:nvSpPr>
        <p:spPr>
          <a:xfrm>
            <a:off x="4495800" y="3840480"/>
            <a:ext cx="3200400" cy="201168"/>
          </a:xfrm>
          <a:prstGeom prst="rect">
            <a:avLst/>
          </a:prstGeom>
          <a:noFill/>
        </p:spPr>
        <p:txBody>
          <a:bodyPr wrap="square" anchor="t"/>
          <a:lstStyle/>
          <a:p>
            <a:pPr algn="l"/>
            <a:r>
              <a:rPr sz="900" b="1" i="0">
                <a:solidFill>
                  <a:srgbClr val="00B4D8"/>
                </a:solidFill>
                <a:latin typeface="Calibri"/>
              </a:rPr>
              <a:t>Why this category?</a:t>
            </a:r>
          </a:p>
        </p:txBody>
      </p:sp>
      <p:sp>
        <p:nvSpPr>
          <p:cNvPr id="21" name="TextBox 20"/>
          <p:cNvSpPr txBox="1"/>
          <p:nvPr/>
        </p:nvSpPr>
        <p:spPr>
          <a:xfrm>
            <a:off x="4495800" y="4023360"/>
            <a:ext cx="3200400" cy="1645920"/>
          </a:xfrm>
          <a:prstGeom prst="rect">
            <a:avLst/>
          </a:prstGeom>
          <a:noFill/>
        </p:spPr>
        <p:txBody>
          <a:bodyPr wrap="square" anchor="t"/>
          <a:lstStyle/>
          <a:p>
            <a:pPr algn="l"/>
            <a:r>
              <a:rPr sz="1000" b="0" i="0">
                <a:solidFill>
                  <a:srgbClr val="AAAAAA"/>
                </a:solidFill>
                <a:latin typeface="Calibri"/>
              </a:rPr>
              <a:t>Output is similar LENGTH to</a:t>
            </a:r>
            <a:br/>
            <a:r>
              <a:rPr sz="1000" b="0" i="0">
                <a:solidFill>
                  <a:srgbClr val="AAAAAA"/>
                </a:solidFill>
                <a:latin typeface="Calibri"/>
              </a:rPr>
              <a:t>reference (not hallucination) but</a:t>
            </a:r>
            <a:br/>
            <a:r>
              <a:rPr sz="1000" b="0" i="0">
                <a:solidFill>
                  <a:srgbClr val="AAAAAA"/>
                </a:solidFill>
                <a:latin typeface="Calibri"/>
              </a:rPr>
              <a:t>about a completely different subject.</a:t>
            </a:r>
            <a:br/>
            <a:r>
              <a:rPr sz="1000" b="0" i="0">
                <a:solidFill>
                  <a:srgbClr val="AAAAAA"/>
                </a:solidFill>
                <a:latin typeface="Calibri"/>
              </a:rPr>
              <a:t>The visual encoder extracted mouth</a:t>
            </a:r>
            <a:br/>
            <a:r>
              <a:rPr sz="1000" b="0" i="0">
                <a:solidFill>
                  <a:srgbClr val="AAAAAA"/>
                </a:solidFill>
                <a:latin typeface="Calibri"/>
              </a:rPr>
              <a:t>shapes that the LLM mapped to a</a:t>
            </a:r>
            <a:br/>
            <a:r>
              <a:rPr sz="1000" b="0" i="0">
                <a:solidFill>
                  <a:srgbClr val="AAAAAA"/>
                </a:solidFill>
                <a:latin typeface="Calibri"/>
              </a:rPr>
              <a:t>wrong but coherent domain.</a:t>
            </a:r>
          </a:p>
        </p:txBody>
      </p:sp>
      <p:sp>
        <p:nvSpPr>
          <p:cNvPr id="22" name="Rounded Rectangle 21"/>
          <p:cNvSpPr/>
          <p:nvPr/>
        </p:nvSpPr>
        <p:spPr>
          <a:xfrm>
            <a:off x="8080248" y="1371600"/>
            <a:ext cx="3474720" cy="448056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17408" y="1463040"/>
            <a:ext cx="3200400" cy="320040"/>
          </a:xfrm>
          <a:prstGeom prst="rect">
            <a:avLst/>
          </a:prstGeom>
          <a:noFill/>
        </p:spPr>
        <p:txBody>
          <a:bodyPr wrap="square" anchor="t"/>
          <a:lstStyle/>
          <a:p>
            <a:pPr algn="ctr"/>
            <a:r>
              <a:rPr sz="1400" b="1" i="0">
                <a:solidFill>
                  <a:srgbClr val="00B4D8"/>
                </a:solidFill>
                <a:latin typeface="Calibri"/>
              </a:rPr>
              <a:t>Right Topic, Wrong Details  (22.7%)</a:t>
            </a:r>
          </a:p>
        </p:txBody>
      </p:sp>
      <p:sp>
        <p:nvSpPr>
          <p:cNvPr id="24" name="TextBox 23"/>
          <p:cNvSpPr txBox="1"/>
          <p:nvPr/>
        </p:nvSpPr>
        <p:spPr>
          <a:xfrm>
            <a:off x="8217408" y="1828800"/>
            <a:ext cx="3200400" cy="201168"/>
          </a:xfrm>
          <a:prstGeom prst="rect">
            <a:avLst/>
          </a:prstGeom>
          <a:noFill/>
        </p:spPr>
        <p:txBody>
          <a:bodyPr wrap="square" anchor="t"/>
          <a:lstStyle/>
          <a:p>
            <a:pPr algn="l"/>
            <a:r>
              <a:rPr sz="900" b="1" i="0">
                <a:solidFill>
                  <a:srgbClr val="AAAAAA"/>
                </a:solidFill>
                <a:latin typeface="Calibri"/>
              </a:rPr>
              <a:t>Reference:</a:t>
            </a:r>
          </a:p>
        </p:txBody>
      </p:sp>
      <p:sp>
        <p:nvSpPr>
          <p:cNvPr id="25" name="TextBox 24"/>
          <p:cNvSpPr txBox="1"/>
          <p:nvPr/>
        </p:nvSpPr>
        <p:spPr>
          <a:xfrm>
            <a:off x="8217408" y="2011680"/>
            <a:ext cx="3200400" cy="548640"/>
          </a:xfrm>
          <a:prstGeom prst="rect">
            <a:avLst/>
          </a:prstGeom>
          <a:noFill/>
        </p:spPr>
        <p:txBody>
          <a:bodyPr wrap="square" anchor="t"/>
          <a:lstStyle/>
          <a:p>
            <a:pPr algn="l"/>
            <a:r>
              <a:rPr sz="1000" b="0" i="1">
                <a:solidFill>
                  <a:srgbClr val="FFFFFF"/>
                </a:solidFill>
                <a:latin typeface="Calibri"/>
              </a:rPr>
              <a:t>“about the 13th amendment</a:t>
            </a:r>
            <a:br/>
            <a:r>
              <a:rPr sz="1000" b="0" i="1">
                <a:solidFill>
                  <a:srgbClr val="FFFFFF"/>
                </a:solidFill>
                <a:latin typeface="Calibri"/>
              </a:rPr>
              <a:t>the 13th amendment is going”</a:t>
            </a:r>
          </a:p>
        </p:txBody>
      </p:sp>
      <p:sp>
        <p:nvSpPr>
          <p:cNvPr id="26" name="TextBox 25"/>
          <p:cNvSpPr txBox="1"/>
          <p:nvPr/>
        </p:nvSpPr>
        <p:spPr>
          <a:xfrm>
            <a:off x="8217408" y="2606040"/>
            <a:ext cx="3200400" cy="201168"/>
          </a:xfrm>
          <a:prstGeom prst="rect">
            <a:avLst/>
          </a:prstGeom>
          <a:noFill/>
        </p:spPr>
        <p:txBody>
          <a:bodyPr wrap="square" anchor="t"/>
          <a:lstStyle/>
          <a:p>
            <a:pPr algn="l"/>
            <a:r>
              <a:rPr sz="900" b="1" i="0">
                <a:solidFill>
                  <a:srgbClr val="AAAAAA"/>
                </a:solidFill>
                <a:latin typeface="Calibri"/>
              </a:rPr>
              <a:t>Prediction:</a:t>
            </a:r>
          </a:p>
        </p:txBody>
      </p:sp>
      <p:sp>
        <p:nvSpPr>
          <p:cNvPr id="27" name="TextBox 26"/>
          <p:cNvSpPr txBox="1"/>
          <p:nvPr/>
        </p:nvSpPr>
        <p:spPr>
          <a:xfrm>
            <a:off x="8217408" y="2788920"/>
            <a:ext cx="3200400" cy="548640"/>
          </a:xfrm>
          <a:prstGeom prst="rect">
            <a:avLst/>
          </a:prstGeom>
          <a:noFill/>
        </p:spPr>
        <p:txBody>
          <a:bodyPr wrap="square" anchor="t"/>
          <a:lstStyle/>
          <a:p>
            <a:pPr algn="l"/>
            <a:r>
              <a:rPr sz="1000" b="0" i="1">
                <a:solidFill>
                  <a:srgbClr val="00B4D8"/>
                </a:solidFill>
                <a:latin typeface="Calibri"/>
              </a:rPr>
              <a:t>“13th may mean something to</a:t>
            </a:r>
            <a:br/>
            <a:r>
              <a:rPr sz="1000" b="0" i="1">
                <a:solidFill>
                  <a:srgbClr val="00B4D8"/>
                </a:solidFill>
                <a:latin typeface="Calibri"/>
              </a:rPr>
              <a:t>him because it can help him”</a:t>
            </a:r>
          </a:p>
        </p:txBody>
      </p:sp>
      <p:sp>
        <p:nvSpPr>
          <p:cNvPr id="28" name="TextBox 27"/>
          <p:cNvSpPr txBox="1"/>
          <p:nvPr/>
        </p:nvSpPr>
        <p:spPr>
          <a:xfrm>
            <a:off x="8217408" y="3429000"/>
            <a:ext cx="3200400" cy="274320"/>
          </a:xfrm>
          <a:prstGeom prst="rect">
            <a:avLst/>
          </a:prstGeom>
          <a:noFill/>
        </p:spPr>
        <p:txBody>
          <a:bodyPr wrap="square" anchor="t"/>
          <a:lstStyle/>
          <a:p>
            <a:pPr algn="ctr"/>
            <a:r>
              <a:rPr sz="1100" b="1" i="0">
                <a:solidFill>
                  <a:srgbClr val="FFFFFF"/>
                </a:solidFill>
                <a:latin typeface="Calibri"/>
              </a:rPr>
              <a:t>WER 81%  |  IS 2.14</a:t>
            </a:r>
          </a:p>
        </p:txBody>
      </p:sp>
      <p:sp>
        <p:nvSpPr>
          <p:cNvPr id="29" name="TextBox 28"/>
          <p:cNvSpPr txBox="1"/>
          <p:nvPr/>
        </p:nvSpPr>
        <p:spPr>
          <a:xfrm>
            <a:off x="8217408" y="3840480"/>
            <a:ext cx="3200400" cy="201168"/>
          </a:xfrm>
          <a:prstGeom prst="rect">
            <a:avLst/>
          </a:prstGeom>
          <a:noFill/>
        </p:spPr>
        <p:txBody>
          <a:bodyPr wrap="square" anchor="t"/>
          <a:lstStyle/>
          <a:p>
            <a:pPr algn="l"/>
            <a:r>
              <a:rPr sz="900" b="1" i="0">
                <a:solidFill>
                  <a:srgbClr val="00B4D8"/>
                </a:solidFill>
                <a:latin typeface="Calibri"/>
              </a:rPr>
              <a:t>Why this category?</a:t>
            </a:r>
          </a:p>
        </p:txBody>
      </p:sp>
      <p:sp>
        <p:nvSpPr>
          <p:cNvPr id="30" name="TextBox 29"/>
          <p:cNvSpPr txBox="1"/>
          <p:nvPr/>
        </p:nvSpPr>
        <p:spPr>
          <a:xfrm>
            <a:off x="8217408" y="4023360"/>
            <a:ext cx="3200400" cy="1645920"/>
          </a:xfrm>
          <a:prstGeom prst="rect">
            <a:avLst/>
          </a:prstGeom>
          <a:noFill/>
        </p:spPr>
        <p:txBody>
          <a:bodyPr wrap="square" anchor="t"/>
          <a:lstStyle/>
          <a:p>
            <a:pPr algn="l"/>
            <a:r>
              <a:rPr sz="1000" b="0" i="0">
                <a:solidFill>
                  <a:srgbClr val="AAAAAA"/>
                </a:solidFill>
                <a:latin typeface="Calibri"/>
              </a:rPr>
              <a:t>The word “13th” survived but</a:t>
            </a:r>
            <a:br/>
            <a:r>
              <a:rPr sz="1000" b="0" i="0">
                <a:solidFill>
                  <a:srgbClr val="AAAAAA"/>
                </a:solidFill>
                <a:latin typeface="Calibri"/>
              </a:rPr>
              <a:t>“amendment” was lost. A viewer</a:t>
            </a:r>
            <a:br/>
            <a:r>
              <a:rPr sz="1000" b="0" i="0">
                <a:solidFill>
                  <a:srgbClr val="AAAAAA"/>
                </a:solidFill>
                <a:latin typeface="Calibri"/>
              </a:rPr>
              <a:t>might guess the topic (law) but</a:t>
            </a:r>
            <a:br/>
            <a:r>
              <a:rPr sz="1000" b="0" i="0">
                <a:solidFill>
                  <a:srgbClr val="AAAAAA"/>
                </a:solidFill>
                <a:latin typeface="Calibri"/>
              </a:rPr>
              <a:t>critical entity information is</a:t>
            </a:r>
            <a:br/>
            <a:r>
              <a:rPr sz="1000" b="0" i="0">
                <a:solidFill>
                  <a:srgbClr val="AAAAAA"/>
                </a:solidFill>
                <a:latin typeface="Calibri"/>
              </a:rPr>
              <a:t>irrecoverable. Key distinction:</a:t>
            </a:r>
            <a:br/>
            <a:r>
              <a:rPr sz="1000" b="0" i="0">
                <a:solidFill>
                  <a:srgbClr val="AAAAAA"/>
                </a:solidFill>
                <a:latin typeface="Calibri"/>
              </a:rPr>
              <a:t>Semantic ≥ 0.2 (topic is correct).</a:t>
            </a:r>
          </a:p>
        </p:txBody>
      </p:sp>
      <p:pic>
        <p:nvPicPr>
          <p:cNvPr id="31" name="Picture 30"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32" name="TextBox 31"/>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24</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childTnLst>
                    </p:cTn>
                  </p:par>
                  <p:par>
                    <p:cTn id="7" fill="hold">
                      <p:stCondLst>
                        <p:cond delay="0"/>
                      </p:stCondLst>
                      <p:childTnLst>
                        <p:par>
                          <p:cTn id="8" fill="hold">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par>
                    <p:cTn id="11" fill="hold">
                      <p:stCondLst>
                        <p:cond delay="0"/>
                      </p:stCondLst>
                      <p:childTnLst>
                        <p:par>
                          <p:cTn id="12" fill="hold">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500"/>
                                  <p:tgtEl>
                                    <p:spTgt spid="22"/>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13" grpId="1"/>
      <p:bldP spid="22" grpId="2"/>
    </p:bld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Failure Mode Taxonomy</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20040"/>
          </a:xfrm>
          <a:prstGeom prst="rect">
            <a:avLst/>
          </a:prstGeom>
          <a:noFill/>
        </p:spPr>
        <p:txBody>
          <a:bodyPr wrap="square" anchor="t"/>
          <a:lstStyle/>
          <a:p>
            <a:pPr algn="l"/>
            <a:r>
              <a:rPr sz="1400" b="0" i="1">
                <a:solidFill>
                  <a:srgbClr val="AAAAAA"/>
                </a:solidFill>
                <a:latin typeface="Calibri"/>
              </a:rPr>
              <a:t>900 segments failed (IS &lt; 3.0) — how often does each mode occur?</a:t>
            </a:r>
          </a:p>
        </p:txBody>
      </p:sp>
      <p:sp>
        <p:nvSpPr>
          <p:cNvPr id="5" name="TextBox 4"/>
          <p:cNvSpPr txBox="1"/>
          <p:nvPr/>
        </p:nvSpPr>
        <p:spPr>
          <a:xfrm>
            <a:off x="548640" y="1828800"/>
            <a:ext cx="3200400" cy="594360"/>
          </a:xfrm>
          <a:prstGeom prst="rect">
            <a:avLst/>
          </a:prstGeom>
          <a:noFill/>
        </p:spPr>
        <p:txBody>
          <a:bodyPr wrap="square" anchor="t"/>
          <a:lstStyle/>
          <a:p>
            <a:pPr algn="r"/>
            <a:r>
              <a:rPr sz="1600" b="1" i="0">
                <a:solidFill>
                  <a:srgbClr val="FFFFFF"/>
                </a:solidFill>
                <a:latin typeface="Calibri"/>
              </a:rPr>
              <a:t>Wrong Topic</a:t>
            </a:r>
          </a:p>
        </p:txBody>
      </p:sp>
      <p:sp>
        <p:nvSpPr>
          <p:cNvPr id="6" name="Rounded Rectangle 5"/>
          <p:cNvSpPr/>
          <p:nvPr/>
        </p:nvSpPr>
        <p:spPr>
          <a:xfrm>
            <a:off x="3931920" y="1828800"/>
            <a:ext cx="5417820" cy="594360"/>
          </a:xfrm>
          <a:prstGeom prst="roundRect">
            <a:avLst/>
          </a:prstGeom>
          <a:solidFill>
            <a:srgbClr val="FFD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86900" y="1828800"/>
            <a:ext cx="1645920" cy="594360"/>
          </a:xfrm>
          <a:prstGeom prst="rect">
            <a:avLst/>
          </a:prstGeom>
          <a:noFill/>
        </p:spPr>
        <p:txBody>
          <a:bodyPr wrap="square" anchor="t"/>
          <a:lstStyle/>
          <a:p>
            <a:pPr algn="l"/>
            <a:r>
              <a:rPr sz="1400" b="0" i="0">
                <a:solidFill>
                  <a:srgbClr val="AAAAAA"/>
                </a:solidFill>
                <a:latin typeface="Calibri"/>
              </a:rPr>
              <a:t>31.6% (284)</a:t>
            </a:r>
          </a:p>
        </p:txBody>
      </p:sp>
      <p:sp>
        <p:nvSpPr>
          <p:cNvPr id="8" name="TextBox 7"/>
          <p:cNvSpPr txBox="1"/>
          <p:nvPr/>
        </p:nvSpPr>
        <p:spPr>
          <a:xfrm>
            <a:off x="548640" y="2606040"/>
            <a:ext cx="3200400" cy="594360"/>
          </a:xfrm>
          <a:prstGeom prst="rect">
            <a:avLst/>
          </a:prstGeom>
          <a:noFill/>
        </p:spPr>
        <p:txBody>
          <a:bodyPr wrap="square" anchor="t"/>
          <a:lstStyle/>
          <a:p>
            <a:pPr algn="r"/>
            <a:r>
              <a:rPr sz="1600" b="1" i="0">
                <a:solidFill>
                  <a:srgbClr val="FFFFFF"/>
                </a:solidFill>
                <a:latin typeface="Calibri"/>
              </a:rPr>
              <a:t>Accumulated Errors</a:t>
            </a:r>
          </a:p>
        </p:txBody>
      </p:sp>
      <p:sp>
        <p:nvSpPr>
          <p:cNvPr id="9" name="Rounded Rectangle 8"/>
          <p:cNvSpPr/>
          <p:nvPr/>
        </p:nvSpPr>
        <p:spPr>
          <a:xfrm>
            <a:off x="3931920" y="2606040"/>
            <a:ext cx="4183379" cy="594360"/>
          </a:xfrm>
          <a:prstGeom prst="round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52459" y="2606040"/>
            <a:ext cx="1645920" cy="594360"/>
          </a:xfrm>
          <a:prstGeom prst="rect">
            <a:avLst/>
          </a:prstGeom>
          <a:noFill/>
        </p:spPr>
        <p:txBody>
          <a:bodyPr wrap="square" anchor="t"/>
          <a:lstStyle/>
          <a:p>
            <a:pPr algn="l"/>
            <a:r>
              <a:rPr sz="1400" b="0" i="0">
                <a:solidFill>
                  <a:srgbClr val="AAAAAA"/>
                </a:solidFill>
                <a:latin typeface="Calibri"/>
              </a:rPr>
              <a:t>24.4% (220)</a:t>
            </a:r>
          </a:p>
        </p:txBody>
      </p:sp>
      <p:sp>
        <p:nvSpPr>
          <p:cNvPr id="11" name="TextBox 10"/>
          <p:cNvSpPr txBox="1"/>
          <p:nvPr/>
        </p:nvSpPr>
        <p:spPr>
          <a:xfrm>
            <a:off x="548640" y="3383280"/>
            <a:ext cx="3200400" cy="594360"/>
          </a:xfrm>
          <a:prstGeom prst="rect">
            <a:avLst/>
          </a:prstGeom>
          <a:noFill/>
        </p:spPr>
        <p:txBody>
          <a:bodyPr wrap="square" anchor="t"/>
          <a:lstStyle/>
          <a:p>
            <a:pPr algn="r"/>
            <a:r>
              <a:rPr sz="1600" b="1" i="0">
                <a:solidFill>
                  <a:srgbClr val="FFFFFF"/>
                </a:solidFill>
                <a:latin typeface="Calibri"/>
              </a:rPr>
              <a:t>Right Topic, Wrong Details</a:t>
            </a:r>
          </a:p>
        </p:txBody>
      </p:sp>
      <p:sp>
        <p:nvSpPr>
          <p:cNvPr id="12" name="Rounded Rectangle 11"/>
          <p:cNvSpPr/>
          <p:nvPr/>
        </p:nvSpPr>
        <p:spPr>
          <a:xfrm>
            <a:off x="3931920" y="3383280"/>
            <a:ext cx="3891915" cy="59436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60995" y="3383280"/>
            <a:ext cx="1645920" cy="594360"/>
          </a:xfrm>
          <a:prstGeom prst="rect">
            <a:avLst/>
          </a:prstGeom>
          <a:noFill/>
        </p:spPr>
        <p:txBody>
          <a:bodyPr wrap="square" anchor="t"/>
          <a:lstStyle/>
          <a:p>
            <a:pPr algn="l"/>
            <a:r>
              <a:rPr sz="1400" b="0" i="0">
                <a:solidFill>
                  <a:srgbClr val="AAAAAA"/>
                </a:solidFill>
                <a:latin typeface="Calibri"/>
              </a:rPr>
              <a:t>22.7% (204)</a:t>
            </a:r>
          </a:p>
        </p:txBody>
      </p:sp>
      <p:sp>
        <p:nvSpPr>
          <p:cNvPr id="14" name="TextBox 13"/>
          <p:cNvSpPr txBox="1"/>
          <p:nvPr/>
        </p:nvSpPr>
        <p:spPr>
          <a:xfrm>
            <a:off x="548640" y="4160520"/>
            <a:ext cx="3200400" cy="594360"/>
          </a:xfrm>
          <a:prstGeom prst="rect">
            <a:avLst/>
          </a:prstGeom>
          <a:noFill/>
        </p:spPr>
        <p:txBody>
          <a:bodyPr wrap="square" anchor="t"/>
          <a:lstStyle/>
          <a:p>
            <a:pPr algn="r"/>
            <a:r>
              <a:rPr sz="1600" b="1" i="0">
                <a:solidFill>
                  <a:srgbClr val="FFFFFF"/>
                </a:solidFill>
                <a:latin typeface="Calibri"/>
              </a:rPr>
              <a:t>Hallucination</a:t>
            </a:r>
          </a:p>
        </p:txBody>
      </p:sp>
      <p:sp>
        <p:nvSpPr>
          <p:cNvPr id="15" name="Rounded Rectangle 14"/>
          <p:cNvSpPr/>
          <p:nvPr/>
        </p:nvSpPr>
        <p:spPr>
          <a:xfrm>
            <a:off x="3931920" y="4160520"/>
            <a:ext cx="2108835" cy="594360"/>
          </a:xfrm>
          <a:prstGeom prst="roundRect">
            <a:avLst/>
          </a:prstGeom>
          <a:solidFill>
            <a:srgbClr val="E06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7915" y="4160520"/>
            <a:ext cx="1645920" cy="594360"/>
          </a:xfrm>
          <a:prstGeom prst="rect">
            <a:avLst/>
          </a:prstGeom>
          <a:noFill/>
        </p:spPr>
        <p:txBody>
          <a:bodyPr wrap="square" anchor="t"/>
          <a:lstStyle/>
          <a:p>
            <a:pPr algn="l"/>
            <a:r>
              <a:rPr sz="1400" b="0" i="0">
                <a:solidFill>
                  <a:srgbClr val="AAAAAA"/>
                </a:solidFill>
                <a:latin typeface="Calibri"/>
              </a:rPr>
              <a:t>12.3% (111)</a:t>
            </a:r>
          </a:p>
        </p:txBody>
      </p:sp>
      <p:sp>
        <p:nvSpPr>
          <p:cNvPr id="17" name="TextBox 16"/>
          <p:cNvSpPr txBox="1"/>
          <p:nvPr/>
        </p:nvSpPr>
        <p:spPr>
          <a:xfrm>
            <a:off x="548640" y="4937760"/>
            <a:ext cx="3200400" cy="594360"/>
          </a:xfrm>
          <a:prstGeom prst="rect">
            <a:avLst/>
          </a:prstGeom>
          <a:noFill/>
        </p:spPr>
        <p:txBody>
          <a:bodyPr wrap="square" anchor="t"/>
          <a:lstStyle/>
          <a:p>
            <a:pPr algn="r"/>
            <a:r>
              <a:rPr sz="1600" b="1" i="0">
                <a:solidFill>
                  <a:srgbClr val="FFFFFF"/>
                </a:solidFill>
                <a:latin typeface="Calibri"/>
              </a:rPr>
              <a:t>Signal Loss</a:t>
            </a:r>
          </a:p>
        </p:txBody>
      </p:sp>
      <p:sp>
        <p:nvSpPr>
          <p:cNvPr id="18" name="Rounded Rectangle 17"/>
          <p:cNvSpPr/>
          <p:nvPr/>
        </p:nvSpPr>
        <p:spPr>
          <a:xfrm>
            <a:off x="3931920" y="4937760"/>
            <a:ext cx="1543050" cy="594360"/>
          </a:xfrm>
          <a:prstGeom prst="round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12130" y="4937760"/>
            <a:ext cx="1645920" cy="594360"/>
          </a:xfrm>
          <a:prstGeom prst="rect">
            <a:avLst/>
          </a:prstGeom>
          <a:noFill/>
        </p:spPr>
        <p:txBody>
          <a:bodyPr wrap="square" anchor="t"/>
          <a:lstStyle/>
          <a:p>
            <a:pPr algn="l"/>
            <a:r>
              <a:rPr sz="1400" b="0" i="0">
                <a:solidFill>
                  <a:srgbClr val="AAAAAA"/>
                </a:solidFill>
                <a:latin typeface="Calibri"/>
              </a:rPr>
              <a:t>9.0% (81)</a:t>
            </a:r>
          </a:p>
        </p:txBody>
      </p:sp>
      <p:sp>
        <p:nvSpPr>
          <p:cNvPr id="20" name="TextBox 19"/>
          <p:cNvSpPr txBox="1"/>
          <p:nvPr/>
        </p:nvSpPr>
        <p:spPr>
          <a:xfrm>
            <a:off x="548640" y="5852160"/>
            <a:ext cx="11091672" cy="365760"/>
          </a:xfrm>
          <a:prstGeom prst="rect">
            <a:avLst/>
          </a:prstGeom>
          <a:noFill/>
        </p:spPr>
        <p:txBody>
          <a:bodyPr wrap="square" anchor="t"/>
          <a:lstStyle/>
          <a:p>
            <a:pPr algn="l"/>
            <a:r>
              <a:rPr sz="1300" b="0" i="1">
                <a:solidFill>
                  <a:srgbClr val="AAAAAA"/>
                </a:solidFill>
                <a:latin typeface="Calibri"/>
              </a:rPr>
              <a:t>Failures are diverse — no single fix. Each roadmap phase targets specific modes.</a:t>
            </a:r>
          </a:p>
        </p:txBody>
      </p:sp>
      <p:pic>
        <p:nvPicPr>
          <p:cNvPr id="21" name="Picture 20"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22" name="TextBox 21"/>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25</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00"/>
                                  <p:tgtEl>
                                    <p:spTgt spid="6"/>
                                  </p:tgtEl>
                                </p:cBhvr>
                              </p:animEffect>
                            </p:childTnLst>
                          </p:cTn>
                        </p:par>
                      </p:childTnLst>
                    </p:cTn>
                  </p:par>
                  <p:par>
                    <p:cTn id="7" fill="hold">
                      <p:stCondLst>
                        <p:cond delay="0"/>
                      </p:stCondLst>
                      <p:childTnLst>
                        <p:par>
                          <p:cTn id="8" fill="hold">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par>
                    <p:cTn id="11" fill="hold">
                      <p:stCondLst>
                        <p:cond delay="0"/>
                      </p:stCondLst>
                      <p:childTnLst>
                        <p:par>
                          <p:cTn id="12" fill="hold">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childTnLst>
                    </p:cTn>
                  </p:par>
                  <p:par>
                    <p:cTn id="15" fill="hold">
                      <p:stCondLst>
                        <p:cond delay="0"/>
                      </p:stCondLst>
                      <p:childTnLst>
                        <p:par>
                          <p:cTn id="16" fill="hold">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par>
                    <p:cTn id="19" fill="hold">
                      <p:stCondLst>
                        <p:cond delay="0"/>
                      </p:stCondLst>
                      <p:childTnLst>
                        <p:par>
                          <p:cTn id="20" fill="hold">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2" grpId="0"/>
      <p:bldP spid="15" grpId="0"/>
      <p:bldP spid="18" grpId="0"/>
    </p:bld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Failure Modes: Impact &amp; What Fixes Them</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274320"/>
          </a:xfrm>
          <a:prstGeom prst="rect">
            <a:avLst/>
          </a:prstGeom>
          <a:noFill/>
        </p:spPr>
        <p:txBody>
          <a:bodyPr wrap="square" anchor="t"/>
          <a:lstStyle/>
          <a:p>
            <a:pPr algn="l"/>
            <a:r>
              <a:rPr sz="1300" b="0" i="1">
                <a:solidFill>
                  <a:srgbClr val="AAAAAA"/>
                </a:solidFill>
                <a:latin typeface="Calibri"/>
              </a:rPr>
              <a:t>Each category maps to a specific remedy — no single fix addresses all failure types.</a:t>
            </a:r>
          </a:p>
        </p:txBody>
      </p:sp>
      <p:graphicFrame>
        <p:nvGraphicFramePr>
          <p:cNvPr id="5" name="Table 4"/>
          <p:cNvGraphicFramePr>
            <a:graphicFrameLocks noGrp="1"/>
          </p:cNvGraphicFramePr>
          <p:nvPr/>
        </p:nvGraphicFramePr>
        <p:xfrm>
          <a:off x="548640" y="1737360"/>
          <a:ext cx="11091672" cy="4114800"/>
        </p:xfrm>
        <a:graphic>
          <a:graphicData uri="http://schemas.openxmlformats.org/drawingml/2006/table">
            <a:tbl>
              <a:tblPr firstRow="0" bandRow="0" lastRow="0" bandCol="0">
                <a:tableStyleId>{5C22544A-7EE6-4342-B048-85BDC9FD1C3A}</a:tableStyleId>
              </a:tblPr>
              <a:tblGrid>
                <a:gridCol w="1828800"/>
                <a:gridCol w="914400"/>
                <a:gridCol w="3200400"/>
                <a:gridCol w="5148072"/>
              </a:tblGrid>
              <a:tr h="685800">
                <a:tc>
                  <a:txBody>
                    <a:bodyPr/>
                    <a:lstStyle/>
                    <a:p>
                      <a:pPr algn="ctr"/>
                      <a:r>
                        <a:rPr sz="1100" b="1" i="0">
                          <a:solidFill>
                            <a:srgbClr val="FFFFFF"/>
                          </a:solidFill>
                          <a:latin typeface="Calibri"/>
                        </a:rPr>
                        <a:t>Category</a:t>
                      </a:r>
                    </a:p>
                  </a:txBody>
                  <a:tcPr>
                    <a:solidFill>
                      <a:srgbClr val="00b4d8"/>
                    </a:solidFill>
                  </a:tcPr>
                </a:tc>
                <a:tc>
                  <a:txBody>
                    <a:bodyPr/>
                    <a:lstStyle/>
                    <a:p>
                      <a:pPr algn="ctr"/>
                      <a:r>
                        <a:rPr sz="1100" b="1" i="0">
                          <a:solidFill>
                            <a:srgbClr val="FFFFFF"/>
                          </a:solidFill>
                          <a:latin typeface="Calibri"/>
                        </a:rPr>
                        <a:t>%</a:t>
                      </a:r>
                    </a:p>
                  </a:txBody>
                  <a:tcPr>
                    <a:solidFill>
                      <a:srgbClr val="00b4d8"/>
                    </a:solidFill>
                  </a:tcPr>
                </a:tc>
                <a:tc>
                  <a:txBody>
                    <a:bodyPr/>
                    <a:lstStyle/>
                    <a:p>
                      <a:pPr algn="ctr"/>
                      <a:r>
                        <a:rPr sz="1100" b="1" i="0">
                          <a:solidFill>
                            <a:srgbClr val="FFFFFF"/>
                          </a:solidFill>
                          <a:latin typeface="Calibri"/>
                        </a:rPr>
                        <a:t>Severity</a:t>
                      </a:r>
                    </a:p>
                  </a:txBody>
                  <a:tcPr>
                    <a:solidFill>
                      <a:srgbClr val="00b4d8"/>
                    </a:solidFill>
                  </a:tcPr>
                </a:tc>
                <a:tc>
                  <a:txBody>
                    <a:bodyPr/>
                    <a:lstStyle/>
                    <a:p>
                      <a:pPr algn="ctr"/>
                      <a:r>
                        <a:rPr sz="1100" b="1" i="0">
                          <a:solidFill>
                            <a:srgbClr val="FFFFFF"/>
                          </a:solidFill>
                          <a:latin typeface="Calibri"/>
                        </a:rPr>
                        <a:t>What Fixes It</a:t>
                      </a:r>
                    </a:p>
                  </a:txBody>
                  <a:tcPr>
                    <a:solidFill>
                      <a:srgbClr val="00b4d8"/>
                    </a:solidFill>
                  </a:tcPr>
                </a:tc>
              </a:tr>
              <a:tr h="685800">
                <a:tc>
                  <a:txBody>
                    <a:bodyPr/>
                    <a:lstStyle/>
                    <a:p>
                      <a:pPr algn="l"/>
                      <a:r>
                        <a:rPr sz="1100" b="0" i="0">
                          <a:solidFill>
                            <a:srgbClr val="AAAAAA"/>
                          </a:solidFill>
                          <a:latin typeface="Calibri"/>
                        </a:rPr>
                        <a:t>Signal Loss</a:t>
                      </a:r>
                    </a:p>
                  </a:txBody>
                  <a:tcPr>
                    <a:solidFill>
                      <a:srgbClr val="0d1b2a"/>
                    </a:solidFill>
                  </a:tcPr>
                </a:tc>
                <a:tc>
                  <a:txBody>
                    <a:bodyPr/>
                    <a:lstStyle/>
                    <a:p>
                      <a:pPr algn="l"/>
                      <a:r>
                        <a:rPr sz="1100" b="0" i="0">
                          <a:solidFill>
                            <a:srgbClr val="FFFFFF"/>
                          </a:solidFill>
                          <a:latin typeface="Calibri"/>
                        </a:rPr>
                        <a:t>9.0%</a:t>
                      </a:r>
                    </a:p>
                  </a:txBody>
                  <a:tcPr>
                    <a:solidFill>
                      <a:srgbClr val="0d1b2a"/>
                    </a:solidFill>
                  </a:tcPr>
                </a:tc>
                <a:tc>
                  <a:txBody>
                    <a:bodyPr/>
                    <a:lstStyle/>
                    <a:p>
                      <a:pPr algn="l"/>
                      <a:r>
                        <a:rPr sz="1100" b="0" i="0">
                          <a:solidFill>
                            <a:srgbClr val="666666"/>
                          </a:solidFill>
                          <a:latin typeface="Calibri"/>
                        </a:rPr>
                        <a:t>Low — obvious,</a:t>
                      </a:r>
                    </a:p>
                    <a:p>
                      <a:pPr algn="l"/>
                      <a:r>
                        <a:rPr sz="1100" b="0" i="0">
                          <a:solidFill>
                            <a:srgbClr val="666666"/>
                          </a:solidFill>
                          <a:latin typeface="Calibri"/>
                        </a:rPr>
                        <a:t>easily detected</a:t>
                      </a:r>
                    </a:p>
                  </a:txBody>
                  <a:tcPr>
                    <a:solidFill>
                      <a:srgbClr val="0d1b2a"/>
                    </a:solidFill>
                  </a:tcPr>
                </a:tc>
                <a:tc>
                  <a:txBody>
                    <a:bodyPr/>
                    <a:lstStyle/>
                    <a:p>
                      <a:pPr algn="l"/>
                      <a:r>
                        <a:rPr sz="1100" b="0" i="0">
                          <a:solidFill>
                            <a:srgbClr val="FFFFFF"/>
                          </a:solidFill>
                          <a:latin typeface="Calibri"/>
                        </a:rPr>
                        <a:t>Quality filtering, longer segments</a:t>
                      </a:r>
                    </a:p>
                  </a:txBody>
                  <a:tcPr>
                    <a:solidFill>
                      <a:srgbClr val="0d1b2a"/>
                    </a:solidFill>
                  </a:tcPr>
                </a:tc>
              </a:tr>
              <a:tr h="685800">
                <a:tc>
                  <a:txBody>
                    <a:bodyPr/>
                    <a:lstStyle/>
                    <a:p>
                      <a:pPr algn="l"/>
                      <a:r>
                        <a:rPr sz="1100" b="0" i="0">
                          <a:solidFill>
                            <a:srgbClr val="E06C75"/>
                          </a:solidFill>
                          <a:latin typeface="Calibri"/>
                        </a:rPr>
                        <a:t>Hallucination</a:t>
                      </a:r>
                    </a:p>
                  </a:txBody>
                  <a:tcPr>
                    <a:solidFill>
                      <a:srgbClr val="152a40"/>
                    </a:solidFill>
                  </a:tcPr>
                </a:tc>
                <a:tc>
                  <a:txBody>
                    <a:bodyPr/>
                    <a:lstStyle/>
                    <a:p>
                      <a:pPr algn="l"/>
                      <a:r>
                        <a:rPr sz="1100" b="0" i="0">
                          <a:solidFill>
                            <a:srgbClr val="FFFFFF"/>
                          </a:solidFill>
                          <a:latin typeface="Calibri"/>
                        </a:rPr>
                        <a:t>12.3%</a:t>
                      </a:r>
                    </a:p>
                  </a:txBody>
                  <a:tcPr>
                    <a:solidFill>
                      <a:srgbClr val="152a40"/>
                    </a:solidFill>
                  </a:tcPr>
                </a:tc>
                <a:tc>
                  <a:txBody>
                    <a:bodyPr/>
                    <a:lstStyle/>
                    <a:p>
                      <a:pPr algn="l"/>
                      <a:r>
                        <a:rPr sz="1100" b="0" i="0">
                          <a:solidFill>
                            <a:srgbClr val="B71C1C"/>
                          </a:solidFill>
                          <a:latin typeface="Calibri"/>
                        </a:rPr>
                        <a:t>Critical — fluent</a:t>
                      </a:r>
                    </a:p>
                    <a:p>
                      <a:pPr algn="l"/>
                      <a:r>
                        <a:rPr sz="1100" b="0" i="0">
                          <a:solidFill>
                            <a:srgbClr val="B71C1C"/>
                          </a:solidFill>
                          <a:latin typeface="Calibri"/>
                        </a:rPr>
                        <a:t>but fabricated</a:t>
                      </a:r>
                    </a:p>
                  </a:txBody>
                  <a:tcPr>
                    <a:solidFill>
                      <a:srgbClr val="152a40"/>
                    </a:solidFill>
                  </a:tcPr>
                </a:tc>
                <a:tc>
                  <a:txBody>
                    <a:bodyPr/>
                    <a:lstStyle/>
                    <a:p>
                      <a:pPr algn="l"/>
                      <a:r>
                        <a:rPr sz="1100" b="0" i="0">
                          <a:solidFill>
                            <a:srgbClr val="FFFFFF"/>
                          </a:solidFill>
                          <a:latin typeface="Calibri"/>
                        </a:rPr>
                        <a:t>Anti-hallucination prompts,</a:t>
                      </a:r>
                    </a:p>
                    <a:p>
                      <a:pPr algn="l"/>
                      <a:r>
                        <a:rPr sz="1100" b="0" i="0">
                          <a:solidFill>
                            <a:srgbClr val="FFFFFF"/>
                          </a:solidFill>
                          <a:latin typeface="Calibri"/>
                        </a:rPr>
                        <a:t>confidence gating, GER</a:t>
                      </a:r>
                    </a:p>
                  </a:txBody>
                  <a:tcPr>
                    <a:solidFill>
                      <a:srgbClr val="152a40"/>
                    </a:solidFill>
                  </a:tcPr>
                </a:tc>
              </a:tr>
              <a:tr h="685800">
                <a:tc>
                  <a:txBody>
                    <a:bodyPr/>
                    <a:lstStyle/>
                    <a:p>
                      <a:pPr algn="l"/>
                      <a:r>
                        <a:rPr sz="1100" b="0" i="0">
                          <a:solidFill>
                            <a:srgbClr val="FFD54F"/>
                          </a:solidFill>
                          <a:latin typeface="Calibri"/>
                        </a:rPr>
                        <a:t>Wrong Topic</a:t>
                      </a:r>
                    </a:p>
                  </a:txBody>
                  <a:tcPr>
                    <a:solidFill>
                      <a:srgbClr val="0d1b2a"/>
                    </a:solidFill>
                  </a:tcPr>
                </a:tc>
                <a:tc>
                  <a:txBody>
                    <a:bodyPr/>
                    <a:lstStyle/>
                    <a:p>
                      <a:pPr algn="l"/>
                      <a:r>
                        <a:rPr sz="1100" b="0" i="0">
                          <a:solidFill>
                            <a:srgbClr val="FFFFFF"/>
                          </a:solidFill>
                          <a:latin typeface="Calibri"/>
                        </a:rPr>
                        <a:t>31.6%</a:t>
                      </a:r>
                    </a:p>
                  </a:txBody>
                  <a:tcPr>
                    <a:solidFill>
                      <a:srgbClr val="0d1b2a"/>
                    </a:solidFill>
                  </a:tcPr>
                </a:tc>
                <a:tc>
                  <a:txBody>
                    <a:bodyPr/>
                    <a:lstStyle/>
                    <a:p>
                      <a:pPr algn="l"/>
                      <a:r>
                        <a:rPr sz="1100" b="0" i="0">
                          <a:solidFill>
                            <a:srgbClr val="F44336"/>
                          </a:solidFill>
                          <a:latin typeface="Calibri"/>
                        </a:rPr>
                        <a:t>High — wrong</a:t>
                      </a:r>
                    </a:p>
                    <a:p>
                      <a:pPr algn="l"/>
                      <a:r>
                        <a:rPr sz="1100" b="0" i="0">
                          <a:solidFill>
                            <a:srgbClr val="F44336"/>
                          </a:solidFill>
                          <a:latin typeface="Calibri"/>
                        </a:rPr>
                        <a:t>domain entirely</a:t>
                      </a:r>
                    </a:p>
                  </a:txBody>
                  <a:tcPr>
                    <a:solidFill>
                      <a:srgbClr val="0d1b2a"/>
                    </a:solidFill>
                  </a:tcPr>
                </a:tc>
                <a:tc>
                  <a:txBody>
                    <a:bodyPr/>
                    <a:lstStyle/>
                    <a:p>
                      <a:pPr algn="l"/>
                      <a:r>
                        <a:rPr sz="1100" b="0" i="0">
                          <a:solidFill>
                            <a:srgbClr val="FFFFFF"/>
                          </a:solidFill>
                          <a:latin typeface="Calibri"/>
                        </a:rPr>
                        <a:t>Stronger LLM, topic-aware</a:t>
                      </a:r>
                    </a:p>
                    <a:p>
                      <a:pPr algn="l"/>
                      <a:r>
                        <a:rPr sz="1100" b="0" i="0">
                          <a:solidFill>
                            <a:srgbClr val="FFFFFF"/>
                          </a:solidFill>
                          <a:latin typeface="Calibri"/>
                        </a:rPr>
                        <a:t>prompting, more training data</a:t>
                      </a:r>
                    </a:p>
                  </a:txBody>
                  <a:tcPr>
                    <a:solidFill>
                      <a:srgbClr val="0d1b2a"/>
                    </a:solidFill>
                  </a:tcPr>
                </a:tc>
              </a:tr>
              <a:tr h="685800">
                <a:tc>
                  <a:txBody>
                    <a:bodyPr/>
                    <a:lstStyle/>
                    <a:p>
                      <a:pPr algn="l"/>
                      <a:r>
                        <a:rPr sz="1100" b="0" i="0">
                          <a:solidFill>
                            <a:srgbClr val="00B4D8"/>
                          </a:solidFill>
                          <a:latin typeface="Calibri"/>
                        </a:rPr>
                        <a:t>Right Topic,</a:t>
                      </a:r>
                    </a:p>
                    <a:p>
                      <a:pPr algn="l"/>
                      <a:r>
                        <a:rPr sz="1100" b="0" i="0">
                          <a:solidFill>
                            <a:srgbClr val="00B4D8"/>
                          </a:solidFill>
                          <a:latin typeface="Calibri"/>
                        </a:rPr>
                        <a:t>Wrong Details</a:t>
                      </a:r>
                    </a:p>
                  </a:txBody>
                  <a:tcPr>
                    <a:solidFill>
                      <a:srgbClr val="152a40"/>
                    </a:solidFill>
                  </a:tcPr>
                </a:tc>
                <a:tc>
                  <a:txBody>
                    <a:bodyPr/>
                    <a:lstStyle/>
                    <a:p>
                      <a:pPr algn="l"/>
                      <a:r>
                        <a:rPr sz="1100" b="0" i="0">
                          <a:solidFill>
                            <a:srgbClr val="FFFFFF"/>
                          </a:solidFill>
                          <a:latin typeface="Calibri"/>
                        </a:rPr>
                        <a:t>22.7%</a:t>
                      </a:r>
                    </a:p>
                  </a:txBody>
                  <a:tcPr>
                    <a:solidFill>
                      <a:srgbClr val="152a40"/>
                    </a:solidFill>
                  </a:tcPr>
                </a:tc>
                <a:tc>
                  <a:txBody>
                    <a:bodyPr/>
                    <a:lstStyle/>
                    <a:p>
                      <a:pPr algn="l"/>
                      <a:r>
                        <a:rPr sz="1100" b="0" i="0">
                          <a:solidFill>
                            <a:srgbClr val="FF9800"/>
                          </a:solidFill>
                          <a:latin typeface="Calibri"/>
                        </a:rPr>
                        <a:t>Medium — topic</a:t>
                      </a:r>
                    </a:p>
                    <a:p>
                      <a:pPr algn="l"/>
                      <a:r>
                        <a:rPr sz="1100" b="0" i="0">
                          <a:solidFill>
                            <a:srgbClr val="FF9800"/>
                          </a:solidFill>
                          <a:latin typeface="Calibri"/>
                        </a:rPr>
                        <a:t>right, details lost</a:t>
                      </a:r>
                    </a:p>
                  </a:txBody>
                  <a:tcPr>
                    <a:solidFill>
                      <a:srgbClr val="152a40"/>
                    </a:solidFill>
                  </a:tcPr>
                </a:tc>
                <a:tc>
                  <a:txBody>
                    <a:bodyPr/>
                    <a:lstStyle/>
                    <a:p>
                      <a:pPr algn="l"/>
                      <a:r>
                        <a:rPr sz="1100" b="0" i="0">
                          <a:solidFill>
                            <a:srgbClr val="FFFFFF"/>
                          </a:solidFill>
                          <a:latin typeface="Calibri"/>
                        </a:rPr>
                        <a:t>Entity injection, domain</a:t>
                      </a:r>
                    </a:p>
                    <a:p>
                      <a:pPr algn="l"/>
                      <a:r>
                        <a:rPr sz="1100" b="0" i="0">
                          <a:solidFill>
                            <a:srgbClr val="FFFFFF"/>
                          </a:solidFill>
                          <a:latin typeface="Calibri"/>
                        </a:rPr>
                        <a:t>adaptation, fine-tuning</a:t>
                      </a:r>
                    </a:p>
                  </a:txBody>
                  <a:tcPr>
                    <a:solidFill>
                      <a:srgbClr val="152a40"/>
                    </a:solidFill>
                  </a:tcPr>
                </a:tc>
              </a:tr>
              <a:tr h="685800">
                <a:tc>
                  <a:txBody>
                    <a:bodyPr/>
                    <a:lstStyle/>
                    <a:p>
                      <a:pPr algn="l"/>
                      <a:r>
                        <a:rPr sz="1100" b="0" i="0">
                          <a:solidFill>
                            <a:srgbClr val="AAAAAA"/>
                          </a:solidFill>
                          <a:latin typeface="Calibri"/>
                        </a:rPr>
                        <a:t>Accumulated</a:t>
                      </a:r>
                    </a:p>
                    <a:p>
                      <a:pPr algn="l"/>
                      <a:r>
                        <a:rPr sz="1100" b="0" i="0">
                          <a:solidFill>
                            <a:srgbClr val="AAAAAA"/>
                          </a:solidFill>
                          <a:latin typeface="Calibri"/>
                        </a:rPr>
                        <a:t>Errors</a:t>
                      </a:r>
                    </a:p>
                  </a:txBody>
                  <a:tcPr>
                    <a:solidFill>
                      <a:srgbClr val="0d1b2a"/>
                    </a:solidFill>
                  </a:tcPr>
                </a:tc>
                <a:tc>
                  <a:txBody>
                    <a:bodyPr/>
                    <a:lstStyle/>
                    <a:p>
                      <a:pPr algn="l"/>
                      <a:r>
                        <a:rPr sz="1100" b="0" i="0">
                          <a:solidFill>
                            <a:srgbClr val="FFFFFF"/>
                          </a:solidFill>
                          <a:latin typeface="Calibri"/>
                        </a:rPr>
                        <a:t>24.4%</a:t>
                      </a:r>
                    </a:p>
                  </a:txBody>
                  <a:tcPr>
                    <a:solidFill>
                      <a:srgbClr val="0d1b2a"/>
                    </a:solidFill>
                  </a:tcPr>
                </a:tc>
                <a:tc>
                  <a:txBody>
                    <a:bodyPr/>
                    <a:lstStyle/>
                    <a:p>
                      <a:pPr algn="l"/>
                      <a:r>
                        <a:rPr sz="1100" b="0" i="0">
                          <a:solidFill>
                            <a:srgbClr val="FFC107"/>
                          </a:solidFill>
                          <a:latin typeface="Calibri"/>
                        </a:rPr>
                        <a:t>Medium — gradual</a:t>
                      </a:r>
                    </a:p>
                    <a:p>
                      <a:pPr algn="l"/>
                      <a:r>
                        <a:rPr sz="1100" b="0" i="0">
                          <a:solidFill>
                            <a:srgbClr val="FFC107"/>
                          </a:solidFill>
                          <a:latin typeface="Calibri"/>
                        </a:rPr>
                        <a:t>meaning erosion</a:t>
                      </a:r>
                    </a:p>
                  </a:txBody>
                  <a:tcPr>
                    <a:solidFill>
                      <a:srgbClr val="0d1b2a"/>
                    </a:solidFill>
                  </a:tcPr>
                </a:tc>
                <a:tc>
                  <a:txBody>
                    <a:bodyPr/>
                    <a:lstStyle/>
                    <a:p>
                      <a:pPr algn="l"/>
                      <a:r>
                        <a:rPr sz="1100" b="0" i="0">
                          <a:solidFill>
                            <a:srgbClr val="FFFFFF"/>
                          </a:solidFill>
                          <a:latin typeface="Calibri"/>
                        </a:rPr>
                        <a:t>General model improvement,</a:t>
                      </a:r>
                    </a:p>
                    <a:p>
                      <a:pPr algn="l"/>
                      <a:r>
                        <a:rPr sz="1100" b="0" i="0">
                          <a:solidFill>
                            <a:srgbClr val="FFFFFF"/>
                          </a:solidFill>
                          <a:latin typeface="Calibri"/>
                        </a:rPr>
                        <a:t>N-best aggregation</a:t>
                      </a:r>
                    </a:p>
                  </a:txBody>
                  <a:tcPr>
                    <a:solidFill>
                      <a:srgbClr val="0d1b2a"/>
                    </a:solidFill>
                  </a:tcPr>
                </a:tc>
              </a:tr>
            </a:tbl>
          </a:graphicData>
        </a:graphic>
      </p:graphicFrame>
      <p:sp>
        <p:nvSpPr>
          <p:cNvPr id="6" name="Rounded Rectangle 5"/>
          <p:cNvSpPr/>
          <p:nvPr/>
        </p:nvSpPr>
        <p:spPr>
          <a:xfrm>
            <a:off x="548640" y="5029200"/>
            <a:ext cx="11091672" cy="640080"/>
          </a:xfrm>
          <a:prstGeom prst="roundRect">
            <a:avLst/>
          </a:prstGeom>
          <a:solidFill>
            <a:srgbClr val="152A40"/>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074920"/>
            <a:ext cx="10725912" cy="548640"/>
          </a:xfrm>
          <a:prstGeom prst="rect">
            <a:avLst/>
          </a:prstGeom>
          <a:noFill/>
        </p:spPr>
        <p:txBody>
          <a:bodyPr wrap="square" anchor="t"/>
          <a:lstStyle/>
          <a:p>
            <a:pPr algn="l"/>
            <a:r>
              <a:rPr sz="1200" b="0" i="0">
                <a:solidFill>
                  <a:srgbClr val="FFFFFF"/>
                </a:solidFill>
                <a:latin typeface="Calibri"/>
              </a:rPr>
              <a:t>Key insight: Wrong Topic (31.6%) is the single largest failure mode — and the one most likely to improve with a stronger LLM backbone (e.g., Llama 3.1 8B replacing Llama 2 7B). Combined with Right Topic Wrong Details (22.7%), over half of all failures need better language modeling and domain adaptation.</a:t>
            </a:r>
          </a:p>
        </p:txBody>
      </p:sp>
      <p:sp>
        <p:nvSpPr>
          <p:cNvPr id="8" name="TextBox 7"/>
          <p:cNvSpPr txBox="1"/>
          <p:nvPr/>
        </p:nvSpPr>
        <p:spPr>
          <a:xfrm>
            <a:off x="548640" y="5852160"/>
            <a:ext cx="11091672" cy="320040"/>
          </a:xfrm>
          <a:prstGeom prst="rect">
            <a:avLst/>
          </a:prstGeom>
          <a:noFill/>
        </p:spPr>
        <p:txBody>
          <a:bodyPr wrap="square" anchor="t"/>
          <a:lstStyle/>
          <a:p>
            <a:pPr algn="ctr"/>
            <a:r>
              <a:rPr sz="1100" b="0" i="1">
                <a:solidFill>
                  <a:srgbClr val="AAAAAA"/>
                </a:solidFill>
                <a:latin typeface="Calibri"/>
              </a:rPr>
              <a:t>Severity ranked: Hallucination &gt; Wrong Topic &gt; Right Topic Wrong Details &gt; Accumulated Errors &gt; Signal Loss</a:t>
            </a:r>
          </a:p>
        </p:txBody>
      </p:sp>
      <p:pic>
        <p:nvPicPr>
          <p:cNvPr id="9" name="Picture 8"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0" name="TextBox 9"/>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26</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00"/>
                                  <p:tgtEl>
                                    <p:spTgt spid="5"/>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Decode Tuning: 13 Experiments, Minimal Gain</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320040"/>
          </a:xfrm>
          <a:prstGeom prst="rect">
            <a:avLst/>
          </a:prstGeom>
          <a:noFill/>
        </p:spPr>
        <p:txBody>
          <a:bodyPr wrap="square" anchor="t"/>
          <a:lstStyle/>
          <a:p>
            <a:pPr algn="l"/>
            <a:r>
              <a:rPr sz="1800" b="1" i="0">
                <a:solidFill>
                  <a:srgbClr val="00B4D8"/>
                </a:solidFill>
                <a:latin typeface="Calibri"/>
              </a:rPr>
              <a:t>What We Tested</a:t>
            </a:r>
          </a:p>
        </p:txBody>
      </p:sp>
      <p:sp>
        <p:nvSpPr>
          <p:cNvPr id="5" name="TextBox 4"/>
          <p:cNvSpPr txBox="1"/>
          <p:nvPr/>
        </p:nvSpPr>
        <p:spPr>
          <a:xfrm>
            <a:off x="548640" y="1737360"/>
            <a:ext cx="5029200" cy="2286000"/>
          </a:xfrm>
          <a:prstGeom prst="rect">
            <a:avLst/>
          </a:prstGeom>
          <a:noFill/>
        </p:spPr>
        <p:txBody>
          <a:bodyPr wrap="square">
            <a:spAutoFit/>
          </a:bodyPr>
          <a:lstStyle/>
          <a:p>
            <a:pPr algn="l">
              <a:spcAft>
                <a:spcPts val="600"/>
              </a:spcAft>
            </a:pPr>
            <a:r>
              <a:rPr sz="1400" b="1">
                <a:solidFill>
                  <a:srgbClr val="00B4D8"/>
                </a:solidFill>
                <a:latin typeface="Calibri"/>
              </a:rPr>
              <a:t>• </a:t>
            </a:r>
            <a:r>
              <a:rPr sz="1400" b="0">
                <a:solidFill>
                  <a:srgbClr val="FFFFFF"/>
                </a:solidFill>
                <a:latin typeface="Calibri"/>
              </a:rPr>
              <a:t>4 decode parameters: beam size, length penalty, temperature, sampling</a:t>
            </a:r>
          </a:p>
          <a:p>
            <a:pPr algn="l">
              <a:spcAft>
                <a:spcPts val="600"/>
              </a:spcAft>
            </a:pPr>
            <a:r>
              <a:rPr sz="1400" b="1">
                <a:solidFill>
                  <a:srgbClr val="00B4D8"/>
                </a:solidFill>
                <a:latin typeface="Calibri"/>
              </a:rPr>
              <a:t>• </a:t>
            </a:r>
            <a:r>
              <a:rPr sz="1400" b="0">
                <a:solidFill>
                  <a:srgbClr val="FFFFFF"/>
                </a:solidFill>
                <a:latin typeface="Calibri"/>
              </a:rPr>
              <a:t>13 systematic experiments (A–M) on 107 segments</a:t>
            </a:r>
          </a:p>
          <a:p>
            <a:pPr algn="l">
              <a:spcAft>
                <a:spcPts val="600"/>
              </a:spcAft>
            </a:pPr>
            <a:r>
              <a:rPr sz="1400" b="1">
                <a:solidFill>
                  <a:srgbClr val="00B4D8"/>
                </a:solidFill>
                <a:latin typeface="Calibri"/>
              </a:rPr>
              <a:t>• </a:t>
            </a:r>
            <a:r>
              <a:rPr sz="1400" b="0">
                <a:solidFill>
                  <a:srgbClr val="FFFFFF"/>
                </a:solidFill>
                <a:latin typeface="Calibri"/>
              </a:rPr>
              <a:t>Best config (J) validated on full 1,497 segments</a:t>
            </a:r>
          </a:p>
          <a:p>
            <a:pPr algn="l">
              <a:spcAft>
                <a:spcPts val="600"/>
              </a:spcAft>
            </a:pPr>
            <a:r>
              <a:rPr sz="1400" b="1">
                <a:solidFill>
                  <a:srgbClr val="00B4D8"/>
                </a:solidFill>
                <a:latin typeface="Calibri"/>
              </a:rPr>
              <a:t>• </a:t>
            </a:r>
            <a:r>
              <a:rPr sz="1400" b="0">
                <a:solidFill>
                  <a:srgbClr val="FFFFFF"/>
                </a:solidFill>
                <a:latin typeface="Calibri"/>
              </a:rPr>
              <a:t>Parameters explored: beam 5–50, lenpen −0.5 to 2.0, temp 0.3–1.5</a:t>
            </a:r>
          </a:p>
        </p:txBody>
      </p:sp>
      <p:sp>
        <p:nvSpPr>
          <p:cNvPr id="6" name="Rounded Rectangle 5"/>
          <p:cNvSpPr/>
          <p:nvPr/>
        </p:nvSpPr>
        <p:spPr>
          <a:xfrm>
            <a:off x="548640" y="4160520"/>
            <a:ext cx="5029200" cy="164592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4663440" cy="274320"/>
          </a:xfrm>
          <a:prstGeom prst="rect">
            <a:avLst/>
          </a:prstGeom>
          <a:noFill/>
        </p:spPr>
        <p:txBody>
          <a:bodyPr wrap="square" anchor="t"/>
          <a:lstStyle/>
          <a:p>
            <a:pPr algn="l"/>
            <a:r>
              <a:rPr sz="1400" b="1" i="0">
                <a:solidFill>
                  <a:srgbClr val="E06C75"/>
                </a:solidFill>
                <a:latin typeface="Calibri"/>
              </a:rPr>
              <a:t>Key Finding</a:t>
            </a:r>
          </a:p>
        </p:txBody>
      </p:sp>
      <p:sp>
        <p:nvSpPr>
          <p:cNvPr id="8" name="TextBox 7"/>
          <p:cNvSpPr txBox="1"/>
          <p:nvPr/>
        </p:nvSpPr>
        <p:spPr>
          <a:xfrm>
            <a:off x="731520" y="4572000"/>
            <a:ext cx="4663440" cy="1097280"/>
          </a:xfrm>
          <a:prstGeom prst="rect">
            <a:avLst/>
          </a:prstGeom>
          <a:noFill/>
        </p:spPr>
        <p:txBody>
          <a:bodyPr wrap="square">
            <a:spAutoFit/>
          </a:bodyPr>
          <a:lstStyle/>
          <a:p>
            <a:pPr algn="l">
              <a:spcAft>
                <a:spcPts val="600"/>
              </a:spcAft>
            </a:pPr>
            <a:r>
              <a:rPr sz="1300" b="1">
                <a:solidFill>
                  <a:srgbClr val="00B4D8"/>
                </a:solidFill>
                <a:latin typeface="Calibri"/>
              </a:rPr>
              <a:t>• </a:t>
            </a:r>
            <a:r>
              <a:rPr sz="1300" b="0">
                <a:solidFill>
                  <a:srgbClr val="FFFFFF"/>
                </a:solidFill>
                <a:latin typeface="Calibri"/>
              </a:rPr>
              <a:t>Per-segment quality rankings identical across configs (r &gt; 0.92)</a:t>
            </a:r>
          </a:p>
          <a:p>
            <a:pPr algn="l">
              <a:spcAft>
                <a:spcPts val="600"/>
              </a:spcAft>
            </a:pPr>
            <a:r>
              <a:rPr sz="1300" b="1">
                <a:solidFill>
                  <a:srgbClr val="00B4D8"/>
                </a:solidFill>
                <a:latin typeface="Calibri"/>
              </a:rPr>
              <a:t>• </a:t>
            </a:r>
            <a:r>
              <a:rPr sz="1300" b="0">
                <a:solidFill>
                  <a:srgbClr val="FFFFFF"/>
                </a:solidFill>
                <a:latin typeface="Calibri"/>
              </a:rPr>
              <a:t>A “good” segment is good in ALL configs; a “bad” one is always bad</a:t>
            </a:r>
          </a:p>
          <a:p>
            <a:pPr algn="l">
              <a:spcAft>
                <a:spcPts val="600"/>
              </a:spcAft>
            </a:pPr>
            <a:r>
              <a:rPr sz="1300" b="1">
                <a:solidFill>
                  <a:srgbClr val="00B4D8"/>
                </a:solidFill>
                <a:latin typeface="Calibri"/>
              </a:rPr>
              <a:t>• </a:t>
            </a:r>
            <a:r>
              <a:rPr sz="1300" b="1">
                <a:solidFill>
                  <a:srgbClr val="E06C75"/>
                </a:solidFill>
                <a:latin typeface="Calibri"/>
              </a:rPr>
              <a:t>The bottleneck is the visual encoder, not decode parameters</a:t>
            </a:r>
          </a:p>
        </p:txBody>
      </p:sp>
      <p:sp>
        <p:nvSpPr>
          <p:cNvPr id="9" name="TextBox 8"/>
          <p:cNvSpPr txBox="1"/>
          <p:nvPr/>
        </p:nvSpPr>
        <p:spPr>
          <a:xfrm>
            <a:off x="6611111" y="1325880"/>
            <a:ext cx="5029200" cy="320040"/>
          </a:xfrm>
          <a:prstGeom prst="rect">
            <a:avLst/>
          </a:prstGeom>
          <a:noFill/>
        </p:spPr>
        <p:txBody>
          <a:bodyPr wrap="square" anchor="t"/>
          <a:lstStyle/>
          <a:p>
            <a:pPr algn="l"/>
            <a:r>
              <a:rPr sz="1800" b="1" i="0">
                <a:solidFill>
                  <a:srgbClr val="E06C75"/>
                </a:solidFill>
                <a:latin typeface="Calibri"/>
              </a:rPr>
              <a:t>What We Found</a:t>
            </a:r>
          </a:p>
        </p:txBody>
      </p:sp>
      <p:graphicFrame>
        <p:nvGraphicFramePr>
          <p:cNvPr id="10" name="Table 9"/>
          <p:cNvGraphicFramePr>
            <a:graphicFrameLocks noGrp="1"/>
          </p:cNvGraphicFramePr>
          <p:nvPr/>
        </p:nvGraphicFramePr>
        <p:xfrm>
          <a:off x="6611111" y="1737360"/>
          <a:ext cx="5029200" cy="2194560"/>
        </p:xfrm>
        <a:graphic>
          <a:graphicData uri="http://schemas.openxmlformats.org/drawingml/2006/table">
            <a:tbl>
              <a:tblPr firstRow="0" bandRow="0" lastRow="0" bandCol="0">
                <a:tableStyleId>{5C22544A-7EE6-4342-B048-85BDC9FD1C3A}</a:tableStyleId>
              </a:tblPr>
              <a:tblGrid>
                <a:gridCol w="1554480"/>
                <a:gridCol w="1097280"/>
                <a:gridCol w="1097280"/>
                <a:gridCol w="1280160"/>
              </a:tblGrid>
              <a:tr h="365760">
                <a:tc>
                  <a:txBody>
                    <a:bodyPr/>
                    <a:lstStyle/>
                    <a:p>
                      <a:pPr algn="ctr"/>
                      <a:r>
                        <a:rPr sz="1100" b="1" i="0">
                          <a:solidFill>
                            <a:srgbClr val="FFFFFF"/>
                          </a:solidFill>
                          <a:latin typeface="Calibri"/>
                        </a:rPr>
                        <a:t>Metric</a:t>
                      </a:r>
                    </a:p>
                  </a:txBody>
                  <a:tcPr>
                    <a:solidFill>
                      <a:srgbClr val="00b4d8"/>
                    </a:solidFill>
                  </a:tcPr>
                </a:tc>
                <a:tc>
                  <a:txBody>
                    <a:bodyPr/>
                    <a:lstStyle/>
                    <a:p>
                      <a:pPr algn="ctr"/>
                      <a:r>
                        <a:rPr sz="1100" b="1" i="0">
                          <a:solidFill>
                            <a:srgbClr val="FFFFFF"/>
                          </a:solidFill>
                          <a:latin typeface="Calibri"/>
                        </a:rPr>
                        <a:t>Baseline</a:t>
                      </a:r>
                    </a:p>
                  </a:txBody>
                  <a:tcPr>
                    <a:solidFill>
                      <a:srgbClr val="00b4d8"/>
                    </a:solidFill>
                  </a:tcPr>
                </a:tc>
                <a:tc>
                  <a:txBody>
                    <a:bodyPr/>
                    <a:lstStyle/>
                    <a:p>
                      <a:pPr algn="ctr"/>
                      <a:r>
                        <a:rPr sz="1100" b="1" i="0">
                          <a:solidFill>
                            <a:srgbClr val="FFFFFF"/>
                          </a:solidFill>
                          <a:latin typeface="Calibri"/>
                        </a:rPr>
                        <a:t>Best (J)</a:t>
                      </a:r>
                    </a:p>
                  </a:txBody>
                  <a:tcPr>
                    <a:solidFill>
                      <a:srgbClr val="00b4d8"/>
                    </a:solidFill>
                  </a:tcPr>
                </a:tc>
                <a:tc>
                  <a:txBody>
                    <a:bodyPr/>
                    <a:lstStyle/>
                    <a:p>
                      <a:pPr algn="ctr"/>
                      <a:r>
                        <a:rPr sz="1100" b="1" i="0">
                          <a:solidFill>
                            <a:srgbClr val="FFFFFF"/>
                          </a:solidFill>
                          <a:latin typeface="Calibri"/>
                        </a:rPr>
                        <a:t>Δ</a:t>
                      </a:r>
                    </a:p>
                  </a:txBody>
                  <a:tcPr>
                    <a:solidFill>
                      <a:srgbClr val="00b4d8"/>
                    </a:solidFill>
                  </a:tcPr>
                </a:tc>
              </a:tr>
              <a:tr h="365760">
                <a:tc>
                  <a:txBody>
                    <a:bodyPr/>
                    <a:lstStyle/>
                    <a:p>
                      <a:pPr algn="l"/>
                      <a:r>
                        <a:rPr sz="1100" b="0" i="0">
                          <a:solidFill>
                            <a:srgbClr val="FFFFFF"/>
                          </a:solidFill>
                          <a:latin typeface="Calibri"/>
                        </a:rPr>
                        <a:t>Mean IS</a:t>
                      </a:r>
                    </a:p>
                  </a:txBody>
                  <a:tcPr>
                    <a:solidFill>
                      <a:srgbClr val="0d1b2a"/>
                    </a:solidFill>
                  </a:tcPr>
                </a:tc>
                <a:tc>
                  <a:txBody>
                    <a:bodyPr/>
                    <a:lstStyle/>
                    <a:p>
                      <a:pPr algn="l"/>
                      <a:r>
                        <a:rPr sz="1100" b="0" i="0">
                          <a:solidFill>
                            <a:srgbClr val="FFFFFF"/>
                          </a:solidFill>
                          <a:latin typeface="Calibri"/>
                        </a:rPr>
                        <a:t>2.52</a:t>
                      </a:r>
                    </a:p>
                  </a:txBody>
                  <a:tcPr>
                    <a:solidFill>
                      <a:srgbClr val="0d1b2a"/>
                    </a:solidFill>
                  </a:tcPr>
                </a:tc>
                <a:tc>
                  <a:txBody>
                    <a:bodyPr/>
                    <a:lstStyle/>
                    <a:p>
                      <a:pPr algn="l"/>
                      <a:r>
                        <a:rPr sz="1100" b="0" i="0">
                          <a:solidFill>
                            <a:srgbClr val="FFFFFF"/>
                          </a:solidFill>
                          <a:latin typeface="Calibri"/>
                        </a:rPr>
                        <a:t>2.60</a:t>
                      </a:r>
                    </a:p>
                  </a:txBody>
                  <a:tcPr>
                    <a:solidFill>
                      <a:srgbClr val="0d1b2a"/>
                    </a:solidFill>
                  </a:tcPr>
                </a:tc>
                <a:tc>
                  <a:txBody>
                    <a:bodyPr/>
                    <a:lstStyle/>
                    <a:p>
                      <a:pPr algn="l"/>
                      <a:r>
                        <a:rPr sz="1100" b="0" i="0">
                          <a:solidFill>
                            <a:srgbClr val="FFFFFF"/>
                          </a:solidFill>
                          <a:latin typeface="Calibri"/>
                        </a:rPr>
                        <a:t>+0.08</a:t>
                      </a:r>
                    </a:p>
                  </a:txBody>
                  <a:tcPr>
                    <a:solidFill>
                      <a:srgbClr val="0d1b2a"/>
                    </a:solidFill>
                  </a:tcPr>
                </a:tc>
              </a:tr>
              <a:tr h="365760">
                <a:tc>
                  <a:txBody>
                    <a:bodyPr/>
                    <a:lstStyle/>
                    <a:p>
                      <a:pPr algn="l"/>
                      <a:r>
                        <a:rPr sz="1100" b="0" i="0">
                          <a:solidFill>
                            <a:srgbClr val="FFFFFF"/>
                          </a:solidFill>
                          <a:latin typeface="Calibri"/>
                        </a:rPr>
                        <a:t>Captured (IS≥3)</a:t>
                      </a:r>
                    </a:p>
                  </a:txBody>
                  <a:tcPr>
                    <a:solidFill>
                      <a:srgbClr val="152a40"/>
                    </a:solidFill>
                  </a:tcPr>
                </a:tc>
                <a:tc>
                  <a:txBody>
                    <a:bodyPr/>
                    <a:lstStyle/>
                    <a:p>
                      <a:pPr algn="l"/>
                      <a:r>
                        <a:rPr sz="1100" b="0" i="0">
                          <a:solidFill>
                            <a:srgbClr val="FFFFFF"/>
                          </a:solidFill>
                          <a:latin typeface="Calibri"/>
                        </a:rPr>
                        <a:t>39.9%</a:t>
                      </a:r>
                    </a:p>
                  </a:txBody>
                  <a:tcPr>
                    <a:solidFill>
                      <a:srgbClr val="152a40"/>
                    </a:solidFill>
                  </a:tcPr>
                </a:tc>
                <a:tc>
                  <a:txBody>
                    <a:bodyPr/>
                    <a:lstStyle/>
                    <a:p>
                      <a:pPr algn="l"/>
                      <a:r>
                        <a:rPr sz="1100" b="0" i="0">
                          <a:solidFill>
                            <a:srgbClr val="FFFFFF"/>
                          </a:solidFill>
                          <a:latin typeface="Calibri"/>
                        </a:rPr>
                        <a:t>41.2%</a:t>
                      </a:r>
                    </a:p>
                  </a:txBody>
                  <a:tcPr>
                    <a:solidFill>
                      <a:srgbClr val="152a40"/>
                    </a:solidFill>
                  </a:tcPr>
                </a:tc>
                <a:tc>
                  <a:txBody>
                    <a:bodyPr/>
                    <a:lstStyle/>
                    <a:p>
                      <a:pPr algn="l"/>
                      <a:r>
                        <a:rPr sz="1100" b="0" i="0">
                          <a:solidFill>
                            <a:srgbClr val="FFFFFF"/>
                          </a:solidFill>
                          <a:latin typeface="Calibri"/>
                        </a:rPr>
                        <a:t>+1.3pp</a:t>
                      </a:r>
                    </a:p>
                  </a:txBody>
                  <a:tcPr>
                    <a:solidFill>
                      <a:srgbClr val="152a40"/>
                    </a:solidFill>
                  </a:tcPr>
                </a:tc>
              </a:tr>
              <a:tr h="365760">
                <a:tc>
                  <a:txBody>
                    <a:bodyPr/>
                    <a:lstStyle/>
                    <a:p>
                      <a:pPr algn="l"/>
                      <a:r>
                        <a:rPr sz="1100" b="0" i="0">
                          <a:solidFill>
                            <a:srgbClr val="FFFFFF"/>
                          </a:solidFill>
                          <a:latin typeface="Calibri"/>
                        </a:rPr>
                        <a:t>Empty outputs</a:t>
                      </a:r>
                    </a:p>
                  </a:txBody>
                  <a:tcPr>
                    <a:solidFill>
                      <a:srgbClr val="0d1b2a"/>
                    </a:solidFill>
                  </a:tcPr>
                </a:tc>
                <a:tc>
                  <a:txBody>
                    <a:bodyPr/>
                    <a:lstStyle/>
                    <a:p>
                      <a:pPr algn="l"/>
                      <a:r>
                        <a:rPr sz="1100" b="0" i="0">
                          <a:solidFill>
                            <a:srgbClr val="FFFFFF"/>
                          </a:solidFill>
                          <a:latin typeface="Calibri"/>
                        </a:rPr>
                        <a:t>70 (4.7%)</a:t>
                      </a:r>
                    </a:p>
                  </a:txBody>
                  <a:tcPr>
                    <a:solidFill>
                      <a:srgbClr val="0d1b2a"/>
                    </a:solidFill>
                  </a:tcPr>
                </a:tc>
                <a:tc>
                  <a:txBody>
                    <a:bodyPr/>
                    <a:lstStyle/>
                    <a:p>
                      <a:pPr algn="l"/>
                      <a:r>
                        <a:rPr sz="1100" b="0" i="0">
                          <a:solidFill>
                            <a:srgbClr val="FFFFFF"/>
                          </a:solidFill>
                          <a:latin typeface="Calibri"/>
                        </a:rPr>
                        <a:t>0 (0%)</a:t>
                      </a:r>
                    </a:p>
                  </a:txBody>
                  <a:tcPr>
                    <a:solidFill>
                      <a:srgbClr val="0d1b2a"/>
                    </a:solidFill>
                  </a:tcPr>
                </a:tc>
                <a:tc>
                  <a:txBody>
                    <a:bodyPr/>
                    <a:lstStyle/>
                    <a:p>
                      <a:pPr algn="l"/>
                      <a:r>
                        <a:rPr sz="1100" b="0" i="0">
                          <a:solidFill>
                            <a:srgbClr val="FFFFFF"/>
                          </a:solidFill>
                          <a:latin typeface="Calibri"/>
                        </a:rPr>
                        <a:t>−70</a:t>
                      </a:r>
                    </a:p>
                  </a:txBody>
                  <a:tcPr>
                    <a:solidFill>
                      <a:srgbClr val="0d1b2a"/>
                    </a:solidFill>
                  </a:tcPr>
                </a:tc>
              </a:tr>
              <a:tr h="365760">
                <a:tc>
                  <a:txBody>
                    <a:bodyPr/>
                    <a:lstStyle/>
                    <a:p>
                      <a:pPr algn="l"/>
                      <a:r>
                        <a:rPr sz="1100" b="0" i="0">
                          <a:solidFill>
                            <a:srgbClr val="FFFFFF"/>
                          </a:solidFill>
                          <a:latin typeface="Calibri"/>
                        </a:rPr>
                        <a:t>Hallucinations</a:t>
                      </a:r>
                    </a:p>
                  </a:txBody>
                  <a:tcPr>
                    <a:solidFill>
                      <a:srgbClr val="152a40"/>
                    </a:solidFill>
                  </a:tcPr>
                </a:tc>
                <a:tc>
                  <a:txBody>
                    <a:bodyPr/>
                    <a:lstStyle/>
                    <a:p>
                      <a:pPr algn="l"/>
                      <a:r>
                        <a:rPr sz="1100" b="0" i="0">
                          <a:solidFill>
                            <a:srgbClr val="FFFFFF"/>
                          </a:solidFill>
                          <a:latin typeface="Calibri"/>
                        </a:rPr>
                        <a:t>307 (20.5%)</a:t>
                      </a:r>
                    </a:p>
                  </a:txBody>
                  <a:tcPr>
                    <a:solidFill>
                      <a:srgbClr val="152a40"/>
                    </a:solidFill>
                  </a:tcPr>
                </a:tc>
                <a:tc>
                  <a:txBody>
                    <a:bodyPr/>
                    <a:lstStyle/>
                    <a:p>
                      <a:pPr algn="l"/>
                      <a:r>
                        <a:rPr sz="1100" b="0" i="0">
                          <a:solidFill>
                            <a:srgbClr val="FFFFFF"/>
                          </a:solidFill>
                          <a:latin typeface="Calibri"/>
                        </a:rPr>
                        <a:t>348 (23.2%)</a:t>
                      </a:r>
                    </a:p>
                  </a:txBody>
                  <a:tcPr>
                    <a:solidFill>
                      <a:srgbClr val="152a40"/>
                    </a:solidFill>
                  </a:tcPr>
                </a:tc>
                <a:tc>
                  <a:txBody>
                    <a:bodyPr/>
                    <a:lstStyle/>
                    <a:p>
                      <a:pPr algn="l"/>
                      <a:r>
                        <a:rPr sz="1100" b="0" i="0">
                          <a:solidFill>
                            <a:srgbClr val="FFFFFF"/>
                          </a:solidFill>
                          <a:latin typeface="Calibri"/>
                        </a:rPr>
                        <a:t>+41</a:t>
                      </a:r>
                    </a:p>
                  </a:txBody>
                  <a:tcPr>
                    <a:solidFill>
                      <a:srgbClr val="152a40"/>
                    </a:solidFill>
                  </a:tcPr>
                </a:tc>
              </a:tr>
              <a:tr h="365760">
                <a:tc>
                  <a:txBody>
                    <a:bodyPr/>
                    <a:lstStyle/>
                    <a:p>
                      <a:pPr algn="l"/>
                      <a:r>
                        <a:rPr sz="1100" b="0" i="0">
                          <a:solidFill>
                            <a:srgbClr val="FFFFFF"/>
                          </a:solidFill>
                          <a:latin typeface="Calibri"/>
                        </a:rPr>
                        <a:t>Mean WWER</a:t>
                      </a:r>
                    </a:p>
                  </a:txBody>
                  <a:tcPr>
                    <a:solidFill>
                      <a:srgbClr val="0d1b2a"/>
                    </a:solidFill>
                  </a:tcPr>
                </a:tc>
                <a:tc>
                  <a:txBody>
                    <a:bodyPr/>
                    <a:lstStyle/>
                    <a:p>
                      <a:pPr algn="l"/>
                      <a:r>
                        <a:rPr sz="1100" b="0" i="0">
                          <a:solidFill>
                            <a:srgbClr val="FFFFFF"/>
                          </a:solidFill>
                          <a:latin typeface="Calibri"/>
                        </a:rPr>
                        <a:t>61.9%</a:t>
                      </a:r>
                    </a:p>
                  </a:txBody>
                  <a:tcPr>
                    <a:solidFill>
                      <a:srgbClr val="0d1b2a"/>
                    </a:solidFill>
                  </a:tcPr>
                </a:tc>
                <a:tc>
                  <a:txBody>
                    <a:bodyPr/>
                    <a:lstStyle/>
                    <a:p>
                      <a:pPr algn="l"/>
                      <a:r>
                        <a:rPr sz="1100" b="0" i="0">
                          <a:solidFill>
                            <a:srgbClr val="FFFFFF"/>
                          </a:solidFill>
                          <a:latin typeface="Calibri"/>
                        </a:rPr>
                        <a:t>59.8%</a:t>
                      </a:r>
                    </a:p>
                  </a:txBody>
                  <a:tcPr>
                    <a:solidFill>
                      <a:srgbClr val="0d1b2a"/>
                    </a:solidFill>
                  </a:tcPr>
                </a:tc>
                <a:tc>
                  <a:txBody>
                    <a:bodyPr/>
                    <a:lstStyle/>
                    <a:p>
                      <a:pPr algn="l"/>
                      <a:r>
                        <a:rPr sz="1100" b="0" i="0">
                          <a:solidFill>
                            <a:srgbClr val="FFFFFF"/>
                          </a:solidFill>
                          <a:latin typeface="Calibri"/>
                        </a:rPr>
                        <a:t>−2.1pp</a:t>
                      </a:r>
                    </a:p>
                  </a:txBody>
                  <a:tcPr>
                    <a:solidFill>
                      <a:srgbClr val="0d1b2a"/>
                    </a:solidFill>
                  </a:tcPr>
                </a:tc>
              </a:tr>
            </a:tbl>
          </a:graphicData>
        </a:graphic>
      </p:graphicFrame>
      <p:sp>
        <p:nvSpPr>
          <p:cNvPr id="11" name="TextBox 10"/>
          <p:cNvSpPr txBox="1"/>
          <p:nvPr/>
        </p:nvSpPr>
        <p:spPr>
          <a:xfrm>
            <a:off x="6611111" y="4069080"/>
            <a:ext cx="5029200" cy="640080"/>
          </a:xfrm>
          <a:prstGeom prst="rect">
            <a:avLst/>
          </a:prstGeom>
          <a:noFill/>
        </p:spPr>
        <p:txBody>
          <a:bodyPr wrap="square" anchor="t"/>
          <a:lstStyle/>
          <a:p>
            <a:pPr algn="l"/>
            <a:r>
              <a:rPr sz="1400" b="0" i="1">
                <a:solidFill>
                  <a:srgbClr val="AAAAAA"/>
                </a:solidFill>
                <a:latin typeface="Calibri"/>
              </a:rPr>
              <a:t>Config J eliminates empties but adds hallucinations. Net IS gain: +0.08. Tuning is mitigation, not a cure.</a:t>
            </a:r>
          </a:p>
        </p:txBody>
      </p:sp>
      <p:pic>
        <p:nvPicPr>
          <p:cNvPr id="12" name="Picture 11"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3" name="TextBox 12"/>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27</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fill="hold">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10" fill="hold">
                      <p:stCondLst>
                        <p:cond delay="0"/>
                      </p:stCondLst>
                      <p:childTnLst>
                        <p:par>
                          <p:cTn id="11" fill="hold">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fill="hold">
                            <p:stCondLst>
                              <p:cond delay="12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par>
                    <p:cTn id="17" fill="hold">
                      <p:stCondLst>
                        <p:cond delay="0"/>
                      </p:stCondLst>
                      <p:childTnLst>
                        <p:par>
                          <p:cTn id="18" fill="hold">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9" grpId="1"/>
      <p:bldP spid="10" grpId="1"/>
      <p:bldP spid="6" grpId="2"/>
    </p:bld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Why These 6 Signals? A Validation</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65760"/>
          </a:xfrm>
          <a:prstGeom prst="rect">
            <a:avLst/>
          </a:prstGeom>
          <a:noFill/>
        </p:spPr>
        <p:txBody>
          <a:bodyPr wrap="square" anchor="t"/>
          <a:lstStyle/>
          <a:p>
            <a:pPr algn="l"/>
            <a:r>
              <a:rPr sz="1300" b="0" i="1">
                <a:solidFill>
                  <a:srgbClr val="AAAAAA"/>
                </a:solidFill>
                <a:latin typeface="Calibri"/>
              </a:rPr>
              <a:t>Three independent quality dimensions confirm IS captures distinct, complementary aspects of transcription quality — not arbitrary signals.</a:t>
            </a:r>
          </a:p>
        </p:txBody>
      </p:sp>
      <p:sp>
        <p:nvSpPr>
          <p:cNvPr id="5" name="TextBox 4"/>
          <p:cNvSpPr txBox="1"/>
          <p:nvPr/>
        </p:nvSpPr>
        <p:spPr>
          <a:xfrm>
            <a:off x="548640" y="1737360"/>
            <a:ext cx="5303520" cy="365760"/>
          </a:xfrm>
          <a:prstGeom prst="rect">
            <a:avLst/>
          </a:prstGeom>
          <a:noFill/>
        </p:spPr>
        <p:txBody>
          <a:bodyPr wrap="square" anchor="t"/>
          <a:lstStyle/>
          <a:p>
            <a:pPr algn="l"/>
            <a:r>
              <a:rPr sz="2000" b="1" i="0">
                <a:solidFill>
                  <a:srgbClr val="00B4D8"/>
                </a:solidFill>
                <a:latin typeface="Calibri"/>
              </a:rPr>
              <a:t>Signal → IS Correlation</a:t>
            </a:r>
          </a:p>
        </p:txBody>
      </p:sp>
      <p:graphicFrame>
        <p:nvGraphicFramePr>
          <p:cNvPr id="6" name="Table 5"/>
          <p:cNvGraphicFramePr>
            <a:graphicFrameLocks noGrp="1"/>
          </p:cNvGraphicFramePr>
          <p:nvPr/>
        </p:nvGraphicFramePr>
        <p:xfrm>
          <a:off x="548640" y="2194560"/>
          <a:ext cx="5303520" cy="3200400"/>
        </p:xfrm>
        <a:graphic>
          <a:graphicData uri="http://schemas.openxmlformats.org/drawingml/2006/table">
            <a:tbl>
              <a:tblPr firstRow="0" bandRow="0" lastRow="0" bandCol="0">
                <a:tableStyleId>{5C22544A-7EE6-4342-B048-85BDC9FD1C3A}</a:tableStyleId>
              </a:tblPr>
              <a:tblGrid>
                <a:gridCol w="1325880"/>
                <a:gridCol w="1325880"/>
                <a:gridCol w="1325880"/>
                <a:gridCol w="1325880"/>
              </a:tblGrid>
              <a:tr h="457200">
                <a:tc>
                  <a:txBody>
                    <a:bodyPr/>
                    <a:lstStyle/>
                    <a:p>
                      <a:pPr algn="ctr"/>
                      <a:r>
                        <a:rPr sz="1400" b="1" i="0">
                          <a:solidFill>
                            <a:srgbClr val="FFFFFF"/>
                          </a:solidFill>
                          <a:latin typeface="Calibri"/>
                        </a:rPr>
                        <a:t>Signal</a:t>
                      </a:r>
                    </a:p>
                  </a:txBody>
                  <a:tcPr>
                    <a:solidFill>
                      <a:srgbClr val="00b4d8"/>
                    </a:solidFill>
                  </a:tcPr>
                </a:tc>
                <a:tc>
                  <a:txBody>
                    <a:bodyPr/>
                    <a:lstStyle/>
                    <a:p>
                      <a:pPr algn="ctr"/>
                      <a:r>
                        <a:rPr sz="1400" b="1" i="0">
                          <a:solidFill>
                            <a:srgbClr val="FFFFFF"/>
                          </a:solidFill>
                          <a:latin typeface="Calibri"/>
                        </a:rPr>
                        <a:t>r with IS</a:t>
                      </a:r>
                    </a:p>
                  </a:txBody>
                  <a:tcPr>
                    <a:solidFill>
                      <a:srgbClr val="00b4d8"/>
                    </a:solidFill>
                  </a:tcPr>
                </a:tc>
                <a:tc>
                  <a:txBody>
                    <a:bodyPr/>
                    <a:lstStyle/>
                    <a:p>
                      <a:pPr algn="ctr"/>
                      <a:r>
                        <a:rPr sz="1400" b="1" i="0">
                          <a:solidFill>
                            <a:srgbClr val="FFFFFF"/>
                          </a:solidFill>
                          <a:latin typeface="Calibri"/>
                        </a:rPr>
                        <a:t>Weight</a:t>
                      </a:r>
                    </a:p>
                  </a:txBody>
                  <a:tcPr>
                    <a:solidFill>
                      <a:srgbClr val="00b4d8"/>
                    </a:solidFill>
                  </a:tcPr>
                </a:tc>
                <a:tc>
                  <a:txBody>
                    <a:bodyPr/>
                    <a:lstStyle/>
                    <a:p>
                      <a:pPr algn="ctr"/>
                      <a:r>
                        <a:rPr sz="1400" b="1" i="0">
                          <a:solidFill>
                            <a:srgbClr val="FFFFFF"/>
                          </a:solidFill>
                          <a:latin typeface="Calibri"/>
                        </a:rPr>
                        <a:t>Variance %</a:t>
                      </a:r>
                    </a:p>
                  </a:txBody>
                  <a:tcPr>
                    <a:solidFill>
                      <a:srgbClr val="00b4d8"/>
                    </a:solidFill>
                  </a:tcPr>
                </a:tc>
              </a:tr>
              <a:tr h="457200">
                <a:tc>
                  <a:txBody>
                    <a:bodyPr/>
                    <a:lstStyle/>
                    <a:p>
                      <a:pPr algn="l"/>
                      <a:r>
                        <a:rPr sz="1400" b="0" i="0">
                          <a:solidFill>
                            <a:srgbClr val="FFFFFF"/>
                          </a:solidFill>
                          <a:latin typeface="Calibri"/>
                        </a:rPr>
                        <a:t>Phonetic Sim</a:t>
                      </a:r>
                    </a:p>
                  </a:txBody>
                  <a:tcPr>
                    <a:solidFill>
                      <a:srgbClr val="0d1b2a"/>
                    </a:solidFill>
                  </a:tcPr>
                </a:tc>
                <a:tc>
                  <a:txBody>
                    <a:bodyPr/>
                    <a:lstStyle/>
                    <a:p>
                      <a:pPr algn="l"/>
                      <a:r>
                        <a:rPr sz="1400" b="0" i="0">
                          <a:solidFill>
                            <a:srgbClr val="4CAF50"/>
                          </a:solidFill>
                          <a:latin typeface="Calibri"/>
                        </a:rPr>
                        <a:t>0.943</a:t>
                      </a:r>
                    </a:p>
                  </a:txBody>
                  <a:tcPr>
                    <a:solidFill>
                      <a:srgbClr val="0d1b2a"/>
                    </a:solidFill>
                  </a:tcPr>
                </a:tc>
                <a:tc>
                  <a:txBody>
                    <a:bodyPr/>
                    <a:lstStyle/>
                    <a:p>
                      <a:pPr algn="l"/>
                      <a:r>
                        <a:rPr sz="1400" b="0" i="0">
                          <a:solidFill>
                            <a:srgbClr val="FFFFFF"/>
                          </a:solidFill>
                          <a:latin typeface="Calibri"/>
                        </a:rPr>
                        <a:t>15%</a:t>
                      </a:r>
                    </a:p>
                  </a:txBody>
                  <a:tcPr>
                    <a:solidFill>
                      <a:srgbClr val="0d1b2a"/>
                    </a:solidFill>
                  </a:tcPr>
                </a:tc>
                <a:tc>
                  <a:txBody>
                    <a:bodyPr/>
                    <a:lstStyle/>
                    <a:p>
                      <a:pPr algn="l"/>
                      <a:r>
                        <a:rPr sz="1400" b="0" i="0">
                          <a:solidFill>
                            <a:srgbClr val="FFFFFF"/>
                          </a:solidFill>
                          <a:latin typeface="Calibri"/>
                        </a:rPr>
                        <a:t>~18%</a:t>
                      </a:r>
                    </a:p>
                  </a:txBody>
                  <a:tcPr>
                    <a:solidFill>
                      <a:srgbClr val="0d1b2a"/>
                    </a:solidFill>
                  </a:tcPr>
                </a:tc>
              </a:tr>
              <a:tr h="457200">
                <a:tc>
                  <a:txBody>
                    <a:bodyPr/>
                    <a:lstStyle/>
                    <a:p>
                      <a:pPr algn="l"/>
                      <a:r>
                        <a:rPr sz="1400" b="0" i="0">
                          <a:solidFill>
                            <a:srgbClr val="FFFFFF"/>
                          </a:solidFill>
                          <a:latin typeface="Calibri"/>
                        </a:rPr>
                        <a:t>Semantic Sim</a:t>
                      </a:r>
                    </a:p>
                  </a:txBody>
                  <a:tcPr>
                    <a:solidFill>
                      <a:srgbClr val="152a40"/>
                    </a:solidFill>
                  </a:tcPr>
                </a:tc>
                <a:tc>
                  <a:txBody>
                    <a:bodyPr/>
                    <a:lstStyle/>
                    <a:p>
                      <a:pPr algn="l"/>
                      <a:r>
                        <a:rPr sz="1400" b="0" i="0">
                          <a:solidFill>
                            <a:srgbClr val="FFFFFF"/>
                          </a:solidFill>
                          <a:latin typeface="Calibri"/>
                        </a:rPr>
                        <a:t>0.856</a:t>
                      </a:r>
                    </a:p>
                  </a:txBody>
                  <a:tcPr>
                    <a:solidFill>
                      <a:srgbClr val="152a40"/>
                    </a:solidFill>
                  </a:tcPr>
                </a:tc>
                <a:tc>
                  <a:txBody>
                    <a:bodyPr/>
                    <a:lstStyle/>
                    <a:p>
                      <a:pPr algn="l"/>
                      <a:r>
                        <a:rPr sz="1400" b="0" i="0">
                          <a:solidFill>
                            <a:srgbClr val="FFFFFF"/>
                          </a:solidFill>
                          <a:latin typeface="Calibri"/>
                        </a:rPr>
                        <a:t>25%</a:t>
                      </a:r>
                    </a:p>
                  </a:txBody>
                  <a:tcPr>
                    <a:solidFill>
                      <a:srgbClr val="152a40"/>
                    </a:solidFill>
                  </a:tcPr>
                </a:tc>
                <a:tc>
                  <a:txBody>
                    <a:bodyPr/>
                    <a:lstStyle/>
                    <a:p>
                      <a:pPr algn="l"/>
                      <a:r>
                        <a:rPr sz="1400" b="0" i="0">
                          <a:solidFill>
                            <a:srgbClr val="FFFFFF"/>
                          </a:solidFill>
                          <a:latin typeface="Calibri"/>
                        </a:rPr>
                        <a:t>28.5%</a:t>
                      </a:r>
                    </a:p>
                  </a:txBody>
                  <a:tcPr>
                    <a:solidFill>
                      <a:srgbClr val="152a40"/>
                    </a:solidFill>
                  </a:tcPr>
                </a:tc>
              </a:tr>
              <a:tr h="457200">
                <a:tc>
                  <a:txBody>
                    <a:bodyPr/>
                    <a:lstStyle/>
                    <a:p>
                      <a:pPr algn="l"/>
                      <a:r>
                        <a:rPr sz="1400" b="0" i="0">
                          <a:solidFill>
                            <a:srgbClr val="FFFFFF"/>
                          </a:solidFill>
                          <a:latin typeface="Calibri"/>
                        </a:rPr>
                        <a:t>Inv. WER</a:t>
                      </a:r>
                    </a:p>
                  </a:txBody>
                  <a:tcPr>
                    <a:solidFill>
                      <a:srgbClr val="0d1b2a"/>
                    </a:solidFill>
                  </a:tcPr>
                </a:tc>
                <a:tc>
                  <a:txBody>
                    <a:bodyPr/>
                    <a:lstStyle/>
                    <a:p>
                      <a:pPr algn="l"/>
                      <a:r>
                        <a:rPr sz="1400" b="0" i="0">
                          <a:solidFill>
                            <a:srgbClr val="FFFFFF"/>
                          </a:solidFill>
                          <a:latin typeface="Calibri"/>
                        </a:rPr>
                        <a:t>0.834</a:t>
                      </a:r>
                    </a:p>
                  </a:txBody>
                  <a:tcPr>
                    <a:solidFill>
                      <a:srgbClr val="0d1b2a"/>
                    </a:solidFill>
                  </a:tcPr>
                </a:tc>
                <a:tc>
                  <a:txBody>
                    <a:bodyPr/>
                    <a:lstStyle/>
                    <a:p>
                      <a:pPr algn="l"/>
                      <a:r>
                        <a:rPr sz="1400" b="0" i="0">
                          <a:solidFill>
                            <a:srgbClr val="FFFFFF"/>
                          </a:solidFill>
                          <a:latin typeface="Calibri"/>
                        </a:rPr>
                        <a:t>15%</a:t>
                      </a:r>
                    </a:p>
                  </a:txBody>
                  <a:tcPr>
                    <a:solidFill>
                      <a:srgbClr val="0d1b2a"/>
                    </a:solidFill>
                  </a:tcPr>
                </a:tc>
                <a:tc>
                  <a:txBody>
                    <a:bodyPr/>
                    <a:lstStyle/>
                    <a:p>
                      <a:pPr algn="l"/>
                      <a:r>
                        <a:rPr sz="1400" b="0" i="0">
                          <a:solidFill>
                            <a:srgbClr val="FFFFFF"/>
                          </a:solidFill>
                          <a:latin typeface="Calibri"/>
                        </a:rPr>
                        <a:t>~16%</a:t>
                      </a:r>
                    </a:p>
                  </a:txBody>
                  <a:tcPr>
                    <a:solidFill>
                      <a:srgbClr val="0d1b2a"/>
                    </a:solidFill>
                  </a:tcPr>
                </a:tc>
              </a:tr>
              <a:tr h="457200">
                <a:tc>
                  <a:txBody>
                    <a:bodyPr/>
                    <a:lstStyle/>
                    <a:p>
                      <a:pPr algn="l"/>
                      <a:r>
                        <a:rPr sz="1400" b="0" i="0">
                          <a:solidFill>
                            <a:srgbClr val="FFFFFF"/>
                          </a:solidFill>
                          <a:latin typeface="Calibri"/>
                        </a:rPr>
                        <a:t>Inv. WWER</a:t>
                      </a:r>
                    </a:p>
                  </a:txBody>
                  <a:tcPr>
                    <a:solidFill>
                      <a:srgbClr val="152a40"/>
                    </a:solidFill>
                  </a:tcPr>
                </a:tc>
                <a:tc>
                  <a:txBody>
                    <a:bodyPr/>
                    <a:lstStyle/>
                    <a:p>
                      <a:pPr algn="l"/>
                      <a:r>
                        <a:rPr sz="1400" b="0" i="0">
                          <a:solidFill>
                            <a:srgbClr val="FFFFFF"/>
                          </a:solidFill>
                          <a:latin typeface="Calibri"/>
                        </a:rPr>
                        <a:t>0.823</a:t>
                      </a:r>
                    </a:p>
                  </a:txBody>
                  <a:tcPr>
                    <a:solidFill>
                      <a:srgbClr val="152a40"/>
                    </a:solidFill>
                  </a:tcPr>
                </a:tc>
                <a:tc>
                  <a:txBody>
                    <a:bodyPr/>
                    <a:lstStyle/>
                    <a:p>
                      <a:pPr algn="l"/>
                      <a:r>
                        <a:rPr sz="1400" b="0" i="0">
                          <a:solidFill>
                            <a:srgbClr val="FFFFFF"/>
                          </a:solidFill>
                          <a:latin typeface="Calibri"/>
                        </a:rPr>
                        <a:t>15%</a:t>
                      </a:r>
                    </a:p>
                  </a:txBody>
                  <a:tcPr>
                    <a:solidFill>
                      <a:srgbClr val="152a40"/>
                    </a:solidFill>
                  </a:tcPr>
                </a:tc>
                <a:tc>
                  <a:txBody>
                    <a:bodyPr/>
                    <a:lstStyle/>
                    <a:p>
                      <a:pPr algn="l"/>
                      <a:r>
                        <a:rPr sz="1400" b="0" i="0">
                          <a:solidFill>
                            <a:srgbClr val="FFFFFF"/>
                          </a:solidFill>
                          <a:latin typeface="Calibri"/>
                        </a:rPr>
                        <a:t>~15%</a:t>
                      </a:r>
                    </a:p>
                  </a:txBody>
                  <a:tcPr>
                    <a:solidFill>
                      <a:srgbClr val="152a40"/>
                    </a:solidFill>
                  </a:tcPr>
                </a:tc>
              </a:tr>
              <a:tr h="457200">
                <a:tc>
                  <a:txBody>
                    <a:bodyPr/>
                    <a:lstStyle/>
                    <a:p>
                      <a:pPr algn="l"/>
                      <a:r>
                        <a:rPr sz="1400" b="0" i="0">
                          <a:solidFill>
                            <a:srgbClr val="FFFFFF"/>
                          </a:solidFill>
                          <a:latin typeface="Calibri"/>
                        </a:rPr>
                        <a:t>NEA F1</a:t>
                      </a:r>
                    </a:p>
                  </a:txBody>
                  <a:tcPr>
                    <a:solidFill>
                      <a:srgbClr val="0d1b2a"/>
                    </a:solidFill>
                  </a:tcPr>
                </a:tc>
                <a:tc>
                  <a:txBody>
                    <a:bodyPr/>
                    <a:lstStyle/>
                    <a:p>
                      <a:pPr algn="l"/>
                      <a:r>
                        <a:rPr sz="1400" b="0" i="0">
                          <a:solidFill>
                            <a:srgbClr val="FFFFFF"/>
                          </a:solidFill>
                          <a:latin typeface="Calibri"/>
                        </a:rPr>
                        <a:t>0.748</a:t>
                      </a:r>
                    </a:p>
                  </a:txBody>
                  <a:tcPr>
                    <a:solidFill>
                      <a:srgbClr val="0d1b2a"/>
                    </a:solidFill>
                  </a:tcPr>
                </a:tc>
                <a:tc>
                  <a:txBody>
                    <a:bodyPr/>
                    <a:lstStyle/>
                    <a:p>
                      <a:pPr algn="l"/>
                      <a:r>
                        <a:rPr sz="1400" b="0" i="0">
                          <a:solidFill>
                            <a:srgbClr val="FFFFFF"/>
                          </a:solidFill>
                          <a:latin typeface="Calibri"/>
                        </a:rPr>
                        <a:t>15%</a:t>
                      </a:r>
                    </a:p>
                  </a:txBody>
                  <a:tcPr>
                    <a:solidFill>
                      <a:srgbClr val="0d1b2a"/>
                    </a:solidFill>
                  </a:tcPr>
                </a:tc>
                <a:tc>
                  <a:txBody>
                    <a:bodyPr/>
                    <a:lstStyle/>
                    <a:p>
                      <a:pPr algn="l"/>
                      <a:r>
                        <a:rPr sz="1400" b="0" i="0">
                          <a:solidFill>
                            <a:srgbClr val="FFFFFF"/>
                          </a:solidFill>
                          <a:latin typeface="Calibri"/>
                        </a:rPr>
                        <a:t>17.3%</a:t>
                      </a:r>
                    </a:p>
                  </a:txBody>
                  <a:tcPr>
                    <a:solidFill>
                      <a:srgbClr val="0d1b2a"/>
                    </a:solidFill>
                  </a:tcPr>
                </a:tc>
              </a:tr>
              <a:tr h="457200">
                <a:tc>
                  <a:txBody>
                    <a:bodyPr/>
                    <a:lstStyle/>
                    <a:p>
                      <a:pPr algn="l"/>
                      <a:r>
                        <a:rPr sz="1400" b="0" i="0">
                          <a:solidFill>
                            <a:srgbClr val="FFFFFF"/>
                          </a:solidFill>
                          <a:latin typeface="Calibri"/>
                        </a:rPr>
                        <a:t>Length Ratio</a:t>
                      </a:r>
                    </a:p>
                  </a:txBody>
                  <a:tcPr>
                    <a:solidFill>
                      <a:srgbClr val="152a40"/>
                    </a:solidFill>
                  </a:tcPr>
                </a:tc>
                <a:tc>
                  <a:txBody>
                    <a:bodyPr/>
                    <a:lstStyle/>
                    <a:p>
                      <a:pPr algn="l"/>
                      <a:r>
                        <a:rPr sz="1400" b="0" i="0">
                          <a:solidFill>
                            <a:srgbClr val="E06C75"/>
                          </a:solidFill>
                          <a:latin typeface="Calibri"/>
                        </a:rPr>
                        <a:t>0.521</a:t>
                      </a:r>
                    </a:p>
                  </a:txBody>
                  <a:tcPr>
                    <a:solidFill>
                      <a:srgbClr val="152a40"/>
                    </a:solidFill>
                  </a:tcPr>
                </a:tc>
                <a:tc>
                  <a:txBody>
                    <a:bodyPr/>
                    <a:lstStyle/>
                    <a:p>
                      <a:pPr algn="l"/>
                      <a:r>
                        <a:rPr sz="1400" b="0" i="0">
                          <a:solidFill>
                            <a:srgbClr val="FFFFFF"/>
                          </a:solidFill>
                          <a:latin typeface="Calibri"/>
                        </a:rPr>
                        <a:t>15%</a:t>
                      </a:r>
                    </a:p>
                  </a:txBody>
                  <a:tcPr>
                    <a:solidFill>
                      <a:srgbClr val="152a40"/>
                    </a:solidFill>
                  </a:tcPr>
                </a:tc>
                <a:tc>
                  <a:txBody>
                    <a:bodyPr/>
                    <a:lstStyle/>
                    <a:p>
                      <a:pPr algn="l"/>
                      <a:r>
                        <a:rPr sz="1400" b="0" i="0">
                          <a:solidFill>
                            <a:srgbClr val="E06C75"/>
                          </a:solidFill>
                          <a:latin typeface="Calibri"/>
                        </a:rPr>
                        <a:t>9.1%</a:t>
                      </a:r>
                    </a:p>
                  </a:txBody>
                  <a:tcPr>
                    <a:solidFill>
                      <a:srgbClr val="152a40"/>
                    </a:solidFill>
                  </a:tcPr>
                </a:tc>
              </a:tr>
            </a:tbl>
          </a:graphicData>
        </a:graphic>
      </p:graphicFrame>
      <p:sp>
        <p:nvSpPr>
          <p:cNvPr id="7" name="TextBox 6"/>
          <p:cNvSpPr txBox="1"/>
          <p:nvPr/>
        </p:nvSpPr>
        <p:spPr>
          <a:xfrm>
            <a:off x="6336792" y="1737360"/>
            <a:ext cx="5303520" cy="365760"/>
          </a:xfrm>
          <a:prstGeom prst="rect">
            <a:avLst/>
          </a:prstGeom>
          <a:noFill/>
        </p:spPr>
        <p:txBody>
          <a:bodyPr wrap="square" anchor="t"/>
          <a:lstStyle/>
          <a:p>
            <a:pPr algn="l"/>
            <a:r>
              <a:rPr sz="2000" b="1" i="0">
                <a:solidFill>
                  <a:srgbClr val="E06C75"/>
                </a:solidFill>
                <a:latin typeface="Calibri"/>
              </a:rPr>
              <a:t>Key Insights</a:t>
            </a:r>
          </a:p>
        </p:txBody>
      </p:sp>
      <p:sp>
        <p:nvSpPr>
          <p:cNvPr id="8" name="TextBox 7"/>
          <p:cNvSpPr txBox="1"/>
          <p:nvPr/>
        </p:nvSpPr>
        <p:spPr>
          <a:xfrm>
            <a:off x="6336792" y="2194560"/>
            <a:ext cx="5303520" cy="4114800"/>
          </a:xfrm>
          <a:prstGeom prst="rect">
            <a:avLst/>
          </a:prstGeom>
          <a:noFill/>
        </p:spPr>
        <p:txBody>
          <a:bodyPr wrap="square">
            <a:spAutoFit/>
          </a:bodyPr>
          <a:lstStyle/>
          <a:p>
            <a:pPr algn="l">
              <a:spcAft>
                <a:spcPts val="600"/>
              </a:spcAft>
            </a:pPr>
            <a:r>
              <a:rPr sz="1500" b="1">
                <a:solidFill>
                  <a:srgbClr val="00B4D8"/>
                </a:solidFill>
                <a:latin typeface="Calibri"/>
              </a:rPr>
              <a:t>• </a:t>
            </a:r>
            <a:r>
              <a:rPr sz="1500" b="1">
                <a:solidFill>
                  <a:srgbClr val="FFFFFF"/>
                </a:solidFill>
                <a:latin typeface="Calibri"/>
              </a:rPr>
              <a:t>Phonetic Sim is strongest predictor (r=0.943) despite only 15% weight</a:t>
            </a:r>
          </a:p>
          <a:p>
            <a:pPr algn="l">
              <a:spcAft>
                <a:spcPts val="600"/>
              </a:spcAft>
            </a:pPr>
            <a:r>
              <a:rPr sz="1500" b="1">
                <a:solidFill>
                  <a:srgbClr val="00B4D8"/>
                </a:solidFill>
                <a:latin typeface="Calibri"/>
              </a:rPr>
              <a:t>• </a:t>
            </a:r>
            <a:r>
              <a:rPr sz="1500" b="0">
                <a:solidFill>
                  <a:srgbClr val="FFFFFF"/>
                </a:solidFill>
                <a:latin typeface="Calibri"/>
              </a:rPr>
              <a:t>WER/WWER/Phonetic are NOT independent — all measure visual encoder quality</a:t>
            </a:r>
          </a:p>
          <a:p>
            <a:pPr algn="l">
              <a:spcAft>
                <a:spcPts val="600"/>
              </a:spcAft>
            </a:pPr>
            <a:r>
              <a:rPr sz="1500" b="1">
                <a:solidFill>
                  <a:srgbClr val="00B4D8"/>
                </a:solidFill>
                <a:latin typeface="Calibri"/>
              </a:rPr>
              <a:t>• </a:t>
            </a:r>
            <a:r>
              <a:rPr sz="1500" b="0">
                <a:solidFill>
                  <a:srgbClr val="FFFFFF"/>
                </a:solidFill>
                <a:latin typeface="Calibri"/>
              </a:rPr>
              <a:t>Semantic Sim (25%) drives 28.5% variance — the tiebreaker for similar-accuracy segments</a:t>
            </a:r>
          </a:p>
          <a:p>
            <a:pPr algn="l">
              <a:spcAft>
                <a:spcPts val="600"/>
              </a:spcAft>
            </a:pPr>
            <a:r>
              <a:rPr sz="1500" b="1">
                <a:solidFill>
                  <a:srgbClr val="00B4D8"/>
                </a:solidFill>
                <a:latin typeface="Calibri"/>
              </a:rPr>
              <a:t>• </a:t>
            </a:r>
            <a:r>
              <a:rPr sz="1500" b="0">
                <a:solidFill>
                  <a:srgbClr val="00B4D8"/>
                </a:solidFill>
                <a:latin typeface="Calibri"/>
              </a:rPr>
              <a:t>NEA punches above weight: 17.3% variance — names are binary (right or wrong)</a:t>
            </a:r>
          </a:p>
          <a:p>
            <a:pPr algn="l">
              <a:spcAft>
                <a:spcPts val="600"/>
              </a:spcAft>
            </a:pPr>
            <a:r>
              <a:rPr sz="1500" b="1">
                <a:solidFill>
                  <a:srgbClr val="00B4D8"/>
                </a:solidFill>
                <a:latin typeface="Calibri"/>
              </a:rPr>
              <a:t>• </a:t>
            </a:r>
            <a:r>
              <a:rPr sz="1500" b="0">
                <a:solidFill>
                  <a:srgbClr val="E06C75"/>
                </a:solidFill>
                <a:latin typeface="Calibri"/>
              </a:rPr>
              <a:t>Length Ratio weakest (9.1%) — could reduce its weight in future</a:t>
            </a:r>
          </a:p>
          <a:p>
            <a:pPr algn="l">
              <a:spcAft>
                <a:spcPts val="600"/>
              </a:spcAft>
            </a:pPr>
            <a:r>
              <a:rPr sz="1500" b="1">
                <a:solidFill>
                  <a:srgbClr val="00B4D8"/>
                </a:solidFill>
                <a:latin typeface="Calibri"/>
              </a:rPr>
              <a:t>• </a:t>
            </a:r>
            <a:r>
              <a:rPr sz="1500" b="1">
                <a:solidFill>
                  <a:srgbClr val="FFFFFF"/>
                </a:solidFill>
                <a:latin typeface="Calibri"/>
              </a:rPr>
              <a:t>Expert heuristic: r=0.934 with IS</a:t>
            </a:r>
          </a:p>
        </p:txBody>
      </p:sp>
      <p:pic>
        <p:nvPicPr>
          <p:cNvPr id="9" name="Picture 8"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0" name="TextBox 9"/>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28</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00"/>
                                  <p:tgtEl>
                                    <p:spTgt spid="5"/>
                                  </p:tgtEl>
                                </p:cBhvr>
                              </p:animEffect>
                            </p:childTnLst>
                          </p:cTn>
                        </p:par>
                        <p:par>
                          <p:cTn id="7" fill="hold">
                            <p:stCondLst>
                              <p:cond delay="12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500"/>
                                  <p:tgtEl>
                                    <p:spTgt spid="6"/>
                                  </p:tgtEl>
                                </p:cBhvr>
                              </p:animEffect>
                            </p:childTnLst>
                          </p:cTn>
                        </p:par>
                      </p:childTnLst>
                    </p:cTn>
                  </p:par>
                  <p:par>
                    <p:cTn id="10" fill="hold">
                      <p:stCondLst>
                        <p:cond delay="0"/>
                      </p:stCondLst>
                      <p:childTnLst>
                        <p:par>
                          <p:cTn id="11" fill="hold">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fill="hold">
                            <p:stCondLst>
                              <p:cond delay="12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p:bldP spid="8" grpId="1"/>
    </p:bld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When Metrics Disagree: What It Tells Us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65760"/>
          </a:xfrm>
          <a:prstGeom prst="rect">
            <a:avLst/>
          </a:prstGeom>
          <a:noFill/>
        </p:spPr>
        <p:txBody>
          <a:bodyPr wrap="square" anchor="t"/>
          <a:lstStyle/>
          <a:p>
            <a:pPr algn="l"/>
            <a:r>
              <a:rPr sz="1300" b="0" i="1">
                <a:solidFill>
                  <a:srgbClr val="AAAAAA"/>
                </a:solidFill>
                <a:latin typeface="Calibri"/>
              </a:rPr>
              <a:t>IS uses 6 signals because no single metric tells the full story. Disagreements between metrics reveal specific quality patterns:</a:t>
            </a:r>
          </a:p>
        </p:txBody>
      </p:sp>
      <p:sp>
        <p:nvSpPr>
          <p:cNvPr id="5" name="Rounded Rectangle 4"/>
          <p:cNvSpPr/>
          <p:nvPr/>
        </p:nvSpPr>
        <p:spPr>
          <a:xfrm>
            <a:off x="548640" y="1828800"/>
            <a:ext cx="5303520" cy="182880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20240"/>
            <a:ext cx="4937760" cy="320040"/>
          </a:xfrm>
          <a:prstGeom prst="rect">
            <a:avLst/>
          </a:prstGeom>
          <a:noFill/>
        </p:spPr>
        <p:txBody>
          <a:bodyPr wrap="square">
            <a:spAutoFit/>
          </a:bodyPr>
          <a:lstStyle/>
          <a:p>
            <a:pPr algn="l">
              <a:spcAft>
                <a:spcPts val="600"/>
              </a:spcAft>
            </a:pPr>
            <a:r>
              <a:rPr sz="1400" b="1" i="0">
                <a:solidFill>
                  <a:srgbClr val="00B4D8"/>
                </a:solidFill>
                <a:latin typeface="Calibri"/>
              </a:rPr>
              <a:t>WWER ≪ WER</a:t>
            </a:r>
            <a:r>
              <a:rPr sz="1200" b="0" i="0">
                <a:solidFill>
                  <a:srgbClr val="FFFFFF"/>
                </a:solidFill>
                <a:latin typeface="Calibri"/>
              </a:rPr>
              <a:t>  —  Function words wrong, content words right</a:t>
            </a:r>
          </a:p>
        </p:txBody>
      </p:sp>
      <p:sp>
        <p:nvSpPr>
          <p:cNvPr id="7" name="TextBox 6"/>
          <p:cNvSpPr txBox="1"/>
          <p:nvPr/>
        </p:nvSpPr>
        <p:spPr>
          <a:xfrm>
            <a:off x="731520" y="2286000"/>
            <a:ext cx="4937760" cy="1280160"/>
          </a:xfrm>
          <a:prstGeom prst="rect">
            <a:avLst/>
          </a:prstGeom>
          <a:noFill/>
        </p:spPr>
        <p:txBody>
          <a:bodyPr wrap="square" anchor="t"/>
          <a:lstStyle/>
          <a:p>
            <a:pPr algn="l"/>
            <a:r>
              <a:rPr sz="1100" b="0" i="0">
                <a:solidFill>
                  <a:srgbClr val="AAAAAA"/>
                </a:solidFill>
                <a:latin typeface="Calibri"/>
              </a:rPr>
              <a:t>"the team discussed a quarterly" → "team discuss quarterly"</a:t>
            </a:r>
            <a:br/>
            <a:r>
              <a:rPr sz="1100" b="0" i="0">
                <a:solidFill>
                  <a:srgbClr val="AAAAAA"/>
                </a:solidFill>
                <a:latin typeface="Calibri"/>
              </a:rPr>
              <a:t>WER 43% but WWER 15% — viewer gets the message.</a:t>
            </a:r>
            <a:br/>
            <a:r>
              <a:rPr sz="1100" b="0" i="0">
                <a:solidFill>
                  <a:srgbClr val="AAAAAA"/>
                </a:solidFill>
                <a:latin typeface="Calibri"/>
              </a:rPr>
              <a:t>IS captures this: meaning preserved despite surface errors.</a:t>
            </a:r>
          </a:p>
        </p:txBody>
      </p:sp>
      <p:sp>
        <p:nvSpPr>
          <p:cNvPr id="8" name="Rounded Rectangle 7"/>
          <p:cNvSpPr/>
          <p:nvPr/>
        </p:nvSpPr>
        <p:spPr>
          <a:xfrm>
            <a:off x="6336792" y="1828800"/>
            <a:ext cx="5303520" cy="1828800"/>
          </a:xfrm>
          <a:prstGeom prst="roundRect">
            <a:avLst/>
          </a:prstGeom>
          <a:solidFill>
            <a:srgbClr val="152A40"/>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9672" y="1920240"/>
            <a:ext cx="4937760" cy="320040"/>
          </a:xfrm>
          <a:prstGeom prst="rect">
            <a:avLst/>
          </a:prstGeom>
          <a:noFill/>
        </p:spPr>
        <p:txBody>
          <a:bodyPr wrap="square">
            <a:spAutoFit/>
          </a:bodyPr>
          <a:lstStyle/>
          <a:p>
            <a:pPr algn="l">
              <a:spcAft>
                <a:spcPts val="600"/>
              </a:spcAft>
            </a:pPr>
            <a:r>
              <a:rPr sz="1400" b="1" i="0">
                <a:solidFill>
                  <a:srgbClr val="4CAF50"/>
                </a:solidFill>
                <a:latin typeface="Calibri"/>
              </a:rPr>
              <a:t>NEA high, WER high</a:t>
            </a:r>
            <a:r>
              <a:rPr sz="1200" b="0" i="0">
                <a:solidFill>
                  <a:srgbClr val="FFFFFF"/>
                </a:solidFill>
                <a:latin typeface="Calibri"/>
              </a:rPr>
              <a:t>  —  Names preserved despite overall poor accuracy</a:t>
            </a:r>
          </a:p>
        </p:txBody>
      </p:sp>
      <p:sp>
        <p:nvSpPr>
          <p:cNvPr id="10" name="TextBox 9"/>
          <p:cNvSpPr txBox="1"/>
          <p:nvPr/>
        </p:nvSpPr>
        <p:spPr>
          <a:xfrm>
            <a:off x="6519672" y="2286000"/>
            <a:ext cx="4937760" cy="1280160"/>
          </a:xfrm>
          <a:prstGeom prst="rect">
            <a:avLst/>
          </a:prstGeom>
          <a:noFill/>
        </p:spPr>
        <p:txBody>
          <a:bodyPr wrap="square" anchor="t"/>
          <a:lstStyle/>
          <a:p>
            <a:pPr algn="l"/>
            <a:r>
              <a:rPr sz="1100" b="0" i="0">
                <a:solidFill>
                  <a:srgbClr val="AAAAAA"/>
                </a:solidFill>
                <a:latin typeface="Calibri"/>
              </a:rPr>
              <a:t>"Dr. Chen presented the Q3 results" → "Dr. Chen present Q3 result"</a:t>
            </a:r>
            <a:br/>
            <a:r>
              <a:rPr sz="1100" b="0" i="0">
                <a:solidFill>
                  <a:srgbClr val="AAAAAA"/>
                </a:solidFill>
                <a:latin typeface="Calibri"/>
              </a:rPr>
              <a:t>WER 57% but NEA F1 = 100% — critical info intact.</a:t>
            </a:r>
            <a:br/>
            <a:r>
              <a:rPr sz="1100" b="0" i="0">
                <a:solidFill>
                  <a:srgbClr val="AAAAAA"/>
                </a:solidFill>
                <a:latin typeface="Calibri"/>
              </a:rPr>
              <a:t>IS rewards: the most important facts came through.</a:t>
            </a:r>
          </a:p>
        </p:txBody>
      </p:sp>
      <p:sp>
        <p:nvSpPr>
          <p:cNvPr id="11" name="Rounded Rectangle 10"/>
          <p:cNvSpPr/>
          <p:nvPr/>
        </p:nvSpPr>
        <p:spPr>
          <a:xfrm>
            <a:off x="548640" y="3840480"/>
            <a:ext cx="5303520" cy="1828800"/>
          </a:xfrm>
          <a:prstGeom prst="roundRect">
            <a:avLst/>
          </a:prstGeom>
          <a:solidFill>
            <a:srgbClr val="152A40"/>
          </a:solidFill>
          <a:ln w="25400">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931920"/>
            <a:ext cx="4937760" cy="320040"/>
          </a:xfrm>
          <a:prstGeom prst="rect">
            <a:avLst/>
          </a:prstGeom>
          <a:noFill/>
        </p:spPr>
        <p:txBody>
          <a:bodyPr wrap="square">
            <a:spAutoFit/>
          </a:bodyPr>
          <a:lstStyle/>
          <a:p>
            <a:pPr algn="l">
              <a:spcAft>
                <a:spcPts val="600"/>
              </a:spcAft>
            </a:pPr>
            <a:r>
              <a:rPr sz="1400" b="1" i="0">
                <a:solidFill>
                  <a:srgbClr val="FFD54F"/>
                </a:solidFill>
                <a:latin typeface="Calibri"/>
              </a:rPr>
              <a:t>Semantic high, WER high</a:t>
            </a:r>
            <a:r>
              <a:rPr sz="1200" b="0" i="0">
                <a:solidFill>
                  <a:srgbClr val="FFFFFF"/>
                </a:solidFill>
                <a:latin typeface="Calibri"/>
              </a:rPr>
              <a:t>  —  Meaning preserved through paraphrasing</a:t>
            </a:r>
          </a:p>
        </p:txBody>
      </p:sp>
      <p:sp>
        <p:nvSpPr>
          <p:cNvPr id="13" name="TextBox 12"/>
          <p:cNvSpPr txBox="1"/>
          <p:nvPr/>
        </p:nvSpPr>
        <p:spPr>
          <a:xfrm>
            <a:off x="731520" y="4297680"/>
            <a:ext cx="4937760" cy="1280160"/>
          </a:xfrm>
          <a:prstGeom prst="rect">
            <a:avLst/>
          </a:prstGeom>
          <a:noFill/>
        </p:spPr>
        <p:txBody>
          <a:bodyPr wrap="square" anchor="t"/>
          <a:lstStyle/>
          <a:p>
            <a:pPr algn="l"/>
            <a:r>
              <a:rPr sz="1100" b="0" i="0">
                <a:solidFill>
                  <a:srgbClr val="AAAAAA"/>
                </a:solidFill>
                <a:latin typeface="Calibri"/>
              </a:rPr>
              <a:t>"we need to reduce spending" → "must cut the budget"</a:t>
            </a:r>
            <a:br/>
            <a:r>
              <a:rPr sz="1100" b="0" i="0">
                <a:solidFill>
                  <a:srgbClr val="AAAAAA"/>
                </a:solidFill>
                <a:latin typeface="Calibri"/>
              </a:rPr>
              <a:t>WER 100% but Semantic 0.87 — same meaning, different words.</a:t>
            </a:r>
            <a:br/>
            <a:r>
              <a:rPr sz="1100" b="0" i="0">
                <a:solidFill>
                  <a:srgbClr val="AAAAAA"/>
                </a:solidFill>
                <a:latin typeface="Calibri"/>
              </a:rPr>
              <a:t>IS captures: WER says total failure, IS says useful output.</a:t>
            </a:r>
          </a:p>
        </p:txBody>
      </p:sp>
      <p:sp>
        <p:nvSpPr>
          <p:cNvPr id="14" name="Rounded Rectangle 13"/>
          <p:cNvSpPr/>
          <p:nvPr/>
        </p:nvSpPr>
        <p:spPr>
          <a:xfrm>
            <a:off x="6336792" y="3840480"/>
            <a:ext cx="5303520" cy="182880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9672" y="3931920"/>
            <a:ext cx="4937760" cy="320040"/>
          </a:xfrm>
          <a:prstGeom prst="rect">
            <a:avLst/>
          </a:prstGeom>
          <a:noFill/>
        </p:spPr>
        <p:txBody>
          <a:bodyPr wrap="square">
            <a:spAutoFit/>
          </a:bodyPr>
          <a:lstStyle/>
          <a:p>
            <a:pPr algn="l">
              <a:spcAft>
                <a:spcPts val="600"/>
              </a:spcAft>
            </a:pPr>
            <a:r>
              <a:rPr sz="1400" b="1" i="0">
                <a:solidFill>
                  <a:srgbClr val="E06C75"/>
                </a:solidFill>
                <a:latin typeface="Calibri"/>
              </a:rPr>
              <a:t>Phonetic high, Semantic low</a:t>
            </a:r>
            <a:r>
              <a:rPr sz="1200" b="0" i="0">
                <a:solidFill>
                  <a:srgbClr val="FFFFFF"/>
                </a:solidFill>
                <a:latin typeface="Calibri"/>
              </a:rPr>
              <a:t>  —  Sounds right, wrong meaning (deceptive)</a:t>
            </a:r>
          </a:p>
        </p:txBody>
      </p:sp>
      <p:sp>
        <p:nvSpPr>
          <p:cNvPr id="16" name="TextBox 15"/>
          <p:cNvSpPr txBox="1"/>
          <p:nvPr/>
        </p:nvSpPr>
        <p:spPr>
          <a:xfrm>
            <a:off x="6519672" y="4297680"/>
            <a:ext cx="4937760" cy="1280160"/>
          </a:xfrm>
          <a:prstGeom prst="rect">
            <a:avLst/>
          </a:prstGeom>
          <a:noFill/>
        </p:spPr>
        <p:txBody>
          <a:bodyPr wrap="square" anchor="t"/>
          <a:lstStyle/>
          <a:p>
            <a:pPr algn="l"/>
            <a:r>
              <a:rPr sz="1100" b="0" i="0">
                <a:solidFill>
                  <a:srgbClr val="AAAAAA"/>
                </a:solidFill>
                <a:latin typeface="Calibri"/>
              </a:rPr>
              <a:t>"the alliance was formed" → "the lions were found"</a:t>
            </a:r>
            <a:br/>
            <a:r>
              <a:rPr sz="1100" b="0" i="0">
                <a:solidFill>
                  <a:srgbClr val="AAAAAA"/>
                </a:solidFill>
                <a:latin typeface="Calibri"/>
              </a:rPr>
              <a:t>Phonetic 0.71 but Semantic 0.12 — sounds similar, wrong topic.</a:t>
            </a:r>
            <a:br/>
            <a:r>
              <a:rPr sz="1100" b="0" i="0">
                <a:solidFill>
                  <a:srgbClr val="AAAAAA"/>
                </a:solidFill>
                <a:latin typeface="Calibri"/>
              </a:rPr>
              <a:t>IS catches: phonetic alone would miss this dangerous error.</a:t>
            </a:r>
          </a:p>
        </p:txBody>
      </p:sp>
      <p:sp>
        <p:nvSpPr>
          <p:cNvPr id="17" name="TextBox 16"/>
          <p:cNvSpPr txBox="1"/>
          <p:nvPr/>
        </p:nvSpPr>
        <p:spPr>
          <a:xfrm>
            <a:off x="548640" y="5760720"/>
            <a:ext cx="11091672" cy="365760"/>
          </a:xfrm>
          <a:prstGeom prst="rect">
            <a:avLst/>
          </a:prstGeom>
          <a:noFill/>
        </p:spPr>
        <p:txBody>
          <a:bodyPr wrap="square" anchor="t"/>
          <a:lstStyle/>
          <a:p>
            <a:pPr algn="ctr"/>
            <a:r>
              <a:rPr sz="1200" b="0" i="1">
                <a:solidFill>
                  <a:srgbClr val="AAAAAA"/>
                </a:solidFill>
                <a:latin typeface="Calibri"/>
              </a:rPr>
              <a:t>This is why IS uses 6 signals, not just WER — each disagreement pattern reveals a different type of quality that a single metric would miss.</a:t>
            </a:r>
          </a:p>
        </p:txBody>
      </p:sp>
      <p:pic>
        <p:nvPicPr>
          <p:cNvPr id="18" name="Picture 17"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9" name="TextBox 18"/>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29</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00"/>
                                  <p:tgtEl>
                                    <p:spTgt spid="5"/>
                                  </p:tgtEl>
                                </p:cBhvr>
                              </p:animEffect>
                            </p:childTnLst>
                          </p:cTn>
                        </p:par>
                      </p:childTnLst>
                    </p:cTn>
                  </p:par>
                  <p:par>
                    <p:cTn id="7" fill="hold">
                      <p:stCondLst>
                        <p:cond delay="0"/>
                      </p:stCondLst>
                      <p:childTnLst>
                        <p:par>
                          <p:cTn id="8" fill="hold">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par>
                    <p:cTn id="11" fill="hold">
                      <p:stCondLst>
                        <p:cond delay="0"/>
                      </p:stCondLst>
                      <p:childTnLst>
                        <p:par>
                          <p:cTn id="12" fill="hold">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500"/>
                                  <p:tgtEl>
                                    <p:spTgt spid="11"/>
                                  </p:tgtEl>
                                </p:cBhvr>
                              </p:animEffect>
                            </p:childTnLst>
                          </p:cTn>
                        </p:par>
                      </p:childTnLst>
                    </p:cTn>
                  </p:par>
                  <p:par>
                    <p:cTn id="15" fill="hold">
                      <p:stCondLst>
                        <p:cond delay="0"/>
                      </p:stCondLst>
                      <p:childTnLst>
                        <p:par>
                          <p:cTn id="16" fill="hold">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8" grpId="1"/>
      <p:bldP spid="11" grpId="2"/>
      <p:bldP spid="14" grpId="3"/>
    </p:bld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When Metrics Disagree: More Patterns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65760"/>
          </a:xfrm>
          <a:prstGeom prst="rect">
            <a:avLst/>
          </a:prstGeom>
          <a:noFill/>
        </p:spPr>
        <p:txBody>
          <a:bodyPr wrap="square" anchor="t"/>
          <a:lstStyle/>
          <a:p>
            <a:pPr algn="l"/>
            <a:r>
              <a:rPr sz="1300" b="0" i="1">
                <a:solidFill>
                  <a:srgbClr val="AAAAAA"/>
                </a:solidFill>
                <a:latin typeface="Calibri"/>
              </a:rPr>
              <a:t>Additional diagnostic patterns that reveal specific transcription behaviors:</a:t>
            </a:r>
          </a:p>
        </p:txBody>
      </p:sp>
      <p:sp>
        <p:nvSpPr>
          <p:cNvPr id="5" name="Rounded Rectangle 4"/>
          <p:cNvSpPr/>
          <p:nvPr/>
        </p:nvSpPr>
        <p:spPr>
          <a:xfrm>
            <a:off x="548640" y="1828800"/>
            <a:ext cx="5303520" cy="182880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20240"/>
            <a:ext cx="4937760" cy="320040"/>
          </a:xfrm>
          <a:prstGeom prst="rect">
            <a:avLst/>
          </a:prstGeom>
          <a:noFill/>
        </p:spPr>
        <p:txBody>
          <a:bodyPr wrap="square">
            <a:spAutoFit/>
          </a:bodyPr>
          <a:lstStyle/>
          <a:p>
            <a:pPr algn="l">
              <a:spcAft>
                <a:spcPts val="600"/>
              </a:spcAft>
            </a:pPr>
            <a:r>
              <a:rPr sz="1400" b="1" i="0">
                <a:solidFill>
                  <a:srgbClr val="E06C75"/>
                </a:solidFill>
                <a:latin typeface="Calibri"/>
              </a:rPr>
              <a:t>Length ≪ 1.0, all metrics low</a:t>
            </a:r>
            <a:r>
              <a:rPr sz="1200" b="0" i="0">
                <a:solidFill>
                  <a:srgbClr val="FFFFFF"/>
                </a:solidFill>
                <a:latin typeface="Calibri"/>
              </a:rPr>
              <a:t>  —  Signal loss — model gave up or truncated</a:t>
            </a:r>
          </a:p>
        </p:txBody>
      </p:sp>
      <p:sp>
        <p:nvSpPr>
          <p:cNvPr id="7" name="TextBox 6"/>
          <p:cNvSpPr txBox="1"/>
          <p:nvPr/>
        </p:nvSpPr>
        <p:spPr>
          <a:xfrm>
            <a:off x="731520" y="2286000"/>
            <a:ext cx="4937760" cy="1280160"/>
          </a:xfrm>
          <a:prstGeom prst="rect">
            <a:avLst/>
          </a:prstGeom>
          <a:noFill/>
        </p:spPr>
        <p:txBody>
          <a:bodyPr wrap="square" anchor="t"/>
          <a:lstStyle/>
          <a:p>
            <a:pPr algn="l"/>
            <a:r>
              <a:rPr sz="1100" b="0" i="0">
                <a:solidFill>
                  <a:srgbClr val="AAAAAA"/>
                </a:solidFill>
                <a:latin typeface="Calibri"/>
              </a:rPr>
              <a:t>Ref: "the thirteenth amendment abolished slavery"</a:t>
            </a:r>
            <a:br/>
            <a:r>
              <a:rPr sz="1100" b="0" i="0">
                <a:solidFill>
                  <a:srgbClr val="AAAAAA"/>
                </a:solidFill>
                <a:latin typeface="Calibri"/>
              </a:rPr>
              <a:t>Hyp: "the" (length ratio 0.06)</a:t>
            </a:r>
            <a:br/>
            <a:r>
              <a:rPr sz="1100" b="0" i="0">
                <a:solidFill>
                  <a:srgbClr val="AAAAAA"/>
                </a:solidFill>
                <a:latin typeface="Calibri"/>
              </a:rPr>
              <a:t>All signals collapse — nothing to evaluate.</a:t>
            </a:r>
          </a:p>
        </p:txBody>
      </p:sp>
      <p:sp>
        <p:nvSpPr>
          <p:cNvPr id="8" name="Rounded Rectangle 7"/>
          <p:cNvSpPr/>
          <p:nvPr/>
        </p:nvSpPr>
        <p:spPr>
          <a:xfrm>
            <a:off x="6336792" y="1828800"/>
            <a:ext cx="5303520" cy="182880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9672" y="1920240"/>
            <a:ext cx="4937760" cy="320040"/>
          </a:xfrm>
          <a:prstGeom prst="rect">
            <a:avLst/>
          </a:prstGeom>
          <a:noFill/>
        </p:spPr>
        <p:txBody>
          <a:bodyPr wrap="square">
            <a:spAutoFit/>
          </a:bodyPr>
          <a:lstStyle/>
          <a:p>
            <a:pPr algn="l">
              <a:spcAft>
                <a:spcPts val="600"/>
              </a:spcAft>
            </a:pPr>
            <a:r>
              <a:rPr sz="1400" b="1" i="0">
                <a:solidFill>
                  <a:srgbClr val="E06C75"/>
                </a:solidFill>
                <a:latin typeface="Calibri"/>
              </a:rPr>
              <a:t>Length ≫ 1.0, Semantic low</a:t>
            </a:r>
            <a:r>
              <a:rPr sz="1200" b="0" i="0">
                <a:solidFill>
                  <a:srgbClr val="FFFFFF"/>
                </a:solidFill>
                <a:latin typeface="Calibri"/>
              </a:rPr>
              <a:t>  —  Hallucination — fluent fabrication</a:t>
            </a:r>
          </a:p>
        </p:txBody>
      </p:sp>
      <p:sp>
        <p:nvSpPr>
          <p:cNvPr id="10" name="TextBox 9"/>
          <p:cNvSpPr txBox="1"/>
          <p:nvPr/>
        </p:nvSpPr>
        <p:spPr>
          <a:xfrm>
            <a:off x="6519672" y="2286000"/>
            <a:ext cx="4937760" cy="1280160"/>
          </a:xfrm>
          <a:prstGeom prst="rect">
            <a:avLst/>
          </a:prstGeom>
          <a:noFill/>
        </p:spPr>
        <p:txBody>
          <a:bodyPr wrap="square" anchor="t"/>
          <a:lstStyle/>
          <a:p>
            <a:pPr algn="l"/>
            <a:r>
              <a:rPr sz="1100" b="0" i="0">
                <a:solidFill>
                  <a:srgbClr val="AAAAAA"/>
                </a:solidFill>
                <a:latin typeface="Calibri"/>
              </a:rPr>
              <a:t>Ref: "carry strap" → Hyp: 3 paragraphs about history</a:t>
            </a:r>
            <a:br/>
            <a:r>
              <a:rPr sz="1100" b="0" i="0">
                <a:solidFill>
                  <a:srgbClr val="AAAAAA"/>
                </a:solidFill>
                <a:latin typeface="Calibri"/>
              </a:rPr>
              <a:t>WER 6,833%, length ratio 45× — LLM ran unchecked.</a:t>
            </a:r>
            <a:br/>
            <a:r>
              <a:rPr sz="1100" b="0" i="0">
                <a:solidFill>
                  <a:srgbClr val="AAAAAA"/>
                </a:solidFill>
                <a:latin typeface="Calibri"/>
              </a:rPr>
              <a:t>IS catches via length + semantic: fluent but fabricated.</a:t>
            </a:r>
          </a:p>
        </p:txBody>
      </p:sp>
      <p:sp>
        <p:nvSpPr>
          <p:cNvPr id="11" name="Rounded Rectangle 10"/>
          <p:cNvSpPr/>
          <p:nvPr/>
        </p:nvSpPr>
        <p:spPr>
          <a:xfrm>
            <a:off x="548640" y="3840480"/>
            <a:ext cx="5303520" cy="1828800"/>
          </a:xfrm>
          <a:prstGeom prst="roundRect">
            <a:avLst/>
          </a:prstGeom>
          <a:solidFill>
            <a:srgbClr val="152A40"/>
          </a:solidFill>
          <a:ln w="25400">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931920"/>
            <a:ext cx="4937760" cy="320040"/>
          </a:xfrm>
          <a:prstGeom prst="rect">
            <a:avLst/>
          </a:prstGeom>
          <a:noFill/>
        </p:spPr>
        <p:txBody>
          <a:bodyPr wrap="square">
            <a:spAutoFit/>
          </a:bodyPr>
          <a:lstStyle/>
          <a:p>
            <a:pPr algn="l">
              <a:spcAft>
                <a:spcPts val="600"/>
              </a:spcAft>
            </a:pPr>
            <a:r>
              <a:rPr sz="1400" b="1" i="0">
                <a:solidFill>
                  <a:srgbClr val="FFD54F"/>
                </a:solidFill>
                <a:latin typeface="Calibri"/>
              </a:rPr>
              <a:t>NEA low, Semantic moderate</a:t>
            </a:r>
            <a:r>
              <a:rPr sz="1200" b="0" i="0">
                <a:solidFill>
                  <a:srgbClr val="FFFFFF"/>
                </a:solidFill>
                <a:latin typeface="Calibri"/>
              </a:rPr>
              <a:t>  —  Topic right, entities destroyed</a:t>
            </a:r>
          </a:p>
        </p:txBody>
      </p:sp>
      <p:sp>
        <p:nvSpPr>
          <p:cNvPr id="13" name="TextBox 12"/>
          <p:cNvSpPr txBox="1"/>
          <p:nvPr/>
        </p:nvSpPr>
        <p:spPr>
          <a:xfrm>
            <a:off x="731520" y="4297680"/>
            <a:ext cx="4937760" cy="1280160"/>
          </a:xfrm>
          <a:prstGeom prst="rect">
            <a:avLst/>
          </a:prstGeom>
          <a:noFill/>
        </p:spPr>
        <p:txBody>
          <a:bodyPr wrap="square" anchor="t"/>
          <a:lstStyle/>
          <a:p>
            <a:pPr algn="l"/>
            <a:r>
              <a:rPr sz="1100" b="0" i="0">
                <a:solidFill>
                  <a:srgbClr val="AAAAAA"/>
                </a:solidFill>
                <a:latin typeface="Calibri"/>
              </a:rPr>
              <a:t>"the 13th amendment" → "the important decision"</a:t>
            </a:r>
            <a:br/>
            <a:r>
              <a:rPr sz="1100" b="0" i="0">
                <a:solidFill>
                  <a:srgbClr val="AAAAAA"/>
                </a:solidFill>
                <a:latin typeface="Calibri"/>
              </a:rPr>
              <a:t>Semantic 0.52 but NEA F1 = 0% — gist right, facts lost.</a:t>
            </a:r>
            <a:br/>
            <a:r>
              <a:rPr sz="1100" b="0" i="0">
                <a:solidFill>
                  <a:srgbClr val="AAAAAA"/>
                </a:solidFill>
                <a:latin typeface="Calibri"/>
              </a:rPr>
              <a:t>IS penalizes: critical info (names, numbers) irrecoverable.</a:t>
            </a:r>
          </a:p>
        </p:txBody>
      </p:sp>
      <p:sp>
        <p:nvSpPr>
          <p:cNvPr id="14" name="Rounded Rectangle 13"/>
          <p:cNvSpPr/>
          <p:nvPr/>
        </p:nvSpPr>
        <p:spPr>
          <a:xfrm>
            <a:off x="6336792" y="3840480"/>
            <a:ext cx="5303520" cy="182880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9672" y="3931920"/>
            <a:ext cx="4937760" cy="320040"/>
          </a:xfrm>
          <a:prstGeom prst="rect">
            <a:avLst/>
          </a:prstGeom>
          <a:noFill/>
        </p:spPr>
        <p:txBody>
          <a:bodyPr wrap="square">
            <a:spAutoFit/>
          </a:bodyPr>
          <a:lstStyle/>
          <a:p>
            <a:pPr algn="l">
              <a:spcAft>
                <a:spcPts val="600"/>
              </a:spcAft>
            </a:pPr>
            <a:r>
              <a:rPr sz="1400" b="1" i="0">
                <a:solidFill>
                  <a:srgbClr val="00B4D8"/>
                </a:solidFill>
                <a:latin typeface="Calibri"/>
              </a:rPr>
              <a:t>All metrics moderate (~0.5)</a:t>
            </a:r>
            <a:r>
              <a:rPr sz="1200" b="0" i="0">
                <a:solidFill>
                  <a:srgbClr val="FFFFFF"/>
                </a:solidFill>
                <a:latin typeface="Calibri"/>
              </a:rPr>
              <a:t>  —  Accumulated small errors — death by a thousand cuts</a:t>
            </a:r>
          </a:p>
        </p:txBody>
      </p:sp>
      <p:sp>
        <p:nvSpPr>
          <p:cNvPr id="16" name="TextBox 15"/>
          <p:cNvSpPr txBox="1"/>
          <p:nvPr/>
        </p:nvSpPr>
        <p:spPr>
          <a:xfrm>
            <a:off x="6519672" y="4297680"/>
            <a:ext cx="4937760" cy="1280160"/>
          </a:xfrm>
          <a:prstGeom prst="rect">
            <a:avLst/>
          </a:prstGeom>
          <a:noFill/>
        </p:spPr>
        <p:txBody>
          <a:bodyPr wrap="square" anchor="t"/>
          <a:lstStyle/>
          <a:p>
            <a:pPr algn="l"/>
            <a:r>
              <a:rPr sz="1100" b="0" i="0">
                <a:solidFill>
                  <a:srgbClr val="AAAAAA"/>
                </a:solidFill>
                <a:latin typeface="Calibri"/>
              </a:rPr>
              <a:t>Every signal is mediocre, none catastrophic.</a:t>
            </a:r>
            <a:br/>
            <a:r>
              <a:rPr sz="1100" b="0" i="0">
                <a:solidFill>
                  <a:srgbClr val="AAAAAA"/>
                </a:solidFill>
                <a:latin typeface="Calibri"/>
              </a:rPr>
              <a:t>WER 55%, Semantic 0.48, Phonetic 0.51, NEA 40%.</a:t>
            </a:r>
            <a:br/>
            <a:r>
              <a:rPr sz="1100" b="0" i="0">
                <a:solidFill>
                  <a:srgbClr val="AAAAAA"/>
                </a:solidFill>
                <a:latin typeface="Calibri"/>
              </a:rPr>
              <a:t>IS: ~2.5 (borderline) — individually OK, collectively degraded.</a:t>
            </a:r>
          </a:p>
        </p:txBody>
      </p:sp>
      <p:sp>
        <p:nvSpPr>
          <p:cNvPr id="17" name="TextBox 16"/>
          <p:cNvSpPr txBox="1"/>
          <p:nvPr/>
        </p:nvSpPr>
        <p:spPr>
          <a:xfrm>
            <a:off x="548640" y="5760720"/>
            <a:ext cx="11091672" cy="365760"/>
          </a:xfrm>
          <a:prstGeom prst="rect">
            <a:avLst/>
          </a:prstGeom>
          <a:noFill/>
        </p:spPr>
        <p:txBody>
          <a:bodyPr wrap="square" anchor="t"/>
          <a:lstStyle/>
          <a:p>
            <a:pPr algn="ctr"/>
            <a:r>
              <a:rPr sz="1200" b="0" i="1">
                <a:solidFill>
                  <a:srgbClr val="AAAAAA"/>
                </a:solidFill>
                <a:latin typeface="Calibri"/>
              </a:rPr>
              <a:t>8 total diagnostic patterns — IS decomposes quality into actionable signals that each point to a different engineering fix.</a:t>
            </a:r>
          </a:p>
        </p:txBody>
      </p:sp>
      <p:pic>
        <p:nvPicPr>
          <p:cNvPr id="18" name="Picture 17"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9" name="TextBox 18"/>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30</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00"/>
                                  <p:tgtEl>
                                    <p:spTgt spid="5"/>
                                  </p:tgtEl>
                                </p:cBhvr>
                              </p:animEffect>
                            </p:childTnLst>
                          </p:cTn>
                        </p:par>
                      </p:childTnLst>
                    </p:cTn>
                  </p:par>
                  <p:par>
                    <p:cTn id="7" fill="hold">
                      <p:stCondLst>
                        <p:cond delay="0"/>
                      </p:stCondLst>
                      <p:childTnLst>
                        <p:par>
                          <p:cTn id="8" fill="hold">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par>
                    <p:cTn id="11" fill="hold">
                      <p:stCondLst>
                        <p:cond delay="0"/>
                      </p:stCondLst>
                      <p:childTnLst>
                        <p:par>
                          <p:cTn id="12" fill="hold">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500"/>
                                  <p:tgtEl>
                                    <p:spTgt spid="11"/>
                                  </p:tgtEl>
                                </p:cBhvr>
                              </p:animEffect>
                            </p:childTnLst>
                          </p:cTn>
                        </p:par>
                      </p:childTnLst>
                    </p:cTn>
                  </p:par>
                  <p:par>
                    <p:cTn id="15" fill="hold">
                      <p:stCondLst>
                        <p:cond delay="0"/>
                      </p:stCondLst>
                      <p:childTnLst>
                        <p:par>
                          <p:cTn id="16" fill="hold">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8" grpId="1"/>
      <p:bldP spid="11" grpId="2"/>
      <p:bldP spid="14" grpId="3"/>
    </p:bld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Two Evaluation Systems, One Framework</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365760"/>
          </a:xfrm>
          <a:prstGeom prst="rect">
            <a:avLst/>
          </a:prstGeom>
          <a:noFill/>
        </p:spPr>
        <p:txBody>
          <a:bodyPr wrap="square" anchor="t"/>
          <a:lstStyle/>
          <a:p>
            <a:pPr algn="l"/>
            <a:r>
              <a:rPr sz="1700" b="1" i="0">
                <a:solidFill>
                  <a:srgbClr val="00B4D8"/>
                </a:solidFill>
                <a:latin typeface="Calibri"/>
              </a:rPr>
              <a:t>The Two Systems</a:t>
            </a:r>
          </a:p>
        </p:txBody>
      </p:sp>
      <p:sp>
        <p:nvSpPr>
          <p:cNvPr id="5" name="Rounded Rectangle 4"/>
          <p:cNvSpPr/>
          <p:nvPr/>
        </p:nvSpPr>
        <p:spPr>
          <a:xfrm>
            <a:off x="548640" y="1783080"/>
            <a:ext cx="5029200" cy="146304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74520"/>
            <a:ext cx="4663440" cy="274320"/>
          </a:xfrm>
          <a:prstGeom prst="rect">
            <a:avLst/>
          </a:prstGeom>
          <a:noFill/>
        </p:spPr>
        <p:txBody>
          <a:bodyPr wrap="square" anchor="t"/>
          <a:lstStyle/>
          <a:p>
            <a:pPr algn="l"/>
            <a:r>
              <a:rPr sz="1400" b="1" i="0">
                <a:solidFill>
                  <a:srgbClr val="00B4D8"/>
                </a:solidFill>
                <a:latin typeface="Calibri"/>
              </a:rPr>
              <a:t>Intelligibility Score (IS)</a:t>
            </a:r>
          </a:p>
        </p:txBody>
      </p:sp>
      <p:sp>
        <p:nvSpPr>
          <p:cNvPr id="7" name="TextBox 6"/>
          <p:cNvSpPr txBox="1"/>
          <p:nvPr/>
        </p:nvSpPr>
        <p:spPr>
          <a:xfrm>
            <a:off x="731520" y="2240280"/>
            <a:ext cx="4663440" cy="731520"/>
          </a:xfrm>
          <a:prstGeom prst="rect">
            <a:avLst/>
          </a:prstGeom>
          <a:noFill/>
        </p:spPr>
        <p:txBody>
          <a:bodyPr wrap="square">
            <a:spAutoFit/>
          </a:bodyPr>
          <a:lstStyle/>
          <a:p>
            <a:pPr algn="l">
              <a:spcAft>
                <a:spcPts val="600"/>
              </a:spcAft>
            </a:pPr>
            <a:r>
              <a:rPr sz="1300" b="1">
                <a:solidFill>
                  <a:srgbClr val="00B4D8"/>
                </a:solidFill>
                <a:latin typeface="Calibri"/>
              </a:rPr>
              <a:t>• </a:t>
            </a:r>
            <a:r>
              <a:rPr sz="1300" b="0">
                <a:solidFill>
                  <a:srgbClr val="FFFFFF"/>
                </a:solidFill>
                <a:latin typeface="Calibri"/>
              </a:rPr>
              <a:t>Strict metric: composite 0–5 score</a:t>
            </a:r>
          </a:p>
          <a:p>
            <a:pPr algn="l">
              <a:spcAft>
                <a:spcPts val="600"/>
              </a:spcAft>
            </a:pPr>
            <a:r>
              <a:rPr sz="1300" b="1">
                <a:solidFill>
                  <a:srgbClr val="00B4D8"/>
                </a:solidFill>
                <a:latin typeface="Calibri"/>
              </a:rPr>
              <a:t>• </a:t>
            </a:r>
            <a:r>
              <a:rPr sz="1300" b="1">
                <a:solidFill>
                  <a:srgbClr val="FFFFFF"/>
                </a:solidFill>
                <a:latin typeface="Calibri"/>
              </a:rPr>
              <a:t>IS ≥ 3.0 = Captured: 39.9% (597/1,497)</a:t>
            </a:r>
          </a:p>
        </p:txBody>
      </p:sp>
      <p:sp>
        <p:nvSpPr>
          <p:cNvPr id="8" name="Rounded Rectangle 7"/>
          <p:cNvSpPr/>
          <p:nvPr/>
        </p:nvSpPr>
        <p:spPr>
          <a:xfrm>
            <a:off x="548640" y="3429000"/>
            <a:ext cx="5029200" cy="1463040"/>
          </a:xfrm>
          <a:prstGeom prst="roundRect">
            <a:avLst/>
          </a:prstGeom>
          <a:solidFill>
            <a:srgbClr val="152A40"/>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520440"/>
            <a:ext cx="4663440" cy="274320"/>
          </a:xfrm>
          <a:prstGeom prst="rect">
            <a:avLst/>
          </a:prstGeom>
          <a:noFill/>
        </p:spPr>
        <p:txBody>
          <a:bodyPr wrap="square" anchor="t"/>
          <a:lstStyle/>
          <a:p>
            <a:pPr algn="l"/>
            <a:r>
              <a:rPr sz="1400" b="1" i="0">
                <a:solidFill>
                  <a:srgbClr val="4CAF50"/>
                </a:solidFill>
                <a:latin typeface="Calibri"/>
              </a:rPr>
              <a:t>Expert Heuristic (LLM Salvage)</a:t>
            </a:r>
          </a:p>
        </p:txBody>
      </p:sp>
      <p:sp>
        <p:nvSpPr>
          <p:cNvPr id="10" name="TextBox 9"/>
          <p:cNvSpPr txBox="1"/>
          <p:nvPr/>
        </p:nvSpPr>
        <p:spPr>
          <a:xfrm>
            <a:off x="731520" y="3886200"/>
            <a:ext cx="4663440" cy="731520"/>
          </a:xfrm>
          <a:prstGeom prst="rect">
            <a:avLst/>
          </a:prstGeom>
          <a:noFill/>
        </p:spPr>
        <p:txBody>
          <a:bodyPr wrap="square">
            <a:spAutoFit/>
          </a:bodyPr>
          <a:lstStyle/>
          <a:p>
            <a:pPr algn="l">
              <a:spcAft>
                <a:spcPts val="600"/>
              </a:spcAft>
            </a:pPr>
            <a:r>
              <a:rPr sz="1300" b="1">
                <a:solidFill>
                  <a:srgbClr val="00B4D8"/>
                </a:solidFill>
                <a:latin typeface="Calibri"/>
              </a:rPr>
              <a:t>• </a:t>
            </a:r>
            <a:r>
              <a:rPr sz="1300" b="0">
                <a:solidFill>
                  <a:srgbClr val="FFFFFF"/>
                </a:solidFill>
                <a:latin typeface="Calibri"/>
              </a:rPr>
              <a:t>Generous: identifies recoverable segments</a:t>
            </a:r>
          </a:p>
          <a:p>
            <a:pPr algn="l">
              <a:spcAft>
                <a:spcPts val="600"/>
              </a:spcAft>
            </a:pPr>
            <a:r>
              <a:rPr sz="1300" b="1">
                <a:solidFill>
                  <a:srgbClr val="00B4D8"/>
                </a:solidFill>
                <a:latin typeface="Calibri"/>
              </a:rPr>
              <a:t>• </a:t>
            </a:r>
            <a:r>
              <a:rPr sz="1300" b="1">
                <a:solidFill>
                  <a:srgbClr val="FFFFFF"/>
                </a:solidFill>
                <a:latin typeface="Calibri"/>
              </a:rPr>
              <a:t>IS &lt; 3.0 but salvageable: 50.9% (762/1,497)</a:t>
            </a:r>
          </a:p>
        </p:txBody>
      </p:sp>
      <p:sp>
        <p:nvSpPr>
          <p:cNvPr id="11" name="TextBox 10"/>
          <p:cNvSpPr txBox="1"/>
          <p:nvPr/>
        </p:nvSpPr>
        <p:spPr>
          <a:xfrm>
            <a:off x="6611111" y="1325880"/>
            <a:ext cx="5029200" cy="365760"/>
          </a:xfrm>
          <a:prstGeom prst="rect">
            <a:avLst/>
          </a:prstGeom>
          <a:noFill/>
        </p:spPr>
        <p:txBody>
          <a:bodyPr wrap="square" anchor="t"/>
          <a:lstStyle/>
          <a:p>
            <a:pPr algn="l"/>
            <a:r>
              <a:rPr sz="1700" b="1" i="0">
                <a:solidFill>
                  <a:srgbClr val="E06C75"/>
                </a:solidFill>
                <a:latin typeface="Calibri"/>
              </a:rPr>
              <a:t>Agreement Between Systems</a:t>
            </a:r>
          </a:p>
        </p:txBody>
      </p:sp>
      <p:graphicFrame>
        <p:nvGraphicFramePr>
          <p:cNvPr id="12" name="Table 11"/>
          <p:cNvGraphicFramePr>
            <a:graphicFrameLocks noGrp="1"/>
          </p:cNvGraphicFramePr>
          <p:nvPr/>
        </p:nvGraphicFramePr>
        <p:xfrm>
          <a:off x="6611111" y="1783080"/>
          <a:ext cx="5029200" cy="2084832"/>
        </p:xfrm>
        <a:graphic>
          <a:graphicData uri="http://schemas.openxmlformats.org/drawingml/2006/table">
            <a:tbl>
              <a:tblPr firstRow="0" bandRow="0" lastRow="0" bandCol="0">
                <a:tableStyleId>{5C22544A-7EE6-4342-B048-85BDC9FD1C3A}</a:tableStyleId>
              </a:tblPr>
              <a:tblGrid>
                <a:gridCol w="2514600"/>
                <a:gridCol w="2514600"/>
              </a:tblGrid>
              <a:tr h="347472">
                <a:tc>
                  <a:txBody>
                    <a:bodyPr/>
                    <a:lstStyle/>
                    <a:p>
                      <a:pPr algn="ctr"/>
                      <a:r>
                        <a:rPr sz="1200" b="1" i="0">
                          <a:solidFill>
                            <a:srgbClr val="FFFFFF"/>
                          </a:solidFill>
                          <a:latin typeface="Calibri"/>
                        </a:rPr>
                        <a:t>Metric</a:t>
                      </a:r>
                    </a:p>
                  </a:txBody>
                  <a:tcPr>
                    <a:solidFill>
                      <a:srgbClr val="00b4d8"/>
                    </a:solidFill>
                  </a:tcPr>
                </a:tc>
                <a:tc>
                  <a:txBody>
                    <a:bodyPr/>
                    <a:lstStyle/>
                    <a:p>
                      <a:pPr algn="ctr"/>
                      <a:r>
                        <a:rPr sz="1200" b="1" i="0">
                          <a:solidFill>
                            <a:srgbClr val="FFFFFF"/>
                          </a:solidFill>
                          <a:latin typeface="Calibri"/>
                        </a:rPr>
                        <a:t>Value</a:t>
                      </a:r>
                    </a:p>
                  </a:txBody>
                  <a:tcPr>
                    <a:solidFill>
                      <a:srgbClr val="00b4d8"/>
                    </a:solidFill>
                  </a:tcPr>
                </a:tc>
              </a:tr>
              <a:tr h="347472">
                <a:tc>
                  <a:txBody>
                    <a:bodyPr/>
                    <a:lstStyle/>
                    <a:p>
                      <a:pPr algn="l"/>
                      <a:r>
                        <a:rPr sz="1200" b="0" i="0">
                          <a:solidFill>
                            <a:srgbClr val="FFFFFF"/>
                          </a:solidFill>
                          <a:latin typeface="Calibri"/>
                        </a:rPr>
                        <a:t>Pearson r</a:t>
                      </a:r>
                    </a:p>
                  </a:txBody>
                  <a:tcPr>
                    <a:solidFill>
                      <a:srgbClr val="0d1b2a"/>
                    </a:solidFill>
                  </a:tcPr>
                </a:tc>
                <a:tc>
                  <a:txBody>
                    <a:bodyPr/>
                    <a:lstStyle/>
                    <a:p>
                      <a:pPr algn="l"/>
                      <a:r>
                        <a:rPr sz="1200" b="0" i="0">
                          <a:solidFill>
                            <a:srgbClr val="FFFFFF"/>
                          </a:solidFill>
                          <a:latin typeface="Calibri"/>
                        </a:rPr>
                        <a:t>0.934</a:t>
                      </a:r>
                    </a:p>
                  </a:txBody>
                  <a:tcPr>
                    <a:solidFill>
                      <a:srgbClr val="0d1b2a"/>
                    </a:solidFill>
                  </a:tcPr>
                </a:tc>
              </a:tr>
              <a:tr h="347472">
                <a:tc>
                  <a:txBody>
                    <a:bodyPr/>
                    <a:lstStyle/>
                    <a:p>
                      <a:pPr algn="l"/>
                      <a:r>
                        <a:rPr sz="1200" b="0" i="0">
                          <a:solidFill>
                            <a:srgbClr val="FFFFFF"/>
                          </a:solidFill>
                          <a:latin typeface="Calibri"/>
                        </a:rPr>
                        <a:t>Agreement at IS ≥ 3.0</a:t>
                      </a:r>
                    </a:p>
                  </a:txBody>
                  <a:tcPr>
                    <a:solidFill>
                      <a:srgbClr val="152a40"/>
                    </a:solidFill>
                  </a:tcPr>
                </a:tc>
                <a:tc>
                  <a:txBody>
                    <a:bodyPr/>
                    <a:lstStyle/>
                    <a:p>
                      <a:pPr algn="l"/>
                      <a:r>
                        <a:rPr sz="1200" b="0" i="0">
                          <a:solidFill>
                            <a:srgbClr val="FFFFFF"/>
                          </a:solidFill>
                          <a:latin typeface="Calibri"/>
                        </a:rPr>
                        <a:t>88.6%</a:t>
                      </a:r>
                    </a:p>
                  </a:txBody>
                  <a:tcPr>
                    <a:solidFill>
                      <a:srgbClr val="152a40"/>
                    </a:solidFill>
                  </a:tcPr>
                </a:tc>
              </a:tr>
              <a:tr h="347472">
                <a:tc>
                  <a:txBody>
                    <a:bodyPr/>
                    <a:lstStyle/>
                    <a:p>
                      <a:pPr algn="l"/>
                      <a:r>
                        <a:rPr sz="1200" b="0" i="0">
                          <a:solidFill>
                            <a:srgbClr val="FFFFFF"/>
                          </a:solidFill>
                          <a:latin typeface="Calibri"/>
                        </a:rPr>
                        <a:t>Cohen's κ</a:t>
                      </a:r>
                    </a:p>
                  </a:txBody>
                  <a:tcPr>
                    <a:solidFill>
                      <a:srgbClr val="0d1b2a"/>
                    </a:solidFill>
                  </a:tcPr>
                </a:tc>
                <a:tc>
                  <a:txBody>
                    <a:bodyPr/>
                    <a:lstStyle/>
                    <a:p>
                      <a:pPr algn="l"/>
                      <a:r>
                        <a:rPr sz="1200" b="0" i="0">
                          <a:solidFill>
                            <a:srgbClr val="FFFFFF"/>
                          </a:solidFill>
                          <a:latin typeface="Calibri"/>
                        </a:rPr>
                        <a:t>0.773</a:t>
                      </a:r>
                    </a:p>
                  </a:txBody>
                  <a:tcPr>
                    <a:solidFill>
                      <a:srgbClr val="0d1b2a"/>
                    </a:solidFill>
                  </a:tcPr>
                </a:tc>
              </a:tr>
              <a:tr h="347472">
                <a:tc>
                  <a:txBody>
                    <a:bodyPr/>
                    <a:lstStyle/>
                    <a:p>
                      <a:pPr algn="l"/>
                      <a:r>
                        <a:rPr sz="1200" b="0" i="0">
                          <a:solidFill>
                            <a:srgbClr val="FFFFFF"/>
                          </a:solidFill>
                          <a:latin typeface="Calibri"/>
                        </a:rPr>
                        <a:t>Recall (Heuristic)</a:t>
                      </a:r>
                    </a:p>
                  </a:txBody>
                  <a:tcPr>
                    <a:solidFill>
                      <a:srgbClr val="152a40"/>
                    </a:solidFill>
                  </a:tcPr>
                </a:tc>
                <a:tc>
                  <a:txBody>
                    <a:bodyPr/>
                    <a:lstStyle/>
                    <a:p>
                      <a:pPr algn="l"/>
                      <a:r>
                        <a:rPr sz="1200" b="0" i="0">
                          <a:solidFill>
                            <a:srgbClr val="FFFFFF"/>
                          </a:solidFill>
                          <a:latin typeface="Calibri"/>
                        </a:rPr>
                        <a:t>99.2%</a:t>
                      </a:r>
                    </a:p>
                  </a:txBody>
                  <a:tcPr>
                    <a:solidFill>
                      <a:srgbClr val="152a40"/>
                    </a:solidFill>
                  </a:tcPr>
                </a:tc>
              </a:tr>
              <a:tr h="347472">
                <a:tc>
                  <a:txBody>
                    <a:bodyPr/>
                    <a:lstStyle/>
                    <a:p>
                      <a:pPr algn="l"/>
                      <a:r>
                        <a:rPr sz="1200" b="0" i="0">
                          <a:solidFill>
                            <a:srgbClr val="FFFFFF"/>
                          </a:solidFill>
                          <a:latin typeface="Calibri"/>
                        </a:rPr>
                        <a:t>Cross-config mean r</a:t>
                      </a:r>
                    </a:p>
                  </a:txBody>
                  <a:tcPr>
                    <a:solidFill>
                      <a:srgbClr val="0d1b2a"/>
                    </a:solidFill>
                  </a:tcPr>
                </a:tc>
                <a:tc>
                  <a:txBody>
                    <a:bodyPr/>
                    <a:lstStyle/>
                    <a:p>
                      <a:pPr algn="l"/>
                      <a:r>
                        <a:rPr sz="1200" b="0" i="0">
                          <a:solidFill>
                            <a:srgbClr val="FFFFFF"/>
                          </a:solidFill>
                          <a:latin typeface="Calibri"/>
                        </a:rPr>
                        <a:t>0.925</a:t>
                      </a:r>
                    </a:p>
                  </a:txBody>
                  <a:tcPr>
                    <a:solidFill>
                      <a:srgbClr val="0d1b2a"/>
                    </a:solidFill>
                  </a:tcPr>
                </a:tc>
              </a:tr>
            </a:tbl>
          </a:graphicData>
        </a:graphic>
      </p:graphicFrame>
      <p:sp>
        <p:nvSpPr>
          <p:cNvPr id="13" name="TextBox 12"/>
          <p:cNvSpPr txBox="1"/>
          <p:nvPr/>
        </p:nvSpPr>
        <p:spPr>
          <a:xfrm>
            <a:off x="6611111" y="3886200"/>
            <a:ext cx="5029200" cy="274320"/>
          </a:xfrm>
          <a:prstGeom prst="rect">
            <a:avLst/>
          </a:prstGeom>
          <a:noFill/>
        </p:spPr>
        <p:txBody>
          <a:bodyPr wrap="square" anchor="t"/>
          <a:lstStyle/>
          <a:p>
            <a:pPr algn="l"/>
            <a:r>
              <a:rPr sz="1400" b="1" i="0">
                <a:solidFill>
                  <a:srgbClr val="00B4D8"/>
                </a:solidFill>
                <a:latin typeface="Calibri"/>
              </a:rPr>
              <a:t>Worked Example:</a:t>
            </a:r>
          </a:p>
        </p:txBody>
      </p:sp>
      <p:sp>
        <p:nvSpPr>
          <p:cNvPr id="14" name="TextBox 13"/>
          <p:cNvSpPr txBox="1"/>
          <p:nvPr/>
        </p:nvSpPr>
        <p:spPr>
          <a:xfrm>
            <a:off x="6611111" y="4251960"/>
            <a:ext cx="5029200" cy="1371600"/>
          </a:xfrm>
          <a:prstGeom prst="rect">
            <a:avLst/>
          </a:prstGeom>
          <a:noFill/>
        </p:spPr>
        <p:txBody>
          <a:bodyPr wrap="square" anchor="t"/>
          <a:lstStyle/>
          <a:p>
            <a:pPr algn="l"/>
            <a:r>
              <a:rPr sz="1200" b="0" i="0">
                <a:solidFill>
                  <a:srgbClr val="FFFFFF"/>
                </a:solidFill>
                <a:latin typeface="Calibri"/>
              </a:rPr>
              <a:t>Ref: "opinions about reason and logic"</a:t>
            </a:r>
            <a:br/>
            <a:r>
              <a:rPr sz="1200" b="0" i="0">
                <a:solidFill>
                  <a:srgbClr val="FFFFFF"/>
                </a:solidFill>
                <a:latin typeface="Calibri"/>
              </a:rPr>
              <a:t>Hyp: "our opinion is about reasoning and logic"</a:t>
            </a:r>
            <a:br/>
            <a:r>
              <a:rPr sz="1200" b="0" i="0">
                <a:solidFill>
                  <a:srgbClr val="FFFFFF"/>
                </a:solidFill>
                <a:latin typeface="Calibri"/>
              </a:rPr>
              <a:t>WER: 74% • IS: 2.92 (failed) • LLM prob: 0.90 (salvaged)</a:t>
            </a:r>
            <a:br/>
            <a:r>
              <a:rPr sz="1200" b="0" i="0">
                <a:solidFill>
                  <a:srgbClr val="FFFFFF"/>
                </a:solidFill>
                <a:latin typeface="Calibri"/>
              </a:rPr>
              <a:t>Meaning preserved despite word differences.</a:t>
            </a:r>
          </a:p>
        </p:txBody>
      </p:sp>
      <p:pic>
        <p:nvPicPr>
          <p:cNvPr id="15" name="Picture 14"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6" name="TextBox 15"/>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31</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00"/>
                                  <p:tgtEl>
                                    <p:spTgt spid="5"/>
                                  </p:tgtEl>
                                </p:cBhvr>
                              </p:animEffect>
                            </p:childTnLst>
                          </p:cTn>
                        </p:par>
                        <p:par>
                          <p:cTn id="7" fill="hold">
                            <p:stCondLst>
                              <p:cond delay="12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500"/>
                                  <p:tgtEl>
                                    <p:spTgt spid="8"/>
                                  </p:tgtEl>
                                </p:cBhvr>
                              </p:animEffect>
                            </p:childTnLst>
                          </p:cTn>
                        </p:par>
                      </p:childTnLst>
                    </p:cTn>
                  </p:par>
                  <p:par>
                    <p:cTn id="10" fill="hold">
                      <p:stCondLst>
                        <p:cond delay="0"/>
                      </p:stCondLst>
                      <p:childTnLst>
                        <p:par>
                          <p:cTn id="11" fill="hold">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fill="hold">
                            <p:stCondLst>
                              <p:cond delay="12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11" grpId="1"/>
      <p:bldP spid="12" grpId="1"/>
    </p:bld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LLM-as-a-Judge: Gold Standard (1,497 Pairs)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365760"/>
          </a:xfrm>
          <a:prstGeom prst="rect">
            <a:avLst/>
          </a:prstGeom>
          <a:noFill/>
        </p:spPr>
        <p:txBody>
          <a:bodyPr wrap="square" anchor="t"/>
          <a:lstStyle/>
          <a:p>
            <a:pPr algn="l"/>
            <a:r>
              <a:rPr sz="1700" b="1" i="0">
                <a:solidFill>
                  <a:srgbClr val="00B4D8"/>
                </a:solidFill>
                <a:latin typeface="Calibri"/>
              </a:rPr>
              <a:t>Protocol</a:t>
            </a:r>
          </a:p>
        </p:txBody>
      </p:sp>
      <p:sp>
        <p:nvSpPr>
          <p:cNvPr id="5" name="TextBox 4"/>
          <p:cNvSpPr txBox="1"/>
          <p:nvPr/>
        </p:nvSpPr>
        <p:spPr>
          <a:xfrm>
            <a:off x="548640" y="1783080"/>
            <a:ext cx="5029200" cy="1645920"/>
          </a:xfrm>
          <a:prstGeom prst="rect">
            <a:avLst/>
          </a:prstGeom>
          <a:noFill/>
        </p:spPr>
        <p:txBody>
          <a:bodyPr wrap="square">
            <a:spAutoFit/>
          </a:bodyPr>
          <a:lstStyle/>
          <a:p>
            <a:pPr algn="l">
              <a:spcAft>
                <a:spcPts val="600"/>
              </a:spcAft>
            </a:pPr>
            <a:r>
              <a:rPr sz="1300" b="1">
                <a:solidFill>
                  <a:srgbClr val="00B4D8"/>
                </a:solidFill>
                <a:latin typeface="Calibri"/>
              </a:rPr>
              <a:t>• </a:t>
            </a:r>
            <a:r>
              <a:rPr sz="1300" b="0">
                <a:solidFill>
                  <a:srgbClr val="FFFFFF"/>
                </a:solidFill>
                <a:latin typeface="Calibri"/>
              </a:rPr>
              <a:t>Claude Opus evaluated all 1,497 ref+hyp pairs</a:t>
            </a:r>
          </a:p>
          <a:p>
            <a:pPr algn="l">
              <a:spcAft>
                <a:spcPts val="600"/>
              </a:spcAft>
            </a:pPr>
            <a:r>
              <a:rPr sz="1300" b="1">
                <a:solidFill>
                  <a:srgbClr val="00B4D8"/>
                </a:solidFill>
                <a:latin typeface="Calibri"/>
              </a:rPr>
              <a:t>• </a:t>
            </a:r>
            <a:r>
              <a:rPr sz="1300" b="0">
                <a:solidFill>
                  <a:srgbClr val="FFFFFF"/>
                </a:solidFill>
                <a:latin typeface="Calibri"/>
              </a:rPr>
              <a:t>Blind (no topic context), 3-level: Y / P / N</a:t>
            </a:r>
          </a:p>
          <a:p>
            <a:pPr algn="l">
              <a:spcAft>
                <a:spcPts val="600"/>
              </a:spcAft>
            </a:pPr>
            <a:r>
              <a:rPr sz="1300" b="1">
                <a:solidFill>
                  <a:srgbClr val="00B4D8"/>
                </a:solidFill>
                <a:latin typeface="Calibri"/>
              </a:rPr>
              <a:t>• </a:t>
            </a:r>
            <a:r>
              <a:rPr sz="1300" b="0">
                <a:solidFill>
                  <a:srgbClr val="FFFFFF"/>
                </a:solidFill>
                <a:latin typeface="Calibri"/>
              </a:rPr>
              <a:t>30 duplicate pairs for intra-rater reliability</a:t>
            </a:r>
          </a:p>
          <a:p>
            <a:pPr algn="l">
              <a:spcAft>
                <a:spcPts val="600"/>
              </a:spcAft>
            </a:pPr>
            <a:r>
              <a:rPr sz="1300" b="1">
                <a:solidFill>
                  <a:srgbClr val="00B4D8"/>
                </a:solidFill>
                <a:latin typeface="Calibri"/>
              </a:rPr>
              <a:t>• </a:t>
            </a:r>
            <a:r>
              <a:rPr sz="1300" b="1">
                <a:solidFill>
                  <a:srgbClr val="FFFFFF"/>
                </a:solidFill>
                <a:latin typeface="Calibri"/>
              </a:rPr>
              <a:t>Intra-rater: 86.7% exact agreement</a:t>
            </a:r>
          </a:p>
        </p:txBody>
      </p:sp>
      <p:sp>
        <p:nvSpPr>
          <p:cNvPr id="6" name="TextBox 5"/>
          <p:cNvSpPr txBox="1"/>
          <p:nvPr/>
        </p:nvSpPr>
        <p:spPr>
          <a:xfrm>
            <a:off x="548640" y="3520440"/>
            <a:ext cx="5029200" cy="274320"/>
          </a:xfrm>
          <a:prstGeom prst="rect">
            <a:avLst/>
          </a:prstGeom>
          <a:noFill/>
        </p:spPr>
        <p:txBody>
          <a:bodyPr wrap="square" anchor="t"/>
          <a:lstStyle/>
          <a:p>
            <a:pPr algn="l"/>
            <a:r>
              <a:rPr sz="1500" b="1" i="0">
                <a:solidFill>
                  <a:srgbClr val="00B4D8"/>
                </a:solidFill>
                <a:latin typeface="Calibri"/>
              </a:rPr>
              <a:t>Results (Blind)</a:t>
            </a:r>
          </a:p>
        </p:txBody>
      </p:sp>
      <p:graphicFrame>
        <p:nvGraphicFramePr>
          <p:cNvPr id="7" name="Table 6"/>
          <p:cNvGraphicFramePr>
            <a:graphicFrameLocks noGrp="1"/>
          </p:cNvGraphicFramePr>
          <p:nvPr/>
        </p:nvGraphicFramePr>
        <p:xfrm>
          <a:off x="548640" y="3886200"/>
          <a:ext cx="5029200" cy="1737360"/>
        </p:xfrm>
        <a:graphic>
          <a:graphicData uri="http://schemas.openxmlformats.org/drawingml/2006/table">
            <a:tbl>
              <a:tblPr firstRow="0" bandRow="0" lastRow="0" bandCol="0">
                <a:tableStyleId>{5C22544A-7EE6-4342-B048-85BDC9FD1C3A}</a:tableStyleId>
              </a:tblPr>
              <a:tblGrid>
                <a:gridCol w="1676400"/>
                <a:gridCol w="1676400"/>
                <a:gridCol w="1676400"/>
              </a:tblGrid>
              <a:tr h="347472">
                <a:tc>
                  <a:txBody>
                    <a:bodyPr/>
                    <a:lstStyle/>
                    <a:p>
                      <a:pPr algn="ctr"/>
                      <a:r>
                        <a:rPr sz="1200" b="1" i="0">
                          <a:solidFill>
                            <a:srgbClr val="FFFFFF"/>
                          </a:solidFill>
                          <a:latin typeface="Calibri"/>
                        </a:rPr>
                        <a:t>Verdict</a:t>
                      </a:r>
                    </a:p>
                  </a:txBody>
                  <a:tcPr>
                    <a:solidFill>
                      <a:srgbClr val="00b4d8"/>
                    </a:solidFill>
                  </a:tcPr>
                </a:tc>
                <a:tc>
                  <a:txBody>
                    <a:bodyPr/>
                    <a:lstStyle/>
                    <a:p>
                      <a:pPr algn="ctr"/>
                      <a:r>
                        <a:rPr sz="1200" b="1" i="0">
                          <a:solidFill>
                            <a:srgbClr val="FFFFFF"/>
                          </a:solidFill>
                          <a:latin typeface="Calibri"/>
                        </a:rPr>
                        <a:t>Count</a:t>
                      </a:r>
                    </a:p>
                  </a:txBody>
                  <a:tcPr>
                    <a:solidFill>
                      <a:srgbClr val="00b4d8"/>
                    </a:solidFill>
                  </a:tcPr>
                </a:tc>
                <a:tc>
                  <a:txBody>
                    <a:bodyPr/>
                    <a:lstStyle/>
                    <a:p>
                      <a:pPr algn="ctr"/>
                      <a:r>
                        <a:rPr sz="1200" b="1" i="0">
                          <a:solidFill>
                            <a:srgbClr val="FFFFFF"/>
                          </a:solidFill>
                          <a:latin typeface="Calibri"/>
                        </a:rPr>
                        <a:t>%</a:t>
                      </a:r>
                    </a:p>
                  </a:txBody>
                  <a:tcPr>
                    <a:solidFill>
                      <a:srgbClr val="00b4d8"/>
                    </a:solidFill>
                  </a:tcPr>
                </a:tc>
              </a:tr>
              <a:tr h="347472">
                <a:tc>
                  <a:txBody>
                    <a:bodyPr/>
                    <a:lstStyle/>
                    <a:p>
                      <a:pPr algn="l"/>
                      <a:r>
                        <a:rPr sz="1200" b="0" i="0">
                          <a:solidFill>
                            <a:srgbClr val="FFFFFF"/>
                          </a:solidFill>
                          <a:latin typeface="Calibri"/>
                        </a:rPr>
                        <a:t>Y (fully preserved)</a:t>
                      </a:r>
                    </a:p>
                  </a:txBody>
                  <a:tcPr>
                    <a:solidFill>
                      <a:srgbClr val="0d1b2a"/>
                    </a:solidFill>
                  </a:tcPr>
                </a:tc>
                <a:tc>
                  <a:txBody>
                    <a:bodyPr/>
                    <a:lstStyle/>
                    <a:p>
                      <a:pPr algn="l"/>
                      <a:r>
                        <a:rPr sz="1200" b="0" i="0">
                          <a:solidFill>
                            <a:srgbClr val="FFFFFF"/>
                          </a:solidFill>
                          <a:latin typeface="Calibri"/>
                        </a:rPr>
                        <a:t>345</a:t>
                      </a:r>
                    </a:p>
                  </a:txBody>
                  <a:tcPr>
                    <a:solidFill>
                      <a:srgbClr val="0d1b2a"/>
                    </a:solidFill>
                  </a:tcPr>
                </a:tc>
                <a:tc>
                  <a:txBody>
                    <a:bodyPr/>
                    <a:lstStyle/>
                    <a:p>
                      <a:pPr algn="l"/>
                      <a:r>
                        <a:rPr sz="1200" b="0" i="0">
                          <a:solidFill>
                            <a:srgbClr val="4CAF50"/>
                          </a:solidFill>
                          <a:latin typeface="Calibri"/>
                        </a:rPr>
                        <a:t>23.0%</a:t>
                      </a:r>
                    </a:p>
                  </a:txBody>
                  <a:tcPr>
                    <a:solidFill>
                      <a:srgbClr val="0d1b2a"/>
                    </a:solidFill>
                  </a:tcPr>
                </a:tc>
              </a:tr>
              <a:tr h="347472">
                <a:tc>
                  <a:txBody>
                    <a:bodyPr/>
                    <a:lstStyle/>
                    <a:p>
                      <a:pPr algn="l"/>
                      <a:r>
                        <a:rPr sz="1200" b="0" i="0">
                          <a:solidFill>
                            <a:srgbClr val="FFFFFF"/>
                          </a:solidFill>
                          <a:latin typeface="Calibri"/>
                        </a:rPr>
                        <a:t>P (partially)</a:t>
                      </a:r>
                    </a:p>
                  </a:txBody>
                  <a:tcPr>
                    <a:solidFill>
                      <a:srgbClr val="152a40"/>
                    </a:solidFill>
                  </a:tcPr>
                </a:tc>
                <a:tc>
                  <a:txBody>
                    <a:bodyPr/>
                    <a:lstStyle/>
                    <a:p>
                      <a:pPr algn="l"/>
                      <a:r>
                        <a:rPr sz="1200" b="0" i="0">
                          <a:solidFill>
                            <a:srgbClr val="FFFFFF"/>
                          </a:solidFill>
                          <a:latin typeface="Calibri"/>
                        </a:rPr>
                        <a:t>626</a:t>
                      </a:r>
                    </a:p>
                  </a:txBody>
                  <a:tcPr>
                    <a:solidFill>
                      <a:srgbClr val="152a40"/>
                    </a:solidFill>
                  </a:tcPr>
                </a:tc>
                <a:tc>
                  <a:txBody>
                    <a:bodyPr/>
                    <a:lstStyle/>
                    <a:p>
                      <a:pPr algn="l"/>
                      <a:r>
                        <a:rPr sz="1200" b="0" i="0">
                          <a:solidFill>
                            <a:srgbClr val="FFFFFF"/>
                          </a:solidFill>
                          <a:latin typeface="Calibri"/>
                        </a:rPr>
                        <a:t>41.8%</a:t>
                      </a:r>
                    </a:p>
                  </a:txBody>
                  <a:tcPr>
                    <a:solidFill>
                      <a:srgbClr val="152a40"/>
                    </a:solidFill>
                  </a:tcPr>
                </a:tc>
              </a:tr>
              <a:tr h="347472">
                <a:tc>
                  <a:txBody>
                    <a:bodyPr/>
                    <a:lstStyle/>
                    <a:p>
                      <a:pPr algn="l"/>
                      <a:r>
                        <a:rPr sz="1200" b="0" i="0">
                          <a:solidFill>
                            <a:srgbClr val="FFFFFF"/>
                          </a:solidFill>
                          <a:latin typeface="Calibri"/>
                        </a:rPr>
                        <a:t>N (not preserved)</a:t>
                      </a:r>
                    </a:p>
                  </a:txBody>
                  <a:tcPr>
                    <a:solidFill>
                      <a:srgbClr val="0d1b2a"/>
                    </a:solidFill>
                  </a:tcPr>
                </a:tc>
                <a:tc>
                  <a:txBody>
                    <a:bodyPr/>
                    <a:lstStyle/>
                    <a:p>
                      <a:pPr algn="l"/>
                      <a:r>
                        <a:rPr sz="1200" b="0" i="0">
                          <a:solidFill>
                            <a:srgbClr val="FFFFFF"/>
                          </a:solidFill>
                          <a:latin typeface="Calibri"/>
                        </a:rPr>
                        <a:t>526</a:t>
                      </a:r>
                    </a:p>
                  </a:txBody>
                  <a:tcPr>
                    <a:solidFill>
                      <a:srgbClr val="0d1b2a"/>
                    </a:solidFill>
                  </a:tcPr>
                </a:tc>
                <a:tc>
                  <a:txBody>
                    <a:bodyPr/>
                    <a:lstStyle/>
                    <a:p>
                      <a:pPr algn="l"/>
                      <a:r>
                        <a:rPr sz="1200" b="0" i="0">
                          <a:solidFill>
                            <a:srgbClr val="E06C75"/>
                          </a:solidFill>
                          <a:latin typeface="Calibri"/>
                        </a:rPr>
                        <a:t>35.1%</a:t>
                      </a:r>
                    </a:p>
                  </a:txBody>
                  <a:tcPr>
                    <a:solidFill>
                      <a:srgbClr val="0d1b2a"/>
                    </a:solidFill>
                  </a:tcPr>
                </a:tc>
              </a:tr>
              <a:tr h="347472">
                <a:tc>
                  <a:txBody>
                    <a:bodyPr/>
                    <a:lstStyle/>
                    <a:p>
                      <a:pPr algn="l"/>
                      <a:r>
                        <a:rPr sz="1200" b="0" i="0">
                          <a:solidFill>
                            <a:srgbClr val="FFFFFF"/>
                          </a:solidFill>
                          <a:latin typeface="Calibri"/>
                        </a:rPr>
                        <a:t>Y+P (any useful)</a:t>
                      </a:r>
                    </a:p>
                  </a:txBody>
                  <a:tcPr>
                    <a:solidFill>
                      <a:srgbClr val="152a40"/>
                    </a:solidFill>
                  </a:tcPr>
                </a:tc>
                <a:tc>
                  <a:txBody>
                    <a:bodyPr/>
                    <a:lstStyle/>
                    <a:p>
                      <a:pPr algn="l"/>
                      <a:r>
                        <a:rPr sz="1200" b="0" i="0">
                          <a:solidFill>
                            <a:srgbClr val="FFFFFF"/>
                          </a:solidFill>
                          <a:latin typeface="Calibri"/>
                        </a:rPr>
                        <a:t>971</a:t>
                      </a:r>
                    </a:p>
                  </a:txBody>
                  <a:tcPr>
                    <a:solidFill>
                      <a:srgbClr val="152a40"/>
                    </a:solidFill>
                  </a:tcPr>
                </a:tc>
                <a:tc>
                  <a:txBody>
                    <a:bodyPr/>
                    <a:lstStyle/>
                    <a:p>
                      <a:pPr algn="l"/>
                      <a:r>
                        <a:rPr sz="1200" b="0" i="0">
                          <a:solidFill>
                            <a:srgbClr val="00B4D8"/>
                          </a:solidFill>
                          <a:latin typeface="Calibri"/>
                        </a:rPr>
                        <a:t>64.9%</a:t>
                      </a:r>
                    </a:p>
                  </a:txBody>
                  <a:tcPr>
                    <a:solidFill>
                      <a:srgbClr val="152a40"/>
                    </a:solidFill>
                  </a:tcPr>
                </a:tc>
              </a:tr>
            </a:tbl>
          </a:graphicData>
        </a:graphic>
      </p:graphicFrame>
      <p:sp>
        <p:nvSpPr>
          <p:cNvPr id="8" name="TextBox 7"/>
          <p:cNvSpPr txBox="1"/>
          <p:nvPr/>
        </p:nvSpPr>
        <p:spPr>
          <a:xfrm>
            <a:off x="6611111" y="1325880"/>
            <a:ext cx="5029200" cy="365760"/>
          </a:xfrm>
          <a:prstGeom prst="rect">
            <a:avLst/>
          </a:prstGeom>
          <a:noFill/>
        </p:spPr>
        <p:txBody>
          <a:bodyPr wrap="square" anchor="t"/>
          <a:lstStyle/>
          <a:p>
            <a:pPr algn="l"/>
            <a:r>
              <a:rPr sz="1700" b="1" i="0">
                <a:solidFill>
                  <a:srgbClr val="E06C75"/>
                </a:solidFill>
                <a:latin typeface="Calibri"/>
              </a:rPr>
              <a:t>Correlation with IS</a:t>
            </a:r>
          </a:p>
        </p:txBody>
      </p:sp>
      <p:sp>
        <p:nvSpPr>
          <p:cNvPr id="9" name="TextBox 8"/>
          <p:cNvSpPr txBox="1"/>
          <p:nvPr/>
        </p:nvSpPr>
        <p:spPr>
          <a:xfrm>
            <a:off x="6611111" y="1874520"/>
            <a:ext cx="5029200" cy="640080"/>
          </a:xfrm>
          <a:prstGeom prst="rect">
            <a:avLst/>
          </a:prstGeom>
          <a:noFill/>
        </p:spPr>
        <p:txBody>
          <a:bodyPr wrap="square" anchor="t"/>
          <a:lstStyle/>
          <a:p>
            <a:pPr algn="ctr"/>
            <a:r>
              <a:rPr sz="3600" b="1" i="0">
                <a:solidFill>
                  <a:srgbClr val="00B4D8"/>
                </a:solidFill>
                <a:latin typeface="Calibri"/>
              </a:rPr>
              <a:t>r = 0.85</a:t>
            </a:r>
          </a:p>
        </p:txBody>
      </p:sp>
      <p:sp>
        <p:nvSpPr>
          <p:cNvPr id="10" name="TextBox 9"/>
          <p:cNvSpPr txBox="1"/>
          <p:nvPr/>
        </p:nvSpPr>
        <p:spPr>
          <a:xfrm>
            <a:off x="6611111" y="2423160"/>
            <a:ext cx="5029200" cy="274320"/>
          </a:xfrm>
          <a:prstGeom prst="rect">
            <a:avLst/>
          </a:prstGeom>
          <a:noFill/>
        </p:spPr>
        <p:txBody>
          <a:bodyPr wrap="square" anchor="t"/>
          <a:lstStyle/>
          <a:p>
            <a:pPr algn="ctr"/>
            <a:r>
              <a:rPr sz="1200" b="0" i="0">
                <a:solidFill>
                  <a:srgbClr val="AAAAAA"/>
                </a:solidFill>
                <a:latin typeface="Calibri"/>
              </a:rPr>
              <a:t>Pearson correlation (IS ↔ LLM Judge)</a:t>
            </a:r>
          </a:p>
        </p:txBody>
      </p:sp>
      <p:sp>
        <p:nvSpPr>
          <p:cNvPr id="11" name="TextBox 10"/>
          <p:cNvSpPr txBox="1"/>
          <p:nvPr/>
        </p:nvSpPr>
        <p:spPr>
          <a:xfrm>
            <a:off x="6611111" y="2971800"/>
            <a:ext cx="5029200" cy="274320"/>
          </a:xfrm>
          <a:prstGeom prst="rect">
            <a:avLst/>
          </a:prstGeom>
          <a:noFill/>
        </p:spPr>
        <p:txBody>
          <a:bodyPr wrap="square" anchor="t"/>
          <a:lstStyle/>
          <a:p>
            <a:pPr algn="l"/>
            <a:r>
              <a:rPr sz="1500" b="1" i="0">
                <a:solidFill>
                  <a:srgbClr val="00B4D8"/>
                </a:solidFill>
                <a:latin typeface="Calibri"/>
              </a:rPr>
              <a:t>LLM Judge × IS Tier</a:t>
            </a:r>
          </a:p>
        </p:txBody>
      </p:sp>
      <p:graphicFrame>
        <p:nvGraphicFramePr>
          <p:cNvPr id="12" name="Table 11"/>
          <p:cNvGraphicFramePr>
            <a:graphicFrameLocks noGrp="1"/>
          </p:cNvGraphicFramePr>
          <p:nvPr/>
        </p:nvGraphicFramePr>
        <p:xfrm>
          <a:off x="6611111" y="3337560"/>
          <a:ext cx="5029200" cy="2084832"/>
        </p:xfrm>
        <a:graphic>
          <a:graphicData uri="http://schemas.openxmlformats.org/drawingml/2006/table">
            <a:tbl>
              <a:tblPr firstRow="0" bandRow="0" lastRow="0" bandCol="0">
                <a:tableStyleId>{5C22544A-7EE6-4342-B048-85BDC9FD1C3A}</a:tableStyleId>
              </a:tblPr>
              <a:tblGrid>
                <a:gridCol w="1257300"/>
                <a:gridCol w="1257300"/>
                <a:gridCol w="1257300"/>
                <a:gridCol w="1257300"/>
              </a:tblGrid>
              <a:tr h="347472">
                <a:tc>
                  <a:txBody>
                    <a:bodyPr/>
                    <a:lstStyle/>
                    <a:p>
                      <a:pPr algn="ctr"/>
                      <a:r>
                        <a:rPr sz="1100" b="1" i="0">
                          <a:solidFill>
                            <a:srgbClr val="FFFFFF"/>
                          </a:solidFill>
                          <a:latin typeface="Calibri"/>
                        </a:rPr>
                        <a:t>IS Tier</a:t>
                      </a:r>
                    </a:p>
                  </a:txBody>
                  <a:tcPr>
                    <a:solidFill>
                      <a:srgbClr val="00b4d8"/>
                    </a:solidFill>
                  </a:tcPr>
                </a:tc>
                <a:tc>
                  <a:txBody>
                    <a:bodyPr/>
                    <a:lstStyle/>
                    <a:p>
                      <a:pPr algn="ctr"/>
                      <a:r>
                        <a:rPr sz="1100" b="1" i="0">
                          <a:solidFill>
                            <a:srgbClr val="FFFFFF"/>
                          </a:solidFill>
                          <a:latin typeface="Calibri"/>
                        </a:rPr>
                        <a:t>Y%</a:t>
                      </a:r>
                    </a:p>
                  </a:txBody>
                  <a:tcPr>
                    <a:solidFill>
                      <a:srgbClr val="00b4d8"/>
                    </a:solidFill>
                  </a:tcPr>
                </a:tc>
                <a:tc>
                  <a:txBody>
                    <a:bodyPr/>
                    <a:lstStyle/>
                    <a:p>
                      <a:pPr algn="ctr"/>
                      <a:r>
                        <a:rPr sz="1100" b="1" i="0">
                          <a:solidFill>
                            <a:srgbClr val="FFFFFF"/>
                          </a:solidFill>
                          <a:latin typeface="Calibri"/>
                        </a:rPr>
                        <a:t>P%</a:t>
                      </a:r>
                    </a:p>
                  </a:txBody>
                  <a:tcPr>
                    <a:solidFill>
                      <a:srgbClr val="00b4d8"/>
                    </a:solidFill>
                  </a:tcPr>
                </a:tc>
                <a:tc>
                  <a:txBody>
                    <a:bodyPr/>
                    <a:lstStyle/>
                    <a:p>
                      <a:pPr algn="ctr"/>
                      <a:r>
                        <a:rPr sz="1100" b="1" i="0">
                          <a:solidFill>
                            <a:srgbClr val="FFFFFF"/>
                          </a:solidFill>
                          <a:latin typeface="Calibri"/>
                        </a:rPr>
                        <a:t>N%</a:t>
                      </a:r>
                    </a:p>
                  </a:txBody>
                  <a:tcPr>
                    <a:solidFill>
                      <a:srgbClr val="00b4d8"/>
                    </a:solidFill>
                  </a:tcPr>
                </a:tc>
              </a:tr>
              <a:tr h="347472">
                <a:tc>
                  <a:txBody>
                    <a:bodyPr/>
                    <a:lstStyle/>
                    <a:p>
                      <a:pPr algn="l"/>
                      <a:r>
                        <a:rPr sz="1100" b="0" i="0">
                          <a:solidFill>
                            <a:srgbClr val="FFFFFF"/>
                          </a:solidFill>
                          <a:latin typeface="Calibri"/>
                        </a:rPr>
                        <a:t>5 (Excellent)</a:t>
                      </a:r>
                    </a:p>
                  </a:txBody>
                  <a:tcPr>
                    <a:solidFill>
                      <a:srgbClr val="0d1b2a"/>
                    </a:solidFill>
                  </a:tcPr>
                </a:tc>
                <a:tc>
                  <a:txBody>
                    <a:bodyPr/>
                    <a:lstStyle/>
                    <a:p>
                      <a:pPr algn="l"/>
                      <a:r>
                        <a:rPr sz="1100" b="0" i="0">
                          <a:solidFill>
                            <a:srgbClr val="4CAF50"/>
                          </a:solidFill>
                          <a:latin typeface="Calibri"/>
                        </a:rPr>
                        <a:t>57%</a:t>
                      </a:r>
                    </a:p>
                  </a:txBody>
                  <a:tcPr>
                    <a:solidFill>
                      <a:srgbClr val="0d1b2a"/>
                    </a:solidFill>
                  </a:tcPr>
                </a:tc>
                <a:tc>
                  <a:txBody>
                    <a:bodyPr/>
                    <a:lstStyle/>
                    <a:p>
                      <a:pPr algn="l"/>
                      <a:r>
                        <a:rPr sz="1100" b="0" i="0">
                          <a:solidFill>
                            <a:srgbClr val="FFFFFF"/>
                          </a:solidFill>
                          <a:latin typeface="Calibri"/>
                        </a:rPr>
                        <a:t>38%</a:t>
                      </a:r>
                    </a:p>
                  </a:txBody>
                  <a:tcPr>
                    <a:solidFill>
                      <a:srgbClr val="0d1b2a"/>
                    </a:solidFill>
                  </a:tcPr>
                </a:tc>
                <a:tc>
                  <a:txBody>
                    <a:bodyPr/>
                    <a:lstStyle/>
                    <a:p>
                      <a:pPr algn="l"/>
                      <a:r>
                        <a:rPr sz="1100" b="0" i="0">
                          <a:solidFill>
                            <a:srgbClr val="FFFFFF"/>
                          </a:solidFill>
                          <a:latin typeface="Calibri"/>
                        </a:rPr>
                        <a:t>5%</a:t>
                      </a:r>
                    </a:p>
                  </a:txBody>
                  <a:tcPr>
                    <a:solidFill>
                      <a:srgbClr val="0d1b2a"/>
                    </a:solidFill>
                  </a:tcPr>
                </a:tc>
              </a:tr>
              <a:tr h="347472">
                <a:tc>
                  <a:txBody>
                    <a:bodyPr/>
                    <a:lstStyle/>
                    <a:p>
                      <a:pPr algn="l"/>
                      <a:r>
                        <a:rPr sz="1100" b="0" i="0">
                          <a:solidFill>
                            <a:srgbClr val="FFFFFF"/>
                          </a:solidFill>
                          <a:latin typeface="Calibri"/>
                        </a:rPr>
                        <a:t>4 (Good)</a:t>
                      </a:r>
                    </a:p>
                  </a:txBody>
                  <a:tcPr>
                    <a:solidFill>
                      <a:srgbClr val="152a40"/>
                    </a:solidFill>
                  </a:tcPr>
                </a:tc>
                <a:tc>
                  <a:txBody>
                    <a:bodyPr/>
                    <a:lstStyle/>
                    <a:p>
                      <a:pPr algn="l"/>
                      <a:r>
                        <a:rPr sz="1100" b="0" i="0">
                          <a:solidFill>
                            <a:srgbClr val="FFFFFF"/>
                          </a:solidFill>
                          <a:latin typeface="Calibri"/>
                        </a:rPr>
                        <a:t>21%</a:t>
                      </a:r>
                    </a:p>
                  </a:txBody>
                  <a:tcPr>
                    <a:solidFill>
                      <a:srgbClr val="152a40"/>
                    </a:solidFill>
                  </a:tcPr>
                </a:tc>
                <a:tc>
                  <a:txBody>
                    <a:bodyPr/>
                    <a:lstStyle/>
                    <a:p>
                      <a:pPr algn="l"/>
                      <a:r>
                        <a:rPr sz="1100" b="0" i="0">
                          <a:solidFill>
                            <a:srgbClr val="FFFFFF"/>
                          </a:solidFill>
                          <a:latin typeface="Calibri"/>
                        </a:rPr>
                        <a:t>59%</a:t>
                      </a:r>
                    </a:p>
                  </a:txBody>
                  <a:tcPr>
                    <a:solidFill>
                      <a:srgbClr val="152a40"/>
                    </a:solidFill>
                  </a:tcPr>
                </a:tc>
                <a:tc>
                  <a:txBody>
                    <a:bodyPr/>
                    <a:lstStyle/>
                    <a:p>
                      <a:pPr algn="l"/>
                      <a:r>
                        <a:rPr sz="1100" b="0" i="0">
                          <a:solidFill>
                            <a:srgbClr val="FFFFFF"/>
                          </a:solidFill>
                          <a:latin typeface="Calibri"/>
                        </a:rPr>
                        <a:t>20%</a:t>
                      </a:r>
                    </a:p>
                  </a:txBody>
                  <a:tcPr>
                    <a:solidFill>
                      <a:srgbClr val="152a40"/>
                    </a:solidFill>
                  </a:tcPr>
                </a:tc>
              </a:tr>
              <a:tr h="347472">
                <a:tc>
                  <a:txBody>
                    <a:bodyPr/>
                    <a:lstStyle/>
                    <a:p>
                      <a:pPr algn="l"/>
                      <a:r>
                        <a:rPr sz="1100" b="0" i="0">
                          <a:solidFill>
                            <a:srgbClr val="FFFFFF"/>
                          </a:solidFill>
                          <a:latin typeface="Calibri"/>
                        </a:rPr>
                        <a:t>3 (Fair)</a:t>
                      </a:r>
                    </a:p>
                  </a:txBody>
                  <a:tcPr>
                    <a:solidFill>
                      <a:srgbClr val="0d1b2a"/>
                    </a:solidFill>
                  </a:tcPr>
                </a:tc>
                <a:tc>
                  <a:txBody>
                    <a:bodyPr/>
                    <a:lstStyle/>
                    <a:p>
                      <a:pPr algn="l"/>
                      <a:r>
                        <a:rPr sz="1100" b="0" i="0">
                          <a:solidFill>
                            <a:srgbClr val="FFFFFF"/>
                          </a:solidFill>
                          <a:latin typeface="Calibri"/>
                        </a:rPr>
                        <a:t>8%</a:t>
                      </a:r>
                    </a:p>
                  </a:txBody>
                  <a:tcPr>
                    <a:solidFill>
                      <a:srgbClr val="0d1b2a"/>
                    </a:solidFill>
                  </a:tcPr>
                </a:tc>
                <a:tc>
                  <a:txBody>
                    <a:bodyPr/>
                    <a:lstStyle/>
                    <a:p>
                      <a:pPr algn="l"/>
                      <a:r>
                        <a:rPr sz="1100" b="0" i="0">
                          <a:solidFill>
                            <a:srgbClr val="FFFFFF"/>
                          </a:solidFill>
                          <a:latin typeface="Calibri"/>
                        </a:rPr>
                        <a:t>51%</a:t>
                      </a:r>
                    </a:p>
                  </a:txBody>
                  <a:tcPr>
                    <a:solidFill>
                      <a:srgbClr val="0d1b2a"/>
                    </a:solidFill>
                  </a:tcPr>
                </a:tc>
                <a:tc>
                  <a:txBody>
                    <a:bodyPr/>
                    <a:lstStyle/>
                    <a:p>
                      <a:pPr algn="l"/>
                      <a:r>
                        <a:rPr sz="1100" b="0" i="0">
                          <a:solidFill>
                            <a:srgbClr val="FFFFFF"/>
                          </a:solidFill>
                          <a:latin typeface="Calibri"/>
                        </a:rPr>
                        <a:t>41%</a:t>
                      </a:r>
                    </a:p>
                  </a:txBody>
                  <a:tcPr>
                    <a:solidFill>
                      <a:srgbClr val="0d1b2a"/>
                    </a:solidFill>
                  </a:tcPr>
                </a:tc>
              </a:tr>
              <a:tr h="347472">
                <a:tc>
                  <a:txBody>
                    <a:bodyPr/>
                    <a:lstStyle/>
                    <a:p>
                      <a:pPr algn="l"/>
                      <a:r>
                        <a:rPr sz="1100" b="0" i="0">
                          <a:solidFill>
                            <a:srgbClr val="FFFFFF"/>
                          </a:solidFill>
                          <a:latin typeface="Calibri"/>
                        </a:rPr>
                        <a:t>2 (Poor)</a:t>
                      </a:r>
                    </a:p>
                  </a:txBody>
                  <a:tcPr>
                    <a:solidFill>
                      <a:srgbClr val="152a40"/>
                    </a:solidFill>
                  </a:tcPr>
                </a:tc>
                <a:tc>
                  <a:txBody>
                    <a:bodyPr/>
                    <a:lstStyle/>
                    <a:p>
                      <a:pPr algn="l"/>
                      <a:r>
                        <a:rPr sz="1100" b="0" i="0">
                          <a:solidFill>
                            <a:srgbClr val="FFFFFF"/>
                          </a:solidFill>
                          <a:latin typeface="Calibri"/>
                        </a:rPr>
                        <a:t>4%</a:t>
                      </a:r>
                    </a:p>
                  </a:txBody>
                  <a:tcPr>
                    <a:solidFill>
                      <a:srgbClr val="152a40"/>
                    </a:solidFill>
                  </a:tcPr>
                </a:tc>
                <a:tc>
                  <a:txBody>
                    <a:bodyPr/>
                    <a:lstStyle/>
                    <a:p>
                      <a:pPr algn="l"/>
                      <a:r>
                        <a:rPr sz="1100" b="0" i="0">
                          <a:solidFill>
                            <a:srgbClr val="FFFFFF"/>
                          </a:solidFill>
                          <a:latin typeface="Calibri"/>
                        </a:rPr>
                        <a:t>34%</a:t>
                      </a:r>
                    </a:p>
                  </a:txBody>
                  <a:tcPr>
                    <a:solidFill>
                      <a:srgbClr val="152a40"/>
                    </a:solidFill>
                  </a:tcPr>
                </a:tc>
                <a:tc>
                  <a:txBody>
                    <a:bodyPr/>
                    <a:lstStyle/>
                    <a:p>
                      <a:pPr algn="l"/>
                      <a:r>
                        <a:rPr sz="1100" b="0" i="0">
                          <a:solidFill>
                            <a:srgbClr val="FFFFFF"/>
                          </a:solidFill>
                          <a:latin typeface="Calibri"/>
                        </a:rPr>
                        <a:t>62%</a:t>
                      </a:r>
                    </a:p>
                  </a:txBody>
                  <a:tcPr>
                    <a:solidFill>
                      <a:srgbClr val="152a40"/>
                    </a:solidFill>
                  </a:tcPr>
                </a:tc>
              </a:tr>
              <a:tr h="347472">
                <a:tc>
                  <a:txBody>
                    <a:bodyPr/>
                    <a:lstStyle/>
                    <a:p>
                      <a:pPr algn="l"/>
                      <a:r>
                        <a:rPr sz="1100" b="0" i="0">
                          <a:solidFill>
                            <a:srgbClr val="FFFFFF"/>
                          </a:solidFill>
                          <a:latin typeface="Calibri"/>
                        </a:rPr>
                        <a:t>1 (Failed)</a:t>
                      </a:r>
                    </a:p>
                  </a:txBody>
                  <a:tcPr>
                    <a:solidFill>
                      <a:srgbClr val="0d1b2a"/>
                    </a:solidFill>
                  </a:tcPr>
                </a:tc>
                <a:tc>
                  <a:txBody>
                    <a:bodyPr/>
                    <a:lstStyle/>
                    <a:p>
                      <a:pPr algn="l"/>
                      <a:r>
                        <a:rPr sz="1100" b="0" i="0">
                          <a:solidFill>
                            <a:srgbClr val="FFFFFF"/>
                          </a:solidFill>
                          <a:latin typeface="Calibri"/>
                        </a:rPr>
                        <a:t>2%</a:t>
                      </a:r>
                    </a:p>
                  </a:txBody>
                  <a:tcPr>
                    <a:solidFill>
                      <a:srgbClr val="0d1b2a"/>
                    </a:solidFill>
                  </a:tcPr>
                </a:tc>
                <a:tc>
                  <a:txBody>
                    <a:bodyPr/>
                    <a:lstStyle/>
                    <a:p>
                      <a:pPr algn="l"/>
                      <a:r>
                        <a:rPr sz="1100" b="0" i="0">
                          <a:solidFill>
                            <a:srgbClr val="FFFFFF"/>
                          </a:solidFill>
                          <a:latin typeface="Calibri"/>
                        </a:rPr>
                        <a:t>17%</a:t>
                      </a:r>
                    </a:p>
                  </a:txBody>
                  <a:tcPr>
                    <a:solidFill>
                      <a:srgbClr val="0d1b2a"/>
                    </a:solidFill>
                  </a:tcPr>
                </a:tc>
                <a:tc>
                  <a:txBody>
                    <a:bodyPr/>
                    <a:lstStyle/>
                    <a:p>
                      <a:pPr algn="l"/>
                      <a:r>
                        <a:rPr sz="1100" b="0" i="0">
                          <a:solidFill>
                            <a:srgbClr val="E06C75"/>
                          </a:solidFill>
                          <a:latin typeface="Calibri"/>
                        </a:rPr>
                        <a:t>81%</a:t>
                      </a:r>
                    </a:p>
                  </a:txBody>
                  <a:tcPr>
                    <a:solidFill>
                      <a:srgbClr val="0d1b2a"/>
                    </a:solidFill>
                  </a:tcPr>
                </a:tc>
              </a:tr>
            </a:tbl>
          </a:graphicData>
        </a:graphic>
      </p:graphicFrame>
      <p:sp>
        <p:nvSpPr>
          <p:cNvPr id="13" name="TextBox 12"/>
          <p:cNvSpPr txBox="1"/>
          <p:nvPr/>
        </p:nvSpPr>
        <p:spPr>
          <a:xfrm>
            <a:off x="548640" y="5760720"/>
            <a:ext cx="11091672" cy="365760"/>
          </a:xfrm>
          <a:prstGeom prst="rect">
            <a:avLst/>
          </a:prstGeom>
          <a:noFill/>
        </p:spPr>
        <p:txBody>
          <a:bodyPr wrap="square" anchor="t"/>
          <a:lstStyle/>
          <a:p>
            <a:pPr algn="ctr"/>
            <a:r>
              <a:rPr sz="1300" b="0" i="1">
                <a:solidFill>
                  <a:srgbClr val="AAAAAA"/>
                </a:solidFill>
                <a:latin typeface="Calibri"/>
              </a:rPr>
              <a:t>LLM judge is more conservative for full success (23% vs IS 40%) but more generous for any useful output (Y+P=65%).</a:t>
            </a:r>
          </a:p>
        </p:txBody>
      </p:sp>
      <p:pic>
        <p:nvPicPr>
          <p:cNvPr id="14" name="Picture 13"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5" name="TextBox 14"/>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32</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fill="hold">
                            <p:stCondLst>
                              <p:cond delay="12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500"/>
                                  <p:tgtEl>
                                    <p:spTgt spid="7"/>
                                  </p:tgtEl>
                                </p:cBhvr>
                              </p:animEffect>
                            </p:childTnLst>
                          </p:cTn>
                        </p:par>
                      </p:childTnLst>
                    </p:cTn>
                  </p:par>
                  <p:par>
                    <p:cTn id="10" fill="hold">
                      <p:stCondLst>
                        <p:cond delay="0"/>
                      </p:stCondLst>
                      <p:childTnLst>
                        <p:par>
                          <p:cTn id="11" fill="hold">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fill="hold">
                            <p:stCondLst>
                              <p:cond delay="12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8" grpId="1"/>
      <p:bldP spid="12" grpId="1"/>
    </p:bld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Context Makes the Judge Stricter, Not Lenient</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365760"/>
          </a:xfrm>
          <a:prstGeom prst="rect">
            <a:avLst/>
          </a:prstGeom>
          <a:noFill/>
        </p:spPr>
        <p:txBody>
          <a:bodyPr wrap="square" anchor="t"/>
          <a:lstStyle/>
          <a:p>
            <a:pPr algn="l"/>
            <a:r>
              <a:rPr sz="1700" b="1" i="0">
                <a:solidFill>
                  <a:srgbClr val="00B4D8"/>
                </a:solidFill>
                <a:latin typeface="Calibri"/>
              </a:rPr>
              <a:t>Blind vs Context-Aware</a:t>
            </a:r>
          </a:p>
        </p:txBody>
      </p:sp>
      <p:graphicFrame>
        <p:nvGraphicFramePr>
          <p:cNvPr id="5" name="Table 4"/>
          <p:cNvGraphicFramePr>
            <a:graphicFrameLocks noGrp="1"/>
          </p:cNvGraphicFramePr>
          <p:nvPr/>
        </p:nvGraphicFramePr>
        <p:xfrm>
          <a:off x="548640" y="1783080"/>
          <a:ext cx="5029200" cy="1737360"/>
        </p:xfrm>
        <a:graphic>
          <a:graphicData uri="http://schemas.openxmlformats.org/drawingml/2006/table">
            <a:tbl>
              <a:tblPr firstRow="0" bandRow="0" lastRow="0" bandCol="0">
                <a:tableStyleId>{5C22544A-7EE6-4342-B048-85BDC9FD1C3A}</a:tableStyleId>
              </a:tblPr>
              <a:tblGrid>
                <a:gridCol w="1371600"/>
                <a:gridCol w="1371600"/>
                <a:gridCol w="1371600"/>
                <a:gridCol w="914400"/>
              </a:tblGrid>
              <a:tr h="347472">
                <a:tc>
                  <a:txBody>
                    <a:bodyPr/>
                    <a:lstStyle/>
                    <a:p>
                      <a:pPr algn="ctr"/>
                      <a:r>
                        <a:rPr sz="1100" b="1" i="0">
                          <a:solidFill>
                            <a:srgbClr val="FFFFFF"/>
                          </a:solidFill>
                          <a:latin typeface="Calibri"/>
                        </a:rPr>
                        <a:t>Verdict</a:t>
                      </a:r>
                    </a:p>
                  </a:txBody>
                  <a:tcPr>
                    <a:solidFill>
                      <a:srgbClr val="00b4d8"/>
                    </a:solidFill>
                  </a:tcPr>
                </a:tc>
                <a:tc>
                  <a:txBody>
                    <a:bodyPr/>
                    <a:lstStyle/>
                    <a:p>
                      <a:pPr algn="ctr"/>
                      <a:r>
                        <a:rPr sz="1100" b="1" i="0">
                          <a:solidFill>
                            <a:srgbClr val="FFFFFF"/>
                          </a:solidFill>
                          <a:latin typeface="Calibri"/>
                        </a:rPr>
                        <a:t>Blind</a:t>
                      </a:r>
                    </a:p>
                  </a:txBody>
                  <a:tcPr>
                    <a:solidFill>
                      <a:srgbClr val="00b4d8"/>
                    </a:solidFill>
                  </a:tcPr>
                </a:tc>
                <a:tc>
                  <a:txBody>
                    <a:bodyPr/>
                    <a:lstStyle/>
                    <a:p>
                      <a:pPr algn="ctr"/>
                      <a:r>
                        <a:rPr sz="1100" b="1" i="0">
                          <a:solidFill>
                            <a:srgbClr val="FFFFFF"/>
                          </a:solidFill>
                          <a:latin typeface="Calibri"/>
                        </a:rPr>
                        <a:t>Context</a:t>
                      </a:r>
                    </a:p>
                  </a:txBody>
                  <a:tcPr>
                    <a:solidFill>
                      <a:srgbClr val="00b4d8"/>
                    </a:solidFill>
                  </a:tcPr>
                </a:tc>
                <a:tc>
                  <a:txBody>
                    <a:bodyPr/>
                    <a:lstStyle/>
                    <a:p>
                      <a:pPr algn="ctr"/>
                      <a:r>
                        <a:rPr sz="1100" b="1" i="0">
                          <a:solidFill>
                            <a:srgbClr val="FFFFFF"/>
                          </a:solidFill>
                          <a:latin typeface="Calibri"/>
                        </a:rPr>
                        <a:t>Δ</a:t>
                      </a:r>
                    </a:p>
                  </a:txBody>
                  <a:tcPr>
                    <a:solidFill>
                      <a:srgbClr val="00b4d8"/>
                    </a:solidFill>
                  </a:tcPr>
                </a:tc>
              </a:tr>
              <a:tr h="347472">
                <a:tc>
                  <a:txBody>
                    <a:bodyPr/>
                    <a:lstStyle/>
                    <a:p>
                      <a:pPr algn="l"/>
                      <a:r>
                        <a:rPr sz="1100" b="0" i="0">
                          <a:solidFill>
                            <a:srgbClr val="FFFFFF"/>
                          </a:solidFill>
                          <a:latin typeface="Calibri"/>
                        </a:rPr>
                        <a:t>Y (fully preserved)</a:t>
                      </a:r>
                    </a:p>
                  </a:txBody>
                  <a:tcPr>
                    <a:solidFill>
                      <a:srgbClr val="0d1b2a"/>
                    </a:solidFill>
                  </a:tcPr>
                </a:tc>
                <a:tc>
                  <a:txBody>
                    <a:bodyPr/>
                    <a:lstStyle/>
                    <a:p>
                      <a:pPr algn="l"/>
                      <a:r>
                        <a:rPr sz="1100" b="0" i="0">
                          <a:solidFill>
                            <a:srgbClr val="FFFFFF"/>
                          </a:solidFill>
                          <a:latin typeface="Calibri"/>
                        </a:rPr>
                        <a:t>23.0% (345)</a:t>
                      </a:r>
                    </a:p>
                  </a:txBody>
                  <a:tcPr>
                    <a:solidFill>
                      <a:srgbClr val="0d1b2a"/>
                    </a:solidFill>
                  </a:tcPr>
                </a:tc>
                <a:tc>
                  <a:txBody>
                    <a:bodyPr/>
                    <a:lstStyle/>
                    <a:p>
                      <a:pPr algn="l"/>
                      <a:r>
                        <a:rPr sz="1100" b="0" i="0">
                          <a:solidFill>
                            <a:srgbClr val="FFFFFF"/>
                          </a:solidFill>
                          <a:latin typeface="Calibri"/>
                        </a:rPr>
                        <a:t>15.0% (225)</a:t>
                      </a:r>
                    </a:p>
                  </a:txBody>
                  <a:tcPr>
                    <a:solidFill>
                      <a:srgbClr val="0d1b2a"/>
                    </a:solidFill>
                  </a:tcPr>
                </a:tc>
                <a:tc>
                  <a:txBody>
                    <a:bodyPr/>
                    <a:lstStyle/>
                    <a:p>
                      <a:pPr algn="l"/>
                      <a:r>
                        <a:rPr sz="1100" b="0" i="0">
                          <a:solidFill>
                            <a:srgbClr val="E06C75"/>
                          </a:solidFill>
                          <a:latin typeface="Calibri"/>
                        </a:rPr>
                        <a:t>−8.0pp</a:t>
                      </a:r>
                    </a:p>
                  </a:txBody>
                  <a:tcPr>
                    <a:solidFill>
                      <a:srgbClr val="0d1b2a"/>
                    </a:solidFill>
                  </a:tcPr>
                </a:tc>
              </a:tr>
              <a:tr h="347472">
                <a:tc>
                  <a:txBody>
                    <a:bodyPr/>
                    <a:lstStyle/>
                    <a:p>
                      <a:pPr algn="l"/>
                      <a:r>
                        <a:rPr sz="1100" b="0" i="0">
                          <a:solidFill>
                            <a:srgbClr val="FFFFFF"/>
                          </a:solidFill>
                          <a:latin typeface="Calibri"/>
                        </a:rPr>
                        <a:t>P (partially)</a:t>
                      </a:r>
                    </a:p>
                  </a:txBody>
                  <a:tcPr>
                    <a:solidFill>
                      <a:srgbClr val="152a40"/>
                    </a:solidFill>
                  </a:tcPr>
                </a:tc>
                <a:tc>
                  <a:txBody>
                    <a:bodyPr/>
                    <a:lstStyle/>
                    <a:p>
                      <a:pPr algn="l"/>
                      <a:r>
                        <a:rPr sz="1100" b="0" i="0">
                          <a:solidFill>
                            <a:srgbClr val="FFFFFF"/>
                          </a:solidFill>
                          <a:latin typeface="Calibri"/>
                        </a:rPr>
                        <a:t>41.8% (626)</a:t>
                      </a:r>
                    </a:p>
                  </a:txBody>
                  <a:tcPr>
                    <a:solidFill>
                      <a:srgbClr val="152a40"/>
                    </a:solidFill>
                  </a:tcPr>
                </a:tc>
                <a:tc>
                  <a:txBody>
                    <a:bodyPr/>
                    <a:lstStyle/>
                    <a:p>
                      <a:pPr algn="l"/>
                      <a:r>
                        <a:rPr sz="1100" b="0" i="0">
                          <a:solidFill>
                            <a:srgbClr val="FFFFFF"/>
                          </a:solidFill>
                          <a:latin typeface="Calibri"/>
                        </a:rPr>
                        <a:t>47.1% (705)</a:t>
                      </a:r>
                    </a:p>
                  </a:txBody>
                  <a:tcPr>
                    <a:solidFill>
                      <a:srgbClr val="152a40"/>
                    </a:solidFill>
                  </a:tcPr>
                </a:tc>
                <a:tc>
                  <a:txBody>
                    <a:bodyPr/>
                    <a:lstStyle/>
                    <a:p>
                      <a:pPr algn="l"/>
                      <a:r>
                        <a:rPr sz="1100" b="0" i="0">
                          <a:solidFill>
                            <a:srgbClr val="FFFFFF"/>
                          </a:solidFill>
                          <a:latin typeface="Calibri"/>
                        </a:rPr>
                        <a:t>+5.3pp</a:t>
                      </a:r>
                    </a:p>
                  </a:txBody>
                  <a:tcPr>
                    <a:solidFill>
                      <a:srgbClr val="152a40"/>
                    </a:solidFill>
                  </a:tcPr>
                </a:tc>
              </a:tr>
              <a:tr h="347472">
                <a:tc>
                  <a:txBody>
                    <a:bodyPr/>
                    <a:lstStyle/>
                    <a:p>
                      <a:pPr algn="l"/>
                      <a:r>
                        <a:rPr sz="1100" b="0" i="0">
                          <a:solidFill>
                            <a:srgbClr val="FFFFFF"/>
                          </a:solidFill>
                          <a:latin typeface="Calibri"/>
                        </a:rPr>
                        <a:t>N (not preserved)</a:t>
                      </a:r>
                    </a:p>
                  </a:txBody>
                  <a:tcPr>
                    <a:solidFill>
                      <a:srgbClr val="0d1b2a"/>
                    </a:solidFill>
                  </a:tcPr>
                </a:tc>
                <a:tc>
                  <a:txBody>
                    <a:bodyPr/>
                    <a:lstStyle/>
                    <a:p>
                      <a:pPr algn="l"/>
                      <a:r>
                        <a:rPr sz="1100" b="0" i="0">
                          <a:solidFill>
                            <a:srgbClr val="FFFFFF"/>
                          </a:solidFill>
                          <a:latin typeface="Calibri"/>
                        </a:rPr>
                        <a:t>35.1% (526)</a:t>
                      </a:r>
                    </a:p>
                  </a:txBody>
                  <a:tcPr>
                    <a:solidFill>
                      <a:srgbClr val="0d1b2a"/>
                    </a:solidFill>
                  </a:tcPr>
                </a:tc>
                <a:tc>
                  <a:txBody>
                    <a:bodyPr/>
                    <a:lstStyle/>
                    <a:p>
                      <a:pPr algn="l"/>
                      <a:r>
                        <a:rPr sz="1100" b="0" i="0">
                          <a:solidFill>
                            <a:srgbClr val="FFFFFF"/>
                          </a:solidFill>
                          <a:latin typeface="Calibri"/>
                        </a:rPr>
                        <a:t>37.9% (567)</a:t>
                      </a:r>
                    </a:p>
                  </a:txBody>
                  <a:tcPr>
                    <a:solidFill>
                      <a:srgbClr val="0d1b2a"/>
                    </a:solidFill>
                  </a:tcPr>
                </a:tc>
                <a:tc>
                  <a:txBody>
                    <a:bodyPr/>
                    <a:lstStyle/>
                    <a:p>
                      <a:pPr algn="l"/>
                      <a:r>
                        <a:rPr sz="1100" b="0" i="0">
                          <a:solidFill>
                            <a:srgbClr val="FFFFFF"/>
                          </a:solidFill>
                          <a:latin typeface="Calibri"/>
                        </a:rPr>
                        <a:t>+2.8pp</a:t>
                      </a:r>
                    </a:p>
                  </a:txBody>
                  <a:tcPr>
                    <a:solidFill>
                      <a:srgbClr val="0d1b2a"/>
                    </a:solidFill>
                  </a:tcPr>
                </a:tc>
              </a:tr>
              <a:tr h="347472">
                <a:tc>
                  <a:txBody>
                    <a:bodyPr/>
                    <a:lstStyle/>
                    <a:p>
                      <a:pPr algn="l"/>
                      <a:r>
                        <a:rPr sz="1100" b="0" i="0">
                          <a:solidFill>
                            <a:srgbClr val="FFFFFF"/>
                          </a:solidFill>
                          <a:latin typeface="Calibri"/>
                        </a:rPr>
                        <a:t>Y+P (useful)</a:t>
                      </a:r>
                    </a:p>
                  </a:txBody>
                  <a:tcPr>
                    <a:solidFill>
                      <a:srgbClr val="152a40"/>
                    </a:solidFill>
                  </a:tcPr>
                </a:tc>
                <a:tc>
                  <a:txBody>
                    <a:bodyPr/>
                    <a:lstStyle/>
                    <a:p>
                      <a:pPr algn="l"/>
                      <a:r>
                        <a:rPr sz="1100" b="0" i="0">
                          <a:solidFill>
                            <a:srgbClr val="FFFFFF"/>
                          </a:solidFill>
                          <a:latin typeface="Calibri"/>
                        </a:rPr>
                        <a:t>64.9% (971)</a:t>
                      </a:r>
                    </a:p>
                  </a:txBody>
                  <a:tcPr>
                    <a:solidFill>
                      <a:srgbClr val="152a40"/>
                    </a:solidFill>
                  </a:tcPr>
                </a:tc>
                <a:tc>
                  <a:txBody>
                    <a:bodyPr/>
                    <a:lstStyle/>
                    <a:p>
                      <a:pPr algn="l"/>
                      <a:r>
                        <a:rPr sz="1100" b="0" i="0">
                          <a:solidFill>
                            <a:srgbClr val="FFFFFF"/>
                          </a:solidFill>
                          <a:latin typeface="Calibri"/>
                        </a:rPr>
                        <a:t>62.1% (930)</a:t>
                      </a:r>
                    </a:p>
                  </a:txBody>
                  <a:tcPr>
                    <a:solidFill>
                      <a:srgbClr val="152a40"/>
                    </a:solidFill>
                  </a:tcPr>
                </a:tc>
                <a:tc>
                  <a:txBody>
                    <a:bodyPr/>
                    <a:lstStyle/>
                    <a:p>
                      <a:pPr algn="l"/>
                      <a:r>
                        <a:rPr sz="1100" b="0" i="0">
                          <a:solidFill>
                            <a:srgbClr val="E06C75"/>
                          </a:solidFill>
                          <a:latin typeface="Calibri"/>
                        </a:rPr>
                        <a:t>−2.7pp</a:t>
                      </a:r>
                    </a:p>
                  </a:txBody>
                  <a:tcPr>
                    <a:solidFill>
                      <a:srgbClr val="152a40"/>
                    </a:solidFill>
                  </a:tcPr>
                </a:tc>
              </a:tr>
            </a:tbl>
          </a:graphicData>
        </a:graphic>
      </p:graphicFrame>
      <p:sp>
        <p:nvSpPr>
          <p:cNvPr id="6" name="TextBox 5"/>
          <p:cNvSpPr txBox="1"/>
          <p:nvPr/>
        </p:nvSpPr>
        <p:spPr>
          <a:xfrm>
            <a:off x="548640" y="3520440"/>
            <a:ext cx="5029200" cy="365760"/>
          </a:xfrm>
          <a:prstGeom prst="rect">
            <a:avLst/>
          </a:prstGeom>
          <a:noFill/>
        </p:spPr>
        <p:txBody>
          <a:bodyPr wrap="square" anchor="t"/>
          <a:lstStyle/>
          <a:p>
            <a:pPr algn="l"/>
            <a:r>
              <a:rPr sz="1300" b="0" i="1">
                <a:solidFill>
                  <a:srgbClr val="AAAAAA"/>
                </a:solidFill>
                <a:latin typeface="Calibri"/>
              </a:rPr>
              <a:t>Context reveals vocabulary failures that blind evaluation misses.</a:t>
            </a:r>
          </a:p>
        </p:txBody>
      </p:sp>
      <p:sp>
        <p:nvSpPr>
          <p:cNvPr id="7" name="TextBox 6"/>
          <p:cNvSpPr txBox="1"/>
          <p:nvPr/>
        </p:nvSpPr>
        <p:spPr>
          <a:xfrm>
            <a:off x="548640" y="4069080"/>
            <a:ext cx="5029200" cy="274320"/>
          </a:xfrm>
          <a:prstGeom prst="rect">
            <a:avLst/>
          </a:prstGeom>
          <a:noFill/>
        </p:spPr>
        <p:txBody>
          <a:bodyPr wrap="square" anchor="t"/>
          <a:lstStyle/>
          <a:p>
            <a:pPr algn="l"/>
            <a:r>
              <a:rPr sz="1500" b="1" i="0">
                <a:solidFill>
                  <a:srgbClr val="E06C75"/>
                </a:solidFill>
                <a:latin typeface="Calibri"/>
              </a:rPr>
              <a:t>Key Finding:</a:t>
            </a:r>
          </a:p>
        </p:txBody>
      </p:sp>
      <p:sp>
        <p:nvSpPr>
          <p:cNvPr id="8" name="TextBox 7"/>
          <p:cNvSpPr txBox="1"/>
          <p:nvPr/>
        </p:nvSpPr>
        <p:spPr>
          <a:xfrm>
            <a:off x="548640" y="4434840"/>
            <a:ext cx="5029200" cy="1371600"/>
          </a:xfrm>
          <a:prstGeom prst="rect">
            <a:avLst/>
          </a:prstGeom>
          <a:noFill/>
        </p:spPr>
        <p:txBody>
          <a:bodyPr wrap="square">
            <a:spAutoFit/>
          </a:bodyPr>
          <a:lstStyle/>
          <a:p>
            <a:pPr algn="l">
              <a:spcAft>
                <a:spcPts val="600"/>
              </a:spcAft>
            </a:pPr>
            <a:r>
              <a:rPr sz="1300" b="1">
                <a:solidFill>
                  <a:srgbClr val="00B4D8"/>
                </a:solidFill>
                <a:latin typeface="Calibri"/>
              </a:rPr>
              <a:t>• </a:t>
            </a:r>
            <a:r>
              <a:rPr sz="1300" b="0">
                <a:solidFill>
                  <a:srgbClr val="E06C75"/>
                </a:solidFill>
                <a:latin typeface="Calibri"/>
              </a:rPr>
              <a:t>Y drops 8pp: context reveals missed domain vocabulary</a:t>
            </a:r>
          </a:p>
          <a:p>
            <a:pPr algn="l">
              <a:spcAft>
                <a:spcPts val="600"/>
              </a:spcAft>
            </a:pPr>
            <a:r>
              <a:rPr sz="1300" b="1">
                <a:solidFill>
                  <a:srgbClr val="00B4D8"/>
                </a:solidFill>
                <a:latin typeface="Calibri"/>
              </a:rPr>
              <a:t>• </a:t>
            </a:r>
            <a:r>
              <a:rPr sz="1300" b="0">
                <a:solidFill>
                  <a:srgbClr val="FFFFFF"/>
                </a:solidFill>
                <a:latin typeface="Calibri"/>
              </a:rPr>
              <a:t>Y→P dominant transition (138 of 230 downgrades)</a:t>
            </a:r>
          </a:p>
          <a:p>
            <a:pPr algn="l">
              <a:spcAft>
                <a:spcPts val="600"/>
              </a:spcAft>
            </a:pPr>
            <a:r>
              <a:rPr sz="1300" b="1">
                <a:solidFill>
                  <a:srgbClr val="00B4D8"/>
                </a:solidFill>
                <a:latin typeface="Calibri"/>
              </a:rPr>
              <a:t>• </a:t>
            </a:r>
            <a:r>
              <a:rPr sz="1300" b="1">
                <a:solidFill>
                  <a:srgbClr val="FFFFFF"/>
                </a:solidFill>
                <a:latin typeface="Calibri"/>
              </a:rPr>
              <a:t>Only 1 N→Y rescue across all 1,497 pairs</a:t>
            </a:r>
          </a:p>
        </p:txBody>
      </p:sp>
      <p:sp>
        <p:nvSpPr>
          <p:cNvPr id="9" name="TextBox 8"/>
          <p:cNvSpPr txBox="1"/>
          <p:nvPr/>
        </p:nvSpPr>
        <p:spPr>
          <a:xfrm>
            <a:off x="6611111" y="1325880"/>
            <a:ext cx="5029200" cy="365760"/>
          </a:xfrm>
          <a:prstGeom prst="rect">
            <a:avLst/>
          </a:prstGeom>
          <a:noFill/>
        </p:spPr>
        <p:txBody>
          <a:bodyPr wrap="square" anchor="t"/>
          <a:lstStyle/>
          <a:p>
            <a:pPr algn="l"/>
            <a:r>
              <a:rPr sz="1700" b="1" i="0">
                <a:solidFill>
                  <a:srgbClr val="E06C75"/>
                </a:solidFill>
                <a:latin typeface="Calibri"/>
              </a:rPr>
              <a:t>Transition Matrix</a:t>
            </a:r>
          </a:p>
        </p:txBody>
      </p:sp>
      <p:graphicFrame>
        <p:nvGraphicFramePr>
          <p:cNvPr id="10" name="Table 9"/>
          <p:cNvGraphicFramePr>
            <a:graphicFrameLocks noGrp="1"/>
          </p:cNvGraphicFramePr>
          <p:nvPr/>
        </p:nvGraphicFramePr>
        <p:xfrm>
          <a:off x="6611111" y="1783080"/>
          <a:ext cx="5029200" cy="1389888"/>
        </p:xfrm>
        <a:graphic>
          <a:graphicData uri="http://schemas.openxmlformats.org/drawingml/2006/table">
            <a:tbl>
              <a:tblPr firstRow="0" bandRow="0" lastRow="0" bandCol="0">
                <a:tableStyleId>{5C22544A-7EE6-4342-B048-85BDC9FD1C3A}</a:tableStyleId>
              </a:tblPr>
              <a:tblGrid>
                <a:gridCol w="1257300"/>
                <a:gridCol w="1257300"/>
                <a:gridCol w="1257300"/>
                <a:gridCol w="1257300"/>
              </a:tblGrid>
              <a:tr h="347472">
                <a:tc>
                  <a:txBody>
                    <a:bodyPr/>
                    <a:lstStyle/>
                    <a:p>
                      <a:pPr algn="ctr">
                        <a:defRPr sz="1200" b="1" i="0">
                          <a:solidFill>
                            <a:srgbClr val="FFFFFF"/>
                          </a:solidFill>
                          <a:latin typeface="Calibri"/>
                        </a:defRPr>
                      </a:pPr>
                    </a:p>
                  </a:txBody>
                  <a:tcPr>
                    <a:solidFill>
                      <a:srgbClr val="00b4d8"/>
                    </a:solidFill>
                  </a:tcPr>
                </a:tc>
                <a:tc>
                  <a:txBody>
                    <a:bodyPr/>
                    <a:lstStyle/>
                    <a:p>
                      <a:pPr algn="ctr"/>
                      <a:r>
                        <a:rPr sz="1200" b="1" i="0">
                          <a:solidFill>
                            <a:srgbClr val="FFFFFF"/>
                          </a:solidFill>
                          <a:latin typeface="Calibri"/>
                        </a:rPr>
                        <a:t>Ctx Y</a:t>
                      </a:r>
                    </a:p>
                  </a:txBody>
                  <a:tcPr>
                    <a:solidFill>
                      <a:srgbClr val="00b4d8"/>
                    </a:solidFill>
                  </a:tcPr>
                </a:tc>
                <a:tc>
                  <a:txBody>
                    <a:bodyPr/>
                    <a:lstStyle/>
                    <a:p>
                      <a:pPr algn="ctr"/>
                      <a:r>
                        <a:rPr sz="1200" b="1" i="0">
                          <a:solidFill>
                            <a:srgbClr val="FFFFFF"/>
                          </a:solidFill>
                          <a:latin typeface="Calibri"/>
                        </a:rPr>
                        <a:t>Ctx P</a:t>
                      </a:r>
                    </a:p>
                  </a:txBody>
                  <a:tcPr>
                    <a:solidFill>
                      <a:srgbClr val="00b4d8"/>
                    </a:solidFill>
                  </a:tcPr>
                </a:tc>
                <a:tc>
                  <a:txBody>
                    <a:bodyPr/>
                    <a:lstStyle/>
                    <a:p>
                      <a:pPr algn="ctr"/>
                      <a:r>
                        <a:rPr sz="1200" b="1" i="0">
                          <a:solidFill>
                            <a:srgbClr val="FFFFFF"/>
                          </a:solidFill>
                          <a:latin typeface="Calibri"/>
                        </a:rPr>
                        <a:t>Ctx N</a:t>
                      </a:r>
                    </a:p>
                  </a:txBody>
                  <a:tcPr>
                    <a:solidFill>
                      <a:srgbClr val="00b4d8"/>
                    </a:solidFill>
                  </a:tcPr>
                </a:tc>
              </a:tr>
              <a:tr h="347472">
                <a:tc>
                  <a:txBody>
                    <a:bodyPr/>
                    <a:lstStyle/>
                    <a:p>
                      <a:pPr algn="l"/>
                      <a:r>
                        <a:rPr sz="1200" b="0" i="0">
                          <a:solidFill>
                            <a:srgbClr val="FFFFFF"/>
                          </a:solidFill>
                          <a:latin typeface="Calibri"/>
                        </a:rPr>
                        <a:t>Blind Y</a:t>
                      </a:r>
                    </a:p>
                  </a:txBody>
                  <a:tcPr>
                    <a:solidFill>
                      <a:srgbClr val="0d1b2a"/>
                    </a:solidFill>
                  </a:tcPr>
                </a:tc>
                <a:tc>
                  <a:txBody>
                    <a:bodyPr/>
                    <a:lstStyle/>
                    <a:p>
                      <a:pPr algn="l"/>
                      <a:r>
                        <a:rPr sz="1200" b="0" i="0">
                          <a:solidFill>
                            <a:srgbClr val="FFFFFF"/>
                          </a:solidFill>
                          <a:latin typeface="Calibri"/>
                        </a:rPr>
                        <a:t>207</a:t>
                      </a:r>
                    </a:p>
                  </a:txBody>
                  <a:tcPr>
                    <a:solidFill>
                      <a:srgbClr val="0d1b2a"/>
                    </a:solidFill>
                  </a:tcPr>
                </a:tc>
                <a:tc>
                  <a:txBody>
                    <a:bodyPr/>
                    <a:lstStyle/>
                    <a:p>
                      <a:pPr algn="l"/>
                      <a:r>
                        <a:rPr sz="1200" b="0" i="0">
                          <a:solidFill>
                            <a:srgbClr val="E06C75"/>
                          </a:solidFill>
                          <a:latin typeface="Calibri"/>
                        </a:rPr>
                        <a:t>138</a:t>
                      </a:r>
                    </a:p>
                  </a:txBody>
                  <a:tcPr>
                    <a:solidFill>
                      <a:srgbClr val="0d1b2a"/>
                    </a:solidFill>
                  </a:tcPr>
                </a:tc>
                <a:tc>
                  <a:txBody>
                    <a:bodyPr/>
                    <a:lstStyle/>
                    <a:p>
                      <a:pPr algn="l"/>
                      <a:r>
                        <a:rPr sz="1200" b="0" i="0">
                          <a:solidFill>
                            <a:srgbClr val="FFFFFF"/>
                          </a:solidFill>
                          <a:latin typeface="Calibri"/>
                        </a:rPr>
                        <a:t>0</a:t>
                      </a:r>
                    </a:p>
                  </a:txBody>
                  <a:tcPr>
                    <a:solidFill>
                      <a:srgbClr val="0d1b2a"/>
                    </a:solidFill>
                  </a:tcPr>
                </a:tc>
              </a:tr>
              <a:tr h="347472">
                <a:tc>
                  <a:txBody>
                    <a:bodyPr/>
                    <a:lstStyle/>
                    <a:p>
                      <a:pPr algn="l"/>
                      <a:r>
                        <a:rPr sz="1200" b="0" i="0">
                          <a:solidFill>
                            <a:srgbClr val="FFFFFF"/>
                          </a:solidFill>
                          <a:latin typeface="Calibri"/>
                        </a:rPr>
                        <a:t>Blind P</a:t>
                      </a:r>
                    </a:p>
                  </a:txBody>
                  <a:tcPr>
                    <a:solidFill>
                      <a:srgbClr val="152a40"/>
                    </a:solidFill>
                  </a:tcPr>
                </a:tc>
                <a:tc>
                  <a:txBody>
                    <a:bodyPr/>
                    <a:lstStyle/>
                    <a:p>
                      <a:pPr algn="l"/>
                      <a:r>
                        <a:rPr sz="1200" b="0" i="0">
                          <a:solidFill>
                            <a:srgbClr val="FFFFFF"/>
                          </a:solidFill>
                          <a:latin typeface="Calibri"/>
                        </a:rPr>
                        <a:t>17</a:t>
                      </a:r>
                    </a:p>
                  </a:txBody>
                  <a:tcPr>
                    <a:solidFill>
                      <a:srgbClr val="152a40"/>
                    </a:solidFill>
                  </a:tcPr>
                </a:tc>
                <a:tc>
                  <a:txBody>
                    <a:bodyPr/>
                    <a:lstStyle/>
                    <a:p>
                      <a:pPr algn="l"/>
                      <a:r>
                        <a:rPr sz="1200" b="0" i="0">
                          <a:solidFill>
                            <a:srgbClr val="FFFFFF"/>
                          </a:solidFill>
                          <a:latin typeface="Calibri"/>
                        </a:rPr>
                        <a:t>519</a:t>
                      </a:r>
                    </a:p>
                  </a:txBody>
                  <a:tcPr>
                    <a:solidFill>
                      <a:srgbClr val="152a40"/>
                    </a:solidFill>
                  </a:tcPr>
                </a:tc>
                <a:tc>
                  <a:txBody>
                    <a:bodyPr/>
                    <a:lstStyle/>
                    <a:p>
                      <a:pPr algn="l"/>
                      <a:r>
                        <a:rPr sz="1200" b="0" i="0">
                          <a:solidFill>
                            <a:srgbClr val="E06C75"/>
                          </a:solidFill>
                          <a:latin typeface="Calibri"/>
                        </a:rPr>
                        <a:t>90</a:t>
                      </a:r>
                    </a:p>
                  </a:txBody>
                  <a:tcPr>
                    <a:solidFill>
                      <a:srgbClr val="152a40"/>
                    </a:solidFill>
                  </a:tcPr>
                </a:tc>
              </a:tr>
              <a:tr h="347472">
                <a:tc>
                  <a:txBody>
                    <a:bodyPr/>
                    <a:lstStyle/>
                    <a:p>
                      <a:pPr algn="l"/>
                      <a:r>
                        <a:rPr sz="1200" b="0" i="0">
                          <a:solidFill>
                            <a:srgbClr val="FFFFFF"/>
                          </a:solidFill>
                          <a:latin typeface="Calibri"/>
                        </a:rPr>
                        <a:t>Blind N</a:t>
                      </a:r>
                    </a:p>
                  </a:txBody>
                  <a:tcPr>
                    <a:solidFill>
                      <a:srgbClr val="0d1b2a"/>
                    </a:solidFill>
                  </a:tcPr>
                </a:tc>
                <a:tc>
                  <a:txBody>
                    <a:bodyPr/>
                    <a:lstStyle/>
                    <a:p>
                      <a:pPr algn="l"/>
                      <a:r>
                        <a:rPr sz="1200" b="0" i="0">
                          <a:solidFill>
                            <a:srgbClr val="FFFFFF"/>
                          </a:solidFill>
                          <a:latin typeface="Calibri"/>
                        </a:rPr>
                        <a:t>1</a:t>
                      </a:r>
                    </a:p>
                  </a:txBody>
                  <a:tcPr>
                    <a:solidFill>
                      <a:srgbClr val="0d1b2a"/>
                    </a:solidFill>
                  </a:tcPr>
                </a:tc>
                <a:tc>
                  <a:txBody>
                    <a:bodyPr/>
                    <a:lstStyle/>
                    <a:p>
                      <a:pPr algn="l"/>
                      <a:r>
                        <a:rPr sz="1200" b="0" i="0">
                          <a:solidFill>
                            <a:srgbClr val="FFFFFF"/>
                          </a:solidFill>
                          <a:latin typeface="Calibri"/>
                        </a:rPr>
                        <a:t>48</a:t>
                      </a:r>
                    </a:p>
                  </a:txBody>
                  <a:tcPr>
                    <a:solidFill>
                      <a:srgbClr val="0d1b2a"/>
                    </a:solidFill>
                  </a:tcPr>
                </a:tc>
                <a:tc>
                  <a:txBody>
                    <a:bodyPr/>
                    <a:lstStyle/>
                    <a:p>
                      <a:pPr algn="l"/>
                      <a:r>
                        <a:rPr sz="1200" b="0" i="0">
                          <a:solidFill>
                            <a:srgbClr val="FFFFFF"/>
                          </a:solidFill>
                          <a:latin typeface="Calibri"/>
                        </a:rPr>
                        <a:t>477</a:t>
                      </a:r>
                    </a:p>
                  </a:txBody>
                  <a:tcPr>
                    <a:solidFill>
                      <a:srgbClr val="0d1b2a"/>
                    </a:solidFill>
                  </a:tcPr>
                </a:tc>
              </a:tr>
            </a:tbl>
          </a:graphicData>
        </a:graphic>
      </p:graphicFrame>
      <p:sp>
        <p:nvSpPr>
          <p:cNvPr id="11" name="TextBox 10"/>
          <p:cNvSpPr txBox="1"/>
          <p:nvPr/>
        </p:nvSpPr>
        <p:spPr>
          <a:xfrm>
            <a:off x="6611111" y="3429000"/>
            <a:ext cx="5029200" cy="274320"/>
          </a:xfrm>
          <a:prstGeom prst="rect">
            <a:avLst/>
          </a:prstGeom>
          <a:noFill/>
        </p:spPr>
        <p:txBody>
          <a:bodyPr wrap="square" anchor="t"/>
          <a:lstStyle/>
          <a:p>
            <a:pPr algn="l"/>
            <a:r>
              <a:rPr sz="1500" b="1" i="0">
                <a:solidFill>
                  <a:srgbClr val="00B4D8"/>
                </a:solidFill>
                <a:latin typeface="Calibri"/>
              </a:rPr>
              <a:t>Summary</a:t>
            </a:r>
          </a:p>
        </p:txBody>
      </p:sp>
      <p:graphicFrame>
        <p:nvGraphicFramePr>
          <p:cNvPr id="12" name="Table 11"/>
          <p:cNvGraphicFramePr>
            <a:graphicFrameLocks noGrp="1"/>
          </p:cNvGraphicFramePr>
          <p:nvPr/>
        </p:nvGraphicFramePr>
        <p:xfrm>
          <a:off x="6611111" y="3794760"/>
          <a:ext cx="5029200" cy="1737360"/>
        </p:xfrm>
        <a:graphic>
          <a:graphicData uri="http://schemas.openxmlformats.org/drawingml/2006/table">
            <a:tbl>
              <a:tblPr firstRow="0" bandRow="0" lastRow="0" bandCol="0">
                <a:tableStyleId>{5C22544A-7EE6-4342-B048-85BDC9FD1C3A}</a:tableStyleId>
              </a:tblPr>
              <a:tblGrid>
                <a:gridCol w="2514600"/>
                <a:gridCol w="2514600"/>
              </a:tblGrid>
              <a:tr h="347472">
                <a:tc>
                  <a:txBody>
                    <a:bodyPr/>
                    <a:lstStyle/>
                    <a:p>
                      <a:pPr algn="ctr"/>
                      <a:r>
                        <a:rPr sz="1100" b="1" i="0">
                          <a:solidFill>
                            <a:srgbClr val="FFFFFF"/>
                          </a:solidFill>
                          <a:latin typeface="Calibri"/>
                        </a:rPr>
                        <a:t>Direction</a:t>
                      </a:r>
                    </a:p>
                  </a:txBody>
                  <a:tcPr>
                    <a:solidFill>
                      <a:srgbClr val="00b4d8"/>
                    </a:solidFill>
                  </a:tcPr>
                </a:tc>
                <a:tc>
                  <a:txBody>
                    <a:bodyPr/>
                    <a:lstStyle/>
                    <a:p>
                      <a:pPr algn="ctr"/>
                      <a:r>
                        <a:rPr sz="1100" b="1" i="0">
                          <a:solidFill>
                            <a:srgbClr val="FFFFFF"/>
                          </a:solidFill>
                          <a:latin typeface="Calibri"/>
                        </a:rPr>
                        <a:t>Count</a:t>
                      </a:r>
                    </a:p>
                  </a:txBody>
                  <a:tcPr>
                    <a:solidFill>
                      <a:srgbClr val="00b4d8"/>
                    </a:solidFill>
                  </a:tcPr>
                </a:tc>
              </a:tr>
              <a:tr h="347472">
                <a:tc>
                  <a:txBody>
                    <a:bodyPr/>
                    <a:lstStyle/>
                    <a:p>
                      <a:pPr algn="l"/>
                      <a:r>
                        <a:rPr sz="1100" b="0" i="0">
                          <a:solidFill>
                            <a:srgbClr val="FFFFFF"/>
                          </a:solidFill>
                          <a:latin typeface="Calibri"/>
                        </a:rPr>
                        <a:t>Downgrades (stricter)</a:t>
                      </a:r>
                    </a:p>
                  </a:txBody>
                  <a:tcPr>
                    <a:solidFill>
                      <a:srgbClr val="0d1b2a"/>
                    </a:solidFill>
                  </a:tcPr>
                </a:tc>
                <a:tc>
                  <a:txBody>
                    <a:bodyPr/>
                    <a:lstStyle/>
                    <a:p>
                      <a:pPr algn="l"/>
                      <a:r>
                        <a:rPr sz="1100" b="0" i="0">
                          <a:solidFill>
                            <a:srgbClr val="E06C75"/>
                          </a:solidFill>
                          <a:latin typeface="Calibri"/>
                        </a:rPr>
                        <a:t>230</a:t>
                      </a:r>
                    </a:p>
                  </a:txBody>
                  <a:tcPr>
                    <a:solidFill>
                      <a:srgbClr val="0d1b2a"/>
                    </a:solidFill>
                  </a:tcPr>
                </a:tc>
              </a:tr>
              <a:tr h="347472">
                <a:tc>
                  <a:txBody>
                    <a:bodyPr/>
                    <a:lstStyle/>
                    <a:p>
                      <a:pPr algn="l"/>
                      <a:r>
                        <a:rPr sz="1100" b="0" i="0">
                          <a:solidFill>
                            <a:srgbClr val="FFFFFF"/>
                          </a:solidFill>
                          <a:latin typeface="Calibri"/>
                        </a:rPr>
                        <a:t>Upgrades (lenient)</a:t>
                      </a:r>
                    </a:p>
                  </a:txBody>
                  <a:tcPr>
                    <a:solidFill>
                      <a:srgbClr val="152a40"/>
                    </a:solidFill>
                  </a:tcPr>
                </a:tc>
                <a:tc>
                  <a:txBody>
                    <a:bodyPr/>
                    <a:lstStyle/>
                    <a:p>
                      <a:pPr algn="l"/>
                      <a:r>
                        <a:rPr sz="1100" b="0" i="0">
                          <a:solidFill>
                            <a:srgbClr val="4CAF50"/>
                          </a:solidFill>
                          <a:latin typeface="Calibri"/>
                        </a:rPr>
                        <a:t>68</a:t>
                      </a:r>
                    </a:p>
                  </a:txBody>
                  <a:tcPr>
                    <a:solidFill>
                      <a:srgbClr val="152a40"/>
                    </a:solidFill>
                  </a:tcPr>
                </a:tc>
              </a:tr>
              <a:tr h="347472">
                <a:tc>
                  <a:txBody>
                    <a:bodyPr/>
                    <a:lstStyle/>
                    <a:p>
                      <a:pPr algn="l"/>
                      <a:r>
                        <a:rPr sz="1100" b="0" i="0">
                          <a:solidFill>
                            <a:srgbClr val="FFFFFF"/>
                          </a:solidFill>
                          <a:latin typeface="Calibri"/>
                        </a:rPr>
                        <a:t>Unchanged</a:t>
                      </a:r>
                    </a:p>
                  </a:txBody>
                  <a:tcPr>
                    <a:solidFill>
                      <a:srgbClr val="0d1b2a"/>
                    </a:solidFill>
                  </a:tcPr>
                </a:tc>
                <a:tc>
                  <a:txBody>
                    <a:bodyPr/>
                    <a:lstStyle/>
                    <a:p>
                      <a:pPr algn="l"/>
                      <a:r>
                        <a:rPr sz="1100" b="0" i="0">
                          <a:solidFill>
                            <a:srgbClr val="FFFFFF"/>
                          </a:solidFill>
                          <a:latin typeface="Calibri"/>
                        </a:rPr>
                        <a:t>1,199</a:t>
                      </a:r>
                    </a:p>
                  </a:txBody>
                  <a:tcPr>
                    <a:solidFill>
                      <a:srgbClr val="0d1b2a"/>
                    </a:solidFill>
                  </a:tcPr>
                </a:tc>
              </a:tr>
              <a:tr h="347472">
                <a:tc>
                  <a:txBody>
                    <a:bodyPr/>
                    <a:lstStyle/>
                    <a:p>
                      <a:pPr algn="l"/>
                      <a:r>
                        <a:rPr sz="1100" b="0" i="0">
                          <a:solidFill>
                            <a:srgbClr val="FFFFFF"/>
                          </a:solidFill>
                          <a:latin typeface="Calibri"/>
                        </a:rPr>
                        <a:t>Cross-condition agreement</a:t>
                      </a:r>
                    </a:p>
                  </a:txBody>
                  <a:tcPr>
                    <a:solidFill>
                      <a:srgbClr val="152a40"/>
                    </a:solidFill>
                  </a:tcPr>
                </a:tc>
                <a:tc>
                  <a:txBody>
                    <a:bodyPr/>
                    <a:lstStyle/>
                    <a:p>
                      <a:pPr algn="l"/>
                      <a:r>
                        <a:rPr sz="1100" b="0" i="0">
                          <a:solidFill>
                            <a:srgbClr val="FFFFFF"/>
                          </a:solidFill>
                          <a:latin typeface="Calibri"/>
                        </a:rPr>
                        <a:t>80.0%</a:t>
                      </a:r>
                    </a:p>
                  </a:txBody>
                  <a:tcPr>
                    <a:solidFill>
                      <a:srgbClr val="152a40"/>
                    </a:solidFill>
                  </a:tcPr>
                </a:tc>
              </a:tr>
            </a:tbl>
          </a:graphicData>
        </a:graphic>
      </p:graphicFrame>
      <p:sp>
        <p:nvSpPr>
          <p:cNvPr id="13" name="TextBox 12"/>
          <p:cNvSpPr txBox="1"/>
          <p:nvPr/>
        </p:nvSpPr>
        <p:spPr>
          <a:xfrm>
            <a:off x="548640" y="5760720"/>
            <a:ext cx="11091672" cy="365760"/>
          </a:xfrm>
          <a:prstGeom prst="rect">
            <a:avLst/>
          </a:prstGeom>
          <a:noFill/>
        </p:spPr>
        <p:txBody>
          <a:bodyPr wrap="square" anchor="t"/>
          <a:lstStyle/>
          <a:p>
            <a:pPr algn="ctr"/>
            <a:r>
              <a:rPr sz="1300" b="0" i="1">
                <a:solidFill>
                  <a:srgbClr val="AAAAAA"/>
                </a:solidFill>
                <a:latin typeface="Calibri"/>
              </a:rPr>
              <a:t>Context is STRICTER not lenient — 230 downgrades vs 68 upgrades. Domain knowledge reveals vocabulary failures.</a:t>
            </a:r>
          </a:p>
        </p:txBody>
      </p:sp>
      <p:pic>
        <p:nvPicPr>
          <p:cNvPr id="14" name="Picture 13"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5" name="TextBox 14"/>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33</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fill="hold">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10" fill="hold">
                      <p:stCondLst>
                        <p:cond delay="0"/>
                      </p:stCondLst>
                      <p:childTnLst>
                        <p:par>
                          <p:cTn id="11" fill="hold">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fill="hold">
                            <p:stCondLst>
                              <p:cond delay="12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fill="hold">
                            <p:stCondLst>
                              <p:cond delay="24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9" grpId="1"/>
      <p:bldP spid="10" grpId="1"/>
      <p:bldP spid="12" grpId="1"/>
    </p:bld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The LLM Is a Context Engine</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365760"/>
          </a:xfrm>
          <a:prstGeom prst="rect">
            <a:avLst/>
          </a:prstGeom>
          <a:noFill/>
        </p:spPr>
        <p:txBody>
          <a:bodyPr wrap="square" anchor="t"/>
          <a:lstStyle/>
          <a:p>
            <a:pPr algn="l"/>
            <a:r>
              <a:rPr sz="1800" b="1" i="0">
                <a:solidFill>
                  <a:srgbClr val="00B4D8"/>
                </a:solidFill>
                <a:latin typeface="Calibri"/>
              </a:rPr>
              <a:t>What the LLM Does</a:t>
            </a:r>
          </a:p>
        </p:txBody>
      </p:sp>
      <p:sp>
        <p:nvSpPr>
          <p:cNvPr id="5" name="TextBox 4"/>
          <p:cNvSpPr txBox="1"/>
          <p:nvPr/>
        </p:nvSpPr>
        <p:spPr>
          <a:xfrm>
            <a:off x="548640" y="1874520"/>
            <a:ext cx="5029200" cy="274320"/>
          </a:xfrm>
          <a:prstGeom prst="rect">
            <a:avLst/>
          </a:prstGeom>
          <a:noFill/>
        </p:spPr>
        <p:txBody>
          <a:bodyPr wrap="square" anchor="t"/>
          <a:lstStyle/>
          <a:p>
            <a:pPr algn="l"/>
            <a:r>
              <a:rPr sz="1400" b="0" i="0">
                <a:solidFill>
                  <a:srgbClr val="FFFFFF"/>
                </a:solidFill>
                <a:latin typeface="Calibri"/>
              </a:rPr>
              <a:t>The visual encoder sees mouth shapes.</a:t>
            </a:r>
          </a:p>
        </p:txBody>
      </p:sp>
      <p:sp>
        <p:nvSpPr>
          <p:cNvPr id="6" name="TextBox 5"/>
          <p:cNvSpPr txBox="1"/>
          <p:nvPr/>
        </p:nvSpPr>
        <p:spPr>
          <a:xfrm>
            <a:off x="548640" y="2240280"/>
            <a:ext cx="5029200" cy="274320"/>
          </a:xfrm>
          <a:prstGeom prst="rect">
            <a:avLst/>
          </a:prstGeom>
          <a:noFill/>
        </p:spPr>
        <p:txBody>
          <a:bodyPr wrap="square" anchor="t"/>
          <a:lstStyle/>
          <a:p>
            <a:pPr algn="l"/>
            <a:r>
              <a:rPr sz="1400" b="1" i="0">
                <a:solidFill>
                  <a:srgbClr val="00B4D8"/>
                </a:solidFill>
                <a:latin typeface="Calibri"/>
              </a:rPr>
              <a:t>The LLM resolves ambiguity using language context.</a:t>
            </a:r>
          </a:p>
        </p:txBody>
      </p:sp>
      <p:sp>
        <p:nvSpPr>
          <p:cNvPr id="7" name="TextBox 6"/>
          <p:cNvSpPr txBox="1"/>
          <p:nvPr/>
        </p:nvSpPr>
        <p:spPr>
          <a:xfrm>
            <a:off x="548640" y="2788920"/>
            <a:ext cx="5029200" cy="1828800"/>
          </a:xfrm>
          <a:prstGeom prst="rect">
            <a:avLst/>
          </a:prstGeom>
          <a:noFill/>
        </p:spPr>
        <p:txBody>
          <a:bodyPr wrap="square">
            <a:spAutoFit/>
          </a:bodyPr>
          <a:lstStyle/>
          <a:p>
            <a:pPr algn="l">
              <a:spcAft>
                <a:spcPts val="600"/>
              </a:spcAft>
            </a:pPr>
            <a:r>
              <a:rPr sz="1400" b="1">
                <a:solidFill>
                  <a:srgbClr val="00B4D8"/>
                </a:solidFill>
                <a:latin typeface="Calibri"/>
              </a:rPr>
              <a:t>• </a:t>
            </a:r>
            <a:r>
              <a:rPr sz="1400" b="0">
                <a:solidFill>
                  <a:srgbClr val="FFFFFF"/>
                </a:solidFill>
                <a:latin typeface="Calibri"/>
              </a:rPr>
              <a:t>"p/b/m" → Is it "pat," "bat," or "mat"?</a:t>
            </a:r>
          </a:p>
          <a:p>
            <a:pPr algn="l">
              <a:spcAft>
                <a:spcPts val="600"/>
              </a:spcAft>
            </a:pPr>
            <a:r>
              <a:rPr sz="1400" b="1">
                <a:solidFill>
                  <a:srgbClr val="00B4D8"/>
                </a:solidFill>
                <a:latin typeface="Calibri"/>
              </a:rPr>
              <a:t>• </a:t>
            </a:r>
            <a:r>
              <a:rPr sz="1400" b="0">
                <a:solidFill>
                  <a:srgbClr val="FFFFFF"/>
                </a:solidFill>
                <a:latin typeface="Calibri"/>
              </a:rPr>
              <a:t>LLM uses surrounding words to disambiguate</a:t>
            </a:r>
          </a:p>
          <a:p>
            <a:pPr algn="l">
              <a:spcAft>
                <a:spcPts val="600"/>
              </a:spcAft>
            </a:pPr>
            <a:r>
              <a:rPr sz="1400" b="1">
                <a:solidFill>
                  <a:srgbClr val="00B4D8"/>
                </a:solidFill>
                <a:latin typeface="Calibri"/>
              </a:rPr>
              <a:t>• </a:t>
            </a:r>
            <a:r>
              <a:rPr sz="1400" b="0">
                <a:solidFill>
                  <a:srgbClr val="FFFFFF"/>
                </a:solidFill>
                <a:latin typeface="Calibri"/>
              </a:rPr>
              <a:t>Stronger LLM = better disambiguation</a:t>
            </a:r>
          </a:p>
          <a:p>
            <a:pPr algn="l">
              <a:spcAft>
                <a:spcPts val="600"/>
              </a:spcAft>
            </a:pPr>
            <a:r>
              <a:rPr sz="1400" b="1">
                <a:solidFill>
                  <a:srgbClr val="00B4D8"/>
                </a:solidFill>
                <a:latin typeface="Calibri"/>
              </a:rPr>
              <a:t>• </a:t>
            </a:r>
            <a:r>
              <a:rPr sz="1400" b="1">
                <a:solidFill>
                  <a:srgbClr val="FFFFFF"/>
                </a:solidFill>
                <a:latin typeface="Calibri"/>
              </a:rPr>
              <a:t>This is why LLM quality matters more than size</a:t>
            </a:r>
          </a:p>
        </p:txBody>
      </p:sp>
      <p:sp>
        <p:nvSpPr>
          <p:cNvPr id="8" name="TextBox 7"/>
          <p:cNvSpPr txBox="1"/>
          <p:nvPr/>
        </p:nvSpPr>
        <p:spPr>
          <a:xfrm>
            <a:off x="6611111" y="1325880"/>
            <a:ext cx="5029200" cy="365760"/>
          </a:xfrm>
          <a:prstGeom prst="rect">
            <a:avLst/>
          </a:prstGeom>
          <a:noFill/>
        </p:spPr>
        <p:txBody>
          <a:bodyPr wrap="square" anchor="t"/>
          <a:lstStyle/>
          <a:p>
            <a:pPr algn="l"/>
            <a:r>
              <a:rPr sz="1800" b="1" i="0">
                <a:solidFill>
                  <a:srgbClr val="E06C75"/>
                </a:solidFill>
                <a:latin typeface="Calibri"/>
              </a:rPr>
              <a:t>Current vs Upgrade</a:t>
            </a:r>
          </a:p>
        </p:txBody>
      </p:sp>
      <p:sp>
        <p:nvSpPr>
          <p:cNvPr id="9" name="Rounded Rectangle 8"/>
          <p:cNvSpPr/>
          <p:nvPr/>
        </p:nvSpPr>
        <p:spPr>
          <a:xfrm>
            <a:off x="6611111" y="1783080"/>
            <a:ext cx="5029200" cy="164592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93991" y="1874520"/>
            <a:ext cx="4663440" cy="274320"/>
          </a:xfrm>
          <a:prstGeom prst="rect">
            <a:avLst/>
          </a:prstGeom>
          <a:noFill/>
        </p:spPr>
        <p:txBody>
          <a:bodyPr wrap="square" anchor="t"/>
          <a:lstStyle/>
          <a:p>
            <a:pPr algn="l"/>
            <a:r>
              <a:rPr sz="1400" b="1" i="0">
                <a:solidFill>
                  <a:srgbClr val="E06C75"/>
                </a:solidFill>
                <a:latin typeface="Calibri"/>
              </a:rPr>
              <a:t>Current: LLaMA-2 7B</a:t>
            </a:r>
          </a:p>
        </p:txBody>
      </p:sp>
      <p:sp>
        <p:nvSpPr>
          <p:cNvPr id="11" name="TextBox 10"/>
          <p:cNvSpPr txBox="1"/>
          <p:nvPr/>
        </p:nvSpPr>
        <p:spPr>
          <a:xfrm>
            <a:off x="6793991" y="2240280"/>
            <a:ext cx="4663440" cy="731520"/>
          </a:xfrm>
          <a:prstGeom prst="rect">
            <a:avLst/>
          </a:prstGeom>
          <a:noFill/>
        </p:spPr>
        <p:txBody>
          <a:bodyPr wrap="square">
            <a:spAutoFit/>
          </a:bodyPr>
          <a:lstStyle/>
          <a:p>
            <a:pPr algn="l">
              <a:spcAft>
                <a:spcPts val="600"/>
              </a:spcAft>
            </a:pPr>
            <a:r>
              <a:rPr sz="1200" b="1">
                <a:solidFill>
                  <a:srgbClr val="E06C75"/>
                </a:solidFill>
                <a:latin typeface="Calibri"/>
              </a:rPr>
              <a:t>• </a:t>
            </a:r>
            <a:r>
              <a:rPr sz="1200" b="0">
                <a:solidFill>
                  <a:srgbClr val="FFFFFF"/>
                </a:solidFill>
                <a:latin typeface="Calibri"/>
              </a:rPr>
              <a:t>32K vocab, 4K context</a:t>
            </a:r>
          </a:p>
          <a:p>
            <a:pPr algn="l">
              <a:spcAft>
                <a:spcPts val="600"/>
              </a:spcAft>
            </a:pPr>
            <a:r>
              <a:rPr sz="1200" b="1">
                <a:solidFill>
                  <a:srgbClr val="E06C75"/>
                </a:solidFill>
                <a:latin typeface="Calibri"/>
              </a:rPr>
              <a:t>• </a:t>
            </a:r>
            <a:r>
              <a:rPr sz="1200" b="0">
                <a:solidFill>
                  <a:srgbClr val="FFFFFF"/>
                </a:solidFill>
                <a:latin typeface="Calibri"/>
              </a:rPr>
              <a:t>2023 model, limited reasoning</a:t>
            </a:r>
          </a:p>
        </p:txBody>
      </p:sp>
      <p:sp>
        <p:nvSpPr>
          <p:cNvPr id="12" name="Rounded Rectangle 11"/>
          <p:cNvSpPr/>
          <p:nvPr/>
        </p:nvSpPr>
        <p:spPr>
          <a:xfrm>
            <a:off x="6611111" y="3611880"/>
            <a:ext cx="5029200" cy="1828800"/>
          </a:xfrm>
          <a:prstGeom prst="roundRect">
            <a:avLst/>
          </a:prstGeom>
          <a:solidFill>
            <a:srgbClr val="152A40"/>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93991" y="3703320"/>
            <a:ext cx="4663440" cy="274320"/>
          </a:xfrm>
          <a:prstGeom prst="rect">
            <a:avLst/>
          </a:prstGeom>
          <a:noFill/>
        </p:spPr>
        <p:txBody>
          <a:bodyPr wrap="square" anchor="t"/>
          <a:lstStyle/>
          <a:p>
            <a:pPr algn="l"/>
            <a:r>
              <a:rPr sz="1400" b="1" i="0">
                <a:solidFill>
                  <a:srgbClr val="4CAF50"/>
                </a:solidFill>
                <a:latin typeface="Calibri"/>
              </a:rPr>
              <a:t>Upgrade: Llama 3.1 8B</a:t>
            </a:r>
          </a:p>
        </p:txBody>
      </p:sp>
      <p:sp>
        <p:nvSpPr>
          <p:cNvPr id="14" name="TextBox 13"/>
          <p:cNvSpPr txBox="1"/>
          <p:nvPr/>
        </p:nvSpPr>
        <p:spPr>
          <a:xfrm>
            <a:off x="6793991" y="4069080"/>
            <a:ext cx="4663440" cy="1097280"/>
          </a:xfrm>
          <a:prstGeom prst="rect">
            <a:avLst/>
          </a:prstGeom>
          <a:noFill/>
        </p:spPr>
        <p:txBody>
          <a:bodyPr wrap="square">
            <a:spAutoFit/>
          </a:bodyPr>
          <a:lstStyle/>
          <a:p>
            <a:pPr algn="l">
              <a:spcAft>
                <a:spcPts val="600"/>
              </a:spcAft>
            </a:pPr>
            <a:r>
              <a:rPr sz="1200" b="1">
                <a:solidFill>
                  <a:srgbClr val="4CAF50"/>
                </a:solidFill>
                <a:latin typeface="Calibri"/>
              </a:rPr>
              <a:t>• </a:t>
            </a:r>
            <a:r>
              <a:rPr sz="1200" b="0">
                <a:solidFill>
                  <a:srgbClr val="FFFFFF"/>
                </a:solidFill>
                <a:latin typeface="Calibri"/>
              </a:rPr>
              <a:t>128K vocab, 128K context</a:t>
            </a:r>
          </a:p>
          <a:p>
            <a:pPr algn="l">
              <a:spcAft>
                <a:spcPts val="600"/>
              </a:spcAft>
            </a:pPr>
            <a:r>
              <a:rPr sz="1200" b="1">
                <a:solidFill>
                  <a:srgbClr val="4CAF50"/>
                </a:solidFill>
                <a:latin typeface="Calibri"/>
              </a:rPr>
              <a:t>• </a:t>
            </a:r>
            <a:r>
              <a:rPr sz="1200" b="0">
                <a:solidFill>
                  <a:srgbClr val="FFFFFF"/>
                </a:solidFill>
                <a:latin typeface="Calibri"/>
              </a:rPr>
              <a:t>Quality ≈ LLaMA-2 70B</a:t>
            </a:r>
          </a:p>
          <a:p>
            <a:pPr algn="l">
              <a:spcAft>
                <a:spcPts val="600"/>
              </a:spcAft>
            </a:pPr>
            <a:r>
              <a:rPr sz="1200" b="1">
                <a:solidFill>
                  <a:srgbClr val="4CAF50"/>
                </a:solidFill>
                <a:latin typeface="Calibri"/>
              </a:rPr>
              <a:t>• </a:t>
            </a:r>
            <a:r>
              <a:rPr sz="1200" b="0">
                <a:solidFill>
                  <a:srgbClr val="4CAF50"/>
                </a:solidFill>
                <a:latin typeface="Calibri"/>
              </a:rPr>
              <a:t>Same hidden_size (4096) = drop-in swap</a:t>
            </a:r>
          </a:p>
          <a:p>
            <a:pPr algn="l">
              <a:spcAft>
                <a:spcPts val="600"/>
              </a:spcAft>
            </a:pPr>
            <a:r>
              <a:rPr sz="1200" b="1">
                <a:solidFill>
                  <a:srgbClr val="4CAF50"/>
                </a:solidFill>
                <a:latin typeface="Calibri"/>
              </a:rPr>
              <a:t>• </a:t>
            </a:r>
            <a:r>
              <a:rPr sz="1200" b="1">
                <a:solidFill>
                  <a:srgbClr val="FFFFFF"/>
                </a:solidFill>
                <a:latin typeface="Calibri"/>
              </a:rPr>
              <a:t>Setup: 1–2 hours</a:t>
            </a:r>
          </a:p>
        </p:txBody>
      </p:sp>
      <p:pic>
        <p:nvPicPr>
          <p:cNvPr id="15" name="Picture 14"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6" name="TextBox 15"/>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34</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fill="hold">
                            <p:stCondLst>
                              <p:cond delay="12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500"/>
                                  <p:tgtEl>
                                    <p:spTgt spid="7"/>
                                  </p:tgtEl>
                                </p:cBhvr>
                              </p:animEffect>
                            </p:childTnLst>
                          </p:cTn>
                        </p:par>
                      </p:childTnLst>
                    </p:cTn>
                  </p:par>
                  <p:par>
                    <p:cTn id="10" fill="hold">
                      <p:stCondLst>
                        <p:cond delay="0"/>
                      </p:stCondLst>
                      <p:childTnLst>
                        <p:par>
                          <p:cTn id="11" fill="hold">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fill="hold">
                            <p:stCondLst>
                              <p:cond delay="12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9" grpId="1"/>
      <p:bldP spid="12" grpId="1"/>
    </p:bldLst>
  </p:timing>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LLM Salvage: 1 in 2 Segments Delivers Value</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25880"/>
            <a:ext cx="11091672" cy="420624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08760"/>
            <a:ext cx="10543032" cy="822960"/>
          </a:xfrm>
          <a:prstGeom prst="rect">
            <a:avLst/>
          </a:prstGeom>
          <a:noFill/>
        </p:spPr>
        <p:txBody>
          <a:bodyPr wrap="square" anchor="t"/>
          <a:lstStyle/>
          <a:p>
            <a:pPr algn="ctr"/>
            <a:r>
              <a:rPr sz="6400" b="1" i="0">
                <a:solidFill>
                  <a:srgbClr val="4CAF50"/>
                </a:solidFill>
                <a:latin typeface="Calibri"/>
              </a:rPr>
              <a:t>50.9%</a:t>
            </a:r>
          </a:p>
        </p:txBody>
      </p:sp>
      <p:sp>
        <p:nvSpPr>
          <p:cNvPr id="6" name="TextBox 5"/>
          <p:cNvSpPr txBox="1"/>
          <p:nvPr/>
        </p:nvSpPr>
        <p:spPr>
          <a:xfrm>
            <a:off x="822960" y="2331720"/>
            <a:ext cx="10543032" cy="365760"/>
          </a:xfrm>
          <a:prstGeom prst="rect">
            <a:avLst/>
          </a:prstGeom>
          <a:noFill/>
        </p:spPr>
        <p:txBody>
          <a:bodyPr wrap="square" anchor="t"/>
          <a:lstStyle/>
          <a:p>
            <a:pPr algn="ctr"/>
            <a:r>
              <a:rPr sz="1800" b="0" i="0">
                <a:solidFill>
                  <a:srgbClr val="FFFFFF"/>
                </a:solidFill>
                <a:latin typeface="Calibri"/>
              </a:rPr>
              <a:t>effective capture rate</a:t>
            </a:r>
          </a:p>
        </p:txBody>
      </p:sp>
      <p:sp>
        <p:nvSpPr>
          <p:cNvPr id="7" name="TextBox 6"/>
          <p:cNvSpPr txBox="1"/>
          <p:nvPr/>
        </p:nvSpPr>
        <p:spPr>
          <a:xfrm>
            <a:off x="822960" y="2743200"/>
            <a:ext cx="10543032" cy="320040"/>
          </a:xfrm>
          <a:prstGeom prst="rect">
            <a:avLst/>
          </a:prstGeom>
          <a:noFill/>
        </p:spPr>
        <p:txBody>
          <a:bodyPr wrap="square" anchor="t"/>
          <a:lstStyle/>
          <a:p>
            <a:pPr algn="ctr"/>
            <a:r>
              <a:rPr sz="1400" b="0" i="1">
                <a:solidFill>
                  <a:srgbClr val="AAAAAA"/>
                </a:solidFill>
                <a:latin typeface="Calibri"/>
              </a:rPr>
              <a:t>vs 39.9% from metrics alone (+11pp)</a:t>
            </a:r>
          </a:p>
        </p:txBody>
      </p:sp>
      <p:sp>
        <p:nvSpPr>
          <p:cNvPr id="8" name="TextBox 7"/>
          <p:cNvSpPr txBox="1"/>
          <p:nvPr/>
        </p:nvSpPr>
        <p:spPr>
          <a:xfrm>
            <a:off x="822960" y="3337560"/>
            <a:ext cx="10543032" cy="1828800"/>
          </a:xfrm>
          <a:prstGeom prst="rect">
            <a:avLst/>
          </a:prstGeom>
          <a:noFill/>
        </p:spPr>
        <p:txBody>
          <a:bodyPr wrap="square">
            <a:spAutoFit/>
          </a:bodyPr>
          <a:lstStyle/>
          <a:p>
            <a:pPr algn="l">
              <a:spcAft>
                <a:spcPts val="600"/>
              </a:spcAft>
            </a:pPr>
            <a:r>
              <a:rPr sz="1400" b="1">
                <a:solidFill>
                  <a:srgbClr val="00B4D8"/>
                </a:solidFill>
                <a:latin typeface="Calibri"/>
              </a:rPr>
              <a:t>• </a:t>
            </a:r>
            <a:r>
              <a:rPr sz="1400" b="0">
                <a:solidFill>
                  <a:srgbClr val="FFFFFF"/>
                </a:solidFill>
                <a:latin typeface="Calibri"/>
              </a:rPr>
              <a:t>165 recoverable from 900 metric-failures (18.3% recovery rate)</a:t>
            </a:r>
          </a:p>
          <a:p>
            <a:pPr algn="l">
              <a:spcAft>
                <a:spcPts val="600"/>
              </a:spcAft>
            </a:pPr>
            <a:r>
              <a:rPr sz="1400" b="1">
                <a:solidFill>
                  <a:srgbClr val="00B4D8"/>
                </a:solidFill>
                <a:latin typeface="Calibri"/>
              </a:rPr>
              <a:t>• </a:t>
            </a:r>
            <a:r>
              <a:rPr sz="1400" b="0">
                <a:solidFill>
                  <a:srgbClr val="FFFFFF"/>
                </a:solidFill>
                <a:latin typeface="Calibri"/>
              </a:rPr>
              <a:t>58% of salvageable segments have moderate WER (50–70%)</a:t>
            </a:r>
          </a:p>
          <a:p>
            <a:pPr algn="l">
              <a:spcAft>
                <a:spcPts val="600"/>
              </a:spcAft>
            </a:pPr>
            <a:r>
              <a:rPr sz="1400" b="1">
                <a:solidFill>
                  <a:srgbClr val="00B4D8"/>
                </a:solidFill>
                <a:latin typeface="Calibri"/>
              </a:rPr>
              <a:t>• </a:t>
            </a:r>
            <a:r>
              <a:rPr sz="1400" b="0">
                <a:solidFill>
                  <a:srgbClr val="00B4D8"/>
                </a:solidFill>
                <a:latin typeface="Calibri"/>
              </a:rPr>
              <a:t>Deterministic 15-rule decision tree — no LLM calls at runtime (r=0.934 with IS)</a:t>
            </a:r>
          </a:p>
          <a:p>
            <a:pPr algn="l">
              <a:spcAft>
                <a:spcPts val="600"/>
              </a:spcAft>
            </a:pPr>
            <a:r>
              <a:rPr sz="1400" b="1">
                <a:solidFill>
                  <a:srgbClr val="00B4D8"/>
                </a:solidFill>
                <a:latin typeface="Calibri"/>
              </a:rPr>
              <a:t>• </a:t>
            </a:r>
            <a:r>
              <a:rPr sz="1400" b="1">
                <a:solidFill>
                  <a:srgbClr val="4CAF50"/>
                </a:solidFill>
                <a:latin typeface="Calibri"/>
              </a:rPr>
              <a:t>LLM Judge confirms: Y+P = 64.9% (5.7× WER's 11.4%)</a:t>
            </a:r>
          </a:p>
        </p:txBody>
      </p:sp>
      <p:sp>
        <p:nvSpPr>
          <p:cNvPr id="9" name="TextBox 8"/>
          <p:cNvSpPr txBox="1"/>
          <p:nvPr/>
        </p:nvSpPr>
        <p:spPr>
          <a:xfrm>
            <a:off x="548640" y="5806440"/>
            <a:ext cx="11091672" cy="365760"/>
          </a:xfrm>
          <a:prstGeom prst="rect">
            <a:avLst/>
          </a:prstGeom>
          <a:noFill/>
        </p:spPr>
        <p:txBody>
          <a:bodyPr wrap="square" anchor="t"/>
          <a:lstStyle/>
          <a:p>
            <a:pPr algn="ctr"/>
            <a:r>
              <a:rPr sz="1400" b="0" i="1">
                <a:solidFill>
                  <a:srgbClr val="AAAAAA"/>
                </a:solidFill>
                <a:latin typeface="Calibri"/>
              </a:rPr>
              <a:t>System delivers useful output for 1 in 2 segments — not 2 in 5 as raw metrics suggest.</a:t>
            </a:r>
          </a:p>
        </p:txBody>
      </p:sp>
      <p:pic>
        <p:nvPicPr>
          <p:cNvPr id="10" name="Picture 9"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1" name="TextBox 10"/>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35</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childTnLst>
                    </p:cTn>
                  </p:par>
                  <p:par>
                    <p:cTn id="7" fill="hold">
                      <p:stCondLst>
                        <p:cond delay="0"/>
                      </p:stCondLst>
                      <p:childTnLst>
                        <p:par>
                          <p:cTn id="8" fill="hold">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8" grpId="1"/>
    </p:bld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LLM Salvage: 6 Recovery Categories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411480"/>
          </a:xfrm>
          <a:prstGeom prst="rect">
            <a:avLst/>
          </a:prstGeom>
          <a:noFill/>
        </p:spPr>
        <p:txBody>
          <a:bodyPr wrap="square" anchor="t"/>
          <a:lstStyle/>
          <a:p>
            <a:pPr algn="l"/>
            <a:r>
              <a:rPr sz="1400" b="0" i="1">
                <a:solidFill>
                  <a:srgbClr val="AAAAAA"/>
                </a:solidFill>
                <a:latin typeface="Calibri"/>
              </a:rPr>
              <a:t>165 segments that metrics call “failed” (IS &lt; 3.0) actually deliver useful meaning. They fall into 6 overlapping categories:</a:t>
            </a:r>
          </a:p>
        </p:txBody>
      </p:sp>
      <p:sp>
        <p:nvSpPr>
          <p:cNvPr id="5" name="Rounded Rectangle 4"/>
          <p:cNvSpPr/>
          <p:nvPr/>
        </p:nvSpPr>
        <p:spPr>
          <a:xfrm>
            <a:off x="548640" y="1828800"/>
            <a:ext cx="11091672" cy="640080"/>
          </a:xfrm>
          <a:prstGeom prst="roundRect">
            <a:avLst/>
          </a:prstGeom>
          <a:solidFill>
            <a:srgbClr val="152A40"/>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74520"/>
            <a:ext cx="2743200" cy="274320"/>
          </a:xfrm>
          <a:prstGeom prst="rect">
            <a:avLst/>
          </a:prstGeom>
          <a:noFill/>
        </p:spPr>
        <p:txBody>
          <a:bodyPr wrap="square" anchor="t"/>
          <a:lstStyle/>
          <a:p>
            <a:pPr algn="l"/>
            <a:r>
              <a:rPr sz="1300" b="1" i="0">
                <a:solidFill>
                  <a:srgbClr val="00B4D8"/>
                </a:solidFill>
                <a:latin typeface="Calibri"/>
              </a:rPr>
              <a:t>Phonetic Bridge (93)</a:t>
            </a:r>
          </a:p>
        </p:txBody>
      </p:sp>
      <p:sp>
        <p:nvSpPr>
          <p:cNvPr id="7" name="TextBox 6"/>
          <p:cNvSpPr txBox="1"/>
          <p:nvPr/>
        </p:nvSpPr>
        <p:spPr>
          <a:xfrm>
            <a:off x="3566160" y="1901952"/>
            <a:ext cx="7772400" cy="502920"/>
          </a:xfrm>
          <a:prstGeom prst="rect">
            <a:avLst/>
          </a:prstGeom>
          <a:noFill/>
        </p:spPr>
        <p:txBody>
          <a:bodyPr wrap="square" anchor="t"/>
          <a:lstStyle/>
          <a:p>
            <a:pPr algn="l"/>
            <a:r>
              <a:rPr sz="1100" b="0" i="0">
                <a:solidFill>
                  <a:srgbClr val="AAAAAA"/>
                </a:solidFill>
                <a:latin typeface="Calibri"/>
              </a:rPr>
              <a:t>Words sound right but are spelled differently — a viewer who knows the topic fills in the gaps (phonetic sim ≥ 0.6)</a:t>
            </a:r>
          </a:p>
        </p:txBody>
      </p:sp>
      <p:sp>
        <p:nvSpPr>
          <p:cNvPr id="8" name="Rounded Rectangle 7"/>
          <p:cNvSpPr/>
          <p:nvPr/>
        </p:nvSpPr>
        <p:spPr>
          <a:xfrm>
            <a:off x="548640" y="2542032"/>
            <a:ext cx="11091672" cy="640080"/>
          </a:xfrm>
          <a:prstGeom prst="roundRect">
            <a:avLst/>
          </a:prstGeom>
          <a:solidFill>
            <a:srgbClr val="152A40"/>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587752"/>
            <a:ext cx="2743200" cy="274320"/>
          </a:xfrm>
          <a:prstGeom prst="rect">
            <a:avLst/>
          </a:prstGeom>
          <a:noFill/>
        </p:spPr>
        <p:txBody>
          <a:bodyPr wrap="square" anchor="t"/>
          <a:lstStyle/>
          <a:p>
            <a:pPr algn="l"/>
            <a:r>
              <a:rPr sz="1300" b="1" i="0">
                <a:solidFill>
                  <a:srgbClr val="00B4D8"/>
                </a:solidFill>
                <a:latin typeface="Calibri"/>
              </a:rPr>
              <a:t>Structure Match (74)</a:t>
            </a:r>
          </a:p>
        </p:txBody>
      </p:sp>
      <p:sp>
        <p:nvSpPr>
          <p:cNvPr id="10" name="TextBox 9"/>
          <p:cNvSpPr txBox="1"/>
          <p:nvPr/>
        </p:nvSpPr>
        <p:spPr>
          <a:xfrm>
            <a:off x="3566160" y="2615184"/>
            <a:ext cx="7772400" cy="502920"/>
          </a:xfrm>
          <a:prstGeom prst="rect">
            <a:avLst/>
          </a:prstGeom>
          <a:noFill/>
        </p:spPr>
        <p:txBody>
          <a:bodyPr wrap="square" anchor="t"/>
          <a:lstStyle/>
          <a:p>
            <a:pPr algn="l"/>
            <a:r>
              <a:rPr sz="1100" b="0" i="0">
                <a:solidFill>
                  <a:srgbClr val="AAAAAA"/>
                </a:solidFill>
                <a:latin typeface="Calibri"/>
              </a:rPr>
              <a:t>Same grammatical structure as reference — word order intact, subject-verb-object pattern preserved</a:t>
            </a:r>
          </a:p>
        </p:txBody>
      </p:sp>
      <p:sp>
        <p:nvSpPr>
          <p:cNvPr id="11" name="Rounded Rectangle 10"/>
          <p:cNvSpPr/>
          <p:nvPr/>
        </p:nvSpPr>
        <p:spPr>
          <a:xfrm>
            <a:off x="548640" y="3255264"/>
            <a:ext cx="11091672" cy="640080"/>
          </a:xfrm>
          <a:prstGeom prst="roundRect">
            <a:avLst/>
          </a:prstGeom>
          <a:solidFill>
            <a:srgbClr val="152A40"/>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300984"/>
            <a:ext cx="2743200" cy="274320"/>
          </a:xfrm>
          <a:prstGeom prst="rect">
            <a:avLst/>
          </a:prstGeom>
          <a:noFill/>
        </p:spPr>
        <p:txBody>
          <a:bodyPr wrap="square" anchor="t"/>
          <a:lstStyle/>
          <a:p>
            <a:pPr algn="l"/>
            <a:r>
              <a:rPr sz="1300" b="1" i="0">
                <a:solidFill>
                  <a:srgbClr val="4CAF50"/>
                </a:solidFill>
                <a:latin typeface="Calibri"/>
              </a:rPr>
              <a:t>Semantic Preservation (57)</a:t>
            </a:r>
          </a:p>
        </p:txBody>
      </p:sp>
      <p:sp>
        <p:nvSpPr>
          <p:cNvPr id="13" name="TextBox 12"/>
          <p:cNvSpPr txBox="1"/>
          <p:nvPr/>
        </p:nvSpPr>
        <p:spPr>
          <a:xfrm>
            <a:off x="3566160" y="3328416"/>
            <a:ext cx="7772400" cy="502920"/>
          </a:xfrm>
          <a:prstGeom prst="rect">
            <a:avLst/>
          </a:prstGeom>
          <a:noFill/>
        </p:spPr>
        <p:txBody>
          <a:bodyPr wrap="square" anchor="t"/>
          <a:lstStyle/>
          <a:p>
            <a:pPr algn="l"/>
            <a:r>
              <a:rPr sz="1100" b="0" i="0">
                <a:solidFill>
                  <a:srgbClr val="AAAAAA"/>
                </a:solidFill>
                <a:latin typeface="Calibri"/>
              </a:rPr>
              <a:t>Core meaning conveyed despite high WER — like a paraphrase (semantic sim ≥ 0.5)</a:t>
            </a:r>
          </a:p>
        </p:txBody>
      </p:sp>
      <p:sp>
        <p:nvSpPr>
          <p:cNvPr id="14" name="Rounded Rectangle 13"/>
          <p:cNvSpPr/>
          <p:nvPr/>
        </p:nvSpPr>
        <p:spPr>
          <a:xfrm>
            <a:off x="548640" y="3968496"/>
            <a:ext cx="11091672" cy="640080"/>
          </a:xfrm>
          <a:prstGeom prst="roundRect">
            <a:avLst/>
          </a:prstGeom>
          <a:solidFill>
            <a:srgbClr val="152A40"/>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014216"/>
            <a:ext cx="2743200" cy="274320"/>
          </a:xfrm>
          <a:prstGeom prst="rect">
            <a:avLst/>
          </a:prstGeom>
          <a:noFill/>
        </p:spPr>
        <p:txBody>
          <a:bodyPr wrap="square" anchor="t"/>
          <a:lstStyle/>
          <a:p>
            <a:pPr algn="l"/>
            <a:r>
              <a:rPr sz="1300" b="1" i="0">
                <a:solidFill>
                  <a:srgbClr val="4CAF50"/>
                </a:solidFill>
                <a:latin typeface="Calibri"/>
              </a:rPr>
              <a:t>Hidden Gems (54)</a:t>
            </a:r>
          </a:p>
        </p:txBody>
      </p:sp>
      <p:sp>
        <p:nvSpPr>
          <p:cNvPr id="16" name="TextBox 15"/>
          <p:cNvSpPr txBox="1"/>
          <p:nvPr/>
        </p:nvSpPr>
        <p:spPr>
          <a:xfrm>
            <a:off x="3566160" y="4041648"/>
            <a:ext cx="7772400" cy="502920"/>
          </a:xfrm>
          <a:prstGeom prst="rect">
            <a:avLst/>
          </a:prstGeom>
          <a:noFill/>
        </p:spPr>
        <p:txBody>
          <a:bodyPr wrap="square" anchor="t"/>
          <a:lstStyle/>
          <a:p>
            <a:pPr algn="l"/>
            <a:r>
              <a:rPr sz="1100" b="0" i="0">
                <a:solidFill>
                  <a:srgbClr val="AAAAAA"/>
                </a:solidFill>
                <a:latin typeface="Calibri"/>
              </a:rPr>
              <a:t>Decision tree assigns ≥ 80% recovery probability despite metrics all flagging failure</a:t>
            </a:r>
          </a:p>
        </p:txBody>
      </p:sp>
      <p:sp>
        <p:nvSpPr>
          <p:cNvPr id="17" name="Rounded Rectangle 16"/>
          <p:cNvSpPr/>
          <p:nvPr/>
        </p:nvSpPr>
        <p:spPr>
          <a:xfrm>
            <a:off x="548640" y="4681728"/>
            <a:ext cx="11091672" cy="640080"/>
          </a:xfrm>
          <a:prstGeom prst="roundRect">
            <a:avLst/>
          </a:prstGeom>
          <a:solidFill>
            <a:srgbClr val="152A40"/>
          </a:solidFill>
          <a:ln w="19050">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727448"/>
            <a:ext cx="2743200" cy="274320"/>
          </a:xfrm>
          <a:prstGeom prst="rect">
            <a:avLst/>
          </a:prstGeom>
          <a:noFill/>
        </p:spPr>
        <p:txBody>
          <a:bodyPr wrap="square" anchor="t"/>
          <a:lstStyle/>
          <a:p>
            <a:pPr algn="l"/>
            <a:r>
              <a:rPr sz="1300" b="1" i="0">
                <a:solidFill>
                  <a:srgbClr val="FFC107"/>
                </a:solidFill>
                <a:latin typeface="Calibri"/>
              </a:rPr>
              <a:t>Entity-Preserved (44)</a:t>
            </a:r>
          </a:p>
        </p:txBody>
      </p:sp>
      <p:sp>
        <p:nvSpPr>
          <p:cNvPr id="19" name="TextBox 18"/>
          <p:cNvSpPr txBox="1"/>
          <p:nvPr/>
        </p:nvSpPr>
        <p:spPr>
          <a:xfrm>
            <a:off x="3566160" y="4754880"/>
            <a:ext cx="7772400" cy="502920"/>
          </a:xfrm>
          <a:prstGeom prst="rect">
            <a:avLst/>
          </a:prstGeom>
          <a:noFill/>
        </p:spPr>
        <p:txBody>
          <a:bodyPr wrap="square" anchor="t"/>
          <a:lstStyle/>
          <a:p>
            <a:pPr algn="l"/>
            <a:r>
              <a:rPr sz="1100" b="0" i="0">
                <a:solidFill>
                  <a:srgbClr val="AAAAAA"/>
                </a:solidFill>
                <a:latin typeface="Calibri"/>
              </a:rPr>
              <a:t>Critical names and numbers correct even though surrounding words are wrong (NEA F1 ≥ 50%)</a:t>
            </a:r>
          </a:p>
        </p:txBody>
      </p:sp>
      <p:sp>
        <p:nvSpPr>
          <p:cNvPr id="20" name="Rounded Rectangle 19"/>
          <p:cNvSpPr/>
          <p:nvPr/>
        </p:nvSpPr>
        <p:spPr>
          <a:xfrm>
            <a:off x="548640" y="5394960"/>
            <a:ext cx="11091672" cy="640080"/>
          </a:xfrm>
          <a:prstGeom prst="roundRect">
            <a:avLst/>
          </a:prstGeom>
          <a:solidFill>
            <a:srgbClr val="152A40"/>
          </a:solidFill>
          <a:ln w="19050">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440680"/>
            <a:ext cx="2743200" cy="274320"/>
          </a:xfrm>
          <a:prstGeom prst="rect">
            <a:avLst/>
          </a:prstGeom>
          <a:noFill/>
        </p:spPr>
        <p:txBody>
          <a:bodyPr wrap="square" anchor="t"/>
          <a:lstStyle/>
          <a:p>
            <a:pPr algn="l"/>
            <a:r>
              <a:rPr sz="1300" b="1" i="0">
                <a:solidFill>
                  <a:srgbClr val="FFC107"/>
                </a:solidFill>
                <a:latin typeface="Calibri"/>
              </a:rPr>
              <a:t>WER Over-Punishment (27)</a:t>
            </a:r>
          </a:p>
        </p:txBody>
      </p:sp>
      <p:sp>
        <p:nvSpPr>
          <p:cNvPr id="22" name="TextBox 21"/>
          <p:cNvSpPr txBox="1"/>
          <p:nvPr/>
        </p:nvSpPr>
        <p:spPr>
          <a:xfrm>
            <a:off x="3566160" y="5468112"/>
            <a:ext cx="7772400" cy="502920"/>
          </a:xfrm>
          <a:prstGeom prst="rect">
            <a:avLst/>
          </a:prstGeom>
          <a:noFill/>
        </p:spPr>
        <p:txBody>
          <a:bodyPr wrap="square" anchor="t"/>
          <a:lstStyle/>
          <a:p>
            <a:pPr algn="l"/>
            <a:r>
              <a:rPr sz="1100" b="0" i="0">
                <a:solidFill>
                  <a:srgbClr val="AAAAAA"/>
                </a:solidFill>
                <a:latin typeface="Calibri"/>
              </a:rPr>
              <a:t>WER inflated by function word errors (‘the’ → ‘a’) that don’t affect meaning (WER−WWER ≥ 10pp)</a:t>
            </a:r>
          </a:p>
        </p:txBody>
      </p:sp>
      <p:sp>
        <p:nvSpPr>
          <p:cNvPr id="23" name="TextBox 22"/>
          <p:cNvSpPr txBox="1"/>
          <p:nvPr/>
        </p:nvSpPr>
        <p:spPr>
          <a:xfrm>
            <a:off x="548640" y="5897880"/>
            <a:ext cx="11091672" cy="320040"/>
          </a:xfrm>
          <a:prstGeom prst="rect">
            <a:avLst/>
          </a:prstGeom>
          <a:noFill/>
        </p:spPr>
        <p:txBody>
          <a:bodyPr wrap="square" anchor="t"/>
          <a:lstStyle/>
          <a:p>
            <a:pPr algn="ctr"/>
            <a:r>
              <a:rPr sz="1200" b="0" i="1">
                <a:solidFill>
                  <a:srgbClr val="666666"/>
                </a:solidFill>
                <a:latin typeface="Calibri"/>
              </a:rPr>
              <a:t>Categories overlap — a segment can exhibit multiple recovery signals.</a:t>
            </a:r>
          </a:p>
        </p:txBody>
      </p:sp>
      <p:pic>
        <p:nvPicPr>
          <p:cNvPr id="24" name="Picture 23"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25" name="TextBox 24"/>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25b</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00"/>
                                  <p:tgtEl>
                                    <p:spTgt spid="5"/>
                                  </p:tgtEl>
                                </p:cBhvr>
                              </p:animEffect>
                            </p:childTnLst>
                          </p:cTn>
                        </p:par>
                        <p:par>
                          <p:cTn id="7" fill="hold">
                            <p:stCondLst>
                              <p:cond delay="12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500"/>
                                  <p:tgtEl>
                                    <p:spTgt spid="8"/>
                                  </p:tgtEl>
                                </p:cBhvr>
                              </p:animEffect>
                            </p:childTnLst>
                          </p:cTn>
                        </p:par>
                        <p:par>
                          <p:cTn id="10" fill="hold">
                            <p:stCondLst>
                              <p:cond delay="24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fill="hold">
                            <p:stCondLst>
                              <p:cond delay="36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fill="hold">
                            <p:stCondLst>
                              <p:cond delay="48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par>
                          <p:cTn id="19" fill="hold">
                            <p:stCondLst>
                              <p:cond delay="60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1" grpId="0"/>
      <p:bldP spid="14" grpId="0"/>
      <p:bldP spid="17" grpId="0"/>
      <p:bldP spid="20" grpId="0"/>
    </p:bld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LLM Salvage: Three Real Recoveries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20040"/>
          </a:xfrm>
          <a:prstGeom prst="rect">
            <a:avLst/>
          </a:prstGeom>
          <a:noFill/>
        </p:spPr>
        <p:txBody>
          <a:bodyPr wrap="square" anchor="t"/>
          <a:lstStyle/>
          <a:p>
            <a:pPr algn="l"/>
            <a:r>
              <a:rPr sz="1300" b="0" i="1">
                <a:solidFill>
                  <a:srgbClr val="AAAAAA"/>
                </a:solidFill>
                <a:latin typeface="Calibri"/>
              </a:rPr>
              <a:t>These segments failed IS (&lt; 3.0) but a viewer with context would understand them:</a:t>
            </a:r>
          </a:p>
        </p:txBody>
      </p:sp>
      <p:sp>
        <p:nvSpPr>
          <p:cNvPr id="5" name="Rounded Rectangle 4"/>
          <p:cNvSpPr/>
          <p:nvPr/>
        </p:nvSpPr>
        <p:spPr>
          <a:xfrm>
            <a:off x="637032" y="1737360"/>
            <a:ext cx="3474720" cy="420624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4192" y="1828800"/>
            <a:ext cx="3200400" cy="274320"/>
          </a:xfrm>
          <a:prstGeom prst="rect">
            <a:avLst/>
          </a:prstGeom>
          <a:noFill/>
        </p:spPr>
        <p:txBody>
          <a:bodyPr wrap="square" anchor="t"/>
          <a:lstStyle/>
          <a:p>
            <a:pPr algn="ctr"/>
            <a:r>
              <a:rPr sz="1400" b="1" i="0">
                <a:solidFill>
                  <a:srgbClr val="00B4D8"/>
                </a:solidFill>
                <a:latin typeface="Calibri"/>
              </a:rPr>
              <a:t>Phonetic Bridge</a:t>
            </a:r>
          </a:p>
        </p:txBody>
      </p:sp>
      <p:sp>
        <p:nvSpPr>
          <p:cNvPr id="7" name="TextBox 6"/>
          <p:cNvSpPr txBox="1"/>
          <p:nvPr/>
        </p:nvSpPr>
        <p:spPr>
          <a:xfrm>
            <a:off x="774192" y="2103120"/>
            <a:ext cx="3200400" cy="228600"/>
          </a:xfrm>
          <a:prstGeom prst="rect">
            <a:avLst/>
          </a:prstGeom>
          <a:noFill/>
        </p:spPr>
        <p:txBody>
          <a:bodyPr wrap="square" anchor="t"/>
          <a:lstStyle/>
          <a:p>
            <a:pPr algn="ctr"/>
            <a:r>
              <a:rPr sz="900" b="0" i="0">
                <a:solidFill>
                  <a:srgbClr val="AAAAAA"/>
                </a:solidFill>
                <a:latin typeface="Calibri"/>
              </a:rPr>
              <a:t>IS 1.29  |  WER 150%  |  Prob 0.55</a:t>
            </a:r>
          </a:p>
        </p:txBody>
      </p:sp>
      <p:sp>
        <p:nvSpPr>
          <p:cNvPr id="8" name="TextBox 7"/>
          <p:cNvSpPr txBox="1"/>
          <p:nvPr/>
        </p:nvSpPr>
        <p:spPr>
          <a:xfrm>
            <a:off x="774192" y="2377440"/>
            <a:ext cx="3200400" cy="182880"/>
          </a:xfrm>
          <a:prstGeom prst="rect">
            <a:avLst/>
          </a:prstGeom>
          <a:noFill/>
        </p:spPr>
        <p:txBody>
          <a:bodyPr wrap="square" anchor="t"/>
          <a:lstStyle/>
          <a:p>
            <a:pPr algn="l"/>
            <a:r>
              <a:rPr sz="900" b="1" i="0">
                <a:solidFill>
                  <a:srgbClr val="AAAAAA"/>
                </a:solidFill>
                <a:latin typeface="Calibri"/>
              </a:rPr>
              <a:t>Reference:</a:t>
            </a:r>
          </a:p>
        </p:txBody>
      </p:sp>
      <p:sp>
        <p:nvSpPr>
          <p:cNvPr id="9" name="TextBox 8"/>
          <p:cNvSpPr txBox="1"/>
          <p:nvPr/>
        </p:nvSpPr>
        <p:spPr>
          <a:xfrm>
            <a:off x="774192" y="2542032"/>
            <a:ext cx="3200400" cy="502920"/>
          </a:xfrm>
          <a:prstGeom prst="rect">
            <a:avLst/>
          </a:prstGeom>
          <a:noFill/>
        </p:spPr>
        <p:txBody>
          <a:bodyPr wrap="square" anchor="t"/>
          <a:lstStyle/>
          <a:p>
            <a:pPr algn="l"/>
            <a:r>
              <a:rPr sz="1000" b="0" i="1">
                <a:solidFill>
                  <a:srgbClr val="FFFFFF"/>
                </a:solidFill>
                <a:latin typeface="Calibri"/>
              </a:rPr>
              <a:t>“when jesus rose again”</a:t>
            </a:r>
          </a:p>
        </p:txBody>
      </p:sp>
      <p:sp>
        <p:nvSpPr>
          <p:cNvPr id="10" name="TextBox 9"/>
          <p:cNvSpPr txBox="1"/>
          <p:nvPr/>
        </p:nvSpPr>
        <p:spPr>
          <a:xfrm>
            <a:off x="774192" y="3108960"/>
            <a:ext cx="3200400" cy="182880"/>
          </a:xfrm>
          <a:prstGeom prst="rect">
            <a:avLst/>
          </a:prstGeom>
          <a:noFill/>
        </p:spPr>
        <p:txBody>
          <a:bodyPr wrap="square" anchor="t"/>
          <a:lstStyle/>
          <a:p>
            <a:pPr algn="l"/>
            <a:r>
              <a:rPr sz="900" b="1" i="0">
                <a:solidFill>
                  <a:srgbClr val="AAAAAA"/>
                </a:solidFill>
                <a:latin typeface="Calibri"/>
              </a:rPr>
              <a:t>Prediction:</a:t>
            </a:r>
          </a:p>
        </p:txBody>
      </p:sp>
      <p:sp>
        <p:nvSpPr>
          <p:cNvPr id="11" name="TextBox 10"/>
          <p:cNvSpPr txBox="1"/>
          <p:nvPr/>
        </p:nvSpPr>
        <p:spPr>
          <a:xfrm>
            <a:off x="774192" y="3273552"/>
            <a:ext cx="3200400" cy="502920"/>
          </a:xfrm>
          <a:prstGeom prst="rect">
            <a:avLst/>
          </a:prstGeom>
          <a:noFill/>
        </p:spPr>
        <p:txBody>
          <a:bodyPr wrap="square" anchor="t"/>
          <a:lstStyle/>
          <a:p>
            <a:pPr algn="l"/>
            <a:r>
              <a:rPr sz="1000" b="0" i="1">
                <a:solidFill>
                  <a:srgbClr val="00B4D8"/>
                </a:solidFill>
                <a:latin typeface="Calibri"/>
              </a:rPr>
              <a:t>“in one sense it’s rose</a:t>
            </a:r>
            <a:br/>
            <a:r>
              <a:rPr sz="1000" b="0" i="1">
                <a:solidFill>
                  <a:srgbClr val="00B4D8"/>
                </a:solidFill>
                <a:latin typeface="Calibri"/>
              </a:rPr>
              <a:t>and kennedy”</a:t>
            </a:r>
          </a:p>
        </p:txBody>
      </p:sp>
      <p:sp>
        <p:nvSpPr>
          <p:cNvPr id="12" name="TextBox 11"/>
          <p:cNvSpPr txBox="1"/>
          <p:nvPr/>
        </p:nvSpPr>
        <p:spPr>
          <a:xfrm>
            <a:off x="774192" y="3886200"/>
            <a:ext cx="3200400" cy="182880"/>
          </a:xfrm>
          <a:prstGeom prst="rect">
            <a:avLst/>
          </a:prstGeom>
          <a:noFill/>
        </p:spPr>
        <p:txBody>
          <a:bodyPr wrap="square" anchor="t"/>
          <a:lstStyle/>
          <a:p>
            <a:pPr algn="l"/>
            <a:r>
              <a:rPr sz="900" b="1" i="0">
                <a:solidFill>
                  <a:srgbClr val="00B4D8"/>
                </a:solidFill>
                <a:latin typeface="Calibri"/>
              </a:rPr>
              <a:t>How a viewer recovers this:</a:t>
            </a:r>
          </a:p>
        </p:txBody>
      </p:sp>
      <p:sp>
        <p:nvSpPr>
          <p:cNvPr id="13" name="TextBox 12"/>
          <p:cNvSpPr txBox="1"/>
          <p:nvPr/>
        </p:nvSpPr>
        <p:spPr>
          <a:xfrm>
            <a:off x="774192" y="4069080"/>
            <a:ext cx="3200400" cy="1645920"/>
          </a:xfrm>
          <a:prstGeom prst="rect">
            <a:avLst/>
          </a:prstGeom>
          <a:noFill/>
        </p:spPr>
        <p:txBody>
          <a:bodyPr wrap="square" anchor="t"/>
          <a:lstStyle/>
          <a:p>
            <a:pPr algn="l"/>
            <a:r>
              <a:rPr sz="950" b="0" i="0">
                <a:solidFill>
                  <a:srgbClr val="FFFFFF"/>
                </a:solidFill>
                <a:latin typeface="Calibri"/>
              </a:rPr>
              <a:t>A wise viewer watching a religious program sees “in one sense it’s rose” and thinks: “this is about Jesus rising — ‘sense it’s’ sounds like ‘Jesus,’ and ‘rose’ = resurrection.” The mouth shapes for “jesus”/“sense it’s” are nearly identical. The overall message is preserved even though exact words differ.</a:t>
            </a:r>
          </a:p>
        </p:txBody>
      </p:sp>
      <p:sp>
        <p:nvSpPr>
          <p:cNvPr id="14" name="Rounded Rectangle 13"/>
          <p:cNvSpPr/>
          <p:nvPr/>
        </p:nvSpPr>
        <p:spPr>
          <a:xfrm>
            <a:off x="4358640" y="1737360"/>
            <a:ext cx="3474720" cy="4206240"/>
          </a:xfrm>
          <a:prstGeom prst="roundRect">
            <a:avLst/>
          </a:prstGeom>
          <a:solidFill>
            <a:srgbClr val="152A40"/>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5800" y="1828800"/>
            <a:ext cx="3200400" cy="274320"/>
          </a:xfrm>
          <a:prstGeom prst="rect">
            <a:avLst/>
          </a:prstGeom>
          <a:noFill/>
        </p:spPr>
        <p:txBody>
          <a:bodyPr wrap="square" anchor="t"/>
          <a:lstStyle/>
          <a:p>
            <a:pPr algn="ctr"/>
            <a:r>
              <a:rPr sz="1400" b="1" i="0">
                <a:solidFill>
                  <a:srgbClr val="4CAF50"/>
                </a:solidFill>
                <a:latin typeface="Calibri"/>
              </a:rPr>
              <a:t>Semantic Preservation</a:t>
            </a:r>
          </a:p>
        </p:txBody>
      </p:sp>
      <p:sp>
        <p:nvSpPr>
          <p:cNvPr id="16" name="TextBox 15"/>
          <p:cNvSpPr txBox="1"/>
          <p:nvPr/>
        </p:nvSpPr>
        <p:spPr>
          <a:xfrm>
            <a:off x="4495800" y="2103120"/>
            <a:ext cx="3200400" cy="228600"/>
          </a:xfrm>
          <a:prstGeom prst="rect">
            <a:avLst/>
          </a:prstGeom>
          <a:noFill/>
        </p:spPr>
        <p:txBody>
          <a:bodyPr wrap="square" anchor="t"/>
          <a:lstStyle/>
          <a:p>
            <a:pPr algn="ctr"/>
            <a:r>
              <a:rPr sz="900" b="0" i="0">
                <a:solidFill>
                  <a:srgbClr val="AAAAAA"/>
                </a:solidFill>
                <a:latin typeface="Calibri"/>
              </a:rPr>
              <a:t>IS 2.18  |  WER 75%  |  Prob 0.90</a:t>
            </a:r>
          </a:p>
        </p:txBody>
      </p:sp>
      <p:sp>
        <p:nvSpPr>
          <p:cNvPr id="17" name="TextBox 16"/>
          <p:cNvSpPr txBox="1"/>
          <p:nvPr/>
        </p:nvSpPr>
        <p:spPr>
          <a:xfrm>
            <a:off x="4495800" y="2377440"/>
            <a:ext cx="3200400" cy="182880"/>
          </a:xfrm>
          <a:prstGeom prst="rect">
            <a:avLst/>
          </a:prstGeom>
          <a:noFill/>
        </p:spPr>
        <p:txBody>
          <a:bodyPr wrap="square" anchor="t"/>
          <a:lstStyle/>
          <a:p>
            <a:pPr algn="l"/>
            <a:r>
              <a:rPr sz="900" b="1" i="0">
                <a:solidFill>
                  <a:srgbClr val="AAAAAA"/>
                </a:solidFill>
                <a:latin typeface="Calibri"/>
              </a:rPr>
              <a:t>Reference:</a:t>
            </a:r>
          </a:p>
        </p:txBody>
      </p:sp>
      <p:sp>
        <p:nvSpPr>
          <p:cNvPr id="18" name="TextBox 17"/>
          <p:cNvSpPr txBox="1"/>
          <p:nvPr/>
        </p:nvSpPr>
        <p:spPr>
          <a:xfrm>
            <a:off x="4495800" y="2542032"/>
            <a:ext cx="3200400" cy="502920"/>
          </a:xfrm>
          <a:prstGeom prst="rect">
            <a:avLst/>
          </a:prstGeom>
          <a:noFill/>
        </p:spPr>
        <p:txBody>
          <a:bodyPr wrap="square" anchor="t"/>
          <a:lstStyle/>
          <a:p>
            <a:pPr algn="l"/>
            <a:r>
              <a:rPr sz="1000" b="0" i="1">
                <a:solidFill>
                  <a:srgbClr val="FFFFFF"/>
                </a:solidFill>
                <a:latin typeface="Calibri"/>
              </a:rPr>
              <a:t>“moving conceptual surface data</a:t>
            </a:r>
            <a:br/>
            <a:r>
              <a:rPr sz="1000" b="0" i="1">
                <a:solidFill>
                  <a:srgbClr val="FFFFFF"/>
                </a:solidFill>
                <a:latin typeface="Calibri"/>
              </a:rPr>
              <a:t>over to engineering solutions</a:t>
            </a:r>
            <a:br/>
            <a:r>
              <a:rPr sz="1000" b="0" i="1">
                <a:solidFill>
                  <a:srgbClr val="FFFFFF"/>
                </a:solidFill>
                <a:latin typeface="Calibri"/>
              </a:rPr>
              <a:t>and tools”</a:t>
            </a:r>
          </a:p>
        </p:txBody>
      </p:sp>
      <p:sp>
        <p:nvSpPr>
          <p:cNvPr id="19" name="TextBox 18"/>
          <p:cNvSpPr txBox="1"/>
          <p:nvPr/>
        </p:nvSpPr>
        <p:spPr>
          <a:xfrm>
            <a:off x="4495800" y="3108960"/>
            <a:ext cx="3200400" cy="182880"/>
          </a:xfrm>
          <a:prstGeom prst="rect">
            <a:avLst/>
          </a:prstGeom>
          <a:noFill/>
        </p:spPr>
        <p:txBody>
          <a:bodyPr wrap="square" anchor="t"/>
          <a:lstStyle/>
          <a:p>
            <a:pPr algn="l"/>
            <a:r>
              <a:rPr sz="900" b="1" i="0">
                <a:solidFill>
                  <a:srgbClr val="AAAAAA"/>
                </a:solidFill>
                <a:latin typeface="Calibri"/>
              </a:rPr>
              <a:t>Prediction:</a:t>
            </a:r>
          </a:p>
        </p:txBody>
      </p:sp>
      <p:sp>
        <p:nvSpPr>
          <p:cNvPr id="20" name="TextBox 19"/>
          <p:cNvSpPr txBox="1"/>
          <p:nvPr/>
        </p:nvSpPr>
        <p:spPr>
          <a:xfrm>
            <a:off x="4495800" y="3273552"/>
            <a:ext cx="3200400" cy="502920"/>
          </a:xfrm>
          <a:prstGeom prst="rect">
            <a:avLst/>
          </a:prstGeom>
          <a:noFill/>
        </p:spPr>
        <p:txBody>
          <a:bodyPr wrap="square" anchor="t"/>
          <a:lstStyle/>
          <a:p>
            <a:pPr algn="l"/>
            <a:r>
              <a:rPr sz="1000" b="0" i="1">
                <a:solidFill>
                  <a:srgbClr val="4CAF50"/>
                </a:solidFill>
                <a:latin typeface="Calibri"/>
              </a:rPr>
              <a:t>“moved the conceptual rules</a:t>
            </a:r>
            <a:br/>
            <a:r>
              <a:rPr sz="1000" b="0" i="1">
                <a:solidFill>
                  <a:srgbClr val="4CAF50"/>
                </a:solidFill>
                <a:latin typeface="Calibri"/>
              </a:rPr>
              <a:t>over to engineering tools”</a:t>
            </a:r>
          </a:p>
        </p:txBody>
      </p:sp>
      <p:sp>
        <p:nvSpPr>
          <p:cNvPr id="21" name="TextBox 20"/>
          <p:cNvSpPr txBox="1"/>
          <p:nvPr/>
        </p:nvSpPr>
        <p:spPr>
          <a:xfrm>
            <a:off x="4495800" y="3886200"/>
            <a:ext cx="3200400" cy="182880"/>
          </a:xfrm>
          <a:prstGeom prst="rect">
            <a:avLst/>
          </a:prstGeom>
          <a:noFill/>
        </p:spPr>
        <p:txBody>
          <a:bodyPr wrap="square" anchor="t"/>
          <a:lstStyle/>
          <a:p>
            <a:pPr algn="l"/>
            <a:r>
              <a:rPr sz="900" b="1" i="0">
                <a:solidFill>
                  <a:srgbClr val="00B4D8"/>
                </a:solidFill>
                <a:latin typeface="Calibri"/>
              </a:rPr>
              <a:t>How a viewer recovers this:</a:t>
            </a:r>
          </a:p>
        </p:txBody>
      </p:sp>
      <p:sp>
        <p:nvSpPr>
          <p:cNvPr id="22" name="TextBox 21"/>
          <p:cNvSpPr txBox="1"/>
          <p:nvPr/>
        </p:nvSpPr>
        <p:spPr>
          <a:xfrm>
            <a:off x="4495800" y="4069080"/>
            <a:ext cx="3200400" cy="1645920"/>
          </a:xfrm>
          <a:prstGeom prst="rect">
            <a:avLst/>
          </a:prstGeom>
          <a:noFill/>
        </p:spPr>
        <p:txBody>
          <a:bodyPr wrap="square" anchor="t"/>
          <a:lstStyle/>
          <a:p>
            <a:pPr algn="l"/>
            <a:r>
              <a:rPr sz="950" b="0" i="0">
                <a:solidFill>
                  <a:srgbClr val="FFFFFF"/>
                </a:solidFill>
                <a:latin typeface="Calibri"/>
              </a:rPr>
              <a:t>Core meaning intact: “moving concepts → engineering tools.” WER is 75% because function words changed, but a tech viewer follows the intent perfectly. WER over-punishes this by counting every small word change.</a:t>
            </a:r>
          </a:p>
        </p:txBody>
      </p:sp>
      <p:sp>
        <p:nvSpPr>
          <p:cNvPr id="23" name="Rounded Rectangle 22"/>
          <p:cNvSpPr/>
          <p:nvPr/>
        </p:nvSpPr>
        <p:spPr>
          <a:xfrm>
            <a:off x="8080248" y="1737360"/>
            <a:ext cx="3474720" cy="4206240"/>
          </a:xfrm>
          <a:prstGeom prst="roundRect">
            <a:avLst/>
          </a:prstGeom>
          <a:solidFill>
            <a:srgbClr val="152A40"/>
          </a:solidFill>
          <a:ln w="25400">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17408" y="1828800"/>
            <a:ext cx="3200400" cy="274320"/>
          </a:xfrm>
          <a:prstGeom prst="rect">
            <a:avLst/>
          </a:prstGeom>
          <a:noFill/>
        </p:spPr>
        <p:txBody>
          <a:bodyPr wrap="square" anchor="t"/>
          <a:lstStyle/>
          <a:p>
            <a:pPr algn="ctr"/>
            <a:r>
              <a:rPr sz="1400" b="1" i="0">
                <a:solidFill>
                  <a:srgbClr val="FFD54F"/>
                </a:solidFill>
                <a:latin typeface="Calibri"/>
              </a:rPr>
              <a:t>Structure Match</a:t>
            </a:r>
          </a:p>
        </p:txBody>
      </p:sp>
      <p:sp>
        <p:nvSpPr>
          <p:cNvPr id="25" name="TextBox 24"/>
          <p:cNvSpPr txBox="1"/>
          <p:nvPr/>
        </p:nvSpPr>
        <p:spPr>
          <a:xfrm>
            <a:off x="8217408" y="2103120"/>
            <a:ext cx="3200400" cy="228600"/>
          </a:xfrm>
          <a:prstGeom prst="rect">
            <a:avLst/>
          </a:prstGeom>
          <a:noFill/>
        </p:spPr>
        <p:txBody>
          <a:bodyPr wrap="square" anchor="t"/>
          <a:lstStyle/>
          <a:p>
            <a:pPr algn="ctr"/>
            <a:r>
              <a:rPr sz="900" b="0" i="0">
                <a:solidFill>
                  <a:srgbClr val="AAAAAA"/>
                </a:solidFill>
                <a:latin typeface="Calibri"/>
              </a:rPr>
              <a:t>IS 2.55  |  WER 40%  |  Prob 0.95</a:t>
            </a:r>
          </a:p>
        </p:txBody>
      </p:sp>
      <p:sp>
        <p:nvSpPr>
          <p:cNvPr id="26" name="TextBox 25"/>
          <p:cNvSpPr txBox="1"/>
          <p:nvPr/>
        </p:nvSpPr>
        <p:spPr>
          <a:xfrm>
            <a:off x="8217408" y="2377440"/>
            <a:ext cx="3200400" cy="182880"/>
          </a:xfrm>
          <a:prstGeom prst="rect">
            <a:avLst/>
          </a:prstGeom>
          <a:noFill/>
        </p:spPr>
        <p:txBody>
          <a:bodyPr wrap="square" anchor="t"/>
          <a:lstStyle/>
          <a:p>
            <a:pPr algn="l"/>
            <a:r>
              <a:rPr sz="900" b="1" i="0">
                <a:solidFill>
                  <a:srgbClr val="AAAAAA"/>
                </a:solidFill>
                <a:latin typeface="Calibri"/>
              </a:rPr>
              <a:t>Reference:</a:t>
            </a:r>
          </a:p>
        </p:txBody>
      </p:sp>
      <p:sp>
        <p:nvSpPr>
          <p:cNvPr id="27" name="TextBox 26"/>
          <p:cNvSpPr txBox="1"/>
          <p:nvPr/>
        </p:nvSpPr>
        <p:spPr>
          <a:xfrm>
            <a:off x="8217408" y="2542032"/>
            <a:ext cx="3200400" cy="502920"/>
          </a:xfrm>
          <a:prstGeom prst="rect">
            <a:avLst/>
          </a:prstGeom>
          <a:noFill/>
        </p:spPr>
        <p:txBody>
          <a:bodyPr wrap="square" anchor="t"/>
          <a:lstStyle/>
          <a:p>
            <a:pPr algn="l"/>
            <a:r>
              <a:rPr sz="1000" b="0" i="1">
                <a:solidFill>
                  <a:srgbClr val="FFFFFF"/>
                </a:solidFill>
                <a:latin typeface="Calibri"/>
              </a:rPr>
              <a:t>“over the last 10 years we have</a:t>
            </a:r>
            <a:br/>
            <a:r>
              <a:rPr sz="1000" b="0" i="1">
                <a:solidFill>
                  <a:srgbClr val="FFFFFF"/>
                </a:solidFill>
                <a:latin typeface="Calibri"/>
              </a:rPr>
              <a:t>had 8,616 students”</a:t>
            </a:r>
          </a:p>
        </p:txBody>
      </p:sp>
      <p:sp>
        <p:nvSpPr>
          <p:cNvPr id="28" name="TextBox 27"/>
          <p:cNvSpPr txBox="1"/>
          <p:nvPr/>
        </p:nvSpPr>
        <p:spPr>
          <a:xfrm>
            <a:off x="8217408" y="3108960"/>
            <a:ext cx="3200400" cy="182880"/>
          </a:xfrm>
          <a:prstGeom prst="rect">
            <a:avLst/>
          </a:prstGeom>
          <a:noFill/>
        </p:spPr>
        <p:txBody>
          <a:bodyPr wrap="square" anchor="t"/>
          <a:lstStyle/>
          <a:p>
            <a:pPr algn="l"/>
            <a:r>
              <a:rPr sz="900" b="1" i="0">
                <a:solidFill>
                  <a:srgbClr val="AAAAAA"/>
                </a:solidFill>
                <a:latin typeface="Calibri"/>
              </a:rPr>
              <a:t>Prediction:</a:t>
            </a:r>
          </a:p>
        </p:txBody>
      </p:sp>
      <p:sp>
        <p:nvSpPr>
          <p:cNvPr id="29" name="TextBox 28"/>
          <p:cNvSpPr txBox="1"/>
          <p:nvPr/>
        </p:nvSpPr>
        <p:spPr>
          <a:xfrm>
            <a:off x="8217408" y="3273552"/>
            <a:ext cx="3200400" cy="502920"/>
          </a:xfrm>
          <a:prstGeom prst="rect">
            <a:avLst/>
          </a:prstGeom>
          <a:noFill/>
        </p:spPr>
        <p:txBody>
          <a:bodyPr wrap="square" anchor="t"/>
          <a:lstStyle/>
          <a:p>
            <a:pPr algn="l"/>
            <a:r>
              <a:rPr sz="1000" b="0" i="1">
                <a:solidFill>
                  <a:srgbClr val="FFD54F"/>
                </a:solidFill>
                <a:latin typeface="Calibri"/>
              </a:rPr>
              <a:t>“over the last 10 years we have</a:t>
            </a:r>
            <a:br/>
            <a:r>
              <a:rPr sz="1000" b="0" i="1">
                <a:solidFill>
                  <a:srgbClr val="FFD54F"/>
                </a:solidFill>
                <a:latin typeface="Calibri"/>
              </a:rPr>
              <a:t>had 1,600 students”</a:t>
            </a:r>
          </a:p>
        </p:txBody>
      </p:sp>
      <p:sp>
        <p:nvSpPr>
          <p:cNvPr id="30" name="TextBox 29"/>
          <p:cNvSpPr txBox="1"/>
          <p:nvPr/>
        </p:nvSpPr>
        <p:spPr>
          <a:xfrm>
            <a:off x="8217408" y="3886200"/>
            <a:ext cx="3200400" cy="182880"/>
          </a:xfrm>
          <a:prstGeom prst="rect">
            <a:avLst/>
          </a:prstGeom>
          <a:noFill/>
        </p:spPr>
        <p:txBody>
          <a:bodyPr wrap="square" anchor="t"/>
          <a:lstStyle/>
          <a:p>
            <a:pPr algn="l"/>
            <a:r>
              <a:rPr sz="900" b="1" i="0">
                <a:solidFill>
                  <a:srgbClr val="00B4D8"/>
                </a:solidFill>
                <a:latin typeface="Calibri"/>
              </a:rPr>
              <a:t>How a viewer recovers this:</a:t>
            </a:r>
          </a:p>
        </p:txBody>
      </p:sp>
      <p:sp>
        <p:nvSpPr>
          <p:cNvPr id="31" name="TextBox 30"/>
          <p:cNvSpPr txBox="1"/>
          <p:nvPr/>
        </p:nvSpPr>
        <p:spPr>
          <a:xfrm>
            <a:off x="8217408" y="4069080"/>
            <a:ext cx="3200400" cy="1645920"/>
          </a:xfrm>
          <a:prstGeom prst="rect">
            <a:avLst/>
          </a:prstGeom>
          <a:noFill/>
        </p:spPr>
        <p:txBody>
          <a:bodyPr wrap="square" anchor="t"/>
          <a:lstStyle/>
          <a:p>
            <a:pPr algn="l"/>
            <a:r>
              <a:rPr sz="950" b="0" i="0">
                <a:solidFill>
                  <a:srgbClr val="FFFFFF"/>
                </a:solidFill>
                <a:latin typeface="Calibri"/>
              </a:rPr>
              <a:t>Grammar and word order are perfect. Only the number changed (8,616 → 1,600). A viewer understands “many students over 10 years” — the structure carries the message even when the exact figure is wrong.</a:t>
            </a:r>
          </a:p>
        </p:txBody>
      </p:sp>
      <p:pic>
        <p:nvPicPr>
          <p:cNvPr id="32" name="Picture 31"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33" name="TextBox 32"/>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25d</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00"/>
                                  <p:tgtEl>
                                    <p:spTgt spid="5"/>
                                  </p:tgtEl>
                                </p:cBhvr>
                              </p:animEffect>
                            </p:childTnLst>
                          </p:cTn>
                        </p:par>
                      </p:childTnLst>
                    </p:cTn>
                  </p:par>
                  <p:par>
                    <p:cTn id="7" fill="hold">
                      <p:stCondLst>
                        <p:cond delay="0"/>
                      </p:stCondLst>
                      <p:childTnLst>
                        <p:par>
                          <p:cTn id="8" fill="hold">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par>
                    <p:cTn id="11" fill="hold">
                      <p:stCondLst>
                        <p:cond delay="0"/>
                      </p:stCondLst>
                      <p:childTnLst>
                        <p:par>
                          <p:cTn id="12" fill="hold">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500"/>
                                  <p:tgtEl>
                                    <p:spTgt spid="2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14" grpId="1"/>
      <p:bldP spid="23" grpId="2"/>
    </p:bld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LLM Salvage: Domain Context Fills the Gaps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20040"/>
          </a:xfrm>
          <a:prstGeom prst="rect">
            <a:avLst/>
          </a:prstGeom>
          <a:noFill/>
        </p:spPr>
        <p:txBody>
          <a:bodyPr wrap="square" anchor="t"/>
          <a:lstStyle/>
          <a:p>
            <a:pPr algn="l"/>
            <a:r>
              <a:rPr sz="1300" b="0" i="1">
                <a:solidFill>
                  <a:srgbClr val="AAAAAA"/>
                </a:solidFill>
                <a:latin typeface="Calibri"/>
              </a:rPr>
              <a:t>A viewer who knows the topic recovers meaning that metrics miss entirely:</a:t>
            </a:r>
          </a:p>
        </p:txBody>
      </p:sp>
      <p:sp>
        <p:nvSpPr>
          <p:cNvPr id="5" name="Rounded Rectangle 4"/>
          <p:cNvSpPr/>
          <p:nvPr/>
        </p:nvSpPr>
        <p:spPr>
          <a:xfrm>
            <a:off x="637032" y="1737360"/>
            <a:ext cx="3474720" cy="420624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4192" y="1828800"/>
            <a:ext cx="3200400" cy="274320"/>
          </a:xfrm>
          <a:prstGeom prst="rect">
            <a:avLst/>
          </a:prstGeom>
          <a:noFill/>
        </p:spPr>
        <p:txBody>
          <a:bodyPr wrap="square" anchor="t"/>
          <a:lstStyle/>
          <a:p>
            <a:pPr algn="ctr"/>
            <a:r>
              <a:rPr sz="1400" b="1" i="0">
                <a:solidFill>
                  <a:srgbClr val="E06C75"/>
                </a:solidFill>
                <a:latin typeface="Calibri"/>
              </a:rPr>
              <a:t>Religious Context</a:t>
            </a:r>
          </a:p>
        </p:txBody>
      </p:sp>
      <p:sp>
        <p:nvSpPr>
          <p:cNvPr id="7" name="TextBox 6"/>
          <p:cNvSpPr txBox="1"/>
          <p:nvPr/>
        </p:nvSpPr>
        <p:spPr>
          <a:xfrm>
            <a:off x="774192" y="2103120"/>
            <a:ext cx="3200400" cy="228600"/>
          </a:xfrm>
          <a:prstGeom prst="rect">
            <a:avLst/>
          </a:prstGeom>
          <a:noFill/>
        </p:spPr>
        <p:txBody>
          <a:bodyPr wrap="square" anchor="t"/>
          <a:lstStyle/>
          <a:p>
            <a:pPr algn="ctr"/>
            <a:r>
              <a:rPr sz="900" b="0" i="0">
                <a:solidFill>
                  <a:srgbClr val="AAAAAA"/>
                </a:solidFill>
                <a:latin typeface="Calibri"/>
              </a:rPr>
              <a:t>IS 2.75  |  WER 43%  |  Prob 0.90</a:t>
            </a:r>
          </a:p>
        </p:txBody>
      </p:sp>
      <p:sp>
        <p:nvSpPr>
          <p:cNvPr id="8" name="TextBox 7"/>
          <p:cNvSpPr txBox="1"/>
          <p:nvPr/>
        </p:nvSpPr>
        <p:spPr>
          <a:xfrm>
            <a:off x="774192" y="2377440"/>
            <a:ext cx="3200400" cy="182880"/>
          </a:xfrm>
          <a:prstGeom prst="rect">
            <a:avLst/>
          </a:prstGeom>
          <a:noFill/>
        </p:spPr>
        <p:txBody>
          <a:bodyPr wrap="square" anchor="t"/>
          <a:lstStyle/>
          <a:p>
            <a:pPr algn="l"/>
            <a:r>
              <a:rPr sz="900" b="1" i="0">
                <a:solidFill>
                  <a:srgbClr val="AAAAAA"/>
                </a:solidFill>
                <a:latin typeface="Calibri"/>
              </a:rPr>
              <a:t>Reference:</a:t>
            </a:r>
          </a:p>
        </p:txBody>
      </p:sp>
      <p:sp>
        <p:nvSpPr>
          <p:cNvPr id="9" name="TextBox 8"/>
          <p:cNvSpPr txBox="1"/>
          <p:nvPr/>
        </p:nvSpPr>
        <p:spPr>
          <a:xfrm>
            <a:off x="774192" y="2542032"/>
            <a:ext cx="3200400" cy="502920"/>
          </a:xfrm>
          <a:prstGeom prst="rect">
            <a:avLst/>
          </a:prstGeom>
          <a:noFill/>
        </p:spPr>
        <p:txBody>
          <a:bodyPr wrap="square" anchor="t"/>
          <a:lstStyle/>
          <a:p>
            <a:pPr algn="l"/>
            <a:r>
              <a:rPr sz="1000" b="0" i="1">
                <a:solidFill>
                  <a:srgbClr val="FFFFFF"/>
                </a:solidFill>
                <a:latin typeface="Calibri"/>
              </a:rPr>
              <a:t>“the fear of allah is completely</a:t>
            </a:r>
            <a:br/>
            <a:r>
              <a:rPr sz="1000" b="0" i="1">
                <a:solidFill>
                  <a:srgbClr val="FFFFFF"/>
                </a:solidFill>
                <a:latin typeface="Calibri"/>
              </a:rPr>
              <a:t>gone … no more fear of the</a:t>
            </a:r>
            <a:br/>
            <a:r>
              <a:rPr sz="1000" b="0" i="1">
                <a:solidFill>
                  <a:srgbClr val="FFFFFF"/>
                </a:solidFill>
                <a:latin typeface="Calibri"/>
              </a:rPr>
              <a:t>unseen what a horrible spiritual”</a:t>
            </a:r>
          </a:p>
        </p:txBody>
      </p:sp>
      <p:sp>
        <p:nvSpPr>
          <p:cNvPr id="10" name="TextBox 9"/>
          <p:cNvSpPr txBox="1"/>
          <p:nvPr/>
        </p:nvSpPr>
        <p:spPr>
          <a:xfrm>
            <a:off x="774192" y="3108960"/>
            <a:ext cx="3200400" cy="182880"/>
          </a:xfrm>
          <a:prstGeom prst="rect">
            <a:avLst/>
          </a:prstGeom>
          <a:noFill/>
        </p:spPr>
        <p:txBody>
          <a:bodyPr wrap="square" anchor="t"/>
          <a:lstStyle/>
          <a:p>
            <a:pPr algn="l"/>
            <a:r>
              <a:rPr sz="900" b="1" i="0">
                <a:solidFill>
                  <a:srgbClr val="AAAAAA"/>
                </a:solidFill>
                <a:latin typeface="Calibri"/>
              </a:rPr>
              <a:t>Prediction:</a:t>
            </a:r>
          </a:p>
        </p:txBody>
      </p:sp>
      <p:sp>
        <p:nvSpPr>
          <p:cNvPr id="11" name="TextBox 10"/>
          <p:cNvSpPr txBox="1"/>
          <p:nvPr/>
        </p:nvSpPr>
        <p:spPr>
          <a:xfrm>
            <a:off x="774192" y="3273552"/>
            <a:ext cx="3200400" cy="502920"/>
          </a:xfrm>
          <a:prstGeom prst="rect">
            <a:avLst/>
          </a:prstGeom>
          <a:noFill/>
        </p:spPr>
        <p:txBody>
          <a:bodyPr wrap="square" anchor="t"/>
          <a:lstStyle/>
          <a:p>
            <a:pPr algn="l"/>
            <a:r>
              <a:rPr sz="1000" b="0" i="1">
                <a:solidFill>
                  <a:srgbClr val="E06C75"/>
                </a:solidFill>
                <a:latin typeface="Calibri"/>
              </a:rPr>
              <a:t>“the fear of the loss complete</a:t>
            </a:r>
            <a:br/>
            <a:r>
              <a:rPr sz="1000" b="0" i="1">
                <a:solidFill>
                  <a:srgbClr val="E06C75"/>
                </a:solidFill>
                <a:latin typeface="Calibri"/>
              </a:rPr>
              <a:t>… no more fear of loss</a:t>
            </a:r>
            <a:br/>
            <a:r>
              <a:rPr sz="1000" b="0" i="1">
                <a:solidFill>
                  <a:srgbClr val="E06C75"/>
                </a:solidFill>
                <a:latin typeface="Calibri"/>
              </a:rPr>
              <a:t>what a horrible spiritual”</a:t>
            </a:r>
          </a:p>
        </p:txBody>
      </p:sp>
      <p:sp>
        <p:nvSpPr>
          <p:cNvPr id="12" name="TextBox 11"/>
          <p:cNvSpPr txBox="1"/>
          <p:nvPr/>
        </p:nvSpPr>
        <p:spPr>
          <a:xfrm>
            <a:off x="774192" y="3886200"/>
            <a:ext cx="3200400" cy="182880"/>
          </a:xfrm>
          <a:prstGeom prst="rect">
            <a:avLst/>
          </a:prstGeom>
          <a:noFill/>
        </p:spPr>
        <p:txBody>
          <a:bodyPr wrap="square" anchor="t"/>
          <a:lstStyle/>
          <a:p>
            <a:pPr algn="l"/>
            <a:r>
              <a:rPr sz="900" b="1" i="0">
                <a:solidFill>
                  <a:srgbClr val="00B4D8"/>
                </a:solidFill>
                <a:latin typeface="Calibri"/>
              </a:rPr>
              <a:t>How a wise viewer recovers this:</a:t>
            </a:r>
          </a:p>
        </p:txBody>
      </p:sp>
      <p:sp>
        <p:nvSpPr>
          <p:cNvPr id="13" name="TextBox 12"/>
          <p:cNvSpPr txBox="1"/>
          <p:nvPr/>
        </p:nvSpPr>
        <p:spPr>
          <a:xfrm>
            <a:off x="774192" y="4069080"/>
            <a:ext cx="3200400" cy="1645920"/>
          </a:xfrm>
          <a:prstGeom prst="rect">
            <a:avLst/>
          </a:prstGeom>
          <a:noFill/>
        </p:spPr>
        <p:txBody>
          <a:bodyPr wrap="square" anchor="t"/>
          <a:lstStyle/>
          <a:p>
            <a:pPr algn="l"/>
            <a:r>
              <a:rPr sz="950" b="0" i="0">
                <a:solidFill>
                  <a:srgbClr val="FFFFFF"/>
                </a:solidFill>
                <a:latin typeface="Calibri"/>
              </a:rPr>
              <a:t>A viewer watching a religious sermon recognizes “fear of the loss” = “fear of Allah.” The structure (“no more fear … horrible spiritual”) is intact. “Allah” → “loss” and “unseen” → “death” are phonetic confusions, but the sermon’s theme of spiritual fear carries through.</a:t>
            </a:r>
          </a:p>
        </p:txBody>
      </p:sp>
      <p:sp>
        <p:nvSpPr>
          <p:cNvPr id="14" name="Rounded Rectangle 13"/>
          <p:cNvSpPr/>
          <p:nvPr/>
        </p:nvSpPr>
        <p:spPr>
          <a:xfrm>
            <a:off x="4358640" y="1737360"/>
            <a:ext cx="3474720" cy="420624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5800" y="1828800"/>
            <a:ext cx="3200400" cy="274320"/>
          </a:xfrm>
          <a:prstGeom prst="rect">
            <a:avLst/>
          </a:prstGeom>
          <a:noFill/>
        </p:spPr>
        <p:txBody>
          <a:bodyPr wrap="square" anchor="t"/>
          <a:lstStyle/>
          <a:p>
            <a:pPr algn="ctr"/>
            <a:r>
              <a:rPr sz="1400" b="1" i="0">
                <a:solidFill>
                  <a:srgbClr val="00B4D8"/>
                </a:solidFill>
                <a:latin typeface="Calibri"/>
              </a:rPr>
              <a:t>Geopolitical Context</a:t>
            </a:r>
          </a:p>
        </p:txBody>
      </p:sp>
      <p:sp>
        <p:nvSpPr>
          <p:cNvPr id="16" name="TextBox 15"/>
          <p:cNvSpPr txBox="1"/>
          <p:nvPr/>
        </p:nvSpPr>
        <p:spPr>
          <a:xfrm>
            <a:off x="4495800" y="2103120"/>
            <a:ext cx="3200400" cy="228600"/>
          </a:xfrm>
          <a:prstGeom prst="rect">
            <a:avLst/>
          </a:prstGeom>
          <a:noFill/>
        </p:spPr>
        <p:txBody>
          <a:bodyPr wrap="square" anchor="t"/>
          <a:lstStyle/>
          <a:p>
            <a:pPr algn="ctr"/>
            <a:r>
              <a:rPr sz="900" b="0" i="0">
                <a:solidFill>
                  <a:srgbClr val="AAAAAA"/>
                </a:solidFill>
                <a:latin typeface="Calibri"/>
              </a:rPr>
              <a:t>IS 2.86  |  WER 72%  |  Prob 0.90</a:t>
            </a:r>
          </a:p>
        </p:txBody>
      </p:sp>
      <p:sp>
        <p:nvSpPr>
          <p:cNvPr id="17" name="TextBox 16"/>
          <p:cNvSpPr txBox="1"/>
          <p:nvPr/>
        </p:nvSpPr>
        <p:spPr>
          <a:xfrm>
            <a:off x="4495800" y="2377440"/>
            <a:ext cx="3200400" cy="182880"/>
          </a:xfrm>
          <a:prstGeom prst="rect">
            <a:avLst/>
          </a:prstGeom>
          <a:noFill/>
        </p:spPr>
        <p:txBody>
          <a:bodyPr wrap="square" anchor="t"/>
          <a:lstStyle/>
          <a:p>
            <a:pPr algn="l"/>
            <a:r>
              <a:rPr sz="900" b="1" i="0">
                <a:solidFill>
                  <a:srgbClr val="AAAAAA"/>
                </a:solidFill>
                <a:latin typeface="Calibri"/>
              </a:rPr>
              <a:t>Reference:</a:t>
            </a:r>
          </a:p>
        </p:txBody>
      </p:sp>
      <p:sp>
        <p:nvSpPr>
          <p:cNvPr id="18" name="TextBox 17"/>
          <p:cNvSpPr txBox="1"/>
          <p:nvPr/>
        </p:nvSpPr>
        <p:spPr>
          <a:xfrm>
            <a:off x="4495800" y="2542032"/>
            <a:ext cx="3200400" cy="502920"/>
          </a:xfrm>
          <a:prstGeom prst="rect">
            <a:avLst/>
          </a:prstGeom>
          <a:noFill/>
        </p:spPr>
        <p:txBody>
          <a:bodyPr wrap="square" anchor="t"/>
          <a:lstStyle/>
          <a:p>
            <a:pPr algn="l"/>
            <a:r>
              <a:rPr sz="1000" b="0" i="1">
                <a:solidFill>
                  <a:srgbClr val="FFFFFF"/>
                </a:solidFill>
                <a:latin typeface="Calibri"/>
              </a:rPr>
              <a:t>“india china afghanistan all</a:t>
            </a:r>
            <a:br/>
            <a:r>
              <a:rPr sz="1000" b="0" i="1">
                <a:solidFill>
                  <a:srgbClr val="FFFFFF"/>
                </a:solidFill>
                <a:latin typeface="Calibri"/>
              </a:rPr>
              <a:t>these different places … so</a:t>
            </a:r>
            <a:br/>
            <a:r>
              <a:rPr sz="1000" b="0" i="1">
                <a:solidFill>
                  <a:srgbClr val="FFFFFF"/>
                </a:solidFill>
                <a:latin typeface="Calibri"/>
              </a:rPr>
              <a:t>both sides would benefit”</a:t>
            </a:r>
          </a:p>
        </p:txBody>
      </p:sp>
      <p:sp>
        <p:nvSpPr>
          <p:cNvPr id="19" name="TextBox 18"/>
          <p:cNvSpPr txBox="1"/>
          <p:nvPr/>
        </p:nvSpPr>
        <p:spPr>
          <a:xfrm>
            <a:off x="4495800" y="3108960"/>
            <a:ext cx="3200400" cy="182880"/>
          </a:xfrm>
          <a:prstGeom prst="rect">
            <a:avLst/>
          </a:prstGeom>
          <a:noFill/>
        </p:spPr>
        <p:txBody>
          <a:bodyPr wrap="square" anchor="t"/>
          <a:lstStyle/>
          <a:p>
            <a:pPr algn="l"/>
            <a:r>
              <a:rPr sz="900" b="1" i="0">
                <a:solidFill>
                  <a:srgbClr val="AAAAAA"/>
                </a:solidFill>
                <a:latin typeface="Calibri"/>
              </a:rPr>
              <a:t>Prediction:</a:t>
            </a:r>
          </a:p>
        </p:txBody>
      </p:sp>
      <p:sp>
        <p:nvSpPr>
          <p:cNvPr id="20" name="TextBox 19"/>
          <p:cNvSpPr txBox="1"/>
          <p:nvPr/>
        </p:nvSpPr>
        <p:spPr>
          <a:xfrm>
            <a:off x="4495800" y="3273552"/>
            <a:ext cx="3200400" cy="502920"/>
          </a:xfrm>
          <a:prstGeom prst="rect">
            <a:avLst/>
          </a:prstGeom>
          <a:noFill/>
        </p:spPr>
        <p:txBody>
          <a:bodyPr wrap="square" anchor="t"/>
          <a:lstStyle/>
          <a:p>
            <a:pPr algn="l"/>
            <a:r>
              <a:rPr sz="1000" b="0" i="1">
                <a:solidFill>
                  <a:srgbClr val="00B4D8"/>
                </a:solidFill>
                <a:latin typeface="Calibri"/>
              </a:rPr>
              <a:t>“middle east and afghanistan</a:t>
            </a:r>
            <a:br/>
            <a:r>
              <a:rPr sz="1000" b="0" i="1">
                <a:solidFill>
                  <a:srgbClr val="00B4D8"/>
                </a:solidFill>
                <a:latin typeface="Calibri"/>
              </a:rPr>
              <a:t>all these different warring</a:t>
            </a:r>
            <a:br/>
            <a:r>
              <a:rPr sz="1000" b="0" i="1">
                <a:solidFill>
                  <a:srgbClr val="00B4D8"/>
                </a:solidFill>
                <a:latin typeface="Calibri"/>
              </a:rPr>
              <a:t>places … both sides will benefit”</a:t>
            </a:r>
          </a:p>
        </p:txBody>
      </p:sp>
      <p:sp>
        <p:nvSpPr>
          <p:cNvPr id="21" name="TextBox 20"/>
          <p:cNvSpPr txBox="1"/>
          <p:nvPr/>
        </p:nvSpPr>
        <p:spPr>
          <a:xfrm>
            <a:off x="4495800" y="3886200"/>
            <a:ext cx="3200400" cy="182880"/>
          </a:xfrm>
          <a:prstGeom prst="rect">
            <a:avLst/>
          </a:prstGeom>
          <a:noFill/>
        </p:spPr>
        <p:txBody>
          <a:bodyPr wrap="square" anchor="t"/>
          <a:lstStyle/>
          <a:p>
            <a:pPr algn="l"/>
            <a:r>
              <a:rPr sz="900" b="1" i="0">
                <a:solidFill>
                  <a:srgbClr val="00B4D8"/>
                </a:solidFill>
                <a:latin typeface="Calibri"/>
              </a:rPr>
              <a:t>How a wise viewer recovers this:</a:t>
            </a:r>
          </a:p>
        </p:txBody>
      </p:sp>
      <p:sp>
        <p:nvSpPr>
          <p:cNvPr id="22" name="TextBox 21"/>
          <p:cNvSpPr txBox="1"/>
          <p:nvPr/>
        </p:nvSpPr>
        <p:spPr>
          <a:xfrm>
            <a:off x="4495800" y="4069080"/>
            <a:ext cx="3200400" cy="1645920"/>
          </a:xfrm>
          <a:prstGeom prst="rect">
            <a:avLst/>
          </a:prstGeom>
          <a:noFill/>
        </p:spPr>
        <p:txBody>
          <a:bodyPr wrap="square" anchor="t"/>
          <a:lstStyle/>
          <a:p>
            <a:pPr algn="l"/>
            <a:r>
              <a:rPr sz="950" b="0" i="0">
                <a:solidFill>
                  <a:srgbClr val="FFFFFF"/>
                </a:solidFill>
                <a:latin typeface="Calibri"/>
              </a:rPr>
              <a:t>WER is 72% because country names changed, but the argument is identical: “distant foreign regions → both sides benefit.” A news viewer grasps the geopolitical point instantly. “India China” → “Middle East” is a domain swap, not a meaning loss.</a:t>
            </a:r>
          </a:p>
        </p:txBody>
      </p:sp>
      <p:sp>
        <p:nvSpPr>
          <p:cNvPr id="23" name="Rounded Rectangle 22"/>
          <p:cNvSpPr/>
          <p:nvPr/>
        </p:nvSpPr>
        <p:spPr>
          <a:xfrm>
            <a:off x="8080248" y="1737360"/>
            <a:ext cx="3474720" cy="4206240"/>
          </a:xfrm>
          <a:prstGeom prst="roundRect">
            <a:avLst/>
          </a:prstGeom>
          <a:solidFill>
            <a:srgbClr val="152A40"/>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17408" y="1828800"/>
            <a:ext cx="3200400" cy="274320"/>
          </a:xfrm>
          <a:prstGeom prst="rect">
            <a:avLst/>
          </a:prstGeom>
          <a:noFill/>
        </p:spPr>
        <p:txBody>
          <a:bodyPr wrap="square" anchor="t"/>
          <a:lstStyle/>
          <a:p>
            <a:pPr algn="ctr"/>
            <a:r>
              <a:rPr sz="1400" b="1" i="0">
                <a:solidFill>
                  <a:srgbClr val="4CAF50"/>
                </a:solidFill>
                <a:latin typeface="Calibri"/>
              </a:rPr>
              <a:t>Cooking Context</a:t>
            </a:r>
          </a:p>
        </p:txBody>
      </p:sp>
      <p:sp>
        <p:nvSpPr>
          <p:cNvPr id="25" name="TextBox 24"/>
          <p:cNvSpPr txBox="1"/>
          <p:nvPr/>
        </p:nvSpPr>
        <p:spPr>
          <a:xfrm>
            <a:off x="8217408" y="2103120"/>
            <a:ext cx="3200400" cy="228600"/>
          </a:xfrm>
          <a:prstGeom prst="rect">
            <a:avLst/>
          </a:prstGeom>
          <a:noFill/>
        </p:spPr>
        <p:txBody>
          <a:bodyPr wrap="square" anchor="t"/>
          <a:lstStyle/>
          <a:p>
            <a:pPr algn="ctr"/>
            <a:r>
              <a:rPr sz="900" b="0" i="0">
                <a:solidFill>
                  <a:srgbClr val="AAAAAA"/>
                </a:solidFill>
                <a:latin typeface="Calibri"/>
              </a:rPr>
              <a:t>IS 2.07  |  WER 89%  |  Prob 0.80</a:t>
            </a:r>
          </a:p>
        </p:txBody>
      </p:sp>
      <p:sp>
        <p:nvSpPr>
          <p:cNvPr id="26" name="TextBox 25"/>
          <p:cNvSpPr txBox="1"/>
          <p:nvPr/>
        </p:nvSpPr>
        <p:spPr>
          <a:xfrm>
            <a:off x="8217408" y="2377440"/>
            <a:ext cx="3200400" cy="182880"/>
          </a:xfrm>
          <a:prstGeom prst="rect">
            <a:avLst/>
          </a:prstGeom>
          <a:noFill/>
        </p:spPr>
        <p:txBody>
          <a:bodyPr wrap="square" anchor="t"/>
          <a:lstStyle/>
          <a:p>
            <a:pPr algn="l"/>
            <a:r>
              <a:rPr sz="900" b="1" i="0">
                <a:solidFill>
                  <a:srgbClr val="AAAAAA"/>
                </a:solidFill>
                <a:latin typeface="Calibri"/>
              </a:rPr>
              <a:t>Reference:</a:t>
            </a:r>
          </a:p>
        </p:txBody>
      </p:sp>
      <p:sp>
        <p:nvSpPr>
          <p:cNvPr id="27" name="TextBox 26"/>
          <p:cNvSpPr txBox="1"/>
          <p:nvPr/>
        </p:nvSpPr>
        <p:spPr>
          <a:xfrm>
            <a:off x="8217408" y="2542032"/>
            <a:ext cx="3200400" cy="502920"/>
          </a:xfrm>
          <a:prstGeom prst="rect">
            <a:avLst/>
          </a:prstGeom>
          <a:noFill/>
        </p:spPr>
        <p:txBody>
          <a:bodyPr wrap="square" anchor="t"/>
          <a:lstStyle/>
          <a:p>
            <a:pPr algn="l"/>
            <a:r>
              <a:rPr sz="1000" b="0" i="1">
                <a:solidFill>
                  <a:srgbClr val="FFFFFF"/>
                </a:solidFill>
                <a:latin typeface="Calibri"/>
              </a:rPr>
              <a:t>“i have a tablespoon of</a:t>
            </a:r>
            <a:br/>
            <a:r>
              <a:rPr sz="1000" b="0" i="1">
                <a:solidFill>
                  <a:srgbClr val="FFFFFF"/>
                </a:solidFill>
                <a:latin typeface="Calibri"/>
              </a:rPr>
              <a:t>jalapeno fresh jalapeno”</a:t>
            </a:r>
          </a:p>
        </p:txBody>
      </p:sp>
      <p:sp>
        <p:nvSpPr>
          <p:cNvPr id="28" name="TextBox 27"/>
          <p:cNvSpPr txBox="1"/>
          <p:nvPr/>
        </p:nvSpPr>
        <p:spPr>
          <a:xfrm>
            <a:off x="8217408" y="3108960"/>
            <a:ext cx="3200400" cy="182880"/>
          </a:xfrm>
          <a:prstGeom prst="rect">
            <a:avLst/>
          </a:prstGeom>
          <a:noFill/>
        </p:spPr>
        <p:txBody>
          <a:bodyPr wrap="square" anchor="t"/>
          <a:lstStyle/>
          <a:p>
            <a:pPr algn="l"/>
            <a:r>
              <a:rPr sz="900" b="1" i="0">
                <a:solidFill>
                  <a:srgbClr val="AAAAAA"/>
                </a:solidFill>
                <a:latin typeface="Calibri"/>
              </a:rPr>
              <a:t>Prediction:</a:t>
            </a:r>
          </a:p>
        </p:txBody>
      </p:sp>
      <p:sp>
        <p:nvSpPr>
          <p:cNvPr id="29" name="TextBox 28"/>
          <p:cNvSpPr txBox="1"/>
          <p:nvPr/>
        </p:nvSpPr>
        <p:spPr>
          <a:xfrm>
            <a:off x="8217408" y="3273552"/>
            <a:ext cx="3200400" cy="502920"/>
          </a:xfrm>
          <a:prstGeom prst="rect">
            <a:avLst/>
          </a:prstGeom>
          <a:noFill/>
        </p:spPr>
        <p:txBody>
          <a:bodyPr wrap="square" anchor="t"/>
          <a:lstStyle/>
          <a:p>
            <a:pPr algn="l"/>
            <a:r>
              <a:rPr sz="1000" b="0" i="1">
                <a:solidFill>
                  <a:srgbClr val="4CAF50"/>
                </a:solidFill>
                <a:latin typeface="Calibri"/>
              </a:rPr>
              <a:t>“i have a dietary smoothie</a:t>
            </a:r>
            <a:br/>
            <a:r>
              <a:rPr sz="1000" b="0" i="1">
                <a:solidFill>
                  <a:srgbClr val="4CAF50"/>
                </a:solidFill>
                <a:latin typeface="Calibri"/>
              </a:rPr>
              <a:t>i’ve got the banana called</a:t>
            </a:r>
            <a:br/>
            <a:r>
              <a:rPr sz="1000" b="0" i="1">
                <a:solidFill>
                  <a:srgbClr val="4CAF50"/>
                </a:solidFill>
                <a:latin typeface="Calibri"/>
              </a:rPr>
              <a:t>fresh banana”</a:t>
            </a:r>
          </a:p>
        </p:txBody>
      </p:sp>
      <p:sp>
        <p:nvSpPr>
          <p:cNvPr id="30" name="TextBox 29"/>
          <p:cNvSpPr txBox="1"/>
          <p:nvPr/>
        </p:nvSpPr>
        <p:spPr>
          <a:xfrm>
            <a:off x="8217408" y="3886200"/>
            <a:ext cx="3200400" cy="182880"/>
          </a:xfrm>
          <a:prstGeom prst="rect">
            <a:avLst/>
          </a:prstGeom>
          <a:noFill/>
        </p:spPr>
        <p:txBody>
          <a:bodyPr wrap="square" anchor="t"/>
          <a:lstStyle/>
          <a:p>
            <a:pPr algn="l"/>
            <a:r>
              <a:rPr sz="900" b="1" i="0">
                <a:solidFill>
                  <a:srgbClr val="00B4D8"/>
                </a:solidFill>
                <a:latin typeface="Calibri"/>
              </a:rPr>
              <a:t>How a wise viewer recovers this:</a:t>
            </a:r>
          </a:p>
        </p:txBody>
      </p:sp>
      <p:sp>
        <p:nvSpPr>
          <p:cNvPr id="31" name="TextBox 30"/>
          <p:cNvSpPr txBox="1"/>
          <p:nvPr/>
        </p:nvSpPr>
        <p:spPr>
          <a:xfrm>
            <a:off x="8217408" y="4069080"/>
            <a:ext cx="3200400" cy="1645920"/>
          </a:xfrm>
          <a:prstGeom prst="rect">
            <a:avLst/>
          </a:prstGeom>
          <a:noFill/>
        </p:spPr>
        <p:txBody>
          <a:bodyPr wrap="square" anchor="t"/>
          <a:lstStyle/>
          <a:p>
            <a:pPr algn="l"/>
            <a:r>
              <a:rPr sz="950" b="0" i="0">
                <a:solidFill>
                  <a:srgbClr val="FFFFFF"/>
                </a:solidFill>
                <a:latin typeface="Calibri"/>
              </a:rPr>
              <a:t>IS rates this a near-total failure (2.07). But a viewer watching a cooking video sees the presenter holding a pepper and saying “fresh banana.” The visual context instantly overrides the garbled audio — the viewer knows it’s a jalapeno. WER is blind to multimodal cues.</a:t>
            </a:r>
          </a:p>
        </p:txBody>
      </p:sp>
      <p:pic>
        <p:nvPicPr>
          <p:cNvPr id="32" name="Picture 31"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33" name="TextBox 32"/>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25e</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00"/>
                                  <p:tgtEl>
                                    <p:spTgt spid="5"/>
                                  </p:tgtEl>
                                </p:cBhvr>
                              </p:animEffect>
                            </p:childTnLst>
                          </p:cTn>
                        </p:par>
                      </p:childTnLst>
                    </p:cTn>
                  </p:par>
                  <p:par>
                    <p:cTn id="7" fill="hold">
                      <p:stCondLst>
                        <p:cond delay="0"/>
                      </p:stCondLst>
                      <p:childTnLst>
                        <p:par>
                          <p:cTn id="8" fill="hold">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par>
                    <p:cTn id="11" fill="hold">
                      <p:stCondLst>
                        <p:cond delay="0"/>
                      </p:stCondLst>
                      <p:childTnLst>
                        <p:par>
                          <p:cTn id="12" fill="hold">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500"/>
                                  <p:tgtEl>
                                    <p:spTgt spid="2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14" grpId="1"/>
      <p:bldP spid="23" grpId="2"/>
    </p:bld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How Salvage Detection Works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320040"/>
          </a:xfrm>
          <a:prstGeom prst="rect">
            <a:avLst/>
          </a:prstGeom>
          <a:noFill/>
        </p:spPr>
        <p:txBody>
          <a:bodyPr wrap="square" anchor="t"/>
          <a:lstStyle/>
          <a:p>
            <a:pPr algn="l"/>
            <a:r>
              <a:rPr sz="1800" b="1" i="0">
                <a:solidFill>
                  <a:srgbClr val="00B4D8"/>
                </a:solidFill>
                <a:latin typeface="Calibri"/>
              </a:rPr>
              <a:t>Deterministic Decision Tree</a:t>
            </a:r>
          </a:p>
        </p:txBody>
      </p:sp>
      <p:sp>
        <p:nvSpPr>
          <p:cNvPr id="5" name="TextBox 4"/>
          <p:cNvSpPr txBox="1"/>
          <p:nvPr/>
        </p:nvSpPr>
        <p:spPr>
          <a:xfrm>
            <a:off x="640080" y="1737360"/>
            <a:ext cx="1645920" cy="274320"/>
          </a:xfrm>
          <a:prstGeom prst="rect">
            <a:avLst/>
          </a:prstGeom>
          <a:noFill/>
        </p:spPr>
        <p:txBody>
          <a:bodyPr wrap="square" anchor="t"/>
          <a:lstStyle/>
          <a:p>
            <a:pPr algn="l"/>
            <a:r>
              <a:rPr sz="1300" b="1" i="0">
                <a:solidFill>
                  <a:srgbClr val="00B4D8"/>
                </a:solidFill>
                <a:latin typeface="Calibri"/>
              </a:rPr>
              <a:t>1. Input</a:t>
            </a:r>
          </a:p>
        </p:txBody>
      </p:sp>
      <p:sp>
        <p:nvSpPr>
          <p:cNvPr id="6" name="TextBox 5"/>
          <p:cNvSpPr txBox="1"/>
          <p:nvPr/>
        </p:nvSpPr>
        <p:spPr>
          <a:xfrm>
            <a:off x="2377440" y="1737360"/>
            <a:ext cx="3108960" cy="457200"/>
          </a:xfrm>
          <a:prstGeom prst="rect">
            <a:avLst/>
          </a:prstGeom>
          <a:noFill/>
        </p:spPr>
        <p:txBody>
          <a:bodyPr wrap="square" anchor="t"/>
          <a:lstStyle/>
          <a:p>
            <a:pPr algn="l"/>
            <a:r>
              <a:rPr sz="1100" b="0" i="0">
                <a:solidFill>
                  <a:srgbClr val="AAAAAA"/>
                </a:solidFill>
                <a:latin typeface="Calibri"/>
              </a:rPr>
              <a:t>Reference + hypothesis text pair</a:t>
            </a:r>
          </a:p>
        </p:txBody>
      </p:sp>
      <p:sp>
        <p:nvSpPr>
          <p:cNvPr id="7" name="TextBox 6"/>
          <p:cNvSpPr txBox="1"/>
          <p:nvPr/>
        </p:nvSpPr>
        <p:spPr>
          <a:xfrm>
            <a:off x="640080" y="2331720"/>
            <a:ext cx="1645920" cy="274320"/>
          </a:xfrm>
          <a:prstGeom prst="rect">
            <a:avLst/>
          </a:prstGeom>
          <a:noFill/>
        </p:spPr>
        <p:txBody>
          <a:bodyPr wrap="square" anchor="t"/>
          <a:lstStyle/>
          <a:p>
            <a:pPr algn="l"/>
            <a:r>
              <a:rPr sz="1300" b="1" i="0">
                <a:solidFill>
                  <a:srgbClr val="FFFFFF"/>
                </a:solidFill>
                <a:latin typeface="Calibri"/>
              </a:rPr>
              <a:t>2. Compute 6 signals</a:t>
            </a:r>
          </a:p>
        </p:txBody>
      </p:sp>
      <p:sp>
        <p:nvSpPr>
          <p:cNvPr id="8" name="TextBox 7"/>
          <p:cNvSpPr txBox="1"/>
          <p:nvPr/>
        </p:nvSpPr>
        <p:spPr>
          <a:xfrm>
            <a:off x="2377440" y="2331720"/>
            <a:ext cx="3108960" cy="457200"/>
          </a:xfrm>
          <a:prstGeom prst="rect">
            <a:avLst/>
          </a:prstGeom>
          <a:noFill/>
        </p:spPr>
        <p:txBody>
          <a:bodyPr wrap="square" anchor="t"/>
          <a:lstStyle/>
          <a:p>
            <a:pPr algn="l"/>
            <a:r>
              <a:rPr sz="1100" b="0" i="0">
                <a:solidFill>
                  <a:srgbClr val="AAAAAA"/>
                </a:solidFill>
                <a:latin typeface="Calibri"/>
              </a:rPr>
              <a:t>Word overlap, sequence order, phonetic similarity,</a:t>
            </a:r>
            <a:br/>
            <a:r>
              <a:rPr sz="1100" b="0" i="0">
                <a:solidFill>
                  <a:srgbClr val="AAAAAA"/>
                </a:solidFill>
                <a:latin typeface="Calibri"/>
              </a:rPr>
              <a:t>semantic embedding, entity preservation, length ratio</a:t>
            </a:r>
          </a:p>
        </p:txBody>
      </p:sp>
      <p:sp>
        <p:nvSpPr>
          <p:cNvPr id="9" name="TextBox 8"/>
          <p:cNvSpPr txBox="1"/>
          <p:nvPr/>
        </p:nvSpPr>
        <p:spPr>
          <a:xfrm>
            <a:off x="640080" y="2926080"/>
            <a:ext cx="1645920" cy="274320"/>
          </a:xfrm>
          <a:prstGeom prst="rect">
            <a:avLst/>
          </a:prstGeom>
          <a:noFill/>
        </p:spPr>
        <p:txBody>
          <a:bodyPr wrap="square" anchor="t"/>
          <a:lstStyle/>
          <a:p>
            <a:pPr algn="l"/>
            <a:r>
              <a:rPr sz="1300" b="1" i="0">
                <a:solidFill>
                  <a:srgbClr val="FFFFFF"/>
                </a:solidFill>
                <a:latin typeface="Calibri"/>
              </a:rPr>
              <a:t>3. Apply 15 rules</a:t>
            </a:r>
          </a:p>
        </p:txBody>
      </p:sp>
      <p:sp>
        <p:nvSpPr>
          <p:cNvPr id="10" name="TextBox 9"/>
          <p:cNvSpPr txBox="1"/>
          <p:nvPr/>
        </p:nvSpPr>
        <p:spPr>
          <a:xfrm>
            <a:off x="2377440" y="2926080"/>
            <a:ext cx="3108960" cy="457200"/>
          </a:xfrm>
          <a:prstGeom prst="rect">
            <a:avLst/>
          </a:prstGeom>
          <a:noFill/>
        </p:spPr>
        <p:txBody>
          <a:bodyPr wrap="square" anchor="t"/>
          <a:lstStyle/>
          <a:p>
            <a:pPr algn="l"/>
            <a:r>
              <a:rPr sz="1100" b="0" i="0">
                <a:solidFill>
                  <a:srgbClr val="AAAAAA"/>
                </a:solidFill>
                <a:latin typeface="Calibri"/>
              </a:rPr>
              <a:t>Decision tree checks signals in priority order,</a:t>
            </a:r>
            <a:br/>
            <a:r>
              <a:rPr sz="1100" b="0" i="0">
                <a:solidFill>
                  <a:srgbClr val="AAAAAA"/>
                </a:solidFill>
                <a:latin typeface="Calibri"/>
              </a:rPr>
              <a:t>assigns one of 15 probability leaf nodes (0.0 – 1.0)</a:t>
            </a:r>
          </a:p>
        </p:txBody>
      </p:sp>
      <p:sp>
        <p:nvSpPr>
          <p:cNvPr id="11" name="TextBox 10"/>
          <p:cNvSpPr txBox="1"/>
          <p:nvPr/>
        </p:nvSpPr>
        <p:spPr>
          <a:xfrm>
            <a:off x="640080" y="3520440"/>
            <a:ext cx="1645920" cy="274320"/>
          </a:xfrm>
          <a:prstGeom prst="rect">
            <a:avLst/>
          </a:prstGeom>
          <a:noFill/>
        </p:spPr>
        <p:txBody>
          <a:bodyPr wrap="square" anchor="t"/>
          <a:lstStyle/>
          <a:p>
            <a:pPr algn="l"/>
            <a:r>
              <a:rPr sz="1300" b="1" i="0">
                <a:solidFill>
                  <a:srgbClr val="FFFFFF"/>
                </a:solidFill>
                <a:latin typeface="Calibri"/>
              </a:rPr>
              <a:t>4. Threshold at 0.5</a:t>
            </a:r>
          </a:p>
        </p:txBody>
      </p:sp>
      <p:sp>
        <p:nvSpPr>
          <p:cNvPr id="12" name="TextBox 11"/>
          <p:cNvSpPr txBox="1"/>
          <p:nvPr/>
        </p:nvSpPr>
        <p:spPr>
          <a:xfrm>
            <a:off x="2377440" y="3520440"/>
            <a:ext cx="3108960" cy="457200"/>
          </a:xfrm>
          <a:prstGeom prst="rect">
            <a:avLst/>
          </a:prstGeom>
          <a:noFill/>
        </p:spPr>
        <p:txBody>
          <a:bodyPr wrap="square" anchor="t"/>
          <a:lstStyle/>
          <a:p>
            <a:pPr algn="l"/>
            <a:r>
              <a:rPr sz="1100" b="0" i="0">
                <a:solidFill>
                  <a:srgbClr val="AAAAAA"/>
                </a:solidFill>
                <a:latin typeface="Calibri"/>
              </a:rPr>
              <a:t>Probability ≥ 0.5 = recoverable</a:t>
            </a:r>
            <a:br/>
            <a:r>
              <a:rPr sz="1100" b="0" i="0">
                <a:solidFill>
                  <a:srgbClr val="AAAAAA"/>
                </a:solidFill>
                <a:latin typeface="Calibri"/>
              </a:rPr>
              <a:t>Probability &lt; 0.5 = likely unrecoverable</a:t>
            </a:r>
          </a:p>
        </p:txBody>
      </p:sp>
      <p:sp>
        <p:nvSpPr>
          <p:cNvPr id="13" name="TextBox 12"/>
          <p:cNvSpPr txBox="1"/>
          <p:nvPr/>
        </p:nvSpPr>
        <p:spPr>
          <a:xfrm>
            <a:off x="640080" y="4114800"/>
            <a:ext cx="1645920" cy="274320"/>
          </a:xfrm>
          <a:prstGeom prst="rect">
            <a:avLst/>
          </a:prstGeom>
          <a:noFill/>
        </p:spPr>
        <p:txBody>
          <a:bodyPr wrap="square" anchor="t"/>
          <a:lstStyle/>
          <a:p>
            <a:pPr algn="l"/>
            <a:r>
              <a:rPr sz="1300" b="1" i="0">
                <a:solidFill>
                  <a:srgbClr val="4CAF50"/>
                </a:solidFill>
                <a:latin typeface="Calibri"/>
              </a:rPr>
              <a:t>5. Classify</a:t>
            </a:r>
          </a:p>
        </p:txBody>
      </p:sp>
      <p:sp>
        <p:nvSpPr>
          <p:cNvPr id="14" name="TextBox 13"/>
          <p:cNvSpPr txBox="1"/>
          <p:nvPr/>
        </p:nvSpPr>
        <p:spPr>
          <a:xfrm>
            <a:off x="2377440" y="4114800"/>
            <a:ext cx="3108960" cy="457200"/>
          </a:xfrm>
          <a:prstGeom prst="rect">
            <a:avLst/>
          </a:prstGeom>
          <a:noFill/>
        </p:spPr>
        <p:txBody>
          <a:bodyPr wrap="square" anchor="t"/>
          <a:lstStyle/>
          <a:p>
            <a:pPr algn="l"/>
            <a:r>
              <a:rPr sz="1100" b="0" i="0">
                <a:solidFill>
                  <a:srgbClr val="AAAAAA"/>
                </a:solidFill>
                <a:latin typeface="Calibri"/>
              </a:rPr>
              <a:t>Map to 6 recovery categories based on</a:t>
            </a:r>
            <a:br/>
            <a:r>
              <a:rPr sz="1100" b="0" i="0">
                <a:solidFill>
                  <a:srgbClr val="AAAAAA"/>
                </a:solidFill>
                <a:latin typeface="Calibri"/>
              </a:rPr>
              <a:t>which signals triggered the high probability</a:t>
            </a:r>
          </a:p>
        </p:txBody>
      </p:sp>
      <p:sp>
        <p:nvSpPr>
          <p:cNvPr id="15" name="TextBox 14"/>
          <p:cNvSpPr txBox="1"/>
          <p:nvPr/>
        </p:nvSpPr>
        <p:spPr>
          <a:xfrm>
            <a:off x="6611111" y="1325880"/>
            <a:ext cx="5029200" cy="320040"/>
          </a:xfrm>
          <a:prstGeom prst="rect">
            <a:avLst/>
          </a:prstGeom>
          <a:noFill/>
        </p:spPr>
        <p:txBody>
          <a:bodyPr wrap="square" anchor="t"/>
          <a:lstStyle/>
          <a:p>
            <a:pPr algn="l"/>
            <a:r>
              <a:rPr sz="1800" b="1" i="0">
                <a:solidFill>
                  <a:srgbClr val="4CAF50"/>
                </a:solidFill>
                <a:latin typeface="Calibri"/>
              </a:rPr>
              <a:t>Validation</a:t>
            </a:r>
          </a:p>
        </p:txBody>
      </p:sp>
      <p:graphicFrame>
        <p:nvGraphicFramePr>
          <p:cNvPr id="16" name="Table 15"/>
          <p:cNvGraphicFramePr>
            <a:graphicFrameLocks noGrp="1"/>
          </p:cNvGraphicFramePr>
          <p:nvPr/>
        </p:nvGraphicFramePr>
        <p:xfrm>
          <a:off x="6611111" y="1783080"/>
          <a:ext cx="5029200" cy="2194560"/>
        </p:xfrm>
        <a:graphic>
          <a:graphicData uri="http://schemas.openxmlformats.org/drawingml/2006/table">
            <a:tbl>
              <a:tblPr firstRow="0" bandRow="0" lastRow="0" bandCol="0">
                <a:tableStyleId>{5C22544A-7EE6-4342-B048-85BDC9FD1C3A}</a:tableStyleId>
              </a:tblPr>
              <a:tblGrid>
                <a:gridCol w="2560320"/>
                <a:gridCol w="2468880"/>
              </a:tblGrid>
              <a:tr h="365760">
                <a:tc>
                  <a:txBody>
                    <a:bodyPr/>
                    <a:lstStyle/>
                    <a:p>
                      <a:pPr algn="ctr"/>
                      <a:r>
                        <a:rPr sz="1200" b="1" i="0">
                          <a:solidFill>
                            <a:srgbClr val="FFFFFF"/>
                          </a:solidFill>
                          <a:latin typeface="Calibri"/>
                        </a:rPr>
                        <a:t>Metric</a:t>
                      </a:r>
                    </a:p>
                  </a:txBody>
                  <a:tcPr>
                    <a:solidFill>
                      <a:srgbClr val="00b4d8"/>
                    </a:solidFill>
                  </a:tcPr>
                </a:tc>
                <a:tc>
                  <a:txBody>
                    <a:bodyPr/>
                    <a:lstStyle/>
                    <a:p>
                      <a:pPr algn="ctr"/>
                      <a:r>
                        <a:rPr sz="1200" b="1" i="0">
                          <a:solidFill>
                            <a:srgbClr val="FFFFFF"/>
                          </a:solidFill>
                          <a:latin typeface="Calibri"/>
                        </a:rPr>
                        <a:t>Value</a:t>
                      </a:r>
                    </a:p>
                  </a:txBody>
                  <a:tcPr>
                    <a:solidFill>
                      <a:srgbClr val="00b4d8"/>
                    </a:solidFill>
                  </a:tcPr>
                </a:tc>
              </a:tr>
              <a:tr h="365760">
                <a:tc>
                  <a:txBody>
                    <a:bodyPr/>
                    <a:lstStyle/>
                    <a:p>
                      <a:pPr algn="l"/>
                      <a:r>
                        <a:rPr sz="1200" b="0" i="0">
                          <a:solidFill>
                            <a:srgbClr val="FFFFFF"/>
                          </a:solidFill>
                          <a:latin typeface="Calibri"/>
                        </a:rPr>
                        <a:t>Correlation with IS</a:t>
                      </a:r>
                    </a:p>
                  </a:txBody>
                  <a:tcPr>
                    <a:solidFill>
                      <a:srgbClr val="0d1b2a"/>
                    </a:solidFill>
                  </a:tcPr>
                </a:tc>
                <a:tc>
                  <a:txBody>
                    <a:bodyPr/>
                    <a:lstStyle/>
                    <a:p>
                      <a:pPr algn="l"/>
                      <a:r>
                        <a:rPr sz="1200" b="0" i="0">
                          <a:solidFill>
                            <a:srgbClr val="FFFFFF"/>
                          </a:solidFill>
                          <a:latin typeface="Calibri"/>
                        </a:rPr>
                        <a:t>r = 0.934</a:t>
                      </a:r>
                    </a:p>
                  </a:txBody>
                  <a:tcPr>
                    <a:solidFill>
                      <a:srgbClr val="0d1b2a"/>
                    </a:solidFill>
                  </a:tcPr>
                </a:tc>
              </a:tr>
              <a:tr h="365760">
                <a:tc>
                  <a:txBody>
                    <a:bodyPr/>
                    <a:lstStyle/>
                    <a:p>
                      <a:pPr algn="l"/>
                      <a:r>
                        <a:rPr sz="1200" b="0" i="0">
                          <a:solidFill>
                            <a:srgbClr val="FFFFFF"/>
                          </a:solidFill>
                          <a:latin typeface="Calibri"/>
                        </a:rPr>
                        <a:t>Agreement (IS ≥ 3.0)</a:t>
                      </a:r>
                    </a:p>
                  </a:txBody>
                  <a:tcPr>
                    <a:solidFill>
                      <a:srgbClr val="152a40"/>
                    </a:solidFill>
                  </a:tcPr>
                </a:tc>
                <a:tc>
                  <a:txBody>
                    <a:bodyPr/>
                    <a:lstStyle/>
                    <a:p>
                      <a:pPr algn="l"/>
                      <a:r>
                        <a:rPr sz="1200" b="0" i="0">
                          <a:solidFill>
                            <a:srgbClr val="FFFFFF"/>
                          </a:solidFill>
                          <a:latin typeface="Calibri"/>
                        </a:rPr>
                        <a:t>88.6%</a:t>
                      </a:r>
                    </a:p>
                  </a:txBody>
                  <a:tcPr>
                    <a:solidFill>
                      <a:srgbClr val="152a40"/>
                    </a:solidFill>
                  </a:tcPr>
                </a:tc>
              </a:tr>
              <a:tr h="365760">
                <a:tc>
                  <a:txBody>
                    <a:bodyPr/>
                    <a:lstStyle/>
                    <a:p>
                      <a:pPr algn="l"/>
                      <a:r>
                        <a:rPr sz="1200" b="0" i="0">
                          <a:solidFill>
                            <a:srgbClr val="FFFFFF"/>
                          </a:solidFill>
                          <a:latin typeface="Calibri"/>
                        </a:rPr>
                        <a:t>Cohen’s κ</a:t>
                      </a:r>
                    </a:p>
                  </a:txBody>
                  <a:tcPr>
                    <a:solidFill>
                      <a:srgbClr val="0d1b2a"/>
                    </a:solidFill>
                  </a:tcPr>
                </a:tc>
                <a:tc>
                  <a:txBody>
                    <a:bodyPr/>
                    <a:lstStyle/>
                    <a:p>
                      <a:pPr algn="l"/>
                      <a:r>
                        <a:rPr sz="1200" b="0" i="0">
                          <a:solidFill>
                            <a:srgbClr val="FFFFFF"/>
                          </a:solidFill>
                          <a:latin typeface="Calibri"/>
                        </a:rPr>
                        <a:t>0.773 (substantial)</a:t>
                      </a:r>
                    </a:p>
                  </a:txBody>
                  <a:tcPr>
                    <a:solidFill>
                      <a:srgbClr val="0d1b2a"/>
                    </a:solidFill>
                  </a:tcPr>
                </a:tc>
              </a:tr>
              <a:tr h="365760">
                <a:tc>
                  <a:txBody>
                    <a:bodyPr/>
                    <a:lstStyle/>
                    <a:p>
                      <a:pPr algn="l"/>
                      <a:r>
                        <a:rPr sz="1200" b="0" i="0">
                          <a:solidFill>
                            <a:srgbClr val="FFFFFF"/>
                          </a:solidFill>
                          <a:latin typeface="Calibri"/>
                        </a:rPr>
                        <a:t>Recall</a:t>
                      </a:r>
                    </a:p>
                  </a:txBody>
                  <a:tcPr>
                    <a:solidFill>
                      <a:srgbClr val="152a40"/>
                    </a:solidFill>
                  </a:tcPr>
                </a:tc>
                <a:tc>
                  <a:txBody>
                    <a:bodyPr/>
                    <a:lstStyle/>
                    <a:p>
                      <a:pPr algn="l"/>
                      <a:r>
                        <a:rPr sz="1200" b="0" i="0">
                          <a:solidFill>
                            <a:srgbClr val="FFFFFF"/>
                          </a:solidFill>
                          <a:latin typeface="Calibri"/>
                        </a:rPr>
                        <a:t>99.2%</a:t>
                      </a:r>
                    </a:p>
                  </a:txBody>
                  <a:tcPr>
                    <a:solidFill>
                      <a:srgbClr val="152a40"/>
                    </a:solidFill>
                  </a:tcPr>
                </a:tc>
              </a:tr>
              <a:tr h="365760">
                <a:tc>
                  <a:txBody>
                    <a:bodyPr/>
                    <a:lstStyle/>
                    <a:p>
                      <a:pPr algn="l"/>
                      <a:r>
                        <a:rPr sz="1200" b="0" i="0">
                          <a:solidFill>
                            <a:srgbClr val="FFFFFF"/>
                          </a:solidFill>
                          <a:latin typeface="Calibri"/>
                        </a:rPr>
                        <a:t>Cross-config stability</a:t>
                      </a:r>
                    </a:p>
                  </a:txBody>
                  <a:tcPr>
                    <a:solidFill>
                      <a:srgbClr val="0d1b2a"/>
                    </a:solidFill>
                  </a:tcPr>
                </a:tc>
                <a:tc>
                  <a:txBody>
                    <a:bodyPr/>
                    <a:lstStyle/>
                    <a:p>
                      <a:pPr algn="l"/>
                      <a:r>
                        <a:rPr sz="1200" b="0" i="0">
                          <a:solidFill>
                            <a:srgbClr val="FFFFFF"/>
                          </a:solidFill>
                          <a:latin typeface="Calibri"/>
                        </a:rPr>
                        <a:t>r = 0.925 ± 0.015</a:t>
                      </a:r>
                    </a:p>
                  </a:txBody>
                  <a:tcPr>
                    <a:solidFill>
                      <a:srgbClr val="0d1b2a"/>
                    </a:solidFill>
                  </a:tcPr>
                </a:tc>
              </a:tr>
            </a:tbl>
          </a:graphicData>
        </a:graphic>
      </p:graphicFrame>
      <p:sp>
        <p:nvSpPr>
          <p:cNvPr id="17" name="TextBox 16"/>
          <p:cNvSpPr txBox="1"/>
          <p:nvPr/>
        </p:nvSpPr>
        <p:spPr>
          <a:xfrm>
            <a:off x="6611111" y="4160520"/>
            <a:ext cx="5029200" cy="1371600"/>
          </a:xfrm>
          <a:prstGeom prst="rect">
            <a:avLst/>
          </a:prstGeom>
          <a:noFill/>
        </p:spPr>
        <p:txBody>
          <a:bodyPr wrap="square">
            <a:spAutoFit/>
          </a:bodyPr>
          <a:lstStyle/>
          <a:p>
            <a:pPr algn="l">
              <a:spcAft>
                <a:spcPts val="600"/>
              </a:spcAft>
            </a:pPr>
            <a:r>
              <a:rPr sz="1300" b="1">
                <a:solidFill>
                  <a:srgbClr val="00B4D8"/>
                </a:solidFill>
                <a:latin typeface="Calibri"/>
              </a:rPr>
              <a:t>• </a:t>
            </a:r>
            <a:r>
              <a:rPr sz="1300" b="0">
                <a:solidFill>
                  <a:srgbClr val="FFFFFF"/>
                </a:solidFill>
                <a:latin typeface="Calibri"/>
              </a:rPr>
              <a:t>Stable across all 16 decode configurations</a:t>
            </a:r>
          </a:p>
          <a:p>
            <a:pPr algn="l">
              <a:spcAft>
                <a:spcPts val="600"/>
              </a:spcAft>
            </a:pPr>
            <a:r>
              <a:rPr sz="1300" b="1">
                <a:solidFill>
                  <a:srgbClr val="00B4D8"/>
                </a:solidFill>
                <a:latin typeface="Calibri"/>
              </a:rPr>
              <a:t>• </a:t>
            </a:r>
            <a:r>
              <a:rPr sz="1300" b="0">
                <a:solidFill>
                  <a:srgbClr val="FFFFFF"/>
                </a:solidFill>
                <a:latin typeface="Calibri"/>
              </a:rPr>
              <a:t>Catches 99.2% of IS ≥ 3.0 segments</a:t>
            </a:r>
          </a:p>
          <a:p>
            <a:pPr algn="l">
              <a:spcAft>
                <a:spcPts val="600"/>
              </a:spcAft>
            </a:pPr>
            <a:r>
              <a:rPr sz="1300" b="1">
                <a:solidFill>
                  <a:srgbClr val="00B4D8"/>
                </a:solidFill>
                <a:latin typeface="Calibri"/>
              </a:rPr>
              <a:t>• </a:t>
            </a:r>
            <a:r>
              <a:rPr sz="1300" b="1">
                <a:solidFill>
                  <a:srgbClr val="FFFFFF"/>
                </a:solidFill>
                <a:latin typeface="Calibri"/>
              </a:rPr>
              <a:t>Zero cost: pure Python, no LLM calls at runtime</a:t>
            </a:r>
          </a:p>
        </p:txBody>
      </p:sp>
      <p:sp>
        <p:nvSpPr>
          <p:cNvPr id="18" name="TextBox 17"/>
          <p:cNvSpPr txBox="1"/>
          <p:nvPr/>
        </p:nvSpPr>
        <p:spPr>
          <a:xfrm>
            <a:off x="548640" y="5806440"/>
            <a:ext cx="11091672" cy="365760"/>
          </a:xfrm>
          <a:prstGeom prst="rect">
            <a:avLst/>
          </a:prstGeom>
          <a:noFill/>
        </p:spPr>
        <p:txBody>
          <a:bodyPr wrap="square" anchor="t"/>
          <a:lstStyle/>
          <a:p>
            <a:pPr algn="ctr"/>
            <a:r>
              <a:rPr sz="1300" b="0" i="1">
                <a:solidFill>
                  <a:srgbClr val="AAAAAA"/>
                </a:solidFill>
                <a:latin typeface="Calibri"/>
              </a:rPr>
              <a:t>The decision tree was designed at development time, then distilled into deterministic Python. No LLM is called during evaluation.</a:t>
            </a:r>
          </a:p>
        </p:txBody>
      </p:sp>
      <p:pic>
        <p:nvPicPr>
          <p:cNvPr id="19" name="Picture 18"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20" name="TextBox 19"/>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25c</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00"/>
                                  <p:tgtEl>
                                    <p:spTgt spid="5"/>
                                  </p:tgtEl>
                                </p:cBhvr>
                              </p:animEffect>
                            </p:childTnLst>
                          </p:cTn>
                        </p:par>
                        <p:par>
                          <p:cTn id="7" fill="hold">
                            <p:stCondLst>
                              <p:cond delay="12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500"/>
                                  <p:tgtEl>
                                    <p:spTgt spid="7"/>
                                  </p:tgtEl>
                                </p:cBhvr>
                              </p:animEffect>
                            </p:childTnLst>
                          </p:cTn>
                        </p:par>
                        <p:par>
                          <p:cTn id="10" fill="hold">
                            <p:stCondLst>
                              <p:cond delay="24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fill="hold">
                            <p:stCondLst>
                              <p:cond delay="36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fill="hold">
                            <p:stCondLst>
                              <p:cond delay="48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par>
                    <p:cTn id="19" fill="hold">
                      <p:stCondLst>
                        <p:cond delay="0"/>
                      </p:stCondLst>
                      <p:childTnLst>
                        <p:par>
                          <p:cTn id="20" fill="hold">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1" grpId="0"/>
      <p:bldP spid="13" grpId="0"/>
      <p:bldP spid="16" grpId="0"/>
    </p:bld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What Good Looks Like: IS Tier 5</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20040"/>
          </a:xfrm>
          <a:prstGeom prst="rect">
            <a:avLst/>
          </a:prstGeom>
          <a:noFill/>
        </p:spPr>
        <p:txBody>
          <a:bodyPr wrap="square" anchor="t"/>
          <a:lstStyle/>
          <a:p>
            <a:pPr algn="l"/>
            <a:r>
              <a:rPr sz="1500" b="0" i="0">
                <a:solidFill>
                  <a:srgbClr val="AAAAAA"/>
                </a:solidFill>
                <a:latin typeface="Calibri"/>
              </a:rPr>
              <a:t>276 segments (18.4%) score IS ≥ 4.0 — Excellent quality:</a:t>
            </a:r>
          </a:p>
        </p:txBody>
      </p:sp>
      <p:graphicFrame>
        <p:nvGraphicFramePr>
          <p:cNvPr id="5" name="Table 4"/>
          <p:cNvGraphicFramePr>
            <a:graphicFrameLocks noGrp="1"/>
          </p:cNvGraphicFramePr>
          <p:nvPr/>
        </p:nvGraphicFramePr>
        <p:xfrm>
          <a:off x="548640" y="1783080"/>
          <a:ext cx="9692640" cy="2377440"/>
        </p:xfrm>
        <a:graphic>
          <a:graphicData uri="http://schemas.openxmlformats.org/drawingml/2006/table">
            <a:tbl>
              <a:tblPr firstRow="0" bandRow="0" lastRow="0" bandCol="0">
                <a:tableStyleId>{5C22544A-7EE6-4342-B048-85BDC9FD1C3A}</a:tableStyleId>
              </a:tblPr>
              <a:tblGrid>
                <a:gridCol w="4114800"/>
                <a:gridCol w="4114800"/>
                <a:gridCol w="731520"/>
                <a:gridCol w="731520"/>
              </a:tblGrid>
              <a:tr h="594360">
                <a:tc>
                  <a:txBody>
                    <a:bodyPr/>
                    <a:lstStyle/>
                    <a:p>
                      <a:pPr algn="ctr"/>
                      <a:r>
                        <a:rPr sz="1100" b="1" i="0">
                          <a:solidFill>
                            <a:srgbClr val="FFFFFF"/>
                          </a:solidFill>
                          <a:latin typeface="Calibri"/>
                        </a:rPr>
                        <a:t>Reference</a:t>
                      </a:r>
                    </a:p>
                  </a:txBody>
                  <a:tcPr>
                    <a:solidFill>
                      <a:srgbClr val="00b4d8"/>
                    </a:solidFill>
                  </a:tcPr>
                </a:tc>
                <a:tc>
                  <a:txBody>
                    <a:bodyPr/>
                    <a:lstStyle/>
                    <a:p>
                      <a:pPr algn="ctr"/>
                      <a:r>
                        <a:rPr sz="1100" b="1" i="0">
                          <a:solidFill>
                            <a:srgbClr val="FFFFFF"/>
                          </a:solidFill>
                          <a:latin typeface="Calibri"/>
                        </a:rPr>
                        <a:t>Hypothesis</a:t>
                      </a:r>
                    </a:p>
                  </a:txBody>
                  <a:tcPr>
                    <a:solidFill>
                      <a:srgbClr val="00b4d8"/>
                    </a:solidFill>
                  </a:tcPr>
                </a:tc>
                <a:tc>
                  <a:txBody>
                    <a:bodyPr/>
                    <a:lstStyle/>
                    <a:p>
                      <a:pPr algn="ctr"/>
                      <a:r>
                        <a:rPr sz="1100" b="1" i="0">
                          <a:solidFill>
                            <a:srgbClr val="FFFFFF"/>
                          </a:solidFill>
                          <a:latin typeface="Calibri"/>
                        </a:rPr>
                        <a:t>WER</a:t>
                      </a:r>
                    </a:p>
                  </a:txBody>
                  <a:tcPr>
                    <a:solidFill>
                      <a:srgbClr val="00b4d8"/>
                    </a:solidFill>
                  </a:tcPr>
                </a:tc>
                <a:tc>
                  <a:txBody>
                    <a:bodyPr/>
                    <a:lstStyle/>
                    <a:p>
                      <a:pPr algn="ctr"/>
                      <a:r>
                        <a:rPr sz="1100" b="1" i="0">
                          <a:solidFill>
                            <a:srgbClr val="FFFFFF"/>
                          </a:solidFill>
                          <a:latin typeface="Calibri"/>
                        </a:rPr>
                        <a:t>IS</a:t>
                      </a:r>
                    </a:p>
                  </a:txBody>
                  <a:tcPr>
                    <a:solidFill>
                      <a:srgbClr val="00b4d8"/>
                    </a:solidFill>
                  </a:tcPr>
                </a:tc>
              </a:tr>
              <a:tr h="594360">
                <a:tc>
                  <a:txBody>
                    <a:bodyPr/>
                    <a:lstStyle/>
                    <a:p>
                      <a:pPr algn="l"/>
                      <a:r>
                        <a:rPr sz="1100" b="0" i="0">
                          <a:solidFill>
                            <a:srgbClr val="FFFFFF"/>
                          </a:solidFill>
                          <a:latin typeface="Calibri"/>
                        </a:rPr>
                        <a:t>health insurance company they pay for all the medications they pay for all your visits</a:t>
                      </a:r>
                    </a:p>
                  </a:txBody>
                  <a:tcPr>
                    <a:solidFill>
                      <a:srgbClr val="0d1b2a"/>
                    </a:solidFill>
                  </a:tcPr>
                </a:tc>
                <a:tc>
                  <a:txBody>
                    <a:bodyPr/>
                    <a:lstStyle/>
                    <a:p>
                      <a:pPr algn="l"/>
                      <a:r>
                        <a:rPr sz="1100" b="0" i="0">
                          <a:solidFill>
                            <a:srgbClr val="FFFFFF"/>
                          </a:solidFill>
                          <a:latin typeface="Calibri"/>
                        </a:rPr>
                        <a:t>[exact match]</a:t>
                      </a:r>
                    </a:p>
                  </a:txBody>
                  <a:tcPr>
                    <a:solidFill>
                      <a:srgbClr val="0d1b2a"/>
                    </a:solidFill>
                  </a:tcPr>
                </a:tc>
                <a:tc>
                  <a:txBody>
                    <a:bodyPr/>
                    <a:lstStyle/>
                    <a:p>
                      <a:pPr algn="l"/>
                      <a:r>
                        <a:rPr sz="1100" b="0" i="0">
                          <a:solidFill>
                            <a:srgbClr val="FFFFFF"/>
                          </a:solidFill>
                          <a:latin typeface="Calibri"/>
                        </a:rPr>
                        <a:t>0%</a:t>
                      </a:r>
                    </a:p>
                  </a:txBody>
                  <a:tcPr>
                    <a:solidFill>
                      <a:srgbClr val="0d1b2a"/>
                    </a:solidFill>
                  </a:tcPr>
                </a:tc>
                <a:tc>
                  <a:txBody>
                    <a:bodyPr/>
                    <a:lstStyle/>
                    <a:p>
                      <a:pPr algn="l"/>
                      <a:r>
                        <a:rPr sz="1100" b="0" i="0">
                          <a:solidFill>
                            <a:srgbClr val="4CAF50"/>
                          </a:solidFill>
                          <a:latin typeface="Calibri"/>
                        </a:rPr>
                        <a:t>5.0</a:t>
                      </a:r>
                    </a:p>
                  </a:txBody>
                  <a:tcPr>
                    <a:solidFill>
                      <a:srgbClr val="0d1b2a"/>
                    </a:solidFill>
                  </a:tcPr>
                </a:tc>
              </a:tr>
              <a:tr h="594360">
                <a:tc>
                  <a:txBody>
                    <a:bodyPr/>
                    <a:lstStyle/>
                    <a:p>
                      <a:pPr algn="l"/>
                      <a:r>
                        <a:rPr sz="1100" b="0" i="0">
                          <a:solidFill>
                            <a:srgbClr val="FFFFFF"/>
                          </a:solidFill>
                          <a:latin typeface="Calibri"/>
                        </a:rPr>
                        <a:t>so here we have a different example and in this case the buyer wants to buy one and get one free</a:t>
                      </a:r>
                    </a:p>
                  </a:txBody>
                  <a:tcPr>
                    <a:solidFill>
                      <a:srgbClr val="152a40"/>
                    </a:solidFill>
                  </a:tcPr>
                </a:tc>
                <a:tc>
                  <a:txBody>
                    <a:bodyPr/>
                    <a:lstStyle/>
                    <a:p>
                      <a:pPr algn="l"/>
                      <a:r>
                        <a:rPr sz="1100" b="0" i="0">
                          <a:solidFill>
                            <a:srgbClr val="FFFFFF"/>
                          </a:solidFill>
                          <a:latin typeface="Calibri"/>
                        </a:rPr>
                        <a:t>so here we have a different example and in this case the buyer wants to buy one and get one free</a:t>
                      </a:r>
                    </a:p>
                  </a:txBody>
                  <a:tcPr>
                    <a:solidFill>
                      <a:srgbClr val="152a40"/>
                    </a:solidFill>
                  </a:tcPr>
                </a:tc>
                <a:tc>
                  <a:txBody>
                    <a:bodyPr/>
                    <a:lstStyle/>
                    <a:p>
                      <a:pPr algn="l"/>
                      <a:r>
                        <a:rPr sz="1100" b="0" i="0">
                          <a:solidFill>
                            <a:srgbClr val="FFFFFF"/>
                          </a:solidFill>
                          <a:latin typeface="Calibri"/>
                        </a:rPr>
                        <a:t>0%</a:t>
                      </a:r>
                    </a:p>
                  </a:txBody>
                  <a:tcPr>
                    <a:solidFill>
                      <a:srgbClr val="152a40"/>
                    </a:solidFill>
                  </a:tcPr>
                </a:tc>
                <a:tc>
                  <a:txBody>
                    <a:bodyPr/>
                    <a:lstStyle/>
                    <a:p>
                      <a:pPr algn="l"/>
                      <a:r>
                        <a:rPr sz="1100" b="0" i="0">
                          <a:solidFill>
                            <a:srgbClr val="4CAF50"/>
                          </a:solidFill>
                          <a:latin typeface="Calibri"/>
                        </a:rPr>
                        <a:t>5.0</a:t>
                      </a:r>
                    </a:p>
                  </a:txBody>
                  <a:tcPr>
                    <a:solidFill>
                      <a:srgbClr val="152a40"/>
                    </a:solidFill>
                  </a:tcPr>
                </a:tc>
              </a:tr>
              <a:tr h="594360">
                <a:tc>
                  <a:txBody>
                    <a:bodyPr/>
                    <a:lstStyle/>
                    <a:p>
                      <a:pPr algn="l"/>
                      <a:r>
                        <a:rPr sz="1100" b="0" i="0">
                          <a:solidFill>
                            <a:srgbClr val="FFFFFF"/>
                          </a:solidFill>
                          <a:latin typeface="Calibri"/>
                        </a:rPr>
                        <a:t>allow you to work with the team in a more productive efficient and effective manner</a:t>
                      </a:r>
                    </a:p>
                  </a:txBody>
                  <a:tcPr>
                    <a:solidFill>
                      <a:srgbClr val="0d1b2a"/>
                    </a:solidFill>
                  </a:tcPr>
                </a:tc>
                <a:tc>
                  <a:txBody>
                    <a:bodyPr/>
                    <a:lstStyle/>
                    <a:p>
                      <a:pPr algn="l"/>
                      <a:r>
                        <a:rPr sz="1100" b="0" i="0">
                          <a:solidFill>
                            <a:srgbClr val="FFFFFF"/>
                          </a:solidFill>
                          <a:latin typeface="Calibri"/>
                        </a:rPr>
                        <a:t>allow you to work with a team and more productive efficient and effective manner</a:t>
                      </a:r>
                    </a:p>
                  </a:txBody>
                  <a:tcPr>
                    <a:solidFill>
                      <a:srgbClr val="0d1b2a"/>
                    </a:solidFill>
                  </a:tcPr>
                </a:tc>
                <a:tc>
                  <a:txBody>
                    <a:bodyPr/>
                    <a:lstStyle/>
                    <a:p>
                      <a:pPr algn="l"/>
                      <a:r>
                        <a:rPr sz="1100" b="0" i="0">
                          <a:solidFill>
                            <a:srgbClr val="FFFFFF"/>
                          </a:solidFill>
                          <a:latin typeface="Calibri"/>
                        </a:rPr>
                        <a:t>14%</a:t>
                      </a:r>
                    </a:p>
                  </a:txBody>
                  <a:tcPr>
                    <a:solidFill>
                      <a:srgbClr val="0d1b2a"/>
                    </a:solidFill>
                  </a:tcPr>
                </a:tc>
                <a:tc>
                  <a:txBody>
                    <a:bodyPr/>
                    <a:lstStyle/>
                    <a:p>
                      <a:pPr algn="l"/>
                      <a:r>
                        <a:rPr sz="1100" b="0" i="0">
                          <a:solidFill>
                            <a:srgbClr val="4CAF50"/>
                          </a:solidFill>
                          <a:latin typeface="Calibri"/>
                        </a:rPr>
                        <a:t>4.6</a:t>
                      </a:r>
                    </a:p>
                  </a:txBody>
                  <a:tcPr>
                    <a:solidFill>
                      <a:srgbClr val="0d1b2a"/>
                    </a:solidFill>
                  </a:tcPr>
                </a:tc>
              </a:tr>
            </a:tbl>
          </a:graphicData>
        </a:graphic>
      </p:graphicFrame>
      <p:sp>
        <p:nvSpPr>
          <p:cNvPr id="6" name="TextBox 5"/>
          <p:cNvSpPr txBox="1"/>
          <p:nvPr/>
        </p:nvSpPr>
        <p:spPr>
          <a:xfrm>
            <a:off x="548640" y="4160520"/>
            <a:ext cx="11091672" cy="365760"/>
          </a:xfrm>
          <a:prstGeom prst="rect">
            <a:avLst/>
          </a:prstGeom>
          <a:noFill/>
        </p:spPr>
        <p:txBody>
          <a:bodyPr wrap="square" anchor="t"/>
          <a:lstStyle/>
          <a:p>
            <a:pPr algn="ctr"/>
            <a:r>
              <a:rPr sz="1500" b="1" i="0">
                <a:solidFill>
                  <a:srgbClr val="00B4D8"/>
                </a:solidFill>
                <a:latin typeface="Calibri"/>
              </a:rPr>
              <a:t>The system reads lips with high fidelity when visual signal is strong.</a:t>
            </a:r>
          </a:p>
        </p:txBody>
      </p:sp>
      <p:sp>
        <p:nvSpPr>
          <p:cNvPr id="7" name="TextBox 6"/>
          <p:cNvSpPr txBox="1"/>
          <p:nvPr/>
        </p:nvSpPr>
        <p:spPr>
          <a:xfrm>
            <a:off x="548640" y="4709160"/>
            <a:ext cx="11091672" cy="1828800"/>
          </a:xfrm>
          <a:prstGeom prst="rect">
            <a:avLst/>
          </a:prstGeom>
          <a:noFill/>
        </p:spPr>
        <p:txBody>
          <a:bodyPr wrap="square">
            <a:spAutoFit/>
          </a:bodyPr>
          <a:lstStyle/>
          <a:p>
            <a:pPr algn="l">
              <a:spcAft>
                <a:spcPts val="600"/>
              </a:spcAft>
            </a:pPr>
            <a:r>
              <a:rPr sz="1400" b="1">
                <a:solidFill>
                  <a:srgbClr val="00B4D8"/>
                </a:solidFill>
                <a:latin typeface="Calibri"/>
              </a:rPr>
              <a:t>• </a:t>
            </a:r>
            <a:r>
              <a:rPr sz="1400" b="0">
                <a:solidFill>
                  <a:srgbClr val="FFFFFF"/>
                </a:solidFill>
                <a:latin typeface="Calibri"/>
              </a:rPr>
              <a:t>276 segments (18.4%) — the architecture works</a:t>
            </a:r>
          </a:p>
          <a:p>
            <a:pPr algn="l">
              <a:spcAft>
                <a:spcPts val="600"/>
              </a:spcAft>
            </a:pPr>
            <a:r>
              <a:rPr sz="1400" b="1">
                <a:solidFill>
                  <a:srgbClr val="00B4D8"/>
                </a:solidFill>
                <a:latin typeface="Calibri"/>
              </a:rPr>
              <a:t>• </a:t>
            </a:r>
            <a:r>
              <a:rPr sz="1400" b="0">
                <a:solidFill>
                  <a:srgbClr val="FFFFFF"/>
                </a:solidFill>
                <a:latin typeface="Calibri"/>
              </a:rPr>
              <a:t>57% LLM Judge Y among Tier 5 — even the strictest evaluator agrees</a:t>
            </a:r>
          </a:p>
          <a:p>
            <a:pPr algn="l">
              <a:spcAft>
                <a:spcPts val="600"/>
              </a:spcAft>
            </a:pPr>
            <a:r>
              <a:rPr sz="1400" b="1">
                <a:solidFill>
                  <a:srgbClr val="00B4D8"/>
                </a:solidFill>
                <a:latin typeface="Calibri"/>
              </a:rPr>
              <a:t>• </a:t>
            </a:r>
            <a:r>
              <a:rPr sz="1400" b="0">
                <a:solidFill>
                  <a:srgbClr val="FFFFFF"/>
                </a:solidFill>
                <a:latin typeface="Calibri"/>
              </a:rPr>
              <a:t>Business/Finance topics dominate Tier 5 (closest to training data)</a:t>
            </a:r>
          </a:p>
          <a:p>
            <a:pPr algn="l">
              <a:spcAft>
                <a:spcPts val="600"/>
              </a:spcAft>
            </a:pPr>
            <a:r>
              <a:rPr sz="1400" b="1">
                <a:solidFill>
                  <a:srgbClr val="00B4D8"/>
                </a:solidFill>
                <a:latin typeface="Calibri"/>
              </a:rPr>
              <a:t>• </a:t>
            </a:r>
            <a:r>
              <a:rPr sz="1400" b="1">
                <a:solidFill>
                  <a:srgbClr val="FFFFFF"/>
                </a:solidFill>
                <a:latin typeface="Calibri"/>
              </a:rPr>
              <a:t>Perfect transcription across 20–40 consecutive words — not luck</a:t>
            </a:r>
          </a:p>
        </p:txBody>
      </p:sp>
      <p:pic>
        <p:nvPicPr>
          <p:cNvPr id="8" name="Picture 7"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9" name="TextBox 8"/>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36</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00"/>
                                  <p:tgtEl>
                                    <p:spTgt spid="5"/>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Representative Examples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48640" y="1325880"/>
          <a:ext cx="10149840" cy="2514600"/>
        </p:xfrm>
        <a:graphic>
          <a:graphicData uri="http://schemas.openxmlformats.org/drawingml/2006/table">
            <a:tbl>
              <a:tblPr firstRow="0" bandRow="0" lastRow="0" bandCol="0">
                <a:tableStyleId>{5C22544A-7EE6-4342-B048-85BDC9FD1C3A}</a:tableStyleId>
              </a:tblPr>
              <a:tblGrid>
                <a:gridCol w="1371600"/>
                <a:gridCol w="3474720"/>
                <a:gridCol w="3474720"/>
                <a:gridCol w="914400"/>
                <a:gridCol w="914400"/>
              </a:tblGrid>
              <a:tr h="502920">
                <a:tc>
                  <a:txBody>
                    <a:bodyPr/>
                    <a:lstStyle/>
                    <a:p>
                      <a:pPr algn="ctr"/>
                      <a:r>
                        <a:rPr sz="1100" b="1" i="0">
                          <a:solidFill>
                            <a:srgbClr val="FFFFFF"/>
                          </a:solidFill>
                          <a:latin typeface="Calibri"/>
                        </a:rPr>
                        <a:t>Category</a:t>
                      </a:r>
                    </a:p>
                  </a:txBody>
                  <a:tcPr>
                    <a:solidFill>
                      <a:srgbClr val="00b4d8"/>
                    </a:solidFill>
                  </a:tcPr>
                </a:tc>
                <a:tc>
                  <a:txBody>
                    <a:bodyPr/>
                    <a:lstStyle/>
                    <a:p>
                      <a:pPr algn="ctr"/>
                      <a:r>
                        <a:rPr sz="1100" b="1" i="0">
                          <a:solidFill>
                            <a:srgbClr val="FFFFFF"/>
                          </a:solidFill>
                          <a:latin typeface="Calibri"/>
                        </a:rPr>
                        <a:t>Reference</a:t>
                      </a:r>
                    </a:p>
                  </a:txBody>
                  <a:tcPr>
                    <a:solidFill>
                      <a:srgbClr val="00b4d8"/>
                    </a:solidFill>
                  </a:tcPr>
                </a:tc>
                <a:tc>
                  <a:txBody>
                    <a:bodyPr/>
                    <a:lstStyle/>
                    <a:p>
                      <a:pPr algn="ctr"/>
                      <a:r>
                        <a:rPr sz="1100" b="1" i="0">
                          <a:solidFill>
                            <a:srgbClr val="FFFFFF"/>
                          </a:solidFill>
                          <a:latin typeface="Calibri"/>
                        </a:rPr>
                        <a:t>Hypothesis</a:t>
                      </a:r>
                    </a:p>
                  </a:txBody>
                  <a:tcPr>
                    <a:solidFill>
                      <a:srgbClr val="00b4d8"/>
                    </a:solidFill>
                  </a:tcPr>
                </a:tc>
                <a:tc>
                  <a:txBody>
                    <a:bodyPr/>
                    <a:lstStyle/>
                    <a:p>
                      <a:pPr algn="ctr"/>
                      <a:r>
                        <a:rPr sz="1100" b="1" i="0">
                          <a:solidFill>
                            <a:srgbClr val="FFFFFF"/>
                          </a:solidFill>
                          <a:latin typeface="Calibri"/>
                        </a:rPr>
                        <a:t>WER</a:t>
                      </a:r>
                    </a:p>
                  </a:txBody>
                  <a:tcPr>
                    <a:solidFill>
                      <a:srgbClr val="00b4d8"/>
                    </a:solidFill>
                  </a:tcPr>
                </a:tc>
                <a:tc>
                  <a:txBody>
                    <a:bodyPr/>
                    <a:lstStyle/>
                    <a:p>
                      <a:pPr algn="ctr"/>
                      <a:r>
                        <a:rPr sz="1100" b="1" i="0">
                          <a:solidFill>
                            <a:srgbClr val="FFFFFF"/>
                          </a:solidFill>
                          <a:latin typeface="Calibri"/>
                        </a:rPr>
                        <a:t>IS</a:t>
                      </a:r>
                    </a:p>
                  </a:txBody>
                  <a:tcPr>
                    <a:solidFill>
                      <a:srgbClr val="00b4d8"/>
                    </a:solidFill>
                  </a:tcPr>
                </a:tc>
              </a:tr>
              <a:tr h="502920">
                <a:tc>
                  <a:txBody>
                    <a:bodyPr/>
                    <a:lstStyle/>
                    <a:p>
                      <a:pPr algn="l"/>
                      <a:r>
                        <a:rPr sz="1100" b="0" i="0">
                          <a:solidFill>
                            <a:srgbClr val="FFFFFF"/>
                          </a:solidFill>
                          <a:latin typeface="Calibri"/>
                        </a:rPr>
                        <a:t>Perfect</a:t>
                      </a:r>
                    </a:p>
                  </a:txBody>
                  <a:tcPr>
                    <a:solidFill>
                      <a:srgbClr val="0d1b2a"/>
                    </a:solidFill>
                  </a:tcPr>
                </a:tc>
                <a:tc>
                  <a:txBody>
                    <a:bodyPr/>
                    <a:lstStyle/>
                    <a:p>
                      <a:pPr algn="l"/>
                      <a:r>
                        <a:rPr sz="1100" b="0" i="0">
                          <a:solidFill>
                            <a:srgbClr val="FFFFFF"/>
                          </a:solidFill>
                          <a:latin typeface="Calibri"/>
                        </a:rPr>
                        <a:t>health insurance company they pay...</a:t>
                      </a:r>
                    </a:p>
                  </a:txBody>
                  <a:tcPr>
                    <a:solidFill>
                      <a:srgbClr val="0d1b2a"/>
                    </a:solidFill>
                  </a:tcPr>
                </a:tc>
                <a:tc>
                  <a:txBody>
                    <a:bodyPr/>
                    <a:lstStyle/>
                    <a:p>
                      <a:pPr algn="l"/>
                      <a:r>
                        <a:rPr sz="1100" b="0" i="0">
                          <a:solidFill>
                            <a:srgbClr val="FFFFFF"/>
                          </a:solidFill>
                          <a:latin typeface="Calibri"/>
                        </a:rPr>
                        <a:t>[exact match]</a:t>
                      </a:r>
                    </a:p>
                  </a:txBody>
                  <a:tcPr>
                    <a:solidFill>
                      <a:srgbClr val="0d1b2a"/>
                    </a:solidFill>
                  </a:tcPr>
                </a:tc>
                <a:tc>
                  <a:txBody>
                    <a:bodyPr/>
                    <a:lstStyle/>
                    <a:p>
                      <a:pPr algn="l"/>
                      <a:r>
                        <a:rPr sz="1100" b="0" i="0">
                          <a:solidFill>
                            <a:srgbClr val="FFFFFF"/>
                          </a:solidFill>
                          <a:latin typeface="Calibri"/>
                        </a:rPr>
                        <a:t>0%</a:t>
                      </a:r>
                    </a:p>
                  </a:txBody>
                  <a:tcPr>
                    <a:solidFill>
                      <a:srgbClr val="0d1b2a"/>
                    </a:solidFill>
                  </a:tcPr>
                </a:tc>
                <a:tc>
                  <a:txBody>
                    <a:bodyPr/>
                    <a:lstStyle/>
                    <a:p>
                      <a:pPr algn="l"/>
                      <a:r>
                        <a:rPr sz="1100" b="0" i="0">
                          <a:solidFill>
                            <a:srgbClr val="4CAF50"/>
                          </a:solidFill>
                          <a:latin typeface="Calibri"/>
                        </a:rPr>
                        <a:t>5.0</a:t>
                      </a:r>
                    </a:p>
                  </a:txBody>
                  <a:tcPr>
                    <a:solidFill>
                      <a:srgbClr val="0d1b2a"/>
                    </a:solidFill>
                  </a:tcPr>
                </a:tc>
              </a:tr>
              <a:tr h="502920">
                <a:tc>
                  <a:txBody>
                    <a:bodyPr/>
                    <a:lstStyle/>
                    <a:p>
                      <a:pPr algn="l"/>
                      <a:r>
                        <a:rPr sz="1100" b="0" i="0">
                          <a:solidFill>
                            <a:srgbClr val="FFFFFF"/>
                          </a:solidFill>
                          <a:latin typeface="Calibri"/>
                        </a:rPr>
                        <a:t>WER Misleads</a:t>
                      </a:r>
                    </a:p>
                  </a:txBody>
                  <a:tcPr>
                    <a:solidFill>
                      <a:srgbClr val="152a40"/>
                    </a:solidFill>
                  </a:tcPr>
                </a:tc>
                <a:tc>
                  <a:txBody>
                    <a:bodyPr/>
                    <a:lstStyle/>
                    <a:p>
                      <a:pPr algn="l"/>
                      <a:r>
                        <a:rPr sz="1100" b="0" i="0">
                          <a:solidFill>
                            <a:srgbClr val="FFFFFF"/>
                          </a:solidFill>
                          <a:latin typeface="Calibri"/>
                        </a:rPr>
                        <a:t>work with the team in a more</a:t>
                      </a:r>
                    </a:p>
                  </a:txBody>
                  <a:tcPr>
                    <a:solidFill>
                      <a:srgbClr val="152a40"/>
                    </a:solidFill>
                  </a:tcPr>
                </a:tc>
                <a:tc>
                  <a:txBody>
                    <a:bodyPr/>
                    <a:lstStyle/>
                    <a:p>
                      <a:pPr algn="l"/>
                      <a:r>
                        <a:rPr sz="1100" b="0" i="0">
                          <a:solidFill>
                            <a:srgbClr val="FFFFFF"/>
                          </a:solidFill>
                          <a:latin typeface="Calibri"/>
                        </a:rPr>
                        <a:t>work with a team and more</a:t>
                      </a:r>
                    </a:p>
                  </a:txBody>
                  <a:tcPr>
                    <a:solidFill>
                      <a:srgbClr val="152a40"/>
                    </a:solidFill>
                  </a:tcPr>
                </a:tc>
                <a:tc>
                  <a:txBody>
                    <a:bodyPr/>
                    <a:lstStyle/>
                    <a:p>
                      <a:pPr algn="l"/>
                      <a:r>
                        <a:rPr sz="1100" b="0" i="0">
                          <a:solidFill>
                            <a:srgbClr val="FFFFFF"/>
                          </a:solidFill>
                          <a:latin typeface="Calibri"/>
                        </a:rPr>
                        <a:t>29%</a:t>
                      </a:r>
                    </a:p>
                  </a:txBody>
                  <a:tcPr>
                    <a:solidFill>
                      <a:srgbClr val="152a40"/>
                    </a:solidFill>
                  </a:tcPr>
                </a:tc>
                <a:tc>
                  <a:txBody>
                    <a:bodyPr/>
                    <a:lstStyle/>
                    <a:p>
                      <a:pPr algn="l"/>
                      <a:r>
                        <a:rPr sz="1100" b="0" i="0">
                          <a:solidFill>
                            <a:srgbClr val="4CAF50"/>
                          </a:solidFill>
                          <a:latin typeface="Calibri"/>
                        </a:rPr>
                        <a:t>4.3</a:t>
                      </a:r>
                    </a:p>
                  </a:txBody>
                  <a:tcPr>
                    <a:solidFill>
                      <a:srgbClr val="152a40"/>
                    </a:solidFill>
                  </a:tcPr>
                </a:tc>
              </a:tr>
              <a:tr h="502920">
                <a:tc>
                  <a:txBody>
                    <a:bodyPr/>
                    <a:lstStyle/>
                    <a:p>
                      <a:pPr algn="l"/>
                      <a:r>
                        <a:rPr sz="1100" b="0" i="0">
                          <a:solidFill>
                            <a:srgbClr val="FFFFFF"/>
                          </a:solidFill>
                          <a:latin typeface="Calibri"/>
                        </a:rPr>
                        <a:t>Near-Miss</a:t>
                      </a:r>
                    </a:p>
                  </a:txBody>
                  <a:tcPr>
                    <a:solidFill>
                      <a:srgbClr val="0d1b2a"/>
                    </a:solidFill>
                  </a:tcPr>
                </a:tc>
                <a:tc>
                  <a:txBody>
                    <a:bodyPr/>
                    <a:lstStyle/>
                    <a:p>
                      <a:pPr algn="l"/>
                      <a:r>
                        <a:rPr sz="1100" b="0" i="0">
                          <a:solidFill>
                            <a:srgbClr val="FFFFFF"/>
                          </a:solidFill>
                          <a:latin typeface="Calibri"/>
                        </a:rPr>
                        <a:t>1 billion cfus of probiotics</a:t>
                      </a:r>
                    </a:p>
                  </a:txBody>
                  <a:tcPr>
                    <a:solidFill>
                      <a:srgbClr val="0d1b2a"/>
                    </a:solidFill>
                  </a:tcPr>
                </a:tc>
                <a:tc>
                  <a:txBody>
                    <a:bodyPr/>
                    <a:lstStyle/>
                    <a:p>
                      <a:pPr algn="l"/>
                      <a:r>
                        <a:rPr sz="1100" b="0" i="0">
                          <a:solidFill>
                            <a:srgbClr val="FFFFFF"/>
                          </a:solidFill>
                          <a:latin typeface="Calibri"/>
                        </a:rPr>
                        <a:t>1 million cfus of permafrost</a:t>
                      </a:r>
                    </a:p>
                  </a:txBody>
                  <a:tcPr>
                    <a:solidFill>
                      <a:srgbClr val="0d1b2a"/>
                    </a:solidFill>
                  </a:tcPr>
                </a:tc>
                <a:tc>
                  <a:txBody>
                    <a:bodyPr/>
                    <a:lstStyle/>
                    <a:p>
                      <a:pPr algn="l"/>
                      <a:r>
                        <a:rPr sz="1100" b="0" i="0">
                          <a:solidFill>
                            <a:srgbClr val="FFFFFF"/>
                          </a:solidFill>
                          <a:latin typeface="Calibri"/>
                        </a:rPr>
                        <a:t>58%</a:t>
                      </a:r>
                    </a:p>
                  </a:txBody>
                  <a:tcPr>
                    <a:solidFill>
                      <a:srgbClr val="0d1b2a"/>
                    </a:solidFill>
                  </a:tcPr>
                </a:tc>
                <a:tc>
                  <a:txBody>
                    <a:bodyPr/>
                    <a:lstStyle/>
                    <a:p>
                      <a:pPr algn="l"/>
                      <a:r>
                        <a:rPr sz="1100" b="0" i="0">
                          <a:solidFill>
                            <a:srgbClr val="FFC107"/>
                          </a:solidFill>
                          <a:latin typeface="Calibri"/>
                        </a:rPr>
                        <a:t>2.7</a:t>
                      </a:r>
                    </a:p>
                  </a:txBody>
                  <a:tcPr>
                    <a:solidFill>
                      <a:srgbClr val="0d1b2a"/>
                    </a:solidFill>
                  </a:tcPr>
                </a:tc>
              </a:tr>
              <a:tr h="502920">
                <a:tc>
                  <a:txBody>
                    <a:bodyPr/>
                    <a:lstStyle/>
                    <a:p>
                      <a:pPr algn="l"/>
                      <a:r>
                        <a:rPr sz="1100" b="0" i="0">
                          <a:solidFill>
                            <a:srgbClr val="FFFFFF"/>
                          </a:solidFill>
                          <a:latin typeface="Calibri"/>
                        </a:rPr>
                        <a:t>Hallucinated</a:t>
                      </a:r>
                    </a:p>
                  </a:txBody>
                  <a:tcPr>
                    <a:solidFill>
                      <a:srgbClr val="152a40"/>
                    </a:solidFill>
                  </a:tcPr>
                </a:tc>
                <a:tc>
                  <a:txBody>
                    <a:bodyPr/>
                    <a:lstStyle/>
                    <a:p>
                      <a:pPr algn="l"/>
                      <a:r>
                        <a:rPr sz="1100" b="0" i="0">
                          <a:solidFill>
                            <a:srgbClr val="FFFFFF"/>
                          </a:solidFill>
                          <a:latin typeface="Calibri"/>
                        </a:rPr>
                        <a:t>carry strap</a:t>
                      </a:r>
                    </a:p>
                  </a:txBody>
                  <a:tcPr>
                    <a:solidFill>
                      <a:srgbClr val="152a40"/>
                    </a:solidFill>
                  </a:tcPr>
                </a:tc>
                <a:tc>
                  <a:txBody>
                    <a:bodyPr/>
                    <a:lstStyle/>
                    <a:p>
                      <a:pPr algn="l"/>
                      <a:r>
                        <a:rPr sz="1100" b="0" i="0">
                          <a:solidFill>
                            <a:srgbClr val="FFFFFF"/>
                          </a:solidFill>
                          <a:latin typeface="Calibri"/>
                        </a:rPr>
                        <a:t>holocaust denier</a:t>
                      </a:r>
                    </a:p>
                  </a:txBody>
                  <a:tcPr>
                    <a:solidFill>
                      <a:srgbClr val="152a40"/>
                    </a:solidFill>
                  </a:tcPr>
                </a:tc>
                <a:tc>
                  <a:txBody>
                    <a:bodyPr/>
                    <a:lstStyle/>
                    <a:p>
                      <a:pPr algn="l"/>
                      <a:r>
                        <a:rPr sz="1100" b="0" i="0">
                          <a:solidFill>
                            <a:srgbClr val="FFFFFF"/>
                          </a:solidFill>
                          <a:latin typeface="Calibri"/>
                        </a:rPr>
                        <a:t>100%</a:t>
                      </a:r>
                    </a:p>
                  </a:txBody>
                  <a:tcPr>
                    <a:solidFill>
                      <a:srgbClr val="152a40"/>
                    </a:solidFill>
                  </a:tcPr>
                </a:tc>
                <a:tc>
                  <a:txBody>
                    <a:bodyPr/>
                    <a:lstStyle/>
                    <a:p>
                      <a:pPr algn="l"/>
                      <a:r>
                        <a:rPr sz="1100" b="0" i="0">
                          <a:solidFill>
                            <a:srgbClr val="F44336"/>
                          </a:solidFill>
                          <a:latin typeface="Calibri"/>
                        </a:rPr>
                        <a:t>0.7</a:t>
                      </a:r>
                    </a:p>
                  </a:txBody>
                  <a:tcPr>
                    <a:solidFill>
                      <a:srgbClr val="152a40"/>
                    </a:solidFill>
                  </a:tcPr>
                </a:tc>
              </a:tr>
            </a:tbl>
          </a:graphicData>
        </a:graphic>
      </p:graphicFrame>
      <p:pic>
        <p:nvPicPr>
          <p:cNvPr id="5" name="Picture 4"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6" name="TextBox 5"/>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37</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Curated Examples — Video Gallery</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20040"/>
          </a:xfrm>
          <a:prstGeom prst="rect">
            <a:avLst/>
          </a:prstGeom>
          <a:noFill/>
        </p:spPr>
        <p:txBody>
          <a:bodyPr wrap="square" anchor="t"/>
          <a:lstStyle/>
          <a:p>
            <a:pPr algn="l"/>
            <a:r>
              <a:rPr sz="1300" b="0" i="0">
                <a:solidFill>
                  <a:srgbClr val="AAAAAA"/>
                </a:solidFill>
                <a:latin typeface="Calibri"/>
              </a:rPr>
              <a:t>Click any thumbnail to play (PowerPoint / compatible viewer):</a:t>
            </a:r>
          </a:p>
        </p:txBody>
      </p:sp>
      <p:pic>
        <p:nvPicPr>
          <p:cNvPr id="5" name="Picture 4" descr="perfect.jpg"/>
          <p:cNvPicPr>
            <a:picLocks noChangeAspect="1"/>
          </p:cNvPicPr>
          <p:nvPr/>
        </p:nvPicPr>
        <p:blipFill>
          <a:blip r:embed="rId2"/>
          <a:stretch>
            <a:fillRect/>
          </a:stretch>
        </p:blipFill>
        <p:spPr>
          <a:xfrm>
            <a:off x="548640" y="1737360"/>
            <a:ext cx="2578608" cy="1444752"/>
          </a:xfrm>
          <a:prstGeom prst="rect">
            <a:avLst/>
          </a:prstGeom>
        </p:spPr>
      </p:pic>
      <p:sp>
        <p:nvSpPr>
          <p:cNvPr id="6" name="Oval 5"/>
          <p:cNvSpPr/>
          <p:nvPr/>
        </p:nvSpPr>
        <p:spPr>
          <a:xfrm>
            <a:off x="1621231" y="2243023"/>
            <a:ext cx="433425" cy="433425"/>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21231" y="2243023"/>
            <a:ext cx="433425" cy="433425"/>
          </a:xfrm>
          <a:prstGeom prst="rect">
            <a:avLst/>
          </a:prstGeom>
          <a:noFill/>
        </p:spPr>
        <p:txBody>
          <a:bodyPr wrap="none" anchor="ctr">
            <a:spAutoFit/>
          </a:bodyPr>
          <a:lstStyle/>
          <a:p>
            <a:pPr algn="ctr"/>
            <a:r>
              <a:rPr sz="1300">
                <a:solidFill>
                  <a:srgbClr val="FFFFFF"/>
                </a:solidFill>
                <a:latin typeface="Calibri"/>
              </a:rPr>
              <a:t>▶</a:t>
            </a:r>
          </a:p>
        </p:txBody>
      </p:sp>
      <p:sp>
        <p:nvSpPr>
          <p:cNvPr id="8" name="TextBox 7"/>
          <p:cNvSpPr txBox="1"/>
          <p:nvPr/>
        </p:nvSpPr>
        <p:spPr>
          <a:xfrm>
            <a:off x="548640" y="3218688"/>
            <a:ext cx="2578608" cy="292608"/>
          </a:xfrm>
          <a:prstGeom prst="rect">
            <a:avLst/>
          </a:prstGeom>
          <a:noFill/>
        </p:spPr>
        <p:txBody>
          <a:bodyPr wrap="square" anchor="t"/>
          <a:lstStyle/>
          <a:p>
            <a:pPr algn="ctr"/>
            <a:r>
              <a:rPr sz="900" b="0" i="0">
                <a:solidFill>
                  <a:srgbClr val="4CAF50"/>
                </a:solidFill>
                <a:latin typeface="Calibri"/>
              </a:rPr>
              <a:t>Perfect  WER 0%</a:t>
            </a:r>
          </a:p>
        </p:txBody>
      </p:sp>
      <p:pic>
        <p:nvPicPr>
          <p:cNvPr id="9" name="Picture 8" descr="nearmiss.jpg"/>
          <p:cNvPicPr>
            <a:picLocks noChangeAspect="1"/>
          </p:cNvPicPr>
          <p:nvPr/>
        </p:nvPicPr>
        <p:blipFill>
          <a:blip r:embed="rId3"/>
          <a:stretch>
            <a:fillRect/>
          </a:stretch>
        </p:blipFill>
        <p:spPr>
          <a:xfrm>
            <a:off x="3337560" y="1737360"/>
            <a:ext cx="2578608" cy="1444752"/>
          </a:xfrm>
          <a:prstGeom prst="rect">
            <a:avLst/>
          </a:prstGeom>
        </p:spPr>
      </p:pic>
      <p:sp>
        <p:nvSpPr>
          <p:cNvPr id="10" name="Oval 9"/>
          <p:cNvSpPr/>
          <p:nvPr/>
        </p:nvSpPr>
        <p:spPr>
          <a:xfrm>
            <a:off x="4410151" y="2243023"/>
            <a:ext cx="433425" cy="433425"/>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10151" y="2243023"/>
            <a:ext cx="433425" cy="433425"/>
          </a:xfrm>
          <a:prstGeom prst="rect">
            <a:avLst/>
          </a:prstGeom>
          <a:noFill/>
        </p:spPr>
        <p:txBody>
          <a:bodyPr wrap="none" anchor="ctr">
            <a:spAutoFit/>
          </a:bodyPr>
          <a:lstStyle/>
          <a:p>
            <a:pPr algn="ctr"/>
            <a:r>
              <a:rPr sz="1300">
                <a:solidFill>
                  <a:srgbClr val="FFFFFF"/>
                </a:solidFill>
                <a:latin typeface="Calibri"/>
              </a:rPr>
              <a:t>▶</a:t>
            </a:r>
          </a:p>
        </p:txBody>
      </p:sp>
      <p:sp>
        <p:nvSpPr>
          <p:cNvPr id="12" name="TextBox 11"/>
          <p:cNvSpPr txBox="1"/>
          <p:nvPr/>
        </p:nvSpPr>
        <p:spPr>
          <a:xfrm>
            <a:off x="3337560" y="3218688"/>
            <a:ext cx="2578608" cy="292608"/>
          </a:xfrm>
          <a:prstGeom prst="rect">
            <a:avLst/>
          </a:prstGeom>
          <a:noFill/>
        </p:spPr>
        <p:txBody>
          <a:bodyPr wrap="square" anchor="t"/>
          <a:lstStyle/>
          <a:p>
            <a:pPr algn="ctr"/>
            <a:r>
              <a:rPr sz="900" b="0" i="0">
                <a:solidFill>
                  <a:srgbClr val="FFC107"/>
                </a:solidFill>
                <a:latin typeface="Calibri"/>
              </a:rPr>
              <a:t>Near-Miss  WER 58%</a:t>
            </a:r>
          </a:p>
        </p:txBody>
      </p:sp>
      <p:pic>
        <p:nvPicPr>
          <p:cNvPr id="13" name="Picture 12" descr="halluc.jpg"/>
          <p:cNvPicPr>
            <a:picLocks noChangeAspect="1"/>
          </p:cNvPicPr>
          <p:nvPr/>
        </p:nvPicPr>
        <p:blipFill>
          <a:blip r:embed="rId4"/>
          <a:stretch>
            <a:fillRect/>
          </a:stretch>
        </p:blipFill>
        <p:spPr>
          <a:xfrm>
            <a:off x="6126480" y="1737360"/>
            <a:ext cx="2578608" cy="1444752"/>
          </a:xfrm>
          <a:prstGeom prst="rect">
            <a:avLst/>
          </a:prstGeom>
        </p:spPr>
      </p:pic>
      <p:sp>
        <p:nvSpPr>
          <p:cNvPr id="14" name="Oval 13"/>
          <p:cNvSpPr/>
          <p:nvPr/>
        </p:nvSpPr>
        <p:spPr>
          <a:xfrm>
            <a:off x="7199071" y="2243023"/>
            <a:ext cx="433425" cy="433425"/>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99071" y="2243023"/>
            <a:ext cx="433425" cy="433425"/>
          </a:xfrm>
          <a:prstGeom prst="rect">
            <a:avLst/>
          </a:prstGeom>
          <a:noFill/>
        </p:spPr>
        <p:txBody>
          <a:bodyPr wrap="none" anchor="ctr">
            <a:spAutoFit/>
          </a:bodyPr>
          <a:lstStyle/>
          <a:p>
            <a:pPr algn="ctr"/>
            <a:r>
              <a:rPr sz="1300">
                <a:solidFill>
                  <a:srgbClr val="FFFFFF"/>
                </a:solidFill>
                <a:latin typeface="Calibri"/>
              </a:rPr>
              <a:t>▶</a:t>
            </a:r>
          </a:p>
        </p:txBody>
      </p:sp>
      <p:sp>
        <p:nvSpPr>
          <p:cNvPr id="16" name="TextBox 15"/>
          <p:cNvSpPr txBox="1"/>
          <p:nvPr/>
        </p:nvSpPr>
        <p:spPr>
          <a:xfrm>
            <a:off x="6126480" y="3218688"/>
            <a:ext cx="2578608" cy="292608"/>
          </a:xfrm>
          <a:prstGeom prst="rect">
            <a:avLst/>
          </a:prstGeom>
          <a:noFill/>
        </p:spPr>
        <p:txBody>
          <a:bodyPr wrap="square" anchor="t"/>
          <a:lstStyle/>
          <a:p>
            <a:pPr algn="ctr"/>
            <a:r>
              <a:rPr sz="900" b="0" i="0">
                <a:solidFill>
                  <a:srgbClr val="F44336"/>
                </a:solidFill>
                <a:latin typeface="Calibri"/>
              </a:rPr>
              <a:t>Hallucin.  WER 100%</a:t>
            </a:r>
          </a:p>
        </p:txBody>
      </p:sp>
      <p:pic>
        <p:nvPicPr>
          <p:cNvPr id="17" name="Picture 16" descr="tuning_fix.jpg"/>
          <p:cNvPicPr>
            <a:picLocks noChangeAspect="1"/>
          </p:cNvPicPr>
          <p:nvPr/>
        </p:nvPicPr>
        <p:blipFill>
          <a:blip r:embed="rId5"/>
          <a:stretch>
            <a:fillRect/>
          </a:stretch>
        </p:blipFill>
        <p:spPr>
          <a:xfrm>
            <a:off x="8915400" y="1737360"/>
            <a:ext cx="2578608" cy="1444752"/>
          </a:xfrm>
          <a:prstGeom prst="rect">
            <a:avLst/>
          </a:prstGeom>
        </p:spPr>
      </p:pic>
      <p:sp>
        <p:nvSpPr>
          <p:cNvPr id="18" name="Oval 17"/>
          <p:cNvSpPr/>
          <p:nvPr/>
        </p:nvSpPr>
        <p:spPr>
          <a:xfrm>
            <a:off x="9987991" y="2243023"/>
            <a:ext cx="433425" cy="433425"/>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987991" y="2243023"/>
            <a:ext cx="433425" cy="433425"/>
          </a:xfrm>
          <a:prstGeom prst="rect">
            <a:avLst/>
          </a:prstGeom>
          <a:noFill/>
        </p:spPr>
        <p:txBody>
          <a:bodyPr wrap="none" anchor="ctr">
            <a:spAutoFit/>
          </a:bodyPr>
          <a:lstStyle/>
          <a:p>
            <a:pPr algn="ctr"/>
            <a:r>
              <a:rPr sz="1300">
                <a:solidFill>
                  <a:srgbClr val="FFFFFF"/>
                </a:solidFill>
                <a:latin typeface="Calibri"/>
              </a:rPr>
              <a:t>▶</a:t>
            </a:r>
          </a:p>
        </p:txBody>
      </p:sp>
      <p:sp>
        <p:nvSpPr>
          <p:cNvPr id="20" name="TextBox 19"/>
          <p:cNvSpPr txBox="1"/>
          <p:nvPr/>
        </p:nvSpPr>
        <p:spPr>
          <a:xfrm>
            <a:off x="8915400" y="3218688"/>
            <a:ext cx="2578608" cy="292608"/>
          </a:xfrm>
          <a:prstGeom prst="rect">
            <a:avLst/>
          </a:prstGeom>
          <a:noFill/>
        </p:spPr>
        <p:txBody>
          <a:bodyPr wrap="square" anchor="t"/>
          <a:lstStyle/>
          <a:p>
            <a:pPr algn="ctr"/>
            <a:r>
              <a:rPr sz="900" b="0" i="0">
                <a:solidFill>
                  <a:srgbClr val="FF9800"/>
                </a:solidFill>
                <a:latin typeface="Calibri"/>
              </a:rPr>
              <a:t>Tuning Fix</a:t>
            </a:r>
            <a:br/>
            <a:r>
              <a:rPr sz="900" b="0" i="0">
                <a:solidFill>
                  <a:srgbClr val="FF9800"/>
                </a:solidFill>
                <a:latin typeface="Calibri"/>
              </a:rPr>
              <a:t>(baseline: empty)  WER 73%</a:t>
            </a:r>
          </a:p>
        </p:txBody>
      </p:sp>
      <p:pic>
        <p:nvPicPr>
          <p:cNvPr id="21" name="Picture 20" descr="topic_drift.jpg"/>
          <p:cNvPicPr>
            <a:picLocks noChangeAspect="1"/>
          </p:cNvPicPr>
          <p:nvPr/>
        </p:nvPicPr>
        <p:blipFill>
          <a:blip r:embed="rId6"/>
          <a:stretch>
            <a:fillRect/>
          </a:stretch>
        </p:blipFill>
        <p:spPr>
          <a:xfrm>
            <a:off x="548640" y="3685032"/>
            <a:ext cx="2578608" cy="1444752"/>
          </a:xfrm>
          <a:prstGeom prst="rect">
            <a:avLst/>
          </a:prstGeom>
        </p:spPr>
      </p:pic>
      <p:sp>
        <p:nvSpPr>
          <p:cNvPr id="22" name="Oval 21"/>
          <p:cNvSpPr/>
          <p:nvPr/>
        </p:nvSpPr>
        <p:spPr>
          <a:xfrm>
            <a:off x="1621231" y="4190695"/>
            <a:ext cx="433425" cy="433425"/>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21231" y="4190695"/>
            <a:ext cx="433425" cy="433425"/>
          </a:xfrm>
          <a:prstGeom prst="rect">
            <a:avLst/>
          </a:prstGeom>
          <a:noFill/>
        </p:spPr>
        <p:txBody>
          <a:bodyPr wrap="none" anchor="ctr">
            <a:spAutoFit/>
          </a:bodyPr>
          <a:lstStyle/>
          <a:p>
            <a:pPr algn="ctr"/>
            <a:r>
              <a:rPr sz="1300">
                <a:solidFill>
                  <a:srgbClr val="FFFFFF"/>
                </a:solidFill>
                <a:latin typeface="Calibri"/>
              </a:rPr>
              <a:t>▶</a:t>
            </a:r>
          </a:p>
        </p:txBody>
      </p:sp>
      <p:sp>
        <p:nvSpPr>
          <p:cNvPr id="24" name="TextBox 23"/>
          <p:cNvSpPr txBox="1"/>
          <p:nvPr/>
        </p:nvSpPr>
        <p:spPr>
          <a:xfrm>
            <a:off x="548640" y="5166360"/>
            <a:ext cx="2578608" cy="292608"/>
          </a:xfrm>
          <a:prstGeom prst="rect">
            <a:avLst/>
          </a:prstGeom>
          <a:noFill/>
        </p:spPr>
        <p:txBody>
          <a:bodyPr wrap="square" anchor="t"/>
          <a:lstStyle/>
          <a:p>
            <a:pPr algn="ctr"/>
            <a:r>
              <a:rPr sz="900" b="0" i="0">
                <a:solidFill>
                  <a:srgbClr val="F44336"/>
                </a:solidFill>
                <a:latin typeface="Calibri"/>
              </a:rPr>
              <a:t>Topic Drift  WER 97%</a:t>
            </a:r>
          </a:p>
        </p:txBody>
      </p:sp>
      <p:pic>
        <p:nvPicPr>
          <p:cNvPr id="25" name="Picture 24" descr="salvage.jpg"/>
          <p:cNvPicPr>
            <a:picLocks noChangeAspect="1"/>
          </p:cNvPicPr>
          <p:nvPr/>
        </p:nvPicPr>
        <p:blipFill>
          <a:blip r:embed="rId7"/>
          <a:stretch>
            <a:fillRect/>
          </a:stretch>
        </p:blipFill>
        <p:spPr>
          <a:xfrm>
            <a:off x="3337560" y="3685032"/>
            <a:ext cx="2578608" cy="1444752"/>
          </a:xfrm>
          <a:prstGeom prst="rect">
            <a:avLst/>
          </a:prstGeom>
        </p:spPr>
      </p:pic>
      <p:sp>
        <p:nvSpPr>
          <p:cNvPr id="26" name="Oval 25"/>
          <p:cNvSpPr/>
          <p:nvPr/>
        </p:nvSpPr>
        <p:spPr>
          <a:xfrm>
            <a:off x="4410151" y="4190695"/>
            <a:ext cx="433425" cy="433425"/>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10151" y="4190695"/>
            <a:ext cx="433425" cy="433425"/>
          </a:xfrm>
          <a:prstGeom prst="rect">
            <a:avLst/>
          </a:prstGeom>
          <a:noFill/>
        </p:spPr>
        <p:txBody>
          <a:bodyPr wrap="none" anchor="ctr">
            <a:spAutoFit/>
          </a:bodyPr>
          <a:lstStyle/>
          <a:p>
            <a:pPr algn="ctr"/>
            <a:r>
              <a:rPr sz="1300">
                <a:solidFill>
                  <a:srgbClr val="FFFFFF"/>
                </a:solidFill>
                <a:latin typeface="Calibri"/>
              </a:rPr>
              <a:t>▶</a:t>
            </a:r>
          </a:p>
        </p:txBody>
      </p:sp>
      <p:sp>
        <p:nvSpPr>
          <p:cNvPr id="28" name="TextBox 27"/>
          <p:cNvSpPr txBox="1"/>
          <p:nvPr/>
        </p:nvSpPr>
        <p:spPr>
          <a:xfrm>
            <a:off x="3337560" y="5166360"/>
            <a:ext cx="2578608" cy="292608"/>
          </a:xfrm>
          <a:prstGeom prst="rect">
            <a:avLst/>
          </a:prstGeom>
          <a:noFill/>
        </p:spPr>
        <p:txBody>
          <a:bodyPr wrap="square" anchor="t"/>
          <a:lstStyle/>
          <a:p>
            <a:pPr algn="ctr"/>
            <a:r>
              <a:rPr sz="900" b="0" i="0">
                <a:solidFill>
                  <a:srgbClr val="FFC107"/>
                </a:solidFill>
                <a:latin typeface="Calibri"/>
              </a:rPr>
              <a:t>Salvage  WER 74%</a:t>
            </a:r>
          </a:p>
        </p:txBody>
      </p:sp>
      <p:pic>
        <p:nvPicPr>
          <p:cNvPr id="29" name="Picture 28" descr="entity_success.jpg"/>
          <p:cNvPicPr>
            <a:picLocks noChangeAspect="1"/>
          </p:cNvPicPr>
          <p:nvPr/>
        </p:nvPicPr>
        <p:blipFill>
          <a:blip r:embed="rId8"/>
          <a:stretch>
            <a:fillRect/>
          </a:stretch>
        </p:blipFill>
        <p:spPr>
          <a:xfrm>
            <a:off x="6126480" y="3685032"/>
            <a:ext cx="2578608" cy="1444752"/>
          </a:xfrm>
          <a:prstGeom prst="rect">
            <a:avLst/>
          </a:prstGeom>
        </p:spPr>
      </p:pic>
      <p:sp>
        <p:nvSpPr>
          <p:cNvPr id="30" name="Oval 29"/>
          <p:cNvSpPr/>
          <p:nvPr/>
        </p:nvSpPr>
        <p:spPr>
          <a:xfrm>
            <a:off x="7199071" y="4190695"/>
            <a:ext cx="433425" cy="433425"/>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99071" y="4190695"/>
            <a:ext cx="433425" cy="433425"/>
          </a:xfrm>
          <a:prstGeom prst="rect">
            <a:avLst/>
          </a:prstGeom>
          <a:noFill/>
        </p:spPr>
        <p:txBody>
          <a:bodyPr wrap="none" anchor="ctr">
            <a:spAutoFit/>
          </a:bodyPr>
          <a:lstStyle/>
          <a:p>
            <a:pPr algn="ctr"/>
            <a:r>
              <a:rPr sz="1300">
                <a:solidFill>
                  <a:srgbClr val="FFFFFF"/>
                </a:solidFill>
                <a:latin typeface="Calibri"/>
              </a:rPr>
              <a:t>▶</a:t>
            </a:r>
          </a:p>
        </p:txBody>
      </p:sp>
      <p:sp>
        <p:nvSpPr>
          <p:cNvPr id="32" name="TextBox 31"/>
          <p:cNvSpPr txBox="1"/>
          <p:nvPr/>
        </p:nvSpPr>
        <p:spPr>
          <a:xfrm>
            <a:off x="6126480" y="5166360"/>
            <a:ext cx="2578608" cy="292608"/>
          </a:xfrm>
          <a:prstGeom prst="rect">
            <a:avLst/>
          </a:prstGeom>
          <a:noFill/>
        </p:spPr>
        <p:txBody>
          <a:bodyPr wrap="square" anchor="t"/>
          <a:lstStyle/>
          <a:p>
            <a:pPr algn="ctr"/>
            <a:r>
              <a:rPr sz="900" b="0" i="0">
                <a:solidFill>
                  <a:srgbClr val="4CAF50"/>
                </a:solidFill>
                <a:latin typeface="Calibri"/>
              </a:rPr>
              <a:t>Entity OK  WER 31%</a:t>
            </a:r>
          </a:p>
        </p:txBody>
      </p:sp>
      <p:pic>
        <p:nvPicPr>
          <p:cNvPr id="33" name="Picture 32" descr="entity_destroy.jpg"/>
          <p:cNvPicPr>
            <a:picLocks noChangeAspect="1"/>
          </p:cNvPicPr>
          <p:nvPr/>
        </p:nvPicPr>
        <p:blipFill>
          <a:blip r:embed="rId9"/>
          <a:stretch>
            <a:fillRect/>
          </a:stretch>
        </p:blipFill>
        <p:spPr>
          <a:xfrm>
            <a:off x="8915400" y="3685032"/>
            <a:ext cx="2578608" cy="1444752"/>
          </a:xfrm>
          <a:prstGeom prst="rect">
            <a:avLst/>
          </a:prstGeom>
        </p:spPr>
      </p:pic>
      <p:sp>
        <p:nvSpPr>
          <p:cNvPr id="34" name="Oval 33"/>
          <p:cNvSpPr/>
          <p:nvPr/>
        </p:nvSpPr>
        <p:spPr>
          <a:xfrm>
            <a:off x="9987991" y="4190695"/>
            <a:ext cx="433425" cy="433425"/>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87991" y="4190695"/>
            <a:ext cx="433425" cy="433425"/>
          </a:xfrm>
          <a:prstGeom prst="rect">
            <a:avLst/>
          </a:prstGeom>
          <a:noFill/>
        </p:spPr>
        <p:txBody>
          <a:bodyPr wrap="none" anchor="ctr">
            <a:spAutoFit/>
          </a:bodyPr>
          <a:lstStyle/>
          <a:p>
            <a:pPr algn="ctr"/>
            <a:r>
              <a:rPr sz="1300">
                <a:solidFill>
                  <a:srgbClr val="FFFFFF"/>
                </a:solidFill>
                <a:latin typeface="Calibri"/>
              </a:rPr>
              <a:t>▶</a:t>
            </a:r>
          </a:p>
        </p:txBody>
      </p:sp>
      <p:sp>
        <p:nvSpPr>
          <p:cNvPr id="36" name="TextBox 35"/>
          <p:cNvSpPr txBox="1"/>
          <p:nvPr/>
        </p:nvSpPr>
        <p:spPr>
          <a:xfrm>
            <a:off x="8915400" y="5166360"/>
            <a:ext cx="2578608" cy="292608"/>
          </a:xfrm>
          <a:prstGeom prst="rect">
            <a:avLst/>
          </a:prstGeom>
          <a:noFill/>
        </p:spPr>
        <p:txBody>
          <a:bodyPr wrap="square" anchor="t"/>
          <a:lstStyle/>
          <a:p>
            <a:pPr algn="ctr"/>
            <a:r>
              <a:rPr sz="900" b="0" i="0">
                <a:solidFill>
                  <a:srgbClr val="F44336"/>
                </a:solidFill>
                <a:latin typeface="Calibri"/>
              </a:rPr>
              <a:t>Entity Lost  WER 100%</a:t>
            </a:r>
          </a:p>
        </p:txBody>
      </p:sp>
      <p:pic>
        <p:nvPicPr>
          <p:cNvPr id="37" name="Picture 36" descr="BlackLogo300x300-W-BG.png"/>
          <p:cNvPicPr>
            <a:picLocks noChangeAspect="1"/>
          </p:cNvPicPr>
          <p:nvPr/>
        </p:nvPicPr>
        <p:blipFill>
          <a:blip r:embed="rId10"/>
          <a:stretch>
            <a:fillRect/>
          </a:stretch>
        </p:blipFill>
        <p:spPr>
          <a:xfrm>
            <a:off x="11323320" y="6428232"/>
            <a:ext cx="271117" cy="320040"/>
          </a:xfrm>
          <a:prstGeom prst="rect">
            <a:avLst/>
          </a:prstGeom>
        </p:spPr>
      </p:pic>
      <p:sp>
        <p:nvSpPr>
          <p:cNvPr id="38" name="TextBox 37"/>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14b</a:t>
            </a:r>
          </a:p>
        </p:txBody>
      </p:sp>
    </p:spTree>
  </p:cSld>
  <p:clrMapOvr>
    <a:masterClrMapping/>
  </p:clrMapOvr>
  <p:transition spd="med"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Demo: OK → Near-miss → Hallucination</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ok_demo.jpg"/>
          <p:cNvPicPr>
            <a:picLocks noChangeAspect="1"/>
          </p:cNvPicPr>
          <p:nvPr/>
        </p:nvPicPr>
        <p:blipFill>
          <a:blip r:embed="rId2"/>
          <a:stretch>
            <a:fillRect/>
          </a:stretch>
        </p:blipFill>
        <p:spPr>
          <a:xfrm>
            <a:off x="792480" y="1417320"/>
            <a:ext cx="3291840" cy="2468880"/>
          </a:xfrm>
          <a:prstGeom prst="rect">
            <a:avLst/>
          </a:prstGeom>
        </p:spPr>
      </p:pic>
      <p:sp>
        <p:nvSpPr>
          <p:cNvPr id="5" name="Oval 4"/>
          <p:cNvSpPr/>
          <p:nvPr/>
        </p:nvSpPr>
        <p:spPr>
          <a:xfrm>
            <a:off x="2068068" y="2281428"/>
            <a:ext cx="740664" cy="740664"/>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068068" y="2281428"/>
            <a:ext cx="740664" cy="740664"/>
          </a:xfrm>
          <a:prstGeom prst="rect">
            <a:avLst/>
          </a:prstGeom>
          <a:noFill/>
        </p:spPr>
        <p:txBody>
          <a:bodyPr wrap="none" anchor="ctr">
            <a:spAutoFit/>
          </a:bodyPr>
          <a:lstStyle/>
          <a:p>
            <a:pPr algn="ctr"/>
            <a:r>
              <a:rPr sz="2200">
                <a:solidFill>
                  <a:srgbClr val="FFFFFF"/>
                </a:solidFill>
                <a:latin typeface="Calibri"/>
              </a:rPr>
              <a:t>▶</a:t>
            </a:r>
          </a:p>
        </p:txBody>
      </p:sp>
      <p:sp>
        <p:nvSpPr>
          <p:cNvPr id="7" name="TextBox 6"/>
          <p:cNvSpPr txBox="1"/>
          <p:nvPr/>
        </p:nvSpPr>
        <p:spPr>
          <a:xfrm>
            <a:off x="792480" y="3931920"/>
            <a:ext cx="3291840" cy="274320"/>
          </a:xfrm>
          <a:prstGeom prst="rect">
            <a:avLst/>
          </a:prstGeom>
          <a:noFill/>
        </p:spPr>
        <p:txBody>
          <a:bodyPr wrap="square" anchor="t"/>
          <a:lstStyle/>
          <a:p>
            <a:pPr algn="ctr"/>
            <a:r>
              <a:rPr sz="1400" b="1" i="0">
                <a:solidFill>
                  <a:srgbClr val="00B4D8"/>
                </a:solidFill>
                <a:latin typeface="Calibri"/>
              </a:rPr>
              <a:t>WER 33%  IS 3.8</a:t>
            </a:r>
          </a:p>
        </p:txBody>
      </p:sp>
      <p:sp>
        <p:nvSpPr>
          <p:cNvPr id="8" name="TextBox 7"/>
          <p:cNvSpPr txBox="1"/>
          <p:nvPr/>
        </p:nvSpPr>
        <p:spPr>
          <a:xfrm>
            <a:off x="792480" y="4206240"/>
            <a:ext cx="3291840" cy="548640"/>
          </a:xfrm>
          <a:prstGeom prst="rect">
            <a:avLst/>
          </a:prstGeom>
          <a:noFill/>
        </p:spPr>
        <p:txBody>
          <a:bodyPr wrap="square" anchor="t"/>
          <a:lstStyle/>
          <a:p>
            <a:pPr algn="ctr"/>
            <a:r>
              <a:rPr sz="1100" b="0" i="0">
                <a:solidFill>
                  <a:srgbClr val="AAAAAA"/>
                </a:solidFill>
                <a:latin typeface="Calibri"/>
              </a:rPr>
              <a:t>"sheetaro" → "just hara"</a:t>
            </a:r>
            <a:br/>
            <a:r>
              <a:rPr sz="1100" b="0" i="0">
                <a:solidFill>
                  <a:srgbClr val="AAAAAA"/>
                </a:solidFill>
                <a:latin typeface="Calibri"/>
              </a:rPr>
              <a:t>Gist right, names garbled</a:t>
            </a:r>
          </a:p>
        </p:txBody>
      </p:sp>
      <p:pic>
        <p:nvPicPr>
          <p:cNvPr id="9" name="Picture 8" descr="nearmiss.jpg"/>
          <p:cNvPicPr>
            <a:picLocks noChangeAspect="1"/>
          </p:cNvPicPr>
          <p:nvPr/>
        </p:nvPicPr>
        <p:blipFill>
          <a:blip r:embed="rId3"/>
          <a:stretch>
            <a:fillRect/>
          </a:stretch>
        </p:blipFill>
        <p:spPr>
          <a:xfrm>
            <a:off x="4450080" y="1417320"/>
            <a:ext cx="3291840" cy="2468880"/>
          </a:xfrm>
          <a:prstGeom prst="rect">
            <a:avLst/>
          </a:prstGeom>
        </p:spPr>
      </p:pic>
      <p:sp>
        <p:nvSpPr>
          <p:cNvPr id="10" name="Oval 9"/>
          <p:cNvSpPr/>
          <p:nvPr/>
        </p:nvSpPr>
        <p:spPr>
          <a:xfrm>
            <a:off x="5725668" y="2281428"/>
            <a:ext cx="740664" cy="740664"/>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25668" y="2281428"/>
            <a:ext cx="740664" cy="740664"/>
          </a:xfrm>
          <a:prstGeom prst="rect">
            <a:avLst/>
          </a:prstGeom>
          <a:noFill/>
        </p:spPr>
        <p:txBody>
          <a:bodyPr wrap="none" anchor="ctr">
            <a:spAutoFit/>
          </a:bodyPr>
          <a:lstStyle/>
          <a:p>
            <a:pPr algn="ctr"/>
            <a:r>
              <a:rPr sz="2200">
                <a:solidFill>
                  <a:srgbClr val="FFFFFF"/>
                </a:solidFill>
                <a:latin typeface="Calibri"/>
              </a:rPr>
              <a:t>▶</a:t>
            </a:r>
          </a:p>
        </p:txBody>
      </p:sp>
      <p:sp>
        <p:nvSpPr>
          <p:cNvPr id="12" name="TextBox 11"/>
          <p:cNvSpPr txBox="1"/>
          <p:nvPr/>
        </p:nvSpPr>
        <p:spPr>
          <a:xfrm>
            <a:off x="4450080" y="3931920"/>
            <a:ext cx="3291840" cy="274320"/>
          </a:xfrm>
          <a:prstGeom prst="rect">
            <a:avLst/>
          </a:prstGeom>
          <a:noFill/>
        </p:spPr>
        <p:txBody>
          <a:bodyPr wrap="square" anchor="t"/>
          <a:lstStyle/>
          <a:p>
            <a:pPr algn="ctr"/>
            <a:r>
              <a:rPr sz="1400" b="1" i="0">
                <a:solidFill>
                  <a:srgbClr val="FFC107"/>
                </a:solidFill>
                <a:latin typeface="Calibri"/>
              </a:rPr>
              <a:t>WER 58%  IS 2.7</a:t>
            </a:r>
          </a:p>
        </p:txBody>
      </p:sp>
      <p:sp>
        <p:nvSpPr>
          <p:cNvPr id="13" name="TextBox 12"/>
          <p:cNvSpPr txBox="1"/>
          <p:nvPr/>
        </p:nvSpPr>
        <p:spPr>
          <a:xfrm>
            <a:off x="4450080" y="4206240"/>
            <a:ext cx="3291840" cy="548640"/>
          </a:xfrm>
          <a:prstGeom prst="rect">
            <a:avLst/>
          </a:prstGeom>
          <a:noFill/>
        </p:spPr>
        <p:txBody>
          <a:bodyPr wrap="square" anchor="t"/>
          <a:lstStyle/>
          <a:p>
            <a:pPr algn="ctr"/>
            <a:r>
              <a:rPr sz="1100" b="0" i="0">
                <a:solidFill>
                  <a:srgbClr val="AAAAAA"/>
                </a:solidFill>
                <a:latin typeface="Calibri"/>
              </a:rPr>
              <a:t>"probiotics" → "permafrost"</a:t>
            </a:r>
            <a:br/>
            <a:r>
              <a:rPr sz="1100" b="0" i="0">
                <a:solidFill>
                  <a:srgbClr val="AAAAAA"/>
                </a:solidFill>
                <a:latin typeface="Calibri"/>
              </a:rPr>
              <a:t>Structure right, key terms garbled</a:t>
            </a:r>
          </a:p>
        </p:txBody>
      </p:sp>
      <p:pic>
        <p:nvPicPr>
          <p:cNvPr id="14" name="Picture 13" descr="halluc.jpg"/>
          <p:cNvPicPr>
            <a:picLocks noChangeAspect="1"/>
          </p:cNvPicPr>
          <p:nvPr/>
        </p:nvPicPr>
        <p:blipFill>
          <a:blip r:embed="rId4"/>
          <a:stretch>
            <a:fillRect/>
          </a:stretch>
        </p:blipFill>
        <p:spPr>
          <a:xfrm>
            <a:off x="8107680" y="1417320"/>
            <a:ext cx="3291840" cy="2468880"/>
          </a:xfrm>
          <a:prstGeom prst="rect">
            <a:avLst/>
          </a:prstGeom>
        </p:spPr>
      </p:pic>
      <p:sp>
        <p:nvSpPr>
          <p:cNvPr id="15" name="Oval 14"/>
          <p:cNvSpPr/>
          <p:nvPr/>
        </p:nvSpPr>
        <p:spPr>
          <a:xfrm>
            <a:off x="9383268" y="2281428"/>
            <a:ext cx="740664" cy="740664"/>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83268" y="2281428"/>
            <a:ext cx="740664" cy="740664"/>
          </a:xfrm>
          <a:prstGeom prst="rect">
            <a:avLst/>
          </a:prstGeom>
          <a:noFill/>
        </p:spPr>
        <p:txBody>
          <a:bodyPr wrap="none" anchor="ctr">
            <a:spAutoFit/>
          </a:bodyPr>
          <a:lstStyle/>
          <a:p>
            <a:pPr algn="ctr"/>
            <a:r>
              <a:rPr sz="2200">
                <a:solidFill>
                  <a:srgbClr val="FFFFFF"/>
                </a:solidFill>
                <a:latin typeface="Calibri"/>
              </a:rPr>
              <a:t>▶</a:t>
            </a:r>
          </a:p>
        </p:txBody>
      </p:sp>
      <p:sp>
        <p:nvSpPr>
          <p:cNvPr id="17" name="TextBox 16"/>
          <p:cNvSpPr txBox="1"/>
          <p:nvPr/>
        </p:nvSpPr>
        <p:spPr>
          <a:xfrm>
            <a:off x="8107680" y="3931920"/>
            <a:ext cx="3291840" cy="274320"/>
          </a:xfrm>
          <a:prstGeom prst="rect">
            <a:avLst/>
          </a:prstGeom>
          <a:noFill/>
        </p:spPr>
        <p:txBody>
          <a:bodyPr wrap="square" anchor="t"/>
          <a:lstStyle/>
          <a:p>
            <a:pPr algn="ctr"/>
            <a:r>
              <a:rPr sz="1400" b="1" i="0">
                <a:solidFill>
                  <a:srgbClr val="F44336"/>
                </a:solidFill>
                <a:latin typeface="Calibri"/>
              </a:rPr>
              <a:t>WER 100%  IS 0.1</a:t>
            </a:r>
          </a:p>
        </p:txBody>
      </p:sp>
      <p:sp>
        <p:nvSpPr>
          <p:cNvPr id="18" name="TextBox 17"/>
          <p:cNvSpPr txBox="1"/>
          <p:nvPr/>
        </p:nvSpPr>
        <p:spPr>
          <a:xfrm>
            <a:off x="8107680" y="4206240"/>
            <a:ext cx="3291840" cy="548640"/>
          </a:xfrm>
          <a:prstGeom prst="rect">
            <a:avLst/>
          </a:prstGeom>
          <a:noFill/>
        </p:spPr>
        <p:txBody>
          <a:bodyPr wrap="square" anchor="t"/>
          <a:lstStyle/>
          <a:p>
            <a:pPr algn="ctr"/>
            <a:r>
              <a:rPr sz="1100" b="0" i="0">
                <a:solidFill>
                  <a:srgbClr val="AAAAAA"/>
                </a:solidFill>
                <a:latin typeface="Calibri"/>
              </a:rPr>
              <a:t>"carry strap" → "holocaust denier"</a:t>
            </a:r>
          </a:p>
        </p:txBody>
      </p:sp>
      <p:sp>
        <p:nvSpPr>
          <p:cNvPr id="19" name="TextBox 18"/>
          <p:cNvSpPr txBox="1"/>
          <p:nvPr/>
        </p:nvSpPr>
        <p:spPr>
          <a:xfrm>
            <a:off x="548640" y="6035040"/>
            <a:ext cx="11091672" cy="274320"/>
          </a:xfrm>
          <a:prstGeom prst="rect">
            <a:avLst/>
          </a:prstGeom>
          <a:noFill/>
        </p:spPr>
        <p:txBody>
          <a:bodyPr wrap="square" anchor="t"/>
          <a:lstStyle/>
          <a:p>
            <a:pPr algn="ctr"/>
            <a:r>
              <a:rPr sz="1100" b="0" i="1">
                <a:solidFill>
                  <a:srgbClr val="666666"/>
                </a:solidFill>
                <a:latin typeface="Calibri"/>
              </a:rPr>
              <a:t>Click each video to play.</a:t>
            </a:r>
          </a:p>
        </p:txBody>
      </p:sp>
      <p:pic>
        <p:nvPicPr>
          <p:cNvPr id="20" name="Picture 19" descr="BlackLogo300x300-W-BG.png"/>
          <p:cNvPicPr>
            <a:picLocks noChangeAspect="1"/>
          </p:cNvPicPr>
          <p:nvPr/>
        </p:nvPicPr>
        <p:blipFill>
          <a:blip r:embed="rId5"/>
          <a:stretch>
            <a:fillRect/>
          </a:stretch>
        </p:blipFill>
        <p:spPr>
          <a:xfrm>
            <a:off x="11323320" y="6428232"/>
            <a:ext cx="271117" cy="320040"/>
          </a:xfrm>
          <a:prstGeom prst="rect">
            <a:avLst/>
          </a:prstGeom>
        </p:spPr>
      </p:pic>
      <p:sp>
        <p:nvSpPr>
          <p:cNvPr id="21" name="TextBox 20"/>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38</a:t>
            </a:r>
          </a:p>
        </p:txBody>
      </p:sp>
    </p:spTree>
  </p:cSld>
  <p:clrMapOvr>
    <a:masterClrMapping/>
  </p:clrMapOvr>
  <p:transition spd="med"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2011680"/>
            <a:ext cx="11091672" cy="1097280"/>
          </a:xfrm>
          <a:prstGeom prst="rect">
            <a:avLst/>
          </a:prstGeom>
          <a:noFill/>
        </p:spPr>
        <p:txBody>
          <a:bodyPr wrap="square" anchor="t"/>
          <a:lstStyle/>
          <a:p>
            <a:pPr algn="ctr"/>
            <a:r>
              <a:rPr sz="5200" b="1" i="0">
                <a:solidFill>
                  <a:srgbClr val="00B4D8"/>
                </a:solidFill>
                <a:latin typeface="Calibri"/>
              </a:rPr>
              <a:t>ENGINEERING</a:t>
            </a:r>
          </a:p>
        </p:txBody>
      </p:sp>
      <p:sp>
        <p:nvSpPr>
          <p:cNvPr id="3" name="TextBox 2"/>
          <p:cNvSpPr txBox="1"/>
          <p:nvPr/>
        </p:nvSpPr>
        <p:spPr>
          <a:xfrm>
            <a:off x="548640" y="3200400"/>
            <a:ext cx="11091672" cy="548640"/>
          </a:xfrm>
          <a:prstGeom prst="rect">
            <a:avLst/>
          </a:prstGeom>
          <a:noFill/>
        </p:spPr>
        <p:txBody>
          <a:bodyPr wrap="square" anchor="t"/>
          <a:lstStyle/>
          <a:p>
            <a:pPr algn="ctr"/>
            <a:r>
              <a:rPr sz="2200" b="0" i="0">
                <a:solidFill>
                  <a:srgbClr val="AAAAAA"/>
                </a:solidFill>
                <a:latin typeface="Calibri"/>
              </a:rPr>
              <a:t>From Research Code to Production System</a:t>
            </a:r>
          </a:p>
        </p:txBody>
      </p:sp>
      <p:sp>
        <p:nvSpPr>
          <p:cNvPr id="4" name="Rectangle 3"/>
          <p:cNvSpPr/>
          <p:nvPr/>
        </p:nvSpPr>
        <p:spPr>
          <a:xfrm>
            <a:off x="4114800" y="3931920"/>
            <a:ext cx="3959352"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389120"/>
            <a:ext cx="11091672" cy="457200"/>
          </a:xfrm>
          <a:prstGeom prst="rect">
            <a:avLst/>
          </a:prstGeom>
          <a:noFill/>
        </p:spPr>
        <p:txBody>
          <a:bodyPr wrap="square" anchor="t"/>
          <a:lstStyle/>
          <a:p>
            <a:pPr algn="ctr"/>
            <a:r>
              <a:rPr sz="1600" b="0" i="0">
                <a:solidFill>
                  <a:srgbClr val="666666"/>
                </a:solidFill>
                <a:latin typeface="Calibri"/>
              </a:rPr>
              <a:t>3 research repositories  →  1 automated pipeline  →  deployed container</a:t>
            </a:r>
          </a:p>
        </p:txBody>
      </p:sp>
      <p:pic>
        <p:nvPicPr>
          <p:cNvPr id="6" name="Picture 5"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7" name="TextBox 6"/>
          <p:cNvSpPr txBox="1"/>
          <p:nvPr/>
        </p:nvSpPr>
        <p:spPr>
          <a:xfrm>
            <a:off x="548640" y="6510528"/>
            <a:ext cx="457200" cy="228600"/>
          </a:xfrm>
          <a:prstGeom prst="rect">
            <a:avLst/>
          </a:prstGeom>
          <a:noFill/>
        </p:spPr>
        <p:txBody>
          <a:bodyPr wrap="none">
            <a:spAutoFit/>
          </a:bodyPr>
          <a:lstStyle/>
          <a:p>
            <a:pPr>
              <a:defRPr sz="900" b="0" i="0">
                <a:solidFill>
                  <a:srgbClr val="666666"/>
                </a:solidFill>
                <a:latin typeface="Calibri"/>
              </a:defRPr>
            </a:pPr>
          </a:p>
        </p:txBody>
      </p:sp>
    </p:spTree>
  </p:cSld>
  <p:clrMapOvr>
    <a:masterClrMapping/>
  </p:clrMapOvr>
  <p:transition spd="med"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Starting Point: Three Research Codebases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01040" y="1508760"/>
            <a:ext cx="3291840" cy="2560320"/>
          </a:xfrm>
          <a:prstGeom prst="roundRect">
            <a:avLst/>
          </a:prstGeom>
          <a:solidFill>
            <a:srgbClr val="152A40"/>
          </a:solidFill>
          <a:ln w="317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3920" y="1691640"/>
            <a:ext cx="2926080" cy="411480"/>
          </a:xfrm>
          <a:prstGeom prst="rect">
            <a:avLst/>
          </a:prstGeom>
          <a:noFill/>
        </p:spPr>
        <p:txBody>
          <a:bodyPr wrap="square" anchor="t"/>
          <a:lstStyle/>
          <a:p>
            <a:pPr algn="ctr"/>
            <a:r>
              <a:rPr sz="2000" b="1" i="0">
                <a:solidFill>
                  <a:srgbClr val="00B4D8"/>
                </a:solidFill>
                <a:latin typeface="Calibri"/>
              </a:rPr>
              <a:t>auto_avsr</a:t>
            </a:r>
          </a:p>
        </p:txBody>
      </p:sp>
      <p:sp>
        <p:nvSpPr>
          <p:cNvPr id="6" name="TextBox 5"/>
          <p:cNvSpPr txBox="1"/>
          <p:nvPr/>
        </p:nvSpPr>
        <p:spPr>
          <a:xfrm>
            <a:off x="883920" y="2148840"/>
            <a:ext cx="2926080" cy="320040"/>
          </a:xfrm>
          <a:prstGeom prst="rect">
            <a:avLst/>
          </a:prstGeom>
          <a:noFill/>
        </p:spPr>
        <p:txBody>
          <a:bodyPr wrap="square" anchor="t"/>
          <a:lstStyle/>
          <a:p>
            <a:pPr algn="ctr"/>
            <a:r>
              <a:rPr sz="1400" b="0" i="0">
                <a:solidFill>
                  <a:srgbClr val="FFFFFF"/>
                </a:solidFill>
                <a:latin typeface="Calibri"/>
              </a:rPr>
              <a:t>Preprocessing</a:t>
            </a:r>
          </a:p>
        </p:txBody>
      </p:sp>
      <p:sp>
        <p:nvSpPr>
          <p:cNvPr id="7" name="TextBox 6"/>
          <p:cNvSpPr txBox="1"/>
          <p:nvPr/>
        </p:nvSpPr>
        <p:spPr>
          <a:xfrm>
            <a:off x="883920" y="2697480"/>
            <a:ext cx="2926080" cy="1097280"/>
          </a:xfrm>
          <a:prstGeom prst="rect">
            <a:avLst/>
          </a:prstGeom>
          <a:noFill/>
        </p:spPr>
        <p:txBody>
          <a:bodyPr wrap="square" anchor="t"/>
          <a:lstStyle/>
          <a:p>
            <a:pPr algn="ctr"/>
            <a:r>
              <a:rPr sz="1200" b="0" i="0">
                <a:solidFill>
                  <a:srgbClr val="AAAAAA"/>
                </a:solidFill>
                <a:latin typeface="Calibri"/>
              </a:rPr>
              <a:t>Face detection, mouth cropping,</a:t>
            </a:r>
            <a:br/>
            <a:r>
              <a:rPr sz="1200" b="0" i="0">
                <a:solidFill>
                  <a:srgbClr val="AAAAAA"/>
                </a:solidFill>
                <a:latin typeface="Calibri"/>
              </a:rPr>
              <a:t>video normalization</a:t>
            </a:r>
          </a:p>
        </p:txBody>
      </p:sp>
      <p:sp>
        <p:nvSpPr>
          <p:cNvPr id="8" name="Rounded Rectangle 7"/>
          <p:cNvSpPr/>
          <p:nvPr/>
        </p:nvSpPr>
        <p:spPr>
          <a:xfrm>
            <a:off x="4450080" y="1508760"/>
            <a:ext cx="3291840" cy="2560320"/>
          </a:xfrm>
          <a:prstGeom prst="roundRect">
            <a:avLst/>
          </a:prstGeom>
          <a:solidFill>
            <a:srgbClr val="152A40"/>
          </a:solidFill>
          <a:ln w="3175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32960" y="1691640"/>
            <a:ext cx="2926080" cy="411480"/>
          </a:xfrm>
          <a:prstGeom prst="rect">
            <a:avLst/>
          </a:prstGeom>
          <a:noFill/>
        </p:spPr>
        <p:txBody>
          <a:bodyPr wrap="square" anchor="t"/>
          <a:lstStyle/>
          <a:p>
            <a:pPr algn="ctr"/>
            <a:r>
              <a:rPr sz="2000" b="1" i="0">
                <a:solidFill>
                  <a:srgbClr val="E06C75"/>
                </a:solidFill>
                <a:latin typeface="Calibri"/>
              </a:rPr>
              <a:t>av_hubert</a:t>
            </a:r>
          </a:p>
        </p:txBody>
      </p:sp>
      <p:sp>
        <p:nvSpPr>
          <p:cNvPr id="10" name="TextBox 9"/>
          <p:cNvSpPr txBox="1"/>
          <p:nvPr/>
        </p:nvSpPr>
        <p:spPr>
          <a:xfrm>
            <a:off x="4632960" y="2148840"/>
            <a:ext cx="2926080" cy="320040"/>
          </a:xfrm>
          <a:prstGeom prst="rect">
            <a:avLst/>
          </a:prstGeom>
          <a:noFill/>
        </p:spPr>
        <p:txBody>
          <a:bodyPr wrap="square" anchor="t"/>
          <a:lstStyle/>
          <a:p>
            <a:pPr algn="ctr"/>
            <a:r>
              <a:rPr sz="1400" b="0" i="0">
                <a:solidFill>
                  <a:srgbClr val="FFFFFF"/>
                </a:solidFill>
                <a:latin typeface="Calibri"/>
              </a:rPr>
              <a:t>Feature Extraction</a:t>
            </a:r>
          </a:p>
        </p:txBody>
      </p:sp>
      <p:sp>
        <p:nvSpPr>
          <p:cNvPr id="11" name="TextBox 10"/>
          <p:cNvSpPr txBox="1"/>
          <p:nvPr/>
        </p:nvSpPr>
        <p:spPr>
          <a:xfrm>
            <a:off x="4632960" y="2697480"/>
            <a:ext cx="2926080" cy="1097280"/>
          </a:xfrm>
          <a:prstGeom prst="rect">
            <a:avLst/>
          </a:prstGeom>
          <a:noFill/>
        </p:spPr>
        <p:txBody>
          <a:bodyPr wrap="square" anchor="t"/>
          <a:lstStyle/>
          <a:p>
            <a:pPr algn="ctr"/>
            <a:r>
              <a:rPr sz="1200" b="0" i="0">
                <a:solidFill>
                  <a:srgbClr val="AAAAAA"/>
                </a:solidFill>
                <a:latin typeface="Calibri"/>
              </a:rPr>
              <a:t>AV-HuBERT encoder,</a:t>
            </a:r>
            <a:br/>
            <a:r>
              <a:rPr sz="1200" b="0" i="0">
                <a:solidFill>
                  <a:srgbClr val="AAAAAA"/>
                </a:solidFill>
                <a:latin typeface="Calibri"/>
              </a:rPr>
              <a:t>K-means clustering</a:t>
            </a:r>
          </a:p>
        </p:txBody>
      </p:sp>
      <p:sp>
        <p:nvSpPr>
          <p:cNvPr id="12" name="Rounded Rectangle 11"/>
          <p:cNvSpPr/>
          <p:nvPr/>
        </p:nvSpPr>
        <p:spPr>
          <a:xfrm>
            <a:off x="8199120" y="1508760"/>
            <a:ext cx="3291840" cy="2560320"/>
          </a:xfrm>
          <a:prstGeom prst="roundRect">
            <a:avLst/>
          </a:prstGeom>
          <a:solidFill>
            <a:srgbClr val="152A40"/>
          </a:solidFill>
          <a:ln w="317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0" y="1691640"/>
            <a:ext cx="2926080" cy="411480"/>
          </a:xfrm>
          <a:prstGeom prst="rect">
            <a:avLst/>
          </a:prstGeom>
          <a:noFill/>
        </p:spPr>
        <p:txBody>
          <a:bodyPr wrap="square" anchor="t"/>
          <a:lstStyle/>
          <a:p>
            <a:pPr algn="ctr"/>
            <a:r>
              <a:rPr sz="2000" b="1" i="0">
                <a:solidFill>
                  <a:srgbClr val="4CAF50"/>
                </a:solidFill>
                <a:latin typeface="Calibri"/>
              </a:rPr>
              <a:t>VSP-LLM</a:t>
            </a:r>
          </a:p>
        </p:txBody>
      </p:sp>
      <p:sp>
        <p:nvSpPr>
          <p:cNvPr id="14" name="TextBox 13"/>
          <p:cNvSpPr txBox="1"/>
          <p:nvPr/>
        </p:nvSpPr>
        <p:spPr>
          <a:xfrm>
            <a:off x="8382000" y="2148840"/>
            <a:ext cx="2926080" cy="320040"/>
          </a:xfrm>
          <a:prstGeom prst="rect">
            <a:avLst/>
          </a:prstGeom>
          <a:noFill/>
        </p:spPr>
        <p:txBody>
          <a:bodyPr wrap="square" anchor="t"/>
          <a:lstStyle/>
          <a:p>
            <a:pPr algn="ctr"/>
            <a:r>
              <a:rPr sz="1400" b="0" i="0">
                <a:solidFill>
                  <a:srgbClr val="FFFFFF"/>
                </a:solidFill>
                <a:latin typeface="Calibri"/>
              </a:rPr>
              <a:t>Inference</a:t>
            </a:r>
          </a:p>
        </p:txBody>
      </p:sp>
      <p:sp>
        <p:nvSpPr>
          <p:cNvPr id="15" name="TextBox 14"/>
          <p:cNvSpPr txBox="1"/>
          <p:nvPr/>
        </p:nvSpPr>
        <p:spPr>
          <a:xfrm>
            <a:off x="8382000" y="2697480"/>
            <a:ext cx="2926080" cy="1097280"/>
          </a:xfrm>
          <a:prstGeom prst="rect">
            <a:avLst/>
          </a:prstGeom>
          <a:noFill/>
        </p:spPr>
        <p:txBody>
          <a:bodyPr wrap="square" anchor="t"/>
          <a:lstStyle/>
          <a:p>
            <a:pPr algn="ctr"/>
            <a:r>
              <a:rPr sz="1200" b="0" i="0">
                <a:solidFill>
                  <a:srgbClr val="AAAAAA"/>
                </a:solidFill>
                <a:latin typeface="Calibri"/>
              </a:rPr>
              <a:t>LLaMA-2 integration,</a:t>
            </a:r>
            <a:br/>
            <a:r>
              <a:rPr sz="1200" b="0" i="0">
                <a:solidFill>
                  <a:srgbClr val="AAAAAA"/>
                </a:solidFill>
                <a:latin typeface="Calibri"/>
              </a:rPr>
              <a:t>decode &amp; generation</a:t>
            </a:r>
          </a:p>
        </p:txBody>
      </p:sp>
      <p:sp>
        <p:nvSpPr>
          <p:cNvPr id="16" name="TextBox 15"/>
          <p:cNvSpPr txBox="1"/>
          <p:nvPr/>
        </p:nvSpPr>
        <p:spPr>
          <a:xfrm>
            <a:off x="548640" y="4343400"/>
            <a:ext cx="11091672" cy="1828800"/>
          </a:xfrm>
          <a:prstGeom prst="rect">
            <a:avLst/>
          </a:prstGeom>
          <a:noFill/>
        </p:spPr>
        <p:txBody>
          <a:bodyPr wrap="square">
            <a:spAutoFit/>
          </a:bodyPr>
          <a:lstStyle/>
          <a:p>
            <a:pPr algn="l">
              <a:spcAft>
                <a:spcPts val="600"/>
              </a:spcAft>
            </a:pPr>
            <a:r>
              <a:rPr sz="1400" b="1">
                <a:solidFill>
                  <a:srgbClr val="00B4D8"/>
                </a:solidFill>
                <a:latin typeface="Calibri"/>
              </a:rPr>
              <a:t>• </a:t>
            </a:r>
            <a:r>
              <a:rPr sz="1400" b="0">
                <a:solidFill>
                  <a:srgbClr val="FFFFFF"/>
                </a:solidFill>
                <a:latin typeface="Calibri"/>
              </a:rPr>
              <a:t>No documentation, no tests, no integration</a:t>
            </a:r>
          </a:p>
          <a:p>
            <a:pPr algn="l">
              <a:spcAft>
                <a:spcPts val="600"/>
              </a:spcAft>
            </a:pPr>
            <a:r>
              <a:rPr sz="1400" b="1">
                <a:solidFill>
                  <a:srgbClr val="00B4D8"/>
                </a:solidFill>
                <a:latin typeface="Calibri"/>
              </a:rPr>
              <a:t>• </a:t>
            </a:r>
            <a:r>
              <a:rPr sz="1400" b="0">
                <a:solidFill>
                  <a:srgbClr val="FFFFFF"/>
                </a:solidFill>
                <a:latin typeface="Calibri"/>
              </a:rPr>
              <a:t>Research-grade code: hardcoded paths, no error handling</a:t>
            </a:r>
          </a:p>
          <a:p>
            <a:pPr algn="l">
              <a:spcAft>
                <a:spcPts val="600"/>
              </a:spcAft>
            </a:pPr>
            <a:r>
              <a:rPr sz="1400" b="1">
                <a:solidFill>
                  <a:srgbClr val="00B4D8"/>
                </a:solidFill>
                <a:latin typeface="Calibri"/>
              </a:rPr>
              <a:t>• </a:t>
            </a:r>
            <a:r>
              <a:rPr sz="1400" b="1">
                <a:solidFill>
                  <a:srgbClr val="FFFFFF"/>
                </a:solidFill>
                <a:latin typeface="Calibri"/>
              </a:rPr>
              <a:t>Each runs independently — no orchestration between them</a:t>
            </a:r>
          </a:p>
          <a:p>
            <a:pPr algn="l">
              <a:spcAft>
                <a:spcPts val="600"/>
              </a:spcAft>
            </a:pPr>
            <a:r>
              <a:rPr sz="1400" b="1">
                <a:solidFill>
                  <a:srgbClr val="00B4D8"/>
                </a:solidFill>
                <a:latin typeface="Calibri"/>
              </a:rPr>
              <a:t>• </a:t>
            </a:r>
            <a:r>
              <a:rPr sz="1400" b="0">
                <a:solidFill>
                  <a:srgbClr val="FFFFFF"/>
                </a:solidFill>
                <a:latin typeface="Calibri"/>
              </a:rPr>
              <a:t>Required 37 bug fixes to reach production quality</a:t>
            </a:r>
          </a:p>
        </p:txBody>
      </p:sp>
      <p:pic>
        <p:nvPicPr>
          <p:cNvPr id="17" name="Picture 16"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8" name="TextBox 17"/>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39</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fill="hold">
                            <p:stCondLst>
                              <p:cond delay="12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500"/>
                                  <p:tgtEl>
                                    <p:spTgt spid="8"/>
                                  </p:tgtEl>
                                </p:cBhvr>
                              </p:animEffect>
                            </p:childTnLst>
                          </p:cTn>
                        </p:par>
                        <p:par>
                          <p:cTn id="10" fill="hold">
                            <p:stCondLst>
                              <p:cond delay="24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par>
                    <p:cTn id="13" fill="hold">
                      <p:stCondLst>
                        <p:cond delay="0"/>
                      </p:stCondLst>
                      <p:childTnLst>
                        <p:par>
                          <p:cTn id="14" fill="hold">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12" grpId="0"/>
      <p:bldP spid="16" grpId="0"/>
    </p:bld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8-Stage Automated Pipeline</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20040"/>
          </a:xfrm>
          <a:prstGeom prst="rect">
            <a:avLst/>
          </a:prstGeom>
          <a:noFill/>
        </p:spPr>
        <p:txBody>
          <a:bodyPr wrap="square" anchor="t"/>
          <a:lstStyle/>
          <a:p>
            <a:pPr algn="l"/>
            <a:r>
              <a:rPr sz="1600" b="0" i="1">
                <a:solidFill>
                  <a:srgbClr val="AAAAAA"/>
                </a:solidFill>
                <a:latin typeface="Calibri"/>
              </a:rPr>
              <a:t>3 research repos → single orchestrated system</a:t>
            </a:r>
          </a:p>
        </p:txBody>
      </p:sp>
      <p:sp>
        <p:nvSpPr>
          <p:cNvPr id="5" name="TextBox 4"/>
          <p:cNvSpPr txBox="1"/>
          <p:nvPr/>
        </p:nvSpPr>
        <p:spPr>
          <a:xfrm>
            <a:off x="548640" y="2103120"/>
            <a:ext cx="731520" cy="1188720"/>
          </a:xfrm>
          <a:prstGeom prst="rect">
            <a:avLst/>
          </a:prstGeom>
          <a:noFill/>
        </p:spPr>
        <p:txBody>
          <a:bodyPr wrap="square" anchor="t"/>
          <a:lstStyle/>
          <a:p>
            <a:pPr algn="ctr"/>
            <a:r>
              <a:rPr sz="1100" b="1" i="0">
                <a:solidFill>
                  <a:srgbClr val="AAAAAA"/>
                </a:solidFill>
                <a:latin typeface="Calibri"/>
              </a:rPr>
              <a:t>.mp4</a:t>
            </a:r>
            <a:br/>
            <a:br/>
            <a:r>
              <a:rPr sz="1100" b="1" i="0">
                <a:solidFill>
                  <a:srgbClr val="AAAAAA"/>
                </a:solidFill>
                <a:latin typeface="Calibri"/>
              </a:rPr>
              <a:t>Video</a:t>
            </a:r>
            <a:br/>
            <a:r>
              <a:rPr sz="1100" b="1" i="0">
                <a:solidFill>
                  <a:srgbClr val="AAAAAA"/>
                </a:solidFill>
                <a:latin typeface="Calibri"/>
              </a:rPr>
              <a:t>Input</a:t>
            </a:r>
          </a:p>
        </p:txBody>
      </p:sp>
      <p:sp>
        <p:nvSpPr>
          <p:cNvPr id="6" name="TextBox 5"/>
          <p:cNvSpPr txBox="1"/>
          <p:nvPr/>
        </p:nvSpPr>
        <p:spPr>
          <a:xfrm>
            <a:off x="10911840" y="4389120"/>
            <a:ext cx="731520" cy="1188720"/>
          </a:xfrm>
          <a:prstGeom prst="rect">
            <a:avLst/>
          </a:prstGeom>
          <a:noFill/>
        </p:spPr>
        <p:txBody>
          <a:bodyPr wrap="square" anchor="t"/>
          <a:lstStyle/>
          <a:p>
            <a:pPr algn="ctr"/>
            <a:r>
              <a:rPr sz="1100" b="1" i="0">
                <a:solidFill>
                  <a:srgbClr val="AAAAAA"/>
                </a:solidFill>
                <a:latin typeface="Calibri"/>
              </a:rPr>
              <a:t>.json</a:t>
            </a:r>
            <a:br/>
            <a:br/>
            <a:r>
              <a:rPr sz="1100" b="1" i="0">
                <a:solidFill>
                  <a:srgbClr val="AAAAAA"/>
                </a:solidFill>
                <a:latin typeface="Calibri"/>
              </a:rPr>
              <a:t>Reports</a:t>
            </a:r>
            <a:br/>
            <a:r>
              <a:rPr sz="1100" b="1" i="0">
                <a:solidFill>
                  <a:srgbClr val="AAAAAA"/>
                </a:solidFill>
                <a:latin typeface="Calibri"/>
              </a:rPr>
              <a:t>&amp; Videos</a:t>
            </a:r>
          </a:p>
        </p:txBody>
      </p:sp>
      <p:sp>
        <p:nvSpPr>
          <p:cNvPr id="7" name="Rectangle 6"/>
          <p:cNvSpPr/>
          <p:nvPr/>
        </p:nvSpPr>
        <p:spPr>
          <a:xfrm>
            <a:off x="769620" y="1965960"/>
            <a:ext cx="2423160" cy="1463040"/>
          </a:xfrm>
          <a:prstGeom prst="rect">
            <a:avLst/>
          </a:prstGeom>
          <a:solidFill>
            <a:srgbClr val="4DD0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1060" y="2103120"/>
            <a:ext cx="2240280" cy="411480"/>
          </a:xfrm>
          <a:prstGeom prst="rect">
            <a:avLst/>
          </a:prstGeom>
          <a:noFill/>
        </p:spPr>
        <p:txBody>
          <a:bodyPr wrap="square" anchor="t"/>
          <a:lstStyle/>
          <a:p>
            <a:pPr algn="ctr"/>
            <a:r>
              <a:rPr sz="1800" b="1" i="0">
                <a:solidFill>
                  <a:srgbClr val="0D1B2A"/>
                </a:solidFill>
                <a:latin typeface="Calibri"/>
              </a:rPr>
              <a:t>1. Normalize</a:t>
            </a:r>
          </a:p>
        </p:txBody>
      </p:sp>
      <p:sp>
        <p:nvSpPr>
          <p:cNvPr id="9" name="TextBox 8"/>
          <p:cNvSpPr txBox="1"/>
          <p:nvPr/>
        </p:nvSpPr>
        <p:spPr>
          <a:xfrm>
            <a:off x="861060" y="2560320"/>
            <a:ext cx="2240280" cy="640080"/>
          </a:xfrm>
          <a:prstGeom prst="rect">
            <a:avLst/>
          </a:prstGeom>
          <a:noFill/>
        </p:spPr>
        <p:txBody>
          <a:bodyPr wrap="square" anchor="t"/>
          <a:lstStyle/>
          <a:p>
            <a:pPr algn="ctr"/>
            <a:r>
              <a:rPr sz="1300" b="0" i="0">
                <a:solidFill>
                  <a:srgbClr val="1A2A3A"/>
                </a:solidFill>
                <a:latin typeface="Calibri"/>
              </a:rPr>
              <a:t>HDR/10-bit</a:t>
            </a:r>
            <a:br/>
            <a:r>
              <a:rPr sz="1300" b="0" i="0">
                <a:solidFill>
                  <a:srgbClr val="1A2A3A"/>
                </a:solidFill>
                <a:latin typeface="Calibri"/>
              </a:rPr>
              <a:t>conversion</a:t>
            </a:r>
          </a:p>
        </p:txBody>
      </p:sp>
      <p:sp>
        <p:nvSpPr>
          <p:cNvPr id="10" name="TextBox 9"/>
          <p:cNvSpPr txBox="1"/>
          <p:nvPr/>
        </p:nvSpPr>
        <p:spPr>
          <a:xfrm>
            <a:off x="769620" y="1737360"/>
            <a:ext cx="2423160" cy="201168"/>
          </a:xfrm>
          <a:prstGeom prst="rect">
            <a:avLst/>
          </a:prstGeom>
          <a:noFill/>
        </p:spPr>
        <p:txBody>
          <a:bodyPr wrap="square" anchor="t"/>
          <a:lstStyle/>
          <a:p>
            <a:pPr algn="ctr"/>
            <a:r>
              <a:rPr sz="1000" b="0" i="0">
                <a:solidFill>
                  <a:srgbClr val="AAAAAA"/>
                </a:solidFill>
                <a:latin typeface="Calibri"/>
              </a:rPr>
              <a:t>.mp4</a:t>
            </a:r>
          </a:p>
        </p:txBody>
      </p:sp>
      <p:sp>
        <p:nvSpPr>
          <p:cNvPr id="11" name="Rectangle 10"/>
          <p:cNvSpPr/>
          <p:nvPr/>
        </p:nvSpPr>
        <p:spPr>
          <a:xfrm>
            <a:off x="3512820" y="1965960"/>
            <a:ext cx="2423160" cy="1463040"/>
          </a:xfrm>
          <a:prstGeom prst="rect">
            <a:avLst/>
          </a:prstGeom>
          <a:solidFill>
            <a:srgbClr val="4DD0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04260" y="2103120"/>
            <a:ext cx="2240280" cy="411480"/>
          </a:xfrm>
          <a:prstGeom prst="rect">
            <a:avLst/>
          </a:prstGeom>
          <a:noFill/>
        </p:spPr>
        <p:txBody>
          <a:bodyPr wrap="square" anchor="t"/>
          <a:lstStyle/>
          <a:p>
            <a:pPr algn="ctr"/>
            <a:r>
              <a:rPr sz="1800" b="1" i="0">
                <a:solidFill>
                  <a:srgbClr val="0D1B2A"/>
                </a:solidFill>
                <a:latin typeface="Calibri"/>
              </a:rPr>
              <a:t>2. ASR</a:t>
            </a:r>
          </a:p>
        </p:txBody>
      </p:sp>
      <p:sp>
        <p:nvSpPr>
          <p:cNvPr id="13" name="TextBox 12"/>
          <p:cNvSpPr txBox="1"/>
          <p:nvPr/>
        </p:nvSpPr>
        <p:spPr>
          <a:xfrm>
            <a:off x="3604260" y="2560320"/>
            <a:ext cx="2240280" cy="640080"/>
          </a:xfrm>
          <a:prstGeom prst="rect">
            <a:avLst/>
          </a:prstGeom>
          <a:noFill/>
        </p:spPr>
        <p:txBody>
          <a:bodyPr wrap="square" anchor="t"/>
          <a:lstStyle/>
          <a:p>
            <a:pPr algn="ctr"/>
            <a:r>
              <a:rPr sz="1300" b="0" i="0">
                <a:solidFill>
                  <a:srgbClr val="1A2A3A"/>
                </a:solidFill>
                <a:latin typeface="Calibri"/>
              </a:rPr>
              <a:t>Whisper</a:t>
            </a:r>
            <a:br/>
            <a:r>
              <a:rPr sz="1300" b="0" i="0">
                <a:solidFill>
                  <a:srgbClr val="1A2A3A"/>
                </a:solidFill>
                <a:latin typeface="Calibri"/>
              </a:rPr>
              <a:t>transcription</a:t>
            </a:r>
          </a:p>
        </p:txBody>
      </p:sp>
      <p:sp>
        <p:nvSpPr>
          <p:cNvPr id="14" name="TextBox 13"/>
          <p:cNvSpPr txBox="1"/>
          <p:nvPr/>
        </p:nvSpPr>
        <p:spPr>
          <a:xfrm>
            <a:off x="3512820" y="1737360"/>
            <a:ext cx="2423160" cy="201168"/>
          </a:xfrm>
          <a:prstGeom prst="rect">
            <a:avLst/>
          </a:prstGeom>
          <a:noFill/>
        </p:spPr>
        <p:txBody>
          <a:bodyPr wrap="square" anchor="t"/>
          <a:lstStyle/>
          <a:p>
            <a:pPr algn="ctr"/>
            <a:r>
              <a:rPr sz="1000" b="0" i="0">
                <a:solidFill>
                  <a:srgbClr val="AAAAAA"/>
                </a:solidFill>
                <a:latin typeface="Calibri"/>
              </a:rPr>
              <a:t>.wrd</a:t>
            </a:r>
          </a:p>
        </p:txBody>
      </p:sp>
      <p:sp>
        <p:nvSpPr>
          <p:cNvPr id="15" name="Rectangle 14"/>
          <p:cNvSpPr/>
          <p:nvPr/>
        </p:nvSpPr>
        <p:spPr>
          <a:xfrm>
            <a:off x="6256020" y="1965960"/>
            <a:ext cx="2423160" cy="1463040"/>
          </a:xfrm>
          <a:prstGeom prst="rect">
            <a:avLst/>
          </a:prstGeom>
          <a:solidFill>
            <a:srgbClr val="4DD0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47460" y="2103120"/>
            <a:ext cx="2240280" cy="411480"/>
          </a:xfrm>
          <a:prstGeom prst="rect">
            <a:avLst/>
          </a:prstGeom>
          <a:noFill/>
        </p:spPr>
        <p:txBody>
          <a:bodyPr wrap="square" anchor="t"/>
          <a:lstStyle/>
          <a:p>
            <a:pPr algn="ctr"/>
            <a:r>
              <a:rPr sz="1800" b="1" i="0">
                <a:solidFill>
                  <a:srgbClr val="0D1B2A"/>
                </a:solidFill>
                <a:latin typeface="Calibri"/>
              </a:rPr>
              <a:t>3. Mouth Crop</a:t>
            </a:r>
          </a:p>
        </p:txBody>
      </p:sp>
      <p:sp>
        <p:nvSpPr>
          <p:cNvPr id="17" name="TextBox 16"/>
          <p:cNvSpPr txBox="1"/>
          <p:nvPr/>
        </p:nvSpPr>
        <p:spPr>
          <a:xfrm>
            <a:off x="6347460" y="2560320"/>
            <a:ext cx="2240280" cy="640080"/>
          </a:xfrm>
          <a:prstGeom prst="rect">
            <a:avLst/>
          </a:prstGeom>
          <a:noFill/>
        </p:spPr>
        <p:txBody>
          <a:bodyPr wrap="square" anchor="t"/>
          <a:lstStyle/>
          <a:p>
            <a:pPr algn="ctr"/>
            <a:r>
              <a:rPr sz="1300" b="0" i="0">
                <a:solidFill>
                  <a:srgbClr val="1A2A3A"/>
                </a:solidFill>
                <a:latin typeface="Calibri"/>
              </a:rPr>
              <a:t>Face detection</a:t>
            </a:r>
            <a:br/>
            <a:r>
              <a:rPr sz="1300" b="0" i="0">
                <a:solidFill>
                  <a:srgbClr val="1A2A3A"/>
                </a:solidFill>
                <a:latin typeface="Calibri"/>
              </a:rPr>
              <a:t>&amp; ROI extract</a:t>
            </a:r>
          </a:p>
        </p:txBody>
      </p:sp>
      <p:sp>
        <p:nvSpPr>
          <p:cNvPr id="18" name="TextBox 17"/>
          <p:cNvSpPr txBox="1"/>
          <p:nvPr/>
        </p:nvSpPr>
        <p:spPr>
          <a:xfrm>
            <a:off x="6256020" y="1737360"/>
            <a:ext cx="2423160" cy="201168"/>
          </a:xfrm>
          <a:prstGeom prst="rect">
            <a:avLst/>
          </a:prstGeom>
          <a:noFill/>
        </p:spPr>
        <p:txBody>
          <a:bodyPr wrap="square" anchor="t"/>
          <a:lstStyle/>
          <a:p>
            <a:pPr algn="ctr"/>
            <a:r>
              <a:rPr sz="1000" b="0" i="0">
                <a:solidFill>
                  <a:srgbClr val="AAAAAA"/>
                </a:solidFill>
                <a:latin typeface="Calibri"/>
              </a:rPr>
              <a:t>.mp4 (crop)</a:t>
            </a:r>
          </a:p>
        </p:txBody>
      </p:sp>
      <p:sp>
        <p:nvSpPr>
          <p:cNvPr id="19" name="Rectangle 18"/>
          <p:cNvSpPr/>
          <p:nvPr/>
        </p:nvSpPr>
        <p:spPr>
          <a:xfrm>
            <a:off x="8999220" y="1965960"/>
            <a:ext cx="2423160" cy="1463040"/>
          </a:xfrm>
          <a:prstGeom prst="rect">
            <a:avLst/>
          </a:prstGeom>
          <a:solidFill>
            <a:srgbClr val="4DD0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90660" y="2103120"/>
            <a:ext cx="2240280" cy="411480"/>
          </a:xfrm>
          <a:prstGeom prst="rect">
            <a:avLst/>
          </a:prstGeom>
          <a:noFill/>
        </p:spPr>
        <p:txBody>
          <a:bodyPr wrap="square" anchor="t"/>
          <a:lstStyle/>
          <a:p>
            <a:pPr algn="ctr"/>
            <a:r>
              <a:rPr sz="1800" b="1" i="0">
                <a:solidFill>
                  <a:srgbClr val="0D1B2A"/>
                </a:solidFill>
                <a:latin typeface="Calibri"/>
              </a:rPr>
              <a:t>4. LRS3 Convert</a:t>
            </a:r>
          </a:p>
        </p:txBody>
      </p:sp>
      <p:sp>
        <p:nvSpPr>
          <p:cNvPr id="21" name="TextBox 20"/>
          <p:cNvSpPr txBox="1"/>
          <p:nvPr/>
        </p:nvSpPr>
        <p:spPr>
          <a:xfrm>
            <a:off x="9090660" y="2560320"/>
            <a:ext cx="2240280" cy="640080"/>
          </a:xfrm>
          <a:prstGeom prst="rect">
            <a:avLst/>
          </a:prstGeom>
          <a:noFill/>
        </p:spPr>
        <p:txBody>
          <a:bodyPr wrap="square" anchor="t"/>
          <a:lstStyle/>
          <a:p>
            <a:pPr algn="ctr"/>
            <a:r>
              <a:rPr sz="1300" b="0" i="0">
                <a:solidFill>
                  <a:srgbClr val="1A2A3A"/>
                </a:solidFill>
                <a:latin typeface="Calibri"/>
              </a:rPr>
              <a:t>Flat → LRS3</a:t>
            </a:r>
            <a:br/>
            <a:r>
              <a:rPr sz="1300" b="0" i="0">
                <a:solidFill>
                  <a:srgbClr val="1A2A3A"/>
                </a:solidFill>
                <a:latin typeface="Calibri"/>
              </a:rPr>
              <a:t>format</a:t>
            </a:r>
          </a:p>
        </p:txBody>
      </p:sp>
      <p:sp>
        <p:nvSpPr>
          <p:cNvPr id="22" name="TextBox 21"/>
          <p:cNvSpPr txBox="1"/>
          <p:nvPr/>
        </p:nvSpPr>
        <p:spPr>
          <a:xfrm>
            <a:off x="8999220" y="1737360"/>
            <a:ext cx="2423160" cy="201168"/>
          </a:xfrm>
          <a:prstGeom prst="rect">
            <a:avLst/>
          </a:prstGeom>
          <a:noFill/>
        </p:spPr>
        <p:txBody>
          <a:bodyPr wrap="square" anchor="t"/>
          <a:lstStyle/>
          <a:p>
            <a:pPr algn="ctr"/>
            <a:r>
              <a:rPr sz="1000" b="0" i="0">
                <a:solidFill>
                  <a:srgbClr val="AAAAAA"/>
                </a:solidFill>
                <a:latin typeface="Calibri"/>
              </a:rPr>
              <a:t>LRS3/</a:t>
            </a:r>
          </a:p>
        </p:txBody>
      </p:sp>
      <p:sp>
        <p:nvSpPr>
          <p:cNvPr id="23" name="Rectangle 22"/>
          <p:cNvSpPr/>
          <p:nvPr/>
        </p:nvSpPr>
        <p:spPr>
          <a:xfrm>
            <a:off x="769620" y="4251960"/>
            <a:ext cx="2423160" cy="1463040"/>
          </a:xfrm>
          <a:prstGeom prst="rect">
            <a:avLst/>
          </a:prstGeom>
          <a:solidFill>
            <a:srgbClr val="66B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1060" y="4389120"/>
            <a:ext cx="2240280" cy="411480"/>
          </a:xfrm>
          <a:prstGeom prst="rect">
            <a:avLst/>
          </a:prstGeom>
          <a:noFill/>
        </p:spPr>
        <p:txBody>
          <a:bodyPr wrap="square" anchor="t"/>
          <a:lstStyle/>
          <a:p>
            <a:pPr algn="ctr"/>
            <a:r>
              <a:rPr sz="1800" b="1" i="0">
                <a:solidFill>
                  <a:srgbClr val="0D1B2A"/>
                </a:solidFill>
                <a:latin typeface="Calibri"/>
              </a:rPr>
              <a:t>5. Manifests</a:t>
            </a:r>
          </a:p>
        </p:txBody>
      </p:sp>
      <p:sp>
        <p:nvSpPr>
          <p:cNvPr id="25" name="TextBox 24"/>
          <p:cNvSpPr txBox="1"/>
          <p:nvPr/>
        </p:nvSpPr>
        <p:spPr>
          <a:xfrm>
            <a:off x="861060" y="4846320"/>
            <a:ext cx="2240280" cy="640080"/>
          </a:xfrm>
          <a:prstGeom prst="rect">
            <a:avLst/>
          </a:prstGeom>
          <a:noFill/>
        </p:spPr>
        <p:txBody>
          <a:bodyPr wrap="square" anchor="t"/>
          <a:lstStyle/>
          <a:p>
            <a:pPr algn="ctr"/>
            <a:r>
              <a:rPr sz="1300" b="0" i="0">
                <a:solidFill>
                  <a:srgbClr val="1A2A3A"/>
                </a:solidFill>
                <a:latin typeface="Calibri"/>
              </a:rPr>
              <a:t>TSV + splits</a:t>
            </a:r>
            <a:br/>
            <a:r>
              <a:rPr sz="1300" b="0" i="0">
                <a:solidFill>
                  <a:srgbClr val="1A2A3A"/>
                </a:solidFill>
                <a:latin typeface="Calibri"/>
              </a:rPr>
              <a:t>generation</a:t>
            </a:r>
          </a:p>
        </p:txBody>
      </p:sp>
      <p:sp>
        <p:nvSpPr>
          <p:cNvPr id="26" name="TextBox 25"/>
          <p:cNvSpPr txBox="1"/>
          <p:nvPr/>
        </p:nvSpPr>
        <p:spPr>
          <a:xfrm>
            <a:off x="769620" y="4023360"/>
            <a:ext cx="2423160" cy="201168"/>
          </a:xfrm>
          <a:prstGeom prst="rect">
            <a:avLst/>
          </a:prstGeom>
          <a:noFill/>
        </p:spPr>
        <p:txBody>
          <a:bodyPr wrap="square" anchor="t"/>
          <a:lstStyle/>
          <a:p>
            <a:pPr algn="ctr"/>
            <a:r>
              <a:rPr sz="1000" b="0" i="0">
                <a:solidFill>
                  <a:srgbClr val="AAAAAA"/>
                </a:solidFill>
                <a:latin typeface="Calibri"/>
              </a:rPr>
              <a:t>.tsv</a:t>
            </a:r>
          </a:p>
        </p:txBody>
      </p:sp>
      <p:sp>
        <p:nvSpPr>
          <p:cNvPr id="27" name="Rectangle 26"/>
          <p:cNvSpPr/>
          <p:nvPr/>
        </p:nvSpPr>
        <p:spPr>
          <a:xfrm>
            <a:off x="3512820" y="4251960"/>
            <a:ext cx="2423160" cy="1463040"/>
          </a:xfrm>
          <a:prstGeom prst="rect">
            <a:avLst/>
          </a:prstGeom>
          <a:solidFill>
            <a:srgbClr val="66B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04260" y="4389120"/>
            <a:ext cx="2240280" cy="411480"/>
          </a:xfrm>
          <a:prstGeom prst="rect">
            <a:avLst/>
          </a:prstGeom>
          <a:noFill/>
        </p:spPr>
        <p:txBody>
          <a:bodyPr wrap="square" anchor="t"/>
          <a:lstStyle/>
          <a:p>
            <a:pPr algn="ctr"/>
            <a:r>
              <a:rPr sz="1800" b="1" i="0">
                <a:solidFill>
                  <a:srgbClr val="0D1B2A"/>
                </a:solidFill>
                <a:latin typeface="Calibri"/>
              </a:rPr>
              <a:t>6. K-means</a:t>
            </a:r>
          </a:p>
        </p:txBody>
      </p:sp>
      <p:sp>
        <p:nvSpPr>
          <p:cNvPr id="29" name="TextBox 28"/>
          <p:cNvSpPr txBox="1"/>
          <p:nvPr/>
        </p:nvSpPr>
        <p:spPr>
          <a:xfrm>
            <a:off x="3604260" y="4846320"/>
            <a:ext cx="2240280" cy="640080"/>
          </a:xfrm>
          <a:prstGeom prst="rect">
            <a:avLst/>
          </a:prstGeom>
          <a:noFill/>
        </p:spPr>
        <p:txBody>
          <a:bodyPr wrap="square" anchor="t"/>
          <a:lstStyle/>
          <a:p>
            <a:pPr algn="ctr"/>
            <a:r>
              <a:rPr sz="1300" b="0" i="0">
                <a:solidFill>
                  <a:srgbClr val="1A2A3A"/>
                </a:solidFill>
                <a:latin typeface="Calibri"/>
              </a:rPr>
              <a:t>Feature</a:t>
            </a:r>
            <a:br/>
            <a:r>
              <a:rPr sz="1300" b="0" i="0">
                <a:solidFill>
                  <a:srgbClr val="1A2A3A"/>
                </a:solidFill>
                <a:latin typeface="Calibri"/>
              </a:rPr>
              <a:t>extraction</a:t>
            </a:r>
          </a:p>
        </p:txBody>
      </p:sp>
      <p:sp>
        <p:nvSpPr>
          <p:cNvPr id="30" name="TextBox 29"/>
          <p:cNvSpPr txBox="1"/>
          <p:nvPr/>
        </p:nvSpPr>
        <p:spPr>
          <a:xfrm>
            <a:off x="3512820" y="4023360"/>
            <a:ext cx="2423160" cy="201168"/>
          </a:xfrm>
          <a:prstGeom prst="rect">
            <a:avLst/>
          </a:prstGeom>
          <a:noFill/>
        </p:spPr>
        <p:txBody>
          <a:bodyPr wrap="square" anchor="t"/>
          <a:lstStyle/>
          <a:p>
            <a:pPr algn="ctr"/>
            <a:r>
              <a:rPr sz="1000" b="0" i="0">
                <a:solidFill>
                  <a:srgbClr val="AAAAAA"/>
                </a:solidFill>
                <a:latin typeface="Calibri"/>
              </a:rPr>
              <a:t>.npy</a:t>
            </a:r>
          </a:p>
        </p:txBody>
      </p:sp>
      <p:sp>
        <p:nvSpPr>
          <p:cNvPr id="31" name="Rectangle 30"/>
          <p:cNvSpPr/>
          <p:nvPr/>
        </p:nvSpPr>
        <p:spPr>
          <a:xfrm>
            <a:off x="6256020" y="4251960"/>
            <a:ext cx="2423160" cy="1463040"/>
          </a:xfrm>
          <a:prstGeom prst="rect">
            <a:avLst/>
          </a:prstGeom>
          <a:solidFill>
            <a:srgbClr val="FFC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47460" y="4389120"/>
            <a:ext cx="2240280" cy="411480"/>
          </a:xfrm>
          <a:prstGeom prst="rect">
            <a:avLst/>
          </a:prstGeom>
          <a:noFill/>
        </p:spPr>
        <p:txBody>
          <a:bodyPr wrap="square" anchor="t"/>
          <a:lstStyle/>
          <a:p>
            <a:pPr algn="ctr"/>
            <a:r>
              <a:rPr sz="1800" b="1" i="0">
                <a:solidFill>
                  <a:srgbClr val="0D1B2A"/>
                </a:solidFill>
                <a:latin typeface="Calibri"/>
              </a:rPr>
              <a:t>7. LLM Decode</a:t>
            </a:r>
          </a:p>
        </p:txBody>
      </p:sp>
      <p:sp>
        <p:nvSpPr>
          <p:cNvPr id="33" name="TextBox 32"/>
          <p:cNvSpPr txBox="1"/>
          <p:nvPr/>
        </p:nvSpPr>
        <p:spPr>
          <a:xfrm>
            <a:off x="6347460" y="4846320"/>
            <a:ext cx="2240280" cy="640080"/>
          </a:xfrm>
          <a:prstGeom prst="rect">
            <a:avLst/>
          </a:prstGeom>
          <a:noFill/>
        </p:spPr>
        <p:txBody>
          <a:bodyPr wrap="square" anchor="t"/>
          <a:lstStyle/>
          <a:p>
            <a:pPr algn="ctr"/>
            <a:r>
              <a:rPr sz="1300" b="0" i="0">
                <a:solidFill>
                  <a:srgbClr val="1A2A3A"/>
                </a:solidFill>
                <a:latin typeface="Calibri"/>
              </a:rPr>
              <a:t>AV-HuBERT +</a:t>
            </a:r>
            <a:br/>
            <a:r>
              <a:rPr sz="1300" b="0" i="0">
                <a:solidFill>
                  <a:srgbClr val="1A2A3A"/>
                </a:solidFill>
                <a:latin typeface="Calibri"/>
              </a:rPr>
              <a:t>LLaMA-2</a:t>
            </a:r>
          </a:p>
        </p:txBody>
      </p:sp>
      <p:sp>
        <p:nvSpPr>
          <p:cNvPr id="34" name="TextBox 33"/>
          <p:cNvSpPr txBox="1"/>
          <p:nvPr/>
        </p:nvSpPr>
        <p:spPr>
          <a:xfrm>
            <a:off x="6256020" y="4023360"/>
            <a:ext cx="2423160" cy="201168"/>
          </a:xfrm>
          <a:prstGeom prst="rect">
            <a:avLst/>
          </a:prstGeom>
          <a:noFill/>
        </p:spPr>
        <p:txBody>
          <a:bodyPr wrap="square" anchor="t"/>
          <a:lstStyle/>
          <a:p>
            <a:pPr algn="ctr"/>
            <a:r>
              <a:rPr sz="1000" b="0" i="0">
                <a:solidFill>
                  <a:srgbClr val="AAAAAA"/>
                </a:solidFill>
                <a:latin typeface="Calibri"/>
              </a:rPr>
              <a:t>text</a:t>
            </a:r>
          </a:p>
        </p:txBody>
      </p:sp>
      <p:sp>
        <p:nvSpPr>
          <p:cNvPr id="35" name="Rectangle 34"/>
          <p:cNvSpPr/>
          <p:nvPr/>
        </p:nvSpPr>
        <p:spPr>
          <a:xfrm>
            <a:off x="8999220" y="4251960"/>
            <a:ext cx="2423160" cy="1463040"/>
          </a:xfrm>
          <a:prstGeom prst="rect">
            <a:avLst/>
          </a:prstGeom>
          <a:solidFill>
            <a:srgbClr val="EF9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90660" y="4389120"/>
            <a:ext cx="2240280" cy="411480"/>
          </a:xfrm>
          <a:prstGeom prst="rect">
            <a:avLst/>
          </a:prstGeom>
          <a:noFill/>
        </p:spPr>
        <p:txBody>
          <a:bodyPr wrap="square" anchor="t"/>
          <a:lstStyle/>
          <a:p>
            <a:pPr algn="ctr"/>
            <a:r>
              <a:rPr sz="1800" b="1" i="0">
                <a:solidFill>
                  <a:srgbClr val="0D1B2A"/>
                </a:solidFill>
                <a:latin typeface="Calibri"/>
              </a:rPr>
              <a:t>8. Outputs</a:t>
            </a:r>
          </a:p>
        </p:txBody>
      </p:sp>
      <p:sp>
        <p:nvSpPr>
          <p:cNvPr id="37" name="TextBox 36"/>
          <p:cNvSpPr txBox="1"/>
          <p:nvPr/>
        </p:nvSpPr>
        <p:spPr>
          <a:xfrm>
            <a:off x="9090660" y="4846320"/>
            <a:ext cx="2240280" cy="640080"/>
          </a:xfrm>
          <a:prstGeom prst="rect">
            <a:avLst/>
          </a:prstGeom>
          <a:noFill/>
        </p:spPr>
        <p:txBody>
          <a:bodyPr wrap="square" anchor="t"/>
          <a:lstStyle/>
          <a:p>
            <a:pPr algn="ctr"/>
            <a:r>
              <a:rPr sz="1300" b="0" i="0">
                <a:solidFill>
                  <a:srgbClr val="1A2A3A"/>
                </a:solidFill>
                <a:latin typeface="Calibri"/>
              </a:rPr>
              <a:t>Reports &amp;</a:t>
            </a:r>
            <a:br/>
            <a:r>
              <a:rPr sz="1300" b="0" i="0">
                <a:solidFill>
                  <a:srgbClr val="1A2A3A"/>
                </a:solidFill>
                <a:latin typeface="Calibri"/>
              </a:rPr>
              <a:t>burned video</a:t>
            </a:r>
          </a:p>
        </p:txBody>
      </p:sp>
      <p:sp>
        <p:nvSpPr>
          <p:cNvPr id="38" name="TextBox 37"/>
          <p:cNvSpPr txBox="1"/>
          <p:nvPr/>
        </p:nvSpPr>
        <p:spPr>
          <a:xfrm>
            <a:off x="8999220" y="4023360"/>
            <a:ext cx="2423160" cy="201168"/>
          </a:xfrm>
          <a:prstGeom prst="rect">
            <a:avLst/>
          </a:prstGeom>
          <a:noFill/>
        </p:spPr>
        <p:txBody>
          <a:bodyPr wrap="square" anchor="t"/>
          <a:lstStyle/>
          <a:p>
            <a:pPr algn="ctr"/>
            <a:r>
              <a:rPr sz="1000" b="0" i="0">
                <a:solidFill>
                  <a:srgbClr val="AAAAAA"/>
                </a:solidFill>
                <a:latin typeface="Calibri"/>
              </a:rPr>
              <a:t>.json</a:t>
            </a:r>
          </a:p>
        </p:txBody>
      </p:sp>
      <p:sp>
        <p:nvSpPr>
          <p:cNvPr id="39" name="TextBox 38"/>
          <p:cNvSpPr txBox="1"/>
          <p:nvPr/>
        </p:nvSpPr>
        <p:spPr>
          <a:xfrm>
            <a:off x="6256020" y="3502152"/>
            <a:ext cx="5166360" cy="228600"/>
          </a:xfrm>
          <a:prstGeom prst="rect">
            <a:avLst/>
          </a:prstGeom>
          <a:noFill/>
        </p:spPr>
        <p:txBody>
          <a:bodyPr wrap="square" anchor="t"/>
          <a:lstStyle/>
          <a:p>
            <a:pPr algn="ctr"/>
            <a:r>
              <a:rPr sz="1100" b="0" i="0">
                <a:solidFill>
                  <a:srgbClr val="666666"/>
                </a:solidFill>
                <a:latin typeface="Calibri"/>
              </a:rPr>
              <a:t>auto_avsr</a:t>
            </a:r>
          </a:p>
        </p:txBody>
      </p:sp>
      <p:sp>
        <p:nvSpPr>
          <p:cNvPr id="40" name="TextBox 39"/>
          <p:cNvSpPr txBox="1"/>
          <p:nvPr/>
        </p:nvSpPr>
        <p:spPr>
          <a:xfrm>
            <a:off x="769620" y="5788152"/>
            <a:ext cx="5166360" cy="228600"/>
          </a:xfrm>
          <a:prstGeom prst="rect">
            <a:avLst/>
          </a:prstGeom>
          <a:noFill/>
        </p:spPr>
        <p:txBody>
          <a:bodyPr wrap="square" anchor="t"/>
          <a:lstStyle/>
          <a:p>
            <a:pPr algn="ctr"/>
            <a:r>
              <a:rPr sz="1100" b="0" i="0">
                <a:solidFill>
                  <a:srgbClr val="666666"/>
                </a:solidFill>
                <a:latin typeface="Calibri"/>
              </a:rPr>
              <a:t>av_hubert</a:t>
            </a:r>
          </a:p>
        </p:txBody>
      </p:sp>
      <p:sp>
        <p:nvSpPr>
          <p:cNvPr id="41" name="TextBox 40"/>
          <p:cNvSpPr txBox="1"/>
          <p:nvPr/>
        </p:nvSpPr>
        <p:spPr>
          <a:xfrm>
            <a:off x="6256020" y="5788152"/>
            <a:ext cx="5166360" cy="228600"/>
          </a:xfrm>
          <a:prstGeom prst="rect">
            <a:avLst/>
          </a:prstGeom>
          <a:noFill/>
        </p:spPr>
        <p:txBody>
          <a:bodyPr wrap="square" anchor="t"/>
          <a:lstStyle/>
          <a:p>
            <a:pPr algn="ctr"/>
            <a:r>
              <a:rPr sz="1100" b="0" i="0">
                <a:solidFill>
                  <a:srgbClr val="666666"/>
                </a:solidFill>
                <a:latin typeface="Calibri"/>
              </a:rPr>
              <a:t>VSP-LLM</a:t>
            </a:r>
          </a:p>
        </p:txBody>
      </p:sp>
      <p:sp>
        <p:nvSpPr>
          <p:cNvPr id="42" name="Rectangle 41"/>
          <p:cNvSpPr/>
          <p:nvPr/>
        </p:nvSpPr>
        <p:spPr>
          <a:xfrm>
            <a:off x="1249680" y="6217920"/>
            <a:ext cx="228600" cy="228600"/>
          </a:xfrm>
          <a:prstGeom prst="rect">
            <a:avLst/>
          </a:prstGeom>
          <a:solidFill>
            <a:srgbClr val="4DD0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569720" y="6199632"/>
            <a:ext cx="1828800" cy="274320"/>
          </a:xfrm>
          <a:prstGeom prst="rect">
            <a:avLst/>
          </a:prstGeom>
          <a:noFill/>
        </p:spPr>
        <p:txBody>
          <a:bodyPr wrap="square" anchor="t"/>
          <a:lstStyle/>
          <a:p>
            <a:pPr algn="l"/>
            <a:r>
              <a:rPr sz="1200" b="0" i="0">
                <a:solidFill>
                  <a:srgbClr val="FFFFFF"/>
                </a:solidFill>
                <a:latin typeface="Calibri"/>
              </a:rPr>
              <a:t>Preprocessing</a:t>
            </a:r>
          </a:p>
        </p:txBody>
      </p:sp>
      <p:sp>
        <p:nvSpPr>
          <p:cNvPr id="44" name="Rectangle 43"/>
          <p:cNvSpPr/>
          <p:nvPr/>
        </p:nvSpPr>
        <p:spPr>
          <a:xfrm>
            <a:off x="3810000" y="6217920"/>
            <a:ext cx="228600" cy="228600"/>
          </a:xfrm>
          <a:prstGeom prst="rect">
            <a:avLst/>
          </a:prstGeom>
          <a:solidFill>
            <a:srgbClr val="66B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30040" y="6199632"/>
            <a:ext cx="1828800" cy="274320"/>
          </a:xfrm>
          <a:prstGeom prst="rect">
            <a:avLst/>
          </a:prstGeom>
          <a:noFill/>
        </p:spPr>
        <p:txBody>
          <a:bodyPr wrap="square" anchor="t"/>
          <a:lstStyle/>
          <a:p>
            <a:pPr algn="l"/>
            <a:r>
              <a:rPr sz="1200" b="0" i="0">
                <a:solidFill>
                  <a:srgbClr val="FFFFFF"/>
                </a:solidFill>
                <a:latin typeface="Calibri"/>
              </a:rPr>
              <a:t>Feature Processing</a:t>
            </a:r>
          </a:p>
        </p:txBody>
      </p:sp>
      <p:sp>
        <p:nvSpPr>
          <p:cNvPr id="46" name="Rectangle 45"/>
          <p:cNvSpPr/>
          <p:nvPr/>
        </p:nvSpPr>
        <p:spPr>
          <a:xfrm>
            <a:off x="6370320" y="6217920"/>
            <a:ext cx="228600" cy="228600"/>
          </a:xfrm>
          <a:prstGeom prst="rect">
            <a:avLst/>
          </a:prstGeom>
          <a:solidFill>
            <a:srgbClr val="FFC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90360" y="6199632"/>
            <a:ext cx="1828800" cy="274320"/>
          </a:xfrm>
          <a:prstGeom prst="rect">
            <a:avLst/>
          </a:prstGeom>
          <a:noFill/>
        </p:spPr>
        <p:txBody>
          <a:bodyPr wrap="square" anchor="t"/>
          <a:lstStyle/>
          <a:p>
            <a:pPr algn="l"/>
            <a:r>
              <a:rPr sz="1200" b="0" i="0">
                <a:solidFill>
                  <a:srgbClr val="FFFFFF"/>
                </a:solidFill>
                <a:latin typeface="Calibri"/>
              </a:rPr>
              <a:t>LLM Inference</a:t>
            </a:r>
          </a:p>
        </p:txBody>
      </p:sp>
      <p:sp>
        <p:nvSpPr>
          <p:cNvPr id="48" name="Rectangle 47"/>
          <p:cNvSpPr/>
          <p:nvPr/>
        </p:nvSpPr>
        <p:spPr>
          <a:xfrm>
            <a:off x="8930640" y="6217920"/>
            <a:ext cx="228600" cy="228600"/>
          </a:xfrm>
          <a:prstGeom prst="rect">
            <a:avLst/>
          </a:prstGeom>
          <a:solidFill>
            <a:srgbClr val="EF9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250680" y="6199632"/>
            <a:ext cx="1828800" cy="274320"/>
          </a:xfrm>
          <a:prstGeom prst="rect">
            <a:avLst/>
          </a:prstGeom>
          <a:noFill/>
        </p:spPr>
        <p:txBody>
          <a:bodyPr wrap="square" anchor="t"/>
          <a:lstStyle/>
          <a:p>
            <a:pPr algn="l"/>
            <a:r>
              <a:rPr sz="1200" b="0" i="0">
                <a:solidFill>
                  <a:srgbClr val="FFFFFF"/>
                </a:solidFill>
                <a:latin typeface="Calibri"/>
              </a:rPr>
              <a:t>Output Generation</a:t>
            </a:r>
          </a:p>
        </p:txBody>
      </p:sp>
      <p:pic>
        <p:nvPicPr>
          <p:cNvPr id="50" name="Picture 49"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51" name="TextBox 50"/>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40</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500"/>
                                  <p:tgtEl>
                                    <p:spTgt spid="7"/>
                                  </p:tgtEl>
                                </p:cBhvr>
                              </p:animEffect>
                            </p:childTnLst>
                          </p:cTn>
                        </p:par>
                        <p:par>
                          <p:cTn id="7" fill="hold">
                            <p:stCondLst>
                              <p:cond delay="12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500"/>
                                  <p:tgtEl>
                                    <p:spTgt spid="11"/>
                                  </p:tgtEl>
                                </p:cBhvr>
                              </p:animEffect>
                            </p:childTnLst>
                          </p:cTn>
                        </p:par>
                        <p:par>
                          <p:cTn id="10" fill="hold">
                            <p:stCondLst>
                              <p:cond delay="24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fill="hold">
                            <p:stCondLst>
                              <p:cond delay="36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par>
                    <p:cTn id="16" fill="hold">
                      <p:stCondLst>
                        <p:cond delay="0"/>
                      </p:stCondLst>
                      <p:childTnLst>
                        <p:par>
                          <p:cTn id="17" fill="hold">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500"/>
                                  <p:tgtEl>
                                    <p:spTgt spid="23"/>
                                  </p:tgtEl>
                                </p:cBhvr>
                              </p:animEffect>
                            </p:childTnLst>
                          </p:cTn>
                        </p:par>
                        <p:par>
                          <p:cTn id="20" fill="hold">
                            <p:stCondLst>
                              <p:cond delay="12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par>
                          <p:cTn id="23" fill="hold">
                            <p:stCondLst>
                              <p:cond delay="24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500"/>
                                  <p:tgtEl>
                                    <p:spTgt spid="31"/>
                                  </p:tgtEl>
                                </p:cBhvr>
                              </p:animEffect>
                            </p:childTnLst>
                          </p:cTn>
                        </p:par>
                        <p:par>
                          <p:cTn id="26" fill="hold">
                            <p:stCondLst>
                              <p:cond delay="360"/>
                            </p:stCondLst>
                            <p:childTnLst>
                              <p:set>
                                <p:cBhvr>
                                  <p:cTn id="27" dur="1" fill="hold">
                                    <p:stCondLst>
                                      <p:cond delay="0"/>
                                    </p:stCondLst>
                                  </p:cTn>
                                  <p:tgtEl>
                                    <p:spTgt spid="35"/>
                                  </p:tgtEl>
                                  <p:attrNameLst>
                                    <p:attrName>style.visibility</p:attrName>
                                  </p:attrNameLst>
                                </p:cBhvr>
                                <p:to>
                                  <p:strVal val="visible"/>
                                </p:to>
                              </p:set>
                              <p:animEffect transition="in" filter="fade">
                                <p:cBhvr>
                                  <p:cTn id="28" dur="500"/>
                                  <p:tgtEl>
                                    <p:spTgt spid="35"/>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23" grpId="1"/>
      <p:bldP spid="27" grpId="1"/>
      <p:bldP spid="31" grpId="1"/>
      <p:bldP spid="35" grpId="1"/>
    </p:bld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Building the Pipeline: The Engineering Journey</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01040" y="1417320"/>
            <a:ext cx="3291840" cy="4114800"/>
          </a:xfrm>
          <a:prstGeom prst="roundRect">
            <a:avLst/>
          </a:prstGeom>
          <a:solidFill>
            <a:srgbClr val="152A40"/>
          </a:solidFill>
          <a:ln w="317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3920" y="1554480"/>
            <a:ext cx="2926080" cy="502920"/>
          </a:xfrm>
          <a:prstGeom prst="rect">
            <a:avLst/>
          </a:prstGeom>
          <a:noFill/>
        </p:spPr>
        <p:txBody>
          <a:bodyPr wrap="square" anchor="t"/>
          <a:lstStyle/>
          <a:p>
            <a:pPr algn="ctr"/>
            <a:r>
              <a:rPr sz="1800" b="1" i="0">
                <a:solidFill>
                  <a:srgbClr val="00B4D8"/>
                </a:solidFill>
                <a:latin typeface="Calibri"/>
              </a:rPr>
              <a:t>Pipeline Build</a:t>
            </a:r>
          </a:p>
        </p:txBody>
      </p:sp>
      <p:sp>
        <p:nvSpPr>
          <p:cNvPr id="6" name="TextBox 5"/>
          <p:cNvSpPr txBox="1"/>
          <p:nvPr/>
        </p:nvSpPr>
        <p:spPr>
          <a:xfrm>
            <a:off x="883920" y="2057400"/>
            <a:ext cx="2926080" cy="274320"/>
          </a:xfrm>
          <a:prstGeom prst="rect">
            <a:avLst/>
          </a:prstGeom>
          <a:noFill/>
        </p:spPr>
        <p:txBody>
          <a:bodyPr wrap="square" anchor="t"/>
          <a:lstStyle/>
          <a:p>
            <a:pPr algn="ctr"/>
            <a:r>
              <a:rPr sz="1200" b="0" i="1">
                <a:solidFill>
                  <a:srgbClr val="AAAAAA"/>
                </a:solidFill>
                <a:latin typeface="Calibri"/>
              </a:rPr>
              <a:t>~2–3 weeks</a:t>
            </a:r>
          </a:p>
        </p:txBody>
      </p:sp>
      <p:sp>
        <p:nvSpPr>
          <p:cNvPr id="7" name="TextBox 6"/>
          <p:cNvSpPr txBox="1"/>
          <p:nvPr/>
        </p:nvSpPr>
        <p:spPr>
          <a:xfrm>
            <a:off x="838200" y="2423160"/>
            <a:ext cx="3017520" cy="2926080"/>
          </a:xfrm>
          <a:prstGeom prst="rect">
            <a:avLst/>
          </a:prstGeom>
          <a:noFill/>
        </p:spPr>
        <p:txBody>
          <a:bodyPr wrap="square">
            <a:spAutoFit/>
          </a:bodyPr>
          <a:lstStyle/>
          <a:p>
            <a:pPr algn="l">
              <a:spcAft>
                <a:spcPts val="600"/>
              </a:spcAft>
            </a:pPr>
            <a:r>
              <a:rPr sz="1100" b="1">
                <a:solidFill>
                  <a:srgbClr val="00B4D8"/>
                </a:solidFill>
                <a:latin typeface="Calibri"/>
              </a:rPr>
              <a:t>• </a:t>
            </a:r>
            <a:r>
              <a:rPr sz="1100" b="0">
                <a:solidFill>
                  <a:srgbClr val="FFFFFF"/>
                </a:solidFill>
                <a:latin typeface="Calibri"/>
              </a:rPr>
              <a:t>3 independent repos with no docs</a:t>
            </a:r>
          </a:p>
          <a:p>
            <a:pPr algn="l">
              <a:spcAft>
                <a:spcPts val="600"/>
              </a:spcAft>
            </a:pPr>
            <a:r>
              <a:rPr sz="1100" b="1">
                <a:solidFill>
                  <a:srgbClr val="00B4D8"/>
                </a:solidFill>
                <a:latin typeface="Calibri"/>
              </a:rPr>
              <a:t>• </a:t>
            </a:r>
            <a:r>
              <a:rPr sz="1100" b="0">
                <a:solidFill>
                  <a:srgbClr val="FFFFFF"/>
                </a:solidFill>
                <a:latin typeface="Calibri"/>
              </a:rPr>
              <a:t>Hardcoded paths everywhere</a:t>
            </a:r>
          </a:p>
          <a:p>
            <a:pPr algn="l">
              <a:spcAft>
                <a:spcPts val="600"/>
              </a:spcAft>
            </a:pPr>
            <a:r>
              <a:rPr sz="1100" b="1">
                <a:solidFill>
                  <a:srgbClr val="00B4D8"/>
                </a:solidFill>
                <a:latin typeface="Calibri"/>
              </a:rPr>
              <a:t>• </a:t>
            </a:r>
            <a:r>
              <a:rPr sz="1100" b="0">
                <a:solidFill>
                  <a:srgbClr val="FFFFFF"/>
                </a:solidFill>
                <a:latin typeface="Calibri"/>
              </a:rPr>
              <a:t>No error handling or logging</a:t>
            </a:r>
          </a:p>
          <a:p>
            <a:pPr algn="l">
              <a:spcAft>
                <a:spcPts val="600"/>
              </a:spcAft>
            </a:pPr>
            <a:r>
              <a:rPr sz="1100" b="1">
                <a:solidFill>
                  <a:srgbClr val="00B4D8"/>
                </a:solidFill>
                <a:latin typeface="Calibri"/>
              </a:rPr>
              <a:t>• </a:t>
            </a:r>
            <a:r>
              <a:rPr sz="1100" b="0">
                <a:solidFill>
                  <a:srgbClr val="FFFFFF"/>
                </a:solidFill>
                <a:latin typeface="Calibri"/>
              </a:rPr>
              <a:t>Built 8-stage orchestration
pipeline from scratch</a:t>
            </a:r>
          </a:p>
          <a:p>
            <a:pPr algn="l">
              <a:spcAft>
                <a:spcPts val="600"/>
              </a:spcAft>
            </a:pPr>
            <a:r>
              <a:rPr sz="1100" b="1">
                <a:solidFill>
                  <a:srgbClr val="00B4D8"/>
                </a:solidFill>
                <a:latin typeface="Calibri"/>
              </a:rPr>
              <a:t>• </a:t>
            </a:r>
            <a:r>
              <a:rPr sz="1100" b="0">
                <a:solidFill>
                  <a:srgbClr val="FFFFFF"/>
                </a:solidFill>
                <a:latin typeface="Calibri"/>
              </a:rPr>
              <a:t>Added venv management,
GPU detection, logging</a:t>
            </a:r>
          </a:p>
        </p:txBody>
      </p:sp>
      <p:sp>
        <p:nvSpPr>
          <p:cNvPr id="8" name="Rounded Rectangle 7"/>
          <p:cNvSpPr/>
          <p:nvPr/>
        </p:nvSpPr>
        <p:spPr>
          <a:xfrm>
            <a:off x="4450080" y="1417320"/>
            <a:ext cx="3291840" cy="4114800"/>
          </a:xfrm>
          <a:prstGeom prst="roundRect">
            <a:avLst/>
          </a:prstGeom>
          <a:solidFill>
            <a:srgbClr val="152A40"/>
          </a:solidFill>
          <a:ln w="3175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32960" y="1554480"/>
            <a:ext cx="2926080" cy="502920"/>
          </a:xfrm>
          <a:prstGeom prst="rect">
            <a:avLst/>
          </a:prstGeom>
          <a:noFill/>
        </p:spPr>
        <p:txBody>
          <a:bodyPr wrap="square" anchor="t"/>
          <a:lstStyle/>
          <a:p>
            <a:pPr algn="ctr"/>
            <a:r>
              <a:rPr sz="1800" b="1" i="0">
                <a:solidFill>
                  <a:srgbClr val="E06C75"/>
                </a:solidFill>
                <a:latin typeface="Calibri"/>
              </a:rPr>
              <a:t>Migration</a:t>
            </a:r>
          </a:p>
        </p:txBody>
      </p:sp>
      <p:sp>
        <p:nvSpPr>
          <p:cNvPr id="10" name="TextBox 9"/>
          <p:cNvSpPr txBox="1"/>
          <p:nvPr/>
        </p:nvSpPr>
        <p:spPr>
          <a:xfrm>
            <a:off x="4632960" y="2057400"/>
            <a:ext cx="2926080" cy="274320"/>
          </a:xfrm>
          <a:prstGeom prst="rect">
            <a:avLst/>
          </a:prstGeom>
          <a:noFill/>
        </p:spPr>
        <p:txBody>
          <a:bodyPr wrap="square" anchor="t"/>
          <a:lstStyle/>
          <a:p>
            <a:pPr algn="ctr"/>
            <a:r>
              <a:rPr sz="1200" b="0" i="1">
                <a:solidFill>
                  <a:srgbClr val="AAAAAA"/>
                </a:solidFill>
                <a:latin typeface="Calibri"/>
              </a:rPr>
              <a:t>~4–5 weeks</a:t>
            </a:r>
          </a:p>
        </p:txBody>
      </p:sp>
      <p:sp>
        <p:nvSpPr>
          <p:cNvPr id="11" name="TextBox 10"/>
          <p:cNvSpPr txBox="1"/>
          <p:nvPr/>
        </p:nvSpPr>
        <p:spPr>
          <a:xfrm>
            <a:off x="4587240" y="2423160"/>
            <a:ext cx="3017520" cy="2926080"/>
          </a:xfrm>
          <a:prstGeom prst="rect">
            <a:avLst/>
          </a:prstGeom>
          <a:noFill/>
        </p:spPr>
        <p:txBody>
          <a:bodyPr wrap="square">
            <a:spAutoFit/>
          </a:bodyPr>
          <a:lstStyle/>
          <a:p>
            <a:pPr algn="l">
              <a:spcAft>
                <a:spcPts val="600"/>
              </a:spcAft>
            </a:pPr>
            <a:r>
              <a:rPr sz="1100" b="1">
                <a:solidFill>
                  <a:srgbClr val="00B4D8"/>
                </a:solidFill>
                <a:latin typeface="Calibri"/>
              </a:rPr>
              <a:t>• </a:t>
            </a:r>
            <a:r>
              <a:rPr sz="1100" b="0">
                <a:solidFill>
                  <a:srgbClr val="FFFFFF"/>
                </a:solidFill>
                <a:latin typeface="Calibri"/>
              </a:rPr>
              <a:t>EC2 → Docker container</a:t>
            </a:r>
          </a:p>
          <a:p>
            <a:pPr algn="l">
              <a:spcAft>
                <a:spcPts val="600"/>
              </a:spcAft>
            </a:pPr>
            <a:r>
              <a:rPr sz="1100" b="1">
                <a:solidFill>
                  <a:srgbClr val="00B4D8"/>
                </a:solidFill>
                <a:latin typeface="Calibri"/>
              </a:rPr>
              <a:t>• </a:t>
            </a:r>
            <a:r>
              <a:rPr sz="1100" b="0">
                <a:solidFill>
                  <a:srgbClr val="FFFFFF"/>
                </a:solidFill>
                <a:latin typeface="Calibri"/>
              </a:rPr>
              <a:t>Missing NVIDIA GPU drivers</a:t>
            </a:r>
          </a:p>
          <a:p>
            <a:pPr algn="l">
              <a:spcAft>
                <a:spcPts val="600"/>
              </a:spcAft>
            </a:pPr>
            <a:r>
              <a:rPr sz="1100" b="1">
                <a:solidFill>
                  <a:srgbClr val="00B4D8"/>
                </a:solidFill>
                <a:latin typeface="Calibri"/>
              </a:rPr>
              <a:t>• </a:t>
            </a:r>
            <a:r>
              <a:rPr sz="1100" b="0">
                <a:solidFill>
                  <a:srgbClr val="FFFFFF"/>
                </a:solidFill>
                <a:latin typeface="Calibri"/>
              </a:rPr>
              <a:t>Python version conflicts</a:t>
            </a:r>
          </a:p>
          <a:p>
            <a:pPr algn="l">
              <a:spcAft>
                <a:spcPts val="600"/>
              </a:spcAft>
            </a:pPr>
            <a:r>
              <a:rPr sz="1100" b="1">
                <a:solidFill>
                  <a:srgbClr val="00B4D8"/>
                </a:solidFill>
                <a:latin typeface="Calibri"/>
              </a:rPr>
              <a:t>• </a:t>
            </a:r>
            <a:r>
              <a:rPr sz="1100" b="0">
                <a:solidFill>
                  <a:srgbClr val="FFFFFF"/>
                </a:solidFill>
                <a:latin typeface="Calibri"/>
              </a:rPr>
              <a:t>Offline dependency packaging
(no internet in container)</a:t>
            </a:r>
          </a:p>
          <a:p>
            <a:pPr algn="l">
              <a:spcAft>
                <a:spcPts val="600"/>
              </a:spcAft>
            </a:pPr>
            <a:r>
              <a:rPr sz="1100" b="1">
                <a:solidFill>
                  <a:srgbClr val="00B4D8"/>
                </a:solidFill>
                <a:latin typeface="Calibri"/>
              </a:rPr>
              <a:t>• </a:t>
            </a:r>
            <a:r>
              <a:rPr sz="1100" b="0">
                <a:solidFill>
                  <a:srgbClr val="FFFFFF"/>
                </a:solidFill>
                <a:latin typeface="Calibri"/>
              </a:rPr>
              <a:t>spaCy wheels, fairseq patches,
Cython compilation</a:t>
            </a:r>
          </a:p>
          <a:p>
            <a:pPr algn="l">
              <a:spcAft>
                <a:spcPts val="600"/>
              </a:spcAft>
            </a:pPr>
            <a:r>
              <a:rPr sz="1100" b="1">
                <a:solidFill>
                  <a:srgbClr val="00B4D8"/>
                </a:solidFill>
                <a:latin typeface="Calibri"/>
              </a:rPr>
              <a:t>• </a:t>
            </a:r>
            <a:r>
              <a:rPr sz="1100" b="0">
                <a:solidFill>
                  <a:srgbClr val="FFFFFF"/>
                </a:solidFill>
                <a:latin typeface="Calibri"/>
              </a:rPr>
              <a:t>Web UI migration (1–2 weeks
within this phase)</a:t>
            </a:r>
          </a:p>
        </p:txBody>
      </p:sp>
      <p:sp>
        <p:nvSpPr>
          <p:cNvPr id="12" name="Rounded Rectangle 11"/>
          <p:cNvSpPr/>
          <p:nvPr/>
        </p:nvSpPr>
        <p:spPr>
          <a:xfrm>
            <a:off x="8199120" y="1417320"/>
            <a:ext cx="3291840" cy="4114800"/>
          </a:xfrm>
          <a:prstGeom prst="roundRect">
            <a:avLst/>
          </a:prstGeom>
          <a:solidFill>
            <a:srgbClr val="152A40"/>
          </a:solidFill>
          <a:ln w="317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0" y="1554480"/>
            <a:ext cx="2926080" cy="502920"/>
          </a:xfrm>
          <a:prstGeom prst="rect">
            <a:avLst/>
          </a:prstGeom>
          <a:noFill/>
        </p:spPr>
        <p:txBody>
          <a:bodyPr wrap="square" anchor="t"/>
          <a:lstStyle/>
          <a:p>
            <a:pPr algn="ctr"/>
            <a:r>
              <a:rPr sz="1800" b="1" i="0">
                <a:solidFill>
                  <a:srgbClr val="4CAF50"/>
                </a:solidFill>
                <a:latin typeface="Calibri"/>
              </a:rPr>
              <a:t>Bug Fixing &amp;</a:t>
            </a:r>
            <a:br/>
            <a:r>
              <a:rPr sz="1800" b="1" i="0">
                <a:solidFill>
                  <a:srgbClr val="4CAF50"/>
                </a:solidFill>
                <a:latin typeface="Calibri"/>
              </a:rPr>
              <a:t>Refactoring</a:t>
            </a:r>
          </a:p>
        </p:txBody>
      </p:sp>
      <p:sp>
        <p:nvSpPr>
          <p:cNvPr id="14" name="TextBox 13"/>
          <p:cNvSpPr txBox="1"/>
          <p:nvPr/>
        </p:nvSpPr>
        <p:spPr>
          <a:xfrm>
            <a:off x="8382000" y="2057400"/>
            <a:ext cx="2926080" cy="274320"/>
          </a:xfrm>
          <a:prstGeom prst="rect">
            <a:avLst/>
          </a:prstGeom>
          <a:noFill/>
        </p:spPr>
        <p:txBody>
          <a:bodyPr wrap="square" anchor="t"/>
          <a:lstStyle/>
          <a:p>
            <a:pPr algn="ctr"/>
            <a:r>
              <a:rPr sz="1200" b="0" i="1">
                <a:solidFill>
                  <a:srgbClr val="AAAAAA"/>
                </a:solidFill>
                <a:latin typeface="Calibri"/>
              </a:rPr>
              <a:t>Ongoing</a:t>
            </a:r>
          </a:p>
        </p:txBody>
      </p:sp>
      <p:sp>
        <p:nvSpPr>
          <p:cNvPr id="15" name="TextBox 14"/>
          <p:cNvSpPr txBox="1"/>
          <p:nvPr/>
        </p:nvSpPr>
        <p:spPr>
          <a:xfrm>
            <a:off x="8336280" y="2423160"/>
            <a:ext cx="3017520" cy="2926080"/>
          </a:xfrm>
          <a:prstGeom prst="rect">
            <a:avLst/>
          </a:prstGeom>
          <a:noFill/>
        </p:spPr>
        <p:txBody>
          <a:bodyPr wrap="square">
            <a:spAutoFit/>
          </a:bodyPr>
          <a:lstStyle/>
          <a:p>
            <a:pPr algn="l">
              <a:spcAft>
                <a:spcPts val="600"/>
              </a:spcAft>
            </a:pPr>
            <a:r>
              <a:rPr sz="1100" b="1">
                <a:solidFill>
                  <a:srgbClr val="00B4D8"/>
                </a:solidFill>
                <a:latin typeface="Calibri"/>
              </a:rPr>
              <a:t>• </a:t>
            </a:r>
            <a:r>
              <a:rPr sz="1100" b="0">
                <a:solidFill>
                  <a:srgbClr val="FFFFFF"/>
                </a:solidFill>
                <a:latin typeface="Calibri"/>
              </a:rPr>
              <a:t>37+ bugs found and fixed</a:t>
            </a:r>
          </a:p>
          <a:p>
            <a:pPr algn="l">
              <a:spcAft>
                <a:spcPts val="600"/>
              </a:spcAft>
            </a:pPr>
            <a:r>
              <a:rPr sz="1100" b="1">
                <a:solidFill>
                  <a:srgbClr val="00B4D8"/>
                </a:solidFill>
                <a:latin typeface="Calibri"/>
              </a:rPr>
              <a:t>• </a:t>
            </a:r>
            <a:r>
              <a:rPr sz="1100" b="0">
                <a:solidFill>
                  <a:srgbClr val="FFFFFF"/>
                </a:solidFill>
                <a:latin typeface="Calibri"/>
              </a:rPr>
              <a:t>NVENC silent corruption
(destroyed 43% of videos)</a:t>
            </a:r>
          </a:p>
          <a:p>
            <a:pPr algn="l">
              <a:spcAft>
                <a:spcPts val="600"/>
              </a:spcAft>
            </a:pPr>
            <a:r>
              <a:rPr sz="1100" b="1">
                <a:solidFill>
                  <a:srgbClr val="00B4D8"/>
                </a:solidFill>
                <a:latin typeface="Calibri"/>
              </a:rPr>
              <a:t>• </a:t>
            </a:r>
            <a:r>
              <a:rPr sz="1100" b="0">
                <a:solidFill>
                  <a:srgbClr val="FFFFFF"/>
                </a:solidFill>
                <a:latin typeface="Calibri"/>
              </a:rPr>
              <a:t>HDR/10-bit tone mapping</a:t>
            </a:r>
          </a:p>
          <a:p>
            <a:pPr algn="l">
              <a:spcAft>
                <a:spcPts val="600"/>
              </a:spcAft>
            </a:pPr>
            <a:r>
              <a:rPr sz="1100" b="1">
                <a:solidFill>
                  <a:srgbClr val="00B4D8"/>
                </a:solidFill>
                <a:latin typeface="Calibri"/>
              </a:rPr>
              <a:t>• </a:t>
            </a:r>
            <a:r>
              <a:rPr sz="1100" b="0">
                <a:solidFill>
                  <a:srgbClr val="FFFFFF"/>
                </a:solidFill>
                <a:latin typeface="Calibri"/>
              </a:rPr>
              <a:t>823-line monolith → 11 modules
(52% reduction)</a:t>
            </a:r>
          </a:p>
          <a:p>
            <a:pPr algn="l">
              <a:spcAft>
                <a:spcPts val="600"/>
              </a:spcAft>
            </a:pPr>
            <a:r>
              <a:rPr sz="1100" b="1">
                <a:solidFill>
                  <a:srgbClr val="00B4D8"/>
                </a:solidFill>
                <a:latin typeface="Calibri"/>
              </a:rPr>
              <a:t>• </a:t>
            </a:r>
            <a:r>
              <a:rPr sz="1100" b="0">
                <a:solidFill>
                  <a:srgbClr val="FFFFFF"/>
                </a:solidFill>
                <a:latin typeface="Calibri"/>
              </a:rPr>
              <a:t>37 automated tests added</a:t>
            </a:r>
          </a:p>
        </p:txBody>
      </p:sp>
      <p:sp>
        <p:nvSpPr>
          <p:cNvPr id="16" name="TextBox 15"/>
          <p:cNvSpPr txBox="1"/>
          <p:nvPr/>
        </p:nvSpPr>
        <p:spPr>
          <a:xfrm>
            <a:off x="548640" y="5760720"/>
            <a:ext cx="11091672" cy="365760"/>
          </a:xfrm>
          <a:prstGeom prst="rect">
            <a:avLst/>
          </a:prstGeom>
          <a:noFill/>
        </p:spPr>
        <p:txBody>
          <a:bodyPr wrap="square" anchor="t"/>
          <a:lstStyle/>
          <a:p>
            <a:pPr algn="ctr"/>
            <a:r>
              <a:rPr sz="1300" b="0" i="1">
                <a:solidFill>
                  <a:srgbClr val="FFFFFF"/>
                </a:solidFill>
                <a:latin typeface="Calibri"/>
              </a:rPr>
              <a:t>Every bug documented with root cause. Every change synced between EC2 and production container.</a:t>
            </a:r>
          </a:p>
        </p:txBody>
      </p:sp>
      <p:pic>
        <p:nvPicPr>
          <p:cNvPr id="17" name="Picture 16"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8" name="TextBox 17"/>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41</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childTnLst>
                    </p:cTn>
                  </p:par>
                  <p:par>
                    <p:cTn id="7" fill="hold">
                      <p:stCondLst>
                        <p:cond delay="0"/>
                      </p:stCondLst>
                      <p:childTnLst>
                        <p:par>
                          <p:cTn id="8" fill="hold">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par>
                    <p:cTn id="11" fill="hold">
                      <p:stCondLst>
                        <p:cond delay="0"/>
                      </p:stCondLst>
                      <p:childTnLst>
                        <p:par>
                          <p:cTn id="12" fill="hold">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childTnLst>
                    </p:cTn>
                  </p:par>
                  <p:par>
                    <p:cTn id="15" fill="hold">
                      <p:stCondLst>
                        <p:cond delay="0"/>
                      </p:stCondLst>
                      <p:childTnLst>
                        <p:par>
                          <p:cTn id="16" fill="hold">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8" grpId="1"/>
      <p:bldP spid="12" grpId="2"/>
      <p:bldP spid="16" grpId="3"/>
    </p:bld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52% Code Reduction: 823 → 393 Lines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25880"/>
            <a:ext cx="5029200" cy="4114800"/>
          </a:xfrm>
          <a:prstGeom prst="roundRect">
            <a:avLst/>
          </a:prstGeom>
          <a:solidFill>
            <a:srgbClr val="152A40"/>
          </a:solidFill>
          <a:ln w="381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08760"/>
            <a:ext cx="4480560" cy="365760"/>
          </a:xfrm>
          <a:prstGeom prst="rect">
            <a:avLst/>
          </a:prstGeom>
          <a:noFill/>
        </p:spPr>
        <p:txBody>
          <a:bodyPr wrap="square" anchor="t"/>
          <a:lstStyle/>
          <a:p>
            <a:pPr algn="ctr"/>
            <a:r>
              <a:rPr sz="2200" b="1" i="0">
                <a:solidFill>
                  <a:srgbClr val="E06C75"/>
                </a:solidFill>
                <a:latin typeface="Calibri"/>
              </a:rPr>
              <a:t>BEFORE</a:t>
            </a:r>
          </a:p>
        </p:txBody>
      </p:sp>
      <p:sp>
        <p:nvSpPr>
          <p:cNvPr id="6" name="TextBox 5"/>
          <p:cNvSpPr txBox="1"/>
          <p:nvPr/>
        </p:nvSpPr>
        <p:spPr>
          <a:xfrm>
            <a:off x="822960" y="2148840"/>
            <a:ext cx="4480560" cy="2743200"/>
          </a:xfrm>
          <a:prstGeom prst="rect">
            <a:avLst/>
          </a:prstGeom>
          <a:noFill/>
        </p:spPr>
        <p:txBody>
          <a:bodyPr wrap="square">
            <a:spAutoFit/>
          </a:bodyPr>
          <a:lstStyle/>
          <a:p>
            <a:pPr algn="l">
              <a:spcAft>
                <a:spcPts val="600"/>
              </a:spcAft>
            </a:pPr>
            <a:r>
              <a:rPr sz="1500" b="1">
                <a:solidFill>
                  <a:srgbClr val="E06C75"/>
                </a:solidFill>
                <a:latin typeface="Calibri"/>
              </a:rPr>
              <a:t>• </a:t>
            </a:r>
            <a:r>
              <a:rPr sz="1500" b="0">
                <a:solidFill>
                  <a:srgbClr val="FFFFFF"/>
                </a:solidFill>
                <a:latin typeface="Calibri"/>
              </a:rPr>
              <a:t>Monolithic 823-line script</a:t>
            </a:r>
          </a:p>
          <a:p>
            <a:pPr algn="l">
              <a:spcAft>
                <a:spcPts val="600"/>
              </a:spcAft>
            </a:pPr>
            <a:r>
              <a:rPr sz="1500" b="1">
                <a:solidFill>
                  <a:srgbClr val="E06C75"/>
                </a:solidFill>
                <a:latin typeface="Calibri"/>
              </a:rPr>
              <a:t>• </a:t>
            </a:r>
            <a:r>
              <a:rPr sz="1500" b="0">
                <a:solidFill>
                  <a:srgbClr val="FFFFFF"/>
                </a:solidFill>
                <a:latin typeface="Calibri"/>
              </a:rPr>
              <a:t>Fragile, untestable</a:t>
            </a:r>
          </a:p>
          <a:p>
            <a:pPr algn="l">
              <a:spcAft>
                <a:spcPts val="600"/>
              </a:spcAft>
            </a:pPr>
            <a:r>
              <a:rPr sz="1500" b="1">
                <a:solidFill>
                  <a:srgbClr val="E06C75"/>
                </a:solidFill>
                <a:latin typeface="Calibri"/>
              </a:rPr>
              <a:t>• </a:t>
            </a:r>
            <a:r>
              <a:rPr sz="1500" b="0">
                <a:solidFill>
                  <a:srgbClr val="FFFFFF"/>
                </a:solidFill>
                <a:latin typeface="Calibri"/>
              </a:rPr>
              <a:t>No environment detection</a:t>
            </a:r>
          </a:p>
          <a:p>
            <a:pPr algn="l">
              <a:spcAft>
                <a:spcPts val="600"/>
              </a:spcAft>
            </a:pPr>
            <a:r>
              <a:rPr sz="1500" b="1">
                <a:solidFill>
                  <a:srgbClr val="E06C75"/>
                </a:solidFill>
                <a:latin typeface="Calibri"/>
              </a:rPr>
              <a:t>• </a:t>
            </a:r>
            <a:r>
              <a:rPr sz="1500" b="0">
                <a:solidFill>
                  <a:srgbClr val="FFFFFF"/>
                </a:solidFill>
                <a:latin typeface="Calibri"/>
              </a:rPr>
              <a:t>Hardcoded paths everywhere</a:t>
            </a:r>
          </a:p>
        </p:txBody>
      </p:sp>
      <p:sp>
        <p:nvSpPr>
          <p:cNvPr id="7" name="Rounded Rectangle 6"/>
          <p:cNvSpPr/>
          <p:nvPr/>
        </p:nvSpPr>
        <p:spPr>
          <a:xfrm>
            <a:off x="6611111" y="1325880"/>
            <a:ext cx="5029200" cy="4114800"/>
          </a:xfrm>
          <a:prstGeom prst="roundRect">
            <a:avLst/>
          </a:prstGeom>
          <a:solidFill>
            <a:srgbClr val="152A40"/>
          </a:solidFill>
          <a:ln w="381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85431" y="1508760"/>
            <a:ext cx="4480560" cy="365760"/>
          </a:xfrm>
          <a:prstGeom prst="rect">
            <a:avLst/>
          </a:prstGeom>
          <a:noFill/>
        </p:spPr>
        <p:txBody>
          <a:bodyPr wrap="square" anchor="t"/>
          <a:lstStyle/>
          <a:p>
            <a:pPr algn="ctr"/>
            <a:r>
              <a:rPr sz="2200" b="1" i="0">
                <a:solidFill>
                  <a:srgbClr val="00B4D8"/>
                </a:solidFill>
                <a:latin typeface="Calibri"/>
              </a:rPr>
              <a:t>AFTER</a:t>
            </a:r>
          </a:p>
        </p:txBody>
      </p:sp>
      <p:sp>
        <p:nvSpPr>
          <p:cNvPr id="9" name="TextBox 8"/>
          <p:cNvSpPr txBox="1"/>
          <p:nvPr/>
        </p:nvSpPr>
        <p:spPr>
          <a:xfrm>
            <a:off x="6885431" y="2148840"/>
            <a:ext cx="4480560" cy="2743200"/>
          </a:xfrm>
          <a:prstGeom prst="rect">
            <a:avLst/>
          </a:prstGeom>
          <a:noFill/>
        </p:spPr>
        <p:txBody>
          <a:bodyPr wrap="square">
            <a:spAutoFit/>
          </a:bodyPr>
          <a:lstStyle/>
          <a:p>
            <a:pPr algn="l">
              <a:spcAft>
                <a:spcPts val="600"/>
              </a:spcAft>
            </a:pPr>
            <a:r>
              <a:rPr sz="1500" b="1">
                <a:solidFill>
                  <a:srgbClr val="00B4D8"/>
                </a:solidFill>
                <a:latin typeface="Calibri"/>
              </a:rPr>
              <a:t>• </a:t>
            </a:r>
            <a:r>
              <a:rPr sz="1500" b="0">
                <a:solidFill>
                  <a:srgbClr val="FFFFFF"/>
                </a:solidFill>
                <a:latin typeface="Calibri"/>
              </a:rPr>
              <a:t>393-line orchestrator + 11 modules in lib/</a:t>
            </a:r>
          </a:p>
          <a:p>
            <a:pPr algn="l">
              <a:spcAft>
                <a:spcPts val="600"/>
              </a:spcAft>
            </a:pPr>
            <a:r>
              <a:rPr sz="1500" b="1">
                <a:solidFill>
                  <a:srgbClr val="00B4D8"/>
                </a:solidFill>
                <a:latin typeface="Calibri"/>
              </a:rPr>
              <a:t>• </a:t>
            </a:r>
            <a:r>
              <a:rPr sz="1500" b="0">
                <a:solidFill>
                  <a:srgbClr val="00B4D8"/>
                </a:solidFill>
                <a:latin typeface="Calibri"/>
              </a:rPr>
              <a:t>37 automated tests</a:t>
            </a:r>
          </a:p>
          <a:p>
            <a:pPr algn="l">
              <a:spcAft>
                <a:spcPts val="600"/>
              </a:spcAft>
            </a:pPr>
            <a:r>
              <a:rPr sz="1500" b="1">
                <a:solidFill>
                  <a:srgbClr val="00B4D8"/>
                </a:solidFill>
                <a:latin typeface="Calibri"/>
              </a:rPr>
              <a:t>• </a:t>
            </a:r>
            <a:r>
              <a:rPr sz="1500" b="0">
                <a:solidFill>
                  <a:srgbClr val="FFFFFF"/>
                </a:solidFill>
                <a:latin typeface="Calibri"/>
              </a:rPr>
              <a:t>Each stage independently testable</a:t>
            </a:r>
          </a:p>
          <a:p>
            <a:pPr algn="l">
              <a:spcAft>
                <a:spcPts val="600"/>
              </a:spcAft>
            </a:pPr>
            <a:r>
              <a:rPr sz="1500" b="1">
                <a:solidFill>
                  <a:srgbClr val="00B4D8"/>
                </a:solidFill>
                <a:latin typeface="Calibri"/>
              </a:rPr>
              <a:t>• </a:t>
            </a:r>
            <a:r>
              <a:rPr sz="1500" b="0">
                <a:solidFill>
                  <a:srgbClr val="FFFFFF"/>
                </a:solidFill>
                <a:latin typeface="Calibri"/>
              </a:rPr>
              <a:t>Auto-detects EC2 vs container</a:t>
            </a:r>
          </a:p>
        </p:txBody>
      </p:sp>
      <p:pic>
        <p:nvPicPr>
          <p:cNvPr id="10" name="Picture 9"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1" name="TextBox 10"/>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42</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childTnLst>
                    </p:cTn>
                  </p:par>
                  <p:par>
                    <p:cTn id="7" fill="hold">
                      <p:stCondLst>
                        <p:cond delay="0"/>
                      </p:stCondLst>
                      <p:childTnLst>
                        <p:par>
                          <p:cTn id="8" fill="hold">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p:bldLst>
  </p:timing>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Standalone Container — No Cloud Required</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5074920"/>
          </a:xfrm>
          <a:prstGeom prst="rect">
            <a:avLst/>
          </a:prstGeom>
          <a:noFill/>
        </p:spPr>
        <p:txBody>
          <a:bodyPr wrap="square">
            <a:spAutoFit/>
          </a:bodyPr>
          <a:lstStyle/>
          <a:p>
            <a:pPr algn="l">
              <a:spcAft>
                <a:spcPts val="600"/>
              </a:spcAft>
            </a:pPr>
            <a:r>
              <a:rPr sz="1500" b="1">
                <a:solidFill>
                  <a:srgbClr val="00B4D8"/>
                </a:solidFill>
                <a:latin typeface="Calibri"/>
              </a:rPr>
              <a:t>• </a:t>
            </a:r>
            <a:r>
              <a:rPr sz="1500" b="0">
                <a:solidFill>
                  <a:srgbClr val="FFFFFF"/>
                </a:solidFill>
                <a:latin typeface="Calibri"/>
              </a:rPr>
              <a:t>Docker container with web UI on Linux machine</a:t>
            </a:r>
          </a:p>
          <a:p>
            <a:pPr algn="l">
              <a:spcAft>
                <a:spcPts val="600"/>
              </a:spcAft>
            </a:pPr>
            <a:r>
              <a:rPr sz="1500" b="1">
                <a:solidFill>
                  <a:srgbClr val="00B4D8"/>
                </a:solidFill>
                <a:latin typeface="Calibri"/>
              </a:rPr>
              <a:t>• </a:t>
            </a:r>
            <a:r>
              <a:rPr sz="1500" b="0">
                <a:solidFill>
                  <a:srgbClr val="FFFFFF"/>
                </a:solidFill>
                <a:latin typeface="Calibri"/>
              </a:rPr>
              <a:t>Drag-and-drop video upload</a:t>
            </a:r>
          </a:p>
          <a:p>
            <a:pPr algn="l">
              <a:spcAft>
                <a:spcPts val="600"/>
              </a:spcAft>
            </a:pPr>
            <a:r>
              <a:rPr sz="1500" b="1">
                <a:solidFill>
                  <a:srgbClr val="00B4D8"/>
                </a:solidFill>
                <a:latin typeface="Calibri"/>
              </a:rPr>
              <a:t>• </a:t>
            </a:r>
            <a:r>
              <a:rPr sz="1500" b="0">
                <a:solidFill>
                  <a:srgbClr val="FFFFFF"/>
                </a:solidFill>
                <a:latin typeface="Calibri"/>
              </a:rPr>
              <a:t>Automatic end-to-end processing</a:t>
            </a:r>
          </a:p>
          <a:p>
            <a:pPr algn="l">
              <a:spcAft>
                <a:spcPts val="600"/>
              </a:spcAft>
            </a:pPr>
            <a:r>
              <a:rPr sz="1500" b="1">
                <a:solidFill>
                  <a:srgbClr val="00B4D8"/>
                </a:solidFill>
                <a:latin typeface="Calibri"/>
              </a:rPr>
              <a:t>• </a:t>
            </a:r>
            <a:r>
              <a:rPr sz="1500" b="0">
                <a:solidFill>
                  <a:srgbClr val="FFFFFF"/>
                </a:solidFill>
                <a:latin typeface="Calibri"/>
              </a:rPr>
              <a:t>INSTALL.sh overlay with backup and verification</a:t>
            </a:r>
          </a:p>
          <a:p>
            <a:pPr algn="l">
              <a:spcAft>
                <a:spcPts val="600"/>
              </a:spcAft>
            </a:pPr>
            <a:r>
              <a:rPr sz="1500" b="1">
                <a:solidFill>
                  <a:srgbClr val="00B4D8"/>
                </a:solidFill>
                <a:latin typeface="Calibri"/>
              </a:rPr>
              <a:t>• </a:t>
            </a:r>
            <a:r>
              <a:rPr sz="1500" b="1">
                <a:solidFill>
                  <a:srgbClr val="00B4D8"/>
                </a:solidFill>
                <a:latin typeface="Calibri"/>
              </a:rPr>
              <a:t>Currently deployed at client site</a:t>
            </a:r>
          </a:p>
        </p:txBody>
      </p:sp>
      <p:pic>
        <p:nvPicPr>
          <p:cNvPr id="5" name="Picture 4"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6" name="TextBox 5"/>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43</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timing>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User Experience: Web Interface</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365760"/>
          </a:xfrm>
          <a:prstGeom prst="rect">
            <a:avLst/>
          </a:prstGeom>
          <a:noFill/>
        </p:spPr>
        <p:txBody>
          <a:bodyPr wrap="square" anchor="t"/>
          <a:lstStyle/>
          <a:p>
            <a:pPr algn="l"/>
            <a:r>
              <a:rPr sz="1800" b="1" i="0">
                <a:solidFill>
                  <a:srgbClr val="00B4D8"/>
                </a:solidFill>
                <a:latin typeface="Calibri"/>
              </a:rPr>
              <a:t>Web UI Features</a:t>
            </a:r>
          </a:p>
        </p:txBody>
      </p:sp>
      <p:sp>
        <p:nvSpPr>
          <p:cNvPr id="5" name="TextBox 4"/>
          <p:cNvSpPr txBox="1"/>
          <p:nvPr/>
        </p:nvSpPr>
        <p:spPr>
          <a:xfrm>
            <a:off x="548640" y="1783080"/>
            <a:ext cx="5029200" cy="3200400"/>
          </a:xfrm>
          <a:prstGeom prst="rect">
            <a:avLst/>
          </a:prstGeom>
          <a:noFill/>
        </p:spPr>
        <p:txBody>
          <a:bodyPr wrap="square">
            <a:spAutoFit/>
          </a:bodyPr>
          <a:lstStyle/>
          <a:p>
            <a:pPr algn="l">
              <a:spcAft>
                <a:spcPts val="600"/>
              </a:spcAft>
            </a:pPr>
            <a:r>
              <a:rPr sz="1400" b="1">
                <a:solidFill>
                  <a:srgbClr val="00B4D8"/>
                </a:solidFill>
                <a:latin typeface="Calibri"/>
              </a:rPr>
              <a:t>• </a:t>
            </a:r>
            <a:r>
              <a:rPr sz="1400" b="0">
                <a:solidFill>
                  <a:srgbClr val="FFFFFF"/>
                </a:solidFill>
                <a:latin typeface="Calibri"/>
              </a:rPr>
              <a:t>Drag-and-drop video upload</a:t>
            </a:r>
          </a:p>
          <a:p>
            <a:pPr algn="l">
              <a:spcAft>
                <a:spcPts val="600"/>
              </a:spcAft>
            </a:pPr>
            <a:r>
              <a:rPr sz="1400" b="1">
                <a:solidFill>
                  <a:srgbClr val="00B4D8"/>
                </a:solidFill>
                <a:latin typeface="Calibri"/>
              </a:rPr>
              <a:t>• </a:t>
            </a:r>
            <a:r>
              <a:rPr sz="1400" b="0">
                <a:solidFill>
                  <a:srgbClr val="FFFFFF"/>
                </a:solidFill>
                <a:latin typeface="Calibri"/>
              </a:rPr>
              <a:t>Real-time pipeline progress display</a:t>
            </a:r>
          </a:p>
          <a:p>
            <a:pPr algn="l">
              <a:spcAft>
                <a:spcPts val="600"/>
              </a:spcAft>
            </a:pPr>
            <a:r>
              <a:rPr sz="1400" b="1">
                <a:solidFill>
                  <a:srgbClr val="00B4D8"/>
                </a:solidFill>
                <a:latin typeface="Calibri"/>
              </a:rPr>
              <a:t>• </a:t>
            </a:r>
            <a:r>
              <a:rPr sz="1400" b="0">
                <a:solidFill>
                  <a:srgbClr val="FFFFFF"/>
                </a:solidFill>
                <a:latin typeface="Calibri"/>
              </a:rPr>
              <a:t>Side-by-side burned video comparison</a:t>
            </a:r>
          </a:p>
          <a:p>
            <a:pPr algn="l">
              <a:spcAft>
                <a:spcPts val="600"/>
              </a:spcAft>
            </a:pPr>
            <a:r>
              <a:rPr sz="1400" b="1">
                <a:solidFill>
                  <a:srgbClr val="00B4D8"/>
                </a:solidFill>
                <a:latin typeface="Calibri"/>
              </a:rPr>
              <a:t>• </a:t>
            </a:r>
            <a:r>
              <a:rPr sz="1400" b="0">
                <a:solidFill>
                  <a:srgbClr val="FFFFFF"/>
                </a:solidFill>
                <a:latin typeface="Calibri"/>
              </a:rPr>
              <a:t>Per-segment JSON reports with all metrics</a:t>
            </a:r>
          </a:p>
          <a:p>
            <a:pPr algn="l">
              <a:spcAft>
                <a:spcPts val="600"/>
              </a:spcAft>
            </a:pPr>
            <a:r>
              <a:rPr sz="1400" b="1">
                <a:solidFill>
                  <a:srgbClr val="00B4D8"/>
                </a:solidFill>
                <a:latin typeface="Calibri"/>
              </a:rPr>
              <a:t>• </a:t>
            </a:r>
            <a:r>
              <a:rPr sz="1400" b="0">
                <a:solidFill>
                  <a:srgbClr val="FFFFFF"/>
                </a:solidFill>
                <a:latin typeface="Calibri"/>
              </a:rPr>
              <a:t>Single-click processing start</a:t>
            </a:r>
          </a:p>
          <a:p>
            <a:pPr algn="l">
              <a:spcAft>
                <a:spcPts val="600"/>
              </a:spcAft>
            </a:pPr>
            <a:r>
              <a:rPr sz="1400" b="1">
                <a:solidFill>
                  <a:srgbClr val="00B4D8"/>
                </a:solidFill>
                <a:latin typeface="Calibri"/>
              </a:rPr>
              <a:t>• </a:t>
            </a:r>
            <a:r>
              <a:rPr sz="1400" b="1">
                <a:solidFill>
                  <a:srgbClr val="FFFFFF"/>
                </a:solidFill>
                <a:latin typeface="Calibri"/>
              </a:rPr>
              <a:t>No command line needed</a:t>
            </a:r>
          </a:p>
        </p:txBody>
      </p:sp>
      <p:sp>
        <p:nvSpPr>
          <p:cNvPr id="6" name="Rounded Rectangle 5"/>
          <p:cNvSpPr/>
          <p:nvPr/>
        </p:nvSpPr>
        <p:spPr>
          <a:xfrm>
            <a:off x="6611111" y="1325880"/>
            <a:ext cx="5029200" cy="3657600"/>
          </a:xfrm>
          <a:prstGeom prst="roundRect">
            <a:avLst/>
          </a:prstGeom>
          <a:solidFill>
            <a:srgbClr val="152A40"/>
          </a:solidFill>
          <a:ln w="1270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11111" y="2697480"/>
            <a:ext cx="5029200" cy="457200"/>
          </a:xfrm>
          <a:prstGeom prst="rect">
            <a:avLst/>
          </a:prstGeom>
          <a:noFill/>
        </p:spPr>
        <p:txBody>
          <a:bodyPr wrap="square" anchor="t"/>
          <a:lstStyle/>
          <a:p>
            <a:pPr algn="ctr"/>
            <a:r>
              <a:rPr sz="2000" b="0" i="0">
                <a:solidFill>
                  <a:srgbClr val="666666"/>
                </a:solidFill>
                <a:latin typeface="Calibri"/>
              </a:rPr>
              <a:t>UI Screenshot</a:t>
            </a:r>
          </a:p>
        </p:txBody>
      </p:sp>
      <p:sp>
        <p:nvSpPr>
          <p:cNvPr id="8" name="TextBox 7"/>
          <p:cNvSpPr txBox="1"/>
          <p:nvPr/>
        </p:nvSpPr>
        <p:spPr>
          <a:xfrm>
            <a:off x="6611111" y="3246120"/>
            <a:ext cx="5029200" cy="365760"/>
          </a:xfrm>
          <a:prstGeom prst="rect">
            <a:avLst/>
          </a:prstGeom>
          <a:noFill/>
        </p:spPr>
        <p:txBody>
          <a:bodyPr wrap="square" anchor="t"/>
          <a:lstStyle/>
          <a:p>
            <a:pPr algn="ctr"/>
            <a:r>
              <a:rPr sz="1200" b="0" i="1">
                <a:solidFill>
                  <a:srgbClr val="666666"/>
                </a:solidFill>
                <a:latin typeface="Calibri"/>
              </a:rPr>
              <a:t>(will be added from running server)</a:t>
            </a:r>
          </a:p>
        </p:txBody>
      </p:sp>
      <p:pic>
        <p:nvPicPr>
          <p:cNvPr id="9" name="Picture 8"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0" name="TextBox 9"/>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44</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fill="hold">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10" fill="hold">
                      <p:stCondLst>
                        <p:cond delay="0"/>
                      </p:stCondLst>
                      <p:childTnLst>
                        <p:par>
                          <p:cTn id="11" fill="hold">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p:bld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Pipeline Intelligence</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78180" y="1508760"/>
            <a:ext cx="2468880" cy="365760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5340" y="1783080"/>
            <a:ext cx="2194560" cy="457200"/>
          </a:xfrm>
          <a:prstGeom prst="rect">
            <a:avLst/>
          </a:prstGeom>
          <a:noFill/>
        </p:spPr>
        <p:txBody>
          <a:bodyPr wrap="square" anchor="t"/>
          <a:lstStyle/>
          <a:p>
            <a:pPr algn="ctr"/>
            <a:r>
              <a:rPr sz="1600" b="1" i="0">
                <a:solidFill>
                  <a:srgbClr val="00B4D8"/>
                </a:solidFill>
                <a:latin typeface="Calibri"/>
              </a:rPr>
              <a:t>Transcription Reuse</a:t>
            </a:r>
          </a:p>
        </p:txBody>
      </p:sp>
      <p:sp>
        <p:nvSpPr>
          <p:cNvPr id="6" name="TextBox 5"/>
          <p:cNvSpPr txBox="1"/>
          <p:nvPr/>
        </p:nvSpPr>
        <p:spPr>
          <a:xfrm>
            <a:off x="815340" y="2377440"/>
            <a:ext cx="2194560" cy="2468880"/>
          </a:xfrm>
          <a:prstGeom prst="rect">
            <a:avLst/>
          </a:prstGeom>
          <a:noFill/>
        </p:spPr>
        <p:txBody>
          <a:bodyPr wrap="square" anchor="t"/>
          <a:lstStyle/>
          <a:p>
            <a:pPr algn="l"/>
            <a:r>
              <a:rPr sz="1200" b="0" i="0">
                <a:solidFill>
                  <a:srgbClr val="FFFFFF"/>
                </a:solidFill>
                <a:latin typeface="Calibri"/>
              </a:rPr>
              <a:t>Manual corrections persist across runs. Whisper skips matched segments, saving hours.</a:t>
            </a:r>
          </a:p>
        </p:txBody>
      </p:sp>
      <p:sp>
        <p:nvSpPr>
          <p:cNvPr id="7" name="Rounded Rectangle 6"/>
          <p:cNvSpPr/>
          <p:nvPr/>
        </p:nvSpPr>
        <p:spPr>
          <a:xfrm>
            <a:off x="3467100" y="1508760"/>
            <a:ext cx="2468880" cy="365760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4260" y="1783080"/>
            <a:ext cx="2194560" cy="457200"/>
          </a:xfrm>
          <a:prstGeom prst="rect">
            <a:avLst/>
          </a:prstGeom>
          <a:noFill/>
        </p:spPr>
        <p:txBody>
          <a:bodyPr wrap="square" anchor="t"/>
          <a:lstStyle/>
          <a:p>
            <a:pPr algn="ctr"/>
            <a:r>
              <a:rPr sz="1600" b="1" i="0">
                <a:solidFill>
                  <a:srgbClr val="E06C75"/>
                </a:solidFill>
                <a:latin typeface="Calibri"/>
              </a:rPr>
              <a:t>Golden K-means</a:t>
            </a:r>
          </a:p>
        </p:txBody>
      </p:sp>
      <p:sp>
        <p:nvSpPr>
          <p:cNvPr id="9" name="TextBox 8"/>
          <p:cNvSpPr txBox="1"/>
          <p:nvPr/>
        </p:nvSpPr>
        <p:spPr>
          <a:xfrm>
            <a:off x="3604260" y="2377440"/>
            <a:ext cx="2194560" cy="2468880"/>
          </a:xfrm>
          <a:prstGeom prst="rect">
            <a:avLst/>
          </a:prstGeom>
          <a:noFill/>
        </p:spPr>
        <p:txBody>
          <a:bodyPr wrap="square" anchor="t"/>
          <a:lstStyle/>
          <a:p>
            <a:pPr algn="l"/>
            <a:r>
              <a:rPr sz="1200" b="0" i="0">
                <a:solidFill>
                  <a:srgbClr val="FFFFFF"/>
                </a:solidFill>
                <a:latin typeface="Calibri"/>
              </a:rPr>
              <a:t>1,396-video baseline clustering model for consistent feature extraction.</a:t>
            </a:r>
          </a:p>
        </p:txBody>
      </p:sp>
      <p:sp>
        <p:nvSpPr>
          <p:cNvPr id="10" name="Rounded Rectangle 9"/>
          <p:cNvSpPr/>
          <p:nvPr/>
        </p:nvSpPr>
        <p:spPr>
          <a:xfrm>
            <a:off x="6256020" y="1508760"/>
            <a:ext cx="2468880" cy="3657600"/>
          </a:xfrm>
          <a:prstGeom prst="roundRect">
            <a:avLst/>
          </a:prstGeom>
          <a:solidFill>
            <a:srgbClr val="152A40"/>
          </a:solidFill>
          <a:ln w="2540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3180" y="1783080"/>
            <a:ext cx="2194560" cy="457200"/>
          </a:xfrm>
          <a:prstGeom prst="rect">
            <a:avLst/>
          </a:prstGeom>
          <a:noFill/>
        </p:spPr>
        <p:txBody>
          <a:bodyPr wrap="square" anchor="t"/>
          <a:lstStyle/>
          <a:p>
            <a:pPr algn="ctr"/>
            <a:r>
              <a:rPr sz="1600" b="1" i="0">
                <a:solidFill>
                  <a:srgbClr val="AAAAAA"/>
                </a:solidFill>
                <a:latin typeface="Calibri"/>
              </a:rPr>
              <a:t>Smart Segmentation</a:t>
            </a:r>
          </a:p>
        </p:txBody>
      </p:sp>
      <p:sp>
        <p:nvSpPr>
          <p:cNvPr id="12" name="TextBox 11"/>
          <p:cNvSpPr txBox="1"/>
          <p:nvPr/>
        </p:nvSpPr>
        <p:spPr>
          <a:xfrm>
            <a:off x="6393180" y="2377440"/>
            <a:ext cx="2194560" cy="2468880"/>
          </a:xfrm>
          <a:prstGeom prst="rect">
            <a:avLst/>
          </a:prstGeom>
          <a:noFill/>
        </p:spPr>
        <p:txBody>
          <a:bodyPr wrap="square" anchor="t"/>
          <a:lstStyle/>
          <a:p>
            <a:pPr algn="l"/>
            <a:r>
              <a:rPr sz="1200" b="0" i="0">
                <a:solidFill>
                  <a:srgbClr val="FFFFFF"/>
                </a:solidFill>
                <a:latin typeface="Calibri"/>
              </a:rPr>
              <a:t>Configurable overlap for context preservation across segment boundaries.</a:t>
            </a:r>
          </a:p>
        </p:txBody>
      </p:sp>
      <p:sp>
        <p:nvSpPr>
          <p:cNvPr id="13" name="Rounded Rectangle 12"/>
          <p:cNvSpPr/>
          <p:nvPr/>
        </p:nvSpPr>
        <p:spPr>
          <a:xfrm>
            <a:off x="9044940" y="1508760"/>
            <a:ext cx="2468880" cy="3657600"/>
          </a:xfrm>
          <a:prstGeom prst="roundRect">
            <a:avLst/>
          </a:prstGeom>
          <a:solidFill>
            <a:srgbClr val="152A40"/>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2100" y="1783080"/>
            <a:ext cx="2194560" cy="457200"/>
          </a:xfrm>
          <a:prstGeom prst="rect">
            <a:avLst/>
          </a:prstGeom>
          <a:noFill/>
        </p:spPr>
        <p:txBody>
          <a:bodyPr wrap="square" anchor="t"/>
          <a:lstStyle/>
          <a:p>
            <a:pPr algn="ctr"/>
            <a:r>
              <a:rPr sz="1600" b="1" i="0">
                <a:solidFill>
                  <a:srgbClr val="4CAF50"/>
                </a:solidFill>
                <a:latin typeface="Calibri"/>
              </a:rPr>
              <a:t>Intelligibility Score (IS)</a:t>
            </a:r>
          </a:p>
        </p:txBody>
      </p:sp>
      <p:sp>
        <p:nvSpPr>
          <p:cNvPr id="15" name="TextBox 14"/>
          <p:cNvSpPr txBox="1"/>
          <p:nvPr/>
        </p:nvSpPr>
        <p:spPr>
          <a:xfrm>
            <a:off x="9182100" y="2377440"/>
            <a:ext cx="2194560" cy="2468880"/>
          </a:xfrm>
          <a:prstGeom prst="rect">
            <a:avLst/>
          </a:prstGeom>
          <a:noFill/>
        </p:spPr>
        <p:txBody>
          <a:bodyPr wrap="square" anchor="t"/>
          <a:lstStyle/>
          <a:p>
            <a:pPr algn="l"/>
            <a:r>
              <a:rPr sz="1200" b="0" i="0">
                <a:solidFill>
                  <a:srgbClr val="FFFFFF"/>
                </a:solidFill>
                <a:latin typeface="Calibri"/>
              </a:rPr>
              <a:t>IS = 0-5 composite of 6 signals (semantic, phonetic, WER, WWER, NEA, length ratio). Rubric, weights, tiers, and failure taxonomy designed at development time — distilled into deterministic code (no LLM API calls at runtime). Validated: r=0.925 across 16 configs, 88.6% agreement. 6 signals collapse into 3 independent dimensions (PCA).</a:t>
            </a:r>
          </a:p>
        </p:txBody>
      </p:sp>
      <p:pic>
        <p:nvPicPr>
          <p:cNvPr id="16" name="Picture 15"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7" name="TextBox 16"/>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45</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childTnLst>
                    </p:cTn>
                  </p:par>
                  <p:par>
                    <p:cTn id="7" fill="hold">
                      <p:stCondLst>
                        <p:cond delay="0"/>
                      </p:stCondLst>
                      <p:childTnLst>
                        <p:par>
                          <p:cTn id="8" fill="hold">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par>
                    <p:cTn id="11" fill="hold">
                      <p:stCondLst>
                        <p:cond delay="0"/>
                      </p:stCondLst>
                      <p:childTnLst>
                        <p:par>
                          <p:cTn id="12" fill="hold">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childTnLst>
                    </p:cTn>
                  </p:par>
                  <p:par>
                    <p:cTn id="15" fill="hold">
                      <p:stCondLst>
                        <p:cond delay="0"/>
                      </p:stCondLst>
                      <p:childTnLst>
                        <p:par>
                          <p:cTn id="16" fill="hold">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p:bldP spid="10" grpId="2"/>
      <p:bldP spid="13" grpId="3"/>
    </p:bld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Two Environments: Development and Production</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365760"/>
          </a:xfrm>
          <a:prstGeom prst="rect">
            <a:avLst/>
          </a:prstGeom>
          <a:noFill/>
        </p:spPr>
        <p:txBody>
          <a:bodyPr wrap="square" anchor="t"/>
          <a:lstStyle/>
          <a:p>
            <a:pPr algn="l"/>
            <a:r>
              <a:rPr sz="1800" b="1" i="0">
                <a:solidFill>
                  <a:srgbClr val="00B4D8"/>
                </a:solidFill>
                <a:latin typeface="Calibri"/>
              </a:rPr>
              <a:t>EC2 (Development)</a:t>
            </a:r>
          </a:p>
        </p:txBody>
      </p:sp>
      <p:sp>
        <p:nvSpPr>
          <p:cNvPr id="5" name="Rounded Rectangle 4"/>
          <p:cNvSpPr/>
          <p:nvPr/>
        </p:nvSpPr>
        <p:spPr>
          <a:xfrm>
            <a:off x="548640" y="1783080"/>
            <a:ext cx="5029200" cy="137160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74520"/>
            <a:ext cx="4663440" cy="1097280"/>
          </a:xfrm>
          <a:prstGeom prst="rect">
            <a:avLst/>
          </a:prstGeom>
          <a:noFill/>
        </p:spPr>
        <p:txBody>
          <a:bodyPr wrap="square">
            <a:spAutoFit/>
          </a:bodyPr>
          <a:lstStyle/>
          <a:p>
            <a:pPr algn="l">
              <a:spcAft>
                <a:spcPts val="600"/>
              </a:spcAft>
            </a:pPr>
            <a:r>
              <a:rPr sz="1300" b="1">
                <a:solidFill>
                  <a:srgbClr val="00B4D8"/>
                </a:solidFill>
                <a:latin typeface="Calibri"/>
              </a:rPr>
              <a:t>• </a:t>
            </a:r>
            <a:r>
              <a:rPr sz="1300" b="0">
                <a:solidFill>
                  <a:srgbClr val="FFFFFF"/>
                </a:solidFill>
                <a:latin typeface="Calibri"/>
              </a:rPr>
              <a:t>Full research environment</a:t>
            </a:r>
          </a:p>
          <a:p>
            <a:pPr algn="l">
              <a:spcAft>
                <a:spcPts val="600"/>
              </a:spcAft>
            </a:pPr>
            <a:r>
              <a:rPr sz="1300" b="1">
                <a:solidFill>
                  <a:srgbClr val="00B4D8"/>
                </a:solidFill>
                <a:latin typeface="Calibri"/>
              </a:rPr>
              <a:t>• </a:t>
            </a:r>
            <a:r>
              <a:rPr sz="1300" b="0">
                <a:solidFill>
                  <a:srgbClr val="FFFFFF"/>
                </a:solidFill>
                <a:latin typeface="Calibri"/>
              </a:rPr>
              <a:t>GPU: Tesla T4 (16GB)</a:t>
            </a:r>
          </a:p>
          <a:p>
            <a:pPr algn="l">
              <a:spcAft>
                <a:spcPts val="600"/>
              </a:spcAft>
            </a:pPr>
            <a:r>
              <a:rPr sz="1300" b="1">
                <a:solidFill>
                  <a:srgbClr val="00B4D8"/>
                </a:solidFill>
                <a:latin typeface="Calibri"/>
              </a:rPr>
              <a:t>• </a:t>
            </a:r>
            <a:r>
              <a:rPr sz="1300" b="0">
                <a:solidFill>
                  <a:srgbClr val="FFFFFF"/>
                </a:solidFill>
                <a:latin typeface="Calibri"/>
              </a:rPr>
              <a:t>Path: /home/ubuntu/</a:t>
            </a:r>
          </a:p>
          <a:p>
            <a:pPr algn="l">
              <a:spcAft>
                <a:spcPts val="600"/>
              </a:spcAft>
            </a:pPr>
            <a:r>
              <a:rPr sz="1300" b="1">
                <a:solidFill>
                  <a:srgbClr val="00B4D8"/>
                </a:solidFill>
                <a:latin typeface="Calibri"/>
              </a:rPr>
              <a:t>• </a:t>
            </a:r>
            <a:r>
              <a:rPr sz="1300" b="0">
                <a:solidFill>
                  <a:srgbClr val="FFFFFF"/>
                </a:solidFill>
                <a:latin typeface="Calibri"/>
              </a:rPr>
              <a:t>All datasets and evaluation tools</a:t>
            </a:r>
          </a:p>
        </p:txBody>
      </p:sp>
      <p:sp>
        <p:nvSpPr>
          <p:cNvPr id="7" name="TextBox 6"/>
          <p:cNvSpPr txBox="1"/>
          <p:nvPr/>
        </p:nvSpPr>
        <p:spPr>
          <a:xfrm>
            <a:off x="548640" y="3429000"/>
            <a:ext cx="5029200" cy="365760"/>
          </a:xfrm>
          <a:prstGeom prst="rect">
            <a:avLst/>
          </a:prstGeom>
          <a:noFill/>
        </p:spPr>
        <p:txBody>
          <a:bodyPr wrap="square" anchor="t"/>
          <a:lstStyle/>
          <a:p>
            <a:pPr algn="l"/>
            <a:r>
              <a:rPr sz="1800" b="1" i="0">
                <a:solidFill>
                  <a:srgbClr val="E06C75"/>
                </a:solidFill>
                <a:latin typeface="Calibri"/>
              </a:rPr>
              <a:t>Container (Production)</a:t>
            </a:r>
          </a:p>
        </p:txBody>
      </p:sp>
      <p:sp>
        <p:nvSpPr>
          <p:cNvPr id="8" name="Rounded Rectangle 7"/>
          <p:cNvSpPr/>
          <p:nvPr/>
        </p:nvSpPr>
        <p:spPr>
          <a:xfrm>
            <a:off x="548640" y="3886200"/>
            <a:ext cx="5029200" cy="137160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977640"/>
            <a:ext cx="4663440" cy="1097280"/>
          </a:xfrm>
          <a:prstGeom prst="rect">
            <a:avLst/>
          </a:prstGeom>
          <a:noFill/>
        </p:spPr>
        <p:txBody>
          <a:bodyPr wrap="square">
            <a:spAutoFit/>
          </a:bodyPr>
          <a:lstStyle/>
          <a:p>
            <a:pPr algn="l">
              <a:spcAft>
                <a:spcPts val="600"/>
              </a:spcAft>
            </a:pPr>
            <a:r>
              <a:rPr sz="1300" b="1">
                <a:solidFill>
                  <a:srgbClr val="00B4D8"/>
                </a:solidFill>
                <a:latin typeface="Calibri"/>
              </a:rPr>
              <a:t>• </a:t>
            </a:r>
            <a:r>
              <a:rPr sz="1300" b="0">
                <a:solidFill>
                  <a:srgbClr val="FFFFFF"/>
                </a:solidFill>
                <a:latin typeface="Calibri"/>
              </a:rPr>
              <a:t>Docker container, no internet</a:t>
            </a:r>
          </a:p>
          <a:p>
            <a:pPr algn="l">
              <a:spcAft>
                <a:spcPts val="600"/>
              </a:spcAft>
            </a:pPr>
            <a:r>
              <a:rPr sz="1300" b="1">
                <a:solidFill>
                  <a:srgbClr val="00B4D8"/>
                </a:solidFill>
                <a:latin typeface="Calibri"/>
              </a:rPr>
              <a:t>• </a:t>
            </a:r>
            <a:r>
              <a:rPr sz="1300" b="0">
                <a:solidFill>
                  <a:srgbClr val="FFFFFF"/>
                </a:solidFill>
                <a:latin typeface="Calibri"/>
              </a:rPr>
              <a:t>GPU: client hardware</a:t>
            </a:r>
          </a:p>
          <a:p>
            <a:pPr algn="l">
              <a:spcAft>
                <a:spcPts val="600"/>
              </a:spcAft>
            </a:pPr>
            <a:r>
              <a:rPr sz="1300" b="1">
                <a:solidFill>
                  <a:srgbClr val="00B4D8"/>
                </a:solidFill>
                <a:latin typeface="Calibri"/>
              </a:rPr>
              <a:t>• </a:t>
            </a:r>
            <a:r>
              <a:rPr sz="1300" b="0">
                <a:solidFill>
                  <a:srgbClr val="FFFFFF"/>
                </a:solidFill>
                <a:latin typeface="Calibri"/>
              </a:rPr>
              <a:t>Path: /workspace/</a:t>
            </a:r>
          </a:p>
          <a:p>
            <a:pPr algn="l">
              <a:spcAft>
                <a:spcPts val="600"/>
              </a:spcAft>
            </a:pPr>
            <a:r>
              <a:rPr sz="1300" b="1">
                <a:solidFill>
                  <a:srgbClr val="00B4D8"/>
                </a:solidFill>
                <a:latin typeface="Calibri"/>
              </a:rPr>
              <a:t>• </a:t>
            </a:r>
            <a:r>
              <a:rPr sz="1300" b="0">
                <a:solidFill>
                  <a:srgbClr val="FFFFFF"/>
                </a:solidFill>
                <a:latin typeface="Calibri"/>
              </a:rPr>
              <a:t>Pipeline + web UI only</a:t>
            </a:r>
          </a:p>
        </p:txBody>
      </p:sp>
      <p:sp>
        <p:nvSpPr>
          <p:cNvPr id="10" name="TextBox 9"/>
          <p:cNvSpPr txBox="1"/>
          <p:nvPr/>
        </p:nvSpPr>
        <p:spPr>
          <a:xfrm>
            <a:off x="6611111" y="1325880"/>
            <a:ext cx="5029200" cy="365760"/>
          </a:xfrm>
          <a:prstGeom prst="rect">
            <a:avLst/>
          </a:prstGeom>
          <a:noFill/>
        </p:spPr>
        <p:txBody>
          <a:bodyPr wrap="square" anchor="t"/>
          <a:lstStyle/>
          <a:p>
            <a:pPr algn="l"/>
            <a:r>
              <a:rPr sz="1800" b="1" i="0">
                <a:solidFill>
                  <a:srgbClr val="E06C75"/>
                </a:solidFill>
                <a:latin typeface="Calibri"/>
              </a:rPr>
              <a:t>Synchronization Challenge</a:t>
            </a:r>
          </a:p>
        </p:txBody>
      </p:sp>
      <p:sp>
        <p:nvSpPr>
          <p:cNvPr id="11" name="TextBox 10"/>
          <p:cNvSpPr txBox="1"/>
          <p:nvPr/>
        </p:nvSpPr>
        <p:spPr>
          <a:xfrm>
            <a:off x="6611111" y="1874520"/>
            <a:ext cx="5029200" cy="640080"/>
          </a:xfrm>
          <a:prstGeom prst="rect">
            <a:avLst/>
          </a:prstGeom>
          <a:noFill/>
        </p:spPr>
        <p:txBody>
          <a:bodyPr wrap="square" anchor="t"/>
          <a:lstStyle/>
          <a:p>
            <a:pPr algn="ctr"/>
            <a:r>
              <a:rPr sz="4800" b="1" i="0">
                <a:solidFill>
                  <a:srgbClr val="E06C75"/>
                </a:solidFill>
                <a:latin typeface="Calibri"/>
              </a:rPr>
              <a:t>26</a:t>
            </a:r>
          </a:p>
        </p:txBody>
      </p:sp>
      <p:sp>
        <p:nvSpPr>
          <p:cNvPr id="12" name="TextBox 11"/>
          <p:cNvSpPr txBox="1"/>
          <p:nvPr/>
        </p:nvSpPr>
        <p:spPr>
          <a:xfrm>
            <a:off x="6611111" y="2423160"/>
            <a:ext cx="5029200" cy="274320"/>
          </a:xfrm>
          <a:prstGeom prst="rect">
            <a:avLst/>
          </a:prstGeom>
          <a:noFill/>
        </p:spPr>
        <p:txBody>
          <a:bodyPr wrap="square" anchor="t"/>
          <a:lstStyle/>
          <a:p>
            <a:pPr algn="ctr"/>
            <a:r>
              <a:rPr sz="1400" b="0" i="0">
                <a:solidFill>
                  <a:srgbClr val="FFFFFF"/>
                </a:solidFill>
                <a:latin typeface="Calibri"/>
              </a:rPr>
              <a:t>tracked sync items</a:t>
            </a:r>
          </a:p>
        </p:txBody>
      </p:sp>
      <p:sp>
        <p:nvSpPr>
          <p:cNvPr id="13" name="TextBox 12"/>
          <p:cNvSpPr txBox="1"/>
          <p:nvPr/>
        </p:nvSpPr>
        <p:spPr>
          <a:xfrm>
            <a:off x="6611111" y="2971800"/>
            <a:ext cx="5029200" cy="2743200"/>
          </a:xfrm>
          <a:prstGeom prst="rect">
            <a:avLst/>
          </a:prstGeom>
          <a:noFill/>
        </p:spPr>
        <p:txBody>
          <a:bodyPr wrap="square">
            <a:spAutoFit/>
          </a:bodyPr>
          <a:lstStyle/>
          <a:p>
            <a:pPr algn="l">
              <a:spcAft>
                <a:spcPts val="600"/>
              </a:spcAft>
            </a:pPr>
            <a:r>
              <a:rPr sz="1300" b="1">
                <a:solidFill>
                  <a:srgbClr val="00B4D8"/>
                </a:solidFill>
                <a:latin typeface="Calibri"/>
              </a:rPr>
              <a:t>• </a:t>
            </a:r>
            <a:r>
              <a:rPr sz="1300" b="0">
                <a:solidFill>
                  <a:srgbClr val="FFFFFF"/>
                </a:solidFill>
                <a:latin typeface="Calibri"/>
              </a:rPr>
              <a:t>Every EC2 change must be replicated to container</a:t>
            </a:r>
          </a:p>
          <a:p>
            <a:pPr algn="l">
              <a:spcAft>
                <a:spcPts val="600"/>
              </a:spcAft>
            </a:pPr>
            <a:r>
              <a:rPr sz="1300" b="1">
                <a:solidFill>
                  <a:srgbClr val="00B4D8"/>
                </a:solidFill>
                <a:latin typeface="Calibri"/>
              </a:rPr>
              <a:t>• </a:t>
            </a:r>
            <a:r>
              <a:rPr sz="1300" b="0">
                <a:solidFill>
                  <a:srgbClr val="FFFFFF"/>
                </a:solidFill>
                <a:latin typeface="Calibri"/>
              </a:rPr>
              <a:t>Path translations (/home/ubuntu/ → /workspace/)</a:t>
            </a:r>
          </a:p>
          <a:p>
            <a:pPr algn="l">
              <a:spcAft>
                <a:spcPts val="600"/>
              </a:spcAft>
            </a:pPr>
            <a:r>
              <a:rPr sz="1300" b="1">
                <a:solidFill>
                  <a:srgbClr val="00B4D8"/>
                </a:solidFill>
                <a:latin typeface="Calibri"/>
              </a:rPr>
              <a:t>• </a:t>
            </a:r>
            <a:r>
              <a:rPr sz="1300" b="0">
                <a:solidFill>
                  <a:srgbClr val="FFFFFF"/>
                </a:solidFill>
                <a:latin typeface="Calibri"/>
              </a:rPr>
              <a:t>Different Python environments and dependencies</a:t>
            </a:r>
          </a:p>
          <a:p>
            <a:pPr algn="l">
              <a:spcAft>
                <a:spcPts val="600"/>
              </a:spcAft>
            </a:pPr>
            <a:r>
              <a:rPr sz="1300" b="1">
                <a:solidFill>
                  <a:srgbClr val="00B4D8"/>
                </a:solidFill>
                <a:latin typeface="Calibri"/>
              </a:rPr>
              <a:t>• </a:t>
            </a:r>
            <a:r>
              <a:rPr sz="1300" b="0">
                <a:solidFill>
                  <a:srgbClr val="00B4D8"/>
                </a:solidFill>
                <a:latin typeface="Calibri"/>
              </a:rPr>
              <a:t>Detailed sync changelog with exact code diffs</a:t>
            </a:r>
          </a:p>
          <a:p>
            <a:pPr algn="l">
              <a:spcAft>
                <a:spcPts val="600"/>
              </a:spcAft>
            </a:pPr>
            <a:r>
              <a:rPr sz="1300" b="1">
                <a:solidFill>
                  <a:srgbClr val="00B4D8"/>
                </a:solidFill>
                <a:latin typeface="Calibri"/>
              </a:rPr>
              <a:t>• </a:t>
            </a:r>
            <a:r>
              <a:rPr sz="1300" b="0">
                <a:solidFill>
                  <a:srgbClr val="FFFFFF"/>
                </a:solidFill>
                <a:latin typeface="Calibri"/>
              </a:rPr>
              <a:t>INSTALL.sh overlay with 13-point verification</a:t>
            </a:r>
          </a:p>
        </p:txBody>
      </p:sp>
      <p:pic>
        <p:nvPicPr>
          <p:cNvPr id="14" name="Picture 13"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5" name="TextBox 14"/>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46</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00"/>
                                  <p:tgtEl>
                                    <p:spTgt spid="5"/>
                                  </p:tgtEl>
                                </p:cBhvr>
                              </p:animEffect>
                            </p:childTnLst>
                          </p:cTn>
                        </p:par>
                        <p:par>
                          <p:cTn id="7" fill="hold">
                            <p:stCondLst>
                              <p:cond delay="12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500"/>
                                  <p:tgtEl>
                                    <p:spTgt spid="8"/>
                                  </p:tgtEl>
                                </p:cBhvr>
                              </p:animEffect>
                            </p:childTnLst>
                          </p:cTn>
                        </p:par>
                      </p:childTnLst>
                    </p:cTn>
                  </p:par>
                  <p:par>
                    <p:cTn id="10" fill="hold">
                      <p:stCondLst>
                        <p:cond delay="0"/>
                      </p:stCondLst>
                      <p:childTnLst>
                        <p:par>
                          <p:cTn id="11" fill="hold">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fill="hold">
                            <p:stCondLst>
                              <p:cond delay="12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10" grpId="1"/>
      <p:bldP spid="13" grpId="1"/>
    </p:bld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2011680"/>
            <a:ext cx="11091672" cy="1097280"/>
          </a:xfrm>
          <a:prstGeom prst="rect">
            <a:avLst/>
          </a:prstGeom>
          <a:noFill/>
        </p:spPr>
        <p:txBody>
          <a:bodyPr wrap="square" anchor="t"/>
          <a:lstStyle/>
          <a:p>
            <a:pPr algn="ctr"/>
            <a:r>
              <a:rPr sz="4800" b="1" i="0">
                <a:solidFill>
                  <a:srgbClr val="4CAF50"/>
                </a:solidFill>
                <a:latin typeface="Calibri"/>
              </a:rPr>
              <a:t>FUTURE DIRECTIONS</a:t>
            </a:r>
          </a:p>
        </p:txBody>
      </p:sp>
      <p:sp>
        <p:nvSpPr>
          <p:cNvPr id="3" name="TextBox 2"/>
          <p:cNvSpPr txBox="1"/>
          <p:nvPr/>
        </p:nvSpPr>
        <p:spPr>
          <a:xfrm>
            <a:off x="548640" y="3200400"/>
            <a:ext cx="11091672" cy="548640"/>
          </a:xfrm>
          <a:prstGeom prst="rect">
            <a:avLst/>
          </a:prstGeom>
          <a:noFill/>
        </p:spPr>
        <p:txBody>
          <a:bodyPr wrap="square" anchor="t"/>
          <a:lstStyle/>
          <a:p>
            <a:pPr algn="ctr"/>
            <a:r>
              <a:rPr sz="2200" b="0" i="0">
                <a:solidFill>
                  <a:srgbClr val="AAAAAA"/>
                </a:solidFill>
                <a:latin typeface="Calibri"/>
              </a:rPr>
              <a:t>From Analysis to Action</a:t>
            </a:r>
          </a:p>
        </p:txBody>
      </p:sp>
      <p:sp>
        <p:nvSpPr>
          <p:cNvPr id="4" name="Rectangle 3"/>
          <p:cNvSpPr/>
          <p:nvPr/>
        </p:nvSpPr>
        <p:spPr>
          <a:xfrm>
            <a:off x="4114800" y="3931920"/>
            <a:ext cx="3959352" cy="36576"/>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389120"/>
            <a:ext cx="11091672" cy="457200"/>
          </a:xfrm>
          <a:prstGeom prst="rect">
            <a:avLst/>
          </a:prstGeom>
          <a:noFill/>
        </p:spPr>
        <p:txBody>
          <a:bodyPr wrap="square" anchor="t"/>
          <a:lstStyle/>
          <a:p>
            <a:pPr algn="ctr"/>
            <a:r>
              <a:rPr sz="1600" b="0" i="0">
                <a:solidFill>
                  <a:srgbClr val="666666"/>
                </a:solidFill>
                <a:latin typeface="Calibri"/>
              </a:rPr>
              <a:t>5 research insights  →  5-phase improvement roadmap</a:t>
            </a:r>
          </a:p>
        </p:txBody>
      </p:sp>
      <p:pic>
        <p:nvPicPr>
          <p:cNvPr id="6" name="Picture 5"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7" name="TextBox 6"/>
          <p:cNvSpPr txBox="1"/>
          <p:nvPr/>
        </p:nvSpPr>
        <p:spPr>
          <a:xfrm>
            <a:off x="548640" y="6510528"/>
            <a:ext cx="457200" cy="228600"/>
          </a:xfrm>
          <a:prstGeom prst="rect">
            <a:avLst/>
          </a:prstGeom>
          <a:noFill/>
        </p:spPr>
        <p:txBody>
          <a:bodyPr wrap="none">
            <a:spAutoFit/>
          </a:bodyPr>
          <a:lstStyle/>
          <a:p>
            <a:pPr>
              <a:defRPr sz="900" b="0" i="0">
                <a:solidFill>
                  <a:srgbClr val="666666"/>
                </a:solidFill>
                <a:latin typeface="Calibri"/>
              </a:defRPr>
            </a:pPr>
          </a:p>
        </p:txBody>
      </p:sp>
    </p:spTree>
  </p:cSld>
  <p:clrMapOvr>
    <a:masterClrMapping/>
  </p:clrMapOvr>
  <p:transition spd="med"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Five Insights That Inform the Roadmap</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48640" y="1417320"/>
            <a:ext cx="457200" cy="45720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457200" cy="457200"/>
          </a:xfrm>
          <a:prstGeom prst="rect">
            <a:avLst/>
          </a:prstGeom>
          <a:noFill/>
        </p:spPr>
        <p:txBody>
          <a:bodyPr wrap="square" anchor="t"/>
          <a:lstStyle/>
          <a:p>
            <a:pPr algn="ctr"/>
            <a:r>
              <a:rPr sz="1800" b="1" i="0">
                <a:solidFill>
                  <a:srgbClr val="FFFFFF"/>
                </a:solidFill>
                <a:latin typeface="Calibri"/>
              </a:rPr>
              <a:t>1</a:t>
            </a:r>
          </a:p>
        </p:txBody>
      </p:sp>
      <p:sp>
        <p:nvSpPr>
          <p:cNvPr id="6" name="TextBox 5"/>
          <p:cNvSpPr txBox="1"/>
          <p:nvPr/>
        </p:nvSpPr>
        <p:spPr>
          <a:xfrm>
            <a:off x="1188720" y="1344168"/>
            <a:ext cx="10360152" cy="740664"/>
          </a:xfrm>
          <a:prstGeom prst="rect">
            <a:avLst/>
          </a:prstGeom>
          <a:noFill/>
        </p:spPr>
        <p:txBody>
          <a:bodyPr wrap="square">
            <a:spAutoFit/>
          </a:bodyPr>
          <a:lstStyle/>
          <a:p>
            <a:pPr algn="l">
              <a:spcAft>
                <a:spcPts val="600"/>
              </a:spcAft>
            </a:pPr>
            <a:r>
              <a:rPr sz="1400" b="1" i="0">
                <a:solidFill>
                  <a:srgbClr val="FFFFFF"/>
                </a:solidFill>
                <a:latin typeface="Calibri"/>
              </a:rPr>
              <a:t>The visual encoder is the bottleneck, not the LLM</a:t>
            </a:r>
          </a:p>
          <a:p>
            <a:pPr algn="l">
              <a:spcAft>
                <a:spcPts val="600"/>
              </a:spcAft>
            </a:pPr>
            <a:r>
              <a:rPr sz="1100" b="0" i="0">
                <a:solidFill>
                  <a:srgbClr val="AAAAAA"/>
                </a:solidFill>
                <a:latin typeface="Calibri"/>
              </a:rPr>
              <a:t>Per-segment IS rankings are identical across 16 configs (r &gt; 0.92). Tuning the LLM's decode parameters changes almost nothing.</a:t>
            </a:r>
          </a:p>
        </p:txBody>
      </p:sp>
      <p:sp>
        <p:nvSpPr>
          <p:cNvPr id="7" name="Oval 6"/>
          <p:cNvSpPr/>
          <p:nvPr/>
        </p:nvSpPr>
        <p:spPr>
          <a:xfrm>
            <a:off x="548640" y="2286000"/>
            <a:ext cx="457200" cy="457200"/>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286000"/>
            <a:ext cx="457200" cy="457200"/>
          </a:xfrm>
          <a:prstGeom prst="rect">
            <a:avLst/>
          </a:prstGeom>
          <a:noFill/>
        </p:spPr>
        <p:txBody>
          <a:bodyPr wrap="square" anchor="t"/>
          <a:lstStyle/>
          <a:p>
            <a:pPr algn="ctr"/>
            <a:r>
              <a:rPr sz="1800" b="1" i="0">
                <a:solidFill>
                  <a:srgbClr val="FFFFFF"/>
                </a:solidFill>
                <a:latin typeface="Calibri"/>
              </a:rPr>
              <a:t>2</a:t>
            </a:r>
          </a:p>
        </p:txBody>
      </p:sp>
      <p:sp>
        <p:nvSpPr>
          <p:cNvPr id="9" name="TextBox 8"/>
          <p:cNvSpPr txBox="1"/>
          <p:nvPr/>
        </p:nvSpPr>
        <p:spPr>
          <a:xfrm>
            <a:off x="1188720" y="2212848"/>
            <a:ext cx="10360152" cy="740664"/>
          </a:xfrm>
          <a:prstGeom prst="rect">
            <a:avLst/>
          </a:prstGeom>
          <a:noFill/>
        </p:spPr>
        <p:txBody>
          <a:bodyPr wrap="square">
            <a:spAutoFit/>
          </a:bodyPr>
          <a:lstStyle/>
          <a:p>
            <a:pPr algn="l">
              <a:spcAft>
                <a:spcPts val="600"/>
              </a:spcAft>
            </a:pPr>
            <a:r>
              <a:rPr sz="1400" b="1" i="0">
                <a:solidFill>
                  <a:srgbClr val="FFFFFF"/>
                </a:solidFill>
                <a:latin typeface="Calibri"/>
              </a:rPr>
              <a:t>WER dramatically overstates failure</a:t>
            </a:r>
          </a:p>
          <a:p>
            <a:pPr algn="l">
              <a:spcAft>
                <a:spcPts val="600"/>
              </a:spcAft>
            </a:pPr>
            <a:r>
              <a:rPr sz="1100" b="0" i="0">
                <a:solidFill>
                  <a:srgbClr val="AAAAAA"/>
                </a:solidFill>
                <a:latin typeface="Calibri"/>
              </a:rPr>
              <a:t>40% properly captured vs WER's 11% — 3.5× more. Even 51% with LLM salvage. Most useful output has moderate WER (50–70%).</a:t>
            </a:r>
          </a:p>
        </p:txBody>
      </p:sp>
      <p:sp>
        <p:nvSpPr>
          <p:cNvPr id="10" name="Oval 9"/>
          <p:cNvSpPr/>
          <p:nvPr/>
        </p:nvSpPr>
        <p:spPr>
          <a:xfrm>
            <a:off x="548640" y="3154680"/>
            <a:ext cx="457200" cy="457200"/>
          </a:xfrm>
          <a:prstGeom prst="ellipse">
            <a:avLst/>
          </a:prstGeom>
          <a:solidFill>
            <a:srgbClr val="E06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154680"/>
            <a:ext cx="457200" cy="457200"/>
          </a:xfrm>
          <a:prstGeom prst="rect">
            <a:avLst/>
          </a:prstGeom>
          <a:noFill/>
        </p:spPr>
        <p:txBody>
          <a:bodyPr wrap="square" anchor="t"/>
          <a:lstStyle/>
          <a:p>
            <a:pPr algn="ctr"/>
            <a:r>
              <a:rPr sz="1800" b="1" i="0">
                <a:solidFill>
                  <a:srgbClr val="FFFFFF"/>
                </a:solidFill>
                <a:latin typeface="Calibri"/>
              </a:rPr>
              <a:t>3</a:t>
            </a:r>
          </a:p>
        </p:txBody>
      </p:sp>
      <p:sp>
        <p:nvSpPr>
          <p:cNvPr id="12" name="TextBox 11"/>
          <p:cNvSpPr txBox="1"/>
          <p:nvPr/>
        </p:nvSpPr>
        <p:spPr>
          <a:xfrm>
            <a:off x="1188720" y="3081528"/>
            <a:ext cx="10360152" cy="740664"/>
          </a:xfrm>
          <a:prstGeom prst="rect">
            <a:avLst/>
          </a:prstGeom>
          <a:noFill/>
        </p:spPr>
        <p:txBody>
          <a:bodyPr wrap="square">
            <a:spAutoFit/>
          </a:bodyPr>
          <a:lstStyle/>
          <a:p>
            <a:pPr algn="l">
              <a:spcAft>
                <a:spcPts val="600"/>
              </a:spcAft>
            </a:pPr>
            <a:r>
              <a:rPr sz="1400" b="1" i="0">
                <a:solidFill>
                  <a:srgbClr val="FFFFFF"/>
                </a:solidFill>
                <a:latin typeface="Calibri"/>
              </a:rPr>
              <a:t>Domain mismatch is the primary quality driver</a:t>
            </a:r>
          </a:p>
          <a:p>
            <a:pPr algn="l">
              <a:spcAft>
                <a:spcPts val="600"/>
              </a:spcAft>
            </a:pPr>
            <a:r>
              <a:rPr sz="1100" b="0" i="0">
                <a:solidFill>
                  <a:srgbClr val="AAAAAA"/>
                </a:solidFill>
                <a:latin typeface="Calibri"/>
              </a:rPr>
              <a:t>IS ranges from 3.08 (Business) to 2.13 (DIY). Training data is TED talks — formal, educational, frontal face.</a:t>
            </a:r>
          </a:p>
        </p:txBody>
      </p:sp>
      <p:sp>
        <p:nvSpPr>
          <p:cNvPr id="13" name="Oval 12"/>
          <p:cNvSpPr/>
          <p:nvPr/>
        </p:nvSpPr>
        <p:spPr>
          <a:xfrm>
            <a:off x="548640" y="4023360"/>
            <a:ext cx="457200" cy="457200"/>
          </a:xfrm>
          <a:prstGeom prst="ellipse">
            <a:avLst/>
          </a:prstGeom>
          <a:solidFill>
            <a:srgbClr val="E06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023360"/>
            <a:ext cx="457200" cy="457200"/>
          </a:xfrm>
          <a:prstGeom prst="rect">
            <a:avLst/>
          </a:prstGeom>
          <a:noFill/>
        </p:spPr>
        <p:txBody>
          <a:bodyPr wrap="square" anchor="t"/>
          <a:lstStyle/>
          <a:p>
            <a:pPr algn="ctr"/>
            <a:r>
              <a:rPr sz="1800" b="1" i="0">
                <a:solidFill>
                  <a:srgbClr val="FFFFFF"/>
                </a:solidFill>
                <a:latin typeface="Calibri"/>
              </a:rPr>
              <a:t>4</a:t>
            </a:r>
          </a:p>
        </p:txBody>
      </p:sp>
      <p:sp>
        <p:nvSpPr>
          <p:cNvPr id="15" name="TextBox 14"/>
          <p:cNvSpPr txBox="1"/>
          <p:nvPr/>
        </p:nvSpPr>
        <p:spPr>
          <a:xfrm>
            <a:off x="1188720" y="3950208"/>
            <a:ext cx="10360152" cy="740664"/>
          </a:xfrm>
          <a:prstGeom prst="rect">
            <a:avLst/>
          </a:prstGeom>
          <a:noFill/>
        </p:spPr>
        <p:txBody>
          <a:bodyPr wrap="square">
            <a:spAutoFit/>
          </a:bodyPr>
          <a:lstStyle/>
          <a:p>
            <a:pPr algn="l">
              <a:spcAft>
                <a:spcPts val="600"/>
              </a:spcAft>
            </a:pPr>
            <a:r>
              <a:rPr sz="1400" b="1" i="0">
                <a:solidFill>
                  <a:srgbClr val="FFFFFF"/>
                </a:solidFill>
                <a:latin typeface="Calibri"/>
              </a:rPr>
              <a:t>Data scarcity, not model capacity, limits fine-tuning</a:t>
            </a:r>
          </a:p>
          <a:p>
            <a:pPr algn="l">
              <a:spcAft>
                <a:spcPts val="600"/>
              </a:spcAft>
            </a:pPr>
            <a:r>
              <a:rPr sz="1100" b="0" i="0">
                <a:solidFill>
                  <a:srgbClr val="AAAAAA"/>
                </a:solidFill>
                <a:latin typeface="Calibri"/>
              </a:rPr>
              <a:t>1,273 segments is below the ~1K LoRA minimum. r=64 was 3.1pp WORSE than r=16 — faster overfitting, not better learning.</a:t>
            </a:r>
          </a:p>
        </p:txBody>
      </p:sp>
      <p:sp>
        <p:nvSpPr>
          <p:cNvPr id="16" name="Oval 15"/>
          <p:cNvSpPr/>
          <p:nvPr/>
        </p:nvSpPr>
        <p:spPr>
          <a:xfrm>
            <a:off x="548640" y="4892040"/>
            <a:ext cx="457200" cy="45720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892040"/>
            <a:ext cx="457200" cy="457200"/>
          </a:xfrm>
          <a:prstGeom prst="rect">
            <a:avLst/>
          </a:prstGeom>
          <a:noFill/>
        </p:spPr>
        <p:txBody>
          <a:bodyPr wrap="square" anchor="t"/>
          <a:lstStyle/>
          <a:p>
            <a:pPr algn="ctr"/>
            <a:r>
              <a:rPr sz="1800" b="1" i="0">
                <a:solidFill>
                  <a:srgbClr val="FFFFFF"/>
                </a:solidFill>
                <a:latin typeface="Calibri"/>
              </a:rPr>
              <a:t>5</a:t>
            </a:r>
          </a:p>
        </p:txBody>
      </p:sp>
      <p:sp>
        <p:nvSpPr>
          <p:cNvPr id="18" name="TextBox 17"/>
          <p:cNvSpPr txBox="1"/>
          <p:nvPr/>
        </p:nvSpPr>
        <p:spPr>
          <a:xfrm>
            <a:off x="1188720" y="4818888"/>
            <a:ext cx="10360152" cy="740664"/>
          </a:xfrm>
          <a:prstGeom prst="rect">
            <a:avLst/>
          </a:prstGeom>
          <a:noFill/>
        </p:spPr>
        <p:txBody>
          <a:bodyPr wrap="square">
            <a:spAutoFit/>
          </a:bodyPr>
          <a:lstStyle/>
          <a:p>
            <a:pPr algn="l">
              <a:spcAft>
                <a:spcPts val="600"/>
              </a:spcAft>
            </a:pPr>
            <a:r>
              <a:rPr sz="1400" b="1" i="0">
                <a:solidFill>
                  <a:srgbClr val="FFFFFF"/>
                </a:solidFill>
                <a:latin typeface="Calibri"/>
              </a:rPr>
              <a:t>Gains are multiplicative, not additive</a:t>
            </a:r>
          </a:p>
          <a:p>
            <a:pPr algn="l">
              <a:spcAft>
                <a:spcPts val="600"/>
              </a:spcAft>
            </a:pPr>
            <a:r>
              <a:rPr sz="1100" b="0" i="0">
                <a:solidFill>
                  <a:srgbClr val="AAAAAA"/>
                </a:solidFill>
                <a:latin typeface="Calibri"/>
              </a:rPr>
              <a:t>ICLR 2024 scaling law: stronger LLM × more data × smart prompts compound. Each lever alone is modest; together they're transformative.</a:t>
            </a:r>
          </a:p>
        </p:txBody>
      </p:sp>
      <p:pic>
        <p:nvPicPr>
          <p:cNvPr id="19" name="Picture 18"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20" name="TextBox 19"/>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47</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fill="hold">
                            <p:stCondLst>
                              <p:cond delay="12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500"/>
                                  <p:tgtEl>
                                    <p:spTgt spid="7"/>
                                  </p:tgtEl>
                                </p:cBhvr>
                              </p:animEffect>
                            </p:childTnLst>
                          </p:cTn>
                        </p:par>
                        <p:par>
                          <p:cTn id="10" fill="hold">
                            <p:stCondLst>
                              <p:cond delay="24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fill="hold">
                            <p:stCondLst>
                              <p:cond delay="36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fill="hold">
                            <p:stCondLst>
                              <p:cond delay="48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p:bldP spid="13" grpId="0"/>
      <p:bldP spid="16" grpId="0"/>
    </p:bldLst>
  </p:timing>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Starting from 40%, Not 11%</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25880"/>
            <a:ext cx="3474720" cy="201168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17320"/>
            <a:ext cx="3108960" cy="320040"/>
          </a:xfrm>
          <a:prstGeom prst="rect">
            <a:avLst/>
          </a:prstGeom>
          <a:noFill/>
        </p:spPr>
        <p:txBody>
          <a:bodyPr wrap="square" anchor="t"/>
          <a:lstStyle/>
          <a:p>
            <a:pPr algn="l"/>
            <a:r>
              <a:rPr sz="1600" b="1" i="0">
                <a:solidFill>
                  <a:srgbClr val="E06C75"/>
                </a:solidFill>
                <a:latin typeface="Calibri"/>
              </a:rPr>
              <a:t>WER Says</a:t>
            </a:r>
          </a:p>
        </p:txBody>
      </p:sp>
      <p:sp>
        <p:nvSpPr>
          <p:cNvPr id="6" name="TextBox 5"/>
          <p:cNvSpPr txBox="1"/>
          <p:nvPr/>
        </p:nvSpPr>
        <p:spPr>
          <a:xfrm>
            <a:off x="731520" y="1828800"/>
            <a:ext cx="3108960" cy="1097280"/>
          </a:xfrm>
          <a:prstGeom prst="rect">
            <a:avLst/>
          </a:prstGeom>
          <a:noFill/>
        </p:spPr>
        <p:txBody>
          <a:bodyPr wrap="square">
            <a:spAutoFit/>
          </a:bodyPr>
          <a:lstStyle/>
          <a:p>
            <a:pPr algn="l">
              <a:spcAft>
                <a:spcPts val="600"/>
              </a:spcAft>
            </a:pPr>
            <a:r>
              <a:rPr sz="1300" b="1">
                <a:solidFill>
                  <a:srgbClr val="E06C75"/>
                </a:solidFill>
                <a:latin typeface="Calibri"/>
              </a:rPr>
              <a:t>• </a:t>
            </a:r>
            <a:r>
              <a:rPr sz="1300" b="0">
                <a:solidFill>
                  <a:srgbClr val="FFFFFF"/>
                </a:solidFill>
                <a:latin typeface="Calibri"/>
              </a:rPr>
              <a:t>11.4% usable</a:t>
            </a:r>
          </a:p>
          <a:p>
            <a:pPr algn="l">
              <a:spcAft>
                <a:spcPts val="600"/>
              </a:spcAft>
            </a:pPr>
            <a:r>
              <a:rPr sz="1300" b="1">
                <a:solidFill>
                  <a:srgbClr val="E06C75"/>
                </a:solidFill>
                <a:latin typeface="Calibri"/>
              </a:rPr>
              <a:t>• </a:t>
            </a:r>
            <a:r>
              <a:rPr sz="1300" b="0">
                <a:solidFill>
                  <a:srgbClr val="FFFFFF"/>
                </a:solidFill>
                <a:latin typeface="Calibri"/>
              </a:rPr>
              <a:t>9 out of 10 segments fail</a:t>
            </a:r>
          </a:p>
          <a:p>
            <a:pPr algn="l">
              <a:spcAft>
                <a:spcPts val="600"/>
              </a:spcAft>
            </a:pPr>
            <a:r>
              <a:rPr sz="1300" b="1">
                <a:solidFill>
                  <a:srgbClr val="E06C75"/>
                </a:solidFill>
                <a:latin typeface="Calibri"/>
              </a:rPr>
              <a:t>• </a:t>
            </a:r>
            <a:r>
              <a:rPr sz="1300" b="0">
                <a:solidFill>
                  <a:srgbClr val="FFFFFF"/>
                </a:solidFill>
                <a:latin typeface="Calibri"/>
              </a:rPr>
              <a:t>Ignores phonetic preservation (41.5%)</a:t>
            </a:r>
          </a:p>
        </p:txBody>
      </p:sp>
      <p:sp>
        <p:nvSpPr>
          <p:cNvPr id="7" name="Rounded Rectangle 6"/>
          <p:cNvSpPr/>
          <p:nvPr/>
        </p:nvSpPr>
        <p:spPr>
          <a:xfrm>
            <a:off x="4297680" y="1325880"/>
            <a:ext cx="3474720" cy="201168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1417320"/>
            <a:ext cx="3108960" cy="320040"/>
          </a:xfrm>
          <a:prstGeom prst="rect">
            <a:avLst/>
          </a:prstGeom>
          <a:noFill/>
        </p:spPr>
        <p:txBody>
          <a:bodyPr wrap="square" anchor="t"/>
          <a:lstStyle/>
          <a:p>
            <a:pPr algn="l"/>
            <a:r>
              <a:rPr sz="1600" b="1" i="0">
                <a:solidFill>
                  <a:srgbClr val="00B4D8"/>
                </a:solidFill>
                <a:latin typeface="Calibri"/>
              </a:rPr>
              <a:t>IS Says</a:t>
            </a:r>
          </a:p>
        </p:txBody>
      </p:sp>
      <p:sp>
        <p:nvSpPr>
          <p:cNvPr id="9" name="TextBox 8"/>
          <p:cNvSpPr txBox="1"/>
          <p:nvPr/>
        </p:nvSpPr>
        <p:spPr>
          <a:xfrm>
            <a:off x="4480560" y="1828800"/>
            <a:ext cx="3108960" cy="1097280"/>
          </a:xfrm>
          <a:prstGeom prst="rect">
            <a:avLst/>
          </a:prstGeom>
          <a:noFill/>
        </p:spPr>
        <p:txBody>
          <a:bodyPr wrap="square">
            <a:spAutoFit/>
          </a:bodyPr>
          <a:lstStyle/>
          <a:p>
            <a:pPr algn="l">
              <a:spcAft>
                <a:spcPts val="600"/>
              </a:spcAft>
            </a:pPr>
            <a:r>
              <a:rPr sz="1300" b="1">
                <a:solidFill>
                  <a:srgbClr val="00B4D8"/>
                </a:solidFill>
                <a:latin typeface="Calibri"/>
              </a:rPr>
              <a:t>• </a:t>
            </a:r>
            <a:r>
              <a:rPr sz="1300" b="1">
                <a:solidFill>
                  <a:srgbClr val="FFFFFF"/>
                </a:solidFill>
                <a:latin typeface="Calibri"/>
              </a:rPr>
              <a:t>39.9% properly captured (IS ≥ 3.0)</a:t>
            </a:r>
          </a:p>
          <a:p>
            <a:pPr algn="l">
              <a:spcAft>
                <a:spcPts val="600"/>
              </a:spcAft>
            </a:pPr>
            <a:r>
              <a:rPr sz="1300" b="1">
                <a:solidFill>
                  <a:srgbClr val="00B4D8"/>
                </a:solidFill>
                <a:latin typeface="Calibri"/>
              </a:rPr>
              <a:t>• </a:t>
            </a:r>
            <a:r>
              <a:rPr sz="1300" b="0">
                <a:solidFill>
                  <a:srgbClr val="4CAF50"/>
                </a:solidFill>
                <a:latin typeface="Calibri"/>
              </a:rPr>
              <a:t>50.9% with LLM salvage (165 recoverable segments)</a:t>
            </a:r>
          </a:p>
          <a:p>
            <a:pPr algn="l">
              <a:spcAft>
                <a:spcPts val="600"/>
              </a:spcAft>
            </a:pPr>
            <a:r>
              <a:rPr sz="1300" b="1">
                <a:solidFill>
                  <a:srgbClr val="00B4D8"/>
                </a:solidFill>
                <a:latin typeface="Calibri"/>
              </a:rPr>
              <a:t>• </a:t>
            </a:r>
            <a:r>
              <a:rPr sz="1300" b="0">
                <a:solidFill>
                  <a:srgbClr val="FFFFFF"/>
                </a:solidFill>
                <a:latin typeface="Calibri"/>
              </a:rPr>
              <a:t>Validated across 16 decode configs</a:t>
            </a:r>
          </a:p>
          <a:p>
            <a:pPr algn="l">
              <a:spcAft>
                <a:spcPts val="600"/>
              </a:spcAft>
            </a:pPr>
            <a:r>
              <a:rPr sz="1300" b="1">
                <a:solidFill>
                  <a:srgbClr val="00B4D8"/>
                </a:solidFill>
                <a:latin typeface="Calibri"/>
              </a:rPr>
              <a:t>• </a:t>
            </a:r>
            <a:r>
              <a:rPr sz="1300" b="0">
                <a:solidFill>
                  <a:srgbClr val="FFFFFF"/>
                </a:solidFill>
                <a:latin typeface="Calibri"/>
              </a:rPr>
              <a:t>Expert heuristic: 88.6% agreement, r=0.925 (no runtime LLM)</a:t>
            </a:r>
          </a:p>
        </p:txBody>
      </p:sp>
      <p:pic>
        <p:nvPicPr>
          <p:cNvPr id="10" name="Picture 9" descr="P1_quality_tiers.png"/>
          <p:cNvPicPr>
            <a:picLocks noChangeAspect="1"/>
          </p:cNvPicPr>
          <p:nvPr/>
        </p:nvPicPr>
        <p:blipFill>
          <a:blip r:embed="rId2"/>
          <a:stretch>
            <a:fillRect/>
          </a:stretch>
        </p:blipFill>
        <p:spPr>
          <a:xfrm>
            <a:off x="8046720" y="1325880"/>
            <a:ext cx="3840480" cy="1639021"/>
          </a:xfrm>
          <a:prstGeom prst="rect">
            <a:avLst/>
          </a:prstGeom>
        </p:spPr>
      </p:pic>
      <p:sp>
        <p:nvSpPr>
          <p:cNvPr id="11" name="TextBox 10"/>
          <p:cNvSpPr txBox="1"/>
          <p:nvPr/>
        </p:nvSpPr>
        <p:spPr>
          <a:xfrm>
            <a:off x="548640" y="5760720"/>
            <a:ext cx="11091672" cy="457200"/>
          </a:xfrm>
          <a:prstGeom prst="rect">
            <a:avLst/>
          </a:prstGeom>
          <a:noFill/>
        </p:spPr>
        <p:txBody>
          <a:bodyPr wrap="square" anchor="t"/>
          <a:lstStyle/>
          <a:p>
            <a:pPr algn="ctr"/>
            <a:r>
              <a:rPr sz="1400" b="0" i="1">
                <a:solidFill>
                  <a:srgbClr val="AAAAAA"/>
                </a:solidFill>
                <a:latin typeface="Calibri"/>
              </a:rPr>
              <a:t>The gap is real — but WER dramatically overstates failure. 40% works, 51% with LLM salvage.</a:t>
            </a:r>
          </a:p>
        </p:txBody>
      </p:sp>
      <p:pic>
        <p:nvPicPr>
          <p:cNvPr id="12" name="Picture 11" descr="BlackLogo300x300-W-BG.png"/>
          <p:cNvPicPr>
            <a:picLocks noChangeAspect="1"/>
          </p:cNvPicPr>
          <p:nvPr/>
        </p:nvPicPr>
        <p:blipFill>
          <a:blip r:embed="rId3"/>
          <a:stretch>
            <a:fillRect/>
          </a:stretch>
        </p:blipFill>
        <p:spPr>
          <a:xfrm>
            <a:off x="11323320" y="6428232"/>
            <a:ext cx="271117" cy="320040"/>
          </a:xfrm>
          <a:prstGeom prst="rect">
            <a:avLst/>
          </a:prstGeom>
        </p:spPr>
      </p:pic>
      <p:sp>
        <p:nvSpPr>
          <p:cNvPr id="13" name="TextBox 12"/>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48</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childTnLst>
                    </p:cTn>
                  </p:par>
                  <p:par>
                    <p:cTn id="7" fill="hold">
                      <p:stCondLst>
                        <p:cond delay="0"/>
                      </p:stCondLst>
                      <p:childTnLst>
                        <p:par>
                          <p:cTn id="8" fill="hold">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fill="hold">
                            <p:stCondLst>
                              <p:cond delay="12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p:bldP spid="10" grpId="1"/>
    </p:bldLst>
  </p:timing>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Five Phases — From IS 2.5 to Target IS 3.5–4.0</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25880"/>
            <a:ext cx="5303520" cy="777240"/>
          </a:xfrm>
          <a:prstGeom prst="roundRect">
            <a:avLst/>
          </a:prstGeom>
          <a:solidFill>
            <a:srgbClr val="152A40"/>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4937760" cy="685800"/>
          </a:xfrm>
          <a:prstGeom prst="rect">
            <a:avLst/>
          </a:prstGeom>
          <a:noFill/>
        </p:spPr>
        <p:txBody>
          <a:bodyPr wrap="square">
            <a:spAutoFit/>
          </a:bodyPr>
          <a:lstStyle/>
          <a:p>
            <a:pPr algn="l">
              <a:spcAft>
                <a:spcPts val="600"/>
              </a:spcAft>
            </a:pPr>
            <a:r>
              <a:rPr sz="1300" b="1" i="0">
                <a:solidFill>
                  <a:srgbClr val="00B4D8"/>
                </a:solidFill>
                <a:latin typeface="Calibri"/>
              </a:rPr>
              <a:t>Phase 1</a:t>
            </a:r>
            <a:r>
              <a:rPr sz="1300" b="0" i="0">
                <a:solidFill>
                  <a:srgbClr val="FFFFFF"/>
                </a:solidFill>
                <a:latin typeface="Calibri"/>
              </a:rPr>
              <a:t>  Surface the good 40%</a:t>
            </a:r>
          </a:p>
          <a:p>
            <a:pPr algn="l">
              <a:spcAft>
                <a:spcPts val="600"/>
              </a:spcAft>
            </a:pPr>
            <a:r>
              <a:rPr sz="1100" b="0" i="1">
                <a:solidFill>
                  <a:srgbClr val="AAAAAA"/>
                </a:solidFill>
                <a:latin typeface="Calibri"/>
              </a:rPr>
              <a:t>Confidence scoring (2–4 hrs)</a:t>
            </a:r>
            <a:r>
              <a:rPr sz="1100" b="0" i="0">
                <a:solidFill>
                  <a:srgbClr val="FFD54F"/>
                </a:solidFill>
                <a:latin typeface="Calibri"/>
              </a:rPr>
              <a:t>   IS: identify segments already ≥ 3.0</a:t>
            </a:r>
          </a:p>
        </p:txBody>
      </p:sp>
      <p:sp>
        <p:nvSpPr>
          <p:cNvPr id="6" name="Rounded Rectangle 5"/>
          <p:cNvSpPr/>
          <p:nvPr/>
        </p:nvSpPr>
        <p:spPr>
          <a:xfrm>
            <a:off x="868680" y="2176272"/>
            <a:ext cx="4983480" cy="777240"/>
          </a:xfrm>
          <a:prstGeom prst="roundRect">
            <a:avLst/>
          </a:prstGeom>
          <a:solidFill>
            <a:srgbClr val="152A40"/>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21992"/>
            <a:ext cx="4617720" cy="685800"/>
          </a:xfrm>
          <a:prstGeom prst="rect">
            <a:avLst/>
          </a:prstGeom>
          <a:noFill/>
        </p:spPr>
        <p:txBody>
          <a:bodyPr wrap="square">
            <a:spAutoFit/>
          </a:bodyPr>
          <a:lstStyle/>
          <a:p>
            <a:pPr algn="l">
              <a:spcAft>
                <a:spcPts val="600"/>
              </a:spcAft>
            </a:pPr>
            <a:r>
              <a:rPr sz="1300" b="1" i="0">
                <a:solidFill>
                  <a:srgbClr val="00B4D8"/>
                </a:solidFill>
                <a:latin typeface="Calibri"/>
              </a:rPr>
              <a:t>Phase 2</a:t>
            </a:r>
            <a:r>
              <a:rPr sz="1300" b="0" i="0">
                <a:solidFill>
                  <a:srgbClr val="FFFFFF"/>
                </a:solidFill>
                <a:latin typeface="Calibri"/>
              </a:rPr>
              <a:t>  Improve the fair 22%</a:t>
            </a:r>
          </a:p>
          <a:p>
            <a:pPr algn="l">
              <a:spcAft>
                <a:spcPts val="600"/>
              </a:spcAft>
            </a:pPr>
            <a:r>
              <a:rPr sz="1100" b="0" i="1">
                <a:solidFill>
                  <a:srgbClr val="AAAAAA"/>
                </a:solidFill>
                <a:latin typeface="Calibri"/>
              </a:rPr>
              <a:t>N-best aggregation (ROVER/MBR)</a:t>
            </a:r>
            <a:r>
              <a:rPr sz="1100" b="0" i="0">
                <a:solidFill>
                  <a:srgbClr val="FFD54F"/>
                </a:solidFill>
                <a:latin typeface="Calibri"/>
              </a:rPr>
              <a:t>   IS: +0.3–0.5 from better hypothesis selection</a:t>
            </a:r>
          </a:p>
        </p:txBody>
      </p:sp>
      <p:sp>
        <p:nvSpPr>
          <p:cNvPr id="8" name="Rounded Rectangle 7"/>
          <p:cNvSpPr/>
          <p:nvPr/>
        </p:nvSpPr>
        <p:spPr>
          <a:xfrm>
            <a:off x="1188720" y="3026664"/>
            <a:ext cx="4663440" cy="777240"/>
          </a:xfrm>
          <a:prstGeom prst="roundRect">
            <a:avLst/>
          </a:prstGeom>
          <a:solidFill>
            <a:srgbClr val="152A40"/>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3072384"/>
            <a:ext cx="4297680" cy="685800"/>
          </a:xfrm>
          <a:prstGeom prst="rect">
            <a:avLst/>
          </a:prstGeom>
          <a:noFill/>
        </p:spPr>
        <p:txBody>
          <a:bodyPr wrap="square">
            <a:spAutoFit/>
          </a:bodyPr>
          <a:lstStyle/>
          <a:p>
            <a:pPr algn="l">
              <a:spcAft>
                <a:spcPts val="600"/>
              </a:spcAft>
            </a:pPr>
            <a:r>
              <a:rPr sz="1300" b="1" i="0">
                <a:solidFill>
                  <a:srgbClr val="4CAF50"/>
                </a:solidFill>
                <a:latin typeface="Calibri"/>
              </a:rPr>
              <a:t>Phase 3</a:t>
            </a:r>
            <a:r>
              <a:rPr sz="1300" b="0" i="0">
                <a:solidFill>
                  <a:srgbClr val="FFFFFF"/>
                </a:solidFill>
                <a:latin typeface="Calibri"/>
              </a:rPr>
              <a:t>  LLM swap + smart prompts</a:t>
            </a:r>
          </a:p>
          <a:p>
            <a:pPr algn="l">
              <a:spcAft>
                <a:spcPts val="600"/>
              </a:spcAft>
            </a:pPr>
            <a:r>
              <a:rPr sz="1100" b="0" i="1">
                <a:solidFill>
                  <a:srgbClr val="AAAAAA"/>
                </a:solidFill>
                <a:latin typeface="Calibri"/>
              </a:rPr>
              <a:t>Llama 3.1 8B + context prompts</a:t>
            </a:r>
            <a:r>
              <a:rPr sz="1100" b="0" i="0">
                <a:solidFill>
                  <a:srgbClr val="FFD54F"/>
                </a:solidFill>
                <a:latin typeface="Calibri"/>
              </a:rPr>
              <a:t>   IS: +0.5–0.8 from stronger language model</a:t>
            </a:r>
          </a:p>
        </p:txBody>
      </p:sp>
      <p:sp>
        <p:nvSpPr>
          <p:cNvPr id="10" name="Rounded Rectangle 9"/>
          <p:cNvSpPr/>
          <p:nvPr/>
        </p:nvSpPr>
        <p:spPr>
          <a:xfrm>
            <a:off x="1508760" y="3877056"/>
            <a:ext cx="4343400" cy="777240"/>
          </a:xfrm>
          <a:prstGeom prst="roundRect">
            <a:avLst/>
          </a:prstGeom>
          <a:solidFill>
            <a:srgbClr val="152A40"/>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91640" y="3922776"/>
            <a:ext cx="3977640" cy="685800"/>
          </a:xfrm>
          <a:prstGeom prst="rect">
            <a:avLst/>
          </a:prstGeom>
          <a:noFill/>
        </p:spPr>
        <p:txBody>
          <a:bodyPr wrap="square">
            <a:spAutoFit/>
          </a:bodyPr>
          <a:lstStyle/>
          <a:p>
            <a:pPr algn="l">
              <a:spcAft>
                <a:spcPts val="600"/>
              </a:spcAft>
            </a:pPr>
            <a:r>
              <a:rPr sz="1300" b="1" i="0">
                <a:solidFill>
                  <a:srgbClr val="4CAF50"/>
                </a:solidFill>
                <a:latin typeface="Calibri"/>
              </a:rPr>
              <a:t>Phase 4</a:t>
            </a:r>
            <a:r>
              <a:rPr sz="1300" b="0" i="0">
                <a:solidFill>
                  <a:srgbClr val="FFFFFF"/>
                </a:solidFill>
                <a:latin typeface="Calibri"/>
              </a:rPr>
              <a:t>  Scale data 20K–50K</a:t>
            </a:r>
          </a:p>
          <a:p>
            <a:pPr algn="l">
              <a:spcAft>
                <a:spcPts val="600"/>
              </a:spcAft>
            </a:pPr>
            <a:r>
              <a:rPr sz="1100" b="0" i="1">
                <a:solidFill>
                  <a:srgbClr val="AAAAAA"/>
                </a:solidFill>
                <a:latin typeface="Calibri"/>
              </a:rPr>
              <a:t>Fine-tune with more data</a:t>
            </a:r>
            <a:r>
              <a:rPr sz="1100" b="0" i="0">
                <a:solidFill>
                  <a:srgbClr val="FFD54F"/>
                </a:solidFill>
                <a:latin typeface="Calibri"/>
              </a:rPr>
              <a:t>   IS: +0.5–1.0 — biggest single gain</a:t>
            </a:r>
          </a:p>
        </p:txBody>
      </p:sp>
      <p:sp>
        <p:nvSpPr>
          <p:cNvPr id="12" name="Rounded Rectangle 11"/>
          <p:cNvSpPr/>
          <p:nvPr/>
        </p:nvSpPr>
        <p:spPr>
          <a:xfrm>
            <a:off x="1828800" y="4727448"/>
            <a:ext cx="4023360" cy="777240"/>
          </a:xfrm>
          <a:prstGeom prst="roundRect">
            <a:avLst/>
          </a:prstGeom>
          <a:solidFill>
            <a:srgbClr val="152A40"/>
          </a:solidFill>
          <a:ln w="1905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80" y="4773168"/>
            <a:ext cx="3657600" cy="685800"/>
          </a:xfrm>
          <a:prstGeom prst="rect">
            <a:avLst/>
          </a:prstGeom>
          <a:noFill/>
        </p:spPr>
        <p:txBody>
          <a:bodyPr wrap="square">
            <a:spAutoFit/>
          </a:bodyPr>
          <a:lstStyle/>
          <a:p>
            <a:pPr algn="l">
              <a:spcAft>
                <a:spcPts val="600"/>
              </a:spcAft>
            </a:pPr>
            <a:r>
              <a:rPr sz="1300" b="1" i="0">
                <a:solidFill>
                  <a:srgbClr val="AAAAAA"/>
                </a:solidFill>
                <a:latin typeface="Calibri"/>
              </a:rPr>
              <a:t>Phase 5</a:t>
            </a:r>
            <a:r>
              <a:rPr sz="1300" b="0" i="0">
                <a:solidFill>
                  <a:srgbClr val="FFFFFF"/>
                </a:solidFill>
                <a:latin typeface="Calibri"/>
              </a:rPr>
              <a:t>  Error Correction (GER)</a:t>
            </a:r>
          </a:p>
          <a:p>
            <a:pPr algn="l">
              <a:spcAft>
                <a:spcPts val="600"/>
              </a:spcAft>
            </a:pPr>
            <a:r>
              <a:rPr sz="1100" b="0" i="1">
                <a:solidFill>
                  <a:srgbClr val="AAAAAA"/>
                </a:solidFill>
                <a:latin typeface="Calibri"/>
              </a:rPr>
              <a:t>Second LLM catches hallucinations</a:t>
            </a:r>
            <a:r>
              <a:rPr sz="1100" b="0" i="0">
                <a:solidFill>
                  <a:srgbClr val="FFD54F"/>
                </a:solidFill>
                <a:latin typeface="Calibri"/>
              </a:rPr>
              <a:t>   IS: +0.3–0.5 from post-processing cleanup</a:t>
            </a:r>
          </a:p>
        </p:txBody>
      </p:sp>
      <p:pic>
        <p:nvPicPr>
          <p:cNvPr id="14" name="Picture 13" descr="P3_wer_trajectory.png"/>
          <p:cNvPicPr>
            <a:picLocks noChangeAspect="1"/>
          </p:cNvPicPr>
          <p:nvPr/>
        </p:nvPicPr>
        <p:blipFill>
          <a:blip r:embed="rId2"/>
          <a:stretch>
            <a:fillRect/>
          </a:stretch>
        </p:blipFill>
        <p:spPr>
          <a:xfrm>
            <a:off x="5760720" y="1325880"/>
            <a:ext cx="5605272" cy="3356894"/>
          </a:xfrm>
          <a:prstGeom prst="rect">
            <a:avLst/>
          </a:prstGeom>
        </p:spPr>
      </p:pic>
      <p:sp>
        <p:nvSpPr>
          <p:cNvPr id="15" name="TextBox 14"/>
          <p:cNvSpPr txBox="1"/>
          <p:nvPr/>
        </p:nvSpPr>
        <p:spPr>
          <a:xfrm>
            <a:off x="548640" y="5806440"/>
            <a:ext cx="11091672" cy="365760"/>
          </a:xfrm>
          <a:prstGeom prst="rect">
            <a:avLst/>
          </a:prstGeom>
          <a:noFill/>
        </p:spPr>
        <p:txBody>
          <a:bodyPr wrap="square" anchor="t"/>
          <a:lstStyle/>
          <a:p>
            <a:pPr algn="ctr"/>
            <a:r>
              <a:rPr sz="1300" b="0" i="1">
                <a:solidFill>
                  <a:srgbClr val="AAAAAA"/>
                </a:solidFill>
                <a:latin typeface="Calibri"/>
              </a:rPr>
              <a:t>Combined target: IS 3.5–4.0 (55–65% captured). Gains are multiplicative (ICLR 2024 scaling law).</a:t>
            </a:r>
          </a:p>
        </p:txBody>
      </p:sp>
      <p:pic>
        <p:nvPicPr>
          <p:cNvPr id="16" name="Picture 15" descr="BlackLogo300x300-W-BG.png"/>
          <p:cNvPicPr>
            <a:picLocks noChangeAspect="1"/>
          </p:cNvPicPr>
          <p:nvPr/>
        </p:nvPicPr>
        <p:blipFill>
          <a:blip r:embed="rId3"/>
          <a:stretch>
            <a:fillRect/>
          </a:stretch>
        </p:blipFill>
        <p:spPr>
          <a:xfrm>
            <a:off x="11323320" y="6428232"/>
            <a:ext cx="271117" cy="320040"/>
          </a:xfrm>
          <a:prstGeom prst="rect">
            <a:avLst/>
          </a:prstGeom>
        </p:spPr>
      </p:pic>
      <p:sp>
        <p:nvSpPr>
          <p:cNvPr id="17" name="TextBox 16"/>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49</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fill="hold">
                            <p:stCondLst>
                              <p:cond delay="12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500"/>
                                  <p:tgtEl>
                                    <p:spTgt spid="6"/>
                                  </p:tgtEl>
                                </p:cBhvr>
                              </p:animEffect>
                            </p:childTnLst>
                          </p:cTn>
                        </p:par>
                        <p:par>
                          <p:cTn id="10" fill="hold">
                            <p:stCondLst>
                              <p:cond delay="24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fill="hold">
                            <p:stCondLst>
                              <p:cond delay="36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fill="hold">
                            <p:stCondLst>
                              <p:cond delay="48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par>
                    <p:cTn id="19" fill="hold">
                      <p:stCondLst>
                        <p:cond delay="0"/>
                      </p:stCondLst>
                      <p:childTnLst>
                        <p:par>
                          <p:cTn id="20" fill="hold">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14" grpId="1"/>
    </p:bldLst>
  </p:timing>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IS Improvement Roadmap — From 2.5 to 3.8</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20040"/>
          </a:xfrm>
          <a:prstGeom prst="rect">
            <a:avLst/>
          </a:prstGeom>
          <a:noFill/>
        </p:spPr>
        <p:txBody>
          <a:bodyPr wrap="square" anchor="t"/>
          <a:lstStyle/>
          <a:p>
            <a:pPr algn="l"/>
            <a:r>
              <a:rPr sz="1600" b="0" i="1">
                <a:solidFill>
                  <a:srgbClr val="AAAAAA"/>
                </a:solidFill>
                <a:latin typeface="Calibri"/>
              </a:rPr>
              <a:t>Projected Intelligibility Score improvement per phase</a:t>
            </a:r>
          </a:p>
        </p:txBody>
      </p:sp>
      <p:sp>
        <p:nvSpPr>
          <p:cNvPr id="5" name="Rectangle 4"/>
          <p:cNvSpPr/>
          <p:nvPr/>
        </p:nvSpPr>
        <p:spPr>
          <a:xfrm>
            <a:off x="1005840" y="1737360"/>
            <a:ext cx="6400800" cy="2743200"/>
          </a:xfrm>
          <a:prstGeom prst="rect">
            <a:avLst/>
          </a:prstGeom>
          <a:solidFill>
            <a:srgbClr val="333333"/>
          </a:solidFill>
          <a:ln w="1270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0">
                <a:solidFill>
                  <a:srgbClr val="AAAAAA"/>
                </a:solidFill>
                <a:latin typeface="Calibri"/>
              </a:rPr>
              <a:t>[P3b_is_trajectory.png]</a:t>
            </a:r>
          </a:p>
        </p:txBody>
      </p:sp>
      <p:sp>
        <p:nvSpPr>
          <p:cNvPr id="6" name="Rounded Rectangle 5"/>
          <p:cNvSpPr/>
          <p:nvPr/>
        </p:nvSpPr>
        <p:spPr>
          <a:xfrm>
            <a:off x="7680960" y="1828800"/>
            <a:ext cx="3657600" cy="868680"/>
          </a:xfrm>
          <a:prstGeom prst="roundRect">
            <a:avLst/>
          </a:prstGeom>
          <a:solidFill>
            <a:srgbClr val="152A40"/>
          </a:solidFill>
          <a:ln w="1905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18120" y="1874520"/>
            <a:ext cx="3383280" cy="274320"/>
          </a:xfrm>
          <a:prstGeom prst="rect">
            <a:avLst/>
          </a:prstGeom>
          <a:noFill/>
        </p:spPr>
        <p:txBody>
          <a:bodyPr wrap="square" anchor="t"/>
          <a:lstStyle/>
          <a:p>
            <a:pPr algn="l"/>
            <a:r>
              <a:rPr sz="1300" b="1" i="0">
                <a:solidFill>
                  <a:srgbClr val="E06C75"/>
                </a:solidFill>
                <a:latin typeface="Calibri"/>
              </a:rPr>
              <a:t>Current</a:t>
            </a:r>
          </a:p>
        </p:txBody>
      </p:sp>
      <p:sp>
        <p:nvSpPr>
          <p:cNvPr id="8" name="TextBox 7"/>
          <p:cNvSpPr txBox="1"/>
          <p:nvPr/>
        </p:nvSpPr>
        <p:spPr>
          <a:xfrm>
            <a:off x="7818120" y="2148840"/>
            <a:ext cx="3383280" cy="274320"/>
          </a:xfrm>
          <a:prstGeom prst="rect">
            <a:avLst/>
          </a:prstGeom>
          <a:noFill/>
        </p:spPr>
        <p:txBody>
          <a:bodyPr wrap="square" anchor="t"/>
          <a:lstStyle/>
          <a:p>
            <a:pPr algn="l"/>
            <a:r>
              <a:rPr sz="1600" b="1" i="0">
                <a:solidFill>
                  <a:srgbClr val="FFFFFF"/>
                </a:solidFill>
                <a:latin typeface="Calibri"/>
              </a:rPr>
              <a:t>IS 2.52  •  39.9% captured</a:t>
            </a:r>
          </a:p>
        </p:txBody>
      </p:sp>
      <p:sp>
        <p:nvSpPr>
          <p:cNvPr id="9" name="Rounded Rectangle 8"/>
          <p:cNvSpPr/>
          <p:nvPr/>
        </p:nvSpPr>
        <p:spPr>
          <a:xfrm>
            <a:off x="7680960" y="2880360"/>
            <a:ext cx="3657600" cy="868680"/>
          </a:xfrm>
          <a:prstGeom prst="roundRect">
            <a:avLst/>
          </a:prstGeom>
          <a:solidFill>
            <a:srgbClr val="152A40"/>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18120" y="2926080"/>
            <a:ext cx="3383280" cy="274320"/>
          </a:xfrm>
          <a:prstGeom prst="rect">
            <a:avLst/>
          </a:prstGeom>
          <a:noFill/>
        </p:spPr>
        <p:txBody>
          <a:bodyPr wrap="square" anchor="t"/>
          <a:lstStyle/>
          <a:p>
            <a:pPr algn="l"/>
            <a:r>
              <a:rPr sz="1300" b="1" i="0">
                <a:solidFill>
                  <a:srgbClr val="00B4D8"/>
                </a:solidFill>
                <a:latin typeface="Calibri"/>
              </a:rPr>
              <a:t>Phase 1</a:t>
            </a:r>
          </a:p>
        </p:txBody>
      </p:sp>
      <p:sp>
        <p:nvSpPr>
          <p:cNvPr id="11" name="TextBox 10"/>
          <p:cNvSpPr txBox="1"/>
          <p:nvPr/>
        </p:nvSpPr>
        <p:spPr>
          <a:xfrm>
            <a:off x="7818120" y="3200400"/>
            <a:ext cx="3383280" cy="274320"/>
          </a:xfrm>
          <a:prstGeom prst="rect">
            <a:avLst/>
          </a:prstGeom>
          <a:noFill/>
        </p:spPr>
        <p:txBody>
          <a:bodyPr wrap="square" anchor="t"/>
          <a:lstStyle/>
          <a:p>
            <a:pPr algn="l"/>
            <a:r>
              <a:rPr sz="1600" b="1" i="0">
                <a:solidFill>
                  <a:srgbClr val="FFFFFF"/>
                </a:solidFill>
                <a:latin typeface="Calibri"/>
              </a:rPr>
              <a:t>IS ~2.85  •  ~48% captured</a:t>
            </a:r>
          </a:p>
        </p:txBody>
      </p:sp>
      <p:sp>
        <p:nvSpPr>
          <p:cNvPr id="12" name="TextBox 11"/>
          <p:cNvSpPr txBox="1"/>
          <p:nvPr/>
        </p:nvSpPr>
        <p:spPr>
          <a:xfrm>
            <a:off x="7818120" y="3456432"/>
            <a:ext cx="3383280" cy="228600"/>
          </a:xfrm>
          <a:prstGeom prst="rect">
            <a:avLst/>
          </a:prstGeom>
          <a:noFill/>
        </p:spPr>
        <p:txBody>
          <a:bodyPr wrap="square" anchor="t"/>
          <a:lstStyle/>
          <a:p>
            <a:pPr algn="l"/>
            <a:r>
              <a:rPr sz="1000" b="0" i="1">
                <a:solidFill>
                  <a:srgbClr val="AAAAAA"/>
                </a:solidFill>
                <a:latin typeface="Calibri"/>
              </a:rPr>
              <a:t>+0.33 from baseline</a:t>
            </a:r>
          </a:p>
        </p:txBody>
      </p:sp>
      <p:sp>
        <p:nvSpPr>
          <p:cNvPr id="13" name="Rounded Rectangle 12"/>
          <p:cNvSpPr/>
          <p:nvPr/>
        </p:nvSpPr>
        <p:spPr>
          <a:xfrm>
            <a:off x="7680960" y="3931920"/>
            <a:ext cx="3657600" cy="868680"/>
          </a:xfrm>
          <a:prstGeom prst="roundRect">
            <a:avLst/>
          </a:prstGeom>
          <a:solidFill>
            <a:srgbClr val="152A40"/>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18120" y="3977640"/>
            <a:ext cx="3383280" cy="274320"/>
          </a:xfrm>
          <a:prstGeom prst="rect">
            <a:avLst/>
          </a:prstGeom>
          <a:noFill/>
        </p:spPr>
        <p:txBody>
          <a:bodyPr wrap="square" anchor="t"/>
          <a:lstStyle/>
          <a:p>
            <a:pPr algn="l"/>
            <a:r>
              <a:rPr sz="1300" b="1" i="0">
                <a:solidFill>
                  <a:srgbClr val="4CAF50"/>
                </a:solidFill>
                <a:latin typeface="Calibri"/>
              </a:rPr>
              <a:t>Phase 2</a:t>
            </a:r>
          </a:p>
        </p:txBody>
      </p:sp>
      <p:sp>
        <p:nvSpPr>
          <p:cNvPr id="15" name="TextBox 14"/>
          <p:cNvSpPr txBox="1"/>
          <p:nvPr/>
        </p:nvSpPr>
        <p:spPr>
          <a:xfrm>
            <a:off x="7818120" y="4251960"/>
            <a:ext cx="3383280" cy="274320"/>
          </a:xfrm>
          <a:prstGeom prst="rect">
            <a:avLst/>
          </a:prstGeom>
          <a:noFill/>
        </p:spPr>
        <p:txBody>
          <a:bodyPr wrap="square" anchor="t"/>
          <a:lstStyle/>
          <a:p>
            <a:pPr algn="l"/>
            <a:r>
              <a:rPr sz="1600" b="1" i="0">
                <a:solidFill>
                  <a:srgbClr val="FFFFFF"/>
                </a:solidFill>
                <a:latin typeface="Calibri"/>
              </a:rPr>
              <a:t>IS ~3.40  •  ~58% captured</a:t>
            </a:r>
          </a:p>
        </p:txBody>
      </p:sp>
      <p:sp>
        <p:nvSpPr>
          <p:cNvPr id="16" name="TextBox 15"/>
          <p:cNvSpPr txBox="1"/>
          <p:nvPr/>
        </p:nvSpPr>
        <p:spPr>
          <a:xfrm>
            <a:off x="7818120" y="4507992"/>
            <a:ext cx="3383280" cy="228600"/>
          </a:xfrm>
          <a:prstGeom prst="rect">
            <a:avLst/>
          </a:prstGeom>
          <a:noFill/>
        </p:spPr>
        <p:txBody>
          <a:bodyPr wrap="square" anchor="t"/>
          <a:lstStyle/>
          <a:p>
            <a:pPr algn="l"/>
            <a:r>
              <a:rPr sz="1000" b="0" i="1">
                <a:solidFill>
                  <a:srgbClr val="AAAAAA"/>
                </a:solidFill>
                <a:latin typeface="Calibri"/>
              </a:rPr>
              <a:t>+0.88 from baseline</a:t>
            </a:r>
          </a:p>
        </p:txBody>
      </p:sp>
      <p:sp>
        <p:nvSpPr>
          <p:cNvPr id="17" name="Rounded Rectangle 16"/>
          <p:cNvSpPr/>
          <p:nvPr/>
        </p:nvSpPr>
        <p:spPr>
          <a:xfrm>
            <a:off x="7680960" y="4983480"/>
            <a:ext cx="3657600" cy="868680"/>
          </a:xfrm>
          <a:prstGeom prst="roundRect">
            <a:avLst/>
          </a:prstGeom>
          <a:solidFill>
            <a:srgbClr val="152A40"/>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18120" y="5029200"/>
            <a:ext cx="3383280" cy="274320"/>
          </a:xfrm>
          <a:prstGeom prst="rect">
            <a:avLst/>
          </a:prstGeom>
          <a:noFill/>
        </p:spPr>
        <p:txBody>
          <a:bodyPr wrap="square" anchor="t"/>
          <a:lstStyle/>
          <a:p>
            <a:pPr algn="l"/>
            <a:r>
              <a:rPr sz="1300" b="1" i="0">
                <a:solidFill>
                  <a:srgbClr val="4CAF50"/>
                </a:solidFill>
                <a:latin typeface="Calibri"/>
              </a:rPr>
              <a:t>Phase 3</a:t>
            </a:r>
          </a:p>
        </p:txBody>
      </p:sp>
      <p:sp>
        <p:nvSpPr>
          <p:cNvPr id="19" name="TextBox 18"/>
          <p:cNvSpPr txBox="1"/>
          <p:nvPr/>
        </p:nvSpPr>
        <p:spPr>
          <a:xfrm>
            <a:off x="7818120" y="5303520"/>
            <a:ext cx="3383280" cy="274320"/>
          </a:xfrm>
          <a:prstGeom prst="rect">
            <a:avLst/>
          </a:prstGeom>
          <a:noFill/>
        </p:spPr>
        <p:txBody>
          <a:bodyPr wrap="square" anchor="t"/>
          <a:lstStyle/>
          <a:p>
            <a:pPr algn="l"/>
            <a:r>
              <a:rPr sz="1600" b="1" i="0">
                <a:solidFill>
                  <a:srgbClr val="FFFFFF"/>
                </a:solidFill>
                <a:latin typeface="Calibri"/>
              </a:rPr>
              <a:t>IS ~3.80  •  ~65% captured</a:t>
            </a:r>
          </a:p>
        </p:txBody>
      </p:sp>
      <p:sp>
        <p:nvSpPr>
          <p:cNvPr id="20" name="TextBox 19"/>
          <p:cNvSpPr txBox="1"/>
          <p:nvPr/>
        </p:nvSpPr>
        <p:spPr>
          <a:xfrm>
            <a:off x="7818120" y="5559552"/>
            <a:ext cx="3383280" cy="228600"/>
          </a:xfrm>
          <a:prstGeom prst="rect">
            <a:avLst/>
          </a:prstGeom>
          <a:noFill/>
        </p:spPr>
        <p:txBody>
          <a:bodyPr wrap="square" anchor="t"/>
          <a:lstStyle/>
          <a:p>
            <a:pPr algn="l"/>
            <a:r>
              <a:rPr sz="1000" b="0" i="1">
                <a:solidFill>
                  <a:srgbClr val="AAAAAA"/>
                </a:solidFill>
                <a:latin typeface="Calibri"/>
              </a:rPr>
              <a:t>+1.28 from baseline</a:t>
            </a:r>
          </a:p>
        </p:txBody>
      </p:sp>
      <p:sp>
        <p:nvSpPr>
          <p:cNvPr id="21" name="TextBox 20"/>
          <p:cNvSpPr txBox="1"/>
          <p:nvPr/>
        </p:nvSpPr>
        <p:spPr>
          <a:xfrm>
            <a:off x="548640" y="5806440"/>
            <a:ext cx="11091672" cy="365760"/>
          </a:xfrm>
          <a:prstGeom prst="rect">
            <a:avLst/>
          </a:prstGeom>
          <a:noFill/>
        </p:spPr>
        <p:txBody>
          <a:bodyPr wrap="square" anchor="t"/>
          <a:lstStyle/>
          <a:p>
            <a:pPr algn="ctr"/>
            <a:r>
              <a:rPr sz="1300" b="0" i="1">
                <a:solidFill>
                  <a:srgbClr val="AAAAAA"/>
                </a:solidFill>
                <a:latin typeface="Calibri"/>
              </a:rPr>
              <a:t>Each ~10pp WER reduction → ~0.3–0.5 IS improvement + ~8–12pp captured rate.</a:t>
            </a:r>
          </a:p>
        </p:txBody>
      </p:sp>
      <p:pic>
        <p:nvPicPr>
          <p:cNvPr id="22" name="Picture 21"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23" name="TextBox 22"/>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26b</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00"/>
                                  <p:tgtEl>
                                    <p:spTgt spid="5"/>
                                  </p:tgtEl>
                                </p:cBhvr>
                              </p:animEffect>
                            </p:childTnLst>
                          </p:cTn>
                        </p:par>
                      </p:childTnLst>
                    </p:cTn>
                  </p:par>
                  <p:par>
                    <p:cTn id="7" fill="hold">
                      <p:stCondLst>
                        <p:cond delay="0"/>
                      </p:stCondLst>
                      <p:childTnLst>
                        <p:par>
                          <p:cTn id="8" fill="hold">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fill="hold">
                            <p:stCondLst>
                              <p:cond delay="12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fill="hold">
                            <p:stCondLst>
                              <p:cond delay="24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fill="hold">
                            <p:stCondLst>
                              <p:cond delay="36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p:bldP spid="9" grpId="1"/>
      <p:bldP spid="13" grpId="1"/>
      <p:bldP spid="17" grpId="1"/>
    </p:bldLst>
  </p:timing>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Phase 1: Confidence Scoring</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320040"/>
          </a:xfrm>
          <a:prstGeom prst="rect">
            <a:avLst/>
          </a:prstGeom>
          <a:noFill/>
        </p:spPr>
        <p:txBody>
          <a:bodyPr wrap="square" anchor="t"/>
          <a:lstStyle/>
          <a:p>
            <a:pPr algn="l"/>
            <a:r>
              <a:rPr sz="1800" b="1" i="0">
                <a:solidFill>
                  <a:srgbClr val="00B4D8"/>
                </a:solidFill>
                <a:latin typeface="Calibri"/>
              </a:rPr>
              <a:t>What Is It?</a:t>
            </a:r>
          </a:p>
        </p:txBody>
      </p:sp>
      <p:sp>
        <p:nvSpPr>
          <p:cNvPr id="5" name="TextBox 4"/>
          <p:cNvSpPr txBox="1"/>
          <p:nvPr/>
        </p:nvSpPr>
        <p:spPr>
          <a:xfrm>
            <a:off x="548640" y="1737360"/>
            <a:ext cx="5029200" cy="2286000"/>
          </a:xfrm>
          <a:prstGeom prst="rect">
            <a:avLst/>
          </a:prstGeom>
          <a:noFill/>
        </p:spPr>
        <p:txBody>
          <a:bodyPr wrap="square">
            <a:spAutoFit/>
          </a:bodyPr>
          <a:lstStyle/>
          <a:p>
            <a:pPr algn="l">
              <a:spcAft>
                <a:spcPts val="600"/>
              </a:spcAft>
            </a:pPr>
            <a:r>
              <a:rPr sz="1400" b="1">
                <a:solidFill>
                  <a:srgbClr val="00B4D8"/>
                </a:solidFill>
                <a:latin typeface="Calibri"/>
              </a:rPr>
              <a:t>• </a:t>
            </a:r>
            <a:r>
              <a:rPr sz="1400" b="1">
                <a:solidFill>
                  <a:srgbClr val="FFFFFF"/>
                </a:solidFill>
                <a:latin typeface="Calibri"/>
              </a:rPr>
              <a:t>Assign a probability (0–1.0) to each decoded segment</a:t>
            </a:r>
          </a:p>
          <a:p>
            <a:pPr algn="l">
              <a:spcAft>
                <a:spcPts val="600"/>
              </a:spcAft>
            </a:pPr>
            <a:r>
              <a:rPr sz="1400" b="1">
                <a:solidFill>
                  <a:srgbClr val="00B4D8"/>
                </a:solidFill>
                <a:latin typeface="Calibri"/>
              </a:rPr>
              <a:t>• </a:t>
            </a:r>
            <a:r>
              <a:rPr sz="1400" b="0">
                <a:solidFill>
                  <a:srgbClr val="FFFFFF"/>
                </a:solidFill>
                <a:latin typeface="Calibri"/>
              </a:rPr>
              <a:t>High confidence (&gt; 0.8): trust the output as-is</a:t>
            </a:r>
          </a:p>
          <a:p>
            <a:pPr algn="l">
              <a:spcAft>
                <a:spcPts val="600"/>
              </a:spcAft>
            </a:pPr>
            <a:r>
              <a:rPr sz="1400" b="1">
                <a:solidFill>
                  <a:srgbClr val="00B4D8"/>
                </a:solidFill>
                <a:latin typeface="Calibri"/>
              </a:rPr>
              <a:t>• </a:t>
            </a:r>
            <a:r>
              <a:rPr sz="1400" b="0">
                <a:solidFill>
                  <a:srgbClr val="FFFFFF"/>
                </a:solidFill>
                <a:latin typeface="Calibri"/>
              </a:rPr>
              <a:t>Medium (0.4–0.8): flag for human review</a:t>
            </a:r>
          </a:p>
          <a:p>
            <a:pPr algn="l">
              <a:spcAft>
                <a:spcPts val="600"/>
              </a:spcAft>
            </a:pPr>
            <a:r>
              <a:rPr sz="1400" b="1">
                <a:solidFill>
                  <a:srgbClr val="00B4D8"/>
                </a:solidFill>
                <a:latin typeface="Calibri"/>
              </a:rPr>
              <a:t>• </a:t>
            </a:r>
            <a:r>
              <a:rPr sz="1400" b="0">
                <a:solidFill>
                  <a:srgbClr val="FFFFFF"/>
                </a:solidFill>
                <a:latin typeface="Calibri"/>
              </a:rPr>
              <a:t>Low (&lt; 0.4): suppress or mark as unreliable</a:t>
            </a:r>
          </a:p>
          <a:p>
            <a:pPr algn="l">
              <a:spcAft>
                <a:spcPts val="600"/>
              </a:spcAft>
            </a:pPr>
            <a:r>
              <a:rPr sz="1400" b="1">
                <a:solidFill>
                  <a:srgbClr val="00B4D8"/>
                </a:solidFill>
                <a:latin typeface="Calibri"/>
              </a:rPr>
              <a:t>• </a:t>
            </a:r>
            <a:r>
              <a:rPr sz="1400" b="0">
                <a:solidFill>
                  <a:srgbClr val="4CAF50"/>
                </a:solidFill>
                <a:latin typeface="Calibri"/>
              </a:rPr>
              <a:t>Goal: surface the 40% that already works</a:t>
            </a:r>
          </a:p>
        </p:txBody>
      </p:sp>
      <p:sp>
        <p:nvSpPr>
          <p:cNvPr id="6" name="TextBox 5"/>
          <p:cNvSpPr txBox="1"/>
          <p:nvPr/>
        </p:nvSpPr>
        <p:spPr>
          <a:xfrm>
            <a:off x="548640" y="4251960"/>
            <a:ext cx="5029200" cy="320040"/>
          </a:xfrm>
          <a:prstGeom prst="rect">
            <a:avLst/>
          </a:prstGeom>
          <a:noFill/>
        </p:spPr>
        <p:txBody>
          <a:bodyPr wrap="square" anchor="t"/>
          <a:lstStyle/>
          <a:p>
            <a:pPr algn="l"/>
            <a:r>
              <a:rPr sz="1600" b="1" i="0">
                <a:solidFill>
                  <a:srgbClr val="00B4D8"/>
                </a:solidFill>
                <a:latin typeface="Calibri"/>
              </a:rPr>
              <a:t>How It Works</a:t>
            </a:r>
          </a:p>
        </p:txBody>
      </p:sp>
      <p:sp>
        <p:nvSpPr>
          <p:cNvPr id="7" name="TextBox 6"/>
          <p:cNvSpPr txBox="1"/>
          <p:nvPr/>
        </p:nvSpPr>
        <p:spPr>
          <a:xfrm>
            <a:off x="548640" y="4663440"/>
            <a:ext cx="5029200" cy="1828800"/>
          </a:xfrm>
          <a:prstGeom prst="rect">
            <a:avLst/>
          </a:prstGeom>
          <a:noFill/>
        </p:spPr>
        <p:txBody>
          <a:bodyPr wrap="square">
            <a:spAutoFit/>
          </a:bodyPr>
          <a:lstStyle/>
          <a:p>
            <a:pPr algn="l">
              <a:spcAft>
                <a:spcPts val="600"/>
              </a:spcAft>
            </a:pPr>
            <a:r>
              <a:rPr sz="1300" b="1">
                <a:solidFill>
                  <a:srgbClr val="00B4D8"/>
                </a:solidFill>
                <a:latin typeface="Calibri"/>
              </a:rPr>
              <a:t>• </a:t>
            </a:r>
            <a:r>
              <a:rPr sz="1300" b="0">
                <a:solidFill>
                  <a:srgbClr val="FFFFFF"/>
                </a:solidFill>
                <a:latin typeface="Calibri"/>
              </a:rPr>
              <a:t>Combine decode-time signals: beam score, entropy, N-best agreement, length ratio</a:t>
            </a:r>
          </a:p>
          <a:p>
            <a:pPr algn="l">
              <a:spcAft>
                <a:spcPts val="600"/>
              </a:spcAft>
            </a:pPr>
            <a:r>
              <a:rPr sz="1300" b="1">
                <a:solidFill>
                  <a:srgbClr val="00B4D8"/>
                </a:solidFill>
                <a:latin typeface="Calibri"/>
              </a:rPr>
              <a:t>• </a:t>
            </a:r>
            <a:r>
              <a:rPr sz="1300" b="0">
                <a:solidFill>
                  <a:srgbClr val="FFFFFF"/>
                </a:solidFill>
                <a:latin typeface="Calibri"/>
              </a:rPr>
              <a:t>Train a lightweight classifier on our 1,497 labeled segments</a:t>
            </a:r>
          </a:p>
          <a:p>
            <a:pPr algn="l">
              <a:spcAft>
                <a:spcPts val="600"/>
              </a:spcAft>
            </a:pPr>
            <a:r>
              <a:rPr sz="1300" b="1">
                <a:solidFill>
                  <a:srgbClr val="00B4D8"/>
                </a:solidFill>
                <a:latin typeface="Calibri"/>
              </a:rPr>
              <a:t>• </a:t>
            </a:r>
            <a:r>
              <a:rPr sz="1300" b="0">
                <a:solidFill>
                  <a:srgbClr val="FFFFFF"/>
                </a:solidFill>
                <a:latin typeface="Calibri"/>
              </a:rPr>
              <a:t>Output: probability that IS ≥ 3.0 for each segment</a:t>
            </a:r>
          </a:p>
        </p:txBody>
      </p:sp>
      <p:sp>
        <p:nvSpPr>
          <p:cNvPr id="8" name="TextBox 7"/>
          <p:cNvSpPr txBox="1"/>
          <p:nvPr/>
        </p:nvSpPr>
        <p:spPr>
          <a:xfrm>
            <a:off x="6611111" y="1325880"/>
            <a:ext cx="5029201" cy="320040"/>
          </a:xfrm>
          <a:prstGeom prst="rect">
            <a:avLst/>
          </a:prstGeom>
          <a:noFill/>
        </p:spPr>
        <p:txBody>
          <a:bodyPr wrap="square" anchor="t"/>
          <a:lstStyle/>
          <a:p>
            <a:pPr algn="l"/>
            <a:r>
              <a:rPr sz="1800" b="1" i="0">
                <a:solidFill>
                  <a:srgbClr val="4CAF50"/>
                </a:solidFill>
                <a:latin typeface="Calibri"/>
              </a:rPr>
              <a:t>Impact</a:t>
            </a:r>
          </a:p>
        </p:txBody>
      </p:sp>
      <p:sp>
        <p:nvSpPr>
          <p:cNvPr id="9" name="TextBox 8"/>
          <p:cNvSpPr txBox="1"/>
          <p:nvPr/>
        </p:nvSpPr>
        <p:spPr>
          <a:xfrm>
            <a:off x="6611111" y="1737360"/>
            <a:ext cx="5029201" cy="1828800"/>
          </a:xfrm>
          <a:prstGeom prst="rect">
            <a:avLst/>
          </a:prstGeom>
          <a:noFill/>
        </p:spPr>
        <p:txBody>
          <a:bodyPr wrap="square">
            <a:spAutoFit/>
          </a:bodyPr>
          <a:lstStyle/>
          <a:p>
            <a:pPr algn="l">
              <a:spcAft>
                <a:spcPts val="600"/>
              </a:spcAft>
            </a:pPr>
            <a:r>
              <a:rPr sz="1400" b="1">
                <a:solidFill>
                  <a:srgbClr val="00B4D8"/>
                </a:solidFill>
                <a:latin typeface="Calibri"/>
              </a:rPr>
              <a:t>• </a:t>
            </a:r>
            <a:r>
              <a:rPr sz="1400" b="1">
                <a:solidFill>
                  <a:srgbClr val="4CAF50"/>
                </a:solidFill>
                <a:latin typeface="Calibri"/>
              </a:rPr>
              <a:t>Immediate value: 2–4 hours to implement</a:t>
            </a:r>
          </a:p>
          <a:p>
            <a:pPr algn="l">
              <a:spcAft>
                <a:spcPts val="600"/>
              </a:spcAft>
            </a:pPr>
            <a:r>
              <a:rPr sz="1400" b="1">
                <a:solidFill>
                  <a:srgbClr val="00B4D8"/>
                </a:solidFill>
                <a:latin typeface="Calibri"/>
              </a:rPr>
              <a:t>• </a:t>
            </a:r>
            <a:r>
              <a:rPr sz="1400" b="0">
                <a:solidFill>
                  <a:srgbClr val="FFFFFF"/>
                </a:solidFill>
                <a:latin typeface="Calibri"/>
              </a:rPr>
              <a:t>Users see only high-confidence segments by default</a:t>
            </a:r>
          </a:p>
          <a:p>
            <a:pPr algn="l">
              <a:spcAft>
                <a:spcPts val="600"/>
              </a:spcAft>
            </a:pPr>
            <a:r>
              <a:rPr sz="1400" b="1">
                <a:solidFill>
                  <a:srgbClr val="00B4D8"/>
                </a:solidFill>
                <a:latin typeface="Calibri"/>
              </a:rPr>
              <a:t>• </a:t>
            </a:r>
            <a:r>
              <a:rPr sz="1400" b="0">
                <a:solidFill>
                  <a:srgbClr val="FFFFFF"/>
                </a:solidFill>
                <a:latin typeface="Calibri"/>
              </a:rPr>
              <a:t>Reduces perceived error rate from 60% to ~20%</a:t>
            </a:r>
          </a:p>
          <a:p>
            <a:pPr algn="l">
              <a:spcAft>
                <a:spcPts val="600"/>
              </a:spcAft>
            </a:pPr>
            <a:r>
              <a:rPr sz="1400" b="1">
                <a:solidFill>
                  <a:srgbClr val="00B4D8"/>
                </a:solidFill>
                <a:latin typeface="Calibri"/>
              </a:rPr>
              <a:t>• </a:t>
            </a:r>
            <a:r>
              <a:rPr sz="1400" b="0">
                <a:solidFill>
                  <a:srgbClr val="FFFFFF"/>
                </a:solidFill>
                <a:latin typeface="Calibri"/>
              </a:rPr>
              <a:t>No model changes needed — pure post-processing</a:t>
            </a:r>
          </a:p>
        </p:txBody>
      </p:sp>
      <p:sp>
        <p:nvSpPr>
          <p:cNvPr id="10" name="TextBox 9"/>
          <p:cNvSpPr txBox="1"/>
          <p:nvPr/>
        </p:nvSpPr>
        <p:spPr>
          <a:xfrm>
            <a:off x="6611111" y="3794760"/>
            <a:ext cx="5029201" cy="320040"/>
          </a:xfrm>
          <a:prstGeom prst="rect">
            <a:avLst/>
          </a:prstGeom>
          <a:noFill/>
        </p:spPr>
        <p:txBody>
          <a:bodyPr wrap="square" anchor="t"/>
          <a:lstStyle/>
          <a:p>
            <a:pPr algn="l"/>
            <a:r>
              <a:rPr sz="1600" b="1" i="0">
                <a:solidFill>
                  <a:srgbClr val="E06C75"/>
                </a:solidFill>
                <a:latin typeface="Calibri"/>
              </a:rPr>
              <a:t>What We Already Have</a:t>
            </a:r>
          </a:p>
        </p:txBody>
      </p:sp>
      <p:graphicFrame>
        <p:nvGraphicFramePr>
          <p:cNvPr id="11" name="Table 10"/>
          <p:cNvGraphicFramePr>
            <a:graphicFrameLocks noGrp="1"/>
          </p:cNvGraphicFramePr>
          <p:nvPr/>
        </p:nvGraphicFramePr>
        <p:xfrm>
          <a:off x="6611111" y="4206240"/>
          <a:ext cx="4937760" cy="1920240"/>
        </p:xfrm>
        <a:graphic>
          <a:graphicData uri="http://schemas.openxmlformats.org/drawingml/2006/table">
            <a:tbl>
              <a:tblPr firstRow="0" bandRow="0" lastRow="0" bandCol="0">
                <a:tableStyleId>{5C22544A-7EE6-4342-B048-85BDC9FD1C3A}</a:tableStyleId>
              </a:tblPr>
              <a:tblGrid>
                <a:gridCol w="2194560"/>
                <a:gridCol w="2743200"/>
              </a:tblGrid>
              <a:tr h="320040">
                <a:tc>
                  <a:txBody>
                    <a:bodyPr/>
                    <a:lstStyle/>
                    <a:p>
                      <a:pPr algn="ctr"/>
                      <a:r>
                        <a:rPr sz="1000" b="1" i="0">
                          <a:solidFill>
                            <a:srgbClr val="FFFFFF"/>
                          </a:solidFill>
                          <a:latin typeface="Calibri"/>
                        </a:rPr>
                        <a:t>Signal</a:t>
                      </a:r>
                    </a:p>
                  </a:txBody>
                  <a:tcPr>
                    <a:solidFill>
                      <a:srgbClr val="00b4d8"/>
                    </a:solidFill>
                  </a:tcPr>
                </a:tc>
                <a:tc>
                  <a:txBody>
                    <a:bodyPr/>
                    <a:lstStyle/>
                    <a:p>
                      <a:pPr algn="ctr"/>
                      <a:r>
                        <a:rPr sz="1000" b="1" i="0">
                          <a:solidFill>
                            <a:srgbClr val="FFFFFF"/>
                          </a:solidFill>
                          <a:latin typeface="Calibri"/>
                        </a:rPr>
                        <a:t>Source</a:t>
                      </a:r>
                    </a:p>
                  </a:txBody>
                  <a:tcPr>
                    <a:solidFill>
                      <a:srgbClr val="00b4d8"/>
                    </a:solidFill>
                  </a:tcPr>
                </a:tc>
              </a:tr>
              <a:tr h="320040">
                <a:tc>
                  <a:txBody>
                    <a:bodyPr/>
                    <a:lstStyle/>
                    <a:p>
                      <a:pPr algn="l"/>
                      <a:r>
                        <a:rPr sz="1000" b="0" i="0">
                          <a:solidFill>
                            <a:srgbClr val="FFFFFF"/>
                          </a:solidFill>
                          <a:latin typeface="Calibri"/>
                        </a:rPr>
                        <a:t>Beam score</a:t>
                      </a:r>
                    </a:p>
                  </a:txBody>
                  <a:tcPr>
                    <a:solidFill>
                      <a:srgbClr val="0d1b2a"/>
                    </a:solidFill>
                  </a:tcPr>
                </a:tc>
                <a:tc>
                  <a:txBody>
                    <a:bodyPr/>
                    <a:lstStyle/>
                    <a:p>
                      <a:pPr algn="l"/>
                      <a:r>
                        <a:rPr sz="1000" b="0" i="0">
                          <a:solidFill>
                            <a:srgbClr val="FFFFFF"/>
                          </a:solidFill>
                          <a:latin typeface="Calibri"/>
                        </a:rPr>
                        <a:t>Available from decode</a:t>
                      </a:r>
                    </a:p>
                  </a:txBody>
                  <a:tcPr>
                    <a:solidFill>
                      <a:srgbClr val="0d1b2a"/>
                    </a:solidFill>
                  </a:tcPr>
                </a:tc>
              </a:tr>
              <a:tr h="320040">
                <a:tc>
                  <a:txBody>
                    <a:bodyPr/>
                    <a:lstStyle/>
                    <a:p>
                      <a:pPr algn="l"/>
                      <a:r>
                        <a:rPr sz="1000" b="0" i="0">
                          <a:solidFill>
                            <a:srgbClr val="FFFFFF"/>
                          </a:solidFill>
                          <a:latin typeface="Calibri"/>
                        </a:rPr>
                        <a:t>Token entropy</a:t>
                      </a:r>
                    </a:p>
                  </a:txBody>
                  <a:tcPr>
                    <a:solidFill>
                      <a:srgbClr val="152a40"/>
                    </a:solidFill>
                  </a:tcPr>
                </a:tc>
                <a:tc>
                  <a:txBody>
                    <a:bodyPr/>
                    <a:lstStyle/>
                    <a:p>
                      <a:pPr algn="l"/>
                      <a:r>
                        <a:rPr sz="1000" b="0" i="0">
                          <a:solidFill>
                            <a:srgbClr val="FFFFFF"/>
                          </a:solidFill>
                          <a:latin typeface="Calibri"/>
                        </a:rPr>
                        <a:t>Available from decode</a:t>
                      </a:r>
                    </a:p>
                  </a:txBody>
                  <a:tcPr>
                    <a:solidFill>
                      <a:srgbClr val="152a40"/>
                    </a:solidFill>
                  </a:tcPr>
                </a:tc>
              </a:tr>
              <a:tr h="320040">
                <a:tc>
                  <a:txBody>
                    <a:bodyPr/>
                    <a:lstStyle/>
                    <a:p>
                      <a:pPr algn="l"/>
                      <a:r>
                        <a:rPr sz="1000" b="0" i="0">
                          <a:solidFill>
                            <a:srgbClr val="FFFFFF"/>
                          </a:solidFill>
                          <a:latin typeface="Calibri"/>
                        </a:rPr>
                        <a:t>N-best agreement</a:t>
                      </a:r>
                    </a:p>
                  </a:txBody>
                  <a:tcPr>
                    <a:solidFill>
                      <a:srgbClr val="0d1b2a"/>
                    </a:solidFill>
                  </a:tcPr>
                </a:tc>
                <a:tc>
                  <a:txBody>
                    <a:bodyPr/>
                    <a:lstStyle/>
                    <a:p>
                      <a:pPr algn="l"/>
                      <a:r>
                        <a:rPr sz="1000" b="0" i="0">
                          <a:solidFill>
                            <a:srgbClr val="FFFFFF"/>
                          </a:solidFill>
                          <a:latin typeface="Calibri"/>
                        </a:rPr>
                        <a:t>Requires beam &gt; 1</a:t>
                      </a:r>
                    </a:p>
                  </a:txBody>
                  <a:tcPr>
                    <a:solidFill>
                      <a:srgbClr val="0d1b2a"/>
                    </a:solidFill>
                  </a:tcPr>
                </a:tc>
              </a:tr>
              <a:tr h="320040">
                <a:tc>
                  <a:txBody>
                    <a:bodyPr/>
                    <a:lstStyle/>
                    <a:p>
                      <a:pPr algn="l"/>
                      <a:r>
                        <a:rPr sz="1000" b="0" i="0">
                          <a:solidFill>
                            <a:srgbClr val="FFFFFF"/>
                          </a:solidFill>
                          <a:latin typeface="Calibri"/>
                        </a:rPr>
                        <a:t>Length ratio</a:t>
                      </a:r>
                    </a:p>
                  </a:txBody>
                  <a:tcPr>
                    <a:solidFill>
                      <a:srgbClr val="152a40"/>
                    </a:solidFill>
                  </a:tcPr>
                </a:tc>
                <a:tc>
                  <a:txBody>
                    <a:bodyPr/>
                    <a:lstStyle/>
                    <a:p>
                      <a:pPr algn="l"/>
                      <a:r>
                        <a:rPr sz="1000" b="0" i="0">
                          <a:solidFill>
                            <a:srgbClr val="FFFFFF"/>
                          </a:solidFill>
                          <a:latin typeface="Calibri"/>
                        </a:rPr>
                        <a:t>Already in IS pipeline</a:t>
                      </a:r>
                    </a:p>
                  </a:txBody>
                  <a:tcPr>
                    <a:solidFill>
                      <a:srgbClr val="152a40"/>
                    </a:solidFill>
                  </a:tcPr>
                </a:tc>
              </a:tr>
              <a:tr h="320040">
                <a:tc>
                  <a:txBody>
                    <a:bodyPr/>
                    <a:lstStyle/>
                    <a:p>
                      <a:pPr algn="l"/>
                      <a:r>
                        <a:rPr sz="1000" b="0" i="0">
                          <a:solidFill>
                            <a:srgbClr val="FFFFFF"/>
                          </a:solidFill>
                          <a:latin typeface="Calibri"/>
                        </a:rPr>
                        <a:t>IS sub-scores</a:t>
                      </a:r>
                    </a:p>
                  </a:txBody>
                  <a:tcPr>
                    <a:solidFill>
                      <a:srgbClr val="0d1b2a"/>
                    </a:solidFill>
                  </a:tcPr>
                </a:tc>
                <a:tc>
                  <a:txBody>
                    <a:bodyPr/>
                    <a:lstStyle/>
                    <a:p>
                      <a:pPr algn="l"/>
                      <a:r>
                        <a:rPr sz="1000" b="0" i="0">
                          <a:solidFill>
                            <a:srgbClr val="FFFFFF"/>
                          </a:solidFill>
                          <a:latin typeface="Calibri"/>
                        </a:rPr>
                        <a:t>Already computed</a:t>
                      </a:r>
                    </a:p>
                  </a:txBody>
                  <a:tcPr>
                    <a:solidFill>
                      <a:srgbClr val="0d1b2a"/>
                    </a:solidFill>
                  </a:tcPr>
                </a:tc>
              </a:tr>
            </a:tbl>
          </a:graphicData>
        </a:graphic>
      </p:graphicFrame>
      <p:sp>
        <p:nvSpPr>
          <p:cNvPr id="12" name="TextBox 11"/>
          <p:cNvSpPr txBox="1"/>
          <p:nvPr/>
        </p:nvSpPr>
        <p:spPr>
          <a:xfrm>
            <a:off x="548640" y="5806440"/>
            <a:ext cx="11091672" cy="365760"/>
          </a:xfrm>
          <a:prstGeom prst="rect">
            <a:avLst/>
          </a:prstGeom>
          <a:noFill/>
        </p:spPr>
        <p:txBody>
          <a:bodyPr wrap="square" anchor="t"/>
          <a:lstStyle/>
          <a:p>
            <a:pPr algn="ctr"/>
            <a:r>
              <a:rPr sz="1300" b="0" i="1">
                <a:solidFill>
                  <a:srgbClr val="AAAAAA"/>
                </a:solidFill>
                <a:latin typeface="Calibri"/>
              </a:rPr>
              <a:t>The fastest path to user value. No retraining, no new data, no infrastructure changes — just smarter filtering.</a:t>
            </a:r>
          </a:p>
        </p:txBody>
      </p:sp>
      <p:pic>
        <p:nvPicPr>
          <p:cNvPr id="13" name="Picture 12"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4" name="TextBox 13"/>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50</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fill="hold">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10" fill="hold">
                      <p:stCondLst>
                        <p:cond delay="0"/>
                      </p:stCondLst>
                      <p:childTnLst>
                        <p:par>
                          <p:cTn id="11" fill="hold">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fill="hold">
                            <p:stCondLst>
                              <p:cond delay="12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8" grpId="1"/>
      <p:bldP spid="11" grpId="1"/>
    </p:bldLst>
  </p:timing>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Phase 1: Confidence Scoring — Surface the Good 40%</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303520" cy="365760"/>
          </a:xfrm>
          <a:prstGeom prst="rect">
            <a:avLst/>
          </a:prstGeom>
          <a:noFill/>
        </p:spPr>
        <p:txBody>
          <a:bodyPr wrap="square" anchor="t"/>
          <a:lstStyle/>
          <a:p>
            <a:pPr algn="l"/>
            <a:r>
              <a:rPr sz="2000" b="1" i="0">
                <a:solidFill>
                  <a:srgbClr val="00B4D8"/>
                </a:solidFill>
                <a:latin typeface="Calibri"/>
              </a:rPr>
              <a:t>The Idea</a:t>
            </a:r>
          </a:p>
        </p:txBody>
      </p:sp>
      <p:sp>
        <p:nvSpPr>
          <p:cNvPr id="5" name="TextBox 4"/>
          <p:cNvSpPr txBox="1"/>
          <p:nvPr/>
        </p:nvSpPr>
        <p:spPr>
          <a:xfrm>
            <a:off x="548640" y="1783080"/>
            <a:ext cx="5303520" cy="2286000"/>
          </a:xfrm>
          <a:prstGeom prst="rect">
            <a:avLst/>
          </a:prstGeom>
          <a:noFill/>
        </p:spPr>
        <p:txBody>
          <a:bodyPr wrap="square">
            <a:spAutoFit/>
          </a:bodyPr>
          <a:lstStyle/>
          <a:p>
            <a:pPr algn="l">
              <a:spcAft>
                <a:spcPts val="600"/>
              </a:spcAft>
            </a:pPr>
            <a:r>
              <a:rPr sz="1600" b="1">
                <a:solidFill>
                  <a:srgbClr val="00B4D8"/>
                </a:solidFill>
                <a:latin typeface="Calibri"/>
              </a:rPr>
              <a:t>• </a:t>
            </a:r>
            <a:r>
              <a:rPr sz="1600" b="1">
                <a:solidFill>
                  <a:srgbClr val="FFFFFF"/>
                </a:solidFill>
                <a:latin typeface="Calibri"/>
              </a:rPr>
              <a:t>Beam search already computes probability scores for every hypothesis</a:t>
            </a:r>
          </a:p>
          <a:p>
            <a:pPr algn="l">
              <a:spcAft>
                <a:spcPts val="600"/>
              </a:spcAft>
            </a:pPr>
            <a:r>
              <a:rPr sz="1600" b="1">
                <a:solidFill>
                  <a:srgbClr val="00B4D8"/>
                </a:solidFill>
                <a:latin typeface="Calibri"/>
              </a:rPr>
              <a:t>• </a:t>
            </a:r>
            <a:r>
              <a:rPr sz="1600" b="0">
                <a:solidFill>
                  <a:srgbClr val="FFFFFF"/>
                </a:solidFill>
                <a:latin typeface="Calibri"/>
              </a:rPr>
              <a:t>We just don’t expose them yet</a:t>
            </a:r>
          </a:p>
          <a:p>
            <a:pPr algn="l">
              <a:spcAft>
                <a:spcPts val="600"/>
              </a:spcAft>
            </a:pPr>
            <a:r>
              <a:rPr sz="1600" b="1">
                <a:solidFill>
                  <a:srgbClr val="00B4D8"/>
                </a:solidFill>
                <a:latin typeface="Calibri"/>
              </a:rPr>
              <a:t>• </a:t>
            </a:r>
            <a:r>
              <a:rPr sz="1600" b="0">
                <a:solidFill>
                  <a:srgbClr val="FFFFFF"/>
                </a:solidFill>
                <a:latin typeface="Calibri"/>
              </a:rPr>
              <a:t>Confidence = attaching these scores to outputs</a:t>
            </a:r>
          </a:p>
          <a:p>
            <a:pPr algn="l">
              <a:spcAft>
                <a:spcPts val="600"/>
              </a:spcAft>
            </a:pPr>
            <a:r>
              <a:rPr sz="1600" b="1">
                <a:solidFill>
                  <a:srgbClr val="00B4D8"/>
                </a:solidFill>
                <a:latin typeface="Calibri"/>
              </a:rPr>
              <a:t>• </a:t>
            </a:r>
            <a:r>
              <a:rPr sz="1600" b="0">
                <a:solidFill>
                  <a:srgbClr val="00B4D8"/>
                </a:solidFill>
                <a:latin typeface="Calibri"/>
              </a:rPr>
              <a:t>No extra model inference — scores are a free byproduct of decode</a:t>
            </a:r>
          </a:p>
        </p:txBody>
      </p:sp>
      <p:sp>
        <p:nvSpPr>
          <p:cNvPr id="6" name="Rounded Rectangle 5"/>
          <p:cNvSpPr/>
          <p:nvPr/>
        </p:nvSpPr>
        <p:spPr>
          <a:xfrm>
            <a:off x="548640" y="4251960"/>
            <a:ext cx="5303520" cy="548640"/>
          </a:xfrm>
          <a:prstGeom prst="roundRect">
            <a:avLst/>
          </a:prstGeom>
          <a:solidFill>
            <a:srgbClr val="152A40"/>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297680"/>
            <a:ext cx="4754880" cy="457200"/>
          </a:xfrm>
          <a:prstGeom prst="rect">
            <a:avLst/>
          </a:prstGeom>
          <a:noFill/>
        </p:spPr>
        <p:txBody>
          <a:bodyPr wrap="square" anchor="t"/>
          <a:lstStyle/>
          <a:p>
            <a:pPr algn="l"/>
            <a:r>
              <a:rPr sz="1800" b="1" i="0">
                <a:solidFill>
                  <a:srgbClr val="4CAF50"/>
                </a:solidFill>
                <a:latin typeface="Calibri"/>
              </a:rPr>
              <a:t>Effort: 2–4 hours implementation</a:t>
            </a:r>
          </a:p>
        </p:txBody>
      </p:sp>
      <p:sp>
        <p:nvSpPr>
          <p:cNvPr id="8" name="TextBox 7"/>
          <p:cNvSpPr txBox="1"/>
          <p:nvPr/>
        </p:nvSpPr>
        <p:spPr>
          <a:xfrm>
            <a:off x="6336792" y="1325880"/>
            <a:ext cx="5303520" cy="365760"/>
          </a:xfrm>
          <a:prstGeom prst="rect">
            <a:avLst/>
          </a:prstGeom>
          <a:noFill/>
        </p:spPr>
        <p:txBody>
          <a:bodyPr wrap="square" anchor="t"/>
          <a:lstStyle/>
          <a:p>
            <a:pPr algn="l"/>
            <a:r>
              <a:rPr sz="2000" b="1" i="0">
                <a:solidFill>
                  <a:srgbClr val="E06C75"/>
                </a:solidFill>
                <a:latin typeface="Calibri"/>
              </a:rPr>
              <a:t>What It Enables</a:t>
            </a:r>
          </a:p>
        </p:txBody>
      </p:sp>
      <p:sp>
        <p:nvSpPr>
          <p:cNvPr id="9" name="TextBox 8"/>
          <p:cNvSpPr txBox="1"/>
          <p:nvPr/>
        </p:nvSpPr>
        <p:spPr>
          <a:xfrm>
            <a:off x="6336792" y="1783080"/>
            <a:ext cx="5303520" cy="2743200"/>
          </a:xfrm>
          <a:prstGeom prst="rect">
            <a:avLst/>
          </a:prstGeom>
          <a:noFill/>
        </p:spPr>
        <p:txBody>
          <a:bodyPr wrap="square">
            <a:spAutoFit/>
          </a:bodyPr>
          <a:lstStyle/>
          <a:p>
            <a:pPr algn="l">
              <a:spcAft>
                <a:spcPts val="600"/>
              </a:spcAft>
            </a:pPr>
            <a:r>
              <a:rPr sz="1500" b="1">
                <a:solidFill>
                  <a:srgbClr val="00B4D8"/>
                </a:solidFill>
                <a:latin typeface="Calibri"/>
              </a:rPr>
              <a:t>• </a:t>
            </a:r>
            <a:r>
              <a:rPr sz="1500" b="0">
                <a:solidFill>
                  <a:srgbClr val="FFFFFF"/>
                </a:solidFill>
                <a:latin typeface="Calibri"/>
              </a:rPr>
              <a:t>Users see only high-confidence segments by default</a:t>
            </a:r>
          </a:p>
          <a:p>
            <a:pPr algn="l">
              <a:spcAft>
                <a:spcPts val="600"/>
              </a:spcAft>
            </a:pPr>
            <a:r>
              <a:rPr sz="1500" b="1">
                <a:solidFill>
                  <a:srgbClr val="00B4D8"/>
                </a:solidFill>
                <a:latin typeface="Calibri"/>
              </a:rPr>
              <a:t>• </a:t>
            </a:r>
            <a:r>
              <a:rPr sz="1500" b="0">
                <a:solidFill>
                  <a:srgbClr val="FFFFFF"/>
                </a:solidFill>
                <a:latin typeface="Calibri"/>
              </a:rPr>
              <a:t>Low-confidence segments flagged for human review</a:t>
            </a:r>
          </a:p>
          <a:p>
            <a:pPr algn="l">
              <a:spcAft>
                <a:spcPts val="600"/>
              </a:spcAft>
            </a:pPr>
            <a:r>
              <a:rPr sz="1500" b="1">
                <a:solidFill>
                  <a:srgbClr val="00B4D8"/>
                </a:solidFill>
                <a:latin typeface="Calibri"/>
              </a:rPr>
              <a:t>• </a:t>
            </a:r>
            <a:r>
              <a:rPr sz="1500" b="1">
                <a:solidFill>
                  <a:srgbClr val="4CAF50"/>
                </a:solidFill>
                <a:latin typeface="Calibri"/>
              </a:rPr>
              <a:t>Reduces perceived error rate from 60% to ~20%</a:t>
            </a:r>
          </a:p>
          <a:p>
            <a:pPr algn="l">
              <a:spcAft>
                <a:spcPts val="600"/>
              </a:spcAft>
            </a:pPr>
            <a:r>
              <a:rPr sz="1500" b="1">
                <a:solidFill>
                  <a:srgbClr val="00B4D8"/>
                </a:solidFill>
                <a:latin typeface="Calibri"/>
              </a:rPr>
              <a:t>• </a:t>
            </a:r>
            <a:r>
              <a:rPr sz="1500" b="0">
                <a:solidFill>
                  <a:srgbClr val="FFFFFF"/>
                </a:solidFill>
                <a:latin typeface="Calibri"/>
              </a:rPr>
              <a:t>Business/Finance segments (57% captured) get highest confidence</a:t>
            </a:r>
          </a:p>
          <a:p>
            <a:pPr algn="l">
              <a:spcAft>
                <a:spcPts val="600"/>
              </a:spcAft>
            </a:pPr>
            <a:r>
              <a:rPr sz="1500" b="1">
                <a:solidFill>
                  <a:srgbClr val="00B4D8"/>
                </a:solidFill>
                <a:latin typeface="Calibri"/>
              </a:rPr>
              <a:t>• </a:t>
            </a:r>
            <a:r>
              <a:rPr sz="1500" b="0">
                <a:solidFill>
                  <a:srgbClr val="FFFFFF"/>
                </a:solidFill>
                <a:latin typeface="Calibri"/>
              </a:rPr>
              <a:t>Short segments (&lt;10 words, 32%) need lower thresholds</a:t>
            </a:r>
          </a:p>
        </p:txBody>
      </p:sp>
      <p:pic>
        <p:nvPicPr>
          <p:cNvPr id="10" name="Picture 9"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1" name="TextBox 10"/>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51</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fill="hold">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par>
                          <p:cTn id="10" fill="hold">
                            <p:stCondLst>
                              <p:cond delay="24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par>
                    <p:cTn id="13" fill="hold">
                      <p:stCondLst>
                        <p:cond delay="0"/>
                      </p:stCondLst>
                      <p:childTnLst>
                        <p:par>
                          <p:cTn id="14" fill="hold">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fill="hold">
                            <p:stCondLst>
                              <p:cond delay="12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8" grpId="1"/>
      <p:bldP spid="9" grpId="1"/>
    </p:bldLst>
  </p:timing>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Phase 2: Exploit All 20 Hypotheses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20040"/>
          </a:xfrm>
          <a:prstGeom prst="rect">
            <a:avLst/>
          </a:prstGeom>
          <a:noFill/>
        </p:spPr>
        <p:txBody>
          <a:bodyPr wrap="square" anchor="t"/>
          <a:lstStyle/>
          <a:p>
            <a:pPr algn="l"/>
            <a:r>
              <a:rPr sz="1600" b="1" i="0">
                <a:solidFill>
                  <a:srgbClr val="FFFFFF"/>
                </a:solidFill>
                <a:latin typeface="Calibri"/>
              </a:rPr>
              <a:t>Currently discarding 19 of 20 beam candidates</a:t>
            </a:r>
          </a:p>
        </p:txBody>
      </p:sp>
      <p:sp>
        <p:nvSpPr>
          <p:cNvPr id="5" name="Rounded Rectangle 4"/>
          <p:cNvSpPr/>
          <p:nvPr/>
        </p:nvSpPr>
        <p:spPr>
          <a:xfrm>
            <a:off x="548640" y="1828800"/>
            <a:ext cx="5029200" cy="201168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20240"/>
            <a:ext cx="4663440" cy="274320"/>
          </a:xfrm>
          <a:prstGeom prst="rect">
            <a:avLst/>
          </a:prstGeom>
          <a:noFill/>
        </p:spPr>
        <p:txBody>
          <a:bodyPr wrap="square" anchor="t"/>
          <a:lstStyle/>
          <a:p>
            <a:pPr algn="l"/>
            <a:r>
              <a:rPr sz="1600" b="1" i="0">
                <a:solidFill>
                  <a:srgbClr val="00B4D8"/>
                </a:solidFill>
                <a:latin typeface="Calibri"/>
              </a:rPr>
              <a:t>ROVER</a:t>
            </a:r>
          </a:p>
        </p:txBody>
      </p:sp>
      <p:sp>
        <p:nvSpPr>
          <p:cNvPr id="7" name="TextBox 6"/>
          <p:cNvSpPr txBox="1"/>
          <p:nvPr/>
        </p:nvSpPr>
        <p:spPr>
          <a:xfrm>
            <a:off x="731520" y="2194560"/>
            <a:ext cx="4663440" cy="228600"/>
          </a:xfrm>
          <a:prstGeom prst="rect">
            <a:avLst/>
          </a:prstGeom>
          <a:noFill/>
        </p:spPr>
        <p:txBody>
          <a:bodyPr wrap="square" anchor="t"/>
          <a:lstStyle/>
          <a:p>
            <a:pPr algn="l"/>
            <a:r>
              <a:rPr sz="1100" b="0" i="1">
                <a:solidFill>
                  <a:srgbClr val="AAAAAA"/>
                </a:solidFill>
                <a:latin typeface="Calibri"/>
              </a:rPr>
              <a:t>Recognizer Output Voting Error Reduction</a:t>
            </a:r>
          </a:p>
        </p:txBody>
      </p:sp>
      <p:sp>
        <p:nvSpPr>
          <p:cNvPr id="8" name="TextBox 7"/>
          <p:cNvSpPr txBox="1"/>
          <p:nvPr/>
        </p:nvSpPr>
        <p:spPr>
          <a:xfrm>
            <a:off x="731520" y="2468880"/>
            <a:ext cx="4663440" cy="1188720"/>
          </a:xfrm>
          <a:prstGeom prst="rect">
            <a:avLst/>
          </a:prstGeom>
          <a:noFill/>
        </p:spPr>
        <p:txBody>
          <a:bodyPr wrap="square">
            <a:spAutoFit/>
          </a:bodyPr>
          <a:lstStyle/>
          <a:p>
            <a:pPr algn="l">
              <a:spcAft>
                <a:spcPts val="600"/>
              </a:spcAft>
            </a:pPr>
            <a:r>
              <a:rPr sz="1300" b="1">
                <a:solidFill>
                  <a:srgbClr val="00B4D8"/>
                </a:solidFill>
                <a:latin typeface="Calibri"/>
              </a:rPr>
              <a:t>• </a:t>
            </a:r>
            <a:r>
              <a:rPr sz="1300" b="0">
                <a:solidFill>
                  <a:srgbClr val="FFFFFF"/>
                </a:solidFill>
                <a:latin typeface="Calibri"/>
              </a:rPr>
              <a:t>Align all 20 hypotheses word-by-word</a:t>
            </a:r>
          </a:p>
          <a:p>
            <a:pPr algn="l">
              <a:spcAft>
                <a:spcPts val="600"/>
              </a:spcAft>
            </a:pPr>
            <a:r>
              <a:rPr sz="1300" b="1">
                <a:solidFill>
                  <a:srgbClr val="00B4D8"/>
                </a:solidFill>
                <a:latin typeface="Calibri"/>
              </a:rPr>
              <a:t>• </a:t>
            </a:r>
            <a:r>
              <a:rPr sz="1300" b="0">
                <a:solidFill>
                  <a:srgbClr val="FFFFFF"/>
                </a:solidFill>
                <a:latin typeface="Calibri"/>
              </a:rPr>
              <a:t>Vote at each position — most common word wins</a:t>
            </a:r>
          </a:p>
          <a:p>
            <a:pPr algn="l">
              <a:spcAft>
                <a:spcPts val="600"/>
              </a:spcAft>
            </a:pPr>
            <a:r>
              <a:rPr sz="1300" b="1">
                <a:solidFill>
                  <a:srgbClr val="00B4D8"/>
                </a:solidFill>
                <a:latin typeface="Calibri"/>
              </a:rPr>
              <a:t>• </a:t>
            </a:r>
            <a:r>
              <a:rPr sz="1300" b="0">
                <a:solidFill>
                  <a:srgbClr val="FFFFFF"/>
                </a:solidFill>
                <a:latin typeface="Calibri"/>
              </a:rPr>
              <a:t>Reduces random substitution errors</a:t>
            </a:r>
          </a:p>
        </p:txBody>
      </p:sp>
      <p:sp>
        <p:nvSpPr>
          <p:cNvPr id="9" name="Rounded Rectangle 8"/>
          <p:cNvSpPr/>
          <p:nvPr/>
        </p:nvSpPr>
        <p:spPr>
          <a:xfrm>
            <a:off x="6611111" y="1828800"/>
            <a:ext cx="5029200" cy="2011680"/>
          </a:xfrm>
          <a:prstGeom prst="roundRect">
            <a:avLst/>
          </a:prstGeom>
          <a:solidFill>
            <a:srgbClr val="152A40"/>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93991" y="1920240"/>
            <a:ext cx="4663440" cy="274320"/>
          </a:xfrm>
          <a:prstGeom prst="rect">
            <a:avLst/>
          </a:prstGeom>
          <a:noFill/>
        </p:spPr>
        <p:txBody>
          <a:bodyPr wrap="square" anchor="t"/>
          <a:lstStyle/>
          <a:p>
            <a:pPr algn="l"/>
            <a:r>
              <a:rPr sz="1600" b="1" i="0">
                <a:solidFill>
                  <a:srgbClr val="4CAF50"/>
                </a:solidFill>
                <a:latin typeface="Calibri"/>
              </a:rPr>
              <a:t>MBR</a:t>
            </a:r>
          </a:p>
        </p:txBody>
      </p:sp>
      <p:sp>
        <p:nvSpPr>
          <p:cNvPr id="11" name="TextBox 10"/>
          <p:cNvSpPr txBox="1"/>
          <p:nvPr/>
        </p:nvSpPr>
        <p:spPr>
          <a:xfrm>
            <a:off x="6793991" y="2194560"/>
            <a:ext cx="4663440" cy="228600"/>
          </a:xfrm>
          <a:prstGeom prst="rect">
            <a:avLst/>
          </a:prstGeom>
          <a:noFill/>
        </p:spPr>
        <p:txBody>
          <a:bodyPr wrap="square" anchor="t"/>
          <a:lstStyle/>
          <a:p>
            <a:pPr algn="l"/>
            <a:r>
              <a:rPr sz="1100" b="0" i="1">
                <a:solidFill>
                  <a:srgbClr val="AAAAAA"/>
                </a:solidFill>
                <a:latin typeface="Calibri"/>
              </a:rPr>
              <a:t>Minimum Bayes Risk Decoding</a:t>
            </a:r>
          </a:p>
        </p:txBody>
      </p:sp>
      <p:sp>
        <p:nvSpPr>
          <p:cNvPr id="12" name="TextBox 11"/>
          <p:cNvSpPr txBox="1"/>
          <p:nvPr/>
        </p:nvSpPr>
        <p:spPr>
          <a:xfrm>
            <a:off x="6793991" y="2468880"/>
            <a:ext cx="4663440" cy="1188720"/>
          </a:xfrm>
          <a:prstGeom prst="rect">
            <a:avLst/>
          </a:prstGeom>
          <a:noFill/>
        </p:spPr>
        <p:txBody>
          <a:bodyPr wrap="square">
            <a:spAutoFit/>
          </a:bodyPr>
          <a:lstStyle/>
          <a:p>
            <a:pPr algn="l">
              <a:spcAft>
                <a:spcPts val="600"/>
              </a:spcAft>
            </a:pPr>
            <a:r>
              <a:rPr sz="1300" b="1">
                <a:solidFill>
                  <a:srgbClr val="00B4D8"/>
                </a:solidFill>
                <a:latin typeface="Calibri"/>
              </a:rPr>
              <a:t>• </a:t>
            </a:r>
            <a:r>
              <a:rPr sz="1300" b="0">
                <a:solidFill>
                  <a:srgbClr val="FFFFFF"/>
                </a:solidFill>
                <a:latin typeface="Calibri"/>
              </a:rPr>
              <a:t>Score each hypothesis against ALL others</a:t>
            </a:r>
          </a:p>
          <a:p>
            <a:pPr algn="l">
              <a:spcAft>
                <a:spcPts val="600"/>
              </a:spcAft>
            </a:pPr>
            <a:r>
              <a:rPr sz="1300" b="1">
                <a:solidFill>
                  <a:srgbClr val="00B4D8"/>
                </a:solidFill>
                <a:latin typeface="Calibri"/>
              </a:rPr>
              <a:t>• </a:t>
            </a:r>
            <a:r>
              <a:rPr sz="1300" b="0">
                <a:solidFill>
                  <a:srgbClr val="FFFFFF"/>
                </a:solidFill>
                <a:latin typeface="Calibri"/>
              </a:rPr>
              <a:t>Pick the one most similar to the consensus</a:t>
            </a:r>
          </a:p>
          <a:p>
            <a:pPr algn="l">
              <a:spcAft>
                <a:spcPts val="600"/>
              </a:spcAft>
            </a:pPr>
            <a:r>
              <a:rPr sz="1300" b="1">
                <a:solidFill>
                  <a:srgbClr val="00B4D8"/>
                </a:solidFill>
                <a:latin typeface="Calibri"/>
              </a:rPr>
              <a:t>• </a:t>
            </a:r>
            <a:r>
              <a:rPr sz="1300" b="0">
                <a:solidFill>
                  <a:srgbClr val="FFFFFF"/>
                </a:solidFill>
                <a:latin typeface="Calibri"/>
              </a:rPr>
              <a:t>Best single hypothesis, no alignment needed</a:t>
            </a:r>
          </a:p>
        </p:txBody>
      </p:sp>
      <p:sp>
        <p:nvSpPr>
          <p:cNvPr id="13" name="TextBox 12"/>
          <p:cNvSpPr txBox="1"/>
          <p:nvPr/>
        </p:nvSpPr>
        <p:spPr>
          <a:xfrm>
            <a:off x="548640" y="4114800"/>
            <a:ext cx="11091672" cy="1371600"/>
          </a:xfrm>
          <a:prstGeom prst="rect">
            <a:avLst/>
          </a:prstGeom>
          <a:noFill/>
        </p:spPr>
        <p:txBody>
          <a:bodyPr wrap="square">
            <a:spAutoFit/>
          </a:bodyPr>
          <a:lstStyle/>
          <a:p>
            <a:pPr algn="l">
              <a:spcAft>
                <a:spcPts val="600"/>
              </a:spcAft>
            </a:pPr>
            <a:r>
              <a:rPr sz="1400" b="1">
                <a:solidFill>
                  <a:srgbClr val="00B4D8"/>
                </a:solidFill>
                <a:latin typeface="Calibri"/>
              </a:rPr>
              <a:t>• </a:t>
            </a:r>
            <a:r>
              <a:rPr sz="1400" b="1">
                <a:solidFill>
                  <a:srgbClr val="00B4D8"/>
                </a:solidFill>
                <a:latin typeface="Calibri"/>
              </a:rPr>
              <a:t>Expected: 5–15% relative IS improvement</a:t>
            </a:r>
          </a:p>
          <a:p>
            <a:pPr algn="l">
              <a:spcAft>
                <a:spcPts val="600"/>
              </a:spcAft>
            </a:pPr>
            <a:r>
              <a:rPr sz="1400" b="1">
                <a:solidFill>
                  <a:srgbClr val="00B4D8"/>
                </a:solidFill>
                <a:latin typeface="Calibri"/>
              </a:rPr>
              <a:t>• </a:t>
            </a:r>
            <a:r>
              <a:rPr sz="1400" b="0">
                <a:solidFill>
                  <a:srgbClr val="FFFFFF"/>
                </a:solidFill>
                <a:latin typeface="Calibri"/>
              </a:rPr>
              <a:t>Targets: Accumulated Errors (24.4%) — the "death by a thousand cuts" category</a:t>
            </a:r>
          </a:p>
          <a:p>
            <a:pPr algn="l">
              <a:spcAft>
                <a:spcPts val="600"/>
              </a:spcAft>
            </a:pPr>
            <a:r>
              <a:rPr sz="1400" b="1">
                <a:solidFill>
                  <a:srgbClr val="00B4D8"/>
                </a:solidFill>
                <a:latin typeface="Calibri"/>
              </a:rPr>
              <a:t>• </a:t>
            </a:r>
            <a:r>
              <a:rPr sz="1400" b="0">
                <a:solidFill>
                  <a:srgbClr val="FFFFFF"/>
                </a:solidFill>
                <a:latin typeface="Calibri"/>
              </a:rPr>
              <a:t>Moves IS 2.0–2.9 segments above the 3.0 threshold</a:t>
            </a:r>
          </a:p>
        </p:txBody>
      </p:sp>
      <p:pic>
        <p:nvPicPr>
          <p:cNvPr id="14" name="Picture 13"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5" name="TextBox 14"/>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52</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00"/>
                                  <p:tgtEl>
                                    <p:spTgt spid="5"/>
                                  </p:tgtEl>
                                </p:cBhvr>
                              </p:animEffect>
                            </p:childTnLst>
                          </p:cTn>
                        </p:par>
                      </p:childTnLst>
                    </p:cTn>
                  </p:par>
                  <p:par>
                    <p:cTn id="7" fill="hold">
                      <p:stCondLst>
                        <p:cond delay="0"/>
                      </p:stCondLst>
                      <p:childTnLst>
                        <p:par>
                          <p:cTn id="8" fill="hold">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9" grpId="1"/>
    </p:bld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Data Scaling: The Path to IS 3.5–4.0</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365760"/>
          </a:xfrm>
          <a:prstGeom prst="rect">
            <a:avLst/>
          </a:prstGeom>
          <a:noFill/>
        </p:spPr>
        <p:txBody>
          <a:bodyPr wrap="square" anchor="t"/>
          <a:lstStyle/>
          <a:p>
            <a:pPr algn="l"/>
            <a:r>
              <a:rPr sz="1700" b="1" i="0">
                <a:solidFill>
                  <a:srgbClr val="E06C75"/>
                </a:solidFill>
                <a:latin typeface="Calibri"/>
              </a:rPr>
              <a:t>Why More Data Is the Answer</a:t>
            </a:r>
          </a:p>
        </p:txBody>
      </p:sp>
      <p:sp>
        <p:nvSpPr>
          <p:cNvPr id="5" name="TextBox 4"/>
          <p:cNvSpPr txBox="1"/>
          <p:nvPr/>
        </p:nvSpPr>
        <p:spPr>
          <a:xfrm>
            <a:off x="548640" y="1783080"/>
            <a:ext cx="5029200" cy="2743200"/>
          </a:xfrm>
          <a:prstGeom prst="rect">
            <a:avLst/>
          </a:prstGeom>
          <a:noFill/>
        </p:spPr>
        <p:txBody>
          <a:bodyPr wrap="square">
            <a:spAutoFit/>
          </a:bodyPr>
          <a:lstStyle/>
          <a:p>
            <a:pPr algn="l">
              <a:spcAft>
                <a:spcPts val="600"/>
              </a:spcAft>
            </a:pPr>
            <a:r>
              <a:rPr sz="1300" b="1">
                <a:solidFill>
                  <a:srgbClr val="00B4D8"/>
                </a:solidFill>
                <a:latin typeface="Calibri"/>
              </a:rPr>
              <a:t>• </a:t>
            </a:r>
            <a:r>
              <a:rPr sz="1300" b="1">
                <a:solidFill>
                  <a:srgbClr val="FFFFFF"/>
                </a:solidFill>
                <a:latin typeface="Calibri"/>
              </a:rPr>
              <a:t>Current: 1,273 segments — far below LoRA minimum</a:t>
            </a:r>
          </a:p>
          <a:p>
            <a:pPr algn="l">
              <a:spcAft>
                <a:spcPts val="600"/>
              </a:spcAft>
            </a:pPr>
            <a:r>
              <a:rPr sz="1300" b="1">
                <a:solidFill>
                  <a:srgbClr val="00B4D8"/>
                </a:solidFill>
                <a:latin typeface="Calibri"/>
              </a:rPr>
              <a:t>• </a:t>
            </a:r>
            <a:r>
              <a:rPr sz="1300" b="0">
                <a:solidFill>
                  <a:srgbClr val="FFFFFF"/>
                </a:solidFill>
                <a:latin typeface="Calibri"/>
              </a:rPr>
              <a:t>Fine-tune experiments confirmed: small data = overfitting</a:t>
            </a:r>
          </a:p>
          <a:p>
            <a:pPr algn="l">
              <a:spcAft>
                <a:spcPts val="600"/>
              </a:spcAft>
            </a:pPr>
            <a:r>
              <a:rPr sz="1300" b="1">
                <a:solidFill>
                  <a:srgbClr val="00B4D8"/>
                </a:solidFill>
                <a:latin typeface="Calibri"/>
              </a:rPr>
              <a:t>• </a:t>
            </a:r>
            <a:r>
              <a:rPr sz="1300" b="0">
                <a:solidFill>
                  <a:srgbClr val="FFFFFF"/>
                </a:solidFill>
                <a:latin typeface="Calibri"/>
              </a:rPr>
              <a:t>Scaling law (ICLR 2024): data × LLM quality = multiplicative gains</a:t>
            </a:r>
          </a:p>
          <a:p>
            <a:pPr algn="l">
              <a:spcAft>
                <a:spcPts val="600"/>
              </a:spcAft>
            </a:pPr>
            <a:r>
              <a:rPr sz="1300" b="1">
                <a:solidFill>
                  <a:srgbClr val="00B4D8"/>
                </a:solidFill>
                <a:latin typeface="Calibri"/>
              </a:rPr>
              <a:t>• </a:t>
            </a:r>
            <a:r>
              <a:rPr sz="1300" b="0">
                <a:solidFill>
                  <a:srgbClr val="00B4D8"/>
                </a:solidFill>
                <a:latin typeface="Calibri"/>
              </a:rPr>
              <a:t>AVSpeech: 290K videos available for curation</a:t>
            </a:r>
          </a:p>
          <a:p>
            <a:pPr algn="l">
              <a:spcAft>
                <a:spcPts val="600"/>
              </a:spcAft>
            </a:pPr>
            <a:r>
              <a:rPr sz="1300" b="1">
                <a:solidFill>
                  <a:srgbClr val="00B4D8"/>
                </a:solidFill>
                <a:latin typeface="Calibri"/>
              </a:rPr>
              <a:t>• </a:t>
            </a:r>
            <a:r>
              <a:rPr sz="1300" b="1">
                <a:solidFill>
                  <a:srgbClr val="4CAF50"/>
                </a:solidFill>
                <a:latin typeface="Calibri"/>
              </a:rPr>
              <a:t>Next step: curate 20K–50K diverse segments</a:t>
            </a:r>
          </a:p>
        </p:txBody>
      </p:sp>
      <p:sp>
        <p:nvSpPr>
          <p:cNvPr id="6" name="TextBox 5"/>
          <p:cNvSpPr txBox="1"/>
          <p:nvPr/>
        </p:nvSpPr>
        <p:spPr>
          <a:xfrm>
            <a:off x="6611111" y="1325880"/>
            <a:ext cx="5029200" cy="365760"/>
          </a:xfrm>
          <a:prstGeom prst="rect">
            <a:avLst/>
          </a:prstGeom>
          <a:noFill/>
        </p:spPr>
        <p:txBody>
          <a:bodyPr wrap="square" anchor="t"/>
          <a:lstStyle/>
          <a:p>
            <a:pPr algn="l"/>
            <a:r>
              <a:rPr sz="1700" b="1" i="0">
                <a:solidFill>
                  <a:srgbClr val="00B4D8"/>
                </a:solidFill>
                <a:latin typeface="Calibri"/>
              </a:rPr>
              <a:t>Projected Impact on IS</a:t>
            </a:r>
          </a:p>
        </p:txBody>
      </p:sp>
      <p:graphicFrame>
        <p:nvGraphicFramePr>
          <p:cNvPr id="7" name="Table 6"/>
          <p:cNvGraphicFramePr>
            <a:graphicFrameLocks noGrp="1"/>
          </p:cNvGraphicFramePr>
          <p:nvPr/>
        </p:nvGraphicFramePr>
        <p:xfrm>
          <a:off x="6611111" y="1783080"/>
          <a:ext cx="5029200" cy="2084832"/>
        </p:xfrm>
        <a:graphic>
          <a:graphicData uri="http://schemas.openxmlformats.org/drawingml/2006/table">
            <a:tbl>
              <a:tblPr firstRow="0" bandRow="0" lastRow="0" bandCol="0">
                <a:tableStyleId>{5C22544A-7EE6-4342-B048-85BDC9FD1C3A}</a:tableStyleId>
              </a:tblPr>
              <a:tblGrid>
                <a:gridCol w="1676400"/>
                <a:gridCol w="1676400"/>
                <a:gridCol w="1676400"/>
              </a:tblGrid>
              <a:tr h="347472">
                <a:tc>
                  <a:txBody>
                    <a:bodyPr/>
                    <a:lstStyle/>
                    <a:p>
                      <a:pPr algn="ctr"/>
                      <a:r>
                        <a:rPr sz="1200" b="1" i="0">
                          <a:solidFill>
                            <a:srgbClr val="FFFFFF"/>
                          </a:solidFill>
                          <a:latin typeface="Calibri"/>
                        </a:rPr>
                        <a:t>Segments</a:t>
                      </a:r>
                    </a:p>
                  </a:txBody>
                  <a:tcPr>
                    <a:solidFill>
                      <a:srgbClr val="00b4d8"/>
                    </a:solidFill>
                  </a:tcPr>
                </a:tc>
                <a:tc>
                  <a:txBody>
                    <a:bodyPr/>
                    <a:lstStyle/>
                    <a:p>
                      <a:pPr algn="ctr"/>
                      <a:r>
                        <a:rPr sz="1200" b="1" i="0">
                          <a:solidFill>
                            <a:srgbClr val="FFFFFF"/>
                          </a:solidFill>
                          <a:latin typeface="Calibri"/>
                        </a:rPr>
                        <a:t>WER</a:t>
                      </a:r>
                    </a:p>
                  </a:txBody>
                  <a:tcPr>
                    <a:solidFill>
                      <a:srgbClr val="00b4d8"/>
                    </a:solidFill>
                  </a:tcPr>
                </a:tc>
                <a:tc>
                  <a:txBody>
                    <a:bodyPr/>
                    <a:lstStyle/>
                    <a:p>
                      <a:pPr algn="ctr"/>
                      <a:r>
                        <a:rPr sz="1200" b="1" i="0">
                          <a:solidFill>
                            <a:srgbClr val="FFFFFF"/>
                          </a:solidFill>
                          <a:latin typeface="Calibri"/>
                        </a:rPr>
                        <a:t>Projected IS</a:t>
                      </a:r>
                    </a:p>
                  </a:txBody>
                  <a:tcPr>
                    <a:solidFill>
                      <a:srgbClr val="00b4d8"/>
                    </a:solidFill>
                  </a:tcPr>
                </a:tc>
              </a:tr>
              <a:tr h="347472">
                <a:tc>
                  <a:txBody>
                    <a:bodyPr/>
                    <a:lstStyle/>
                    <a:p>
                      <a:pPr algn="l"/>
                      <a:r>
                        <a:rPr sz="1200" b="0" i="0">
                          <a:solidFill>
                            <a:srgbClr val="FFFFFF"/>
                          </a:solidFill>
                          <a:latin typeface="Calibri"/>
                        </a:rPr>
                        <a:t>1.3K (current)</a:t>
                      </a:r>
                    </a:p>
                  </a:txBody>
                  <a:tcPr>
                    <a:solidFill>
                      <a:srgbClr val="0d1b2a"/>
                    </a:solidFill>
                  </a:tcPr>
                </a:tc>
                <a:tc>
                  <a:txBody>
                    <a:bodyPr/>
                    <a:lstStyle/>
                    <a:p>
                      <a:pPr algn="l"/>
                      <a:r>
                        <a:rPr sz="1200" b="0" i="0">
                          <a:solidFill>
                            <a:srgbClr val="E06C75"/>
                          </a:solidFill>
                          <a:latin typeface="Calibri"/>
                        </a:rPr>
                        <a:t>64.1%</a:t>
                      </a:r>
                    </a:p>
                  </a:txBody>
                  <a:tcPr>
                    <a:solidFill>
                      <a:srgbClr val="0d1b2a"/>
                    </a:solidFill>
                  </a:tcPr>
                </a:tc>
                <a:tc>
                  <a:txBody>
                    <a:bodyPr/>
                    <a:lstStyle/>
                    <a:p>
                      <a:pPr algn="l"/>
                      <a:r>
                        <a:rPr sz="1200" b="0" i="0">
                          <a:solidFill>
                            <a:srgbClr val="FFFFFF"/>
                          </a:solidFill>
                          <a:latin typeface="Calibri"/>
                        </a:rPr>
                        <a:t>2.52</a:t>
                      </a:r>
                    </a:p>
                  </a:txBody>
                  <a:tcPr>
                    <a:solidFill>
                      <a:srgbClr val="0d1b2a"/>
                    </a:solidFill>
                  </a:tcPr>
                </a:tc>
              </a:tr>
              <a:tr h="347472">
                <a:tc>
                  <a:txBody>
                    <a:bodyPr/>
                    <a:lstStyle/>
                    <a:p>
                      <a:pPr algn="l"/>
                      <a:r>
                        <a:rPr sz="1200" b="0" i="0">
                          <a:solidFill>
                            <a:srgbClr val="FFFFFF"/>
                          </a:solidFill>
                          <a:latin typeface="Calibri"/>
                        </a:rPr>
                        <a:t>5K</a:t>
                      </a:r>
                    </a:p>
                  </a:txBody>
                  <a:tcPr>
                    <a:solidFill>
                      <a:srgbClr val="152a40"/>
                    </a:solidFill>
                  </a:tcPr>
                </a:tc>
                <a:tc>
                  <a:txBody>
                    <a:bodyPr/>
                    <a:lstStyle/>
                    <a:p>
                      <a:pPr algn="l"/>
                      <a:r>
                        <a:rPr sz="1200" b="0" i="0">
                          <a:solidFill>
                            <a:srgbClr val="FFFFFF"/>
                          </a:solidFill>
                          <a:latin typeface="Calibri"/>
                        </a:rPr>
                        <a:t>55–60%</a:t>
                      </a:r>
                    </a:p>
                  </a:txBody>
                  <a:tcPr>
                    <a:solidFill>
                      <a:srgbClr val="152a40"/>
                    </a:solidFill>
                  </a:tcPr>
                </a:tc>
                <a:tc>
                  <a:txBody>
                    <a:bodyPr/>
                    <a:lstStyle/>
                    <a:p>
                      <a:pPr algn="l"/>
                      <a:r>
                        <a:rPr sz="1200" b="0" i="0">
                          <a:solidFill>
                            <a:srgbClr val="FFFFFF"/>
                          </a:solidFill>
                          <a:latin typeface="Calibri"/>
                        </a:rPr>
                        <a:t>~2.8–3.0</a:t>
                      </a:r>
                    </a:p>
                  </a:txBody>
                  <a:tcPr>
                    <a:solidFill>
                      <a:srgbClr val="152a40"/>
                    </a:solidFill>
                  </a:tcPr>
                </a:tc>
              </a:tr>
              <a:tr h="347472">
                <a:tc>
                  <a:txBody>
                    <a:bodyPr/>
                    <a:lstStyle/>
                    <a:p>
                      <a:pPr algn="l"/>
                      <a:r>
                        <a:rPr sz="1200" b="0" i="0">
                          <a:solidFill>
                            <a:srgbClr val="FFFFFF"/>
                          </a:solidFill>
                          <a:latin typeface="Calibri"/>
                        </a:rPr>
                        <a:t>20K</a:t>
                      </a:r>
                    </a:p>
                  </a:txBody>
                  <a:tcPr>
                    <a:solidFill>
                      <a:srgbClr val="0d1b2a"/>
                    </a:solidFill>
                  </a:tcPr>
                </a:tc>
                <a:tc>
                  <a:txBody>
                    <a:bodyPr/>
                    <a:lstStyle/>
                    <a:p>
                      <a:pPr algn="l"/>
                      <a:r>
                        <a:rPr sz="1200" b="0" i="0">
                          <a:solidFill>
                            <a:srgbClr val="FFFFFF"/>
                          </a:solidFill>
                          <a:latin typeface="Calibri"/>
                        </a:rPr>
                        <a:t>45–50%</a:t>
                      </a:r>
                    </a:p>
                  </a:txBody>
                  <a:tcPr>
                    <a:solidFill>
                      <a:srgbClr val="0d1b2a"/>
                    </a:solidFill>
                  </a:tcPr>
                </a:tc>
                <a:tc>
                  <a:txBody>
                    <a:bodyPr/>
                    <a:lstStyle/>
                    <a:p>
                      <a:pPr algn="l"/>
                      <a:r>
                        <a:rPr sz="1200" b="0" i="0">
                          <a:solidFill>
                            <a:srgbClr val="FFFFFF"/>
                          </a:solidFill>
                          <a:latin typeface="Calibri"/>
                        </a:rPr>
                        <a:t>~3.2–3.5</a:t>
                      </a:r>
                    </a:p>
                  </a:txBody>
                  <a:tcPr>
                    <a:solidFill>
                      <a:srgbClr val="0d1b2a"/>
                    </a:solidFill>
                  </a:tcPr>
                </a:tc>
              </a:tr>
              <a:tr h="347472">
                <a:tc>
                  <a:txBody>
                    <a:bodyPr/>
                    <a:lstStyle/>
                    <a:p>
                      <a:pPr algn="l"/>
                      <a:r>
                        <a:rPr sz="1200" b="0" i="0">
                          <a:solidFill>
                            <a:srgbClr val="FFFFFF"/>
                          </a:solidFill>
                          <a:latin typeface="Calibri"/>
                        </a:rPr>
                        <a:t>50K</a:t>
                      </a:r>
                    </a:p>
                  </a:txBody>
                  <a:tcPr>
                    <a:solidFill>
                      <a:srgbClr val="152a40"/>
                    </a:solidFill>
                  </a:tcPr>
                </a:tc>
                <a:tc>
                  <a:txBody>
                    <a:bodyPr/>
                    <a:lstStyle/>
                    <a:p>
                      <a:pPr algn="l"/>
                      <a:r>
                        <a:rPr sz="1200" b="0" i="0">
                          <a:solidFill>
                            <a:srgbClr val="FFFFFF"/>
                          </a:solidFill>
                          <a:latin typeface="Calibri"/>
                        </a:rPr>
                        <a:t>40–45%</a:t>
                      </a:r>
                    </a:p>
                  </a:txBody>
                  <a:tcPr>
                    <a:solidFill>
                      <a:srgbClr val="152a40"/>
                    </a:solidFill>
                  </a:tcPr>
                </a:tc>
                <a:tc>
                  <a:txBody>
                    <a:bodyPr/>
                    <a:lstStyle/>
                    <a:p>
                      <a:pPr algn="l"/>
                      <a:r>
                        <a:rPr sz="1200" b="0" i="0">
                          <a:solidFill>
                            <a:srgbClr val="4CAF50"/>
                          </a:solidFill>
                          <a:latin typeface="Calibri"/>
                        </a:rPr>
                        <a:t>~3.5–4.0</a:t>
                      </a:r>
                    </a:p>
                  </a:txBody>
                  <a:tcPr>
                    <a:solidFill>
                      <a:srgbClr val="152a40"/>
                    </a:solidFill>
                  </a:tcPr>
                </a:tc>
              </a:tr>
              <a:tr h="347472">
                <a:tc>
                  <a:txBody>
                    <a:bodyPr/>
                    <a:lstStyle/>
                    <a:p>
                      <a:pPr algn="l"/>
                      <a:r>
                        <a:rPr sz="1200" b="0" i="0">
                          <a:solidFill>
                            <a:srgbClr val="FFFFFF"/>
                          </a:solidFill>
                          <a:latin typeface="Calibri"/>
                        </a:rPr>
                        <a:t>100K+</a:t>
                      </a:r>
                    </a:p>
                  </a:txBody>
                  <a:tcPr>
                    <a:solidFill>
                      <a:srgbClr val="0d1b2a"/>
                    </a:solidFill>
                  </a:tcPr>
                </a:tc>
                <a:tc>
                  <a:txBody>
                    <a:bodyPr/>
                    <a:lstStyle/>
                    <a:p>
                      <a:pPr algn="l"/>
                      <a:r>
                        <a:rPr sz="1200" b="0" i="0">
                          <a:solidFill>
                            <a:srgbClr val="FFFFFF"/>
                          </a:solidFill>
                          <a:latin typeface="Calibri"/>
                        </a:rPr>
                        <a:t>35–40%</a:t>
                      </a:r>
                    </a:p>
                  </a:txBody>
                  <a:tcPr>
                    <a:solidFill>
                      <a:srgbClr val="0d1b2a"/>
                    </a:solidFill>
                  </a:tcPr>
                </a:tc>
                <a:tc>
                  <a:txBody>
                    <a:bodyPr/>
                    <a:lstStyle/>
                    <a:p>
                      <a:pPr algn="l"/>
                      <a:r>
                        <a:rPr sz="1200" b="0" i="0">
                          <a:solidFill>
                            <a:srgbClr val="4CAF50"/>
                          </a:solidFill>
                          <a:latin typeface="Calibri"/>
                        </a:rPr>
                        <a:t>~4.0+</a:t>
                      </a:r>
                    </a:p>
                  </a:txBody>
                  <a:tcPr>
                    <a:solidFill>
                      <a:srgbClr val="0d1b2a"/>
                    </a:solidFill>
                  </a:tcPr>
                </a:tc>
              </a:tr>
            </a:tbl>
          </a:graphicData>
        </a:graphic>
      </p:graphicFrame>
      <p:sp>
        <p:nvSpPr>
          <p:cNvPr id="8" name="Rounded Rectangle 7"/>
          <p:cNvSpPr/>
          <p:nvPr/>
        </p:nvSpPr>
        <p:spPr>
          <a:xfrm>
            <a:off x="6611111" y="4069080"/>
            <a:ext cx="5029200" cy="91440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93991" y="4160520"/>
            <a:ext cx="1097280" cy="365760"/>
          </a:xfrm>
          <a:prstGeom prst="rect">
            <a:avLst/>
          </a:prstGeom>
          <a:noFill/>
        </p:spPr>
        <p:txBody>
          <a:bodyPr wrap="square" anchor="t"/>
          <a:lstStyle/>
          <a:p>
            <a:pPr algn="l"/>
            <a:r>
              <a:rPr sz="2800" b="1" i="0">
                <a:solidFill>
                  <a:srgbClr val="00B4D8"/>
                </a:solidFill>
                <a:latin typeface="Calibri"/>
              </a:rPr>
              <a:t>290K</a:t>
            </a:r>
          </a:p>
        </p:txBody>
      </p:sp>
      <p:sp>
        <p:nvSpPr>
          <p:cNvPr id="10" name="TextBox 9"/>
          <p:cNvSpPr txBox="1"/>
          <p:nvPr/>
        </p:nvSpPr>
        <p:spPr>
          <a:xfrm>
            <a:off x="7982711" y="4160520"/>
            <a:ext cx="3474720" cy="640080"/>
          </a:xfrm>
          <a:prstGeom prst="rect">
            <a:avLst/>
          </a:prstGeom>
          <a:noFill/>
        </p:spPr>
        <p:txBody>
          <a:bodyPr wrap="square" anchor="t"/>
          <a:lstStyle/>
          <a:p>
            <a:pPr algn="l"/>
            <a:r>
              <a:rPr sz="1300" b="0" i="0">
                <a:solidFill>
                  <a:srgbClr val="FFFFFF"/>
                </a:solidFill>
                <a:latin typeface="Calibri"/>
              </a:rPr>
              <a:t>AVSpeech videos available</a:t>
            </a:r>
            <a:br/>
            <a:r>
              <a:rPr sz="1300" b="0" i="0">
                <a:solidFill>
                  <a:srgbClr val="FFFFFF"/>
                </a:solidFill>
                <a:latin typeface="Calibri"/>
              </a:rPr>
              <a:t>for training data curation</a:t>
            </a:r>
          </a:p>
        </p:txBody>
      </p:sp>
      <p:pic>
        <p:nvPicPr>
          <p:cNvPr id="11" name="Picture 10"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2" name="TextBox 11"/>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53</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fill="hold">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10" fill="hold">
                      <p:stCondLst>
                        <p:cond delay="0"/>
                      </p:stCondLst>
                      <p:childTnLst>
                        <p:par>
                          <p:cTn id="11" fill="hold">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fill="hold">
                            <p:stCondLst>
                              <p:cond delay="12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fill="hold">
                            <p:stCondLst>
                              <p:cond delay="24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p:bldP spid="7" grpId="1"/>
      <p:bldP spid="8" grpId="1"/>
    </p:bldLst>
  </p:timing>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Fine-Tuning Experiments: Limited Data, Limited Gains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T_11_clean_summary.png"/>
          <p:cNvPicPr>
            <a:picLocks noChangeAspect="1"/>
          </p:cNvPicPr>
          <p:nvPr/>
        </p:nvPicPr>
        <p:blipFill>
          <a:blip r:embed="rId2"/>
          <a:stretch>
            <a:fillRect/>
          </a:stretch>
        </p:blipFill>
        <p:spPr>
          <a:xfrm>
            <a:off x="548640" y="1325880"/>
            <a:ext cx="11091672" cy="2560320"/>
          </a:xfrm>
          <a:prstGeom prst="rect">
            <a:avLst/>
          </a:prstGeom>
        </p:spPr>
      </p:pic>
      <p:sp>
        <p:nvSpPr>
          <p:cNvPr id="5" name="TextBox 4"/>
          <p:cNvSpPr txBox="1"/>
          <p:nvPr/>
        </p:nvSpPr>
        <p:spPr>
          <a:xfrm>
            <a:off x="548640" y="4069080"/>
            <a:ext cx="5029200" cy="274320"/>
          </a:xfrm>
          <a:prstGeom prst="rect">
            <a:avLst/>
          </a:prstGeom>
          <a:noFill/>
        </p:spPr>
        <p:txBody>
          <a:bodyPr wrap="square" anchor="t"/>
          <a:lstStyle/>
          <a:p>
            <a:pPr algn="l"/>
            <a:r>
              <a:rPr sz="1500" b="1" i="0">
                <a:solidFill>
                  <a:srgbClr val="E06C75"/>
                </a:solidFill>
                <a:latin typeface="Calibri"/>
              </a:rPr>
              <a:t>What We Tried</a:t>
            </a:r>
          </a:p>
        </p:txBody>
      </p:sp>
      <p:sp>
        <p:nvSpPr>
          <p:cNvPr id="6" name="TextBox 5"/>
          <p:cNvSpPr txBox="1"/>
          <p:nvPr/>
        </p:nvSpPr>
        <p:spPr>
          <a:xfrm>
            <a:off x="548640" y="4389120"/>
            <a:ext cx="5029200" cy="1828800"/>
          </a:xfrm>
          <a:prstGeom prst="rect">
            <a:avLst/>
          </a:prstGeom>
          <a:noFill/>
        </p:spPr>
        <p:txBody>
          <a:bodyPr wrap="square">
            <a:spAutoFit/>
          </a:bodyPr>
          <a:lstStyle/>
          <a:p>
            <a:pPr algn="l">
              <a:spcAft>
                <a:spcPts val="600"/>
              </a:spcAft>
            </a:pPr>
            <a:r>
              <a:rPr sz="1300" b="1">
                <a:solidFill>
                  <a:srgbClr val="00B4D8"/>
                </a:solidFill>
                <a:latin typeface="Calibri"/>
              </a:rPr>
              <a:t>• </a:t>
            </a:r>
            <a:r>
              <a:rPr sz="1300" b="1">
                <a:solidFill>
                  <a:srgbClr val="FFFFFF"/>
                </a:solidFill>
                <a:latin typeface="Calibri"/>
              </a:rPr>
              <a:t>Small-scale LoRA fine-tune with only 1,273 segments</a:t>
            </a:r>
          </a:p>
          <a:p>
            <a:pPr algn="l">
              <a:spcAft>
                <a:spcPts val="600"/>
              </a:spcAft>
            </a:pPr>
            <a:r>
              <a:rPr sz="1300" b="1">
                <a:solidFill>
                  <a:srgbClr val="00B4D8"/>
                </a:solidFill>
                <a:latin typeface="Calibri"/>
              </a:rPr>
              <a:t>• </a:t>
            </a:r>
            <a:r>
              <a:rPr sz="1300" b="0">
                <a:solidFill>
                  <a:srgbClr val="FFFFFF"/>
                </a:solidFill>
                <a:latin typeface="Calibri"/>
              </a:rPr>
              <a:t>Exp A (rank 16): best val accuracy 62.94% at epoch 2</a:t>
            </a:r>
          </a:p>
          <a:p>
            <a:pPr algn="l">
              <a:spcAft>
                <a:spcPts val="600"/>
              </a:spcAft>
            </a:pPr>
            <a:r>
              <a:rPr sz="1300" b="1">
                <a:solidFill>
                  <a:srgbClr val="00B4D8"/>
                </a:solidFill>
                <a:latin typeface="Calibri"/>
              </a:rPr>
              <a:t>• </a:t>
            </a:r>
            <a:r>
              <a:rPr sz="1300" b="0">
                <a:solidFill>
                  <a:srgbClr val="E06C75"/>
                </a:solidFill>
                <a:latin typeface="Calibri"/>
              </a:rPr>
              <a:t>Exp B (rank 64): 3.1pp WORSE — more params = faster overfitting</a:t>
            </a:r>
          </a:p>
          <a:p>
            <a:pPr algn="l">
              <a:spcAft>
                <a:spcPts val="600"/>
              </a:spcAft>
            </a:pPr>
            <a:r>
              <a:rPr sz="1300" b="1">
                <a:solidFill>
                  <a:srgbClr val="00B4D8"/>
                </a:solidFill>
                <a:latin typeface="Calibri"/>
              </a:rPr>
              <a:t>• </a:t>
            </a:r>
            <a:r>
              <a:rPr sz="1300" b="1">
                <a:solidFill>
                  <a:srgbClr val="FFD54F"/>
                </a:solidFill>
                <a:latin typeface="Calibri"/>
              </a:rPr>
              <a:t>Result: data too limited for LoRA to generalize</a:t>
            </a:r>
          </a:p>
        </p:txBody>
      </p:sp>
      <p:sp>
        <p:nvSpPr>
          <p:cNvPr id="7" name="TextBox 6"/>
          <p:cNvSpPr txBox="1"/>
          <p:nvPr/>
        </p:nvSpPr>
        <p:spPr>
          <a:xfrm>
            <a:off x="6611111" y="4069080"/>
            <a:ext cx="5029200" cy="274320"/>
          </a:xfrm>
          <a:prstGeom prst="rect">
            <a:avLst/>
          </a:prstGeom>
          <a:noFill/>
        </p:spPr>
        <p:txBody>
          <a:bodyPr wrap="square" anchor="t"/>
          <a:lstStyle/>
          <a:p>
            <a:pPr algn="l"/>
            <a:r>
              <a:rPr sz="1500" b="1" i="0">
                <a:solidFill>
                  <a:srgbClr val="00B4D8"/>
                </a:solidFill>
                <a:latin typeface="Calibri"/>
              </a:rPr>
              <a:t>Impact on Intelligibility</a:t>
            </a:r>
          </a:p>
        </p:txBody>
      </p:sp>
      <p:sp>
        <p:nvSpPr>
          <p:cNvPr id="8" name="TextBox 7"/>
          <p:cNvSpPr txBox="1"/>
          <p:nvPr/>
        </p:nvSpPr>
        <p:spPr>
          <a:xfrm>
            <a:off x="6611111" y="4389120"/>
            <a:ext cx="5029200" cy="1828800"/>
          </a:xfrm>
          <a:prstGeom prst="rect">
            <a:avLst/>
          </a:prstGeom>
          <a:noFill/>
        </p:spPr>
        <p:txBody>
          <a:bodyPr wrap="square">
            <a:spAutoFit/>
          </a:bodyPr>
          <a:lstStyle/>
          <a:p>
            <a:pPr algn="l">
              <a:spcAft>
                <a:spcPts val="600"/>
              </a:spcAft>
            </a:pPr>
            <a:r>
              <a:rPr sz="1300" b="1">
                <a:solidFill>
                  <a:srgbClr val="00B4D8"/>
                </a:solidFill>
                <a:latin typeface="Calibri"/>
              </a:rPr>
              <a:t>• </a:t>
            </a:r>
            <a:r>
              <a:rPr sz="1300" b="0">
                <a:solidFill>
                  <a:srgbClr val="FFFFFF"/>
                </a:solidFill>
                <a:latin typeface="Calibri"/>
              </a:rPr>
              <a:t>Baseline IS: 2.49 — Exp A IS: 2.31 — Exp B IS: 2.02</a:t>
            </a:r>
          </a:p>
          <a:p>
            <a:pPr algn="l">
              <a:spcAft>
                <a:spcPts val="600"/>
              </a:spcAft>
            </a:pPr>
            <a:r>
              <a:rPr sz="1300" b="1">
                <a:solidFill>
                  <a:srgbClr val="00B4D8"/>
                </a:solidFill>
                <a:latin typeface="Calibri"/>
              </a:rPr>
              <a:t>• </a:t>
            </a:r>
            <a:r>
              <a:rPr sz="1300" b="0">
                <a:solidFill>
                  <a:srgbClr val="E06C75"/>
                </a:solidFill>
                <a:latin typeface="Calibri"/>
              </a:rPr>
              <a:t>Fine-tuning made IS WORSE, not better</a:t>
            </a:r>
          </a:p>
          <a:p>
            <a:pPr algn="l">
              <a:spcAft>
                <a:spcPts val="600"/>
              </a:spcAft>
            </a:pPr>
            <a:r>
              <a:rPr sz="1300" b="1">
                <a:solidFill>
                  <a:srgbClr val="00B4D8"/>
                </a:solidFill>
                <a:latin typeface="Calibri"/>
              </a:rPr>
              <a:t>• </a:t>
            </a:r>
            <a:r>
              <a:rPr sz="1300" b="0">
                <a:solidFill>
                  <a:srgbClr val="FFFFFF"/>
                </a:solidFill>
                <a:latin typeface="Calibri"/>
              </a:rPr>
              <a:t>Empty outputs: 7% → 13% → 27% (catastrophic)</a:t>
            </a:r>
          </a:p>
          <a:p>
            <a:pPr algn="l">
              <a:spcAft>
                <a:spcPts val="600"/>
              </a:spcAft>
            </a:pPr>
            <a:r>
              <a:rPr sz="1300" b="1">
                <a:solidFill>
                  <a:srgbClr val="00B4D8"/>
                </a:solidFill>
                <a:latin typeface="Calibri"/>
              </a:rPr>
              <a:t>• </a:t>
            </a:r>
            <a:r>
              <a:rPr sz="1300" b="1">
                <a:solidFill>
                  <a:srgbClr val="4CAF50"/>
                </a:solidFill>
                <a:latin typeface="Calibri"/>
              </a:rPr>
              <a:t>Key insight: need 20K+ segments, not parameter tuning</a:t>
            </a:r>
          </a:p>
        </p:txBody>
      </p:sp>
      <p:pic>
        <p:nvPicPr>
          <p:cNvPr id="9" name="Picture 8" descr="BlackLogo300x300-W-BG.png"/>
          <p:cNvPicPr>
            <a:picLocks noChangeAspect="1"/>
          </p:cNvPicPr>
          <p:nvPr/>
        </p:nvPicPr>
        <p:blipFill>
          <a:blip r:embed="rId3"/>
          <a:stretch>
            <a:fillRect/>
          </a:stretch>
        </p:blipFill>
        <p:spPr>
          <a:xfrm>
            <a:off x="11323320" y="6428232"/>
            <a:ext cx="271117" cy="320040"/>
          </a:xfrm>
          <a:prstGeom prst="rect">
            <a:avLst/>
          </a:prstGeom>
        </p:spPr>
      </p:pic>
      <p:sp>
        <p:nvSpPr>
          <p:cNvPr id="10" name="TextBox 9"/>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54</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childTnLst>
                    </p:cTn>
                  </p:par>
                  <p:par>
                    <p:cTn id="7" fill="hold">
                      <p:stCondLst>
                        <p:cond delay="0"/>
                      </p:stCondLst>
                      <p:childTnLst>
                        <p:par>
                          <p:cTn id="8" fill="hold">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fill="hold">
                            <p:stCondLst>
                              <p:cond delay="12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par>
                    <p:cTn id="14" fill="hold">
                      <p:stCondLst>
                        <p:cond delay="0"/>
                      </p:stCondLst>
                      <p:childTnLst>
                        <p:par>
                          <p:cTn id="15" fill="hold">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fill="hold">
                            <p:stCondLst>
                              <p:cond delay="12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5" grpId="1"/>
      <p:bldP spid="6" grpId="1"/>
      <p:bldP spid="7" grpId="2"/>
      <p:bldP spid="8" grpId="2"/>
    </p:bldLst>
  </p:timing>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Stronger LLM + Smart Prompts = Force Multiplier</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01040" y="1325880"/>
            <a:ext cx="3291840" cy="438912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3920" y="1463040"/>
            <a:ext cx="2926080" cy="411480"/>
          </a:xfrm>
          <a:prstGeom prst="rect">
            <a:avLst/>
          </a:prstGeom>
          <a:noFill/>
        </p:spPr>
        <p:txBody>
          <a:bodyPr wrap="square" anchor="t"/>
          <a:lstStyle/>
          <a:p>
            <a:pPr algn="ctr"/>
            <a:r>
              <a:rPr sz="1500" b="1" i="0">
                <a:solidFill>
                  <a:srgbClr val="00B4D8"/>
                </a:solidFill>
                <a:latin typeface="Calibri"/>
              </a:rPr>
              <a:t>LLM Swap (immediate)</a:t>
            </a:r>
          </a:p>
        </p:txBody>
      </p:sp>
      <p:sp>
        <p:nvSpPr>
          <p:cNvPr id="6" name="TextBox 5"/>
          <p:cNvSpPr txBox="1"/>
          <p:nvPr/>
        </p:nvSpPr>
        <p:spPr>
          <a:xfrm>
            <a:off x="883920" y="1965960"/>
            <a:ext cx="2926080" cy="3200400"/>
          </a:xfrm>
          <a:prstGeom prst="rect">
            <a:avLst/>
          </a:prstGeom>
          <a:noFill/>
        </p:spPr>
        <p:txBody>
          <a:bodyPr wrap="square">
            <a:spAutoFit/>
          </a:bodyPr>
          <a:lstStyle/>
          <a:p>
            <a:pPr algn="l">
              <a:spcAft>
                <a:spcPts val="600"/>
              </a:spcAft>
            </a:pPr>
            <a:r>
              <a:rPr sz="1300" b="1">
                <a:solidFill>
                  <a:srgbClr val="00B4D8"/>
                </a:solidFill>
                <a:latin typeface="Calibri"/>
              </a:rPr>
              <a:t>• </a:t>
            </a:r>
            <a:r>
              <a:rPr sz="1300" b="0">
                <a:solidFill>
                  <a:srgbClr val="FFFFFF"/>
                </a:solidFill>
                <a:latin typeface="Calibri"/>
              </a:rPr>
              <a:t>Llama 3.1 8B: drop-in (same hidden_size 4096)</a:t>
            </a:r>
          </a:p>
          <a:p>
            <a:pPr algn="l">
              <a:spcAft>
                <a:spcPts val="600"/>
              </a:spcAft>
            </a:pPr>
            <a:r>
              <a:rPr sz="1300" b="1">
                <a:solidFill>
                  <a:srgbClr val="00B4D8"/>
                </a:solidFill>
                <a:latin typeface="Calibri"/>
              </a:rPr>
              <a:t>• </a:t>
            </a:r>
            <a:r>
              <a:rPr sz="1300" b="0">
                <a:solidFill>
                  <a:srgbClr val="FFFFFF"/>
                </a:solidFill>
                <a:latin typeface="Calibri"/>
              </a:rPr>
              <a:t>Quality ≈ Llama-2 70B, 128K vocab, 128K context</a:t>
            </a:r>
          </a:p>
          <a:p>
            <a:pPr algn="l">
              <a:spcAft>
                <a:spcPts val="600"/>
              </a:spcAft>
            </a:pPr>
            <a:r>
              <a:rPr sz="1300" b="1">
                <a:solidFill>
                  <a:srgbClr val="00B4D8"/>
                </a:solidFill>
                <a:latin typeface="Calibri"/>
              </a:rPr>
              <a:t>• </a:t>
            </a:r>
            <a:r>
              <a:rPr sz="1300" b="1">
                <a:solidFill>
                  <a:srgbClr val="FFFFFF"/>
                </a:solidFill>
                <a:latin typeface="Calibri"/>
              </a:rPr>
              <a:t>Setup: 1-2 hours</a:t>
            </a:r>
          </a:p>
          <a:p>
            <a:pPr algn="l">
              <a:spcAft>
                <a:spcPts val="600"/>
              </a:spcAft>
            </a:pPr>
            <a:r>
              <a:rPr sz="1300" b="1">
                <a:solidFill>
                  <a:srgbClr val="00B4D8"/>
                </a:solidFill>
                <a:latin typeface="Calibri"/>
              </a:rPr>
              <a:t>• </a:t>
            </a:r>
            <a:r>
              <a:rPr sz="1300" b="0">
                <a:solidFill>
                  <a:srgbClr val="FFFFFF"/>
                </a:solidFill>
                <a:latin typeface="Calibri"/>
              </a:rPr>
              <a:t>Alone: -3 to -8pp WER</a:t>
            </a:r>
          </a:p>
        </p:txBody>
      </p:sp>
      <p:sp>
        <p:nvSpPr>
          <p:cNvPr id="7" name="Rounded Rectangle 6"/>
          <p:cNvSpPr/>
          <p:nvPr/>
        </p:nvSpPr>
        <p:spPr>
          <a:xfrm>
            <a:off x="4450080" y="1325880"/>
            <a:ext cx="3291840" cy="438912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32960" y="1463040"/>
            <a:ext cx="2926080" cy="411480"/>
          </a:xfrm>
          <a:prstGeom prst="rect">
            <a:avLst/>
          </a:prstGeom>
          <a:noFill/>
        </p:spPr>
        <p:txBody>
          <a:bodyPr wrap="square" anchor="t"/>
          <a:lstStyle/>
          <a:p>
            <a:pPr algn="ctr"/>
            <a:r>
              <a:rPr sz="1500" b="1" i="0">
                <a:solidFill>
                  <a:srgbClr val="E06C75"/>
                </a:solidFill>
                <a:latin typeface="Calibri"/>
              </a:rPr>
              <a:t>Smart Prompts (force multiplier)</a:t>
            </a:r>
          </a:p>
        </p:txBody>
      </p:sp>
      <p:sp>
        <p:nvSpPr>
          <p:cNvPr id="9" name="TextBox 8"/>
          <p:cNvSpPr txBox="1"/>
          <p:nvPr/>
        </p:nvSpPr>
        <p:spPr>
          <a:xfrm>
            <a:off x="4632960" y="1965960"/>
            <a:ext cx="2926080" cy="3200400"/>
          </a:xfrm>
          <a:prstGeom prst="rect">
            <a:avLst/>
          </a:prstGeom>
          <a:noFill/>
        </p:spPr>
        <p:txBody>
          <a:bodyPr wrap="square">
            <a:spAutoFit/>
          </a:bodyPr>
          <a:lstStyle/>
          <a:p>
            <a:pPr algn="l">
              <a:spcAft>
                <a:spcPts val="600"/>
              </a:spcAft>
            </a:pPr>
            <a:r>
              <a:rPr sz="1300" b="1">
                <a:solidFill>
                  <a:srgbClr val="00B4D8"/>
                </a:solidFill>
                <a:latin typeface="Calibri"/>
              </a:rPr>
              <a:t>• </a:t>
            </a:r>
            <a:r>
              <a:rPr sz="1300" b="0">
                <a:solidFill>
                  <a:srgbClr val="FFFFFF"/>
                </a:solidFill>
                <a:latin typeface="Calibri"/>
              </a:rPr>
              <a:t>7 strategies: topic context, word count, anti-hallucination, GER</a:t>
            </a:r>
          </a:p>
          <a:p>
            <a:pPr algn="l">
              <a:spcAft>
                <a:spcPts val="600"/>
              </a:spcAft>
            </a:pPr>
            <a:r>
              <a:rPr sz="1300" b="1">
                <a:solidFill>
                  <a:srgbClr val="00B4D8"/>
                </a:solidFill>
                <a:latin typeface="Calibri"/>
              </a:rPr>
              <a:t>• </a:t>
            </a:r>
            <a:r>
              <a:rPr sz="1300" b="0">
                <a:solidFill>
                  <a:srgbClr val="FFFFFF"/>
                </a:solidFill>
                <a:latin typeface="Calibri"/>
              </a:rPr>
              <a:t>Llama-2: +5-10pp | Llama 3.1: +12-20pp</a:t>
            </a:r>
          </a:p>
          <a:p>
            <a:pPr algn="l">
              <a:spcAft>
                <a:spcPts val="600"/>
              </a:spcAft>
            </a:pPr>
            <a:r>
              <a:rPr sz="1300" b="1">
                <a:solidFill>
                  <a:srgbClr val="00B4D8"/>
                </a:solidFill>
                <a:latin typeface="Calibri"/>
              </a:rPr>
              <a:t>• </a:t>
            </a:r>
            <a:r>
              <a:rPr sz="1300" b="0">
                <a:solidFill>
                  <a:srgbClr val="4CAF50"/>
                </a:solidFill>
                <a:latin typeface="Calibri"/>
              </a:rPr>
              <a:t>GER post-processing: +8-15pp, no retraining</a:t>
            </a:r>
          </a:p>
        </p:txBody>
      </p:sp>
      <p:sp>
        <p:nvSpPr>
          <p:cNvPr id="10" name="Rounded Rectangle 9"/>
          <p:cNvSpPr/>
          <p:nvPr/>
        </p:nvSpPr>
        <p:spPr>
          <a:xfrm>
            <a:off x="8199120" y="1325880"/>
            <a:ext cx="3291840" cy="4389120"/>
          </a:xfrm>
          <a:prstGeom prst="roundRect">
            <a:avLst/>
          </a:prstGeom>
          <a:solidFill>
            <a:srgbClr val="152A40"/>
          </a:solidFill>
          <a:ln w="2540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82000" y="1463040"/>
            <a:ext cx="2926080" cy="411480"/>
          </a:xfrm>
          <a:prstGeom prst="rect">
            <a:avLst/>
          </a:prstGeom>
          <a:noFill/>
        </p:spPr>
        <p:txBody>
          <a:bodyPr wrap="square" anchor="t"/>
          <a:lstStyle/>
          <a:p>
            <a:pPr algn="ctr"/>
            <a:r>
              <a:rPr sz="1500" b="1" i="0">
                <a:solidFill>
                  <a:srgbClr val="AAAAAA"/>
                </a:solidFill>
                <a:latin typeface="Calibri"/>
              </a:rPr>
              <a:t>Future</a:t>
            </a:r>
          </a:p>
        </p:txBody>
      </p:sp>
      <p:sp>
        <p:nvSpPr>
          <p:cNvPr id="12" name="TextBox 11"/>
          <p:cNvSpPr txBox="1"/>
          <p:nvPr/>
        </p:nvSpPr>
        <p:spPr>
          <a:xfrm>
            <a:off x="8382000" y="1965960"/>
            <a:ext cx="2926080" cy="3200400"/>
          </a:xfrm>
          <a:prstGeom prst="rect">
            <a:avLst/>
          </a:prstGeom>
          <a:noFill/>
        </p:spPr>
        <p:txBody>
          <a:bodyPr wrap="square">
            <a:spAutoFit/>
          </a:bodyPr>
          <a:lstStyle/>
          <a:p>
            <a:pPr algn="l">
              <a:spcAft>
                <a:spcPts val="600"/>
              </a:spcAft>
            </a:pPr>
            <a:r>
              <a:rPr sz="1300" b="1">
                <a:solidFill>
                  <a:srgbClr val="00B4D8"/>
                </a:solidFill>
                <a:latin typeface="Calibri"/>
              </a:rPr>
              <a:t>• </a:t>
            </a:r>
            <a:r>
              <a:rPr sz="1300" b="0">
                <a:solidFill>
                  <a:srgbClr val="FFFFFF"/>
                </a:solidFill>
                <a:latin typeface="Calibri"/>
              </a:rPr>
              <a:t>Arabic (K-means model exists)</a:t>
            </a:r>
          </a:p>
          <a:p>
            <a:pPr algn="l">
              <a:spcAft>
                <a:spcPts val="600"/>
              </a:spcAft>
            </a:pPr>
            <a:r>
              <a:rPr sz="1300" b="1">
                <a:solidFill>
                  <a:srgbClr val="00B4D8"/>
                </a:solidFill>
                <a:latin typeface="Calibri"/>
              </a:rPr>
              <a:t>• </a:t>
            </a:r>
            <a:r>
              <a:rPr sz="1300" b="0">
                <a:solidFill>
                  <a:srgbClr val="FFFFFF"/>
                </a:solidFill>
                <a:latin typeface="Calibri"/>
              </a:rPr>
              <a:t>VALLR: 18.7% WER with 3B model</a:t>
            </a:r>
          </a:p>
          <a:p>
            <a:pPr algn="l">
              <a:spcAft>
                <a:spcPts val="600"/>
              </a:spcAft>
            </a:pPr>
            <a:r>
              <a:rPr sz="1300" b="1">
                <a:solidFill>
                  <a:srgbClr val="00B4D8"/>
                </a:solidFill>
                <a:latin typeface="Calibri"/>
              </a:rPr>
              <a:t>• </a:t>
            </a:r>
            <a:r>
              <a:rPr sz="1300" b="0">
                <a:solidFill>
                  <a:srgbClr val="FFFFFF"/>
                </a:solidFill>
                <a:latin typeface="Calibri"/>
              </a:rPr>
              <a:t>Multi-speaker, streaming</a:t>
            </a:r>
          </a:p>
        </p:txBody>
      </p:sp>
      <p:pic>
        <p:nvPicPr>
          <p:cNvPr id="13" name="Picture 12"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4" name="TextBox 13"/>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55</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fill="hold">
                            <p:stCondLst>
                              <p:cond delay="12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500"/>
                                  <p:tgtEl>
                                    <p:spTgt spid="7"/>
                                  </p:tgtEl>
                                </p:cBhvr>
                              </p:animEffect>
                            </p:childTnLst>
                          </p:cTn>
                        </p:par>
                        <p:par>
                          <p:cTn id="10" fill="hold">
                            <p:stCondLst>
                              <p:cond delay="24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p:bldLst>
  </p:timing>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Arabic Pipeline: Replication Roadmap</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320040"/>
          </a:xfrm>
          <a:prstGeom prst="rect">
            <a:avLst/>
          </a:prstGeom>
          <a:noFill/>
        </p:spPr>
        <p:txBody>
          <a:bodyPr wrap="square" anchor="t"/>
          <a:lstStyle/>
          <a:p>
            <a:pPr algn="l"/>
            <a:r>
              <a:rPr sz="1800" b="1" i="0">
                <a:solidFill>
                  <a:srgbClr val="00B4D8"/>
                </a:solidFill>
                <a:latin typeface="Calibri"/>
              </a:rPr>
              <a:t>What’s Needed &amp; How We’ll Do It</a:t>
            </a:r>
          </a:p>
        </p:txBody>
      </p:sp>
      <p:sp>
        <p:nvSpPr>
          <p:cNvPr id="5" name="TextBox 4"/>
          <p:cNvSpPr txBox="1"/>
          <p:nvPr/>
        </p:nvSpPr>
        <p:spPr>
          <a:xfrm>
            <a:off x="548640" y="1691640"/>
            <a:ext cx="5029200" cy="4114800"/>
          </a:xfrm>
          <a:prstGeom prst="rect">
            <a:avLst/>
          </a:prstGeom>
          <a:noFill/>
        </p:spPr>
        <p:txBody>
          <a:bodyPr wrap="square">
            <a:spAutoFit/>
          </a:bodyPr>
          <a:lstStyle/>
          <a:p>
            <a:pPr algn="l">
              <a:spcAft>
                <a:spcPts val="600"/>
              </a:spcAft>
            </a:pPr>
            <a:r>
              <a:rPr sz="1300" b="1">
                <a:solidFill>
                  <a:srgbClr val="00B4D8"/>
                </a:solidFill>
                <a:latin typeface="Calibri"/>
              </a:rPr>
              <a:t>• </a:t>
            </a:r>
            <a:r>
              <a:rPr sz="1300" b="1">
                <a:solidFill>
                  <a:srgbClr val="00B4D8"/>
                </a:solidFill>
                <a:latin typeface="Calibri"/>
              </a:rPr>
              <a:t>Arabic AV-HuBERT encoder</a:t>
            </a:r>
          </a:p>
          <a:p>
            <a:pPr algn="l">
              <a:spcAft>
                <a:spcPts val="600"/>
              </a:spcAft>
            </a:pPr>
            <a:r>
              <a:rPr sz="1300" b="1">
                <a:solidFill>
                  <a:srgbClr val="00B4D8"/>
                </a:solidFill>
                <a:latin typeface="Calibri"/>
              </a:rPr>
              <a:t>• </a:t>
            </a:r>
            <a:r>
              <a:rPr sz="1300" b="0">
                <a:solidFill>
                  <a:srgbClr val="FFFFFF"/>
                </a:solidFill>
                <a:latin typeface="Calibri"/>
              </a:rPr>
              <a:t>Fine-tune English AV-HuBERT on Arabic visual speech data — AVSpeech dataset has Arabic videos available for training</a:t>
            </a:r>
          </a:p>
          <a:p>
            <a:pPr algn="l">
              <a:spcAft>
                <a:spcPts val="600"/>
              </a:spcAft>
            </a:pPr>
            <a:r>
              <a:rPr sz="1300" b="1">
                <a:solidFill>
                  <a:srgbClr val="00B4D8"/>
                </a:solidFill>
                <a:latin typeface="Calibri"/>
              </a:rPr>
              <a:t>• </a:t>
            </a:r>
            <a:r>
              <a:rPr sz="1300" b="1">
                <a:solidFill>
                  <a:srgbClr val="00B4D8"/>
                </a:solidFill>
                <a:latin typeface="Calibri"/>
              </a:rPr>
              <a:t>Arabic LLM backend</a:t>
            </a:r>
          </a:p>
          <a:p>
            <a:pPr algn="l">
              <a:spcAft>
                <a:spcPts val="600"/>
              </a:spcAft>
            </a:pPr>
            <a:r>
              <a:rPr sz="1300" b="1">
                <a:solidFill>
                  <a:srgbClr val="00B4D8"/>
                </a:solidFill>
                <a:latin typeface="Calibri"/>
              </a:rPr>
              <a:t>• </a:t>
            </a:r>
            <a:r>
              <a:rPr sz="1300" b="0">
                <a:solidFill>
                  <a:srgbClr val="FFFFFF"/>
                </a:solidFill>
                <a:latin typeface="Calibri"/>
              </a:rPr>
              <a:t>Swap Llama-2 for Arabic-capable LLM (e.g. Jais, AceGPT, or Arabic-tuned Llama 3) with Arabic tokenizer</a:t>
            </a:r>
          </a:p>
          <a:p>
            <a:pPr algn="l">
              <a:spcAft>
                <a:spcPts val="600"/>
              </a:spcAft>
            </a:pPr>
            <a:r>
              <a:rPr sz="1300" b="1">
                <a:solidFill>
                  <a:srgbClr val="00B4D8"/>
                </a:solidFill>
                <a:latin typeface="Calibri"/>
              </a:rPr>
              <a:t>• </a:t>
            </a:r>
            <a:r>
              <a:rPr sz="1300" b="1">
                <a:solidFill>
                  <a:srgbClr val="4CAF50"/>
                </a:solidFill>
                <a:latin typeface="Calibri"/>
              </a:rPr>
              <a:t>Training infrastructure</a:t>
            </a:r>
          </a:p>
          <a:p>
            <a:pPr algn="l">
              <a:spcAft>
                <a:spcPts val="600"/>
              </a:spcAft>
            </a:pPr>
            <a:r>
              <a:rPr sz="1300" b="1">
                <a:solidFill>
                  <a:srgbClr val="00B4D8"/>
                </a:solidFill>
                <a:latin typeface="Calibri"/>
              </a:rPr>
              <a:t>• </a:t>
            </a:r>
            <a:r>
              <a:rPr sz="1300" b="0">
                <a:solidFill>
                  <a:srgbClr val="FFFFFF"/>
                </a:solidFill>
                <a:latin typeface="Calibri"/>
              </a:rPr>
              <a:t>AWS GPU instance (existing) for AV-HuBERT fine-tuning and K-means reclustering on Arabic mouth shapes</a:t>
            </a:r>
          </a:p>
          <a:p>
            <a:pPr algn="l">
              <a:spcAft>
                <a:spcPts val="600"/>
              </a:spcAft>
            </a:pPr>
            <a:r>
              <a:rPr sz="1300" b="1">
                <a:solidFill>
                  <a:srgbClr val="00B4D8"/>
                </a:solidFill>
                <a:latin typeface="Calibri"/>
              </a:rPr>
              <a:t>• </a:t>
            </a:r>
            <a:r>
              <a:rPr sz="1300" b="1">
                <a:solidFill>
                  <a:srgbClr val="E06C75"/>
                </a:solidFill>
                <a:latin typeface="Calibri"/>
              </a:rPr>
              <a:t>Arabic evaluation dataset</a:t>
            </a:r>
          </a:p>
          <a:p>
            <a:pPr algn="l">
              <a:spcAft>
                <a:spcPts val="600"/>
              </a:spcAft>
            </a:pPr>
            <a:r>
              <a:rPr sz="1300" b="1">
                <a:solidFill>
                  <a:srgbClr val="00B4D8"/>
                </a:solidFill>
                <a:latin typeface="Calibri"/>
              </a:rPr>
              <a:t>• </a:t>
            </a:r>
            <a:r>
              <a:rPr sz="1300" b="0">
                <a:solidFill>
                  <a:srgbClr val="FFFFFF"/>
                </a:solidFill>
                <a:latin typeface="Calibri"/>
              </a:rPr>
              <a:t>Manual transcriptions needed for MSA + dialect coverage — the main bottleneck (requires native speakers)</a:t>
            </a:r>
          </a:p>
          <a:p>
            <a:pPr algn="l">
              <a:spcAft>
                <a:spcPts val="600"/>
              </a:spcAft>
            </a:pPr>
            <a:r>
              <a:rPr sz="1300" b="1">
                <a:solidFill>
                  <a:srgbClr val="00B4D8"/>
                </a:solidFill>
                <a:latin typeface="Calibri"/>
              </a:rPr>
              <a:t>• </a:t>
            </a:r>
            <a:r>
              <a:rPr sz="1300" b="1">
                <a:solidFill>
                  <a:srgbClr val="00B4D8"/>
                </a:solidFill>
                <a:latin typeface="Calibri"/>
              </a:rPr>
              <a:t>Text normalization</a:t>
            </a:r>
          </a:p>
          <a:p>
            <a:pPr algn="l">
              <a:spcAft>
                <a:spcPts val="600"/>
              </a:spcAft>
            </a:pPr>
            <a:r>
              <a:rPr sz="1300" b="1">
                <a:solidFill>
                  <a:srgbClr val="00B4D8"/>
                </a:solidFill>
                <a:latin typeface="Calibri"/>
              </a:rPr>
              <a:t>• </a:t>
            </a:r>
            <a:r>
              <a:rPr sz="1300" b="0">
                <a:solidFill>
                  <a:srgbClr val="FFFFFF"/>
                </a:solidFill>
                <a:latin typeface="Calibri"/>
              </a:rPr>
              <a:t>spaCy Arabic, diacritic handling, Arabic NER</a:t>
            </a:r>
          </a:p>
        </p:txBody>
      </p:sp>
      <p:sp>
        <p:nvSpPr>
          <p:cNvPr id="6" name="TextBox 5"/>
          <p:cNvSpPr txBox="1"/>
          <p:nvPr/>
        </p:nvSpPr>
        <p:spPr>
          <a:xfrm>
            <a:off x="6611111" y="1325880"/>
            <a:ext cx="5029200" cy="320040"/>
          </a:xfrm>
          <a:prstGeom prst="rect">
            <a:avLst/>
          </a:prstGeom>
          <a:noFill/>
        </p:spPr>
        <p:txBody>
          <a:bodyPr wrap="square" anchor="t"/>
          <a:lstStyle/>
          <a:p>
            <a:pPr algn="l"/>
            <a:r>
              <a:rPr sz="1800" b="1" i="0">
                <a:solidFill>
                  <a:srgbClr val="4CAF50"/>
                </a:solidFill>
                <a:latin typeface="Calibri"/>
              </a:rPr>
              <a:t>Practical Timeline</a:t>
            </a:r>
          </a:p>
        </p:txBody>
      </p:sp>
      <p:graphicFrame>
        <p:nvGraphicFramePr>
          <p:cNvPr id="7" name="Table 6"/>
          <p:cNvGraphicFramePr>
            <a:graphicFrameLocks noGrp="1"/>
          </p:cNvGraphicFramePr>
          <p:nvPr/>
        </p:nvGraphicFramePr>
        <p:xfrm>
          <a:off x="6611111" y="1737360"/>
          <a:ext cx="5029200" cy="3291840"/>
        </p:xfrm>
        <a:graphic>
          <a:graphicData uri="http://schemas.openxmlformats.org/drawingml/2006/table">
            <a:tbl>
              <a:tblPr firstRow="0" bandRow="0" lastRow="0" bandCol="0">
                <a:tableStyleId>{5C22544A-7EE6-4342-B048-85BDC9FD1C3A}</a:tableStyleId>
              </a:tblPr>
              <a:tblGrid>
                <a:gridCol w="1463040"/>
                <a:gridCol w="1188720"/>
                <a:gridCol w="2377440"/>
              </a:tblGrid>
              <a:tr h="548640">
                <a:tc>
                  <a:txBody>
                    <a:bodyPr/>
                    <a:lstStyle/>
                    <a:p>
                      <a:pPr algn="ctr"/>
                      <a:r>
                        <a:rPr sz="1200" b="1" i="0">
                          <a:solidFill>
                            <a:srgbClr val="FFFFFF"/>
                          </a:solidFill>
                          <a:latin typeface="Calibri"/>
                        </a:rPr>
                        <a:t>Step</a:t>
                      </a:r>
                    </a:p>
                  </a:txBody>
                  <a:tcPr>
                    <a:solidFill>
                      <a:srgbClr val="00b4d8"/>
                    </a:solidFill>
                  </a:tcPr>
                </a:tc>
                <a:tc>
                  <a:txBody>
                    <a:bodyPr/>
                    <a:lstStyle/>
                    <a:p>
                      <a:pPr algn="ctr"/>
                      <a:r>
                        <a:rPr sz="1200" b="1" i="0">
                          <a:solidFill>
                            <a:srgbClr val="FFFFFF"/>
                          </a:solidFill>
                          <a:latin typeface="Calibri"/>
                        </a:rPr>
                        <a:t>Effort</a:t>
                      </a:r>
                    </a:p>
                  </a:txBody>
                  <a:tcPr>
                    <a:solidFill>
                      <a:srgbClr val="00b4d8"/>
                    </a:solidFill>
                  </a:tcPr>
                </a:tc>
                <a:tc>
                  <a:txBody>
                    <a:bodyPr/>
                    <a:lstStyle/>
                    <a:p>
                      <a:pPr algn="ctr"/>
                      <a:r>
                        <a:rPr sz="1200" b="1" i="0">
                          <a:solidFill>
                            <a:srgbClr val="FFFFFF"/>
                          </a:solidFill>
                          <a:latin typeface="Calibri"/>
                        </a:rPr>
                        <a:t>How</a:t>
                      </a:r>
                    </a:p>
                  </a:txBody>
                  <a:tcPr>
                    <a:solidFill>
                      <a:srgbClr val="00b4d8"/>
                    </a:solidFill>
                  </a:tcPr>
                </a:tc>
              </a:tr>
              <a:tr h="548640">
                <a:tc>
                  <a:txBody>
                    <a:bodyPr/>
                    <a:lstStyle/>
                    <a:p>
                      <a:pPr algn="l"/>
                      <a:r>
                        <a:rPr sz="1200" b="0" i="0">
                          <a:solidFill>
                            <a:srgbClr val="FFFFFF"/>
                          </a:solidFill>
                          <a:latin typeface="Calibri"/>
                        </a:rPr>
                        <a:t>AV-HuBERT</a:t>
                      </a:r>
                    </a:p>
                    <a:p>
                      <a:pPr algn="l"/>
                      <a:r>
                        <a:rPr sz="1200" b="0" i="0">
                          <a:solidFill>
                            <a:srgbClr val="FFFFFF"/>
                          </a:solidFill>
                          <a:latin typeface="Calibri"/>
                        </a:rPr>
                        <a:t>fine-tune</a:t>
                      </a:r>
                    </a:p>
                  </a:txBody>
                  <a:tcPr>
                    <a:solidFill>
                      <a:srgbClr val="0d1b2a"/>
                    </a:solidFill>
                  </a:tcPr>
                </a:tc>
                <a:tc>
                  <a:txBody>
                    <a:bodyPr/>
                    <a:lstStyle/>
                    <a:p>
                      <a:pPr algn="l"/>
                      <a:r>
                        <a:rPr sz="1200" b="0" i="0">
                          <a:solidFill>
                            <a:srgbClr val="FFFFFF"/>
                          </a:solidFill>
                          <a:latin typeface="Calibri"/>
                        </a:rPr>
                        <a:t>1–2 weeks</a:t>
                      </a:r>
                    </a:p>
                  </a:txBody>
                  <a:tcPr>
                    <a:solidFill>
                      <a:srgbClr val="0d1b2a"/>
                    </a:solidFill>
                  </a:tcPr>
                </a:tc>
                <a:tc>
                  <a:txBody>
                    <a:bodyPr/>
                    <a:lstStyle/>
                    <a:p>
                      <a:pPr algn="l"/>
                      <a:r>
                        <a:rPr sz="1200" b="0" i="0">
                          <a:solidFill>
                            <a:srgbClr val="FFFFFF"/>
                          </a:solidFill>
                          <a:latin typeface="Calibri"/>
                        </a:rPr>
                        <a:t>AVSpeech Arabic</a:t>
                      </a:r>
                    </a:p>
                    <a:p>
                      <a:pPr algn="l"/>
                      <a:r>
                        <a:rPr sz="1200" b="0" i="0">
                          <a:solidFill>
                            <a:srgbClr val="FFFFFF"/>
                          </a:solidFill>
                          <a:latin typeface="Calibri"/>
                        </a:rPr>
                        <a:t>vids + AWS GPU</a:t>
                      </a:r>
                    </a:p>
                  </a:txBody>
                  <a:tcPr>
                    <a:solidFill>
                      <a:srgbClr val="0d1b2a"/>
                    </a:solidFill>
                  </a:tcPr>
                </a:tc>
              </a:tr>
              <a:tr h="548640">
                <a:tc>
                  <a:txBody>
                    <a:bodyPr/>
                    <a:lstStyle/>
                    <a:p>
                      <a:pPr algn="l"/>
                      <a:r>
                        <a:rPr sz="1200" b="0" i="0">
                          <a:solidFill>
                            <a:srgbClr val="FFFFFF"/>
                          </a:solidFill>
                          <a:latin typeface="Calibri"/>
                        </a:rPr>
                        <a:t>Arabic K-means</a:t>
                      </a:r>
                    </a:p>
                  </a:txBody>
                  <a:tcPr>
                    <a:solidFill>
                      <a:srgbClr val="152a40"/>
                    </a:solidFill>
                  </a:tcPr>
                </a:tc>
                <a:tc>
                  <a:txBody>
                    <a:bodyPr/>
                    <a:lstStyle/>
                    <a:p>
                      <a:pPr algn="l"/>
                      <a:r>
                        <a:rPr sz="1200" b="0" i="0">
                          <a:solidFill>
                            <a:srgbClr val="FFFFFF"/>
                          </a:solidFill>
                          <a:latin typeface="Calibri"/>
                        </a:rPr>
                        <a:t>2–3 days</a:t>
                      </a:r>
                    </a:p>
                  </a:txBody>
                  <a:tcPr>
                    <a:solidFill>
                      <a:srgbClr val="152a40"/>
                    </a:solidFill>
                  </a:tcPr>
                </a:tc>
                <a:tc>
                  <a:txBody>
                    <a:bodyPr/>
                    <a:lstStyle/>
                    <a:p>
                      <a:pPr algn="l"/>
                      <a:r>
                        <a:rPr sz="1200" b="0" i="0">
                          <a:solidFill>
                            <a:srgbClr val="FFFFFF"/>
                          </a:solidFill>
                          <a:latin typeface="Calibri"/>
                        </a:rPr>
                        <a:t>Recluster on</a:t>
                      </a:r>
                    </a:p>
                    <a:p>
                      <a:pPr algn="l"/>
                      <a:r>
                        <a:rPr sz="1200" b="0" i="0">
                          <a:solidFill>
                            <a:srgbClr val="FFFFFF"/>
                          </a:solidFill>
                          <a:latin typeface="Calibri"/>
                        </a:rPr>
                        <a:t>Arabic features</a:t>
                      </a:r>
                    </a:p>
                  </a:txBody>
                  <a:tcPr>
                    <a:solidFill>
                      <a:srgbClr val="152a40"/>
                    </a:solidFill>
                  </a:tcPr>
                </a:tc>
              </a:tr>
              <a:tr h="548640">
                <a:tc>
                  <a:txBody>
                    <a:bodyPr/>
                    <a:lstStyle/>
                    <a:p>
                      <a:pPr algn="l"/>
                      <a:r>
                        <a:rPr sz="1200" b="0" i="0">
                          <a:solidFill>
                            <a:srgbClr val="FFFFFF"/>
                          </a:solidFill>
                          <a:latin typeface="Calibri"/>
                        </a:rPr>
                        <a:t>Arabic LLM</a:t>
                      </a:r>
                    </a:p>
                    <a:p>
                      <a:pPr algn="l"/>
                      <a:r>
                        <a:rPr sz="1200" b="0" i="0">
                          <a:solidFill>
                            <a:srgbClr val="FFFFFF"/>
                          </a:solidFill>
                          <a:latin typeface="Calibri"/>
                        </a:rPr>
                        <a:t>swap</a:t>
                      </a:r>
                    </a:p>
                  </a:txBody>
                  <a:tcPr>
                    <a:solidFill>
                      <a:srgbClr val="0d1b2a"/>
                    </a:solidFill>
                  </a:tcPr>
                </a:tc>
                <a:tc>
                  <a:txBody>
                    <a:bodyPr/>
                    <a:lstStyle/>
                    <a:p>
                      <a:pPr algn="l"/>
                      <a:r>
                        <a:rPr sz="1200" b="0" i="0">
                          <a:solidFill>
                            <a:srgbClr val="FFFFFF"/>
                          </a:solidFill>
                          <a:latin typeface="Calibri"/>
                        </a:rPr>
                        <a:t>1–2 days</a:t>
                      </a:r>
                    </a:p>
                  </a:txBody>
                  <a:tcPr>
                    <a:solidFill>
                      <a:srgbClr val="0d1b2a"/>
                    </a:solidFill>
                  </a:tcPr>
                </a:tc>
                <a:tc>
                  <a:txBody>
                    <a:bodyPr/>
                    <a:lstStyle/>
                    <a:p>
                      <a:pPr algn="l"/>
                      <a:r>
                        <a:rPr sz="1200" b="0" i="0">
                          <a:solidFill>
                            <a:srgbClr val="FFFFFF"/>
                          </a:solidFill>
                          <a:latin typeface="Calibri"/>
                        </a:rPr>
                        <a:t>Config change +</a:t>
                      </a:r>
                    </a:p>
                    <a:p>
                      <a:pPr algn="l"/>
                      <a:r>
                        <a:rPr sz="1200" b="0" i="0">
                          <a:solidFill>
                            <a:srgbClr val="FFFFFF"/>
                          </a:solidFill>
                          <a:latin typeface="Calibri"/>
                        </a:rPr>
                        <a:t>tokenizer</a:t>
                      </a:r>
                    </a:p>
                  </a:txBody>
                  <a:tcPr>
                    <a:solidFill>
                      <a:srgbClr val="0d1b2a"/>
                    </a:solidFill>
                  </a:tcPr>
                </a:tc>
              </a:tr>
              <a:tr h="548640">
                <a:tc>
                  <a:txBody>
                    <a:bodyPr/>
                    <a:lstStyle/>
                    <a:p>
                      <a:pPr algn="l"/>
                      <a:r>
                        <a:rPr sz="1200" b="0" i="0">
                          <a:solidFill>
                            <a:srgbClr val="FFFFFF"/>
                          </a:solidFill>
                          <a:latin typeface="Calibri"/>
                        </a:rPr>
                        <a:t>Eval dataset</a:t>
                      </a:r>
                    </a:p>
                  </a:txBody>
                  <a:tcPr>
                    <a:solidFill>
                      <a:srgbClr val="152a40"/>
                    </a:solidFill>
                  </a:tcPr>
                </a:tc>
                <a:tc>
                  <a:txBody>
                    <a:bodyPr/>
                    <a:lstStyle/>
                    <a:p>
                      <a:pPr algn="l"/>
                      <a:r>
                        <a:rPr sz="1200" b="0" i="0">
                          <a:solidFill>
                            <a:srgbClr val="FFFFFF"/>
                          </a:solidFill>
                          <a:latin typeface="Calibri"/>
                        </a:rPr>
                        <a:t>1–2 weeks</a:t>
                      </a:r>
                    </a:p>
                  </a:txBody>
                  <a:tcPr>
                    <a:solidFill>
                      <a:srgbClr val="152a40"/>
                    </a:solidFill>
                  </a:tcPr>
                </a:tc>
                <a:tc>
                  <a:txBody>
                    <a:bodyPr/>
                    <a:lstStyle/>
                    <a:p>
                      <a:pPr algn="l"/>
                      <a:r>
                        <a:rPr sz="1200" b="0" i="0">
                          <a:solidFill>
                            <a:srgbClr val="FFFFFF"/>
                          </a:solidFill>
                          <a:latin typeface="Calibri"/>
                        </a:rPr>
                        <a:t>Native speaker</a:t>
                      </a:r>
                    </a:p>
                    <a:p>
                      <a:pPr algn="l"/>
                      <a:r>
                        <a:rPr sz="1200" b="0" i="0">
                          <a:solidFill>
                            <a:srgbClr val="FFFFFF"/>
                          </a:solidFill>
                          <a:latin typeface="Calibri"/>
                        </a:rPr>
                        <a:t>transcription</a:t>
                      </a:r>
                    </a:p>
                  </a:txBody>
                  <a:tcPr>
                    <a:solidFill>
                      <a:srgbClr val="152a40"/>
                    </a:solidFill>
                  </a:tcPr>
                </a:tc>
              </a:tr>
              <a:tr h="548640">
                <a:tc>
                  <a:txBody>
                    <a:bodyPr/>
                    <a:lstStyle/>
                    <a:p>
                      <a:pPr algn="l"/>
                      <a:r>
                        <a:rPr sz="1200" b="0" i="0">
                          <a:solidFill>
                            <a:srgbClr val="FFFFFF"/>
                          </a:solidFill>
                          <a:latin typeface="Calibri"/>
                        </a:rPr>
                        <a:t>Pipeline config</a:t>
                      </a:r>
                    </a:p>
                    <a:p>
                      <a:pPr algn="l"/>
                      <a:r>
                        <a:rPr sz="1200" b="0" i="0">
                          <a:solidFill>
                            <a:srgbClr val="FFFFFF"/>
                          </a:solidFill>
                          <a:latin typeface="Calibri"/>
                        </a:rPr>
                        <a:t>&amp; testing</a:t>
                      </a:r>
                    </a:p>
                  </a:txBody>
                  <a:tcPr>
                    <a:solidFill>
                      <a:srgbClr val="0d1b2a"/>
                    </a:solidFill>
                  </a:tcPr>
                </a:tc>
                <a:tc>
                  <a:txBody>
                    <a:bodyPr/>
                    <a:lstStyle/>
                    <a:p>
                      <a:pPr algn="l"/>
                      <a:r>
                        <a:rPr sz="1200" b="0" i="0">
                          <a:solidFill>
                            <a:srgbClr val="FFFFFF"/>
                          </a:solidFill>
                          <a:latin typeface="Calibri"/>
                        </a:rPr>
                        <a:t>3–5 days</a:t>
                      </a:r>
                    </a:p>
                  </a:txBody>
                  <a:tcPr>
                    <a:solidFill>
                      <a:srgbClr val="0d1b2a"/>
                    </a:solidFill>
                  </a:tcPr>
                </a:tc>
                <a:tc>
                  <a:txBody>
                    <a:bodyPr/>
                    <a:lstStyle/>
                    <a:p>
                      <a:pPr algn="l"/>
                      <a:r>
                        <a:rPr sz="1200" b="0" i="0">
                          <a:solidFill>
                            <a:srgbClr val="FFFFFF"/>
                          </a:solidFill>
                          <a:latin typeface="Calibri"/>
                        </a:rPr>
                        <a:t>End-to-end</a:t>
                      </a:r>
                    </a:p>
                    <a:p>
                      <a:pPr algn="l"/>
                      <a:r>
                        <a:rPr sz="1200" b="0" i="0">
                          <a:solidFill>
                            <a:srgbClr val="FFFFFF"/>
                          </a:solidFill>
                          <a:latin typeface="Calibri"/>
                        </a:rPr>
                        <a:t>validation</a:t>
                      </a:r>
                    </a:p>
                  </a:txBody>
                  <a:tcPr>
                    <a:solidFill>
                      <a:srgbClr val="0d1b2a"/>
                    </a:solidFill>
                  </a:tcPr>
                </a:tc>
              </a:tr>
            </a:tbl>
          </a:graphicData>
        </a:graphic>
      </p:graphicFrame>
      <p:sp>
        <p:nvSpPr>
          <p:cNvPr id="8" name="Rounded Rectangle 7"/>
          <p:cNvSpPr/>
          <p:nvPr/>
        </p:nvSpPr>
        <p:spPr>
          <a:xfrm>
            <a:off x="6611111" y="5029200"/>
            <a:ext cx="5029200" cy="502920"/>
          </a:xfrm>
          <a:prstGeom prst="roundRect">
            <a:avLst/>
          </a:prstGeom>
          <a:solidFill>
            <a:srgbClr val="152A40"/>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93991" y="5074919"/>
            <a:ext cx="4663440" cy="365760"/>
          </a:xfrm>
          <a:prstGeom prst="rect">
            <a:avLst/>
          </a:prstGeom>
          <a:noFill/>
        </p:spPr>
        <p:txBody>
          <a:bodyPr wrap="square" anchor="t"/>
          <a:lstStyle/>
          <a:p>
            <a:pPr algn="ctr"/>
            <a:r>
              <a:rPr sz="1800" b="1" i="0">
                <a:solidFill>
                  <a:srgbClr val="4CAF50"/>
                </a:solidFill>
                <a:latin typeface="Calibri"/>
              </a:rPr>
              <a:t>Total: ~3–5 weeks</a:t>
            </a:r>
          </a:p>
        </p:txBody>
      </p:sp>
      <p:sp>
        <p:nvSpPr>
          <p:cNvPr id="10" name="TextBox 9"/>
          <p:cNvSpPr txBox="1"/>
          <p:nvPr/>
        </p:nvSpPr>
        <p:spPr>
          <a:xfrm>
            <a:off x="548640" y="5806440"/>
            <a:ext cx="11091672" cy="365760"/>
          </a:xfrm>
          <a:prstGeom prst="rect">
            <a:avLst/>
          </a:prstGeom>
          <a:noFill/>
        </p:spPr>
        <p:txBody>
          <a:bodyPr wrap="square" anchor="t"/>
          <a:lstStyle/>
          <a:p>
            <a:pPr algn="ctr"/>
            <a:r>
              <a:rPr sz="1300" b="0" i="1">
                <a:solidFill>
                  <a:srgbClr val="AAAAAA"/>
                </a:solidFill>
                <a:latin typeface="Calibri"/>
              </a:rPr>
              <a:t>Pipeline code is language-agnostic — no code changes needed. AVSpeech Arabic videos + existing AWS GPU cover training. Main bottleneck: manual Arabic evaluation transcriptions.</a:t>
            </a:r>
          </a:p>
        </p:txBody>
      </p:sp>
      <p:pic>
        <p:nvPicPr>
          <p:cNvPr id="11" name="Picture 10"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2" name="TextBox 11"/>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56</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fill="hold">
                            <p:stCondLst>
                              <p:cond delay="12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10" fill="hold">
                      <p:stCondLst>
                        <p:cond delay="0"/>
                      </p:stCondLst>
                      <p:childTnLst>
                        <p:par>
                          <p:cTn id="11" fill="hold">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fill="hold">
                            <p:stCondLst>
                              <p:cond delay="12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1"/>
      <p:bldP spid="7" grpId="1"/>
    </p:bld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Key Takeaways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25880"/>
            <a:ext cx="11091672" cy="960120"/>
          </a:xfrm>
          <a:prstGeom prst="roundRect">
            <a:avLst/>
          </a:prstGeom>
          <a:solidFill>
            <a:srgbClr val="152A40"/>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554480"/>
            <a:ext cx="502920" cy="50292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54480"/>
            <a:ext cx="502920" cy="502920"/>
          </a:xfrm>
          <a:prstGeom prst="rect">
            <a:avLst/>
          </a:prstGeom>
          <a:noFill/>
        </p:spPr>
        <p:txBody>
          <a:bodyPr wrap="square" anchor="t"/>
          <a:lstStyle/>
          <a:p>
            <a:pPr algn="ctr"/>
            <a:r>
              <a:rPr sz="2200" b="1" i="0">
                <a:solidFill>
                  <a:srgbClr val="FFFFFF"/>
                </a:solidFill>
                <a:latin typeface="Calibri"/>
              </a:rPr>
              <a:t>1</a:t>
            </a:r>
          </a:p>
        </p:txBody>
      </p:sp>
      <p:sp>
        <p:nvSpPr>
          <p:cNvPr id="7" name="TextBox 6"/>
          <p:cNvSpPr txBox="1"/>
          <p:nvPr/>
        </p:nvSpPr>
        <p:spPr>
          <a:xfrm>
            <a:off x="1463040" y="1435608"/>
            <a:ext cx="9994392" cy="740664"/>
          </a:xfrm>
          <a:prstGeom prst="rect">
            <a:avLst/>
          </a:prstGeom>
          <a:noFill/>
        </p:spPr>
        <p:txBody>
          <a:bodyPr wrap="square" anchor="t"/>
          <a:lstStyle/>
          <a:p>
            <a:pPr algn="l"/>
            <a:r>
              <a:rPr sz="1500" b="0" i="0">
                <a:solidFill>
                  <a:srgbClr val="FFFFFF"/>
                </a:solidFill>
                <a:latin typeface="Calibri"/>
              </a:rPr>
              <a:t>Rigorous assessment: 2.5× WER gap on 1,497 segments. Novel IS metric reveals 40% properly captured, 51% with LLM salvage. 5 classified failure categories.</a:t>
            </a:r>
          </a:p>
        </p:txBody>
      </p:sp>
      <p:sp>
        <p:nvSpPr>
          <p:cNvPr id="8" name="Rounded Rectangle 7"/>
          <p:cNvSpPr/>
          <p:nvPr/>
        </p:nvSpPr>
        <p:spPr>
          <a:xfrm>
            <a:off x="548640" y="2395728"/>
            <a:ext cx="11091672" cy="960120"/>
          </a:xfrm>
          <a:prstGeom prst="roundRect">
            <a:avLst/>
          </a:prstGeom>
          <a:solidFill>
            <a:srgbClr val="152A40"/>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2624328"/>
            <a:ext cx="502920" cy="50292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624328"/>
            <a:ext cx="502920" cy="502920"/>
          </a:xfrm>
          <a:prstGeom prst="rect">
            <a:avLst/>
          </a:prstGeom>
          <a:noFill/>
        </p:spPr>
        <p:txBody>
          <a:bodyPr wrap="square" anchor="t"/>
          <a:lstStyle/>
          <a:p>
            <a:pPr algn="ctr"/>
            <a:r>
              <a:rPr sz="2200" b="1" i="0">
                <a:solidFill>
                  <a:srgbClr val="FFFFFF"/>
                </a:solidFill>
                <a:latin typeface="Calibri"/>
              </a:rPr>
              <a:t>2</a:t>
            </a:r>
          </a:p>
        </p:txBody>
      </p:sp>
      <p:sp>
        <p:nvSpPr>
          <p:cNvPr id="11" name="TextBox 10"/>
          <p:cNvSpPr txBox="1"/>
          <p:nvPr/>
        </p:nvSpPr>
        <p:spPr>
          <a:xfrm>
            <a:off x="1463040" y="2505456"/>
            <a:ext cx="9994392" cy="740664"/>
          </a:xfrm>
          <a:prstGeom prst="rect">
            <a:avLst/>
          </a:prstGeom>
          <a:noFill/>
        </p:spPr>
        <p:txBody>
          <a:bodyPr wrap="square" anchor="t"/>
          <a:lstStyle/>
          <a:p>
            <a:pPr algn="l"/>
            <a:r>
              <a:rPr sz="1500" b="0" i="0">
                <a:solidFill>
                  <a:srgbClr val="FFFFFF"/>
                </a:solidFill>
                <a:latin typeface="Calibri"/>
              </a:rPr>
              <a:t>Production system delivered: standalone container, 37 bugs fixed, 8-stage pipeline, 37 tests, 8 research reports.</a:t>
            </a:r>
          </a:p>
        </p:txBody>
      </p:sp>
      <p:sp>
        <p:nvSpPr>
          <p:cNvPr id="12" name="Rounded Rectangle 11"/>
          <p:cNvSpPr/>
          <p:nvPr/>
        </p:nvSpPr>
        <p:spPr>
          <a:xfrm>
            <a:off x="548640" y="3465576"/>
            <a:ext cx="11091672" cy="960120"/>
          </a:xfrm>
          <a:prstGeom prst="roundRect">
            <a:avLst/>
          </a:prstGeom>
          <a:solidFill>
            <a:srgbClr val="152A40"/>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31520" y="3694176"/>
            <a:ext cx="502920" cy="50292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694176"/>
            <a:ext cx="502920" cy="502920"/>
          </a:xfrm>
          <a:prstGeom prst="rect">
            <a:avLst/>
          </a:prstGeom>
          <a:noFill/>
        </p:spPr>
        <p:txBody>
          <a:bodyPr wrap="square" anchor="t"/>
          <a:lstStyle/>
          <a:p>
            <a:pPr algn="ctr"/>
            <a:r>
              <a:rPr sz="2200" b="1" i="0">
                <a:solidFill>
                  <a:srgbClr val="FFFFFF"/>
                </a:solidFill>
                <a:latin typeface="Calibri"/>
              </a:rPr>
              <a:t>3</a:t>
            </a:r>
          </a:p>
        </p:txBody>
      </p:sp>
      <p:sp>
        <p:nvSpPr>
          <p:cNvPr id="15" name="TextBox 14"/>
          <p:cNvSpPr txBox="1"/>
          <p:nvPr/>
        </p:nvSpPr>
        <p:spPr>
          <a:xfrm>
            <a:off x="1463040" y="3575304"/>
            <a:ext cx="9994392" cy="740664"/>
          </a:xfrm>
          <a:prstGeom prst="rect">
            <a:avLst/>
          </a:prstGeom>
          <a:noFill/>
        </p:spPr>
        <p:txBody>
          <a:bodyPr wrap="square" anchor="t"/>
          <a:lstStyle/>
          <a:p>
            <a:pPr algn="l"/>
            <a:r>
              <a:rPr sz="1500" b="0" i="0">
                <a:solidFill>
                  <a:srgbClr val="FFFFFF"/>
                </a:solidFill>
                <a:latin typeface="Calibri"/>
              </a:rPr>
              <a:t>Data is the bottleneck: fine-tuning experiments (Exp A/B) proved 1,273 segments too small. Multiplicative scaling law: stronger LLM + more data compounds.</a:t>
            </a:r>
          </a:p>
        </p:txBody>
      </p:sp>
      <p:sp>
        <p:nvSpPr>
          <p:cNvPr id="16" name="Rounded Rectangle 15"/>
          <p:cNvSpPr/>
          <p:nvPr/>
        </p:nvSpPr>
        <p:spPr>
          <a:xfrm>
            <a:off x="548640" y="4535424"/>
            <a:ext cx="11091672" cy="960120"/>
          </a:xfrm>
          <a:prstGeom prst="roundRect">
            <a:avLst/>
          </a:prstGeom>
          <a:solidFill>
            <a:srgbClr val="152A40"/>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1520" y="4764024"/>
            <a:ext cx="502920" cy="50292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764024"/>
            <a:ext cx="502920" cy="502920"/>
          </a:xfrm>
          <a:prstGeom prst="rect">
            <a:avLst/>
          </a:prstGeom>
          <a:noFill/>
        </p:spPr>
        <p:txBody>
          <a:bodyPr wrap="square" anchor="t"/>
          <a:lstStyle/>
          <a:p>
            <a:pPr algn="ctr"/>
            <a:r>
              <a:rPr sz="2200" b="1" i="0">
                <a:solidFill>
                  <a:srgbClr val="FFFFFF"/>
                </a:solidFill>
                <a:latin typeface="Calibri"/>
              </a:rPr>
              <a:t>4</a:t>
            </a:r>
          </a:p>
        </p:txBody>
      </p:sp>
      <p:sp>
        <p:nvSpPr>
          <p:cNvPr id="19" name="TextBox 18"/>
          <p:cNvSpPr txBox="1"/>
          <p:nvPr/>
        </p:nvSpPr>
        <p:spPr>
          <a:xfrm>
            <a:off x="1463040" y="4645152"/>
            <a:ext cx="9994392" cy="740664"/>
          </a:xfrm>
          <a:prstGeom prst="rect">
            <a:avLst/>
          </a:prstGeom>
          <a:noFill/>
        </p:spPr>
        <p:txBody>
          <a:bodyPr wrap="square" anchor="t"/>
          <a:lstStyle/>
          <a:p>
            <a:pPr algn="l"/>
            <a:r>
              <a:rPr sz="1500" b="0" i="0">
                <a:solidFill>
                  <a:srgbClr val="FFFFFF"/>
                </a:solidFill>
                <a:latin typeface="Calibri"/>
              </a:rPr>
              <a:t>Actionable roadmap to IS 3.5–4.0 (from 2.52): confidence scoring + N-best aggregation + LLM upgrade + data scaling + GER. Each phase targets a different failure category.</a:t>
            </a:r>
          </a:p>
        </p:txBody>
      </p:sp>
      <p:pic>
        <p:nvPicPr>
          <p:cNvPr id="20" name="Picture 19"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21" name="TextBox 20"/>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57</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par>
                          <p:cTn id="7" fill="hold">
                            <p:stCondLst>
                              <p:cond delay="12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500"/>
                                  <p:tgtEl>
                                    <p:spTgt spid="8"/>
                                  </p:tgtEl>
                                </p:cBhvr>
                              </p:animEffect>
                            </p:childTnLst>
                          </p:cTn>
                        </p:par>
                        <p:par>
                          <p:cTn id="10" fill="hold">
                            <p:stCondLst>
                              <p:cond delay="24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par>
                          <p:cTn id="13" fill="hold">
                            <p:stCondLst>
                              <p:cond delay="36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1828800"/>
            <a:ext cx="11091672" cy="1097280"/>
          </a:xfrm>
          <a:prstGeom prst="rect">
            <a:avLst/>
          </a:prstGeom>
          <a:noFill/>
        </p:spPr>
        <p:txBody>
          <a:bodyPr wrap="square" anchor="t"/>
          <a:lstStyle/>
          <a:p>
            <a:pPr algn="ctr"/>
            <a:r>
              <a:rPr sz="5600" b="1" i="0">
                <a:solidFill>
                  <a:srgbClr val="FFFFFF"/>
                </a:solidFill>
                <a:latin typeface="Calibri"/>
              </a:rPr>
              <a:t>Thank You</a:t>
            </a:r>
          </a:p>
        </p:txBody>
      </p:sp>
      <p:sp>
        <p:nvSpPr>
          <p:cNvPr id="3" name="Rectangle 2"/>
          <p:cNvSpPr/>
          <p:nvPr/>
        </p:nvSpPr>
        <p:spPr>
          <a:xfrm>
            <a:off x="4114800" y="3108960"/>
            <a:ext cx="3959352"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0"/>
            <a:ext cx="11091672" cy="548640"/>
          </a:xfrm>
          <a:prstGeom prst="rect">
            <a:avLst/>
          </a:prstGeom>
          <a:noFill/>
        </p:spPr>
        <p:txBody>
          <a:bodyPr wrap="square" anchor="t"/>
          <a:lstStyle/>
          <a:p>
            <a:pPr algn="ctr"/>
            <a:r>
              <a:rPr sz="2400" b="0" i="0">
                <a:solidFill>
                  <a:srgbClr val="00B4D8"/>
                </a:solidFill>
                <a:latin typeface="Calibri"/>
              </a:rPr>
              <a:t>Questions &amp; Discussion</a:t>
            </a:r>
          </a:p>
        </p:txBody>
      </p:sp>
      <p:sp>
        <p:nvSpPr>
          <p:cNvPr id="5" name="TextBox 4"/>
          <p:cNvSpPr txBox="1"/>
          <p:nvPr/>
        </p:nvSpPr>
        <p:spPr>
          <a:xfrm>
            <a:off x="548640" y="4389120"/>
            <a:ext cx="11091672" cy="731520"/>
          </a:xfrm>
          <a:prstGeom prst="rect">
            <a:avLst/>
          </a:prstGeom>
          <a:noFill/>
        </p:spPr>
        <p:txBody>
          <a:bodyPr wrap="square" anchor="t"/>
          <a:lstStyle/>
          <a:p>
            <a:pPr algn="ctr"/>
            <a:r>
              <a:rPr sz="1500" b="0" i="0">
                <a:solidFill>
                  <a:srgbClr val="AAAAAA"/>
                </a:solidFill>
                <a:latin typeface="Calibri"/>
              </a:rPr>
              <a:t>1,497 segments  •  6 quality signals  •  5 failure categories  •  13 experiments</a:t>
            </a:r>
            <a:br/>
            <a:r>
              <a:rPr sz="1500" b="0" i="0">
                <a:solidFill>
                  <a:srgbClr val="AAAAAA"/>
                </a:solidFill>
                <a:latin typeface="Calibri"/>
              </a:rPr>
              <a:t>8-stage pipeline  •  37 bugs fixed  •  8 research reports</a:t>
            </a:r>
          </a:p>
        </p:txBody>
      </p:sp>
      <p:pic>
        <p:nvPicPr>
          <p:cNvPr id="6" name="Picture 5"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7" name="TextBox 6"/>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58</a:t>
            </a:r>
          </a:p>
        </p:txBody>
      </p:sp>
    </p:spTree>
  </p:cSld>
  <p:clrMapOvr>
    <a:masterClrMapping/>
  </p:clrMapOvr>
  <p:transition spd="med"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A1: Homophenes — The Lip-Reading Problem</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120640" cy="640080"/>
          </a:xfrm>
          <a:prstGeom prst="rect">
            <a:avLst/>
          </a:prstGeom>
          <a:noFill/>
        </p:spPr>
        <p:txBody>
          <a:bodyPr wrap="square" anchor="t"/>
          <a:lstStyle/>
          <a:p>
            <a:pPr algn="l"/>
            <a:r>
              <a:rPr sz="1400" b="0" i="0">
                <a:solidFill>
                  <a:srgbClr val="AAAAAA"/>
                </a:solidFill>
                <a:latin typeface="Calibri"/>
              </a:rPr>
              <a:t>50–70% of English sounds are invisible on lips.</a:t>
            </a:r>
            <a:br/>
            <a:r>
              <a:rPr sz="1400" b="0" i="0">
                <a:solidFill>
                  <a:srgbClr val="AAAAAA"/>
                </a:solidFill>
                <a:latin typeface="Calibri"/>
              </a:rPr>
              <a:t>Multiple sounds produce identical mouth shapes:</a:t>
            </a:r>
          </a:p>
        </p:txBody>
      </p:sp>
      <p:graphicFrame>
        <p:nvGraphicFramePr>
          <p:cNvPr id="5" name="Table 4"/>
          <p:cNvGraphicFramePr>
            <a:graphicFrameLocks noGrp="1"/>
          </p:cNvGraphicFramePr>
          <p:nvPr/>
        </p:nvGraphicFramePr>
        <p:xfrm>
          <a:off x="548640" y="2148840"/>
          <a:ext cx="5120640" cy="1737360"/>
        </p:xfrm>
        <a:graphic>
          <a:graphicData uri="http://schemas.openxmlformats.org/drawingml/2006/table">
            <a:tbl>
              <a:tblPr firstRow="0" bandRow="0" lastRow="0" bandCol="0">
                <a:tableStyleId>{5C22544A-7EE6-4342-B048-85BDC9FD1C3A}</a:tableStyleId>
              </a:tblPr>
              <a:tblGrid>
                <a:gridCol w="2560320"/>
                <a:gridCol w="2560320"/>
              </a:tblGrid>
              <a:tr h="347472">
                <a:tc>
                  <a:txBody>
                    <a:bodyPr/>
                    <a:lstStyle/>
                    <a:p>
                      <a:pPr algn="ctr"/>
                      <a:r>
                        <a:rPr sz="1200" b="1" i="0">
                          <a:solidFill>
                            <a:srgbClr val="FFFFFF"/>
                          </a:solidFill>
                          <a:latin typeface="Calibri"/>
                        </a:rPr>
                        <a:t>Viseme Group</a:t>
                      </a:r>
                    </a:p>
                  </a:txBody>
                  <a:tcPr>
                    <a:solidFill>
                      <a:srgbClr val="00b4d8"/>
                    </a:solidFill>
                  </a:tcPr>
                </a:tc>
                <a:tc>
                  <a:txBody>
                    <a:bodyPr/>
                    <a:lstStyle/>
                    <a:p>
                      <a:pPr algn="ctr"/>
                      <a:r>
                        <a:rPr sz="1200" b="1" i="0">
                          <a:solidFill>
                            <a:srgbClr val="FFFFFF"/>
                          </a:solidFill>
                          <a:latin typeface="Calibri"/>
                        </a:rPr>
                        <a:t>Sounds</a:t>
                      </a:r>
                    </a:p>
                  </a:txBody>
                  <a:tcPr>
                    <a:solidFill>
                      <a:srgbClr val="00b4d8"/>
                    </a:solidFill>
                  </a:tcPr>
                </a:tc>
              </a:tr>
              <a:tr h="347472">
                <a:tc>
                  <a:txBody>
                    <a:bodyPr/>
                    <a:lstStyle/>
                    <a:p>
                      <a:pPr algn="l"/>
                      <a:r>
                        <a:rPr sz="1200" b="0" i="0">
                          <a:solidFill>
                            <a:srgbClr val="FFFFFF"/>
                          </a:solidFill>
                          <a:latin typeface="Calibri"/>
                        </a:rPr>
                        <a:t>Bilabial</a:t>
                      </a:r>
                    </a:p>
                  </a:txBody>
                  <a:tcPr>
                    <a:solidFill>
                      <a:srgbClr val="0d1b2a"/>
                    </a:solidFill>
                  </a:tcPr>
                </a:tc>
                <a:tc>
                  <a:txBody>
                    <a:bodyPr/>
                    <a:lstStyle/>
                    <a:p>
                      <a:pPr algn="l"/>
                      <a:r>
                        <a:rPr sz="1200" b="0" i="0">
                          <a:solidFill>
                            <a:srgbClr val="FFFFFF"/>
                          </a:solidFill>
                          <a:latin typeface="Calibri"/>
                        </a:rPr>
                        <a:t>p, b, m</a:t>
                      </a:r>
                    </a:p>
                  </a:txBody>
                  <a:tcPr>
                    <a:solidFill>
                      <a:srgbClr val="0d1b2a"/>
                    </a:solidFill>
                  </a:tcPr>
                </a:tc>
              </a:tr>
              <a:tr h="347472">
                <a:tc>
                  <a:txBody>
                    <a:bodyPr/>
                    <a:lstStyle/>
                    <a:p>
                      <a:pPr algn="l"/>
                      <a:r>
                        <a:rPr sz="1200" b="0" i="0">
                          <a:solidFill>
                            <a:srgbClr val="FFFFFF"/>
                          </a:solidFill>
                          <a:latin typeface="Calibri"/>
                        </a:rPr>
                        <a:t>Alveolar</a:t>
                      </a:r>
                    </a:p>
                  </a:txBody>
                  <a:tcPr>
                    <a:solidFill>
                      <a:srgbClr val="152a40"/>
                    </a:solidFill>
                  </a:tcPr>
                </a:tc>
                <a:tc>
                  <a:txBody>
                    <a:bodyPr/>
                    <a:lstStyle/>
                    <a:p>
                      <a:pPr algn="l"/>
                      <a:r>
                        <a:rPr sz="1200" b="0" i="0">
                          <a:solidFill>
                            <a:srgbClr val="FFFFFF"/>
                          </a:solidFill>
                          <a:latin typeface="Calibri"/>
                        </a:rPr>
                        <a:t>t, d, n, s, z, l</a:t>
                      </a:r>
                    </a:p>
                  </a:txBody>
                  <a:tcPr>
                    <a:solidFill>
                      <a:srgbClr val="152a40"/>
                    </a:solidFill>
                  </a:tcPr>
                </a:tc>
              </a:tr>
              <a:tr h="347472">
                <a:tc>
                  <a:txBody>
                    <a:bodyPr/>
                    <a:lstStyle/>
                    <a:p>
                      <a:pPr algn="l"/>
                      <a:r>
                        <a:rPr sz="1200" b="0" i="0">
                          <a:solidFill>
                            <a:srgbClr val="FFFFFF"/>
                          </a:solidFill>
                          <a:latin typeface="Calibri"/>
                        </a:rPr>
                        <a:t>Velar</a:t>
                      </a:r>
                    </a:p>
                  </a:txBody>
                  <a:tcPr>
                    <a:solidFill>
                      <a:srgbClr val="0d1b2a"/>
                    </a:solidFill>
                  </a:tcPr>
                </a:tc>
                <a:tc>
                  <a:txBody>
                    <a:bodyPr/>
                    <a:lstStyle/>
                    <a:p>
                      <a:pPr algn="l"/>
                      <a:r>
                        <a:rPr sz="1200" b="0" i="0">
                          <a:solidFill>
                            <a:srgbClr val="FFFFFF"/>
                          </a:solidFill>
                          <a:latin typeface="Calibri"/>
                        </a:rPr>
                        <a:t>k, g, ng</a:t>
                      </a:r>
                    </a:p>
                  </a:txBody>
                  <a:tcPr>
                    <a:solidFill>
                      <a:srgbClr val="0d1b2a"/>
                    </a:solidFill>
                  </a:tcPr>
                </a:tc>
              </a:tr>
              <a:tr h="347472">
                <a:tc>
                  <a:txBody>
                    <a:bodyPr/>
                    <a:lstStyle/>
                    <a:p>
                      <a:pPr algn="l"/>
                      <a:r>
                        <a:rPr sz="1200" b="0" i="0">
                          <a:solidFill>
                            <a:srgbClr val="FFFFFF"/>
                          </a:solidFill>
                          <a:latin typeface="Calibri"/>
                        </a:rPr>
                        <a:t>Labiodental</a:t>
                      </a:r>
                    </a:p>
                  </a:txBody>
                  <a:tcPr>
                    <a:solidFill>
                      <a:srgbClr val="152a40"/>
                    </a:solidFill>
                  </a:tcPr>
                </a:tc>
                <a:tc>
                  <a:txBody>
                    <a:bodyPr/>
                    <a:lstStyle/>
                    <a:p>
                      <a:pPr algn="l"/>
                      <a:r>
                        <a:rPr sz="1200" b="0" i="0">
                          <a:solidFill>
                            <a:srgbClr val="FFFFFF"/>
                          </a:solidFill>
                          <a:latin typeface="Calibri"/>
                        </a:rPr>
                        <a:t>f, v</a:t>
                      </a:r>
                    </a:p>
                  </a:txBody>
                  <a:tcPr>
                    <a:solidFill>
                      <a:srgbClr val="152a40"/>
                    </a:solidFill>
                  </a:tcPr>
                </a:tc>
              </a:tr>
            </a:tbl>
          </a:graphicData>
        </a:graphic>
      </p:graphicFrame>
      <p:sp>
        <p:nvSpPr>
          <p:cNvPr id="6" name="TextBox 5"/>
          <p:cNvSpPr txBox="1"/>
          <p:nvPr/>
        </p:nvSpPr>
        <p:spPr>
          <a:xfrm>
            <a:off x="5943600" y="1325880"/>
            <a:ext cx="5422392" cy="457200"/>
          </a:xfrm>
          <a:prstGeom prst="rect">
            <a:avLst/>
          </a:prstGeom>
          <a:noFill/>
        </p:spPr>
        <p:txBody>
          <a:bodyPr wrap="square" anchor="t"/>
          <a:lstStyle/>
          <a:p>
            <a:pPr algn="l"/>
            <a:r>
              <a:rPr sz="1400" b="0" i="0">
                <a:solidFill>
                  <a:srgbClr val="AAAAAA"/>
                </a:solidFill>
                <a:latin typeface="Calibri"/>
              </a:rPr>
              <a:t>Confusable word pairs (identical on lips):</a:t>
            </a:r>
          </a:p>
        </p:txBody>
      </p:sp>
      <p:graphicFrame>
        <p:nvGraphicFramePr>
          <p:cNvPr id="7" name="Table 6"/>
          <p:cNvGraphicFramePr>
            <a:graphicFrameLocks noGrp="1"/>
          </p:cNvGraphicFramePr>
          <p:nvPr/>
        </p:nvGraphicFramePr>
        <p:xfrm>
          <a:off x="5943600" y="1874520"/>
          <a:ext cx="5422392" cy="2432304"/>
        </p:xfrm>
        <a:graphic>
          <a:graphicData uri="http://schemas.openxmlformats.org/drawingml/2006/table">
            <a:tbl>
              <a:tblPr firstRow="0" bandRow="0" lastRow="0" bandCol="0">
                <a:tableStyleId>{5C22544A-7EE6-4342-B048-85BDC9FD1C3A}</a:tableStyleId>
              </a:tblPr>
              <a:tblGrid>
                <a:gridCol w="2711196"/>
                <a:gridCol w="2711196"/>
              </a:tblGrid>
              <a:tr h="347472">
                <a:tc>
                  <a:txBody>
                    <a:bodyPr/>
                    <a:lstStyle/>
                    <a:p>
                      <a:pPr algn="ctr"/>
                      <a:r>
                        <a:rPr sz="1200" b="1" i="0">
                          <a:solidFill>
                            <a:srgbClr val="FFFFFF"/>
                          </a:solidFill>
                          <a:latin typeface="Calibri"/>
                        </a:rPr>
                        <a:t>Word A</a:t>
                      </a:r>
                    </a:p>
                  </a:txBody>
                  <a:tcPr>
                    <a:solidFill>
                      <a:srgbClr val="00b4d8"/>
                    </a:solidFill>
                  </a:tcPr>
                </a:tc>
                <a:tc>
                  <a:txBody>
                    <a:bodyPr/>
                    <a:lstStyle/>
                    <a:p>
                      <a:pPr algn="ctr"/>
                      <a:r>
                        <a:rPr sz="1200" b="1" i="0">
                          <a:solidFill>
                            <a:srgbClr val="FFFFFF"/>
                          </a:solidFill>
                          <a:latin typeface="Calibri"/>
                        </a:rPr>
                        <a:t>Word B</a:t>
                      </a:r>
                    </a:p>
                  </a:txBody>
                  <a:tcPr>
                    <a:solidFill>
                      <a:srgbClr val="00b4d8"/>
                    </a:solidFill>
                  </a:tcPr>
                </a:tc>
              </a:tr>
              <a:tr h="347472">
                <a:tc>
                  <a:txBody>
                    <a:bodyPr/>
                    <a:lstStyle/>
                    <a:p>
                      <a:pPr algn="l"/>
                      <a:r>
                        <a:rPr sz="1200" b="0" i="0">
                          <a:solidFill>
                            <a:srgbClr val="FFFFFF"/>
                          </a:solidFill>
                          <a:latin typeface="Calibri"/>
                        </a:rPr>
                        <a:t>mom</a:t>
                      </a:r>
                    </a:p>
                  </a:txBody>
                  <a:tcPr>
                    <a:solidFill>
                      <a:srgbClr val="0d1b2a"/>
                    </a:solidFill>
                  </a:tcPr>
                </a:tc>
                <a:tc>
                  <a:txBody>
                    <a:bodyPr/>
                    <a:lstStyle/>
                    <a:p>
                      <a:pPr algn="l"/>
                      <a:r>
                        <a:rPr sz="1200" b="0" i="0">
                          <a:solidFill>
                            <a:srgbClr val="FFFFFF"/>
                          </a:solidFill>
                          <a:latin typeface="Calibri"/>
                        </a:rPr>
                        <a:t>bomb</a:t>
                      </a:r>
                    </a:p>
                  </a:txBody>
                  <a:tcPr>
                    <a:solidFill>
                      <a:srgbClr val="0d1b2a"/>
                    </a:solidFill>
                  </a:tcPr>
                </a:tc>
              </a:tr>
              <a:tr h="347472">
                <a:tc>
                  <a:txBody>
                    <a:bodyPr/>
                    <a:lstStyle/>
                    <a:p>
                      <a:pPr algn="l"/>
                      <a:r>
                        <a:rPr sz="1200" b="0" i="0">
                          <a:solidFill>
                            <a:srgbClr val="FFFFFF"/>
                          </a:solidFill>
                          <a:latin typeface="Calibri"/>
                        </a:rPr>
                        <a:t>pat</a:t>
                      </a:r>
                    </a:p>
                  </a:txBody>
                  <a:tcPr>
                    <a:solidFill>
                      <a:srgbClr val="152a40"/>
                    </a:solidFill>
                  </a:tcPr>
                </a:tc>
                <a:tc>
                  <a:txBody>
                    <a:bodyPr/>
                    <a:lstStyle/>
                    <a:p>
                      <a:pPr algn="l"/>
                      <a:r>
                        <a:rPr sz="1200" b="0" i="0">
                          <a:solidFill>
                            <a:srgbClr val="FFFFFF"/>
                          </a:solidFill>
                          <a:latin typeface="Calibri"/>
                        </a:rPr>
                        <a:t>bat</a:t>
                      </a:r>
                    </a:p>
                  </a:txBody>
                  <a:tcPr>
                    <a:solidFill>
                      <a:srgbClr val="152a40"/>
                    </a:solidFill>
                  </a:tcPr>
                </a:tc>
              </a:tr>
              <a:tr h="347472">
                <a:tc>
                  <a:txBody>
                    <a:bodyPr/>
                    <a:lstStyle/>
                    <a:p>
                      <a:pPr algn="l"/>
                      <a:r>
                        <a:rPr sz="1200" b="0" i="0">
                          <a:solidFill>
                            <a:srgbClr val="FFFFFF"/>
                          </a:solidFill>
                          <a:latin typeface="Calibri"/>
                        </a:rPr>
                        <a:t>collar</a:t>
                      </a:r>
                    </a:p>
                  </a:txBody>
                  <a:tcPr>
                    <a:solidFill>
                      <a:srgbClr val="0d1b2a"/>
                    </a:solidFill>
                  </a:tcPr>
                </a:tc>
                <a:tc>
                  <a:txBody>
                    <a:bodyPr/>
                    <a:lstStyle/>
                    <a:p>
                      <a:pPr algn="l"/>
                      <a:r>
                        <a:rPr sz="1200" b="0" i="0">
                          <a:solidFill>
                            <a:srgbClr val="FFFFFF"/>
                          </a:solidFill>
                          <a:latin typeface="Calibri"/>
                        </a:rPr>
                        <a:t>color</a:t>
                      </a:r>
                    </a:p>
                  </a:txBody>
                  <a:tcPr>
                    <a:solidFill>
                      <a:srgbClr val="0d1b2a"/>
                    </a:solidFill>
                  </a:tcPr>
                </a:tc>
              </a:tr>
              <a:tr h="347472">
                <a:tc>
                  <a:txBody>
                    <a:bodyPr/>
                    <a:lstStyle/>
                    <a:p>
                      <a:pPr algn="l"/>
                      <a:r>
                        <a:rPr sz="1200" b="0" i="0">
                          <a:solidFill>
                            <a:srgbClr val="FFFFFF"/>
                          </a:solidFill>
                          <a:latin typeface="Calibri"/>
                        </a:rPr>
                        <a:t>pads</a:t>
                      </a:r>
                    </a:p>
                  </a:txBody>
                  <a:tcPr>
                    <a:solidFill>
                      <a:srgbClr val="152a40"/>
                    </a:solidFill>
                  </a:tcPr>
                </a:tc>
                <a:tc>
                  <a:txBody>
                    <a:bodyPr/>
                    <a:lstStyle/>
                    <a:p>
                      <a:pPr algn="l"/>
                      <a:r>
                        <a:rPr sz="1200" b="0" i="0">
                          <a:solidFill>
                            <a:srgbClr val="FFFFFF"/>
                          </a:solidFill>
                          <a:latin typeface="Calibri"/>
                        </a:rPr>
                        <a:t>pants</a:t>
                      </a:r>
                    </a:p>
                  </a:txBody>
                  <a:tcPr>
                    <a:solidFill>
                      <a:srgbClr val="152a40"/>
                    </a:solidFill>
                  </a:tcPr>
                </a:tc>
              </a:tr>
              <a:tr h="347472">
                <a:tc>
                  <a:txBody>
                    <a:bodyPr/>
                    <a:lstStyle/>
                    <a:p>
                      <a:pPr algn="l"/>
                      <a:r>
                        <a:rPr sz="1200" b="0" i="0">
                          <a:solidFill>
                            <a:srgbClr val="FFFFFF"/>
                          </a:solidFill>
                          <a:latin typeface="Calibri"/>
                        </a:rPr>
                        <a:t>admiral</a:t>
                      </a:r>
                    </a:p>
                  </a:txBody>
                  <a:tcPr>
                    <a:solidFill>
                      <a:srgbClr val="0d1b2a"/>
                    </a:solidFill>
                  </a:tcPr>
                </a:tc>
                <a:tc>
                  <a:txBody>
                    <a:bodyPr/>
                    <a:lstStyle/>
                    <a:p>
                      <a:pPr algn="l"/>
                      <a:r>
                        <a:rPr sz="1200" b="0" i="0">
                          <a:solidFill>
                            <a:srgbClr val="FFFFFF"/>
                          </a:solidFill>
                          <a:latin typeface="Calibri"/>
                        </a:rPr>
                        <a:t>animal</a:t>
                      </a:r>
                    </a:p>
                  </a:txBody>
                  <a:tcPr>
                    <a:solidFill>
                      <a:srgbClr val="0d1b2a"/>
                    </a:solidFill>
                  </a:tcPr>
                </a:tc>
              </a:tr>
              <a:tr h="347472">
                <a:tc>
                  <a:txBody>
                    <a:bodyPr/>
                    <a:lstStyle/>
                    <a:p>
                      <a:pPr algn="l"/>
                      <a:r>
                        <a:rPr sz="1200" b="0" i="0">
                          <a:solidFill>
                            <a:srgbClr val="FFFFFF"/>
                          </a:solidFill>
                          <a:latin typeface="Calibri"/>
                        </a:rPr>
                        <a:t>probiotics</a:t>
                      </a:r>
                    </a:p>
                  </a:txBody>
                  <a:tcPr>
                    <a:solidFill>
                      <a:srgbClr val="152a40"/>
                    </a:solidFill>
                  </a:tcPr>
                </a:tc>
                <a:tc>
                  <a:txBody>
                    <a:bodyPr/>
                    <a:lstStyle/>
                    <a:p>
                      <a:pPr algn="l"/>
                      <a:r>
                        <a:rPr sz="1200" b="0" i="0">
                          <a:solidFill>
                            <a:srgbClr val="FFFFFF"/>
                          </a:solidFill>
                          <a:latin typeface="Calibri"/>
                        </a:rPr>
                        <a:t>permafrost</a:t>
                      </a:r>
                    </a:p>
                  </a:txBody>
                  <a:tcPr>
                    <a:solidFill>
                      <a:srgbClr val="152a40"/>
                    </a:solidFill>
                  </a:tcPr>
                </a:tc>
              </a:tr>
            </a:tbl>
          </a:graphicData>
        </a:graphic>
      </p:graphicFrame>
      <p:sp>
        <p:nvSpPr>
          <p:cNvPr id="8" name="TextBox 7"/>
          <p:cNvSpPr txBox="1"/>
          <p:nvPr/>
        </p:nvSpPr>
        <p:spPr>
          <a:xfrm>
            <a:off x="5943600" y="4617720"/>
            <a:ext cx="5422392" cy="457200"/>
          </a:xfrm>
          <a:prstGeom prst="rect">
            <a:avLst/>
          </a:prstGeom>
          <a:noFill/>
        </p:spPr>
        <p:txBody>
          <a:bodyPr wrap="square" anchor="t"/>
          <a:lstStyle/>
          <a:p>
            <a:pPr algn="l"/>
            <a:r>
              <a:rPr sz="1200" b="0" i="1">
                <a:solidFill>
                  <a:srgbClr val="00B4D8"/>
                </a:solidFill>
                <a:latin typeface="Calibri"/>
              </a:rPr>
              <a:t>Context is the ONLY disambiguation signal.</a:t>
            </a:r>
            <a:br/>
            <a:r>
              <a:rPr sz="1200" b="0" i="1">
                <a:solidFill>
                  <a:srgbClr val="00B4D8"/>
                </a:solidFill>
                <a:latin typeface="Calibri"/>
              </a:rPr>
              <a:t>This is why the LLM component matters.</a:t>
            </a:r>
          </a:p>
        </p:txBody>
      </p:sp>
      <p:pic>
        <p:nvPicPr>
          <p:cNvPr id="9" name="Picture 8"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0" name="TextBox 9"/>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A1</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500"/>
                                  <p:tgtEl>
                                    <p:spTgt spid="5"/>
                                  </p:tgtEl>
                                </p:cBhvr>
                              </p:animEffect>
                            </p:childTnLst>
                          </p:cTn>
                        </p:par>
                      </p:childTnLst>
                    </p:cTn>
                  </p:par>
                  <p:par>
                    <p:cTn id="7" fill="hold">
                      <p:stCondLst>
                        <p:cond delay="0"/>
                      </p:stCondLst>
                      <p:childTnLst>
                        <p:par>
                          <p:cTn id="8" fill="hold">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7" grpId="1"/>
    </p:bldLst>
  </p:timing>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A2: Catastrophic lenpen=2.0 (Config H)</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548640"/>
          </a:xfrm>
          <a:prstGeom prst="rect">
            <a:avLst/>
          </a:prstGeom>
          <a:noFill/>
        </p:spPr>
        <p:txBody>
          <a:bodyPr wrap="square" anchor="t"/>
          <a:lstStyle/>
          <a:p>
            <a:pPr algn="l"/>
            <a:r>
              <a:rPr sz="1400" b="0" i="0">
                <a:solidFill>
                  <a:srgbClr val="E06C75"/>
                </a:solidFill>
                <a:latin typeface="Calibri"/>
              </a:rPr>
              <a:t>Config H forces the model to generate longer text. Mean WER: 539.6%</a:t>
            </a:r>
            <a:br/>
            <a:r>
              <a:rPr sz="1400" b="0" i="0">
                <a:solidFill>
                  <a:srgbClr val="E06C75"/>
                </a:solidFill>
                <a:latin typeface="Calibri"/>
              </a:rPr>
              <a:t>The model generates paragraphs of hallucinated text:</a:t>
            </a:r>
          </a:p>
        </p:txBody>
      </p:sp>
      <p:graphicFrame>
        <p:nvGraphicFramePr>
          <p:cNvPr id="5" name="Table 4"/>
          <p:cNvGraphicFramePr>
            <a:graphicFrameLocks noGrp="1"/>
          </p:cNvGraphicFramePr>
          <p:nvPr/>
        </p:nvGraphicFramePr>
        <p:xfrm>
          <a:off x="548640" y="2057400"/>
          <a:ext cx="11091672" cy="1389888"/>
        </p:xfrm>
        <a:graphic>
          <a:graphicData uri="http://schemas.openxmlformats.org/drawingml/2006/table">
            <a:tbl>
              <a:tblPr firstRow="0" bandRow="0" lastRow="0" bandCol="0">
                <a:tableStyleId>{5C22544A-7EE6-4342-B048-85BDC9FD1C3A}</a:tableStyleId>
              </a:tblPr>
              <a:tblGrid>
                <a:gridCol w="2772918"/>
                <a:gridCol w="2772918"/>
                <a:gridCol w="2772918"/>
                <a:gridCol w="2772918"/>
              </a:tblGrid>
              <a:tr h="347472">
                <a:tc>
                  <a:txBody>
                    <a:bodyPr/>
                    <a:lstStyle/>
                    <a:p>
                      <a:pPr algn="ctr"/>
                      <a:r>
                        <a:rPr sz="1000" b="1" i="0">
                          <a:solidFill>
                            <a:srgbClr val="FFFFFF"/>
                          </a:solidFill>
                          <a:latin typeface="Calibri"/>
                        </a:rPr>
                        <a:t>Segment</a:t>
                      </a:r>
                    </a:p>
                  </a:txBody>
                  <a:tcPr>
                    <a:solidFill>
                      <a:srgbClr val="00b4d8"/>
                    </a:solidFill>
                  </a:tcPr>
                </a:tc>
                <a:tc>
                  <a:txBody>
                    <a:bodyPr/>
                    <a:lstStyle/>
                    <a:p>
                      <a:pPr algn="ctr"/>
                      <a:r>
                        <a:rPr sz="1000" b="1" i="0">
                          <a:solidFill>
                            <a:srgbClr val="FFFFFF"/>
                          </a:solidFill>
                          <a:latin typeface="Calibri"/>
                        </a:rPr>
                        <a:t>Reference</a:t>
                      </a:r>
                    </a:p>
                  </a:txBody>
                  <a:tcPr>
                    <a:solidFill>
                      <a:srgbClr val="00b4d8"/>
                    </a:solidFill>
                  </a:tcPr>
                </a:tc>
                <a:tc>
                  <a:txBody>
                    <a:bodyPr/>
                    <a:lstStyle/>
                    <a:p>
                      <a:pPr algn="ctr"/>
                      <a:r>
                        <a:rPr sz="1000" b="1" i="0">
                          <a:solidFill>
                            <a:srgbClr val="FFFFFF"/>
                          </a:solidFill>
                          <a:latin typeface="Calibri"/>
                        </a:rPr>
                        <a:t>Config H Output</a:t>
                      </a:r>
                    </a:p>
                  </a:txBody>
                  <a:tcPr>
                    <a:solidFill>
                      <a:srgbClr val="00b4d8"/>
                    </a:solidFill>
                  </a:tcPr>
                </a:tc>
                <a:tc>
                  <a:txBody>
                    <a:bodyPr/>
                    <a:lstStyle/>
                    <a:p>
                      <a:pPr algn="ctr"/>
                      <a:r>
                        <a:rPr sz="1000" b="1" i="0">
                          <a:solidFill>
                            <a:srgbClr val="FFFFFF"/>
                          </a:solidFill>
                          <a:latin typeface="Calibri"/>
                        </a:rPr>
                        <a:t>WER</a:t>
                      </a:r>
                    </a:p>
                  </a:txBody>
                  <a:tcPr>
                    <a:solidFill>
                      <a:srgbClr val="00b4d8"/>
                    </a:solidFill>
                  </a:tcPr>
                </a:tc>
              </a:tr>
              <a:tr h="347472">
                <a:tc>
                  <a:txBody>
                    <a:bodyPr/>
                    <a:lstStyle/>
                    <a:p>
                      <a:pPr algn="l"/>
                      <a:r>
                        <a:rPr sz="1000" b="0" i="0">
                          <a:solidFill>
                            <a:srgbClr val="FFFFFF"/>
                          </a:solidFill>
                          <a:latin typeface="Calibri"/>
                        </a:rPr>
                        <a:t>pOeJSxbFyto</a:t>
                      </a:r>
                    </a:p>
                  </a:txBody>
                  <a:tcPr>
                    <a:solidFill>
                      <a:srgbClr val="0d1b2a"/>
                    </a:solidFill>
                  </a:tcPr>
                </a:tc>
                <a:tc>
                  <a:txBody>
                    <a:bodyPr/>
                    <a:lstStyle/>
                    <a:p>
                      <a:pPr algn="l"/>
                      <a:r>
                        <a:rPr sz="1000" b="0" i="0">
                          <a:solidFill>
                            <a:srgbClr val="FFFFFF"/>
                          </a:solidFill>
                          <a:latin typeface="Calibri"/>
                        </a:rPr>
                        <a:t>"get the idea"</a:t>
                      </a:r>
                    </a:p>
                  </a:txBody>
                  <a:tcPr>
                    <a:solidFill>
                      <a:srgbClr val="0d1b2a"/>
                    </a:solidFill>
                  </a:tcPr>
                </a:tc>
                <a:tc>
                  <a:txBody>
                    <a:bodyPr/>
                    <a:lstStyle/>
                    <a:p>
                      <a:pPr algn="l"/>
                      <a:r>
                        <a:rPr sz="1000" b="0" i="0">
                          <a:solidFill>
                            <a:srgbClr val="FFFFFF"/>
                          </a:solidFill>
                          <a:latin typeface="Calibri"/>
                        </a:rPr>
                        <a:t>"that's why I'm here thank you so much for having me it's been an honor and a privilege..."</a:t>
                      </a:r>
                    </a:p>
                  </a:txBody>
                  <a:tcPr>
                    <a:solidFill>
                      <a:srgbClr val="0d1b2a"/>
                    </a:solidFill>
                  </a:tcPr>
                </a:tc>
                <a:tc>
                  <a:txBody>
                    <a:bodyPr/>
                    <a:lstStyle/>
                    <a:p>
                      <a:pPr algn="l"/>
                      <a:r>
                        <a:rPr sz="1000" b="0" i="0">
                          <a:solidFill>
                            <a:srgbClr val="E06C75"/>
                          </a:solidFill>
                          <a:latin typeface="Calibri"/>
                        </a:rPr>
                        <a:t>6,833%</a:t>
                      </a:r>
                    </a:p>
                  </a:txBody>
                  <a:tcPr>
                    <a:solidFill>
                      <a:srgbClr val="0d1b2a"/>
                    </a:solidFill>
                  </a:tcPr>
                </a:tc>
              </a:tr>
              <a:tr h="347472">
                <a:tc>
                  <a:txBody>
                    <a:bodyPr/>
                    <a:lstStyle/>
                    <a:p>
                      <a:pPr algn="l"/>
                      <a:r>
                        <a:rPr sz="1000" b="0" i="0">
                          <a:solidFill>
                            <a:srgbClr val="FFFFFF"/>
                          </a:solidFill>
                          <a:latin typeface="Calibri"/>
                        </a:rPr>
                        <a:t>9KACXV-cW-4</a:t>
                      </a:r>
                    </a:p>
                  </a:txBody>
                  <a:tcPr>
                    <a:solidFill>
                      <a:srgbClr val="152a40"/>
                    </a:solidFill>
                  </a:tcPr>
                </a:tc>
                <a:tc>
                  <a:txBody>
                    <a:bodyPr/>
                    <a:lstStyle/>
                    <a:p>
                      <a:pPr algn="l"/>
                      <a:r>
                        <a:rPr sz="1000" b="0" i="0">
                          <a:solidFill>
                            <a:srgbClr val="FFFFFF"/>
                          </a:solidFill>
                          <a:latin typeface="Calibri"/>
                        </a:rPr>
                        <a:t>"now those predictions I think"</a:t>
                      </a:r>
                    </a:p>
                  </a:txBody>
                  <a:tcPr>
                    <a:solidFill>
                      <a:srgbClr val="152a40"/>
                    </a:solidFill>
                  </a:tcPr>
                </a:tc>
                <a:tc>
                  <a:txBody>
                    <a:bodyPr/>
                    <a:lstStyle/>
                    <a:p>
                      <a:pPr algn="l"/>
                      <a:r>
                        <a:rPr sz="1000" b="0" i="0">
                          <a:solidFill>
                            <a:srgbClr val="FFFFFF"/>
                          </a:solidFill>
                          <a:latin typeface="Calibri"/>
                        </a:rPr>
                        <a:t>"of first believers the same path I'd like to take a moment to thank all of you..."</a:t>
                      </a:r>
                    </a:p>
                  </a:txBody>
                  <a:tcPr>
                    <a:solidFill>
                      <a:srgbClr val="152a40"/>
                    </a:solidFill>
                  </a:tcPr>
                </a:tc>
                <a:tc>
                  <a:txBody>
                    <a:bodyPr/>
                    <a:lstStyle/>
                    <a:p>
                      <a:pPr algn="l"/>
                      <a:r>
                        <a:rPr sz="1000" b="0" i="0">
                          <a:solidFill>
                            <a:srgbClr val="E06C75"/>
                          </a:solidFill>
                          <a:latin typeface="Calibri"/>
                        </a:rPr>
                        <a:t>4,640%</a:t>
                      </a:r>
                    </a:p>
                  </a:txBody>
                  <a:tcPr>
                    <a:solidFill>
                      <a:srgbClr val="152a40"/>
                    </a:solidFill>
                  </a:tcPr>
                </a:tc>
              </a:tr>
              <a:tr h="347472">
                <a:tc>
                  <a:txBody>
                    <a:bodyPr/>
                    <a:lstStyle/>
                    <a:p>
                      <a:pPr algn="l"/>
                      <a:r>
                        <a:rPr sz="1000" b="0" i="0">
                          <a:solidFill>
                            <a:srgbClr val="FFFFFF"/>
                          </a:solidFill>
                          <a:latin typeface="Calibri"/>
                        </a:rPr>
                        <a:t>loebelfG9T4</a:t>
                      </a:r>
                    </a:p>
                  </a:txBody>
                  <a:tcPr>
                    <a:solidFill>
                      <a:srgbClr val="0d1b2a"/>
                    </a:solidFill>
                  </a:tcPr>
                </a:tc>
                <a:tc>
                  <a:txBody>
                    <a:bodyPr/>
                    <a:lstStyle/>
                    <a:p>
                      <a:pPr algn="l"/>
                      <a:r>
                        <a:rPr sz="1000" b="0" i="0">
                          <a:solidFill>
                            <a:srgbClr val="FFFFFF"/>
                          </a:solidFill>
                          <a:latin typeface="Calibri"/>
                        </a:rPr>
                        <a:t>"so repeat make yourself at home"</a:t>
                      </a:r>
                    </a:p>
                  </a:txBody>
                  <a:tcPr>
                    <a:solidFill>
                      <a:srgbClr val="0d1b2a"/>
                    </a:solidFill>
                  </a:tcPr>
                </a:tc>
                <a:tc>
                  <a:txBody>
                    <a:bodyPr/>
                    <a:lstStyle/>
                    <a:p>
                      <a:pPr algn="l"/>
                      <a:r>
                        <a:rPr sz="1000" b="0" i="0">
                          <a:solidFill>
                            <a:srgbClr val="FFFFFF"/>
                          </a:solidFill>
                          <a:latin typeface="Calibri"/>
                        </a:rPr>
                        <a:t>"don't forget to make yourself at home thank you very much that was a lot of fun..."</a:t>
                      </a:r>
                    </a:p>
                  </a:txBody>
                  <a:tcPr>
                    <a:solidFill>
                      <a:srgbClr val="0d1b2a"/>
                    </a:solidFill>
                  </a:tcPr>
                </a:tc>
                <a:tc>
                  <a:txBody>
                    <a:bodyPr/>
                    <a:lstStyle/>
                    <a:p>
                      <a:pPr algn="l"/>
                      <a:r>
                        <a:rPr sz="1000" b="0" i="0">
                          <a:solidFill>
                            <a:srgbClr val="E06C75"/>
                          </a:solidFill>
                          <a:latin typeface="Calibri"/>
                        </a:rPr>
                        <a:t>4,183%</a:t>
                      </a:r>
                    </a:p>
                  </a:txBody>
                  <a:tcPr>
                    <a:solidFill>
                      <a:srgbClr val="0d1b2a"/>
                    </a:solidFill>
                  </a:tcPr>
                </a:tc>
              </a:tr>
            </a:tbl>
          </a:graphicData>
        </a:graphic>
      </p:graphicFrame>
      <p:sp>
        <p:nvSpPr>
          <p:cNvPr id="6" name="TextBox 5"/>
          <p:cNvSpPr txBox="1"/>
          <p:nvPr/>
        </p:nvSpPr>
        <p:spPr>
          <a:xfrm>
            <a:off x="548640" y="4434840"/>
            <a:ext cx="11091672" cy="365760"/>
          </a:xfrm>
          <a:prstGeom prst="rect">
            <a:avLst/>
          </a:prstGeom>
          <a:noFill/>
        </p:spPr>
        <p:txBody>
          <a:bodyPr wrap="square" anchor="t"/>
          <a:lstStyle/>
          <a:p>
            <a:pPr algn="l"/>
            <a:r>
              <a:rPr sz="1100" b="0" i="1">
                <a:solidFill>
                  <a:srgbClr val="AAAAAA"/>
                </a:solidFill>
                <a:latin typeface="Calibri"/>
              </a:rPr>
              <a:t>lenpen=2.0 removes the generation length brake, letting the LLM prior run unchecked.</a:t>
            </a:r>
          </a:p>
        </p:txBody>
      </p:sp>
      <p:pic>
        <p:nvPicPr>
          <p:cNvPr id="7" name="Picture 6"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8" name="TextBox 7"/>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A2</a:t>
            </a:r>
          </a:p>
        </p:txBody>
      </p:sp>
    </p:spTree>
  </p:cSld>
  <p:clrMapOvr>
    <a:masterClrMapping/>
  </p:clrMapOvr>
  <p:transition spd="med"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A3: IS Component Correlation</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65760"/>
          </a:xfrm>
          <a:prstGeom prst="rect">
            <a:avLst/>
          </a:prstGeom>
          <a:noFill/>
        </p:spPr>
        <p:txBody>
          <a:bodyPr wrap="square" anchor="t"/>
          <a:lstStyle/>
          <a:p>
            <a:pPr algn="l"/>
            <a:r>
              <a:rPr sz="1400" b="0" i="0">
                <a:solidFill>
                  <a:srgbClr val="FFFFFF"/>
                </a:solidFill>
                <a:latin typeface="Calibri"/>
              </a:rPr>
              <a:t>The 6 IS signals collapse into 3 independent dimensions:</a:t>
            </a:r>
          </a:p>
        </p:txBody>
      </p:sp>
      <p:graphicFrame>
        <p:nvGraphicFramePr>
          <p:cNvPr id="5" name="Table 4"/>
          <p:cNvGraphicFramePr>
            <a:graphicFrameLocks noGrp="1"/>
          </p:cNvGraphicFramePr>
          <p:nvPr/>
        </p:nvGraphicFramePr>
        <p:xfrm>
          <a:off x="548640" y="1783080"/>
          <a:ext cx="6100419.600000001" cy="1389888"/>
        </p:xfrm>
        <a:graphic>
          <a:graphicData uri="http://schemas.openxmlformats.org/drawingml/2006/table">
            <a:tbl>
              <a:tblPr firstRow="0" bandRow="0" lastRow="0" bandCol="0">
                <a:tableStyleId>{5C22544A-7EE6-4342-B048-85BDC9FD1C3A}</a:tableStyleId>
              </a:tblPr>
              <a:tblGrid>
                <a:gridCol w="1525104"/>
                <a:gridCol w="1525104"/>
                <a:gridCol w="1525104"/>
                <a:gridCol w="1525107"/>
              </a:tblGrid>
              <a:tr h="347472">
                <a:tc>
                  <a:txBody>
                    <a:bodyPr/>
                    <a:lstStyle/>
                    <a:p>
                      <a:pPr algn="ctr"/>
                      <a:r>
                        <a:rPr sz="1100" b="1" i="0">
                          <a:solidFill>
                            <a:srgbClr val="FFFFFF"/>
                          </a:solidFill>
                          <a:latin typeface="Calibri"/>
                        </a:rPr>
                        <a:t>Dimension</a:t>
                      </a:r>
                    </a:p>
                  </a:txBody>
                  <a:tcPr>
                    <a:solidFill>
                      <a:srgbClr val="00b4d8"/>
                    </a:solidFill>
                  </a:tcPr>
                </a:tc>
                <a:tc>
                  <a:txBody>
                    <a:bodyPr/>
                    <a:lstStyle/>
                    <a:p>
                      <a:pPr algn="ctr"/>
                      <a:r>
                        <a:rPr sz="1100" b="1" i="0">
                          <a:solidFill>
                            <a:srgbClr val="FFFFFF"/>
                          </a:solidFill>
                          <a:latin typeface="Calibri"/>
                        </a:rPr>
                        <a:t>Signals</a:t>
                      </a:r>
                    </a:p>
                  </a:txBody>
                  <a:tcPr>
                    <a:solidFill>
                      <a:srgbClr val="00b4d8"/>
                    </a:solidFill>
                  </a:tcPr>
                </a:tc>
                <a:tc>
                  <a:txBody>
                    <a:bodyPr/>
                    <a:lstStyle/>
                    <a:p>
                      <a:pPr algn="ctr"/>
                      <a:r>
                        <a:rPr sz="1100" b="1" i="0">
                          <a:solidFill>
                            <a:srgbClr val="FFFFFF"/>
                          </a:solidFill>
                          <a:latin typeface="Calibri"/>
                        </a:rPr>
                        <a:t>Variance</a:t>
                      </a:r>
                    </a:p>
                  </a:txBody>
                  <a:tcPr>
                    <a:solidFill>
                      <a:srgbClr val="00b4d8"/>
                    </a:solidFill>
                  </a:tcPr>
                </a:tc>
                <a:tc>
                  <a:txBody>
                    <a:bodyPr/>
                    <a:lstStyle/>
                    <a:p>
                      <a:pPr algn="ctr"/>
                      <a:r>
                        <a:rPr sz="1100" b="1" i="0">
                          <a:solidFill>
                            <a:srgbClr val="FFFFFF"/>
                          </a:solidFill>
                          <a:latin typeface="Calibri"/>
                        </a:rPr>
                        <a:t>Inter-signal r</a:t>
                      </a:r>
                    </a:p>
                  </a:txBody>
                  <a:tcPr>
                    <a:solidFill>
                      <a:srgbClr val="00b4d8"/>
                    </a:solidFill>
                  </a:tcPr>
                </a:tc>
              </a:tr>
              <a:tr h="347472">
                <a:tc>
                  <a:txBody>
                    <a:bodyPr/>
                    <a:lstStyle/>
                    <a:p>
                      <a:pPr algn="l"/>
                      <a:r>
                        <a:rPr sz="1100" b="0" i="0">
                          <a:solidFill>
                            <a:srgbClr val="FFFFFF"/>
                          </a:solidFill>
                          <a:latin typeface="Calibri"/>
                        </a:rPr>
                        <a:t>Word Accuracy</a:t>
                      </a:r>
                    </a:p>
                  </a:txBody>
                  <a:tcPr>
                    <a:solidFill>
                      <a:srgbClr val="0d1b2a"/>
                    </a:solidFill>
                  </a:tcPr>
                </a:tc>
                <a:tc>
                  <a:txBody>
                    <a:bodyPr/>
                    <a:lstStyle/>
                    <a:p>
                      <a:pPr algn="l"/>
                      <a:r>
                        <a:rPr sz="1100" b="0" i="0">
                          <a:solidFill>
                            <a:srgbClr val="FFFFFF"/>
                          </a:solidFill>
                          <a:latin typeface="Calibri"/>
                        </a:rPr>
                        <a:t>WER, WWER, Phonetic</a:t>
                      </a:r>
                    </a:p>
                  </a:txBody>
                  <a:tcPr>
                    <a:solidFill>
                      <a:srgbClr val="0d1b2a"/>
                    </a:solidFill>
                  </a:tcPr>
                </a:tc>
                <a:tc>
                  <a:txBody>
                    <a:bodyPr/>
                    <a:lstStyle/>
                    <a:p>
                      <a:pPr algn="l"/>
                      <a:r>
                        <a:rPr sz="1100" b="0" i="0">
                          <a:solidFill>
                            <a:srgbClr val="FFFFFF"/>
                          </a:solidFill>
                          <a:latin typeface="Calibri"/>
                        </a:rPr>
                        <a:t>60.0%</a:t>
                      </a:r>
                    </a:p>
                  </a:txBody>
                  <a:tcPr>
                    <a:solidFill>
                      <a:srgbClr val="0d1b2a"/>
                    </a:solidFill>
                  </a:tcPr>
                </a:tc>
                <a:tc>
                  <a:txBody>
                    <a:bodyPr/>
                    <a:lstStyle/>
                    <a:p>
                      <a:pPr algn="l"/>
                      <a:r>
                        <a:rPr sz="1100" b="0" i="0">
                          <a:solidFill>
                            <a:srgbClr val="FFFFFF"/>
                          </a:solidFill>
                          <a:latin typeface="Calibri"/>
                        </a:rPr>
                        <a:t>&gt; 0.79</a:t>
                      </a:r>
                    </a:p>
                  </a:txBody>
                  <a:tcPr>
                    <a:solidFill>
                      <a:srgbClr val="0d1b2a"/>
                    </a:solidFill>
                  </a:tcPr>
                </a:tc>
              </a:tr>
              <a:tr h="347472">
                <a:tc>
                  <a:txBody>
                    <a:bodyPr/>
                    <a:lstStyle/>
                    <a:p>
                      <a:pPr algn="l"/>
                      <a:r>
                        <a:rPr sz="1100" b="0" i="0">
                          <a:solidFill>
                            <a:srgbClr val="FFFFFF"/>
                          </a:solidFill>
                          <a:latin typeface="Calibri"/>
                        </a:rPr>
                        <a:t>Meaning Preservation</a:t>
                      </a:r>
                    </a:p>
                  </a:txBody>
                  <a:tcPr>
                    <a:solidFill>
                      <a:srgbClr val="152a40"/>
                    </a:solidFill>
                  </a:tcPr>
                </a:tc>
                <a:tc>
                  <a:txBody>
                    <a:bodyPr/>
                    <a:lstStyle/>
                    <a:p>
                      <a:pPr algn="l"/>
                      <a:r>
                        <a:rPr sz="1100" b="0" i="0">
                          <a:solidFill>
                            <a:srgbClr val="FFFFFF"/>
                          </a:solidFill>
                          <a:latin typeface="Calibri"/>
                        </a:rPr>
                        <a:t>Semantic</a:t>
                      </a:r>
                    </a:p>
                  </a:txBody>
                  <a:tcPr>
                    <a:solidFill>
                      <a:srgbClr val="152a40"/>
                    </a:solidFill>
                  </a:tcPr>
                </a:tc>
                <a:tc>
                  <a:txBody>
                    <a:bodyPr/>
                    <a:lstStyle/>
                    <a:p>
                      <a:pPr algn="l"/>
                      <a:r>
                        <a:rPr sz="1100" b="0" i="0">
                          <a:solidFill>
                            <a:srgbClr val="FFFFFF"/>
                          </a:solidFill>
                          <a:latin typeface="Calibri"/>
                        </a:rPr>
                        <a:t>28.5%</a:t>
                      </a:r>
                    </a:p>
                  </a:txBody>
                  <a:tcPr>
                    <a:solidFill>
                      <a:srgbClr val="152a40"/>
                    </a:solidFill>
                  </a:tcPr>
                </a:tc>
                <a:tc>
                  <a:txBody>
                    <a:bodyPr/>
                    <a:lstStyle/>
                    <a:p>
                      <a:pPr algn="l"/>
                      <a:r>
                        <a:rPr sz="1100" b="0" i="0">
                          <a:solidFill>
                            <a:srgbClr val="FFFFFF"/>
                          </a:solidFill>
                          <a:latin typeface="Calibri"/>
                        </a:rPr>
                        <a:t>independent</a:t>
                      </a:r>
                    </a:p>
                  </a:txBody>
                  <a:tcPr>
                    <a:solidFill>
                      <a:srgbClr val="152a40"/>
                    </a:solidFill>
                  </a:tcPr>
                </a:tc>
              </a:tr>
              <a:tr h="347472">
                <a:tc>
                  <a:txBody>
                    <a:bodyPr/>
                    <a:lstStyle/>
                    <a:p>
                      <a:pPr algn="l"/>
                      <a:r>
                        <a:rPr sz="1100" b="0" i="0">
                          <a:solidFill>
                            <a:srgbClr val="FFFFFF"/>
                          </a:solidFill>
                          <a:latin typeface="Calibri"/>
                        </a:rPr>
                        <a:t>Output Sanity</a:t>
                      </a:r>
                    </a:p>
                  </a:txBody>
                  <a:tcPr>
                    <a:solidFill>
                      <a:srgbClr val="0d1b2a"/>
                    </a:solidFill>
                  </a:tcPr>
                </a:tc>
                <a:tc>
                  <a:txBody>
                    <a:bodyPr/>
                    <a:lstStyle/>
                    <a:p>
                      <a:pPr algn="l"/>
                      <a:r>
                        <a:rPr sz="1100" b="0" i="0">
                          <a:solidFill>
                            <a:srgbClr val="FFFFFF"/>
                          </a:solidFill>
                          <a:latin typeface="Calibri"/>
                        </a:rPr>
                        <a:t>Length Ratio</a:t>
                      </a:r>
                    </a:p>
                  </a:txBody>
                  <a:tcPr>
                    <a:solidFill>
                      <a:srgbClr val="0d1b2a"/>
                    </a:solidFill>
                  </a:tcPr>
                </a:tc>
                <a:tc>
                  <a:txBody>
                    <a:bodyPr/>
                    <a:lstStyle/>
                    <a:p>
                      <a:pPr algn="l"/>
                      <a:r>
                        <a:rPr sz="1100" b="0" i="0">
                          <a:solidFill>
                            <a:srgbClr val="FFFFFF"/>
                          </a:solidFill>
                          <a:latin typeface="Calibri"/>
                        </a:rPr>
                        <a:t>9.1%</a:t>
                      </a:r>
                    </a:p>
                  </a:txBody>
                  <a:tcPr>
                    <a:solidFill>
                      <a:srgbClr val="0d1b2a"/>
                    </a:solidFill>
                  </a:tcPr>
                </a:tc>
                <a:tc>
                  <a:txBody>
                    <a:bodyPr/>
                    <a:lstStyle/>
                    <a:p>
                      <a:pPr algn="l"/>
                      <a:r>
                        <a:rPr sz="1100" b="0" i="0">
                          <a:solidFill>
                            <a:srgbClr val="FFFFFF"/>
                          </a:solidFill>
                          <a:latin typeface="Calibri"/>
                        </a:rPr>
                        <a:t>independent</a:t>
                      </a:r>
                    </a:p>
                  </a:txBody>
                  <a:tcPr>
                    <a:solidFill>
                      <a:srgbClr val="0d1b2a"/>
                    </a:solidFill>
                  </a:tcPr>
                </a:tc>
              </a:tr>
            </a:tbl>
          </a:graphicData>
        </a:graphic>
      </p:graphicFrame>
      <p:sp>
        <p:nvSpPr>
          <p:cNvPr id="6" name="TextBox 5"/>
          <p:cNvSpPr txBox="1"/>
          <p:nvPr/>
        </p:nvSpPr>
        <p:spPr>
          <a:xfrm>
            <a:off x="5943600" y="1325880"/>
            <a:ext cx="5422392" cy="365760"/>
          </a:xfrm>
          <a:prstGeom prst="rect">
            <a:avLst/>
          </a:prstGeom>
          <a:noFill/>
        </p:spPr>
        <p:txBody>
          <a:bodyPr wrap="square" anchor="t"/>
          <a:lstStyle/>
          <a:p>
            <a:pPr algn="l"/>
            <a:r>
              <a:rPr sz="1400" b="1" i="0">
                <a:solidFill>
                  <a:srgbClr val="00B4D8"/>
                </a:solidFill>
                <a:latin typeface="Calibri"/>
              </a:rPr>
              <a:t>Cross-Config Stability (16 configs)</a:t>
            </a:r>
          </a:p>
        </p:txBody>
      </p:sp>
      <p:graphicFrame>
        <p:nvGraphicFramePr>
          <p:cNvPr id="7" name="Table 6"/>
          <p:cNvGraphicFramePr>
            <a:graphicFrameLocks noGrp="1"/>
          </p:cNvGraphicFramePr>
          <p:nvPr/>
        </p:nvGraphicFramePr>
        <p:xfrm>
          <a:off x="5943600" y="1783080"/>
          <a:ext cx="5422392" cy="2084832"/>
        </p:xfrm>
        <a:graphic>
          <a:graphicData uri="http://schemas.openxmlformats.org/drawingml/2006/table">
            <a:tbl>
              <a:tblPr firstRow="0" bandRow="0" lastRow="0" bandCol="0">
                <a:tableStyleId>{5C22544A-7EE6-4342-B048-85BDC9FD1C3A}</a:tableStyleId>
              </a:tblPr>
              <a:tblGrid>
                <a:gridCol w="1807464"/>
                <a:gridCol w="1807464"/>
                <a:gridCol w="1807464"/>
              </a:tblGrid>
              <a:tr h="347472">
                <a:tc>
                  <a:txBody>
                    <a:bodyPr/>
                    <a:lstStyle/>
                    <a:p>
                      <a:pPr algn="ctr"/>
                      <a:r>
                        <a:rPr sz="1100" b="1" i="0">
                          <a:solidFill>
                            <a:srgbClr val="FFFFFF"/>
                          </a:solidFill>
                          <a:latin typeface="Calibri"/>
                        </a:rPr>
                        <a:t>Signal</a:t>
                      </a:r>
                    </a:p>
                  </a:txBody>
                  <a:tcPr>
                    <a:solidFill>
                      <a:srgbClr val="00b4d8"/>
                    </a:solidFill>
                  </a:tcPr>
                </a:tc>
                <a:tc>
                  <a:txBody>
                    <a:bodyPr/>
                    <a:lstStyle/>
                    <a:p>
                      <a:pPr algn="ctr"/>
                      <a:r>
                        <a:rPr sz="1100" b="1" i="0">
                          <a:solidFill>
                            <a:srgbClr val="FFFFFF"/>
                          </a:solidFill>
                          <a:latin typeface="Calibri"/>
                        </a:rPr>
                        <a:t>Stability</a:t>
                      </a:r>
                    </a:p>
                  </a:txBody>
                  <a:tcPr>
                    <a:solidFill>
                      <a:srgbClr val="00b4d8"/>
                    </a:solidFill>
                  </a:tcPr>
                </a:tc>
                <a:tc>
                  <a:txBody>
                    <a:bodyPr/>
                    <a:lstStyle/>
                    <a:p>
                      <a:pPr algn="ctr"/>
                      <a:r>
                        <a:rPr sz="1100" b="1" i="0">
                          <a:solidFill>
                            <a:srgbClr val="FFFFFF"/>
                          </a:solidFill>
                          <a:latin typeface="Calibri"/>
                        </a:rPr>
                        <a:t>Std</a:t>
                      </a:r>
                    </a:p>
                  </a:txBody>
                  <a:tcPr>
                    <a:solidFill>
                      <a:srgbClr val="00b4d8"/>
                    </a:solidFill>
                  </a:tcPr>
                </a:tc>
              </a:tr>
              <a:tr h="347472">
                <a:tc>
                  <a:txBody>
                    <a:bodyPr/>
                    <a:lstStyle/>
                    <a:p>
                      <a:pPr algn="l"/>
                      <a:r>
                        <a:rPr sz="1100" b="0" i="0">
                          <a:solidFill>
                            <a:srgbClr val="FFFFFF"/>
                          </a:solidFill>
                          <a:latin typeface="Calibri"/>
                        </a:rPr>
                        <a:t>Semantic</a:t>
                      </a:r>
                    </a:p>
                  </a:txBody>
                  <a:tcPr>
                    <a:solidFill>
                      <a:srgbClr val="0d1b2a"/>
                    </a:solidFill>
                  </a:tcPr>
                </a:tc>
                <a:tc>
                  <a:txBody>
                    <a:bodyPr/>
                    <a:lstStyle/>
                    <a:p>
                      <a:pPr algn="l"/>
                      <a:r>
                        <a:rPr sz="1100" b="0" i="0">
                          <a:solidFill>
                            <a:srgbClr val="4CAF50"/>
                          </a:solidFill>
                          <a:latin typeface="Calibri"/>
                        </a:rPr>
                        <a:t>Stable</a:t>
                      </a:r>
                    </a:p>
                  </a:txBody>
                  <a:tcPr>
                    <a:solidFill>
                      <a:srgbClr val="0d1b2a"/>
                    </a:solidFill>
                  </a:tcPr>
                </a:tc>
                <a:tc>
                  <a:txBody>
                    <a:bodyPr/>
                    <a:lstStyle/>
                    <a:p>
                      <a:pPr algn="l"/>
                      <a:r>
                        <a:rPr sz="1100" b="0" i="0">
                          <a:solidFill>
                            <a:srgbClr val="FFFFFF"/>
                          </a:solidFill>
                          <a:latin typeface="Calibri"/>
                        </a:rPr>
                        <a:t>0.017</a:t>
                      </a:r>
                    </a:p>
                  </a:txBody>
                  <a:tcPr>
                    <a:solidFill>
                      <a:srgbClr val="0d1b2a"/>
                    </a:solidFill>
                  </a:tcPr>
                </a:tc>
              </a:tr>
              <a:tr h="347472">
                <a:tc>
                  <a:txBody>
                    <a:bodyPr/>
                    <a:lstStyle/>
                    <a:p>
                      <a:pPr algn="l"/>
                      <a:r>
                        <a:rPr sz="1100" b="0" i="0">
                          <a:solidFill>
                            <a:srgbClr val="FFFFFF"/>
                          </a:solidFill>
                          <a:latin typeface="Calibri"/>
                        </a:rPr>
                        <a:t>Phonetic</a:t>
                      </a:r>
                    </a:p>
                  </a:txBody>
                  <a:tcPr>
                    <a:solidFill>
                      <a:srgbClr val="152a40"/>
                    </a:solidFill>
                  </a:tcPr>
                </a:tc>
                <a:tc>
                  <a:txBody>
                    <a:bodyPr/>
                    <a:lstStyle/>
                    <a:p>
                      <a:pPr algn="l"/>
                      <a:r>
                        <a:rPr sz="1100" b="0" i="0">
                          <a:solidFill>
                            <a:srgbClr val="4CAF50"/>
                          </a:solidFill>
                          <a:latin typeface="Calibri"/>
                        </a:rPr>
                        <a:t>Stable</a:t>
                      </a:r>
                    </a:p>
                  </a:txBody>
                  <a:tcPr>
                    <a:solidFill>
                      <a:srgbClr val="152a40"/>
                    </a:solidFill>
                  </a:tcPr>
                </a:tc>
                <a:tc>
                  <a:txBody>
                    <a:bodyPr/>
                    <a:lstStyle/>
                    <a:p>
                      <a:pPr algn="l"/>
                      <a:r>
                        <a:rPr sz="1100" b="0" i="0">
                          <a:solidFill>
                            <a:srgbClr val="FFFFFF"/>
                          </a:solidFill>
                          <a:latin typeface="Calibri"/>
                        </a:rPr>
                        <a:t>0.059</a:t>
                      </a:r>
                    </a:p>
                  </a:txBody>
                  <a:tcPr>
                    <a:solidFill>
                      <a:srgbClr val="152a40"/>
                    </a:solidFill>
                  </a:tcPr>
                </a:tc>
              </a:tr>
              <a:tr h="347472">
                <a:tc>
                  <a:txBody>
                    <a:bodyPr/>
                    <a:lstStyle/>
                    <a:p>
                      <a:pPr algn="l"/>
                      <a:r>
                        <a:rPr sz="1100" b="0" i="0">
                          <a:solidFill>
                            <a:srgbClr val="FFFFFF"/>
                          </a:solidFill>
                          <a:latin typeface="Calibri"/>
                        </a:rPr>
                        <a:t>NEA</a:t>
                      </a:r>
                    </a:p>
                  </a:txBody>
                  <a:tcPr>
                    <a:solidFill>
                      <a:srgbClr val="0d1b2a"/>
                    </a:solidFill>
                  </a:tcPr>
                </a:tc>
                <a:tc>
                  <a:txBody>
                    <a:bodyPr/>
                    <a:lstStyle/>
                    <a:p>
                      <a:pPr algn="l"/>
                      <a:r>
                        <a:rPr sz="1100" b="0" i="0">
                          <a:solidFill>
                            <a:srgbClr val="4CAF50"/>
                          </a:solidFill>
                          <a:latin typeface="Calibri"/>
                        </a:rPr>
                        <a:t>Stable</a:t>
                      </a:r>
                    </a:p>
                  </a:txBody>
                  <a:tcPr>
                    <a:solidFill>
                      <a:srgbClr val="0d1b2a"/>
                    </a:solidFill>
                  </a:tcPr>
                </a:tc>
                <a:tc>
                  <a:txBody>
                    <a:bodyPr/>
                    <a:lstStyle/>
                    <a:p>
                      <a:pPr algn="l"/>
                      <a:r>
                        <a:rPr sz="1100" b="0" i="0">
                          <a:solidFill>
                            <a:srgbClr val="FFFFFF"/>
                          </a:solidFill>
                          <a:latin typeface="Calibri"/>
                        </a:rPr>
                        <a:t>0.023</a:t>
                      </a:r>
                    </a:p>
                  </a:txBody>
                  <a:tcPr>
                    <a:solidFill>
                      <a:srgbClr val="0d1b2a"/>
                    </a:solidFill>
                  </a:tcPr>
                </a:tc>
              </a:tr>
              <a:tr h="347472">
                <a:tc>
                  <a:txBody>
                    <a:bodyPr/>
                    <a:lstStyle/>
                    <a:p>
                      <a:pPr algn="l"/>
                      <a:r>
                        <a:rPr sz="1100" b="0" i="0">
                          <a:solidFill>
                            <a:srgbClr val="FFFFFF"/>
                          </a:solidFill>
                          <a:latin typeface="Calibri"/>
                        </a:rPr>
                        <a:t>WER</a:t>
                      </a:r>
                    </a:p>
                  </a:txBody>
                  <a:tcPr>
                    <a:solidFill>
                      <a:srgbClr val="152a40"/>
                    </a:solidFill>
                  </a:tcPr>
                </a:tc>
                <a:tc>
                  <a:txBody>
                    <a:bodyPr/>
                    <a:lstStyle/>
                    <a:p>
                      <a:pPr algn="l"/>
                      <a:r>
                        <a:rPr sz="1100" b="0" i="0">
                          <a:solidFill>
                            <a:srgbClr val="E06C75"/>
                          </a:solidFill>
                          <a:latin typeface="Calibri"/>
                        </a:rPr>
                        <a:t>Volatile</a:t>
                      </a:r>
                    </a:p>
                  </a:txBody>
                  <a:tcPr>
                    <a:solidFill>
                      <a:srgbClr val="152a40"/>
                    </a:solidFill>
                  </a:tcPr>
                </a:tc>
                <a:tc>
                  <a:txBody>
                    <a:bodyPr/>
                    <a:lstStyle/>
                    <a:p>
                      <a:pPr algn="l"/>
                      <a:r>
                        <a:rPr sz="1100" b="0" i="0">
                          <a:solidFill>
                            <a:srgbClr val="FFFFFF"/>
                          </a:solidFill>
                          <a:latin typeface="Calibri"/>
                        </a:rPr>
                        <a:t>0.165</a:t>
                      </a:r>
                    </a:p>
                  </a:txBody>
                  <a:tcPr>
                    <a:solidFill>
                      <a:srgbClr val="152a40"/>
                    </a:solidFill>
                  </a:tcPr>
                </a:tc>
              </a:tr>
              <a:tr h="347472">
                <a:tc>
                  <a:txBody>
                    <a:bodyPr/>
                    <a:lstStyle/>
                    <a:p>
                      <a:pPr algn="l"/>
                      <a:r>
                        <a:rPr sz="1100" b="0" i="0">
                          <a:solidFill>
                            <a:srgbClr val="FFFFFF"/>
                          </a:solidFill>
                          <a:latin typeface="Calibri"/>
                        </a:rPr>
                        <a:t>Length</a:t>
                      </a:r>
                    </a:p>
                  </a:txBody>
                  <a:tcPr>
                    <a:solidFill>
                      <a:srgbClr val="0d1b2a"/>
                    </a:solidFill>
                  </a:tcPr>
                </a:tc>
                <a:tc>
                  <a:txBody>
                    <a:bodyPr/>
                    <a:lstStyle/>
                    <a:p>
                      <a:pPr algn="l"/>
                      <a:r>
                        <a:rPr sz="1100" b="0" i="0">
                          <a:solidFill>
                            <a:srgbClr val="E06C75"/>
                          </a:solidFill>
                          <a:latin typeface="Calibri"/>
                        </a:rPr>
                        <a:t>Volatile</a:t>
                      </a:r>
                    </a:p>
                  </a:txBody>
                  <a:tcPr>
                    <a:solidFill>
                      <a:srgbClr val="0d1b2a"/>
                    </a:solidFill>
                  </a:tcPr>
                </a:tc>
                <a:tc>
                  <a:txBody>
                    <a:bodyPr/>
                    <a:lstStyle/>
                    <a:p>
                      <a:pPr algn="l"/>
                      <a:r>
                        <a:rPr sz="1100" b="0" i="0">
                          <a:solidFill>
                            <a:srgbClr val="FFFFFF"/>
                          </a:solidFill>
                          <a:latin typeface="Calibri"/>
                        </a:rPr>
                        <a:t>0.142</a:t>
                      </a:r>
                    </a:p>
                  </a:txBody>
                  <a:tcPr>
                    <a:solidFill>
                      <a:srgbClr val="0d1b2a"/>
                    </a:solidFill>
                  </a:tcPr>
                </a:tc>
              </a:tr>
            </a:tbl>
          </a:graphicData>
        </a:graphic>
      </p:graphicFrame>
      <p:sp>
        <p:nvSpPr>
          <p:cNvPr id="8" name="TextBox 7"/>
          <p:cNvSpPr txBox="1"/>
          <p:nvPr/>
        </p:nvSpPr>
        <p:spPr>
          <a:xfrm>
            <a:off x="5943600" y="3886200"/>
            <a:ext cx="5422392" cy="274320"/>
          </a:xfrm>
          <a:prstGeom prst="rect">
            <a:avLst/>
          </a:prstGeom>
          <a:noFill/>
        </p:spPr>
        <p:txBody>
          <a:bodyPr wrap="square" anchor="t"/>
          <a:lstStyle/>
          <a:p>
            <a:pPr algn="l"/>
            <a:r>
              <a:rPr sz="1300" b="1" i="0">
                <a:solidFill>
                  <a:srgbClr val="00B4D8"/>
                </a:solidFill>
                <a:latin typeface="Calibri"/>
              </a:rPr>
              <a:t>Heuristic Validation (no runtime LLM)</a:t>
            </a:r>
          </a:p>
        </p:txBody>
      </p:sp>
      <p:graphicFrame>
        <p:nvGraphicFramePr>
          <p:cNvPr id="9" name="Table 8"/>
          <p:cNvGraphicFramePr>
            <a:graphicFrameLocks noGrp="1"/>
          </p:cNvGraphicFramePr>
          <p:nvPr/>
        </p:nvGraphicFramePr>
        <p:xfrm>
          <a:off x="5943600" y="4251960"/>
          <a:ext cx="3795674.4" cy="2084832"/>
        </p:xfrm>
        <a:graphic>
          <a:graphicData uri="http://schemas.openxmlformats.org/drawingml/2006/table">
            <a:tbl>
              <a:tblPr firstRow="0" bandRow="0" lastRow="0" bandCol="0">
                <a:tableStyleId>{5C22544A-7EE6-4342-B048-85BDC9FD1C3A}</a:tableStyleId>
              </a:tblPr>
              <a:tblGrid>
                <a:gridCol w="1897837"/>
                <a:gridCol w="1897837"/>
              </a:tblGrid>
              <a:tr h="347472">
                <a:tc>
                  <a:txBody>
                    <a:bodyPr/>
                    <a:lstStyle/>
                    <a:p>
                      <a:pPr algn="ctr"/>
                      <a:r>
                        <a:rPr sz="1000" b="1" i="0">
                          <a:solidFill>
                            <a:srgbClr val="FFFFFF"/>
                          </a:solidFill>
                          <a:latin typeface="Calibri"/>
                        </a:rPr>
                        <a:t>Metric</a:t>
                      </a:r>
                    </a:p>
                  </a:txBody>
                  <a:tcPr>
                    <a:solidFill>
                      <a:srgbClr val="00b4d8"/>
                    </a:solidFill>
                  </a:tcPr>
                </a:tc>
                <a:tc>
                  <a:txBody>
                    <a:bodyPr/>
                    <a:lstStyle/>
                    <a:p>
                      <a:pPr algn="ctr"/>
                      <a:r>
                        <a:rPr sz="1000" b="1" i="0">
                          <a:solidFill>
                            <a:srgbClr val="FFFFFF"/>
                          </a:solidFill>
                          <a:latin typeface="Calibri"/>
                        </a:rPr>
                        <a:t>Value</a:t>
                      </a:r>
                    </a:p>
                  </a:txBody>
                  <a:tcPr>
                    <a:solidFill>
                      <a:srgbClr val="00b4d8"/>
                    </a:solidFill>
                  </a:tcPr>
                </a:tc>
              </a:tr>
              <a:tr h="347472">
                <a:tc>
                  <a:txBody>
                    <a:bodyPr/>
                    <a:lstStyle/>
                    <a:p>
                      <a:pPr algn="l"/>
                      <a:r>
                        <a:rPr sz="1000" b="0" i="0">
                          <a:solidFill>
                            <a:srgbClr val="FFFFFF"/>
                          </a:solidFill>
                          <a:latin typeface="Calibri"/>
                        </a:rPr>
                        <a:t>Mean r</a:t>
                      </a:r>
                    </a:p>
                  </a:txBody>
                  <a:tcPr>
                    <a:solidFill>
                      <a:srgbClr val="0d1b2a"/>
                    </a:solidFill>
                  </a:tcPr>
                </a:tc>
                <a:tc>
                  <a:txBody>
                    <a:bodyPr/>
                    <a:lstStyle/>
                    <a:p>
                      <a:pPr algn="l"/>
                      <a:r>
                        <a:rPr sz="1000" b="0" i="0">
                          <a:solidFill>
                            <a:srgbClr val="FFFFFF"/>
                          </a:solidFill>
                          <a:latin typeface="Calibri"/>
                        </a:rPr>
                        <a:t>0.925 (std 0.015)</a:t>
                      </a:r>
                    </a:p>
                  </a:txBody>
                  <a:tcPr>
                    <a:solidFill>
                      <a:srgbClr val="0d1b2a"/>
                    </a:solidFill>
                  </a:tcPr>
                </a:tc>
              </a:tr>
              <a:tr h="347472">
                <a:tc>
                  <a:txBody>
                    <a:bodyPr/>
                    <a:lstStyle/>
                    <a:p>
                      <a:pPr algn="l"/>
                      <a:r>
                        <a:rPr sz="1000" b="0" i="0">
                          <a:solidFill>
                            <a:srgbClr val="FFFFFF"/>
                          </a:solidFill>
                          <a:latin typeface="Calibri"/>
                        </a:rPr>
                        <a:t>Agreement</a:t>
                      </a:r>
                    </a:p>
                  </a:txBody>
                  <a:tcPr>
                    <a:solidFill>
                      <a:srgbClr val="152a40"/>
                    </a:solidFill>
                  </a:tcPr>
                </a:tc>
                <a:tc>
                  <a:txBody>
                    <a:bodyPr/>
                    <a:lstStyle/>
                    <a:p>
                      <a:pPr algn="l"/>
                      <a:r>
                        <a:rPr sz="1000" b="0" i="0">
                          <a:solidFill>
                            <a:srgbClr val="FFFFFF"/>
                          </a:solidFill>
                          <a:latin typeface="Calibri"/>
                        </a:rPr>
                        <a:t>88.6%</a:t>
                      </a:r>
                    </a:p>
                  </a:txBody>
                  <a:tcPr>
                    <a:solidFill>
                      <a:srgbClr val="152a40"/>
                    </a:solidFill>
                  </a:tcPr>
                </a:tc>
              </a:tr>
              <a:tr h="347472">
                <a:tc>
                  <a:txBody>
                    <a:bodyPr/>
                    <a:lstStyle/>
                    <a:p>
                      <a:pPr algn="l"/>
                      <a:r>
                        <a:rPr sz="1000" b="0" i="0">
                          <a:solidFill>
                            <a:srgbClr val="FFFFFF"/>
                          </a:solidFill>
                          <a:latin typeface="Calibri"/>
                        </a:rPr>
                        <a:t>Cohen's κ</a:t>
                      </a:r>
                    </a:p>
                  </a:txBody>
                  <a:tcPr>
                    <a:solidFill>
                      <a:srgbClr val="0d1b2a"/>
                    </a:solidFill>
                  </a:tcPr>
                </a:tc>
                <a:tc>
                  <a:txBody>
                    <a:bodyPr/>
                    <a:lstStyle/>
                    <a:p>
                      <a:pPr algn="l"/>
                      <a:r>
                        <a:rPr sz="1000" b="0" i="0">
                          <a:solidFill>
                            <a:srgbClr val="FFFFFF"/>
                          </a:solidFill>
                          <a:latin typeface="Calibri"/>
                        </a:rPr>
                        <a:t>0.773</a:t>
                      </a:r>
                    </a:p>
                  </a:txBody>
                  <a:tcPr>
                    <a:solidFill>
                      <a:srgbClr val="0d1b2a"/>
                    </a:solidFill>
                  </a:tcPr>
                </a:tc>
              </a:tr>
              <a:tr h="347472">
                <a:tc>
                  <a:txBody>
                    <a:bodyPr/>
                    <a:lstStyle/>
                    <a:p>
                      <a:pPr algn="l"/>
                      <a:r>
                        <a:rPr sz="1000" b="0" i="0">
                          <a:solidFill>
                            <a:srgbClr val="FFFFFF"/>
                          </a:solidFill>
                          <a:latin typeface="Calibri"/>
                        </a:rPr>
                        <a:t>Recall (IS≥3)</a:t>
                      </a:r>
                    </a:p>
                  </a:txBody>
                  <a:tcPr>
                    <a:solidFill>
                      <a:srgbClr val="152a40"/>
                    </a:solidFill>
                  </a:tcPr>
                </a:tc>
                <a:tc>
                  <a:txBody>
                    <a:bodyPr/>
                    <a:lstStyle/>
                    <a:p>
                      <a:pPr algn="l"/>
                      <a:r>
                        <a:rPr sz="1000" b="0" i="0">
                          <a:solidFill>
                            <a:srgbClr val="FFFFFF"/>
                          </a:solidFill>
                          <a:latin typeface="Calibri"/>
                        </a:rPr>
                        <a:t>97.6–100%</a:t>
                      </a:r>
                    </a:p>
                  </a:txBody>
                  <a:tcPr>
                    <a:solidFill>
                      <a:srgbClr val="152a40"/>
                    </a:solidFill>
                  </a:tcPr>
                </a:tc>
              </a:tr>
              <a:tr h="347472">
                <a:tc>
                  <a:txBody>
                    <a:bodyPr/>
                    <a:lstStyle/>
                    <a:p>
                      <a:pPr algn="l"/>
                      <a:r>
                        <a:rPr sz="1000" b="0" i="0">
                          <a:solidFill>
                            <a:srgbClr val="FFFFFF"/>
                          </a:solidFill>
                          <a:latin typeface="Calibri"/>
                        </a:rPr>
                        <a:t>Config range</a:t>
                      </a:r>
                    </a:p>
                  </a:txBody>
                  <a:tcPr>
                    <a:solidFill>
                      <a:srgbClr val="0d1b2a"/>
                    </a:solidFill>
                  </a:tcPr>
                </a:tc>
                <a:tc>
                  <a:txBody>
                    <a:bodyPr/>
                    <a:lstStyle/>
                    <a:p>
                      <a:pPr algn="l"/>
                      <a:r>
                        <a:rPr sz="1000" b="0" i="0">
                          <a:solidFill>
                            <a:srgbClr val="FFFFFF"/>
                          </a:solidFill>
                          <a:latin typeface="Calibri"/>
                        </a:rPr>
                        <a:t>κ 0.62–0.86</a:t>
                      </a:r>
                    </a:p>
                  </a:txBody>
                  <a:tcPr>
                    <a:solidFill>
                      <a:srgbClr val="0d1b2a"/>
                    </a:solidFill>
                  </a:tcPr>
                </a:tc>
              </a:tr>
            </a:tbl>
          </a:graphicData>
        </a:graphic>
      </p:graphicFrame>
      <p:pic>
        <p:nvPicPr>
          <p:cNvPr id="10" name="Picture 9"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1" name="TextBox 10"/>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A3</a:t>
            </a:r>
          </a:p>
        </p:txBody>
      </p:sp>
    </p:spTree>
  </p:cSld>
  <p:clrMapOvr>
    <a:masterClrMapping/>
  </p:clrMapOvr>
  <p:transition spd="med"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A4: LLM Salvage — Recoverable Segments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120640" cy="274320"/>
          </a:xfrm>
          <a:prstGeom prst="rect">
            <a:avLst/>
          </a:prstGeom>
          <a:noFill/>
        </p:spPr>
        <p:txBody>
          <a:bodyPr wrap="square" anchor="t"/>
          <a:lstStyle/>
          <a:p>
            <a:pPr algn="l"/>
            <a:r>
              <a:rPr sz="1400" b="1" i="0">
                <a:solidFill>
                  <a:srgbClr val="00B4D8"/>
                </a:solidFill>
                <a:latin typeface="Calibri"/>
              </a:rPr>
              <a:t>Key Numbers</a:t>
            </a:r>
          </a:p>
        </p:txBody>
      </p:sp>
      <p:graphicFrame>
        <p:nvGraphicFramePr>
          <p:cNvPr id="5" name="Table 4"/>
          <p:cNvGraphicFramePr>
            <a:graphicFrameLocks noGrp="1"/>
          </p:cNvGraphicFramePr>
          <p:nvPr/>
        </p:nvGraphicFramePr>
        <p:xfrm>
          <a:off x="548640" y="1691640"/>
          <a:ext cx="5120640" cy="2084832"/>
        </p:xfrm>
        <a:graphic>
          <a:graphicData uri="http://schemas.openxmlformats.org/drawingml/2006/table">
            <a:tbl>
              <a:tblPr firstRow="0" bandRow="0" lastRow="0" bandCol="0">
                <a:tableStyleId>{5C22544A-7EE6-4342-B048-85BDC9FD1C3A}</a:tableStyleId>
              </a:tblPr>
              <a:tblGrid>
                <a:gridCol w="2560320"/>
                <a:gridCol w="2560320"/>
              </a:tblGrid>
              <a:tr h="347472">
                <a:tc>
                  <a:txBody>
                    <a:bodyPr/>
                    <a:lstStyle/>
                    <a:p>
                      <a:pPr algn="ctr"/>
                      <a:r>
                        <a:rPr sz="1100" b="1" i="0">
                          <a:solidFill>
                            <a:srgbClr val="FFFFFF"/>
                          </a:solidFill>
                          <a:latin typeface="Calibri"/>
                        </a:rPr>
                        <a:t>Metric</a:t>
                      </a:r>
                    </a:p>
                  </a:txBody>
                  <a:tcPr>
                    <a:solidFill>
                      <a:srgbClr val="00b4d8"/>
                    </a:solidFill>
                  </a:tcPr>
                </a:tc>
                <a:tc>
                  <a:txBody>
                    <a:bodyPr/>
                    <a:lstStyle/>
                    <a:p>
                      <a:pPr algn="ctr"/>
                      <a:r>
                        <a:rPr sz="1100" b="1" i="0">
                          <a:solidFill>
                            <a:srgbClr val="FFFFFF"/>
                          </a:solidFill>
                          <a:latin typeface="Calibri"/>
                        </a:rPr>
                        <a:t>Value</a:t>
                      </a:r>
                    </a:p>
                  </a:txBody>
                  <a:tcPr>
                    <a:solidFill>
                      <a:srgbClr val="00b4d8"/>
                    </a:solidFill>
                  </a:tcPr>
                </a:tc>
              </a:tr>
              <a:tr h="347472">
                <a:tc>
                  <a:txBody>
                    <a:bodyPr/>
                    <a:lstStyle/>
                    <a:p>
                      <a:pPr algn="l"/>
                      <a:r>
                        <a:rPr sz="1100" b="0" i="0">
                          <a:solidFill>
                            <a:srgbClr val="FFFFFF"/>
                          </a:solidFill>
                          <a:latin typeface="Calibri"/>
                        </a:rPr>
                        <a:t>Metric-failed segments</a:t>
                      </a:r>
                    </a:p>
                  </a:txBody>
                  <a:tcPr>
                    <a:solidFill>
                      <a:srgbClr val="0d1b2a"/>
                    </a:solidFill>
                  </a:tcPr>
                </a:tc>
                <a:tc>
                  <a:txBody>
                    <a:bodyPr/>
                    <a:lstStyle/>
                    <a:p>
                      <a:pPr algn="l"/>
                      <a:r>
                        <a:rPr sz="1100" b="0" i="0">
                          <a:solidFill>
                            <a:srgbClr val="FFFFFF"/>
                          </a:solidFill>
                          <a:latin typeface="Calibri"/>
                        </a:rPr>
                        <a:t>900</a:t>
                      </a:r>
                    </a:p>
                  </a:txBody>
                  <a:tcPr>
                    <a:solidFill>
                      <a:srgbClr val="0d1b2a"/>
                    </a:solidFill>
                  </a:tcPr>
                </a:tc>
              </a:tr>
              <a:tr h="347472">
                <a:tc>
                  <a:txBody>
                    <a:bodyPr/>
                    <a:lstStyle/>
                    <a:p>
                      <a:pPr algn="l"/>
                      <a:r>
                        <a:rPr sz="1100" b="0" i="0">
                          <a:solidFill>
                            <a:srgbClr val="FFFFFF"/>
                          </a:solidFill>
                          <a:latin typeface="Calibri"/>
                        </a:rPr>
                        <a:t>LLM-recoverable</a:t>
                      </a:r>
                    </a:p>
                  </a:txBody>
                  <a:tcPr>
                    <a:solidFill>
                      <a:srgbClr val="152a40"/>
                    </a:solidFill>
                  </a:tcPr>
                </a:tc>
                <a:tc>
                  <a:txBody>
                    <a:bodyPr/>
                    <a:lstStyle/>
                    <a:p>
                      <a:pPr algn="l"/>
                      <a:r>
                        <a:rPr sz="1100" b="0" i="0">
                          <a:solidFill>
                            <a:srgbClr val="00B4D8"/>
                          </a:solidFill>
                          <a:latin typeface="Calibri"/>
                        </a:rPr>
                        <a:t>165 (18.3%)</a:t>
                      </a:r>
                    </a:p>
                  </a:txBody>
                  <a:tcPr>
                    <a:solidFill>
                      <a:srgbClr val="152a40"/>
                    </a:solidFill>
                  </a:tcPr>
                </a:tc>
              </a:tr>
              <a:tr h="347472">
                <a:tc>
                  <a:txBody>
                    <a:bodyPr/>
                    <a:lstStyle/>
                    <a:p>
                      <a:pPr algn="l"/>
                      <a:r>
                        <a:rPr sz="1100" b="0" i="0">
                          <a:solidFill>
                            <a:srgbClr val="FFFFFF"/>
                          </a:solidFill>
                          <a:latin typeface="Calibri"/>
                        </a:rPr>
                        <a:t>Metric capture (IS ≥ 3.0)</a:t>
                      </a:r>
                    </a:p>
                  </a:txBody>
                  <a:tcPr>
                    <a:solidFill>
                      <a:srgbClr val="0d1b2a"/>
                    </a:solidFill>
                  </a:tcPr>
                </a:tc>
                <a:tc>
                  <a:txBody>
                    <a:bodyPr/>
                    <a:lstStyle/>
                    <a:p>
                      <a:pPr algn="l"/>
                      <a:r>
                        <a:rPr sz="1100" b="0" i="0">
                          <a:solidFill>
                            <a:srgbClr val="FFFFFF"/>
                          </a:solidFill>
                          <a:latin typeface="Calibri"/>
                        </a:rPr>
                        <a:t>39.9%</a:t>
                      </a:r>
                    </a:p>
                  </a:txBody>
                  <a:tcPr>
                    <a:solidFill>
                      <a:srgbClr val="0d1b2a"/>
                    </a:solidFill>
                  </a:tcPr>
                </a:tc>
              </a:tr>
              <a:tr h="347472">
                <a:tc>
                  <a:txBody>
                    <a:bodyPr/>
                    <a:lstStyle/>
                    <a:p>
                      <a:pPr algn="l"/>
                      <a:r>
                        <a:rPr sz="1100" b="0" i="0">
                          <a:solidFill>
                            <a:srgbClr val="FFFFFF"/>
                          </a:solidFill>
                          <a:latin typeface="Calibri"/>
                        </a:rPr>
                        <a:t>Effective capture</a:t>
                      </a:r>
                    </a:p>
                  </a:txBody>
                  <a:tcPr>
                    <a:solidFill>
                      <a:srgbClr val="152a40"/>
                    </a:solidFill>
                  </a:tcPr>
                </a:tc>
                <a:tc>
                  <a:txBody>
                    <a:bodyPr/>
                    <a:lstStyle/>
                    <a:p>
                      <a:pPr algn="l"/>
                      <a:r>
                        <a:rPr sz="1100" b="0" i="0">
                          <a:solidFill>
                            <a:srgbClr val="00B4D8"/>
                          </a:solidFill>
                          <a:latin typeface="Calibri"/>
                        </a:rPr>
                        <a:t>50.9%</a:t>
                      </a:r>
                    </a:p>
                  </a:txBody>
                  <a:tcPr>
                    <a:solidFill>
                      <a:srgbClr val="152a40"/>
                    </a:solidFill>
                  </a:tcPr>
                </a:tc>
              </a:tr>
              <a:tr h="347472">
                <a:tc>
                  <a:txBody>
                    <a:bodyPr/>
                    <a:lstStyle/>
                    <a:p>
                      <a:pPr algn="l"/>
                      <a:r>
                        <a:rPr sz="1100" b="0" i="0">
                          <a:solidFill>
                            <a:srgbClr val="FFFFFF"/>
                          </a:solidFill>
                          <a:latin typeface="Calibri"/>
                        </a:rPr>
                        <a:t>Uplift</a:t>
                      </a:r>
                    </a:p>
                  </a:txBody>
                  <a:tcPr>
                    <a:solidFill>
                      <a:srgbClr val="0d1b2a"/>
                    </a:solidFill>
                  </a:tcPr>
                </a:tc>
                <a:tc>
                  <a:txBody>
                    <a:bodyPr/>
                    <a:lstStyle/>
                    <a:p>
                      <a:pPr algn="l"/>
                      <a:r>
                        <a:rPr sz="1100" b="0" i="0">
                          <a:solidFill>
                            <a:srgbClr val="FFFFFF"/>
                          </a:solidFill>
                          <a:latin typeface="Calibri"/>
                        </a:rPr>
                        <a:t>+11.0pp (+27.6% rel.)</a:t>
                      </a:r>
                    </a:p>
                  </a:txBody>
                  <a:tcPr>
                    <a:solidFill>
                      <a:srgbClr val="0d1b2a"/>
                    </a:solidFill>
                  </a:tcPr>
                </a:tc>
              </a:tr>
            </a:tbl>
          </a:graphicData>
        </a:graphic>
      </p:graphicFrame>
      <p:sp>
        <p:nvSpPr>
          <p:cNvPr id="6" name="TextBox 5"/>
          <p:cNvSpPr txBox="1"/>
          <p:nvPr/>
        </p:nvSpPr>
        <p:spPr>
          <a:xfrm>
            <a:off x="548640" y="3886200"/>
            <a:ext cx="5120640" cy="548640"/>
          </a:xfrm>
          <a:prstGeom prst="rect">
            <a:avLst/>
          </a:prstGeom>
          <a:noFill/>
        </p:spPr>
        <p:txBody>
          <a:bodyPr wrap="square" anchor="t"/>
          <a:lstStyle/>
          <a:p>
            <a:pPr algn="l"/>
            <a:r>
              <a:rPr sz="1100" b="0" i="0">
                <a:solidFill>
                  <a:srgbClr val="AAAAAA"/>
                </a:solidFill>
                <a:latin typeface="Calibri"/>
              </a:rPr>
              <a:t>58% of salvageable have moderate WER (50–70%).</a:t>
            </a:r>
            <a:br/>
            <a:r>
              <a:rPr sz="1100" b="0" i="0">
                <a:solidFill>
                  <a:srgbClr val="AAAAAA"/>
                </a:solidFill>
                <a:latin typeface="Calibri"/>
              </a:rPr>
              <a:t>Decision tree: 15 rules, r=0.934 with IS.</a:t>
            </a:r>
          </a:p>
        </p:txBody>
      </p:sp>
      <p:sp>
        <p:nvSpPr>
          <p:cNvPr id="7" name="TextBox 6"/>
          <p:cNvSpPr txBox="1"/>
          <p:nvPr/>
        </p:nvSpPr>
        <p:spPr>
          <a:xfrm>
            <a:off x="5943600" y="1325880"/>
            <a:ext cx="5422392" cy="274320"/>
          </a:xfrm>
          <a:prstGeom prst="rect">
            <a:avLst/>
          </a:prstGeom>
          <a:noFill/>
        </p:spPr>
        <p:txBody>
          <a:bodyPr wrap="square" anchor="t"/>
          <a:lstStyle/>
          <a:p>
            <a:pPr algn="l"/>
            <a:r>
              <a:rPr sz="1400" b="1" i="0">
                <a:solidFill>
                  <a:srgbClr val="00B4D8"/>
                </a:solidFill>
                <a:latin typeface="Calibri"/>
              </a:rPr>
              <a:t>6 Recovery Categories</a:t>
            </a:r>
          </a:p>
        </p:txBody>
      </p:sp>
      <p:graphicFrame>
        <p:nvGraphicFramePr>
          <p:cNvPr id="8" name="Table 7"/>
          <p:cNvGraphicFramePr>
            <a:graphicFrameLocks noGrp="1"/>
          </p:cNvGraphicFramePr>
          <p:nvPr/>
        </p:nvGraphicFramePr>
        <p:xfrm>
          <a:off x="5943600" y="1691640"/>
          <a:ext cx="5422392" cy="2432304"/>
        </p:xfrm>
        <a:graphic>
          <a:graphicData uri="http://schemas.openxmlformats.org/drawingml/2006/table">
            <a:tbl>
              <a:tblPr firstRow="0" bandRow="0" lastRow="0" bandCol="0">
                <a:tableStyleId>{5C22544A-7EE6-4342-B048-85BDC9FD1C3A}</a:tableStyleId>
              </a:tblPr>
              <a:tblGrid>
                <a:gridCol w="1807464"/>
                <a:gridCol w="1807464"/>
                <a:gridCol w="1807464"/>
              </a:tblGrid>
              <a:tr h="347472">
                <a:tc>
                  <a:txBody>
                    <a:bodyPr/>
                    <a:lstStyle/>
                    <a:p>
                      <a:pPr algn="ctr"/>
                      <a:r>
                        <a:rPr sz="1100" b="1" i="0">
                          <a:solidFill>
                            <a:srgbClr val="FFFFFF"/>
                          </a:solidFill>
                          <a:latin typeface="Calibri"/>
                        </a:rPr>
                        <a:t>Category</a:t>
                      </a:r>
                    </a:p>
                  </a:txBody>
                  <a:tcPr>
                    <a:solidFill>
                      <a:srgbClr val="00b4d8"/>
                    </a:solidFill>
                  </a:tcPr>
                </a:tc>
                <a:tc>
                  <a:txBody>
                    <a:bodyPr/>
                    <a:lstStyle/>
                    <a:p>
                      <a:pPr algn="ctr"/>
                      <a:r>
                        <a:rPr sz="1100" b="1" i="0">
                          <a:solidFill>
                            <a:srgbClr val="FFFFFF"/>
                          </a:solidFill>
                          <a:latin typeface="Calibri"/>
                        </a:rPr>
                        <a:t>N</a:t>
                      </a:r>
                    </a:p>
                  </a:txBody>
                  <a:tcPr>
                    <a:solidFill>
                      <a:srgbClr val="00b4d8"/>
                    </a:solidFill>
                  </a:tcPr>
                </a:tc>
                <a:tc>
                  <a:txBody>
                    <a:bodyPr/>
                    <a:lstStyle/>
                    <a:p>
                      <a:pPr algn="ctr"/>
                      <a:r>
                        <a:rPr sz="1100" b="1" i="0">
                          <a:solidFill>
                            <a:srgbClr val="FFFFFF"/>
                          </a:solidFill>
                          <a:latin typeface="Calibri"/>
                        </a:rPr>
                        <a:t>Key Signal</a:t>
                      </a:r>
                    </a:p>
                  </a:txBody>
                  <a:tcPr>
                    <a:solidFill>
                      <a:srgbClr val="00b4d8"/>
                    </a:solidFill>
                  </a:tcPr>
                </a:tc>
              </a:tr>
              <a:tr h="347472">
                <a:tc>
                  <a:txBody>
                    <a:bodyPr/>
                    <a:lstStyle/>
                    <a:p>
                      <a:pPr algn="l"/>
                      <a:r>
                        <a:rPr sz="1100" b="0" i="0">
                          <a:solidFill>
                            <a:srgbClr val="FFFFFF"/>
                          </a:solidFill>
                          <a:latin typeface="Calibri"/>
                        </a:rPr>
                        <a:t>Hidden Gems</a:t>
                      </a:r>
                    </a:p>
                  </a:txBody>
                  <a:tcPr>
                    <a:solidFill>
                      <a:srgbClr val="0d1b2a"/>
                    </a:solidFill>
                  </a:tcPr>
                </a:tc>
                <a:tc>
                  <a:txBody>
                    <a:bodyPr/>
                    <a:lstStyle/>
                    <a:p>
                      <a:pPr algn="l"/>
                      <a:r>
                        <a:rPr sz="1100" b="0" i="0">
                          <a:solidFill>
                            <a:srgbClr val="FFFFFF"/>
                          </a:solidFill>
                          <a:latin typeface="Calibri"/>
                        </a:rPr>
                        <a:t>54</a:t>
                      </a:r>
                    </a:p>
                  </a:txBody>
                  <a:tcPr>
                    <a:solidFill>
                      <a:srgbClr val="0d1b2a"/>
                    </a:solidFill>
                  </a:tcPr>
                </a:tc>
                <a:tc>
                  <a:txBody>
                    <a:bodyPr/>
                    <a:lstStyle/>
                    <a:p>
                      <a:pPr algn="l"/>
                      <a:r>
                        <a:rPr sz="1100" b="0" i="0">
                          <a:solidFill>
                            <a:srgbClr val="FFFFFF"/>
                          </a:solidFill>
                          <a:latin typeface="Calibri"/>
                        </a:rPr>
                        <a:t>LLM prob ≥ 0.8</a:t>
                      </a:r>
                    </a:p>
                  </a:txBody>
                  <a:tcPr>
                    <a:solidFill>
                      <a:srgbClr val="0d1b2a"/>
                    </a:solidFill>
                  </a:tcPr>
                </a:tc>
              </a:tr>
              <a:tr h="347472">
                <a:tc>
                  <a:txBody>
                    <a:bodyPr/>
                    <a:lstStyle/>
                    <a:p>
                      <a:pPr algn="l"/>
                      <a:r>
                        <a:rPr sz="1100" b="0" i="0">
                          <a:solidFill>
                            <a:srgbClr val="FFFFFF"/>
                          </a:solidFill>
                          <a:latin typeface="Calibri"/>
                        </a:rPr>
                        <a:t>Semantic Pres.</a:t>
                      </a:r>
                    </a:p>
                  </a:txBody>
                  <a:tcPr>
                    <a:solidFill>
                      <a:srgbClr val="152a40"/>
                    </a:solidFill>
                  </a:tcPr>
                </a:tc>
                <a:tc>
                  <a:txBody>
                    <a:bodyPr/>
                    <a:lstStyle/>
                    <a:p>
                      <a:pPr algn="l"/>
                      <a:r>
                        <a:rPr sz="1100" b="0" i="0">
                          <a:solidFill>
                            <a:srgbClr val="FFFFFF"/>
                          </a:solidFill>
                          <a:latin typeface="Calibri"/>
                        </a:rPr>
                        <a:t>57</a:t>
                      </a:r>
                    </a:p>
                  </a:txBody>
                  <a:tcPr>
                    <a:solidFill>
                      <a:srgbClr val="152a40"/>
                    </a:solidFill>
                  </a:tcPr>
                </a:tc>
                <a:tc>
                  <a:txBody>
                    <a:bodyPr/>
                    <a:lstStyle/>
                    <a:p>
                      <a:pPr algn="l"/>
                      <a:r>
                        <a:rPr sz="1100" b="0" i="0">
                          <a:solidFill>
                            <a:srgbClr val="FFFFFF"/>
                          </a:solidFill>
                          <a:latin typeface="Calibri"/>
                        </a:rPr>
                        <a:t>Semantic ≥ 0.5</a:t>
                      </a:r>
                    </a:p>
                  </a:txBody>
                  <a:tcPr>
                    <a:solidFill>
                      <a:srgbClr val="152a40"/>
                    </a:solidFill>
                  </a:tcPr>
                </a:tc>
              </a:tr>
              <a:tr h="347472">
                <a:tc>
                  <a:txBody>
                    <a:bodyPr/>
                    <a:lstStyle/>
                    <a:p>
                      <a:pPr algn="l"/>
                      <a:r>
                        <a:rPr sz="1100" b="0" i="0">
                          <a:solidFill>
                            <a:srgbClr val="FFFFFF"/>
                          </a:solidFill>
                          <a:latin typeface="Calibri"/>
                        </a:rPr>
                        <a:t>Phonetic Bridge</a:t>
                      </a:r>
                    </a:p>
                  </a:txBody>
                  <a:tcPr>
                    <a:solidFill>
                      <a:srgbClr val="0d1b2a"/>
                    </a:solidFill>
                  </a:tcPr>
                </a:tc>
                <a:tc>
                  <a:txBody>
                    <a:bodyPr/>
                    <a:lstStyle/>
                    <a:p>
                      <a:pPr algn="l"/>
                      <a:r>
                        <a:rPr sz="1100" b="0" i="0">
                          <a:solidFill>
                            <a:srgbClr val="FFFFFF"/>
                          </a:solidFill>
                          <a:latin typeface="Calibri"/>
                        </a:rPr>
                        <a:t>93</a:t>
                      </a:r>
                    </a:p>
                  </a:txBody>
                  <a:tcPr>
                    <a:solidFill>
                      <a:srgbClr val="0d1b2a"/>
                    </a:solidFill>
                  </a:tcPr>
                </a:tc>
                <a:tc>
                  <a:txBody>
                    <a:bodyPr/>
                    <a:lstStyle/>
                    <a:p>
                      <a:pPr algn="l"/>
                      <a:r>
                        <a:rPr sz="1100" b="0" i="0">
                          <a:solidFill>
                            <a:srgbClr val="FFFFFF"/>
                          </a:solidFill>
                          <a:latin typeface="Calibri"/>
                        </a:rPr>
                        <a:t>Phonetic ≥ 0.6</a:t>
                      </a:r>
                    </a:p>
                  </a:txBody>
                  <a:tcPr>
                    <a:solidFill>
                      <a:srgbClr val="0d1b2a"/>
                    </a:solidFill>
                  </a:tcPr>
                </a:tc>
              </a:tr>
              <a:tr h="347472">
                <a:tc>
                  <a:txBody>
                    <a:bodyPr/>
                    <a:lstStyle/>
                    <a:p>
                      <a:pPr algn="l"/>
                      <a:r>
                        <a:rPr sz="1100" b="0" i="0">
                          <a:solidFill>
                            <a:srgbClr val="FFFFFF"/>
                          </a:solidFill>
                          <a:latin typeface="Calibri"/>
                        </a:rPr>
                        <a:t>Entity-Preserved</a:t>
                      </a:r>
                    </a:p>
                  </a:txBody>
                  <a:tcPr>
                    <a:solidFill>
                      <a:srgbClr val="152a40"/>
                    </a:solidFill>
                  </a:tcPr>
                </a:tc>
                <a:tc>
                  <a:txBody>
                    <a:bodyPr/>
                    <a:lstStyle/>
                    <a:p>
                      <a:pPr algn="l"/>
                      <a:r>
                        <a:rPr sz="1100" b="0" i="0">
                          <a:solidFill>
                            <a:srgbClr val="FFFFFF"/>
                          </a:solidFill>
                          <a:latin typeface="Calibri"/>
                        </a:rPr>
                        <a:t>44</a:t>
                      </a:r>
                    </a:p>
                  </a:txBody>
                  <a:tcPr>
                    <a:solidFill>
                      <a:srgbClr val="152a40"/>
                    </a:solidFill>
                  </a:tcPr>
                </a:tc>
                <a:tc>
                  <a:txBody>
                    <a:bodyPr/>
                    <a:lstStyle/>
                    <a:p>
                      <a:pPr algn="l"/>
                      <a:r>
                        <a:rPr sz="1100" b="0" i="0">
                          <a:solidFill>
                            <a:srgbClr val="FFFFFF"/>
                          </a:solidFill>
                          <a:latin typeface="Calibri"/>
                        </a:rPr>
                        <a:t>NEA F1 ≥ 50%</a:t>
                      </a:r>
                    </a:p>
                  </a:txBody>
                  <a:tcPr>
                    <a:solidFill>
                      <a:srgbClr val="152a40"/>
                    </a:solidFill>
                  </a:tcPr>
                </a:tc>
              </a:tr>
              <a:tr h="347472">
                <a:tc>
                  <a:txBody>
                    <a:bodyPr/>
                    <a:lstStyle/>
                    <a:p>
                      <a:pPr algn="l"/>
                      <a:r>
                        <a:rPr sz="1100" b="0" i="0">
                          <a:solidFill>
                            <a:srgbClr val="FFFFFF"/>
                          </a:solidFill>
                          <a:latin typeface="Calibri"/>
                        </a:rPr>
                        <a:t>Structure Match</a:t>
                      </a:r>
                    </a:p>
                  </a:txBody>
                  <a:tcPr>
                    <a:solidFill>
                      <a:srgbClr val="0d1b2a"/>
                    </a:solidFill>
                  </a:tcPr>
                </a:tc>
                <a:tc>
                  <a:txBody>
                    <a:bodyPr/>
                    <a:lstStyle/>
                    <a:p>
                      <a:pPr algn="l"/>
                      <a:r>
                        <a:rPr sz="1100" b="0" i="0">
                          <a:solidFill>
                            <a:srgbClr val="FFFFFF"/>
                          </a:solidFill>
                          <a:latin typeface="Calibri"/>
                        </a:rPr>
                        <a:t>74</a:t>
                      </a:r>
                    </a:p>
                  </a:txBody>
                  <a:tcPr>
                    <a:solidFill>
                      <a:srgbClr val="0d1b2a"/>
                    </a:solidFill>
                  </a:tcPr>
                </a:tc>
                <a:tc>
                  <a:txBody>
                    <a:bodyPr/>
                    <a:lstStyle/>
                    <a:p>
                      <a:pPr algn="l"/>
                      <a:r>
                        <a:rPr sz="1100" b="0" i="0">
                          <a:solidFill>
                            <a:srgbClr val="FFFFFF"/>
                          </a:solidFill>
                          <a:latin typeface="Calibri"/>
                        </a:rPr>
                        <a:t>Word order intact</a:t>
                      </a:r>
                    </a:p>
                  </a:txBody>
                  <a:tcPr>
                    <a:solidFill>
                      <a:srgbClr val="0d1b2a"/>
                    </a:solidFill>
                  </a:tcPr>
                </a:tc>
              </a:tr>
              <a:tr h="347472">
                <a:tc>
                  <a:txBody>
                    <a:bodyPr/>
                    <a:lstStyle/>
                    <a:p>
                      <a:pPr algn="l"/>
                      <a:r>
                        <a:rPr sz="1100" b="0" i="0">
                          <a:solidFill>
                            <a:srgbClr val="FFFFFF"/>
                          </a:solidFill>
                          <a:latin typeface="Calibri"/>
                        </a:rPr>
                        <a:t>WER Over-Punish.</a:t>
                      </a:r>
                    </a:p>
                  </a:txBody>
                  <a:tcPr>
                    <a:solidFill>
                      <a:srgbClr val="152a40"/>
                    </a:solidFill>
                  </a:tcPr>
                </a:tc>
                <a:tc>
                  <a:txBody>
                    <a:bodyPr/>
                    <a:lstStyle/>
                    <a:p>
                      <a:pPr algn="l"/>
                      <a:r>
                        <a:rPr sz="1100" b="0" i="0">
                          <a:solidFill>
                            <a:srgbClr val="FFFFFF"/>
                          </a:solidFill>
                          <a:latin typeface="Calibri"/>
                        </a:rPr>
                        <a:t>27</a:t>
                      </a:r>
                    </a:p>
                  </a:txBody>
                  <a:tcPr>
                    <a:solidFill>
                      <a:srgbClr val="152a40"/>
                    </a:solidFill>
                  </a:tcPr>
                </a:tc>
                <a:tc>
                  <a:txBody>
                    <a:bodyPr/>
                    <a:lstStyle/>
                    <a:p>
                      <a:pPr algn="l"/>
                      <a:r>
                        <a:rPr sz="1100" b="0" i="0">
                          <a:solidFill>
                            <a:srgbClr val="FFFFFF"/>
                          </a:solidFill>
                          <a:latin typeface="Calibri"/>
                        </a:rPr>
                        <a:t>WER−WWER ≥ 10pp</a:t>
                      </a:r>
                    </a:p>
                  </a:txBody>
                  <a:tcPr>
                    <a:solidFill>
                      <a:srgbClr val="152a40"/>
                    </a:solidFill>
                  </a:tcPr>
                </a:tc>
              </a:tr>
            </a:tbl>
          </a:graphicData>
        </a:graphic>
      </p:graphicFrame>
      <p:sp>
        <p:nvSpPr>
          <p:cNvPr id="9" name="TextBox 8"/>
          <p:cNvSpPr txBox="1"/>
          <p:nvPr/>
        </p:nvSpPr>
        <p:spPr>
          <a:xfrm>
            <a:off x="5943600" y="4251960"/>
            <a:ext cx="5422392" cy="457200"/>
          </a:xfrm>
          <a:prstGeom prst="rect">
            <a:avLst/>
          </a:prstGeom>
          <a:noFill/>
        </p:spPr>
        <p:txBody>
          <a:bodyPr wrap="square" anchor="t"/>
          <a:lstStyle/>
          <a:p>
            <a:pPr algn="l"/>
            <a:r>
              <a:rPr sz="1100" b="0" i="1">
                <a:solidFill>
                  <a:srgbClr val="AAAAAA"/>
                </a:solidFill>
                <a:latin typeface="Calibri"/>
              </a:rPr>
              <a:t>Categories overlap — segments can exhibit multiple recovery signals. System delivers useful output for 1 in 2 segments.</a:t>
            </a:r>
          </a:p>
        </p:txBody>
      </p:sp>
      <p:pic>
        <p:nvPicPr>
          <p:cNvPr id="10" name="Picture 9"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1" name="TextBox 10"/>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A4</a:t>
            </a:r>
          </a:p>
        </p:txBody>
      </p:sp>
    </p:spTree>
  </p:cSld>
  <p:clrMapOvr>
    <a:masterClrMapping/>
  </p:clrMapOvr>
  <p:transition spd="med"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A5: LLM Salvage — Curated Examples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65760"/>
          </a:xfrm>
          <a:prstGeom prst="rect">
            <a:avLst/>
          </a:prstGeom>
          <a:noFill/>
        </p:spPr>
        <p:txBody>
          <a:bodyPr wrap="square" anchor="t"/>
          <a:lstStyle/>
          <a:p>
            <a:pPr algn="l"/>
            <a:r>
              <a:rPr sz="1300" b="0" i="0">
                <a:solidFill>
                  <a:srgbClr val="AAAAAA"/>
                </a:solidFill>
                <a:latin typeface="Calibri"/>
              </a:rPr>
              <a:t>One real example per recovery category — all IS &lt; 3.0 (metrics say "failed") but heuristic says recoverable:</a:t>
            </a:r>
          </a:p>
        </p:txBody>
      </p:sp>
      <p:graphicFrame>
        <p:nvGraphicFramePr>
          <p:cNvPr id="5" name="Table 4"/>
          <p:cNvGraphicFramePr>
            <a:graphicFrameLocks noGrp="1"/>
          </p:cNvGraphicFramePr>
          <p:nvPr/>
        </p:nvGraphicFramePr>
        <p:xfrm>
          <a:off x="548640" y="1874520"/>
          <a:ext cx="11091672" cy="2880360"/>
        </p:xfrm>
        <a:graphic>
          <a:graphicData uri="http://schemas.openxmlformats.org/drawingml/2006/table">
            <a:tbl>
              <a:tblPr firstRow="0" bandRow="0" lastRow="0" bandCol="0">
                <a:tableStyleId>{5C22544A-7EE6-4342-B048-85BDC9FD1C3A}</a:tableStyleId>
              </a:tblPr>
              <a:tblGrid>
                <a:gridCol w="1848612"/>
                <a:gridCol w="1848612"/>
                <a:gridCol w="1848612"/>
                <a:gridCol w="1848612"/>
                <a:gridCol w="1848612"/>
                <a:gridCol w="1848612"/>
              </a:tblGrid>
              <a:tr h="411480">
                <a:tc>
                  <a:txBody>
                    <a:bodyPr/>
                    <a:lstStyle/>
                    <a:p>
                      <a:pPr algn="ctr"/>
                      <a:r>
                        <a:rPr sz="900" b="1" i="0">
                          <a:solidFill>
                            <a:srgbClr val="FFFFFF"/>
                          </a:solidFill>
                          <a:latin typeface="Calibri"/>
                        </a:rPr>
                        <a:t>Category</a:t>
                      </a:r>
                    </a:p>
                  </a:txBody>
                  <a:tcPr>
                    <a:solidFill>
                      <a:srgbClr val="00b4d8"/>
                    </a:solidFill>
                  </a:tcPr>
                </a:tc>
                <a:tc>
                  <a:txBody>
                    <a:bodyPr/>
                    <a:lstStyle/>
                    <a:p>
                      <a:pPr algn="ctr"/>
                      <a:r>
                        <a:rPr sz="900" b="1" i="0">
                          <a:solidFill>
                            <a:srgbClr val="FFFFFF"/>
                          </a:solidFill>
                          <a:latin typeface="Calibri"/>
                        </a:rPr>
                        <a:t>Reference (excerpt)</a:t>
                      </a:r>
                    </a:p>
                  </a:txBody>
                  <a:tcPr>
                    <a:solidFill>
                      <a:srgbClr val="00b4d8"/>
                    </a:solidFill>
                  </a:tcPr>
                </a:tc>
                <a:tc>
                  <a:txBody>
                    <a:bodyPr/>
                    <a:lstStyle/>
                    <a:p>
                      <a:pPr algn="ctr"/>
                      <a:r>
                        <a:rPr sz="900" b="1" i="0">
                          <a:solidFill>
                            <a:srgbClr val="FFFFFF"/>
                          </a:solidFill>
                          <a:latin typeface="Calibri"/>
                        </a:rPr>
                        <a:t>Hypothesis (excerpt)</a:t>
                      </a:r>
                    </a:p>
                  </a:txBody>
                  <a:tcPr>
                    <a:solidFill>
                      <a:srgbClr val="00b4d8"/>
                    </a:solidFill>
                  </a:tcPr>
                </a:tc>
                <a:tc>
                  <a:txBody>
                    <a:bodyPr/>
                    <a:lstStyle/>
                    <a:p>
                      <a:pPr algn="ctr"/>
                      <a:r>
                        <a:rPr sz="900" b="1" i="0">
                          <a:solidFill>
                            <a:srgbClr val="FFFFFF"/>
                          </a:solidFill>
                          <a:latin typeface="Calibri"/>
                        </a:rPr>
                        <a:t>WER</a:t>
                      </a:r>
                    </a:p>
                  </a:txBody>
                  <a:tcPr>
                    <a:solidFill>
                      <a:srgbClr val="00b4d8"/>
                    </a:solidFill>
                  </a:tcPr>
                </a:tc>
                <a:tc>
                  <a:txBody>
                    <a:bodyPr/>
                    <a:lstStyle/>
                    <a:p>
                      <a:pPr algn="ctr"/>
                      <a:r>
                        <a:rPr sz="900" b="1" i="0">
                          <a:solidFill>
                            <a:srgbClr val="FFFFFF"/>
                          </a:solidFill>
                          <a:latin typeface="Calibri"/>
                        </a:rPr>
                        <a:t>IS</a:t>
                      </a:r>
                    </a:p>
                  </a:txBody>
                  <a:tcPr>
                    <a:solidFill>
                      <a:srgbClr val="00b4d8"/>
                    </a:solidFill>
                  </a:tcPr>
                </a:tc>
                <a:tc>
                  <a:txBody>
                    <a:bodyPr/>
                    <a:lstStyle/>
                    <a:p>
                      <a:pPr algn="ctr"/>
                      <a:r>
                        <a:rPr sz="900" b="1" i="0">
                          <a:solidFill>
                            <a:srgbClr val="FFFFFF"/>
                          </a:solidFill>
                          <a:latin typeface="Calibri"/>
                        </a:rPr>
                        <a:t>LLM</a:t>
                      </a:r>
                    </a:p>
                  </a:txBody>
                  <a:tcPr>
                    <a:solidFill>
                      <a:srgbClr val="00b4d8"/>
                    </a:solidFill>
                  </a:tcPr>
                </a:tc>
              </a:tr>
              <a:tr h="411480">
                <a:tc>
                  <a:txBody>
                    <a:bodyPr/>
                    <a:lstStyle/>
                    <a:p>
                      <a:pPr algn="l"/>
                      <a:r>
                        <a:rPr sz="900" b="0" i="0">
                          <a:solidFill>
                            <a:srgbClr val="FFFFFF"/>
                          </a:solidFill>
                          <a:latin typeface="Calibri"/>
                        </a:rPr>
                        <a:t>Hidden Gem</a:t>
                      </a:r>
                    </a:p>
                  </a:txBody>
                  <a:tcPr>
                    <a:solidFill>
                      <a:srgbClr val="0d1b2a"/>
                    </a:solidFill>
                  </a:tcPr>
                </a:tc>
                <a:tc>
                  <a:txBody>
                    <a:bodyPr/>
                    <a:lstStyle/>
                    <a:p>
                      <a:pPr algn="l"/>
                      <a:r>
                        <a:rPr sz="900" b="0" i="0">
                          <a:solidFill>
                            <a:srgbClr val="FFFFFF"/>
                          </a:solidFill>
                          <a:latin typeface="Calibri"/>
                        </a:rPr>
                        <a:t>...opinions about reason and logic and all these other concepts...</a:t>
                      </a:r>
                    </a:p>
                  </a:txBody>
                  <a:tcPr>
                    <a:solidFill>
                      <a:srgbClr val="0d1b2a"/>
                    </a:solidFill>
                  </a:tcPr>
                </a:tc>
                <a:tc>
                  <a:txBody>
                    <a:bodyPr/>
                    <a:lstStyle/>
                    <a:p>
                      <a:pPr algn="l"/>
                      <a:r>
                        <a:rPr sz="900" b="0" i="0">
                          <a:solidFill>
                            <a:srgbClr val="FFFFFF"/>
                          </a:solidFill>
                          <a:latin typeface="Calibri"/>
                        </a:rPr>
                        <a:t>...our opinion is about reasoning and logic and all these...</a:t>
                      </a:r>
                    </a:p>
                  </a:txBody>
                  <a:tcPr>
                    <a:solidFill>
                      <a:srgbClr val="0d1b2a"/>
                    </a:solidFill>
                  </a:tcPr>
                </a:tc>
                <a:tc>
                  <a:txBody>
                    <a:bodyPr/>
                    <a:lstStyle/>
                    <a:p>
                      <a:pPr algn="l"/>
                      <a:r>
                        <a:rPr sz="900" b="0" i="0">
                          <a:solidFill>
                            <a:srgbClr val="FFFFFF"/>
                          </a:solidFill>
                          <a:latin typeface="Calibri"/>
                        </a:rPr>
                        <a:t>74%</a:t>
                      </a:r>
                    </a:p>
                  </a:txBody>
                  <a:tcPr>
                    <a:solidFill>
                      <a:srgbClr val="0d1b2a"/>
                    </a:solidFill>
                  </a:tcPr>
                </a:tc>
                <a:tc>
                  <a:txBody>
                    <a:bodyPr/>
                    <a:lstStyle/>
                    <a:p>
                      <a:pPr algn="l"/>
                      <a:r>
                        <a:rPr sz="900" b="0" i="0">
                          <a:solidFill>
                            <a:srgbClr val="FFFFFF"/>
                          </a:solidFill>
                          <a:latin typeface="Calibri"/>
                        </a:rPr>
                        <a:t>2.92</a:t>
                      </a:r>
                    </a:p>
                  </a:txBody>
                  <a:tcPr>
                    <a:solidFill>
                      <a:srgbClr val="0d1b2a"/>
                    </a:solidFill>
                  </a:tcPr>
                </a:tc>
                <a:tc>
                  <a:txBody>
                    <a:bodyPr/>
                    <a:lstStyle/>
                    <a:p>
                      <a:pPr algn="l"/>
                      <a:r>
                        <a:rPr sz="900" b="0" i="0">
                          <a:solidFill>
                            <a:srgbClr val="FFFFFF"/>
                          </a:solidFill>
                          <a:latin typeface="Calibri"/>
                        </a:rPr>
                        <a:t>0.90</a:t>
                      </a:r>
                    </a:p>
                  </a:txBody>
                  <a:tcPr>
                    <a:solidFill>
                      <a:srgbClr val="0d1b2a"/>
                    </a:solidFill>
                  </a:tcPr>
                </a:tc>
              </a:tr>
              <a:tr h="411480">
                <a:tc>
                  <a:txBody>
                    <a:bodyPr/>
                    <a:lstStyle/>
                    <a:p>
                      <a:pPr algn="l"/>
                      <a:r>
                        <a:rPr sz="900" b="0" i="0">
                          <a:solidFill>
                            <a:srgbClr val="FFFFFF"/>
                          </a:solidFill>
                          <a:latin typeface="Calibri"/>
                        </a:rPr>
                        <a:t>Semantic Pres.</a:t>
                      </a:r>
                    </a:p>
                  </a:txBody>
                  <a:tcPr>
                    <a:solidFill>
                      <a:srgbClr val="152a40"/>
                    </a:solidFill>
                  </a:tcPr>
                </a:tc>
                <a:tc>
                  <a:txBody>
                    <a:bodyPr/>
                    <a:lstStyle/>
                    <a:p>
                      <a:pPr algn="l"/>
                      <a:r>
                        <a:rPr sz="900" b="0" i="0">
                          <a:solidFill>
                            <a:srgbClr val="FFFFFF"/>
                          </a:solidFill>
                          <a:latin typeface="Calibri"/>
                        </a:rPr>
                        <a:t>india china afghanistan...both sides would benefit</a:t>
                      </a:r>
                    </a:p>
                  </a:txBody>
                  <a:tcPr>
                    <a:solidFill>
                      <a:srgbClr val="152a40"/>
                    </a:solidFill>
                  </a:tcPr>
                </a:tc>
                <a:tc>
                  <a:txBody>
                    <a:bodyPr/>
                    <a:lstStyle/>
                    <a:p>
                      <a:pPr algn="l"/>
                      <a:r>
                        <a:rPr sz="900" b="0" i="0">
                          <a:solidFill>
                            <a:srgbClr val="FFFFFF"/>
                          </a:solidFill>
                          <a:latin typeface="Calibri"/>
                        </a:rPr>
                        <a:t>middle east and afghanistan...both sides will benefit</a:t>
                      </a:r>
                    </a:p>
                  </a:txBody>
                  <a:tcPr>
                    <a:solidFill>
                      <a:srgbClr val="152a40"/>
                    </a:solidFill>
                  </a:tcPr>
                </a:tc>
                <a:tc>
                  <a:txBody>
                    <a:bodyPr/>
                    <a:lstStyle/>
                    <a:p>
                      <a:pPr algn="l"/>
                      <a:r>
                        <a:rPr sz="900" b="0" i="0">
                          <a:solidFill>
                            <a:srgbClr val="FFFFFF"/>
                          </a:solidFill>
                          <a:latin typeface="Calibri"/>
                        </a:rPr>
                        <a:t>72%</a:t>
                      </a:r>
                    </a:p>
                  </a:txBody>
                  <a:tcPr>
                    <a:solidFill>
                      <a:srgbClr val="152a40"/>
                    </a:solidFill>
                  </a:tcPr>
                </a:tc>
                <a:tc>
                  <a:txBody>
                    <a:bodyPr/>
                    <a:lstStyle/>
                    <a:p>
                      <a:pPr algn="l"/>
                      <a:r>
                        <a:rPr sz="900" b="0" i="0">
                          <a:solidFill>
                            <a:srgbClr val="FFFFFF"/>
                          </a:solidFill>
                          <a:latin typeface="Calibri"/>
                        </a:rPr>
                        <a:t>2.86</a:t>
                      </a:r>
                    </a:p>
                  </a:txBody>
                  <a:tcPr>
                    <a:solidFill>
                      <a:srgbClr val="152a40"/>
                    </a:solidFill>
                  </a:tcPr>
                </a:tc>
                <a:tc>
                  <a:txBody>
                    <a:bodyPr/>
                    <a:lstStyle/>
                    <a:p>
                      <a:pPr algn="l"/>
                      <a:r>
                        <a:rPr sz="900" b="0" i="0">
                          <a:solidFill>
                            <a:srgbClr val="FFFFFF"/>
                          </a:solidFill>
                          <a:latin typeface="Calibri"/>
                        </a:rPr>
                        <a:t>0.90</a:t>
                      </a:r>
                    </a:p>
                  </a:txBody>
                  <a:tcPr>
                    <a:solidFill>
                      <a:srgbClr val="152a40"/>
                    </a:solidFill>
                  </a:tcPr>
                </a:tc>
              </a:tr>
              <a:tr h="411480">
                <a:tc>
                  <a:txBody>
                    <a:bodyPr/>
                    <a:lstStyle/>
                    <a:p>
                      <a:pPr algn="l"/>
                      <a:r>
                        <a:rPr sz="900" b="0" i="0">
                          <a:solidFill>
                            <a:srgbClr val="FFFFFF"/>
                          </a:solidFill>
                          <a:latin typeface="Calibri"/>
                        </a:rPr>
                        <a:t>Phonetic Bridge</a:t>
                      </a:r>
                    </a:p>
                  </a:txBody>
                  <a:tcPr>
                    <a:solidFill>
                      <a:srgbClr val="0d1b2a"/>
                    </a:solidFill>
                  </a:tcPr>
                </a:tc>
                <a:tc>
                  <a:txBody>
                    <a:bodyPr/>
                    <a:lstStyle/>
                    <a:p>
                      <a:pPr algn="l"/>
                      <a:r>
                        <a:rPr sz="900" b="0" i="0">
                          <a:solidFill>
                            <a:srgbClr val="FFFFFF"/>
                          </a:solidFill>
                          <a:latin typeface="Calibri"/>
                        </a:rPr>
                        <a:t>expresses in concrete and symbolic and beautifully real deep</a:t>
                      </a:r>
                    </a:p>
                  </a:txBody>
                  <a:tcPr>
                    <a:solidFill>
                      <a:srgbClr val="0d1b2a"/>
                    </a:solidFill>
                  </a:tcPr>
                </a:tc>
                <a:tc>
                  <a:txBody>
                    <a:bodyPr/>
                    <a:lstStyle/>
                    <a:p>
                      <a:pPr algn="l"/>
                      <a:r>
                        <a:rPr sz="900" b="0" i="0">
                          <a:solidFill>
                            <a:srgbClr val="FFFFFF"/>
                          </a:solidFill>
                          <a:latin typeface="Calibri"/>
                        </a:rPr>
                        <a:t>suppresses the concrete and the symbolic and the beautiful...</a:t>
                      </a:r>
                    </a:p>
                  </a:txBody>
                  <a:tcPr>
                    <a:solidFill>
                      <a:srgbClr val="0d1b2a"/>
                    </a:solidFill>
                  </a:tcPr>
                </a:tc>
                <a:tc>
                  <a:txBody>
                    <a:bodyPr/>
                    <a:lstStyle/>
                    <a:p>
                      <a:pPr algn="l"/>
                      <a:r>
                        <a:rPr sz="900" b="0" i="0">
                          <a:solidFill>
                            <a:srgbClr val="FFFFFF"/>
                          </a:solidFill>
                          <a:latin typeface="Calibri"/>
                        </a:rPr>
                        <a:t>89%</a:t>
                      </a:r>
                    </a:p>
                  </a:txBody>
                  <a:tcPr>
                    <a:solidFill>
                      <a:srgbClr val="0d1b2a"/>
                    </a:solidFill>
                  </a:tcPr>
                </a:tc>
                <a:tc>
                  <a:txBody>
                    <a:bodyPr/>
                    <a:lstStyle/>
                    <a:p>
                      <a:pPr algn="l"/>
                      <a:r>
                        <a:rPr sz="900" b="0" i="0">
                          <a:solidFill>
                            <a:srgbClr val="FFFFFF"/>
                          </a:solidFill>
                          <a:latin typeface="Calibri"/>
                        </a:rPr>
                        <a:t>2.75</a:t>
                      </a:r>
                    </a:p>
                  </a:txBody>
                  <a:tcPr>
                    <a:solidFill>
                      <a:srgbClr val="0d1b2a"/>
                    </a:solidFill>
                  </a:tcPr>
                </a:tc>
                <a:tc>
                  <a:txBody>
                    <a:bodyPr/>
                    <a:lstStyle/>
                    <a:p>
                      <a:pPr algn="l"/>
                      <a:r>
                        <a:rPr sz="900" b="0" i="0">
                          <a:solidFill>
                            <a:srgbClr val="FFFFFF"/>
                          </a:solidFill>
                          <a:latin typeface="Calibri"/>
                        </a:rPr>
                        <a:t>0.90</a:t>
                      </a:r>
                    </a:p>
                  </a:txBody>
                  <a:tcPr>
                    <a:solidFill>
                      <a:srgbClr val="0d1b2a"/>
                    </a:solidFill>
                  </a:tcPr>
                </a:tc>
              </a:tr>
              <a:tr h="411480">
                <a:tc>
                  <a:txBody>
                    <a:bodyPr/>
                    <a:lstStyle/>
                    <a:p>
                      <a:pPr algn="l"/>
                      <a:r>
                        <a:rPr sz="900" b="0" i="0">
                          <a:solidFill>
                            <a:srgbClr val="FFFFFF"/>
                          </a:solidFill>
                          <a:latin typeface="Calibri"/>
                        </a:rPr>
                        <a:t>Entity-Preserved</a:t>
                      </a:r>
                    </a:p>
                  </a:txBody>
                  <a:tcPr>
                    <a:solidFill>
                      <a:srgbClr val="152a40"/>
                    </a:solidFill>
                  </a:tcPr>
                </a:tc>
                <a:tc>
                  <a:txBody>
                    <a:bodyPr/>
                    <a:lstStyle/>
                    <a:p>
                      <a:pPr algn="l"/>
                      <a:r>
                        <a:rPr sz="900" b="0" i="0">
                          <a:solidFill>
                            <a:srgbClr val="FFFFFF"/>
                          </a:solidFill>
                          <a:latin typeface="Calibri"/>
                        </a:rPr>
                        <a:t>how facebook is a media company...what's about twitter</a:t>
                      </a:r>
                    </a:p>
                  </a:txBody>
                  <a:tcPr>
                    <a:solidFill>
                      <a:srgbClr val="152a40"/>
                    </a:solidFill>
                  </a:tcPr>
                </a:tc>
                <a:tc>
                  <a:txBody>
                    <a:bodyPr/>
                    <a:lstStyle/>
                    <a:p>
                      <a:pPr algn="l"/>
                      <a:r>
                        <a:rPr sz="900" b="0" i="0">
                          <a:solidFill>
                            <a:srgbClr val="FFFFFF"/>
                          </a:solidFill>
                          <a:latin typeface="Calibri"/>
                        </a:rPr>
                        <a:t>how facebook is a media company on switzerland</a:t>
                      </a:r>
                    </a:p>
                  </a:txBody>
                  <a:tcPr>
                    <a:solidFill>
                      <a:srgbClr val="152a40"/>
                    </a:solidFill>
                  </a:tcPr>
                </a:tc>
                <a:tc>
                  <a:txBody>
                    <a:bodyPr/>
                    <a:lstStyle/>
                    <a:p>
                      <a:pPr algn="l"/>
                      <a:r>
                        <a:rPr sz="900" b="0" i="0">
                          <a:solidFill>
                            <a:srgbClr val="FFFFFF"/>
                          </a:solidFill>
                          <a:latin typeface="Calibri"/>
                        </a:rPr>
                        <a:t>57%</a:t>
                      </a:r>
                    </a:p>
                  </a:txBody>
                  <a:tcPr>
                    <a:solidFill>
                      <a:srgbClr val="152a40"/>
                    </a:solidFill>
                  </a:tcPr>
                </a:tc>
                <a:tc>
                  <a:txBody>
                    <a:bodyPr/>
                    <a:lstStyle/>
                    <a:p>
                      <a:pPr algn="l"/>
                      <a:r>
                        <a:rPr sz="900" b="0" i="0">
                          <a:solidFill>
                            <a:srgbClr val="FFFFFF"/>
                          </a:solidFill>
                          <a:latin typeface="Calibri"/>
                        </a:rPr>
                        <a:t>2.86</a:t>
                      </a:r>
                    </a:p>
                  </a:txBody>
                  <a:tcPr>
                    <a:solidFill>
                      <a:srgbClr val="152a40"/>
                    </a:solidFill>
                  </a:tcPr>
                </a:tc>
                <a:tc>
                  <a:txBody>
                    <a:bodyPr/>
                    <a:lstStyle/>
                    <a:p>
                      <a:pPr algn="l"/>
                      <a:r>
                        <a:rPr sz="900" b="0" i="0">
                          <a:solidFill>
                            <a:srgbClr val="FFFFFF"/>
                          </a:solidFill>
                          <a:latin typeface="Calibri"/>
                        </a:rPr>
                        <a:t>0.90</a:t>
                      </a:r>
                    </a:p>
                  </a:txBody>
                  <a:tcPr>
                    <a:solidFill>
                      <a:srgbClr val="152a40"/>
                    </a:solidFill>
                  </a:tcPr>
                </a:tc>
              </a:tr>
              <a:tr h="411480">
                <a:tc>
                  <a:txBody>
                    <a:bodyPr/>
                    <a:lstStyle/>
                    <a:p>
                      <a:pPr algn="l"/>
                      <a:r>
                        <a:rPr sz="900" b="0" i="0">
                          <a:solidFill>
                            <a:srgbClr val="FFFFFF"/>
                          </a:solidFill>
                          <a:latin typeface="Calibri"/>
                        </a:rPr>
                        <a:t>Structure Match</a:t>
                      </a:r>
                    </a:p>
                  </a:txBody>
                  <a:tcPr>
                    <a:solidFill>
                      <a:srgbClr val="0d1b2a"/>
                    </a:solidFill>
                  </a:tcPr>
                </a:tc>
                <a:tc>
                  <a:txBody>
                    <a:bodyPr/>
                    <a:lstStyle/>
                    <a:p>
                      <a:pPr algn="l"/>
                      <a:r>
                        <a:rPr sz="900" b="0" i="0">
                          <a:solidFill>
                            <a:srgbClr val="FFFFFF"/>
                          </a:solidFill>
                          <a:latin typeface="Calibri"/>
                        </a:rPr>
                        <a:t>neptune gives us a long time to learn...energies and wisdom...</a:t>
                      </a:r>
                    </a:p>
                  </a:txBody>
                  <a:tcPr>
                    <a:solidFill>
                      <a:srgbClr val="0d1b2a"/>
                    </a:solidFill>
                  </a:tcPr>
                </a:tc>
                <a:tc>
                  <a:txBody>
                    <a:bodyPr/>
                    <a:lstStyle/>
                    <a:p>
                      <a:pPr algn="l"/>
                      <a:r>
                        <a:rPr sz="900" b="0" i="0">
                          <a:solidFill>
                            <a:srgbClr val="FFFFFF"/>
                          </a:solidFill>
                          <a:latin typeface="Calibri"/>
                        </a:rPr>
                        <a:t>you give it a long time to learn...energies and wisdom...</a:t>
                      </a:r>
                    </a:p>
                  </a:txBody>
                  <a:tcPr>
                    <a:solidFill>
                      <a:srgbClr val="0d1b2a"/>
                    </a:solidFill>
                  </a:tcPr>
                </a:tc>
                <a:tc>
                  <a:txBody>
                    <a:bodyPr/>
                    <a:lstStyle/>
                    <a:p>
                      <a:pPr algn="l"/>
                      <a:r>
                        <a:rPr sz="900" b="0" i="0">
                          <a:solidFill>
                            <a:srgbClr val="FFFFFF"/>
                          </a:solidFill>
                          <a:latin typeface="Calibri"/>
                        </a:rPr>
                        <a:t>39%</a:t>
                      </a:r>
                    </a:p>
                  </a:txBody>
                  <a:tcPr>
                    <a:solidFill>
                      <a:srgbClr val="0d1b2a"/>
                    </a:solidFill>
                  </a:tcPr>
                </a:tc>
                <a:tc>
                  <a:txBody>
                    <a:bodyPr/>
                    <a:lstStyle/>
                    <a:p>
                      <a:pPr algn="l"/>
                      <a:r>
                        <a:rPr sz="900" b="0" i="0">
                          <a:solidFill>
                            <a:srgbClr val="FFFFFF"/>
                          </a:solidFill>
                          <a:latin typeface="Calibri"/>
                        </a:rPr>
                        <a:t>2.94</a:t>
                      </a:r>
                    </a:p>
                  </a:txBody>
                  <a:tcPr>
                    <a:solidFill>
                      <a:srgbClr val="0d1b2a"/>
                    </a:solidFill>
                  </a:tcPr>
                </a:tc>
                <a:tc>
                  <a:txBody>
                    <a:bodyPr/>
                    <a:lstStyle/>
                    <a:p>
                      <a:pPr algn="l"/>
                      <a:r>
                        <a:rPr sz="900" b="0" i="0">
                          <a:solidFill>
                            <a:srgbClr val="FFFFFF"/>
                          </a:solidFill>
                          <a:latin typeface="Calibri"/>
                        </a:rPr>
                        <a:t>0.95</a:t>
                      </a:r>
                    </a:p>
                  </a:txBody>
                  <a:tcPr>
                    <a:solidFill>
                      <a:srgbClr val="0d1b2a"/>
                    </a:solidFill>
                  </a:tcPr>
                </a:tc>
              </a:tr>
              <a:tr h="411480">
                <a:tc>
                  <a:txBody>
                    <a:bodyPr/>
                    <a:lstStyle/>
                    <a:p>
                      <a:pPr algn="l"/>
                      <a:r>
                        <a:rPr sz="900" b="0" i="0">
                          <a:solidFill>
                            <a:srgbClr val="FFFFFF"/>
                          </a:solidFill>
                          <a:latin typeface="Calibri"/>
                        </a:rPr>
                        <a:t>WER Over-Punish.</a:t>
                      </a:r>
                    </a:p>
                  </a:txBody>
                  <a:tcPr>
                    <a:solidFill>
                      <a:srgbClr val="152a40"/>
                    </a:solidFill>
                  </a:tcPr>
                </a:tc>
                <a:tc>
                  <a:txBody>
                    <a:bodyPr/>
                    <a:lstStyle/>
                    <a:p>
                      <a:pPr algn="l"/>
                      <a:r>
                        <a:rPr sz="900" b="0" i="0">
                          <a:solidFill>
                            <a:srgbClr val="FFFFFF"/>
                          </a:solidFill>
                          <a:latin typeface="Calibri"/>
                        </a:rPr>
                        <a:t>so um</a:t>
                      </a:r>
                    </a:p>
                  </a:txBody>
                  <a:tcPr>
                    <a:solidFill>
                      <a:srgbClr val="152a40"/>
                    </a:solidFill>
                  </a:tcPr>
                </a:tc>
                <a:tc>
                  <a:txBody>
                    <a:bodyPr/>
                    <a:lstStyle/>
                    <a:p>
                      <a:pPr algn="l"/>
                      <a:r>
                        <a:rPr sz="900" b="0" i="0">
                          <a:solidFill>
                            <a:srgbClr val="FFFFFF"/>
                          </a:solidFill>
                          <a:latin typeface="Calibri"/>
                        </a:rPr>
                        <a:t>so i kind of</a:t>
                      </a:r>
                    </a:p>
                  </a:txBody>
                  <a:tcPr>
                    <a:solidFill>
                      <a:srgbClr val="152a40"/>
                    </a:solidFill>
                  </a:tcPr>
                </a:tc>
                <a:tc>
                  <a:txBody>
                    <a:bodyPr/>
                    <a:lstStyle/>
                    <a:p>
                      <a:pPr algn="l"/>
                      <a:r>
                        <a:rPr sz="900" b="0" i="0">
                          <a:solidFill>
                            <a:srgbClr val="FFFFFF"/>
                          </a:solidFill>
                          <a:latin typeface="Calibri"/>
                        </a:rPr>
                        <a:t>150%</a:t>
                      </a:r>
                    </a:p>
                  </a:txBody>
                  <a:tcPr>
                    <a:solidFill>
                      <a:srgbClr val="152a40"/>
                    </a:solidFill>
                  </a:tcPr>
                </a:tc>
                <a:tc>
                  <a:txBody>
                    <a:bodyPr/>
                    <a:lstStyle/>
                    <a:p>
                      <a:pPr algn="l"/>
                      <a:r>
                        <a:rPr sz="900" b="0" i="0">
                          <a:solidFill>
                            <a:srgbClr val="FFFFFF"/>
                          </a:solidFill>
                          <a:latin typeface="Calibri"/>
                        </a:rPr>
                        <a:t>2.06</a:t>
                      </a:r>
                    </a:p>
                  </a:txBody>
                  <a:tcPr>
                    <a:solidFill>
                      <a:srgbClr val="152a40"/>
                    </a:solidFill>
                  </a:tcPr>
                </a:tc>
                <a:tc>
                  <a:txBody>
                    <a:bodyPr/>
                    <a:lstStyle/>
                    <a:p>
                      <a:pPr algn="l"/>
                      <a:r>
                        <a:rPr sz="900" b="0" i="0">
                          <a:solidFill>
                            <a:srgbClr val="FFFFFF"/>
                          </a:solidFill>
                          <a:latin typeface="Calibri"/>
                        </a:rPr>
                        <a:t>0.65</a:t>
                      </a:r>
                    </a:p>
                  </a:txBody>
                  <a:tcPr>
                    <a:solidFill>
                      <a:srgbClr val="152a40"/>
                    </a:solidFill>
                  </a:tcPr>
                </a:tc>
              </a:tr>
            </a:tbl>
          </a:graphicData>
        </a:graphic>
      </p:graphicFrame>
      <p:pic>
        <p:nvPicPr>
          <p:cNvPr id="6" name="Picture 5"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7" name="TextBox 6"/>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A5</a:t>
            </a:r>
          </a:p>
        </p:txBody>
      </p:sp>
    </p:spTree>
  </p:cSld>
  <p:clrMapOvr>
    <a:masterClrMapping/>
  </p:clrMapOvr>
  <p:transition spd="med"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A6: Failure Mode Examples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274320"/>
          </a:xfrm>
          <a:prstGeom prst="rect">
            <a:avLst/>
          </a:prstGeom>
          <a:noFill/>
        </p:spPr>
        <p:txBody>
          <a:bodyPr wrap="square" anchor="t"/>
          <a:lstStyle/>
          <a:p>
            <a:pPr algn="l"/>
            <a:r>
              <a:rPr sz="1300" b="0" i="0">
                <a:solidFill>
                  <a:srgbClr val="AAAAAA"/>
                </a:solidFill>
                <a:latin typeface="Calibri"/>
              </a:rPr>
              <a:t>One real example per failure category (5 categories):</a:t>
            </a:r>
          </a:p>
        </p:txBody>
      </p:sp>
      <p:graphicFrame>
        <p:nvGraphicFramePr>
          <p:cNvPr id="5" name="Table 4"/>
          <p:cNvGraphicFramePr>
            <a:graphicFrameLocks noGrp="1"/>
          </p:cNvGraphicFramePr>
          <p:nvPr/>
        </p:nvGraphicFramePr>
        <p:xfrm>
          <a:off x="548640" y="1691640"/>
          <a:ext cx="11091672" cy="4224528"/>
        </p:xfrm>
        <a:graphic>
          <a:graphicData uri="http://schemas.openxmlformats.org/drawingml/2006/table">
            <a:tbl>
              <a:tblPr firstRow="0" bandRow="0" lastRow="0" bandCol="0">
                <a:tableStyleId>{5C22544A-7EE6-4342-B048-85BDC9FD1C3A}</a:tableStyleId>
              </a:tblPr>
              <a:tblGrid>
                <a:gridCol w="2218334"/>
                <a:gridCol w="2218334"/>
                <a:gridCol w="2218334"/>
                <a:gridCol w="2218334"/>
                <a:gridCol w="2218336"/>
              </a:tblGrid>
              <a:tr h="384048">
                <a:tc>
                  <a:txBody>
                    <a:bodyPr/>
                    <a:lstStyle/>
                    <a:p>
                      <a:pPr algn="ctr"/>
                      <a:r>
                        <a:rPr sz="900" b="1" i="0">
                          <a:solidFill>
                            <a:srgbClr val="FFFFFF"/>
                          </a:solidFill>
                          <a:latin typeface="Calibri"/>
                        </a:rPr>
                        <a:t>Mode</a:t>
                      </a:r>
                    </a:p>
                  </a:txBody>
                  <a:tcPr>
                    <a:solidFill>
                      <a:srgbClr val="00b4d8"/>
                    </a:solidFill>
                  </a:tcPr>
                </a:tc>
                <a:tc>
                  <a:txBody>
                    <a:bodyPr/>
                    <a:lstStyle/>
                    <a:p>
                      <a:pPr algn="ctr"/>
                      <a:r>
                        <a:rPr sz="900" b="1" i="0">
                          <a:solidFill>
                            <a:srgbClr val="FFFFFF"/>
                          </a:solidFill>
                          <a:latin typeface="Calibri"/>
                        </a:rPr>
                        <a:t>Reference</a:t>
                      </a:r>
                    </a:p>
                  </a:txBody>
                  <a:tcPr>
                    <a:solidFill>
                      <a:srgbClr val="00b4d8"/>
                    </a:solidFill>
                  </a:tcPr>
                </a:tc>
                <a:tc>
                  <a:txBody>
                    <a:bodyPr/>
                    <a:lstStyle/>
                    <a:p>
                      <a:pPr algn="ctr"/>
                      <a:r>
                        <a:rPr sz="900" b="1" i="0">
                          <a:solidFill>
                            <a:srgbClr val="FFFFFF"/>
                          </a:solidFill>
                          <a:latin typeface="Calibri"/>
                        </a:rPr>
                        <a:t>Hypothesis</a:t>
                      </a:r>
                    </a:p>
                  </a:txBody>
                  <a:tcPr>
                    <a:solidFill>
                      <a:srgbClr val="00b4d8"/>
                    </a:solidFill>
                  </a:tcPr>
                </a:tc>
                <a:tc>
                  <a:txBody>
                    <a:bodyPr/>
                    <a:lstStyle/>
                    <a:p>
                      <a:pPr algn="ctr"/>
                      <a:r>
                        <a:rPr sz="900" b="1" i="0">
                          <a:solidFill>
                            <a:srgbClr val="FFFFFF"/>
                          </a:solidFill>
                          <a:latin typeface="Calibri"/>
                        </a:rPr>
                        <a:t>WER</a:t>
                      </a:r>
                    </a:p>
                  </a:txBody>
                  <a:tcPr>
                    <a:solidFill>
                      <a:srgbClr val="00b4d8"/>
                    </a:solidFill>
                  </a:tcPr>
                </a:tc>
                <a:tc>
                  <a:txBody>
                    <a:bodyPr/>
                    <a:lstStyle/>
                    <a:p>
                      <a:pPr algn="ctr"/>
                      <a:r>
                        <a:rPr sz="900" b="1" i="0">
                          <a:solidFill>
                            <a:srgbClr val="FFFFFF"/>
                          </a:solidFill>
                          <a:latin typeface="Calibri"/>
                        </a:rPr>
                        <a:t>IS</a:t>
                      </a:r>
                    </a:p>
                  </a:txBody>
                  <a:tcPr>
                    <a:solidFill>
                      <a:srgbClr val="00b4d8"/>
                    </a:solidFill>
                  </a:tcPr>
                </a:tc>
              </a:tr>
              <a:tr h="384048">
                <a:tc>
                  <a:txBody>
                    <a:bodyPr/>
                    <a:lstStyle/>
                    <a:p>
                      <a:pPr algn="l"/>
                      <a:r>
                        <a:rPr sz="900" b="0" i="0">
                          <a:solidFill>
                            <a:srgbClr val="FFFFFF"/>
                          </a:solidFill>
                          <a:latin typeface="Calibri"/>
                        </a:rPr>
                        <a:t>Empty Output</a:t>
                      </a:r>
                    </a:p>
                  </a:txBody>
                  <a:tcPr>
                    <a:solidFill>
                      <a:srgbClr val="0d1b2a"/>
                    </a:solidFill>
                  </a:tcPr>
                </a:tc>
                <a:tc>
                  <a:txBody>
                    <a:bodyPr/>
                    <a:lstStyle/>
                    <a:p>
                      <a:pPr algn="l"/>
                      <a:r>
                        <a:rPr sz="900" b="0" i="0">
                          <a:solidFill>
                            <a:srgbClr val="FFFFFF"/>
                          </a:solidFill>
                          <a:latin typeface="Calibri"/>
                        </a:rPr>
                        <a:t>"do you say i wonder what..."</a:t>
                      </a:r>
                    </a:p>
                  </a:txBody>
                  <a:tcPr>
                    <a:solidFill>
                      <a:srgbClr val="0d1b2a"/>
                    </a:solidFill>
                  </a:tcPr>
                </a:tc>
                <a:tc>
                  <a:txBody>
                    <a:bodyPr/>
                    <a:lstStyle/>
                    <a:p>
                      <a:pPr algn="l"/>
                      <a:r>
                        <a:rPr sz="900" b="0" i="0">
                          <a:solidFill>
                            <a:srgbClr val="FFFFFF"/>
                          </a:solidFill>
                          <a:latin typeface="Calibri"/>
                        </a:rPr>
                        <a:t>(empty)</a:t>
                      </a:r>
                    </a:p>
                  </a:txBody>
                  <a:tcPr>
                    <a:solidFill>
                      <a:srgbClr val="0d1b2a"/>
                    </a:solidFill>
                  </a:tcPr>
                </a:tc>
                <a:tc>
                  <a:txBody>
                    <a:bodyPr/>
                    <a:lstStyle/>
                    <a:p>
                      <a:pPr algn="l"/>
                      <a:r>
                        <a:rPr sz="900" b="0" i="0">
                          <a:solidFill>
                            <a:srgbClr val="FFFFFF"/>
                          </a:solidFill>
                          <a:latin typeface="Calibri"/>
                        </a:rPr>
                        <a:t>100%</a:t>
                      </a:r>
                    </a:p>
                  </a:txBody>
                  <a:tcPr>
                    <a:solidFill>
                      <a:srgbClr val="0d1b2a"/>
                    </a:solidFill>
                  </a:tcPr>
                </a:tc>
                <a:tc>
                  <a:txBody>
                    <a:bodyPr/>
                    <a:lstStyle/>
                    <a:p>
                      <a:pPr algn="l"/>
                      <a:r>
                        <a:rPr sz="900" b="0" i="0">
                          <a:solidFill>
                            <a:srgbClr val="E06C75"/>
                          </a:solidFill>
                          <a:latin typeface="Calibri"/>
                        </a:rPr>
                        <a:t>0.00</a:t>
                      </a:r>
                    </a:p>
                  </a:txBody>
                  <a:tcPr>
                    <a:solidFill>
                      <a:srgbClr val="0d1b2a"/>
                    </a:solidFill>
                  </a:tcPr>
                </a:tc>
              </a:tr>
              <a:tr h="384048">
                <a:tc>
                  <a:txBody>
                    <a:bodyPr/>
                    <a:lstStyle/>
                    <a:p>
                      <a:pPr algn="l"/>
                      <a:r>
                        <a:rPr sz="900" b="0" i="0">
                          <a:solidFill>
                            <a:srgbClr val="FFFFFF"/>
                          </a:solidFill>
                          <a:latin typeface="Calibri"/>
                        </a:rPr>
                        <a:t>Hallucination</a:t>
                      </a:r>
                    </a:p>
                  </a:txBody>
                  <a:tcPr>
                    <a:solidFill>
                      <a:srgbClr val="152a40"/>
                    </a:solidFill>
                  </a:tcPr>
                </a:tc>
                <a:tc>
                  <a:txBody>
                    <a:bodyPr/>
                    <a:lstStyle/>
                    <a:p>
                      <a:pPr algn="l"/>
                      <a:r>
                        <a:rPr sz="900" b="0" i="0">
                          <a:solidFill>
                            <a:srgbClr val="FFFFFF"/>
                          </a:solidFill>
                          <a:latin typeface="Calibri"/>
                        </a:rPr>
                        <a:t>"and body parts"</a:t>
                      </a:r>
                    </a:p>
                  </a:txBody>
                  <a:tcPr>
                    <a:solidFill>
                      <a:srgbClr val="152a40"/>
                    </a:solidFill>
                  </a:tcPr>
                </a:tc>
                <a:tc>
                  <a:txBody>
                    <a:bodyPr/>
                    <a:lstStyle/>
                    <a:p>
                      <a:pPr algn="l"/>
                      <a:r>
                        <a:rPr sz="900" b="0" i="0">
                          <a:solidFill>
                            <a:srgbClr val="FFFFFF"/>
                          </a:solidFill>
                          <a:latin typeface="Calibri"/>
                        </a:rPr>
                        <a:t>"20 years ago when i was"</a:t>
                      </a:r>
                    </a:p>
                  </a:txBody>
                  <a:tcPr>
                    <a:solidFill>
                      <a:srgbClr val="152a40"/>
                    </a:solidFill>
                  </a:tcPr>
                </a:tc>
                <a:tc>
                  <a:txBody>
                    <a:bodyPr/>
                    <a:lstStyle/>
                    <a:p>
                      <a:pPr algn="l"/>
                      <a:r>
                        <a:rPr sz="900" b="0" i="0">
                          <a:solidFill>
                            <a:srgbClr val="FFFFFF"/>
                          </a:solidFill>
                          <a:latin typeface="Calibri"/>
                        </a:rPr>
                        <a:t>200%</a:t>
                      </a:r>
                    </a:p>
                  </a:txBody>
                  <a:tcPr>
                    <a:solidFill>
                      <a:srgbClr val="152a40"/>
                    </a:solidFill>
                  </a:tcPr>
                </a:tc>
                <a:tc>
                  <a:txBody>
                    <a:bodyPr/>
                    <a:lstStyle/>
                    <a:p>
                      <a:pPr algn="l"/>
                      <a:r>
                        <a:rPr sz="900" b="0" i="0">
                          <a:solidFill>
                            <a:srgbClr val="E06C75"/>
                          </a:solidFill>
                          <a:latin typeface="Calibri"/>
                        </a:rPr>
                        <a:t>0.00</a:t>
                      </a:r>
                    </a:p>
                  </a:txBody>
                  <a:tcPr>
                    <a:solidFill>
                      <a:srgbClr val="152a40"/>
                    </a:solidFill>
                  </a:tcPr>
                </a:tc>
              </a:tr>
              <a:tr h="384048">
                <a:tc>
                  <a:txBody>
                    <a:bodyPr/>
                    <a:lstStyle/>
                    <a:p>
                      <a:pPr algn="l"/>
                      <a:r>
                        <a:rPr sz="900" b="0" i="0">
                          <a:solidFill>
                            <a:srgbClr val="FFFFFF"/>
                          </a:solidFill>
                          <a:latin typeface="Calibri"/>
                        </a:rPr>
                        <a:t>Truncation</a:t>
                      </a:r>
                    </a:p>
                  </a:txBody>
                  <a:tcPr>
                    <a:solidFill>
                      <a:srgbClr val="0d1b2a"/>
                    </a:solidFill>
                  </a:tcPr>
                </a:tc>
                <a:tc>
                  <a:txBody>
                    <a:bodyPr/>
                    <a:lstStyle/>
                    <a:p>
                      <a:pPr algn="l"/>
                      <a:r>
                        <a:rPr sz="900" b="0" i="0">
                          <a:solidFill>
                            <a:srgbClr val="FFFFFF"/>
                          </a:solidFill>
                          <a:latin typeface="Calibri"/>
                        </a:rPr>
                        <a:t>"i don't want to say mistakes but i will say..."</a:t>
                      </a:r>
                    </a:p>
                  </a:txBody>
                  <a:tcPr>
                    <a:solidFill>
                      <a:srgbClr val="0d1b2a"/>
                    </a:solidFill>
                  </a:tcPr>
                </a:tc>
                <a:tc>
                  <a:txBody>
                    <a:bodyPr/>
                    <a:lstStyle/>
                    <a:p>
                      <a:pPr algn="l"/>
                      <a:r>
                        <a:rPr sz="900" b="0" i="0">
                          <a:solidFill>
                            <a:srgbClr val="FFFFFF"/>
                          </a:solidFill>
                          <a:latin typeface="Calibri"/>
                        </a:rPr>
                        <a:t>"i don't want to seem disrespectful"</a:t>
                      </a:r>
                    </a:p>
                  </a:txBody>
                  <a:tcPr>
                    <a:solidFill>
                      <a:srgbClr val="0d1b2a"/>
                    </a:solidFill>
                  </a:tcPr>
                </a:tc>
                <a:tc>
                  <a:txBody>
                    <a:bodyPr/>
                    <a:lstStyle/>
                    <a:p>
                      <a:pPr algn="l"/>
                      <a:r>
                        <a:rPr sz="900" b="0" i="0">
                          <a:solidFill>
                            <a:srgbClr val="FFFFFF"/>
                          </a:solidFill>
                          <a:latin typeface="Calibri"/>
                        </a:rPr>
                        <a:t>69%</a:t>
                      </a:r>
                    </a:p>
                  </a:txBody>
                  <a:tcPr>
                    <a:solidFill>
                      <a:srgbClr val="0d1b2a"/>
                    </a:solidFill>
                  </a:tcPr>
                </a:tc>
                <a:tc>
                  <a:txBody>
                    <a:bodyPr/>
                    <a:lstStyle/>
                    <a:p>
                      <a:pPr algn="l"/>
                      <a:r>
                        <a:rPr sz="900" b="0" i="0">
                          <a:solidFill>
                            <a:srgbClr val="FFFFFF"/>
                          </a:solidFill>
                          <a:latin typeface="Calibri"/>
                        </a:rPr>
                        <a:t>1.26</a:t>
                      </a:r>
                    </a:p>
                  </a:txBody>
                  <a:tcPr>
                    <a:solidFill>
                      <a:srgbClr val="0d1b2a"/>
                    </a:solidFill>
                  </a:tcPr>
                </a:tc>
              </a:tr>
              <a:tr h="384048">
                <a:tc>
                  <a:txBody>
                    <a:bodyPr/>
                    <a:lstStyle/>
                    <a:p>
                      <a:pPr algn="l"/>
                      <a:r>
                        <a:rPr sz="900" b="0" i="0">
                          <a:solidFill>
                            <a:srgbClr val="FFFFFF"/>
                          </a:solidFill>
                          <a:latin typeface="Calibri"/>
                        </a:rPr>
                        <a:t>Topic Drift</a:t>
                      </a:r>
                    </a:p>
                  </a:txBody>
                  <a:tcPr>
                    <a:solidFill>
                      <a:srgbClr val="152a40"/>
                    </a:solidFill>
                  </a:tcPr>
                </a:tc>
                <a:tc>
                  <a:txBody>
                    <a:bodyPr/>
                    <a:lstStyle/>
                    <a:p>
                      <a:pPr algn="l"/>
                      <a:r>
                        <a:rPr sz="900" b="0" i="0">
                          <a:solidFill>
                            <a:srgbClr val="FFFFFF"/>
                          </a:solidFill>
                          <a:latin typeface="Calibri"/>
                        </a:rPr>
                        <a:t>"i've made lots of videos..."</a:t>
                      </a:r>
                    </a:p>
                  </a:txBody>
                  <a:tcPr>
                    <a:solidFill>
                      <a:srgbClr val="152a40"/>
                    </a:solidFill>
                  </a:tcPr>
                </a:tc>
                <a:tc>
                  <a:txBody>
                    <a:bodyPr/>
                    <a:lstStyle/>
                    <a:p>
                      <a:pPr algn="l"/>
                      <a:r>
                        <a:rPr sz="900" b="0" i="0">
                          <a:solidFill>
                            <a:srgbClr val="FFFFFF"/>
                          </a:solidFill>
                          <a:latin typeface="Calibri"/>
                        </a:rPr>
                        <a:t>"when i was a little girl..."</a:t>
                      </a:r>
                    </a:p>
                  </a:txBody>
                  <a:tcPr>
                    <a:solidFill>
                      <a:srgbClr val="152a40"/>
                    </a:solidFill>
                  </a:tcPr>
                </a:tc>
                <a:tc>
                  <a:txBody>
                    <a:bodyPr/>
                    <a:lstStyle/>
                    <a:p>
                      <a:pPr algn="l"/>
                      <a:r>
                        <a:rPr sz="900" b="0" i="0">
                          <a:solidFill>
                            <a:srgbClr val="FFFFFF"/>
                          </a:solidFill>
                          <a:latin typeface="Calibri"/>
                        </a:rPr>
                        <a:t>97%</a:t>
                      </a:r>
                    </a:p>
                  </a:txBody>
                  <a:tcPr>
                    <a:solidFill>
                      <a:srgbClr val="152a40"/>
                    </a:solidFill>
                  </a:tcPr>
                </a:tc>
                <a:tc>
                  <a:txBody>
                    <a:bodyPr/>
                    <a:lstStyle/>
                    <a:p>
                      <a:pPr algn="l"/>
                      <a:r>
                        <a:rPr sz="900" b="0" i="0">
                          <a:solidFill>
                            <a:srgbClr val="E06C75"/>
                          </a:solidFill>
                          <a:latin typeface="Calibri"/>
                        </a:rPr>
                        <a:t>0.38</a:t>
                      </a:r>
                    </a:p>
                  </a:txBody>
                  <a:tcPr>
                    <a:solidFill>
                      <a:srgbClr val="152a40"/>
                    </a:solidFill>
                  </a:tcPr>
                </a:tc>
              </a:tr>
              <a:tr h="384048">
                <a:tc>
                  <a:txBody>
                    <a:bodyPr/>
                    <a:lstStyle/>
                    <a:p>
                      <a:pPr algn="l"/>
                      <a:r>
                        <a:rPr sz="900" b="0" i="0">
                          <a:solidFill>
                            <a:srgbClr val="FFFFFF"/>
                          </a:solidFill>
                          <a:latin typeface="Calibri"/>
                        </a:rPr>
                        <a:t>Entity Destruction</a:t>
                      </a:r>
                    </a:p>
                  </a:txBody>
                  <a:tcPr>
                    <a:solidFill>
                      <a:srgbClr val="0d1b2a"/>
                    </a:solidFill>
                  </a:tcPr>
                </a:tc>
                <a:tc>
                  <a:txBody>
                    <a:bodyPr/>
                    <a:lstStyle/>
                    <a:p>
                      <a:pPr algn="l"/>
                      <a:r>
                        <a:rPr sz="900" b="0" i="0">
                          <a:solidFill>
                            <a:srgbClr val="FFFFFF"/>
                          </a:solidFill>
                          <a:latin typeface="Calibri"/>
                        </a:rPr>
                        <a:t>"china to take off to cross the pacific ocean..."</a:t>
                      </a:r>
                    </a:p>
                  </a:txBody>
                  <a:tcPr>
                    <a:solidFill>
                      <a:srgbClr val="0d1b2a"/>
                    </a:solidFill>
                  </a:tcPr>
                </a:tc>
                <a:tc>
                  <a:txBody>
                    <a:bodyPr/>
                    <a:lstStyle/>
                    <a:p>
                      <a:pPr algn="l"/>
                      <a:r>
                        <a:rPr sz="900" b="0" i="0">
                          <a:solidFill>
                            <a:srgbClr val="FFFFFF"/>
                          </a:solidFill>
                          <a:latin typeface="Calibri"/>
                        </a:rPr>
                        <a:t>"i don't think that's a good idea"</a:t>
                      </a:r>
                    </a:p>
                  </a:txBody>
                  <a:tcPr>
                    <a:solidFill>
                      <a:srgbClr val="0d1b2a"/>
                    </a:solidFill>
                  </a:tcPr>
                </a:tc>
                <a:tc>
                  <a:txBody>
                    <a:bodyPr/>
                    <a:lstStyle/>
                    <a:p>
                      <a:pPr algn="l"/>
                      <a:r>
                        <a:rPr sz="900" b="0" i="0">
                          <a:solidFill>
                            <a:srgbClr val="FFFFFF"/>
                          </a:solidFill>
                          <a:latin typeface="Calibri"/>
                        </a:rPr>
                        <a:t>100%</a:t>
                      </a:r>
                    </a:p>
                  </a:txBody>
                  <a:tcPr>
                    <a:solidFill>
                      <a:srgbClr val="0d1b2a"/>
                    </a:solidFill>
                  </a:tcPr>
                </a:tc>
                <a:tc>
                  <a:txBody>
                    <a:bodyPr/>
                    <a:lstStyle/>
                    <a:p>
                      <a:pPr algn="l"/>
                      <a:r>
                        <a:rPr sz="900" b="0" i="0">
                          <a:solidFill>
                            <a:srgbClr val="E06C75"/>
                          </a:solidFill>
                          <a:latin typeface="Calibri"/>
                        </a:rPr>
                        <a:t>0.72</a:t>
                      </a:r>
                    </a:p>
                  </a:txBody>
                  <a:tcPr>
                    <a:solidFill>
                      <a:srgbClr val="0d1b2a"/>
                    </a:solidFill>
                  </a:tcPr>
                </a:tc>
              </a:tr>
              <a:tr h="384048">
                <a:tc>
                  <a:txBody>
                    <a:bodyPr/>
                    <a:lstStyle/>
                    <a:p>
                      <a:pPr algn="l"/>
                      <a:r>
                        <a:rPr sz="900" b="0" i="0">
                          <a:solidFill>
                            <a:srgbClr val="FFFFFF"/>
                          </a:solidFill>
                          <a:latin typeface="Calibri"/>
                        </a:rPr>
                        <a:t>Phonetic Wrong Topic</a:t>
                      </a:r>
                    </a:p>
                  </a:txBody>
                  <a:tcPr>
                    <a:solidFill>
                      <a:srgbClr val="152a40"/>
                    </a:solidFill>
                  </a:tcPr>
                </a:tc>
                <a:tc>
                  <a:txBody>
                    <a:bodyPr/>
                    <a:lstStyle/>
                    <a:p>
                      <a:pPr algn="l"/>
                      <a:r>
                        <a:rPr sz="900" b="0" i="0">
                          <a:solidFill>
                            <a:srgbClr val="FFFFFF"/>
                          </a:solidFill>
                          <a:latin typeface="Calibri"/>
                        </a:rPr>
                        <a:t>"they have something like..."</a:t>
                      </a:r>
                    </a:p>
                  </a:txBody>
                  <a:tcPr>
                    <a:solidFill>
                      <a:srgbClr val="152a40"/>
                    </a:solidFill>
                  </a:tcPr>
                </a:tc>
                <a:tc>
                  <a:txBody>
                    <a:bodyPr/>
                    <a:lstStyle/>
                    <a:p>
                      <a:pPr algn="l"/>
                      <a:r>
                        <a:rPr sz="900" b="0" i="0">
                          <a:solidFill>
                            <a:srgbClr val="FFFFFF"/>
                          </a:solidFill>
                          <a:latin typeface="Calibri"/>
                        </a:rPr>
                        <a:t>"some english for you all..."</a:t>
                      </a:r>
                    </a:p>
                  </a:txBody>
                  <a:tcPr>
                    <a:solidFill>
                      <a:srgbClr val="152a40"/>
                    </a:solidFill>
                  </a:tcPr>
                </a:tc>
                <a:tc>
                  <a:txBody>
                    <a:bodyPr/>
                    <a:lstStyle/>
                    <a:p>
                      <a:pPr algn="l"/>
                      <a:r>
                        <a:rPr sz="900" b="0" i="0">
                          <a:solidFill>
                            <a:srgbClr val="FFFFFF"/>
                          </a:solidFill>
                          <a:latin typeface="Calibri"/>
                        </a:rPr>
                        <a:t>100%</a:t>
                      </a:r>
                    </a:p>
                  </a:txBody>
                  <a:tcPr>
                    <a:solidFill>
                      <a:srgbClr val="152a40"/>
                    </a:solidFill>
                  </a:tcPr>
                </a:tc>
                <a:tc>
                  <a:txBody>
                    <a:bodyPr/>
                    <a:lstStyle/>
                    <a:p>
                      <a:pPr algn="l"/>
                      <a:r>
                        <a:rPr sz="900" b="0" i="0">
                          <a:solidFill>
                            <a:srgbClr val="E06C75"/>
                          </a:solidFill>
                          <a:latin typeface="Calibri"/>
                        </a:rPr>
                        <a:t>0.94</a:t>
                      </a:r>
                    </a:p>
                  </a:txBody>
                  <a:tcPr>
                    <a:solidFill>
                      <a:srgbClr val="152a40"/>
                    </a:solidFill>
                  </a:tcPr>
                </a:tc>
              </a:tr>
              <a:tr h="384048">
                <a:tc>
                  <a:txBody>
                    <a:bodyPr/>
                    <a:lstStyle/>
                    <a:p>
                      <a:pPr algn="l"/>
                      <a:r>
                        <a:rPr sz="900" b="0" i="0">
                          <a:solidFill>
                            <a:srgbClr val="FFFFFF"/>
                          </a:solidFill>
                          <a:latin typeface="Calibri"/>
                        </a:rPr>
                        <a:t>High Error Rate</a:t>
                      </a:r>
                    </a:p>
                  </a:txBody>
                  <a:tcPr>
                    <a:solidFill>
                      <a:srgbClr val="0d1b2a"/>
                    </a:solidFill>
                  </a:tcPr>
                </a:tc>
                <a:tc>
                  <a:txBody>
                    <a:bodyPr/>
                    <a:lstStyle/>
                    <a:p>
                      <a:pPr algn="l"/>
                      <a:r>
                        <a:rPr sz="900" b="0" i="0">
                          <a:solidFill>
                            <a:srgbClr val="FFFFFF"/>
                          </a:solidFill>
                          <a:latin typeface="Calibri"/>
                        </a:rPr>
                        <a:t>"today here the three in one..."</a:t>
                      </a:r>
                    </a:p>
                  </a:txBody>
                  <a:tcPr>
                    <a:solidFill>
                      <a:srgbClr val="0d1b2a"/>
                    </a:solidFill>
                  </a:tcPr>
                </a:tc>
                <a:tc>
                  <a:txBody>
                    <a:bodyPr/>
                    <a:lstStyle/>
                    <a:p>
                      <a:pPr algn="l"/>
                      <a:r>
                        <a:rPr sz="900" b="0" i="0">
                          <a:solidFill>
                            <a:srgbClr val="FFFFFF"/>
                          </a:solidFill>
                          <a:latin typeface="Calibri"/>
                        </a:rPr>
                        <a:t>"i'm so happy to be here..."</a:t>
                      </a:r>
                    </a:p>
                  </a:txBody>
                  <a:tcPr>
                    <a:solidFill>
                      <a:srgbClr val="0d1b2a"/>
                    </a:solidFill>
                  </a:tcPr>
                </a:tc>
                <a:tc>
                  <a:txBody>
                    <a:bodyPr/>
                    <a:lstStyle/>
                    <a:p>
                      <a:pPr algn="l"/>
                      <a:r>
                        <a:rPr sz="900" b="0" i="0">
                          <a:solidFill>
                            <a:srgbClr val="FFFFFF"/>
                          </a:solidFill>
                          <a:latin typeface="Calibri"/>
                        </a:rPr>
                        <a:t>100%</a:t>
                      </a:r>
                    </a:p>
                  </a:txBody>
                  <a:tcPr>
                    <a:solidFill>
                      <a:srgbClr val="0d1b2a"/>
                    </a:solidFill>
                  </a:tcPr>
                </a:tc>
                <a:tc>
                  <a:txBody>
                    <a:bodyPr/>
                    <a:lstStyle/>
                    <a:p>
                      <a:pPr algn="l"/>
                      <a:r>
                        <a:rPr sz="900" b="0" i="0">
                          <a:solidFill>
                            <a:srgbClr val="FFFFFF"/>
                          </a:solidFill>
                          <a:latin typeface="Calibri"/>
                        </a:rPr>
                        <a:t>1.13</a:t>
                      </a:r>
                    </a:p>
                  </a:txBody>
                  <a:tcPr>
                    <a:solidFill>
                      <a:srgbClr val="0d1b2a"/>
                    </a:solidFill>
                  </a:tcPr>
                </a:tc>
              </a:tr>
              <a:tr h="384048">
                <a:tc>
                  <a:txBody>
                    <a:bodyPr/>
                    <a:lstStyle/>
                    <a:p>
                      <a:pPr algn="l"/>
                      <a:r>
                        <a:rPr sz="900" b="0" i="0">
                          <a:solidFill>
                            <a:srgbClr val="FFFFFF"/>
                          </a:solidFill>
                          <a:latin typeface="Calibri"/>
                        </a:rPr>
                        <a:t>Accum. Small Errors</a:t>
                      </a:r>
                    </a:p>
                  </a:txBody>
                  <a:tcPr>
                    <a:solidFill>
                      <a:srgbClr val="152a40"/>
                    </a:solidFill>
                  </a:tcPr>
                </a:tc>
                <a:tc>
                  <a:txBody>
                    <a:bodyPr/>
                    <a:lstStyle/>
                    <a:p>
                      <a:pPr algn="l"/>
                      <a:r>
                        <a:rPr sz="900" b="0" i="0">
                          <a:solidFill>
                            <a:srgbClr val="FFFFFF"/>
                          </a:solidFill>
                          <a:latin typeface="Calibri"/>
                        </a:rPr>
                        <a:t>"you're rich no no no..."</a:t>
                      </a:r>
                    </a:p>
                  </a:txBody>
                  <a:tcPr>
                    <a:solidFill>
                      <a:srgbClr val="152a40"/>
                    </a:solidFill>
                  </a:tcPr>
                </a:tc>
                <a:tc>
                  <a:txBody>
                    <a:bodyPr/>
                    <a:lstStyle/>
                    <a:p>
                      <a:pPr algn="l"/>
                      <a:r>
                        <a:rPr sz="900" b="0" i="0">
                          <a:solidFill>
                            <a:srgbClr val="FFFFFF"/>
                          </a:solidFill>
                          <a:latin typeface="Calibri"/>
                        </a:rPr>
                        <a:t>"your ring that's not what..."</a:t>
                      </a:r>
                    </a:p>
                  </a:txBody>
                  <a:tcPr>
                    <a:solidFill>
                      <a:srgbClr val="152a40"/>
                    </a:solidFill>
                  </a:tcPr>
                </a:tc>
                <a:tc>
                  <a:txBody>
                    <a:bodyPr/>
                    <a:lstStyle/>
                    <a:p>
                      <a:pPr algn="l"/>
                      <a:r>
                        <a:rPr sz="900" b="0" i="0">
                          <a:solidFill>
                            <a:srgbClr val="FFFFFF"/>
                          </a:solidFill>
                          <a:latin typeface="Calibri"/>
                        </a:rPr>
                        <a:t>67%</a:t>
                      </a:r>
                    </a:p>
                  </a:txBody>
                  <a:tcPr>
                    <a:solidFill>
                      <a:srgbClr val="152a40"/>
                    </a:solidFill>
                  </a:tcPr>
                </a:tc>
                <a:tc>
                  <a:txBody>
                    <a:bodyPr/>
                    <a:lstStyle/>
                    <a:p>
                      <a:pPr algn="l"/>
                      <a:r>
                        <a:rPr sz="900" b="0" i="0">
                          <a:solidFill>
                            <a:srgbClr val="FFFFFF"/>
                          </a:solidFill>
                          <a:latin typeface="Calibri"/>
                        </a:rPr>
                        <a:t>1.64</a:t>
                      </a:r>
                    </a:p>
                  </a:txBody>
                  <a:tcPr>
                    <a:solidFill>
                      <a:srgbClr val="152a40"/>
                    </a:solidFill>
                  </a:tcPr>
                </a:tc>
              </a:tr>
              <a:tr h="384048">
                <a:tc>
                  <a:txBody>
                    <a:bodyPr/>
                    <a:lstStyle/>
                    <a:p>
                      <a:pPr algn="l"/>
                      <a:r>
                        <a:rPr sz="900" b="0" i="0">
                          <a:solidFill>
                            <a:srgbClr val="FFFFFF"/>
                          </a:solidFill>
                          <a:latin typeface="Calibri"/>
                        </a:rPr>
                        <a:t>Content Word Errors</a:t>
                      </a:r>
                    </a:p>
                  </a:txBody>
                  <a:tcPr>
                    <a:solidFill>
                      <a:srgbClr val="0d1b2a"/>
                    </a:solidFill>
                  </a:tcPr>
                </a:tc>
                <a:tc>
                  <a:txBody>
                    <a:bodyPr/>
                    <a:lstStyle/>
                    <a:p>
                      <a:pPr algn="l"/>
                      <a:r>
                        <a:rPr sz="900" b="0" i="0">
                          <a:solidFill>
                            <a:srgbClr val="FFFFFF"/>
                          </a:solidFill>
                          <a:latin typeface="Calibri"/>
                        </a:rPr>
                        <a:t>"even after the insurance..."</a:t>
                      </a:r>
                    </a:p>
                  </a:txBody>
                  <a:tcPr>
                    <a:solidFill>
                      <a:srgbClr val="0d1b2a"/>
                    </a:solidFill>
                  </a:tcPr>
                </a:tc>
                <a:tc>
                  <a:txBody>
                    <a:bodyPr/>
                    <a:lstStyle/>
                    <a:p>
                      <a:pPr algn="l"/>
                      <a:r>
                        <a:rPr sz="900" b="0" i="0">
                          <a:solidFill>
                            <a:srgbClr val="FFFFFF"/>
                          </a:solidFill>
                          <a:latin typeface="Calibri"/>
                        </a:rPr>
                        <a:t>"after the initial contamination"</a:t>
                      </a:r>
                    </a:p>
                  </a:txBody>
                  <a:tcPr>
                    <a:solidFill>
                      <a:srgbClr val="0d1b2a"/>
                    </a:solidFill>
                  </a:tcPr>
                </a:tc>
                <a:tc>
                  <a:txBody>
                    <a:bodyPr/>
                    <a:lstStyle/>
                    <a:p>
                      <a:pPr algn="l"/>
                      <a:r>
                        <a:rPr sz="900" b="0" i="0">
                          <a:solidFill>
                            <a:srgbClr val="FFFFFF"/>
                          </a:solidFill>
                          <a:latin typeface="Calibri"/>
                        </a:rPr>
                        <a:t>60%</a:t>
                      </a:r>
                    </a:p>
                  </a:txBody>
                  <a:tcPr>
                    <a:solidFill>
                      <a:srgbClr val="0d1b2a"/>
                    </a:solidFill>
                  </a:tcPr>
                </a:tc>
                <a:tc>
                  <a:txBody>
                    <a:bodyPr/>
                    <a:lstStyle/>
                    <a:p>
                      <a:pPr algn="l"/>
                      <a:r>
                        <a:rPr sz="900" b="0" i="0">
                          <a:solidFill>
                            <a:srgbClr val="FFFFFF"/>
                          </a:solidFill>
                          <a:latin typeface="Calibri"/>
                        </a:rPr>
                        <a:t>1.86</a:t>
                      </a:r>
                    </a:p>
                  </a:txBody>
                  <a:tcPr>
                    <a:solidFill>
                      <a:srgbClr val="0d1b2a"/>
                    </a:solidFill>
                  </a:tcPr>
                </a:tc>
              </a:tr>
              <a:tr h="384048">
                <a:tc>
                  <a:txBody>
                    <a:bodyPr/>
                    <a:lstStyle/>
                    <a:p>
                      <a:pPr algn="l"/>
                      <a:r>
                        <a:rPr sz="900" b="0" i="0">
                          <a:solidFill>
                            <a:srgbClr val="FFFFFF"/>
                          </a:solidFill>
                          <a:latin typeface="Calibri"/>
                        </a:rPr>
                        <a:t>Over-generation</a:t>
                      </a:r>
                    </a:p>
                  </a:txBody>
                  <a:tcPr>
                    <a:solidFill>
                      <a:srgbClr val="152a40"/>
                    </a:solidFill>
                  </a:tcPr>
                </a:tc>
                <a:tc>
                  <a:txBody>
                    <a:bodyPr/>
                    <a:lstStyle/>
                    <a:p>
                      <a:pPr algn="l"/>
                      <a:r>
                        <a:rPr sz="900" b="0" i="0">
                          <a:solidFill>
                            <a:srgbClr val="FFFFFF"/>
                          </a:solidFill>
                          <a:latin typeface="Calibri"/>
                        </a:rPr>
                        <a:t>"to the next level"</a:t>
                      </a:r>
                    </a:p>
                  </a:txBody>
                  <a:tcPr>
                    <a:solidFill>
                      <a:srgbClr val="152a40"/>
                    </a:solidFill>
                  </a:tcPr>
                </a:tc>
                <a:tc>
                  <a:txBody>
                    <a:bodyPr/>
                    <a:lstStyle/>
                    <a:p>
                      <a:pPr algn="l"/>
                      <a:r>
                        <a:rPr sz="900" b="0" i="0">
                          <a:solidFill>
                            <a:srgbClr val="FFFFFF"/>
                          </a:solidFill>
                          <a:latin typeface="Calibri"/>
                        </a:rPr>
                        <a:t>"to the next level and they..."</a:t>
                      </a:r>
                    </a:p>
                  </a:txBody>
                  <a:tcPr>
                    <a:solidFill>
                      <a:srgbClr val="152a40"/>
                    </a:solidFill>
                  </a:tcPr>
                </a:tc>
                <a:tc>
                  <a:txBody>
                    <a:bodyPr/>
                    <a:lstStyle/>
                    <a:p>
                      <a:pPr algn="l"/>
                      <a:r>
                        <a:rPr sz="900" b="0" i="0">
                          <a:solidFill>
                            <a:srgbClr val="FFFFFF"/>
                          </a:solidFill>
                          <a:latin typeface="Calibri"/>
                        </a:rPr>
                        <a:t>100%</a:t>
                      </a:r>
                    </a:p>
                  </a:txBody>
                  <a:tcPr>
                    <a:solidFill>
                      <a:srgbClr val="152a40"/>
                    </a:solidFill>
                  </a:tcPr>
                </a:tc>
                <a:tc>
                  <a:txBody>
                    <a:bodyPr/>
                    <a:lstStyle/>
                    <a:p>
                      <a:pPr algn="l"/>
                      <a:r>
                        <a:rPr sz="900" b="0" i="0">
                          <a:solidFill>
                            <a:srgbClr val="FFFFFF"/>
                          </a:solidFill>
                          <a:latin typeface="Calibri"/>
                        </a:rPr>
                        <a:t>2.32</a:t>
                      </a:r>
                    </a:p>
                  </a:txBody>
                  <a:tcPr>
                    <a:solidFill>
                      <a:srgbClr val="152a40"/>
                    </a:solidFill>
                  </a:tcPr>
                </a:tc>
              </a:tr>
            </a:tbl>
          </a:graphicData>
        </a:graphic>
      </p:graphicFrame>
      <p:pic>
        <p:nvPicPr>
          <p:cNvPr id="6" name="Picture 5"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7" name="TextBox 6"/>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A6</a:t>
            </a:r>
          </a:p>
        </p:txBody>
      </p:sp>
    </p:spTree>
  </p:cSld>
  <p:clrMapOvr>
    <a:masterClrMapping/>
  </p:clrMapOvr>
  <p:transition spd="med"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A7: Video Gallery — All Example Segments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292608"/>
          </a:xfrm>
          <a:prstGeom prst="rect">
            <a:avLst/>
          </a:prstGeom>
          <a:noFill/>
        </p:spPr>
        <p:txBody>
          <a:bodyPr wrap="square" anchor="t"/>
          <a:lstStyle/>
          <a:p>
            <a:pPr algn="l"/>
            <a:r>
              <a:rPr sz="1100" b="0" i="1">
                <a:solidFill>
                  <a:srgbClr val="AAAAAA"/>
                </a:solidFill>
                <a:latin typeface="Calibri"/>
              </a:rPr>
              <a:t>★ = video embedded on a slide   ─ = available in burned_videos/ only</a:t>
            </a:r>
          </a:p>
        </p:txBody>
      </p:sp>
      <p:graphicFrame>
        <p:nvGraphicFramePr>
          <p:cNvPr id="5" name="Table 4"/>
          <p:cNvGraphicFramePr>
            <a:graphicFrameLocks noGrp="1"/>
          </p:cNvGraphicFramePr>
          <p:nvPr/>
        </p:nvGraphicFramePr>
        <p:xfrm>
          <a:off x="548640" y="1673352"/>
          <a:ext cx="4663440" cy="4608576"/>
        </p:xfrm>
        <a:graphic>
          <a:graphicData uri="http://schemas.openxmlformats.org/drawingml/2006/table">
            <a:tbl>
              <a:tblPr firstRow="0" bandRow="0" lastRow="0" bandCol="0">
                <a:tableStyleId>{5C22544A-7EE6-4342-B048-85BDC9FD1C3A}</a:tableStyleId>
              </a:tblPr>
              <a:tblGrid>
                <a:gridCol w="1691640"/>
                <a:gridCol w="1371600"/>
                <a:gridCol w="640080"/>
                <a:gridCol w="548640"/>
                <a:gridCol w="411480"/>
              </a:tblGrid>
              <a:tr h="256032">
                <a:tc>
                  <a:txBody>
                    <a:bodyPr/>
                    <a:lstStyle/>
                    <a:p>
                      <a:pPr algn="ctr"/>
                      <a:r>
                        <a:rPr sz="800" b="1" i="0">
                          <a:solidFill>
                            <a:srgbClr val="FFFFFF"/>
                          </a:solidFill>
                          <a:latin typeface="Calibri"/>
                        </a:rPr>
                        <a:t>Segment ID</a:t>
                      </a:r>
                    </a:p>
                  </a:txBody>
                  <a:tcPr>
                    <a:solidFill>
                      <a:srgbClr val="00b4d8"/>
                    </a:solidFill>
                  </a:tcPr>
                </a:tc>
                <a:tc>
                  <a:txBody>
                    <a:bodyPr/>
                    <a:lstStyle/>
                    <a:p>
                      <a:pPr algn="ctr"/>
                      <a:r>
                        <a:rPr sz="800" b="1" i="0">
                          <a:solidFill>
                            <a:srgbClr val="FFFFFF"/>
                          </a:solidFill>
                          <a:latin typeface="Calibri"/>
                        </a:rPr>
                        <a:t>Category</a:t>
                      </a:r>
                    </a:p>
                  </a:txBody>
                  <a:tcPr>
                    <a:solidFill>
                      <a:srgbClr val="00b4d8"/>
                    </a:solidFill>
                  </a:tcPr>
                </a:tc>
                <a:tc>
                  <a:txBody>
                    <a:bodyPr/>
                    <a:lstStyle/>
                    <a:p>
                      <a:pPr algn="ctr"/>
                      <a:r>
                        <a:rPr sz="800" b="1" i="0">
                          <a:solidFill>
                            <a:srgbClr val="FFFFFF"/>
                          </a:solidFill>
                          <a:latin typeface="Calibri"/>
                        </a:rPr>
                        <a:t>Slide</a:t>
                      </a:r>
                    </a:p>
                  </a:txBody>
                  <a:tcPr>
                    <a:solidFill>
                      <a:srgbClr val="00b4d8"/>
                    </a:solidFill>
                  </a:tcPr>
                </a:tc>
                <a:tc>
                  <a:txBody>
                    <a:bodyPr/>
                    <a:lstStyle/>
                    <a:p>
                      <a:pPr algn="ctr"/>
                      <a:r>
                        <a:rPr sz="800" b="1" i="0">
                          <a:solidFill>
                            <a:srgbClr val="FFFFFF"/>
                          </a:solidFill>
                          <a:latin typeface="Calibri"/>
                        </a:rPr>
                        <a:t>WER</a:t>
                      </a:r>
                    </a:p>
                  </a:txBody>
                  <a:tcPr>
                    <a:solidFill>
                      <a:srgbClr val="00b4d8"/>
                    </a:solidFill>
                  </a:tcPr>
                </a:tc>
                <a:tc>
                  <a:txBody>
                    <a:bodyPr/>
                    <a:lstStyle/>
                    <a:p>
                      <a:pPr algn="ctr">
                        <a:defRPr sz="800" b="1" i="0">
                          <a:solidFill>
                            <a:srgbClr val="FFFFFF"/>
                          </a:solidFill>
                          <a:latin typeface="Calibri"/>
                        </a:defRPr>
                      </a:pPr>
                    </a:p>
                  </a:txBody>
                  <a:tcPr>
                    <a:solidFill>
                      <a:srgbClr val="00b4d8"/>
                    </a:solidFill>
                  </a:tcPr>
                </a:tc>
              </a:tr>
              <a:tr h="256032">
                <a:tc>
                  <a:txBody>
                    <a:bodyPr/>
                    <a:lstStyle/>
                    <a:p>
                      <a:pPr algn="l"/>
                      <a:r>
                        <a:rPr sz="800" b="0" i="0">
                          <a:solidFill>
                            <a:srgbClr val="FFFFFF"/>
                          </a:solidFill>
                          <a:latin typeface="Calibri"/>
                        </a:rPr>
                        <a:t>IEa7qEkMvfQ_3</a:t>
                      </a:r>
                    </a:p>
                  </a:txBody>
                  <a:tcPr>
                    <a:solidFill>
                      <a:srgbClr val="0d1b2a"/>
                    </a:solidFill>
                  </a:tcPr>
                </a:tc>
                <a:tc>
                  <a:txBody>
                    <a:bodyPr/>
                    <a:lstStyle/>
                    <a:p>
                      <a:pPr algn="l"/>
                      <a:r>
                        <a:rPr sz="800" b="0" i="0">
                          <a:solidFill>
                            <a:srgbClr val="FFFFFF"/>
                          </a:solidFill>
                          <a:latin typeface="Calibri"/>
                        </a:rPr>
                        <a:t>Perfect</a:t>
                      </a:r>
                    </a:p>
                  </a:txBody>
                  <a:tcPr>
                    <a:solidFill>
                      <a:srgbClr val="0d1b2a"/>
                    </a:solidFill>
                  </a:tcPr>
                </a:tc>
                <a:tc>
                  <a:txBody>
                    <a:bodyPr/>
                    <a:lstStyle/>
                    <a:p>
                      <a:pPr algn="l"/>
                      <a:r>
                        <a:rPr sz="800" b="0" i="0">
                          <a:solidFill>
                            <a:srgbClr val="FFFFFF"/>
                          </a:solidFill>
                          <a:latin typeface="Calibri"/>
                        </a:rPr>
                        <a:t>14</a:t>
                      </a:r>
                    </a:p>
                  </a:txBody>
                  <a:tcPr>
                    <a:solidFill>
                      <a:srgbClr val="0d1b2a"/>
                    </a:solidFill>
                  </a:tcPr>
                </a:tc>
                <a:tc>
                  <a:txBody>
                    <a:bodyPr/>
                    <a:lstStyle/>
                    <a:p>
                      <a:pPr algn="l"/>
                      <a:r>
                        <a:rPr sz="800" b="0" i="0">
                          <a:solidFill>
                            <a:srgbClr val="FFFFFF"/>
                          </a:solidFill>
                          <a:latin typeface="Calibri"/>
                        </a:rPr>
                        <a:t>0%</a:t>
                      </a:r>
                    </a:p>
                  </a:txBody>
                  <a:tcPr>
                    <a:solidFill>
                      <a:srgbClr val="0d1b2a"/>
                    </a:solidFill>
                  </a:tcPr>
                </a:tc>
                <a:tc>
                  <a:txBody>
                    <a:bodyPr/>
                    <a:lstStyle/>
                    <a:p>
                      <a:pPr algn="l"/>
                      <a:r>
                        <a:rPr sz="800" b="0" i="0">
                          <a:solidFill>
                            <a:srgbClr val="FFFFFF"/>
                          </a:solidFill>
                          <a:latin typeface="Calibri"/>
                        </a:rPr>
                        <a:t>★</a:t>
                      </a:r>
                    </a:p>
                  </a:txBody>
                  <a:tcPr>
                    <a:solidFill>
                      <a:srgbClr val="0d1b2a"/>
                    </a:solidFill>
                  </a:tcPr>
                </a:tc>
              </a:tr>
              <a:tr h="256032">
                <a:tc>
                  <a:txBody>
                    <a:bodyPr/>
                    <a:lstStyle/>
                    <a:p>
                      <a:pPr algn="l"/>
                      <a:r>
                        <a:rPr sz="800" b="0" i="0">
                          <a:solidFill>
                            <a:srgbClr val="FFFFFF"/>
                          </a:solidFill>
                          <a:latin typeface="Calibri"/>
                        </a:rPr>
                        <a:t>-WQZsfHcPDM_7</a:t>
                      </a:r>
                    </a:p>
                  </a:txBody>
                  <a:tcPr>
                    <a:solidFill>
                      <a:srgbClr val="152a40"/>
                    </a:solidFill>
                  </a:tcPr>
                </a:tc>
                <a:tc>
                  <a:txBody>
                    <a:bodyPr/>
                    <a:lstStyle/>
                    <a:p>
                      <a:pPr algn="l"/>
                      <a:r>
                        <a:rPr sz="800" b="0" i="0">
                          <a:solidFill>
                            <a:srgbClr val="FFFFFF"/>
                          </a:solidFill>
                          <a:latin typeface="Calibri"/>
                        </a:rPr>
                        <a:t>Near-Miss</a:t>
                      </a:r>
                    </a:p>
                  </a:txBody>
                  <a:tcPr>
                    <a:solidFill>
                      <a:srgbClr val="152a40"/>
                    </a:solidFill>
                  </a:tcPr>
                </a:tc>
                <a:tc>
                  <a:txBody>
                    <a:bodyPr/>
                    <a:lstStyle/>
                    <a:p>
                      <a:pPr algn="l"/>
                      <a:r>
                        <a:rPr sz="800" b="0" i="0">
                          <a:solidFill>
                            <a:srgbClr val="FFFFFF"/>
                          </a:solidFill>
                          <a:latin typeface="Calibri"/>
                        </a:rPr>
                        <a:t>14</a:t>
                      </a:r>
                    </a:p>
                  </a:txBody>
                  <a:tcPr>
                    <a:solidFill>
                      <a:srgbClr val="152a40"/>
                    </a:solidFill>
                  </a:tcPr>
                </a:tc>
                <a:tc>
                  <a:txBody>
                    <a:bodyPr/>
                    <a:lstStyle/>
                    <a:p>
                      <a:pPr algn="l"/>
                      <a:r>
                        <a:rPr sz="800" b="0" i="0">
                          <a:solidFill>
                            <a:srgbClr val="FFFFFF"/>
                          </a:solidFill>
                          <a:latin typeface="Calibri"/>
                        </a:rPr>
                        <a:t>58%</a:t>
                      </a:r>
                    </a:p>
                  </a:txBody>
                  <a:tcPr>
                    <a:solidFill>
                      <a:srgbClr val="152a40"/>
                    </a:solidFill>
                  </a:tcPr>
                </a:tc>
                <a:tc>
                  <a:txBody>
                    <a:bodyPr/>
                    <a:lstStyle/>
                    <a:p>
                      <a:pPr algn="l"/>
                      <a:r>
                        <a:rPr sz="800" b="0" i="0">
                          <a:solidFill>
                            <a:srgbClr val="FFFFFF"/>
                          </a:solidFill>
                          <a:latin typeface="Calibri"/>
                        </a:rPr>
                        <a:t>★</a:t>
                      </a:r>
                    </a:p>
                  </a:txBody>
                  <a:tcPr>
                    <a:solidFill>
                      <a:srgbClr val="152a40"/>
                    </a:solidFill>
                  </a:tcPr>
                </a:tc>
              </a:tr>
              <a:tr h="256032">
                <a:tc>
                  <a:txBody>
                    <a:bodyPr/>
                    <a:lstStyle/>
                    <a:p>
                      <a:pPr algn="l"/>
                      <a:r>
                        <a:rPr sz="800" b="0" i="0">
                          <a:solidFill>
                            <a:srgbClr val="FFFFFF"/>
                          </a:solidFill>
                          <a:latin typeface="Calibri"/>
                        </a:rPr>
                        <a:t>00MUdHQ7GGY_8</a:t>
                      </a:r>
                    </a:p>
                  </a:txBody>
                  <a:tcPr>
                    <a:solidFill>
                      <a:srgbClr val="0d1b2a"/>
                    </a:solidFill>
                  </a:tcPr>
                </a:tc>
                <a:tc>
                  <a:txBody>
                    <a:bodyPr/>
                    <a:lstStyle/>
                    <a:p>
                      <a:pPr algn="l"/>
                      <a:r>
                        <a:rPr sz="800" b="0" i="0">
                          <a:solidFill>
                            <a:srgbClr val="FFFFFF"/>
                          </a:solidFill>
                          <a:latin typeface="Calibri"/>
                        </a:rPr>
                        <a:t>Hallucination</a:t>
                      </a:r>
                    </a:p>
                  </a:txBody>
                  <a:tcPr>
                    <a:solidFill>
                      <a:srgbClr val="0d1b2a"/>
                    </a:solidFill>
                  </a:tcPr>
                </a:tc>
                <a:tc>
                  <a:txBody>
                    <a:bodyPr/>
                    <a:lstStyle/>
                    <a:p>
                      <a:pPr algn="l"/>
                      <a:r>
                        <a:rPr sz="800" b="0" i="0">
                          <a:solidFill>
                            <a:srgbClr val="FFFFFF"/>
                          </a:solidFill>
                          <a:latin typeface="Calibri"/>
                        </a:rPr>
                        <a:t>14</a:t>
                      </a:r>
                    </a:p>
                  </a:txBody>
                  <a:tcPr>
                    <a:solidFill>
                      <a:srgbClr val="0d1b2a"/>
                    </a:solidFill>
                  </a:tcPr>
                </a:tc>
                <a:tc>
                  <a:txBody>
                    <a:bodyPr/>
                    <a:lstStyle/>
                    <a:p>
                      <a:pPr algn="l"/>
                      <a:r>
                        <a:rPr sz="800" b="0" i="0">
                          <a:solidFill>
                            <a:srgbClr val="FFFFFF"/>
                          </a:solidFill>
                          <a:latin typeface="Calibri"/>
                        </a:rPr>
                        <a:t>100%</a:t>
                      </a:r>
                    </a:p>
                  </a:txBody>
                  <a:tcPr>
                    <a:solidFill>
                      <a:srgbClr val="0d1b2a"/>
                    </a:solidFill>
                  </a:tcPr>
                </a:tc>
                <a:tc>
                  <a:txBody>
                    <a:bodyPr/>
                    <a:lstStyle/>
                    <a:p>
                      <a:pPr algn="l"/>
                      <a:r>
                        <a:rPr sz="800" b="0" i="0">
                          <a:solidFill>
                            <a:srgbClr val="FFFFFF"/>
                          </a:solidFill>
                          <a:latin typeface="Calibri"/>
                        </a:rPr>
                        <a:t>★</a:t>
                      </a:r>
                    </a:p>
                  </a:txBody>
                  <a:tcPr>
                    <a:solidFill>
                      <a:srgbClr val="0d1b2a"/>
                    </a:solidFill>
                  </a:tcPr>
                </a:tc>
              </a:tr>
              <a:tr h="256032">
                <a:tc>
                  <a:txBody>
                    <a:bodyPr/>
                    <a:lstStyle/>
                    <a:p>
                      <a:pPr algn="l"/>
                      <a:r>
                        <a:rPr sz="800" b="0" i="0">
                          <a:solidFill>
                            <a:srgbClr val="FFFFFF"/>
                          </a:solidFill>
                          <a:latin typeface="Calibri"/>
                        </a:rPr>
                        <a:t>DBhaa45mAro_2</a:t>
                      </a:r>
                    </a:p>
                  </a:txBody>
                  <a:tcPr>
                    <a:solidFill>
                      <a:srgbClr val="152a40"/>
                    </a:solidFill>
                  </a:tcPr>
                </a:tc>
                <a:tc>
                  <a:txBody>
                    <a:bodyPr/>
                    <a:lstStyle/>
                    <a:p>
                      <a:pPr algn="l"/>
                      <a:r>
                        <a:rPr sz="800" b="0" i="0">
                          <a:solidFill>
                            <a:srgbClr val="FFFFFF"/>
                          </a:solidFill>
                          <a:latin typeface="Calibri"/>
                        </a:rPr>
                        <a:t>Tuning Fix</a:t>
                      </a:r>
                    </a:p>
                  </a:txBody>
                  <a:tcPr>
                    <a:solidFill>
                      <a:srgbClr val="152a40"/>
                    </a:solidFill>
                  </a:tcPr>
                </a:tc>
                <a:tc>
                  <a:txBody>
                    <a:bodyPr/>
                    <a:lstStyle/>
                    <a:p>
                      <a:pPr algn="l"/>
                      <a:r>
                        <a:rPr sz="800" b="0" i="0">
                          <a:solidFill>
                            <a:srgbClr val="FFFFFF"/>
                          </a:solidFill>
                          <a:latin typeface="Calibri"/>
                        </a:rPr>
                        <a:t>14</a:t>
                      </a:r>
                    </a:p>
                  </a:txBody>
                  <a:tcPr>
                    <a:solidFill>
                      <a:srgbClr val="152a40"/>
                    </a:solidFill>
                  </a:tcPr>
                </a:tc>
                <a:tc>
                  <a:txBody>
                    <a:bodyPr/>
                    <a:lstStyle/>
                    <a:p>
                      <a:pPr algn="l"/>
                      <a:r>
                        <a:rPr sz="800" b="0" i="0">
                          <a:solidFill>
                            <a:srgbClr val="FFFFFF"/>
                          </a:solidFill>
                          <a:latin typeface="Calibri"/>
                        </a:rPr>
                        <a:t>73%</a:t>
                      </a:r>
                    </a:p>
                  </a:txBody>
                  <a:tcPr>
                    <a:solidFill>
                      <a:srgbClr val="152a40"/>
                    </a:solidFill>
                  </a:tcPr>
                </a:tc>
                <a:tc>
                  <a:txBody>
                    <a:bodyPr/>
                    <a:lstStyle/>
                    <a:p>
                      <a:pPr algn="l"/>
                      <a:r>
                        <a:rPr sz="800" b="0" i="0">
                          <a:solidFill>
                            <a:srgbClr val="FFFFFF"/>
                          </a:solidFill>
                          <a:latin typeface="Calibri"/>
                        </a:rPr>
                        <a:t>★</a:t>
                      </a:r>
                    </a:p>
                  </a:txBody>
                  <a:tcPr>
                    <a:solidFill>
                      <a:srgbClr val="152a40"/>
                    </a:solidFill>
                  </a:tcPr>
                </a:tc>
              </a:tr>
              <a:tr h="256032">
                <a:tc>
                  <a:txBody>
                    <a:bodyPr/>
                    <a:lstStyle/>
                    <a:p>
                      <a:pPr algn="l"/>
                      <a:r>
                        <a:rPr sz="800" b="0" i="0">
                          <a:solidFill>
                            <a:srgbClr val="FFFFFF"/>
                          </a:solidFill>
                          <a:latin typeface="Calibri"/>
                        </a:rPr>
                        <a:t>vBCnI4kf3-E_0</a:t>
                      </a:r>
                    </a:p>
                  </a:txBody>
                  <a:tcPr>
                    <a:solidFill>
                      <a:srgbClr val="0d1b2a"/>
                    </a:solidFill>
                  </a:tcPr>
                </a:tc>
                <a:tc>
                  <a:txBody>
                    <a:bodyPr/>
                    <a:lstStyle/>
                    <a:p>
                      <a:pPr algn="l"/>
                      <a:r>
                        <a:rPr sz="800" b="0" i="0">
                          <a:solidFill>
                            <a:srgbClr val="FFFFFF"/>
                          </a:solidFill>
                          <a:latin typeface="Calibri"/>
                        </a:rPr>
                        <a:t>Topic Drift</a:t>
                      </a:r>
                    </a:p>
                  </a:txBody>
                  <a:tcPr>
                    <a:solidFill>
                      <a:srgbClr val="0d1b2a"/>
                    </a:solidFill>
                  </a:tcPr>
                </a:tc>
                <a:tc>
                  <a:txBody>
                    <a:bodyPr/>
                    <a:lstStyle/>
                    <a:p>
                      <a:pPr algn="l"/>
                      <a:r>
                        <a:rPr sz="800" b="0" i="0">
                          <a:solidFill>
                            <a:srgbClr val="FFFFFF"/>
                          </a:solidFill>
                          <a:latin typeface="Calibri"/>
                        </a:rPr>
                        <a:t>14/A6</a:t>
                      </a:r>
                    </a:p>
                  </a:txBody>
                  <a:tcPr>
                    <a:solidFill>
                      <a:srgbClr val="0d1b2a"/>
                    </a:solidFill>
                  </a:tcPr>
                </a:tc>
                <a:tc>
                  <a:txBody>
                    <a:bodyPr/>
                    <a:lstStyle/>
                    <a:p>
                      <a:pPr algn="l"/>
                      <a:r>
                        <a:rPr sz="800" b="0" i="0">
                          <a:solidFill>
                            <a:srgbClr val="FFFFFF"/>
                          </a:solidFill>
                          <a:latin typeface="Calibri"/>
                        </a:rPr>
                        <a:t>97%</a:t>
                      </a:r>
                    </a:p>
                  </a:txBody>
                  <a:tcPr>
                    <a:solidFill>
                      <a:srgbClr val="0d1b2a"/>
                    </a:solidFill>
                  </a:tcPr>
                </a:tc>
                <a:tc>
                  <a:txBody>
                    <a:bodyPr/>
                    <a:lstStyle/>
                    <a:p>
                      <a:pPr algn="l"/>
                      <a:r>
                        <a:rPr sz="800" b="0" i="0">
                          <a:solidFill>
                            <a:srgbClr val="FFFFFF"/>
                          </a:solidFill>
                          <a:latin typeface="Calibri"/>
                        </a:rPr>
                        <a:t>★</a:t>
                      </a:r>
                    </a:p>
                  </a:txBody>
                  <a:tcPr>
                    <a:solidFill>
                      <a:srgbClr val="0d1b2a"/>
                    </a:solidFill>
                  </a:tcPr>
                </a:tc>
              </a:tr>
              <a:tr h="256032">
                <a:tc>
                  <a:txBody>
                    <a:bodyPr/>
                    <a:lstStyle/>
                    <a:p>
                      <a:pPr algn="l"/>
                      <a:r>
                        <a:rPr sz="800" b="0" i="0">
                          <a:solidFill>
                            <a:srgbClr val="FFFFFF"/>
                          </a:solidFill>
                          <a:latin typeface="Calibri"/>
                        </a:rPr>
                        <a:t>Q8aPjew1aUU_5</a:t>
                      </a:r>
                    </a:p>
                  </a:txBody>
                  <a:tcPr>
                    <a:solidFill>
                      <a:srgbClr val="152a40"/>
                    </a:solidFill>
                  </a:tcPr>
                </a:tc>
                <a:tc>
                  <a:txBody>
                    <a:bodyPr/>
                    <a:lstStyle/>
                    <a:p>
                      <a:pPr algn="l"/>
                      <a:r>
                        <a:rPr sz="800" b="0" i="0">
                          <a:solidFill>
                            <a:srgbClr val="FFFFFF"/>
                          </a:solidFill>
                          <a:latin typeface="Calibri"/>
                        </a:rPr>
                        <a:t>Salvage</a:t>
                      </a:r>
                    </a:p>
                  </a:txBody>
                  <a:tcPr>
                    <a:solidFill>
                      <a:srgbClr val="152a40"/>
                    </a:solidFill>
                  </a:tcPr>
                </a:tc>
                <a:tc>
                  <a:txBody>
                    <a:bodyPr/>
                    <a:lstStyle/>
                    <a:p>
                      <a:pPr algn="l"/>
                      <a:r>
                        <a:rPr sz="800" b="0" i="0">
                          <a:solidFill>
                            <a:srgbClr val="FFFFFF"/>
                          </a:solidFill>
                          <a:latin typeface="Calibri"/>
                        </a:rPr>
                        <a:t>14/A5</a:t>
                      </a:r>
                    </a:p>
                  </a:txBody>
                  <a:tcPr>
                    <a:solidFill>
                      <a:srgbClr val="152a40"/>
                    </a:solidFill>
                  </a:tcPr>
                </a:tc>
                <a:tc>
                  <a:txBody>
                    <a:bodyPr/>
                    <a:lstStyle/>
                    <a:p>
                      <a:pPr algn="l"/>
                      <a:r>
                        <a:rPr sz="800" b="0" i="0">
                          <a:solidFill>
                            <a:srgbClr val="FFFFFF"/>
                          </a:solidFill>
                          <a:latin typeface="Calibri"/>
                        </a:rPr>
                        <a:t>74%</a:t>
                      </a:r>
                    </a:p>
                  </a:txBody>
                  <a:tcPr>
                    <a:solidFill>
                      <a:srgbClr val="152a40"/>
                    </a:solidFill>
                  </a:tcPr>
                </a:tc>
                <a:tc>
                  <a:txBody>
                    <a:bodyPr/>
                    <a:lstStyle/>
                    <a:p>
                      <a:pPr algn="l"/>
                      <a:r>
                        <a:rPr sz="800" b="0" i="0">
                          <a:solidFill>
                            <a:srgbClr val="FFFFFF"/>
                          </a:solidFill>
                          <a:latin typeface="Calibri"/>
                        </a:rPr>
                        <a:t>★</a:t>
                      </a:r>
                    </a:p>
                  </a:txBody>
                  <a:tcPr>
                    <a:solidFill>
                      <a:srgbClr val="152a40"/>
                    </a:solidFill>
                  </a:tcPr>
                </a:tc>
              </a:tr>
              <a:tr h="256032">
                <a:tc>
                  <a:txBody>
                    <a:bodyPr/>
                    <a:lstStyle/>
                    <a:p>
                      <a:pPr algn="l"/>
                      <a:r>
                        <a:rPr sz="800" b="0" i="0">
                          <a:solidFill>
                            <a:srgbClr val="FFFFFF"/>
                          </a:solidFill>
                          <a:latin typeface="Calibri"/>
                        </a:rPr>
                        <a:t>d8BR6hsvzoY_31</a:t>
                      </a:r>
                    </a:p>
                  </a:txBody>
                  <a:tcPr>
                    <a:solidFill>
                      <a:srgbClr val="0d1b2a"/>
                    </a:solidFill>
                  </a:tcPr>
                </a:tc>
                <a:tc>
                  <a:txBody>
                    <a:bodyPr/>
                    <a:lstStyle/>
                    <a:p>
                      <a:pPr algn="l"/>
                      <a:r>
                        <a:rPr sz="800" b="0" i="0">
                          <a:solidFill>
                            <a:srgbClr val="FFFFFF"/>
                          </a:solidFill>
                          <a:latin typeface="Calibri"/>
                        </a:rPr>
                        <a:t>Perfect Short</a:t>
                      </a:r>
                    </a:p>
                  </a:txBody>
                  <a:tcPr>
                    <a:solidFill>
                      <a:srgbClr val="0d1b2a"/>
                    </a:solidFill>
                  </a:tcPr>
                </a:tc>
                <a:tc>
                  <a:txBody>
                    <a:bodyPr/>
                    <a:lstStyle/>
                    <a:p>
                      <a:pPr algn="l"/>
                      <a:r>
                        <a:rPr sz="800" b="0" i="0">
                          <a:solidFill>
                            <a:srgbClr val="FFFFFF"/>
                          </a:solidFill>
                          <a:latin typeface="Calibri"/>
                        </a:rPr>
                        <a:t>15</a:t>
                      </a:r>
                    </a:p>
                  </a:txBody>
                  <a:tcPr>
                    <a:solidFill>
                      <a:srgbClr val="0d1b2a"/>
                    </a:solidFill>
                  </a:tcPr>
                </a:tc>
                <a:tc>
                  <a:txBody>
                    <a:bodyPr/>
                    <a:lstStyle/>
                    <a:p>
                      <a:pPr algn="l"/>
                      <a:r>
                        <a:rPr sz="800" b="0" i="0">
                          <a:solidFill>
                            <a:srgbClr val="FFFFFF"/>
                          </a:solidFill>
                          <a:latin typeface="Calibri"/>
                        </a:rPr>
                        <a:t>0%</a:t>
                      </a:r>
                    </a:p>
                  </a:txBody>
                  <a:tcPr>
                    <a:solidFill>
                      <a:srgbClr val="0d1b2a"/>
                    </a:solidFill>
                  </a:tcPr>
                </a:tc>
                <a:tc>
                  <a:txBody>
                    <a:bodyPr/>
                    <a:lstStyle/>
                    <a:p>
                      <a:pPr algn="l"/>
                      <a:r>
                        <a:rPr sz="800" b="0" i="0">
                          <a:solidFill>
                            <a:srgbClr val="FFFFFF"/>
                          </a:solidFill>
                          <a:latin typeface="Calibri"/>
                        </a:rPr>
                        <a:t>★</a:t>
                      </a:r>
                    </a:p>
                  </a:txBody>
                  <a:tcPr>
                    <a:solidFill>
                      <a:srgbClr val="0d1b2a"/>
                    </a:solidFill>
                  </a:tcPr>
                </a:tc>
              </a:tr>
              <a:tr h="256032">
                <a:tc>
                  <a:txBody>
                    <a:bodyPr/>
                    <a:lstStyle/>
                    <a:p>
                      <a:pPr algn="l"/>
                      <a:r>
                        <a:rPr sz="800" b="0" i="0">
                          <a:solidFill>
                            <a:srgbClr val="FFFFFF"/>
                          </a:solidFill>
                          <a:latin typeface="Calibri"/>
                        </a:rPr>
                        <a:t>WTSIAfzvYUU_0</a:t>
                      </a:r>
                    </a:p>
                  </a:txBody>
                  <a:tcPr>
                    <a:solidFill>
                      <a:srgbClr val="152a40"/>
                    </a:solidFill>
                  </a:tcPr>
                </a:tc>
                <a:tc>
                  <a:txBody>
                    <a:bodyPr/>
                    <a:lstStyle/>
                    <a:p>
                      <a:pPr algn="l"/>
                      <a:r>
                        <a:rPr sz="800" b="0" i="0">
                          <a:solidFill>
                            <a:srgbClr val="FFFFFF"/>
                          </a:solidFill>
                          <a:latin typeface="Calibri"/>
                        </a:rPr>
                        <a:t>Semantic Pres.</a:t>
                      </a:r>
                    </a:p>
                  </a:txBody>
                  <a:tcPr>
                    <a:solidFill>
                      <a:srgbClr val="152a40"/>
                    </a:solidFill>
                  </a:tcPr>
                </a:tc>
                <a:tc>
                  <a:txBody>
                    <a:bodyPr/>
                    <a:lstStyle/>
                    <a:p>
                      <a:pPr algn="l"/>
                      <a:r>
                        <a:rPr sz="800" b="0" i="0">
                          <a:solidFill>
                            <a:srgbClr val="FFFFFF"/>
                          </a:solidFill>
                          <a:latin typeface="Calibri"/>
                        </a:rPr>
                        <a:t>A5</a:t>
                      </a:r>
                    </a:p>
                  </a:txBody>
                  <a:tcPr>
                    <a:solidFill>
                      <a:srgbClr val="152a40"/>
                    </a:solidFill>
                  </a:tcPr>
                </a:tc>
                <a:tc>
                  <a:txBody>
                    <a:bodyPr/>
                    <a:lstStyle/>
                    <a:p>
                      <a:pPr algn="l"/>
                      <a:r>
                        <a:rPr sz="800" b="0" i="0">
                          <a:solidFill>
                            <a:srgbClr val="FFFFFF"/>
                          </a:solidFill>
                          <a:latin typeface="Calibri"/>
                        </a:rPr>
                        <a:t>72%</a:t>
                      </a:r>
                    </a:p>
                  </a:txBody>
                  <a:tcPr>
                    <a:solidFill>
                      <a:srgbClr val="152a40"/>
                    </a:solidFill>
                  </a:tcPr>
                </a:tc>
                <a:tc>
                  <a:txBody>
                    <a:bodyPr/>
                    <a:lstStyle/>
                    <a:p>
                      <a:pPr algn="l"/>
                      <a:r>
                        <a:rPr sz="800" b="0" i="0">
                          <a:solidFill>
                            <a:srgbClr val="FFFFFF"/>
                          </a:solidFill>
                          <a:latin typeface="Calibri"/>
                        </a:rPr>
                        <a:t>─</a:t>
                      </a:r>
                    </a:p>
                  </a:txBody>
                  <a:tcPr>
                    <a:solidFill>
                      <a:srgbClr val="152a40"/>
                    </a:solidFill>
                  </a:tcPr>
                </a:tc>
              </a:tr>
              <a:tr h="256032">
                <a:tc>
                  <a:txBody>
                    <a:bodyPr/>
                    <a:lstStyle/>
                    <a:p>
                      <a:pPr algn="l"/>
                      <a:r>
                        <a:rPr sz="800" b="0" i="0">
                          <a:solidFill>
                            <a:srgbClr val="FFFFFF"/>
                          </a:solidFill>
                          <a:latin typeface="Calibri"/>
                        </a:rPr>
                        <a:t>cT6aHJmM4cA_2</a:t>
                      </a:r>
                    </a:p>
                  </a:txBody>
                  <a:tcPr>
                    <a:solidFill>
                      <a:srgbClr val="0d1b2a"/>
                    </a:solidFill>
                  </a:tcPr>
                </a:tc>
                <a:tc>
                  <a:txBody>
                    <a:bodyPr/>
                    <a:lstStyle/>
                    <a:p>
                      <a:pPr algn="l"/>
                      <a:r>
                        <a:rPr sz="800" b="0" i="0">
                          <a:solidFill>
                            <a:srgbClr val="FFFFFF"/>
                          </a:solidFill>
                          <a:latin typeface="Calibri"/>
                        </a:rPr>
                        <a:t>Phonetic Bridge</a:t>
                      </a:r>
                    </a:p>
                  </a:txBody>
                  <a:tcPr>
                    <a:solidFill>
                      <a:srgbClr val="0d1b2a"/>
                    </a:solidFill>
                  </a:tcPr>
                </a:tc>
                <a:tc>
                  <a:txBody>
                    <a:bodyPr/>
                    <a:lstStyle/>
                    <a:p>
                      <a:pPr algn="l"/>
                      <a:r>
                        <a:rPr sz="800" b="0" i="0">
                          <a:solidFill>
                            <a:srgbClr val="FFFFFF"/>
                          </a:solidFill>
                          <a:latin typeface="Calibri"/>
                        </a:rPr>
                        <a:t>A5</a:t>
                      </a:r>
                    </a:p>
                  </a:txBody>
                  <a:tcPr>
                    <a:solidFill>
                      <a:srgbClr val="0d1b2a"/>
                    </a:solidFill>
                  </a:tcPr>
                </a:tc>
                <a:tc>
                  <a:txBody>
                    <a:bodyPr/>
                    <a:lstStyle/>
                    <a:p>
                      <a:pPr algn="l"/>
                      <a:r>
                        <a:rPr sz="800" b="0" i="0">
                          <a:solidFill>
                            <a:srgbClr val="FFFFFF"/>
                          </a:solidFill>
                          <a:latin typeface="Calibri"/>
                        </a:rPr>
                        <a:t>89%</a:t>
                      </a:r>
                    </a:p>
                  </a:txBody>
                  <a:tcPr>
                    <a:solidFill>
                      <a:srgbClr val="0d1b2a"/>
                    </a:solidFill>
                  </a:tcPr>
                </a:tc>
                <a:tc>
                  <a:txBody>
                    <a:bodyPr/>
                    <a:lstStyle/>
                    <a:p>
                      <a:pPr algn="l"/>
                      <a:r>
                        <a:rPr sz="800" b="0" i="0">
                          <a:solidFill>
                            <a:srgbClr val="FFFFFF"/>
                          </a:solidFill>
                          <a:latin typeface="Calibri"/>
                        </a:rPr>
                        <a:t>★</a:t>
                      </a:r>
                    </a:p>
                  </a:txBody>
                  <a:tcPr>
                    <a:solidFill>
                      <a:srgbClr val="0d1b2a"/>
                    </a:solidFill>
                  </a:tcPr>
                </a:tc>
              </a:tr>
              <a:tr h="256032">
                <a:tc>
                  <a:txBody>
                    <a:bodyPr/>
                    <a:lstStyle/>
                    <a:p>
                      <a:pPr algn="l"/>
                      <a:r>
                        <a:rPr sz="800" b="0" i="0">
                          <a:solidFill>
                            <a:srgbClr val="FFFFFF"/>
                          </a:solidFill>
                          <a:latin typeface="Calibri"/>
                        </a:rPr>
                        <a:t>cECxDMkqVcs_0</a:t>
                      </a:r>
                    </a:p>
                  </a:txBody>
                  <a:tcPr>
                    <a:solidFill>
                      <a:srgbClr val="152a40"/>
                    </a:solidFill>
                  </a:tcPr>
                </a:tc>
                <a:tc>
                  <a:txBody>
                    <a:bodyPr/>
                    <a:lstStyle/>
                    <a:p>
                      <a:pPr algn="l"/>
                      <a:r>
                        <a:rPr sz="800" b="0" i="0">
                          <a:solidFill>
                            <a:srgbClr val="FFFFFF"/>
                          </a:solidFill>
                          <a:latin typeface="Calibri"/>
                        </a:rPr>
                        <a:t>Entity-Pres.</a:t>
                      </a:r>
                    </a:p>
                  </a:txBody>
                  <a:tcPr>
                    <a:solidFill>
                      <a:srgbClr val="152a40"/>
                    </a:solidFill>
                  </a:tcPr>
                </a:tc>
                <a:tc>
                  <a:txBody>
                    <a:bodyPr/>
                    <a:lstStyle/>
                    <a:p>
                      <a:pPr algn="l"/>
                      <a:r>
                        <a:rPr sz="800" b="0" i="0">
                          <a:solidFill>
                            <a:srgbClr val="FFFFFF"/>
                          </a:solidFill>
                          <a:latin typeface="Calibri"/>
                        </a:rPr>
                        <a:t>A5</a:t>
                      </a:r>
                    </a:p>
                  </a:txBody>
                  <a:tcPr>
                    <a:solidFill>
                      <a:srgbClr val="152a40"/>
                    </a:solidFill>
                  </a:tcPr>
                </a:tc>
                <a:tc>
                  <a:txBody>
                    <a:bodyPr/>
                    <a:lstStyle/>
                    <a:p>
                      <a:pPr algn="l"/>
                      <a:r>
                        <a:rPr sz="800" b="0" i="0">
                          <a:solidFill>
                            <a:srgbClr val="FFFFFF"/>
                          </a:solidFill>
                          <a:latin typeface="Calibri"/>
                        </a:rPr>
                        <a:t>57%</a:t>
                      </a:r>
                    </a:p>
                  </a:txBody>
                  <a:tcPr>
                    <a:solidFill>
                      <a:srgbClr val="152a40"/>
                    </a:solidFill>
                  </a:tcPr>
                </a:tc>
                <a:tc>
                  <a:txBody>
                    <a:bodyPr/>
                    <a:lstStyle/>
                    <a:p>
                      <a:pPr algn="l"/>
                      <a:r>
                        <a:rPr sz="800" b="0" i="0">
                          <a:solidFill>
                            <a:srgbClr val="FFFFFF"/>
                          </a:solidFill>
                          <a:latin typeface="Calibri"/>
                        </a:rPr>
                        <a:t>─</a:t>
                      </a:r>
                    </a:p>
                  </a:txBody>
                  <a:tcPr>
                    <a:solidFill>
                      <a:srgbClr val="152a40"/>
                    </a:solidFill>
                  </a:tcPr>
                </a:tc>
              </a:tr>
              <a:tr h="256032">
                <a:tc>
                  <a:txBody>
                    <a:bodyPr/>
                    <a:lstStyle/>
                    <a:p>
                      <a:pPr algn="l"/>
                      <a:r>
                        <a:rPr sz="800" b="0" i="0">
                          <a:solidFill>
                            <a:srgbClr val="FFFFFF"/>
                          </a:solidFill>
                          <a:latin typeface="Calibri"/>
                        </a:rPr>
                        <a:t>IZcKDz911X8_0</a:t>
                      </a:r>
                    </a:p>
                  </a:txBody>
                  <a:tcPr>
                    <a:solidFill>
                      <a:srgbClr val="0d1b2a"/>
                    </a:solidFill>
                  </a:tcPr>
                </a:tc>
                <a:tc>
                  <a:txBody>
                    <a:bodyPr/>
                    <a:lstStyle/>
                    <a:p>
                      <a:pPr algn="l"/>
                      <a:r>
                        <a:rPr sz="800" b="0" i="0">
                          <a:solidFill>
                            <a:srgbClr val="FFFFFF"/>
                          </a:solidFill>
                          <a:latin typeface="Calibri"/>
                        </a:rPr>
                        <a:t>Structure Match</a:t>
                      </a:r>
                    </a:p>
                  </a:txBody>
                  <a:tcPr>
                    <a:solidFill>
                      <a:srgbClr val="0d1b2a"/>
                    </a:solidFill>
                  </a:tcPr>
                </a:tc>
                <a:tc>
                  <a:txBody>
                    <a:bodyPr/>
                    <a:lstStyle/>
                    <a:p>
                      <a:pPr algn="l"/>
                      <a:r>
                        <a:rPr sz="800" b="0" i="0">
                          <a:solidFill>
                            <a:srgbClr val="FFFFFF"/>
                          </a:solidFill>
                          <a:latin typeface="Calibri"/>
                        </a:rPr>
                        <a:t>A5</a:t>
                      </a:r>
                    </a:p>
                  </a:txBody>
                  <a:tcPr>
                    <a:solidFill>
                      <a:srgbClr val="0d1b2a"/>
                    </a:solidFill>
                  </a:tcPr>
                </a:tc>
                <a:tc>
                  <a:txBody>
                    <a:bodyPr/>
                    <a:lstStyle/>
                    <a:p>
                      <a:pPr algn="l"/>
                      <a:r>
                        <a:rPr sz="800" b="0" i="0">
                          <a:solidFill>
                            <a:srgbClr val="FFFFFF"/>
                          </a:solidFill>
                          <a:latin typeface="Calibri"/>
                        </a:rPr>
                        <a:t>39%</a:t>
                      </a:r>
                    </a:p>
                  </a:txBody>
                  <a:tcPr>
                    <a:solidFill>
                      <a:srgbClr val="0d1b2a"/>
                    </a:solidFill>
                  </a:tcPr>
                </a:tc>
                <a:tc>
                  <a:txBody>
                    <a:bodyPr/>
                    <a:lstStyle/>
                    <a:p>
                      <a:pPr algn="l"/>
                      <a:r>
                        <a:rPr sz="800" b="0" i="0">
                          <a:solidFill>
                            <a:srgbClr val="FFFFFF"/>
                          </a:solidFill>
                          <a:latin typeface="Calibri"/>
                        </a:rPr>
                        <a:t>─</a:t>
                      </a:r>
                    </a:p>
                  </a:txBody>
                  <a:tcPr>
                    <a:solidFill>
                      <a:srgbClr val="0d1b2a"/>
                    </a:solidFill>
                  </a:tcPr>
                </a:tc>
              </a:tr>
              <a:tr h="256032">
                <a:tc>
                  <a:txBody>
                    <a:bodyPr/>
                    <a:lstStyle/>
                    <a:p>
                      <a:pPr algn="l"/>
                      <a:r>
                        <a:rPr sz="800" b="0" i="0">
                          <a:solidFill>
                            <a:srgbClr val="FFFFFF"/>
                          </a:solidFill>
                          <a:latin typeface="Calibri"/>
                        </a:rPr>
                        <a:t>0FUlRjBcGGE_21</a:t>
                      </a:r>
                    </a:p>
                  </a:txBody>
                  <a:tcPr>
                    <a:solidFill>
                      <a:srgbClr val="152a40"/>
                    </a:solidFill>
                  </a:tcPr>
                </a:tc>
                <a:tc>
                  <a:txBody>
                    <a:bodyPr/>
                    <a:lstStyle/>
                    <a:p>
                      <a:pPr algn="l"/>
                      <a:r>
                        <a:rPr sz="800" b="0" i="0">
                          <a:solidFill>
                            <a:srgbClr val="FFFFFF"/>
                          </a:solidFill>
                          <a:latin typeface="Calibri"/>
                        </a:rPr>
                        <a:t>WER Over-Pun.</a:t>
                      </a:r>
                    </a:p>
                  </a:txBody>
                  <a:tcPr>
                    <a:solidFill>
                      <a:srgbClr val="152a40"/>
                    </a:solidFill>
                  </a:tcPr>
                </a:tc>
                <a:tc>
                  <a:txBody>
                    <a:bodyPr/>
                    <a:lstStyle/>
                    <a:p>
                      <a:pPr algn="l"/>
                      <a:r>
                        <a:rPr sz="800" b="0" i="0">
                          <a:solidFill>
                            <a:srgbClr val="FFFFFF"/>
                          </a:solidFill>
                          <a:latin typeface="Calibri"/>
                        </a:rPr>
                        <a:t>A5</a:t>
                      </a:r>
                    </a:p>
                  </a:txBody>
                  <a:tcPr>
                    <a:solidFill>
                      <a:srgbClr val="152a40"/>
                    </a:solidFill>
                  </a:tcPr>
                </a:tc>
                <a:tc>
                  <a:txBody>
                    <a:bodyPr/>
                    <a:lstStyle/>
                    <a:p>
                      <a:pPr algn="l"/>
                      <a:r>
                        <a:rPr sz="800" b="0" i="0">
                          <a:solidFill>
                            <a:srgbClr val="FFFFFF"/>
                          </a:solidFill>
                          <a:latin typeface="Calibri"/>
                        </a:rPr>
                        <a:t>150%</a:t>
                      </a:r>
                    </a:p>
                  </a:txBody>
                  <a:tcPr>
                    <a:solidFill>
                      <a:srgbClr val="152a40"/>
                    </a:solidFill>
                  </a:tcPr>
                </a:tc>
                <a:tc>
                  <a:txBody>
                    <a:bodyPr/>
                    <a:lstStyle/>
                    <a:p>
                      <a:pPr algn="l"/>
                      <a:r>
                        <a:rPr sz="800" b="0" i="0">
                          <a:solidFill>
                            <a:srgbClr val="FFFFFF"/>
                          </a:solidFill>
                          <a:latin typeface="Calibri"/>
                        </a:rPr>
                        <a:t>★</a:t>
                      </a:r>
                    </a:p>
                  </a:txBody>
                  <a:tcPr>
                    <a:solidFill>
                      <a:srgbClr val="152a40"/>
                    </a:solidFill>
                  </a:tcPr>
                </a:tc>
              </a:tr>
              <a:tr h="256032">
                <a:tc>
                  <a:txBody>
                    <a:bodyPr/>
                    <a:lstStyle/>
                    <a:p>
                      <a:pPr algn="l"/>
                      <a:r>
                        <a:rPr sz="800" b="0" i="0">
                          <a:solidFill>
                            <a:srgbClr val="FFFFFF"/>
                          </a:solidFill>
                          <a:latin typeface="Calibri"/>
                        </a:rPr>
                        <a:t>FLRU5qzb6hc_9</a:t>
                      </a:r>
                    </a:p>
                  </a:txBody>
                  <a:tcPr>
                    <a:solidFill>
                      <a:srgbClr val="0d1b2a"/>
                    </a:solidFill>
                  </a:tcPr>
                </a:tc>
                <a:tc>
                  <a:txBody>
                    <a:bodyPr/>
                    <a:lstStyle/>
                    <a:p>
                      <a:pPr algn="l"/>
                      <a:r>
                        <a:rPr sz="800" b="0" i="0">
                          <a:solidFill>
                            <a:srgbClr val="FFFFFF"/>
                          </a:solidFill>
                          <a:latin typeface="Calibri"/>
                        </a:rPr>
                        <a:t>Near-Perfect</a:t>
                      </a:r>
                    </a:p>
                  </a:txBody>
                  <a:tcPr>
                    <a:solidFill>
                      <a:srgbClr val="0d1b2a"/>
                    </a:solidFill>
                  </a:tcPr>
                </a:tc>
                <a:tc>
                  <a:txBody>
                    <a:bodyPr/>
                    <a:lstStyle/>
                    <a:p>
                      <a:pPr algn="l"/>
                      <a:r>
                        <a:rPr sz="800" b="0" i="0">
                          <a:solidFill>
                            <a:srgbClr val="FFFFFF"/>
                          </a:solidFill>
                          <a:latin typeface="Calibri"/>
                        </a:rPr>
                        <a:t>A12</a:t>
                      </a:r>
                    </a:p>
                  </a:txBody>
                  <a:tcPr>
                    <a:solidFill>
                      <a:srgbClr val="0d1b2a"/>
                    </a:solidFill>
                  </a:tcPr>
                </a:tc>
                <a:tc>
                  <a:txBody>
                    <a:bodyPr/>
                    <a:lstStyle/>
                    <a:p>
                      <a:pPr algn="l"/>
                      <a:r>
                        <a:rPr sz="800" b="0" i="0">
                          <a:solidFill>
                            <a:srgbClr val="FFFFFF"/>
                          </a:solidFill>
                          <a:latin typeface="Calibri"/>
                        </a:rPr>
                        <a:t>0%</a:t>
                      </a:r>
                    </a:p>
                  </a:txBody>
                  <a:tcPr>
                    <a:solidFill>
                      <a:srgbClr val="0d1b2a"/>
                    </a:solidFill>
                  </a:tcPr>
                </a:tc>
                <a:tc>
                  <a:txBody>
                    <a:bodyPr/>
                    <a:lstStyle/>
                    <a:p>
                      <a:pPr algn="l"/>
                      <a:r>
                        <a:rPr sz="800" b="0" i="0">
                          <a:solidFill>
                            <a:srgbClr val="FFFFFF"/>
                          </a:solidFill>
                          <a:latin typeface="Calibri"/>
                        </a:rPr>
                        <a:t>─</a:t>
                      </a:r>
                    </a:p>
                  </a:txBody>
                  <a:tcPr>
                    <a:solidFill>
                      <a:srgbClr val="0d1b2a"/>
                    </a:solidFill>
                  </a:tcPr>
                </a:tc>
              </a:tr>
              <a:tr h="256032">
                <a:tc>
                  <a:txBody>
                    <a:bodyPr/>
                    <a:lstStyle/>
                    <a:p>
                      <a:pPr algn="l"/>
                      <a:r>
                        <a:rPr sz="800" b="0" i="0">
                          <a:solidFill>
                            <a:srgbClr val="FFFFFF"/>
                          </a:solidFill>
                          <a:latin typeface="Calibri"/>
                        </a:rPr>
                        <a:t>BVynmQr3cf8_0</a:t>
                      </a:r>
                    </a:p>
                  </a:txBody>
                  <a:tcPr>
                    <a:solidFill>
                      <a:srgbClr val="152a40"/>
                    </a:solidFill>
                  </a:tcPr>
                </a:tc>
                <a:tc>
                  <a:txBody>
                    <a:bodyPr/>
                    <a:lstStyle/>
                    <a:p>
                      <a:pPr algn="l"/>
                      <a:r>
                        <a:rPr sz="800" b="0" i="0">
                          <a:solidFill>
                            <a:srgbClr val="FFFFFF"/>
                          </a:solidFill>
                          <a:latin typeface="Calibri"/>
                        </a:rPr>
                        <a:t>Minor Errors</a:t>
                      </a:r>
                    </a:p>
                  </a:txBody>
                  <a:tcPr>
                    <a:solidFill>
                      <a:srgbClr val="152a40"/>
                    </a:solidFill>
                  </a:tcPr>
                </a:tc>
                <a:tc>
                  <a:txBody>
                    <a:bodyPr/>
                    <a:lstStyle/>
                    <a:p>
                      <a:pPr algn="l"/>
                      <a:r>
                        <a:rPr sz="800" b="0" i="0">
                          <a:solidFill>
                            <a:srgbClr val="FFFFFF"/>
                          </a:solidFill>
                          <a:latin typeface="Calibri"/>
                        </a:rPr>
                        <a:t>A12</a:t>
                      </a:r>
                    </a:p>
                  </a:txBody>
                  <a:tcPr>
                    <a:solidFill>
                      <a:srgbClr val="152a40"/>
                    </a:solidFill>
                  </a:tcPr>
                </a:tc>
                <a:tc>
                  <a:txBody>
                    <a:bodyPr/>
                    <a:lstStyle/>
                    <a:p>
                      <a:pPr algn="l"/>
                      <a:r>
                        <a:rPr sz="800" b="0" i="0">
                          <a:solidFill>
                            <a:srgbClr val="FFFFFF"/>
                          </a:solidFill>
                          <a:latin typeface="Calibri"/>
                        </a:rPr>
                        <a:t>11%</a:t>
                      </a:r>
                    </a:p>
                  </a:txBody>
                  <a:tcPr>
                    <a:solidFill>
                      <a:srgbClr val="152a40"/>
                    </a:solidFill>
                  </a:tcPr>
                </a:tc>
                <a:tc>
                  <a:txBody>
                    <a:bodyPr/>
                    <a:lstStyle/>
                    <a:p>
                      <a:pPr algn="l"/>
                      <a:r>
                        <a:rPr sz="800" b="0" i="0">
                          <a:solidFill>
                            <a:srgbClr val="FFFFFF"/>
                          </a:solidFill>
                          <a:latin typeface="Calibri"/>
                        </a:rPr>
                        <a:t>─</a:t>
                      </a:r>
                    </a:p>
                  </a:txBody>
                  <a:tcPr>
                    <a:solidFill>
                      <a:srgbClr val="152a40"/>
                    </a:solidFill>
                  </a:tcPr>
                </a:tc>
              </a:tr>
              <a:tr h="256032">
                <a:tc>
                  <a:txBody>
                    <a:bodyPr/>
                    <a:lstStyle/>
                    <a:p>
                      <a:pPr algn="l"/>
                      <a:r>
                        <a:rPr sz="800" b="0" i="0">
                          <a:solidFill>
                            <a:srgbClr val="FFFFFF"/>
                          </a:solidFill>
                          <a:latin typeface="Calibri"/>
                        </a:rPr>
                        <a:t>LiYzBldkxMc_2</a:t>
                      </a:r>
                    </a:p>
                  </a:txBody>
                  <a:tcPr>
                    <a:solidFill>
                      <a:srgbClr val="0d1b2a"/>
                    </a:solidFill>
                  </a:tcPr>
                </a:tc>
                <a:tc>
                  <a:txBody>
                    <a:bodyPr/>
                    <a:lstStyle/>
                    <a:p>
                      <a:pPr algn="l"/>
                      <a:r>
                        <a:rPr sz="800" b="0" i="0">
                          <a:solidFill>
                            <a:srgbClr val="FFFFFF"/>
                          </a:solidFill>
                          <a:latin typeface="Calibri"/>
                        </a:rPr>
                        <a:t>Phonetic Pres.</a:t>
                      </a:r>
                    </a:p>
                  </a:txBody>
                  <a:tcPr>
                    <a:solidFill>
                      <a:srgbClr val="0d1b2a"/>
                    </a:solidFill>
                  </a:tcPr>
                </a:tc>
                <a:tc>
                  <a:txBody>
                    <a:bodyPr/>
                    <a:lstStyle/>
                    <a:p>
                      <a:pPr algn="l"/>
                      <a:r>
                        <a:rPr sz="800" b="0" i="0">
                          <a:solidFill>
                            <a:srgbClr val="FFFFFF"/>
                          </a:solidFill>
                          <a:latin typeface="Calibri"/>
                        </a:rPr>
                        <a:t>A12</a:t>
                      </a:r>
                    </a:p>
                  </a:txBody>
                  <a:tcPr>
                    <a:solidFill>
                      <a:srgbClr val="0d1b2a"/>
                    </a:solidFill>
                  </a:tcPr>
                </a:tc>
                <a:tc>
                  <a:txBody>
                    <a:bodyPr/>
                    <a:lstStyle/>
                    <a:p>
                      <a:pPr algn="l"/>
                      <a:r>
                        <a:rPr sz="800" b="0" i="0">
                          <a:solidFill>
                            <a:srgbClr val="FFFFFF"/>
                          </a:solidFill>
                          <a:latin typeface="Calibri"/>
                        </a:rPr>
                        <a:t>27%</a:t>
                      </a:r>
                    </a:p>
                  </a:txBody>
                  <a:tcPr>
                    <a:solidFill>
                      <a:srgbClr val="0d1b2a"/>
                    </a:solidFill>
                  </a:tcPr>
                </a:tc>
                <a:tc>
                  <a:txBody>
                    <a:bodyPr/>
                    <a:lstStyle/>
                    <a:p>
                      <a:pPr algn="l"/>
                      <a:r>
                        <a:rPr sz="800" b="0" i="0">
                          <a:solidFill>
                            <a:srgbClr val="FFFFFF"/>
                          </a:solidFill>
                          <a:latin typeface="Calibri"/>
                        </a:rPr>
                        <a:t>─</a:t>
                      </a:r>
                    </a:p>
                  </a:txBody>
                  <a:tcPr>
                    <a:solidFill>
                      <a:srgbClr val="0d1b2a"/>
                    </a:solidFill>
                  </a:tcPr>
                </a:tc>
              </a:tr>
              <a:tr h="256032">
                <a:tc>
                  <a:txBody>
                    <a:bodyPr/>
                    <a:lstStyle/>
                    <a:p>
                      <a:pPr algn="l"/>
                      <a:r>
                        <a:rPr sz="800" b="0" i="0">
                          <a:solidFill>
                            <a:srgbClr val="FFFFFF"/>
                          </a:solidFill>
                          <a:latin typeface="Calibri"/>
                        </a:rPr>
                        <a:t>epuNSCr7qpA_16</a:t>
                      </a:r>
                    </a:p>
                  </a:txBody>
                  <a:tcPr>
                    <a:solidFill>
                      <a:srgbClr val="152a40"/>
                    </a:solidFill>
                  </a:tcPr>
                </a:tc>
                <a:tc>
                  <a:txBody>
                    <a:bodyPr/>
                    <a:lstStyle/>
                    <a:p>
                      <a:pPr algn="l"/>
                      <a:r>
                        <a:rPr sz="800" b="0" i="0">
                          <a:solidFill>
                            <a:srgbClr val="FFFFFF"/>
                          </a:solidFill>
                          <a:latin typeface="Calibri"/>
                        </a:rPr>
                        <a:t>Good Sem+Len</a:t>
                      </a:r>
                    </a:p>
                  </a:txBody>
                  <a:tcPr>
                    <a:solidFill>
                      <a:srgbClr val="152a40"/>
                    </a:solidFill>
                  </a:tcPr>
                </a:tc>
                <a:tc>
                  <a:txBody>
                    <a:bodyPr/>
                    <a:lstStyle/>
                    <a:p>
                      <a:pPr algn="l"/>
                      <a:r>
                        <a:rPr sz="800" b="0" i="0">
                          <a:solidFill>
                            <a:srgbClr val="FFFFFF"/>
                          </a:solidFill>
                          <a:latin typeface="Calibri"/>
                        </a:rPr>
                        <a:t>A12</a:t>
                      </a:r>
                    </a:p>
                  </a:txBody>
                  <a:tcPr>
                    <a:solidFill>
                      <a:srgbClr val="152a40"/>
                    </a:solidFill>
                  </a:tcPr>
                </a:tc>
                <a:tc>
                  <a:txBody>
                    <a:bodyPr/>
                    <a:lstStyle/>
                    <a:p>
                      <a:pPr algn="l"/>
                      <a:r>
                        <a:rPr sz="800" b="0" i="0">
                          <a:solidFill>
                            <a:srgbClr val="FFFFFF"/>
                          </a:solidFill>
                          <a:latin typeface="Calibri"/>
                        </a:rPr>
                        <a:t>15%</a:t>
                      </a:r>
                    </a:p>
                  </a:txBody>
                  <a:tcPr>
                    <a:solidFill>
                      <a:srgbClr val="152a40"/>
                    </a:solidFill>
                  </a:tcPr>
                </a:tc>
                <a:tc>
                  <a:txBody>
                    <a:bodyPr/>
                    <a:lstStyle/>
                    <a:p>
                      <a:pPr algn="l"/>
                      <a:r>
                        <a:rPr sz="800" b="0" i="0">
                          <a:solidFill>
                            <a:srgbClr val="FFFFFF"/>
                          </a:solidFill>
                          <a:latin typeface="Calibri"/>
                        </a:rPr>
                        <a:t>─</a:t>
                      </a:r>
                    </a:p>
                  </a:txBody>
                  <a:tcPr>
                    <a:solidFill>
                      <a:srgbClr val="152a40"/>
                    </a:solidFill>
                  </a:tcPr>
                </a:tc>
              </a:tr>
              <a:tr h="256032">
                <a:tc>
                  <a:txBody>
                    <a:bodyPr/>
                    <a:lstStyle/>
                    <a:p>
                      <a:pPr algn="l"/>
                      <a:r>
                        <a:rPr sz="800" b="0" i="0">
                          <a:solidFill>
                            <a:srgbClr val="FFFFFF"/>
                          </a:solidFill>
                          <a:latin typeface="Calibri"/>
                        </a:rPr>
                        <a:t>BS4kTgaiydQ_0</a:t>
                      </a:r>
                    </a:p>
                  </a:txBody>
                  <a:tcPr>
                    <a:solidFill>
                      <a:srgbClr val="0d1b2a"/>
                    </a:solidFill>
                  </a:tcPr>
                </a:tc>
                <a:tc>
                  <a:txBody>
                    <a:bodyPr/>
                    <a:lstStyle/>
                    <a:p>
                      <a:pPr algn="l"/>
                      <a:r>
                        <a:rPr sz="800" b="0" i="0">
                          <a:solidFill>
                            <a:srgbClr val="FFFFFF"/>
                          </a:solidFill>
                          <a:latin typeface="Calibri"/>
                        </a:rPr>
                        <a:t>Entity Preserved</a:t>
                      </a:r>
                    </a:p>
                  </a:txBody>
                  <a:tcPr>
                    <a:solidFill>
                      <a:srgbClr val="0d1b2a"/>
                    </a:solidFill>
                  </a:tcPr>
                </a:tc>
                <a:tc>
                  <a:txBody>
                    <a:bodyPr/>
                    <a:lstStyle/>
                    <a:p>
                      <a:pPr algn="l"/>
                      <a:r>
                        <a:rPr sz="800" b="0" i="0">
                          <a:solidFill>
                            <a:srgbClr val="FFFFFF"/>
                          </a:solidFill>
                          <a:latin typeface="Calibri"/>
                        </a:rPr>
                        <a:t>A12</a:t>
                      </a:r>
                    </a:p>
                  </a:txBody>
                  <a:tcPr>
                    <a:solidFill>
                      <a:srgbClr val="0d1b2a"/>
                    </a:solidFill>
                  </a:tcPr>
                </a:tc>
                <a:tc>
                  <a:txBody>
                    <a:bodyPr/>
                    <a:lstStyle/>
                    <a:p>
                      <a:pPr algn="l"/>
                      <a:r>
                        <a:rPr sz="800" b="0" i="0">
                          <a:solidFill>
                            <a:srgbClr val="FFFFFF"/>
                          </a:solidFill>
                          <a:latin typeface="Calibri"/>
                        </a:rPr>
                        <a:t>31%</a:t>
                      </a:r>
                    </a:p>
                  </a:txBody>
                  <a:tcPr>
                    <a:solidFill>
                      <a:srgbClr val="0d1b2a"/>
                    </a:solidFill>
                  </a:tcPr>
                </a:tc>
                <a:tc>
                  <a:txBody>
                    <a:bodyPr/>
                    <a:lstStyle/>
                    <a:p>
                      <a:pPr algn="l"/>
                      <a:r>
                        <a:rPr sz="800" b="0" i="0">
                          <a:solidFill>
                            <a:srgbClr val="FFFFFF"/>
                          </a:solidFill>
                          <a:latin typeface="Calibri"/>
                        </a:rPr>
                        <a:t>★</a:t>
                      </a:r>
                    </a:p>
                  </a:txBody>
                  <a:tcPr>
                    <a:solidFill>
                      <a:srgbClr val="0d1b2a"/>
                    </a:solidFill>
                  </a:tcPr>
                </a:tc>
              </a:tr>
            </a:tbl>
          </a:graphicData>
        </a:graphic>
      </p:graphicFrame>
      <p:graphicFrame>
        <p:nvGraphicFramePr>
          <p:cNvPr id="6" name="Table 5"/>
          <p:cNvGraphicFramePr>
            <a:graphicFrameLocks noGrp="1"/>
          </p:cNvGraphicFramePr>
          <p:nvPr/>
        </p:nvGraphicFramePr>
        <p:xfrm>
          <a:off x="6245352" y="1673352"/>
          <a:ext cx="4663440" cy="4608576"/>
        </p:xfrm>
        <a:graphic>
          <a:graphicData uri="http://schemas.openxmlformats.org/drawingml/2006/table">
            <a:tbl>
              <a:tblPr firstRow="0" bandRow="0" lastRow="0" bandCol="0">
                <a:tableStyleId>{5C22544A-7EE6-4342-B048-85BDC9FD1C3A}</a:tableStyleId>
              </a:tblPr>
              <a:tblGrid>
                <a:gridCol w="1691640"/>
                <a:gridCol w="1371600"/>
                <a:gridCol w="640080"/>
                <a:gridCol w="548640"/>
                <a:gridCol w="411480"/>
              </a:tblGrid>
              <a:tr h="256032">
                <a:tc>
                  <a:txBody>
                    <a:bodyPr/>
                    <a:lstStyle/>
                    <a:p>
                      <a:pPr algn="ctr"/>
                      <a:r>
                        <a:rPr sz="800" b="1" i="0">
                          <a:solidFill>
                            <a:srgbClr val="FFFFFF"/>
                          </a:solidFill>
                          <a:latin typeface="Calibri"/>
                        </a:rPr>
                        <a:t>Segment ID</a:t>
                      </a:r>
                    </a:p>
                  </a:txBody>
                  <a:tcPr>
                    <a:solidFill>
                      <a:srgbClr val="00b4d8"/>
                    </a:solidFill>
                  </a:tcPr>
                </a:tc>
                <a:tc>
                  <a:txBody>
                    <a:bodyPr/>
                    <a:lstStyle/>
                    <a:p>
                      <a:pPr algn="ctr"/>
                      <a:r>
                        <a:rPr sz="800" b="1" i="0">
                          <a:solidFill>
                            <a:srgbClr val="FFFFFF"/>
                          </a:solidFill>
                          <a:latin typeface="Calibri"/>
                        </a:rPr>
                        <a:t>Category</a:t>
                      </a:r>
                    </a:p>
                  </a:txBody>
                  <a:tcPr>
                    <a:solidFill>
                      <a:srgbClr val="00b4d8"/>
                    </a:solidFill>
                  </a:tcPr>
                </a:tc>
                <a:tc>
                  <a:txBody>
                    <a:bodyPr/>
                    <a:lstStyle/>
                    <a:p>
                      <a:pPr algn="ctr"/>
                      <a:r>
                        <a:rPr sz="800" b="1" i="0">
                          <a:solidFill>
                            <a:srgbClr val="FFFFFF"/>
                          </a:solidFill>
                          <a:latin typeface="Calibri"/>
                        </a:rPr>
                        <a:t>Slide</a:t>
                      </a:r>
                    </a:p>
                  </a:txBody>
                  <a:tcPr>
                    <a:solidFill>
                      <a:srgbClr val="00b4d8"/>
                    </a:solidFill>
                  </a:tcPr>
                </a:tc>
                <a:tc>
                  <a:txBody>
                    <a:bodyPr/>
                    <a:lstStyle/>
                    <a:p>
                      <a:pPr algn="ctr"/>
                      <a:r>
                        <a:rPr sz="800" b="1" i="0">
                          <a:solidFill>
                            <a:srgbClr val="FFFFFF"/>
                          </a:solidFill>
                          <a:latin typeface="Calibri"/>
                        </a:rPr>
                        <a:t>WER</a:t>
                      </a:r>
                    </a:p>
                  </a:txBody>
                  <a:tcPr>
                    <a:solidFill>
                      <a:srgbClr val="00b4d8"/>
                    </a:solidFill>
                  </a:tcPr>
                </a:tc>
                <a:tc>
                  <a:txBody>
                    <a:bodyPr/>
                    <a:lstStyle/>
                    <a:p>
                      <a:pPr algn="ctr">
                        <a:defRPr sz="800" b="1" i="0">
                          <a:solidFill>
                            <a:srgbClr val="FFFFFF"/>
                          </a:solidFill>
                          <a:latin typeface="Calibri"/>
                        </a:defRPr>
                      </a:pPr>
                    </a:p>
                  </a:txBody>
                  <a:tcPr>
                    <a:solidFill>
                      <a:srgbClr val="00b4d8"/>
                    </a:solidFill>
                  </a:tcPr>
                </a:tc>
              </a:tr>
              <a:tr h="256032">
                <a:tc>
                  <a:txBody>
                    <a:bodyPr/>
                    <a:lstStyle/>
                    <a:p>
                      <a:pPr algn="l"/>
                      <a:r>
                        <a:rPr sz="800" b="0" i="0">
                          <a:solidFill>
                            <a:srgbClr val="FFFFFF"/>
                          </a:solidFill>
                          <a:latin typeface="Calibri"/>
                        </a:rPr>
                        <a:t>HecEY5bF-xs_5</a:t>
                      </a:r>
                    </a:p>
                  </a:txBody>
                  <a:tcPr>
                    <a:solidFill>
                      <a:srgbClr val="0d1b2a"/>
                    </a:solidFill>
                  </a:tcPr>
                </a:tc>
                <a:tc>
                  <a:txBody>
                    <a:bodyPr/>
                    <a:lstStyle/>
                    <a:p>
                      <a:pPr algn="l"/>
                      <a:r>
                        <a:rPr sz="800" b="0" i="0">
                          <a:solidFill>
                            <a:srgbClr val="FFFFFF"/>
                          </a:solidFill>
                          <a:latin typeface="Calibri"/>
                        </a:rPr>
                        <a:t>Low-Mod WER</a:t>
                      </a:r>
                    </a:p>
                  </a:txBody>
                  <a:tcPr>
                    <a:solidFill>
                      <a:srgbClr val="0d1b2a"/>
                    </a:solidFill>
                  </a:tcPr>
                </a:tc>
                <a:tc>
                  <a:txBody>
                    <a:bodyPr/>
                    <a:lstStyle/>
                    <a:p>
                      <a:pPr algn="l"/>
                      <a:r>
                        <a:rPr sz="800" b="0" i="0">
                          <a:solidFill>
                            <a:srgbClr val="FFFFFF"/>
                          </a:solidFill>
                          <a:latin typeface="Calibri"/>
                        </a:rPr>
                        <a:t>A12</a:t>
                      </a:r>
                    </a:p>
                  </a:txBody>
                  <a:tcPr>
                    <a:solidFill>
                      <a:srgbClr val="0d1b2a"/>
                    </a:solidFill>
                  </a:tcPr>
                </a:tc>
                <a:tc>
                  <a:txBody>
                    <a:bodyPr/>
                    <a:lstStyle/>
                    <a:p>
                      <a:pPr algn="l"/>
                      <a:r>
                        <a:rPr sz="800" b="0" i="0">
                          <a:solidFill>
                            <a:srgbClr val="FFFFFF"/>
                          </a:solidFill>
                          <a:latin typeface="Calibri"/>
                        </a:rPr>
                        <a:t>15%</a:t>
                      </a:r>
                    </a:p>
                  </a:txBody>
                  <a:tcPr>
                    <a:solidFill>
                      <a:srgbClr val="0d1b2a"/>
                    </a:solidFill>
                  </a:tcPr>
                </a:tc>
                <a:tc>
                  <a:txBody>
                    <a:bodyPr/>
                    <a:lstStyle/>
                    <a:p>
                      <a:pPr algn="l"/>
                      <a:r>
                        <a:rPr sz="800" b="0" i="0">
                          <a:solidFill>
                            <a:srgbClr val="FFFFFF"/>
                          </a:solidFill>
                          <a:latin typeface="Calibri"/>
                        </a:rPr>
                        <a:t>─</a:t>
                      </a:r>
                    </a:p>
                  </a:txBody>
                  <a:tcPr>
                    <a:solidFill>
                      <a:srgbClr val="0d1b2a"/>
                    </a:solidFill>
                  </a:tcPr>
                </a:tc>
              </a:tr>
              <a:tr h="256032">
                <a:tc>
                  <a:txBody>
                    <a:bodyPr/>
                    <a:lstStyle/>
                    <a:p>
                      <a:pPr algn="l"/>
                      <a:r>
                        <a:rPr sz="800" b="0" i="0">
                          <a:solidFill>
                            <a:srgbClr val="FFFFFF"/>
                          </a:solidFill>
                          <a:latin typeface="Calibri"/>
                        </a:rPr>
                        <a:t>c6eBrYor21I_10</a:t>
                      </a:r>
                    </a:p>
                  </a:txBody>
                  <a:tcPr>
                    <a:solidFill>
                      <a:srgbClr val="152a40"/>
                    </a:solidFill>
                  </a:tcPr>
                </a:tc>
                <a:tc>
                  <a:txBody>
                    <a:bodyPr/>
                    <a:lstStyle/>
                    <a:p>
                      <a:pPr algn="l"/>
                      <a:r>
                        <a:rPr sz="800" b="0" i="0">
                          <a:solidFill>
                            <a:srgbClr val="FFFFFF"/>
                          </a:solidFill>
                          <a:latin typeface="Calibri"/>
                        </a:rPr>
                        <a:t>Sem+Phonetic</a:t>
                      </a:r>
                    </a:p>
                  </a:txBody>
                  <a:tcPr>
                    <a:solidFill>
                      <a:srgbClr val="152a40"/>
                    </a:solidFill>
                  </a:tcPr>
                </a:tc>
                <a:tc>
                  <a:txBody>
                    <a:bodyPr/>
                    <a:lstStyle/>
                    <a:p>
                      <a:pPr algn="l"/>
                      <a:r>
                        <a:rPr sz="800" b="0" i="0">
                          <a:solidFill>
                            <a:srgbClr val="FFFFFF"/>
                          </a:solidFill>
                          <a:latin typeface="Calibri"/>
                        </a:rPr>
                        <a:t>A12</a:t>
                      </a:r>
                    </a:p>
                  </a:txBody>
                  <a:tcPr>
                    <a:solidFill>
                      <a:srgbClr val="152a40"/>
                    </a:solidFill>
                  </a:tcPr>
                </a:tc>
                <a:tc>
                  <a:txBody>
                    <a:bodyPr/>
                    <a:lstStyle/>
                    <a:p>
                      <a:pPr algn="l"/>
                      <a:r>
                        <a:rPr sz="800" b="0" i="0">
                          <a:solidFill>
                            <a:srgbClr val="FFFFFF"/>
                          </a:solidFill>
                          <a:latin typeface="Calibri"/>
                        </a:rPr>
                        <a:t>52%</a:t>
                      </a:r>
                    </a:p>
                  </a:txBody>
                  <a:tcPr>
                    <a:solidFill>
                      <a:srgbClr val="152a40"/>
                    </a:solidFill>
                  </a:tcPr>
                </a:tc>
                <a:tc>
                  <a:txBody>
                    <a:bodyPr/>
                    <a:lstStyle/>
                    <a:p>
                      <a:pPr algn="l"/>
                      <a:r>
                        <a:rPr sz="800" b="0" i="0">
                          <a:solidFill>
                            <a:srgbClr val="FFFFFF"/>
                          </a:solidFill>
                          <a:latin typeface="Calibri"/>
                        </a:rPr>
                        <a:t>─</a:t>
                      </a:r>
                    </a:p>
                  </a:txBody>
                  <a:tcPr>
                    <a:solidFill>
                      <a:srgbClr val="152a40"/>
                    </a:solidFill>
                  </a:tcPr>
                </a:tc>
              </a:tr>
              <a:tr h="256032">
                <a:tc>
                  <a:txBody>
                    <a:bodyPr/>
                    <a:lstStyle/>
                    <a:p>
                      <a:pPr algn="l"/>
                      <a:r>
                        <a:rPr sz="800" b="0" i="0">
                          <a:solidFill>
                            <a:srgbClr val="FFFFFF"/>
                          </a:solidFill>
                          <a:latin typeface="Calibri"/>
                        </a:rPr>
                        <a:t>1RkFwRhhcWQ_0</a:t>
                      </a:r>
                    </a:p>
                  </a:txBody>
                  <a:tcPr>
                    <a:solidFill>
                      <a:srgbClr val="0d1b2a"/>
                    </a:solidFill>
                  </a:tcPr>
                </a:tc>
                <a:tc>
                  <a:txBody>
                    <a:bodyPr/>
                    <a:lstStyle/>
                    <a:p>
                      <a:pPr algn="l"/>
                      <a:r>
                        <a:rPr sz="800" b="0" i="0">
                          <a:solidFill>
                            <a:srgbClr val="FFFFFF"/>
                          </a:solidFill>
                          <a:latin typeface="Calibri"/>
                        </a:rPr>
                        <a:t>Empty Output</a:t>
                      </a:r>
                    </a:p>
                  </a:txBody>
                  <a:tcPr>
                    <a:solidFill>
                      <a:srgbClr val="0d1b2a"/>
                    </a:solidFill>
                  </a:tcPr>
                </a:tc>
                <a:tc>
                  <a:txBody>
                    <a:bodyPr/>
                    <a:lstStyle/>
                    <a:p>
                      <a:pPr algn="l"/>
                      <a:r>
                        <a:rPr sz="800" b="0" i="0">
                          <a:solidFill>
                            <a:srgbClr val="FFFFFF"/>
                          </a:solidFill>
                          <a:latin typeface="Calibri"/>
                        </a:rPr>
                        <a:t>A6</a:t>
                      </a:r>
                    </a:p>
                  </a:txBody>
                  <a:tcPr>
                    <a:solidFill>
                      <a:srgbClr val="0d1b2a"/>
                    </a:solidFill>
                  </a:tcPr>
                </a:tc>
                <a:tc>
                  <a:txBody>
                    <a:bodyPr/>
                    <a:lstStyle/>
                    <a:p>
                      <a:pPr algn="l"/>
                      <a:r>
                        <a:rPr sz="800" b="0" i="0">
                          <a:solidFill>
                            <a:srgbClr val="FFFFFF"/>
                          </a:solidFill>
                          <a:latin typeface="Calibri"/>
                        </a:rPr>
                        <a:t>100%</a:t>
                      </a:r>
                    </a:p>
                  </a:txBody>
                  <a:tcPr>
                    <a:solidFill>
                      <a:srgbClr val="0d1b2a"/>
                    </a:solidFill>
                  </a:tcPr>
                </a:tc>
                <a:tc>
                  <a:txBody>
                    <a:bodyPr/>
                    <a:lstStyle/>
                    <a:p>
                      <a:pPr algn="l"/>
                      <a:r>
                        <a:rPr sz="800" b="0" i="0">
                          <a:solidFill>
                            <a:srgbClr val="FFFFFF"/>
                          </a:solidFill>
                          <a:latin typeface="Calibri"/>
                        </a:rPr>
                        <a:t>─</a:t>
                      </a:r>
                    </a:p>
                  </a:txBody>
                  <a:tcPr>
                    <a:solidFill>
                      <a:srgbClr val="0d1b2a"/>
                    </a:solidFill>
                  </a:tcPr>
                </a:tc>
              </a:tr>
              <a:tr h="256032">
                <a:tc>
                  <a:txBody>
                    <a:bodyPr/>
                    <a:lstStyle/>
                    <a:p>
                      <a:pPr algn="l"/>
                      <a:r>
                        <a:rPr sz="800" b="0" i="0">
                          <a:solidFill>
                            <a:srgbClr val="FFFFFF"/>
                          </a:solidFill>
                          <a:latin typeface="Calibri"/>
                        </a:rPr>
                        <a:t>BmmJujNQvXw_0</a:t>
                      </a:r>
                    </a:p>
                  </a:txBody>
                  <a:tcPr>
                    <a:solidFill>
                      <a:srgbClr val="152a40"/>
                    </a:solidFill>
                  </a:tcPr>
                </a:tc>
                <a:tc>
                  <a:txBody>
                    <a:bodyPr/>
                    <a:lstStyle/>
                    <a:p>
                      <a:pPr algn="l"/>
                      <a:r>
                        <a:rPr sz="800" b="0" i="0">
                          <a:solidFill>
                            <a:srgbClr val="FFFFFF"/>
                          </a:solidFill>
                          <a:latin typeface="Calibri"/>
                        </a:rPr>
                        <a:t>Extreme Halluc.</a:t>
                      </a:r>
                    </a:p>
                  </a:txBody>
                  <a:tcPr>
                    <a:solidFill>
                      <a:srgbClr val="152a40"/>
                    </a:solidFill>
                  </a:tcPr>
                </a:tc>
                <a:tc>
                  <a:txBody>
                    <a:bodyPr/>
                    <a:lstStyle/>
                    <a:p>
                      <a:pPr algn="l"/>
                      <a:r>
                        <a:rPr sz="800" b="0" i="0">
                          <a:solidFill>
                            <a:srgbClr val="FFFFFF"/>
                          </a:solidFill>
                          <a:latin typeface="Calibri"/>
                        </a:rPr>
                        <a:t>A6</a:t>
                      </a:r>
                    </a:p>
                  </a:txBody>
                  <a:tcPr>
                    <a:solidFill>
                      <a:srgbClr val="152a40"/>
                    </a:solidFill>
                  </a:tcPr>
                </a:tc>
                <a:tc>
                  <a:txBody>
                    <a:bodyPr/>
                    <a:lstStyle/>
                    <a:p>
                      <a:pPr algn="l"/>
                      <a:r>
                        <a:rPr sz="800" b="0" i="0">
                          <a:solidFill>
                            <a:srgbClr val="FFFFFF"/>
                          </a:solidFill>
                          <a:latin typeface="Calibri"/>
                        </a:rPr>
                        <a:t>200%</a:t>
                      </a:r>
                    </a:p>
                  </a:txBody>
                  <a:tcPr>
                    <a:solidFill>
                      <a:srgbClr val="152a40"/>
                    </a:solidFill>
                  </a:tcPr>
                </a:tc>
                <a:tc>
                  <a:txBody>
                    <a:bodyPr/>
                    <a:lstStyle/>
                    <a:p>
                      <a:pPr algn="l"/>
                      <a:r>
                        <a:rPr sz="800" b="0" i="0">
                          <a:solidFill>
                            <a:srgbClr val="FFFFFF"/>
                          </a:solidFill>
                          <a:latin typeface="Calibri"/>
                        </a:rPr>
                        <a:t>★</a:t>
                      </a:r>
                    </a:p>
                  </a:txBody>
                  <a:tcPr>
                    <a:solidFill>
                      <a:srgbClr val="152a40"/>
                    </a:solidFill>
                  </a:tcPr>
                </a:tc>
              </a:tr>
              <a:tr h="256032">
                <a:tc>
                  <a:txBody>
                    <a:bodyPr/>
                    <a:lstStyle/>
                    <a:p>
                      <a:pPr algn="l"/>
                      <a:r>
                        <a:rPr sz="800" b="0" i="0">
                          <a:solidFill>
                            <a:srgbClr val="FFFFFF"/>
                          </a:solidFill>
                          <a:latin typeface="Calibri"/>
                        </a:rPr>
                        <a:t>0fmc81KXbB0_0</a:t>
                      </a:r>
                    </a:p>
                  </a:txBody>
                  <a:tcPr>
                    <a:solidFill>
                      <a:srgbClr val="0d1b2a"/>
                    </a:solidFill>
                  </a:tcPr>
                </a:tc>
                <a:tc>
                  <a:txBody>
                    <a:bodyPr/>
                    <a:lstStyle/>
                    <a:p>
                      <a:pPr algn="l"/>
                      <a:r>
                        <a:rPr sz="800" b="0" i="0">
                          <a:solidFill>
                            <a:srgbClr val="FFFFFF"/>
                          </a:solidFill>
                          <a:latin typeface="Calibri"/>
                        </a:rPr>
                        <a:t>Truncation</a:t>
                      </a:r>
                    </a:p>
                  </a:txBody>
                  <a:tcPr>
                    <a:solidFill>
                      <a:srgbClr val="0d1b2a"/>
                    </a:solidFill>
                  </a:tcPr>
                </a:tc>
                <a:tc>
                  <a:txBody>
                    <a:bodyPr/>
                    <a:lstStyle/>
                    <a:p>
                      <a:pPr algn="l"/>
                      <a:r>
                        <a:rPr sz="800" b="0" i="0">
                          <a:solidFill>
                            <a:srgbClr val="FFFFFF"/>
                          </a:solidFill>
                          <a:latin typeface="Calibri"/>
                        </a:rPr>
                        <a:t>A6</a:t>
                      </a:r>
                    </a:p>
                  </a:txBody>
                  <a:tcPr>
                    <a:solidFill>
                      <a:srgbClr val="0d1b2a"/>
                    </a:solidFill>
                  </a:tcPr>
                </a:tc>
                <a:tc>
                  <a:txBody>
                    <a:bodyPr/>
                    <a:lstStyle/>
                    <a:p>
                      <a:pPr algn="l"/>
                      <a:r>
                        <a:rPr sz="800" b="0" i="0">
                          <a:solidFill>
                            <a:srgbClr val="FFFFFF"/>
                          </a:solidFill>
                          <a:latin typeface="Calibri"/>
                        </a:rPr>
                        <a:t>69%</a:t>
                      </a:r>
                    </a:p>
                  </a:txBody>
                  <a:tcPr>
                    <a:solidFill>
                      <a:srgbClr val="0d1b2a"/>
                    </a:solidFill>
                  </a:tcPr>
                </a:tc>
                <a:tc>
                  <a:txBody>
                    <a:bodyPr/>
                    <a:lstStyle/>
                    <a:p>
                      <a:pPr algn="l"/>
                      <a:r>
                        <a:rPr sz="800" b="0" i="0">
                          <a:solidFill>
                            <a:srgbClr val="FFFFFF"/>
                          </a:solidFill>
                          <a:latin typeface="Calibri"/>
                        </a:rPr>
                        <a:t>─</a:t>
                      </a:r>
                    </a:p>
                  </a:txBody>
                  <a:tcPr>
                    <a:solidFill>
                      <a:srgbClr val="0d1b2a"/>
                    </a:solidFill>
                  </a:tcPr>
                </a:tc>
              </a:tr>
              <a:tr h="256032">
                <a:tc>
                  <a:txBody>
                    <a:bodyPr/>
                    <a:lstStyle/>
                    <a:p>
                      <a:pPr algn="l"/>
                      <a:r>
                        <a:rPr sz="800" b="0" i="0">
                          <a:solidFill>
                            <a:srgbClr val="FFFFFF"/>
                          </a:solidFill>
                          <a:latin typeface="Calibri"/>
                        </a:rPr>
                        <a:t>EMfcKvHA5Uc_0</a:t>
                      </a:r>
                    </a:p>
                  </a:txBody>
                  <a:tcPr>
                    <a:solidFill>
                      <a:srgbClr val="152a40"/>
                    </a:solidFill>
                  </a:tcPr>
                </a:tc>
                <a:tc>
                  <a:txBody>
                    <a:bodyPr/>
                    <a:lstStyle/>
                    <a:p>
                      <a:pPr algn="l"/>
                      <a:r>
                        <a:rPr sz="800" b="0" i="0">
                          <a:solidFill>
                            <a:srgbClr val="FFFFFF"/>
                          </a:solidFill>
                          <a:latin typeface="Calibri"/>
                        </a:rPr>
                        <a:t>Entity Destruct.</a:t>
                      </a:r>
                    </a:p>
                  </a:txBody>
                  <a:tcPr>
                    <a:solidFill>
                      <a:srgbClr val="152a40"/>
                    </a:solidFill>
                  </a:tcPr>
                </a:tc>
                <a:tc>
                  <a:txBody>
                    <a:bodyPr/>
                    <a:lstStyle/>
                    <a:p>
                      <a:pPr algn="l"/>
                      <a:r>
                        <a:rPr sz="800" b="0" i="0">
                          <a:solidFill>
                            <a:srgbClr val="FFFFFF"/>
                          </a:solidFill>
                          <a:latin typeface="Calibri"/>
                        </a:rPr>
                        <a:t>A6</a:t>
                      </a:r>
                    </a:p>
                  </a:txBody>
                  <a:tcPr>
                    <a:solidFill>
                      <a:srgbClr val="152a40"/>
                    </a:solidFill>
                  </a:tcPr>
                </a:tc>
                <a:tc>
                  <a:txBody>
                    <a:bodyPr/>
                    <a:lstStyle/>
                    <a:p>
                      <a:pPr algn="l"/>
                      <a:r>
                        <a:rPr sz="800" b="0" i="0">
                          <a:solidFill>
                            <a:srgbClr val="FFFFFF"/>
                          </a:solidFill>
                          <a:latin typeface="Calibri"/>
                        </a:rPr>
                        <a:t>100%</a:t>
                      </a:r>
                    </a:p>
                  </a:txBody>
                  <a:tcPr>
                    <a:solidFill>
                      <a:srgbClr val="152a40"/>
                    </a:solidFill>
                  </a:tcPr>
                </a:tc>
                <a:tc>
                  <a:txBody>
                    <a:bodyPr/>
                    <a:lstStyle/>
                    <a:p>
                      <a:pPr algn="l"/>
                      <a:r>
                        <a:rPr sz="800" b="0" i="0">
                          <a:solidFill>
                            <a:srgbClr val="FFFFFF"/>
                          </a:solidFill>
                          <a:latin typeface="Calibri"/>
                        </a:rPr>
                        <a:t>★</a:t>
                      </a:r>
                    </a:p>
                  </a:txBody>
                  <a:tcPr>
                    <a:solidFill>
                      <a:srgbClr val="152a40"/>
                    </a:solidFill>
                  </a:tcPr>
                </a:tc>
              </a:tr>
              <a:tr h="256032">
                <a:tc>
                  <a:txBody>
                    <a:bodyPr/>
                    <a:lstStyle/>
                    <a:p>
                      <a:pPr algn="l"/>
                      <a:r>
                        <a:rPr sz="800" b="0" i="0">
                          <a:solidFill>
                            <a:srgbClr val="FFFFFF"/>
                          </a:solidFill>
                          <a:latin typeface="Calibri"/>
                        </a:rPr>
                        <a:t>2JuBrr6TW8o_14</a:t>
                      </a:r>
                    </a:p>
                  </a:txBody>
                  <a:tcPr>
                    <a:solidFill>
                      <a:srgbClr val="0d1b2a"/>
                    </a:solidFill>
                  </a:tcPr>
                </a:tc>
                <a:tc>
                  <a:txBody>
                    <a:bodyPr/>
                    <a:lstStyle/>
                    <a:p>
                      <a:pPr algn="l"/>
                      <a:r>
                        <a:rPr sz="800" b="0" i="0">
                          <a:solidFill>
                            <a:srgbClr val="FFFFFF"/>
                          </a:solidFill>
                          <a:latin typeface="Calibri"/>
                        </a:rPr>
                        <a:t>Phonetic Wrong</a:t>
                      </a:r>
                    </a:p>
                  </a:txBody>
                  <a:tcPr>
                    <a:solidFill>
                      <a:srgbClr val="0d1b2a"/>
                    </a:solidFill>
                  </a:tcPr>
                </a:tc>
                <a:tc>
                  <a:txBody>
                    <a:bodyPr/>
                    <a:lstStyle/>
                    <a:p>
                      <a:pPr algn="l"/>
                      <a:r>
                        <a:rPr sz="800" b="0" i="0">
                          <a:solidFill>
                            <a:srgbClr val="FFFFFF"/>
                          </a:solidFill>
                          <a:latin typeface="Calibri"/>
                        </a:rPr>
                        <a:t>A6</a:t>
                      </a:r>
                    </a:p>
                  </a:txBody>
                  <a:tcPr>
                    <a:solidFill>
                      <a:srgbClr val="0d1b2a"/>
                    </a:solidFill>
                  </a:tcPr>
                </a:tc>
                <a:tc>
                  <a:txBody>
                    <a:bodyPr/>
                    <a:lstStyle/>
                    <a:p>
                      <a:pPr algn="l"/>
                      <a:r>
                        <a:rPr sz="800" b="0" i="0">
                          <a:solidFill>
                            <a:srgbClr val="FFFFFF"/>
                          </a:solidFill>
                          <a:latin typeface="Calibri"/>
                        </a:rPr>
                        <a:t>100%</a:t>
                      </a:r>
                    </a:p>
                  </a:txBody>
                  <a:tcPr>
                    <a:solidFill>
                      <a:srgbClr val="0d1b2a"/>
                    </a:solidFill>
                  </a:tcPr>
                </a:tc>
                <a:tc>
                  <a:txBody>
                    <a:bodyPr/>
                    <a:lstStyle/>
                    <a:p>
                      <a:pPr algn="l"/>
                      <a:r>
                        <a:rPr sz="800" b="0" i="0">
                          <a:solidFill>
                            <a:srgbClr val="FFFFFF"/>
                          </a:solidFill>
                          <a:latin typeface="Calibri"/>
                        </a:rPr>
                        <a:t>─</a:t>
                      </a:r>
                    </a:p>
                  </a:txBody>
                  <a:tcPr>
                    <a:solidFill>
                      <a:srgbClr val="0d1b2a"/>
                    </a:solidFill>
                  </a:tcPr>
                </a:tc>
              </a:tr>
              <a:tr h="256032">
                <a:tc>
                  <a:txBody>
                    <a:bodyPr/>
                    <a:lstStyle/>
                    <a:p>
                      <a:pPr algn="l"/>
                      <a:r>
                        <a:rPr sz="800" b="0" i="0">
                          <a:solidFill>
                            <a:srgbClr val="FFFFFF"/>
                          </a:solidFill>
                          <a:latin typeface="Calibri"/>
                        </a:rPr>
                        <a:t>ZnoJxsXKULY_0</a:t>
                      </a:r>
                    </a:p>
                  </a:txBody>
                  <a:tcPr>
                    <a:solidFill>
                      <a:srgbClr val="152a40"/>
                    </a:solidFill>
                  </a:tcPr>
                </a:tc>
                <a:tc>
                  <a:txBody>
                    <a:bodyPr/>
                    <a:lstStyle/>
                    <a:p>
                      <a:pPr algn="l"/>
                      <a:r>
                        <a:rPr sz="800" b="0" i="0">
                          <a:solidFill>
                            <a:srgbClr val="FFFFFF"/>
                          </a:solidFill>
                          <a:latin typeface="Calibri"/>
                        </a:rPr>
                        <a:t>High Error Rate</a:t>
                      </a:r>
                    </a:p>
                  </a:txBody>
                  <a:tcPr>
                    <a:solidFill>
                      <a:srgbClr val="152a40"/>
                    </a:solidFill>
                  </a:tcPr>
                </a:tc>
                <a:tc>
                  <a:txBody>
                    <a:bodyPr/>
                    <a:lstStyle/>
                    <a:p>
                      <a:pPr algn="l"/>
                      <a:r>
                        <a:rPr sz="800" b="0" i="0">
                          <a:solidFill>
                            <a:srgbClr val="FFFFFF"/>
                          </a:solidFill>
                          <a:latin typeface="Calibri"/>
                        </a:rPr>
                        <a:t>A6</a:t>
                      </a:r>
                    </a:p>
                  </a:txBody>
                  <a:tcPr>
                    <a:solidFill>
                      <a:srgbClr val="152a40"/>
                    </a:solidFill>
                  </a:tcPr>
                </a:tc>
                <a:tc>
                  <a:txBody>
                    <a:bodyPr/>
                    <a:lstStyle/>
                    <a:p>
                      <a:pPr algn="l"/>
                      <a:r>
                        <a:rPr sz="800" b="0" i="0">
                          <a:solidFill>
                            <a:srgbClr val="FFFFFF"/>
                          </a:solidFill>
                          <a:latin typeface="Calibri"/>
                        </a:rPr>
                        <a:t>100%</a:t>
                      </a:r>
                    </a:p>
                  </a:txBody>
                  <a:tcPr>
                    <a:solidFill>
                      <a:srgbClr val="152a40"/>
                    </a:solidFill>
                  </a:tcPr>
                </a:tc>
                <a:tc>
                  <a:txBody>
                    <a:bodyPr/>
                    <a:lstStyle/>
                    <a:p>
                      <a:pPr algn="l"/>
                      <a:r>
                        <a:rPr sz="800" b="0" i="0">
                          <a:solidFill>
                            <a:srgbClr val="FFFFFF"/>
                          </a:solidFill>
                          <a:latin typeface="Calibri"/>
                        </a:rPr>
                        <a:t>─</a:t>
                      </a:r>
                    </a:p>
                  </a:txBody>
                  <a:tcPr>
                    <a:solidFill>
                      <a:srgbClr val="152a40"/>
                    </a:solidFill>
                  </a:tcPr>
                </a:tc>
              </a:tr>
              <a:tr h="256032">
                <a:tc>
                  <a:txBody>
                    <a:bodyPr/>
                    <a:lstStyle/>
                    <a:p>
                      <a:pPr algn="l"/>
                      <a:r>
                        <a:rPr sz="800" b="0" i="0">
                          <a:solidFill>
                            <a:srgbClr val="FFFFFF"/>
                          </a:solidFill>
                          <a:latin typeface="Calibri"/>
                        </a:rPr>
                        <a:t>49qxSMt4Xe0_0</a:t>
                      </a:r>
                    </a:p>
                  </a:txBody>
                  <a:tcPr>
                    <a:solidFill>
                      <a:srgbClr val="0d1b2a"/>
                    </a:solidFill>
                  </a:tcPr>
                </a:tc>
                <a:tc>
                  <a:txBody>
                    <a:bodyPr/>
                    <a:lstStyle/>
                    <a:p>
                      <a:pPr algn="l"/>
                      <a:r>
                        <a:rPr sz="800" b="0" i="0">
                          <a:solidFill>
                            <a:srgbClr val="FFFFFF"/>
                          </a:solidFill>
                          <a:latin typeface="Calibri"/>
                        </a:rPr>
                        <a:t>Accum. Errors</a:t>
                      </a:r>
                    </a:p>
                  </a:txBody>
                  <a:tcPr>
                    <a:solidFill>
                      <a:srgbClr val="0d1b2a"/>
                    </a:solidFill>
                  </a:tcPr>
                </a:tc>
                <a:tc>
                  <a:txBody>
                    <a:bodyPr/>
                    <a:lstStyle/>
                    <a:p>
                      <a:pPr algn="l"/>
                      <a:r>
                        <a:rPr sz="800" b="0" i="0">
                          <a:solidFill>
                            <a:srgbClr val="FFFFFF"/>
                          </a:solidFill>
                          <a:latin typeface="Calibri"/>
                        </a:rPr>
                        <a:t>A6</a:t>
                      </a:r>
                    </a:p>
                  </a:txBody>
                  <a:tcPr>
                    <a:solidFill>
                      <a:srgbClr val="0d1b2a"/>
                    </a:solidFill>
                  </a:tcPr>
                </a:tc>
                <a:tc>
                  <a:txBody>
                    <a:bodyPr/>
                    <a:lstStyle/>
                    <a:p>
                      <a:pPr algn="l"/>
                      <a:r>
                        <a:rPr sz="800" b="0" i="0">
                          <a:solidFill>
                            <a:srgbClr val="FFFFFF"/>
                          </a:solidFill>
                          <a:latin typeface="Calibri"/>
                        </a:rPr>
                        <a:t>68%</a:t>
                      </a:r>
                    </a:p>
                  </a:txBody>
                  <a:tcPr>
                    <a:solidFill>
                      <a:srgbClr val="0d1b2a"/>
                    </a:solidFill>
                  </a:tcPr>
                </a:tc>
                <a:tc>
                  <a:txBody>
                    <a:bodyPr/>
                    <a:lstStyle/>
                    <a:p>
                      <a:pPr algn="l"/>
                      <a:r>
                        <a:rPr sz="800" b="0" i="0">
                          <a:solidFill>
                            <a:srgbClr val="FFFFFF"/>
                          </a:solidFill>
                          <a:latin typeface="Calibri"/>
                        </a:rPr>
                        <a:t>─</a:t>
                      </a:r>
                    </a:p>
                  </a:txBody>
                  <a:tcPr>
                    <a:solidFill>
                      <a:srgbClr val="0d1b2a"/>
                    </a:solidFill>
                  </a:tcPr>
                </a:tc>
              </a:tr>
              <a:tr h="256032">
                <a:tc>
                  <a:txBody>
                    <a:bodyPr/>
                    <a:lstStyle/>
                    <a:p>
                      <a:pPr algn="l"/>
                      <a:r>
                        <a:rPr sz="800" b="0" i="0">
                          <a:solidFill>
                            <a:srgbClr val="FFFFFF"/>
                          </a:solidFill>
                          <a:latin typeface="Calibri"/>
                        </a:rPr>
                        <a:t>xITCbZxwLn4_0</a:t>
                      </a:r>
                    </a:p>
                  </a:txBody>
                  <a:tcPr>
                    <a:solidFill>
                      <a:srgbClr val="152a40"/>
                    </a:solidFill>
                  </a:tcPr>
                </a:tc>
                <a:tc>
                  <a:txBody>
                    <a:bodyPr/>
                    <a:lstStyle/>
                    <a:p>
                      <a:pPr algn="l"/>
                      <a:r>
                        <a:rPr sz="800" b="0" i="0">
                          <a:solidFill>
                            <a:srgbClr val="FFFFFF"/>
                          </a:solidFill>
                          <a:latin typeface="Calibri"/>
                        </a:rPr>
                        <a:t>Content Errors</a:t>
                      </a:r>
                    </a:p>
                  </a:txBody>
                  <a:tcPr>
                    <a:solidFill>
                      <a:srgbClr val="152a40"/>
                    </a:solidFill>
                  </a:tcPr>
                </a:tc>
                <a:tc>
                  <a:txBody>
                    <a:bodyPr/>
                    <a:lstStyle/>
                    <a:p>
                      <a:pPr algn="l"/>
                      <a:r>
                        <a:rPr sz="800" b="0" i="0">
                          <a:solidFill>
                            <a:srgbClr val="FFFFFF"/>
                          </a:solidFill>
                          <a:latin typeface="Calibri"/>
                        </a:rPr>
                        <a:t>A6</a:t>
                      </a:r>
                    </a:p>
                  </a:txBody>
                  <a:tcPr>
                    <a:solidFill>
                      <a:srgbClr val="152a40"/>
                    </a:solidFill>
                  </a:tcPr>
                </a:tc>
                <a:tc>
                  <a:txBody>
                    <a:bodyPr/>
                    <a:lstStyle/>
                    <a:p>
                      <a:pPr algn="l"/>
                      <a:r>
                        <a:rPr sz="800" b="0" i="0">
                          <a:solidFill>
                            <a:srgbClr val="FFFFFF"/>
                          </a:solidFill>
                          <a:latin typeface="Calibri"/>
                        </a:rPr>
                        <a:t>60%</a:t>
                      </a:r>
                    </a:p>
                  </a:txBody>
                  <a:tcPr>
                    <a:solidFill>
                      <a:srgbClr val="152a40"/>
                    </a:solidFill>
                  </a:tcPr>
                </a:tc>
                <a:tc>
                  <a:txBody>
                    <a:bodyPr/>
                    <a:lstStyle/>
                    <a:p>
                      <a:pPr algn="l"/>
                      <a:r>
                        <a:rPr sz="800" b="0" i="0">
                          <a:solidFill>
                            <a:srgbClr val="FFFFFF"/>
                          </a:solidFill>
                          <a:latin typeface="Calibri"/>
                        </a:rPr>
                        <a:t>─</a:t>
                      </a:r>
                    </a:p>
                  </a:txBody>
                  <a:tcPr>
                    <a:solidFill>
                      <a:srgbClr val="152a40"/>
                    </a:solidFill>
                  </a:tcPr>
                </a:tc>
              </a:tr>
              <a:tr h="256032">
                <a:tc>
                  <a:txBody>
                    <a:bodyPr/>
                    <a:lstStyle/>
                    <a:p>
                      <a:pPr algn="l"/>
                      <a:r>
                        <a:rPr sz="800" b="0" i="0">
                          <a:solidFill>
                            <a:srgbClr val="FFFFFF"/>
                          </a:solidFill>
                          <a:latin typeface="Calibri"/>
                        </a:rPr>
                        <a:t>KcDqXon7I3c_0</a:t>
                      </a:r>
                    </a:p>
                  </a:txBody>
                  <a:tcPr>
                    <a:solidFill>
                      <a:srgbClr val="0d1b2a"/>
                    </a:solidFill>
                  </a:tcPr>
                </a:tc>
                <a:tc>
                  <a:txBody>
                    <a:bodyPr/>
                    <a:lstStyle/>
                    <a:p>
                      <a:pPr algn="l"/>
                      <a:r>
                        <a:rPr sz="800" b="0" i="0">
                          <a:solidFill>
                            <a:srgbClr val="FFFFFF"/>
                          </a:solidFill>
                          <a:latin typeface="Calibri"/>
                        </a:rPr>
                        <a:t>Over-generation</a:t>
                      </a:r>
                    </a:p>
                  </a:txBody>
                  <a:tcPr>
                    <a:solidFill>
                      <a:srgbClr val="0d1b2a"/>
                    </a:solidFill>
                  </a:tcPr>
                </a:tc>
                <a:tc>
                  <a:txBody>
                    <a:bodyPr/>
                    <a:lstStyle/>
                    <a:p>
                      <a:pPr algn="l"/>
                      <a:r>
                        <a:rPr sz="800" b="0" i="0">
                          <a:solidFill>
                            <a:srgbClr val="FFFFFF"/>
                          </a:solidFill>
                          <a:latin typeface="Calibri"/>
                        </a:rPr>
                        <a:t>A6</a:t>
                      </a:r>
                    </a:p>
                  </a:txBody>
                  <a:tcPr>
                    <a:solidFill>
                      <a:srgbClr val="0d1b2a"/>
                    </a:solidFill>
                  </a:tcPr>
                </a:tc>
                <a:tc>
                  <a:txBody>
                    <a:bodyPr/>
                    <a:lstStyle/>
                    <a:p>
                      <a:pPr algn="l"/>
                      <a:r>
                        <a:rPr sz="800" b="0" i="0">
                          <a:solidFill>
                            <a:srgbClr val="FFFFFF"/>
                          </a:solidFill>
                          <a:latin typeface="Calibri"/>
                        </a:rPr>
                        <a:t>100%</a:t>
                      </a:r>
                    </a:p>
                  </a:txBody>
                  <a:tcPr>
                    <a:solidFill>
                      <a:srgbClr val="0d1b2a"/>
                    </a:solidFill>
                  </a:tcPr>
                </a:tc>
                <a:tc>
                  <a:txBody>
                    <a:bodyPr/>
                    <a:lstStyle/>
                    <a:p>
                      <a:pPr algn="l"/>
                      <a:r>
                        <a:rPr sz="800" b="0" i="0">
                          <a:solidFill>
                            <a:srgbClr val="FFFFFF"/>
                          </a:solidFill>
                          <a:latin typeface="Calibri"/>
                        </a:rPr>
                        <a:t>─</a:t>
                      </a:r>
                    </a:p>
                  </a:txBody>
                  <a:tcPr>
                    <a:solidFill>
                      <a:srgbClr val="0d1b2a"/>
                    </a:solidFill>
                  </a:tcPr>
                </a:tc>
              </a:tr>
              <a:tr h="256032">
                <a:tc>
                  <a:txBody>
                    <a:bodyPr/>
                    <a:lstStyle/>
                    <a:p>
                      <a:pPr algn="l"/>
                      <a:r>
                        <a:rPr sz="800" b="0" i="0">
                          <a:solidFill>
                            <a:srgbClr val="FFFFFF"/>
                          </a:solidFill>
                          <a:latin typeface="Calibri"/>
                        </a:rPr>
                        <a:t>10xhJGx6-kc_0</a:t>
                      </a:r>
                    </a:p>
                  </a:txBody>
                  <a:tcPr>
                    <a:solidFill>
                      <a:srgbClr val="152a40"/>
                    </a:solidFill>
                  </a:tcPr>
                </a:tc>
                <a:tc>
                  <a:txBody>
                    <a:bodyPr/>
                    <a:lstStyle/>
                    <a:p>
                      <a:pPr algn="l"/>
                      <a:r>
                        <a:rPr sz="800" b="0" i="0">
                          <a:solidFill>
                            <a:srgbClr val="FFFFFF"/>
                          </a:solidFill>
                          <a:latin typeface="Calibri"/>
                        </a:rPr>
                        <a:t>WER&gt;&gt;WWER</a:t>
                      </a:r>
                    </a:p>
                  </a:txBody>
                  <a:tcPr>
                    <a:solidFill>
                      <a:srgbClr val="152a40"/>
                    </a:solidFill>
                  </a:tcPr>
                </a:tc>
                <a:tc>
                  <a:txBody>
                    <a:bodyPr/>
                    <a:lstStyle/>
                    <a:p>
                      <a:pPr algn="l"/>
                      <a:r>
                        <a:rPr sz="800" b="0" i="0">
                          <a:solidFill>
                            <a:srgbClr val="FFFFFF"/>
                          </a:solidFill>
                          <a:latin typeface="Calibri"/>
                        </a:rPr>
                        <a:t>A14b</a:t>
                      </a:r>
                    </a:p>
                  </a:txBody>
                  <a:tcPr>
                    <a:solidFill>
                      <a:srgbClr val="152a40"/>
                    </a:solidFill>
                  </a:tcPr>
                </a:tc>
                <a:tc>
                  <a:txBody>
                    <a:bodyPr/>
                    <a:lstStyle/>
                    <a:p>
                      <a:pPr algn="l"/>
                      <a:r>
                        <a:rPr sz="800" b="0" i="0">
                          <a:solidFill>
                            <a:srgbClr val="FFFFFF"/>
                          </a:solidFill>
                          <a:latin typeface="Calibri"/>
                        </a:rPr>
                        <a:t>71%</a:t>
                      </a:r>
                    </a:p>
                  </a:txBody>
                  <a:tcPr>
                    <a:solidFill>
                      <a:srgbClr val="152a40"/>
                    </a:solidFill>
                  </a:tcPr>
                </a:tc>
                <a:tc>
                  <a:txBody>
                    <a:bodyPr/>
                    <a:lstStyle/>
                    <a:p>
                      <a:pPr algn="l"/>
                      <a:r>
                        <a:rPr sz="800" b="0" i="0">
                          <a:solidFill>
                            <a:srgbClr val="FFFFFF"/>
                          </a:solidFill>
                          <a:latin typeface="Calibri"/>
                        </a:rPr>
                        <a:t>─</a:t>
                      </a:r>
                    </a:p>
                  </a:txBody>
                  <a:tcPr>
                    <a:solidFill>
                      <a:srgbClr val="152a40"/>
                    </a:solidFill>
                  </a:tcPr>
                </a:tc>
              </a:tr>
              <a:tr h="256032">
                <a:tc>
                  <a:txBody>
                    <a:bodyPr/>
                    <a:lstStyle/>
                    <a:p>
                      <a:pPr algn="l"/>
                      <a:r>
                        <a:rPr sz="800" b="0" i="0">
                          <a:solidFill>
                            <a:srgbClr val="FFFFFF"/>
                          </a:solidFill>
                          <a:latin typeface="Calibri"/>
                        </a:rPr>
                        <a:t>-WqvFSuRYo0_12</a:t>
                      </a:r>
                    </a:p>
                  </a:txBody>
                  <a:tcPr>
                    <a:solidFill>
                      <a:srgbClr val="0d1b2a"/>
                    </a:solidFill>
                  </a:tcPr>
                </a:tc>
                <a:tc>
                  <a:txBody>
                    <a:bodyPr/>
                    <a:lstStyle/>
                    <a:p>
                      <a:pPr algn="l"/>
                      <a:r>
                        <a:rPr sz="800" b="0" i="0">
                          <a:solidFill>
                            <a:srgbClr val="FFFFFF"/>
                          </a:solidFill>
                          <a:latin typeface="Calibri"/>
                        </a:rPr>
                        <a:t>WWER&gt;&gt;WER</a:t>
                      </a:r>
                    </a:p>
                  </a:txBody>
                  <a:tcPr>
                    <a:solidFill>
                      <a:srgbClr val="0d1b2a"/>
                    </a:solidFill>
                  </a:tcPr>
                </a:tc>
                <a:tc>
                  <a:txBody>
                    <a:bodyPr/>
                    <a:lstStyle/>
                    <a:p>
                      <a:pPr algn="l"/>
                      <a:r>
                        <a:rPr sz="800" b="0" i="0">
                          <a:solidFill>
                            <a:srgbClr val="FFFFFF"/>
                          </a:solidFill>
                          <a:latin typeface="Calibri"/>
                        </a:rPr>
                        <a:t>A14b</a:t>
                      </a:r>
                    </a:p>
                  </a:txBody>
                  <a:tcPr>
                    <a:solidFill>
                      <a:srgbClr val="0d1b2a"/>
                    </a:solidFill>
                  </a:tcPr>
                </a:tc>
                <a:tc>
                  <a:txBody>
                    <a:bodyPr/>
                    <a:lstStyle/>
                    <a:p>
                      <a:pPr algn="l"/>
                      <a:r>
                        <a:rPr sz="800" b="0" i="0">
                          <a:solidFill>
                            <a:srgbClr val="FFFFFF"/>
                          </a:solidFill>
                          <a:latin typeface="Calibri"/>
                        </a:rPr>
                        <a:t>27%</a:t>
                      </a:r>
                    </a:p>
                  </a:txBody>
                  <a:tcPr>
                    <a:solidFill>
                      <a:srgbClr val="0d1b2a"/>
                    </a:solidFill>
                  </a:tcPr>
                </a:tc>
                <a:tc>
                  <a:txBody>
                    <a:bodyPr/>
                    <a:lstStyle/>
                    <a:p>
                      <a:pPr algn="l"/>
                      <a:r>
                        <a:rPr sz="800" b="0" i="0">
                          <a:solidFill>
                            <a:srgbClr val="FFFFFF"/>
                          </a:solidFill>
                          <a:latin typeface="Calibri"/>
                        </a:rPr>
                        <a:t>─</a:t>
                      </a:r>
                    </a:p>
                  </a:txBody>
                  <a:tcPr>
                    <a:solidFill>
                      <a:srgbClr val="0d1b2a"/>
                    </a:solidFill>
                  </a:tcPr>
                </a:tc>
              </a:tr>
              <a:tr h="256032">
                <a:tc>
                  <a:txBody>
                    <a:bodyPr/>
                    <a:lstStyle/>
                    <a:p>
                      <a:pPr algn="l"/>
                      <a:r>
                        <a:rPr sz="800" b="0" i="0">
                          <a:solidFill>
                            <a:srgbClr val="FFFFFF"/>
                          </a:solidFill>
                          <a:latin typeface="Calibri"/>
                        </a:rPr>
                        <a:t>1whXJLCrTjY_0</a:t>
                      </a:r>
                    </a:p>
                  </a:txBody>
                  <a:tcPr>
                    <a:solidFill>
                      <a:srgbClr val="152a40"/>
                    </a:solidFill>
                  </a:tcPr>
                </a:tc>
                <a:tc>
                  <a:txBody>
                    <a:bodyPr/>
                    <a:lstStyle/>
                    <a:p>
                      <a:pPr algn="l"/>
                      <a:r>
                        <a:rPr sz="800" b="0" i="0">
                          <a:solidFill>
                            <a:srgbClr val="FFFFFF"/>
                          </a:solidFill>
                          <a:latin typeface="Calibri"/>
                        </a:rPr>
                        <a:t>Hi Sem+Hi WER</a:t>
                      </a:r>
                    </a:p>
                  </a:txBody>
                  <a:tcPr>
                    <a:solidFill>
                      <a:srgbClr val="152a40"/>
                    </a:solidFill>
                  </a:tcPr>
                </a:tc>
                <a:tc>
                  <a:txBody>
                    <a:bodyPr/>
                    <a:lstStyle/>
                    <a:p>
                      <a:pPr algn="l"/>
                      <a:r>
                        <a:rPr sz="800" b="0" i="0">
                          <a:solidFill>
                            <a:srgbClr val="FFFFFF"/>
                          </a:solidFill>
                          <a:latin typeface="Calibri"/>
                        </a:rPr>
                        <a:t>A14b</a:t>
                      </a:r>
                    </a:p>
                  </a:txBody>
                  <a:tcPr>
                    <a:solidFill>
                      <a:srgbClr val="152a40"/>
                    </a:solidFill>
                  </a:tcPr>
                </a:tc>
                <a:tc>
                  <a:txBody>
                    <a:bodyPr/>
                    <a:lstStyle/>
                    <a:p>
                      <a:pPr algn="l"/>
                      <a:r>
                        <a:rPr sz="800" b="0" i="0">
                          <a:solidFill>
                            <a:srgbClr val="FFFFFF"/>
                          </a:solidFill>
                          <a:latin typeface="Calibri"/>
                        </a:rPr>
                        <a:t>67%</a:t>
                      </a:r>
                    </a:p>
                  </a:txBody>
                  <a:tcPr>
                    <a:solidFill>
                      <a:srgbClr val="152a40"/>
                    </a:solidFill>
                  </a:tcPr>
                </a:tc>
                <a:tc>
                  <a:txBody>
                    <a:bodyPr/>
                    <a:lstStyle/>
                    <a:p>
                      <a:pPr algn="l"/>
                      <a:r>
                        <a:rPr sz="800" b="0" i="0">
                          <a:solidFill>
                            <a:srgbClr val="FFFFFF"/>
                          </a:solidFill>
                          <a:latin typeface="Calibri"/>
                        </a:rPr>
                        <a:t>─</a:t>
                      </a:r>
                    </a:p>
                  </a:txBody>
                  <a:tcPr>
                    <a:solidFill>
                      <a:srgbClr val="152a40"/>
                    </a:solidFill>
                  </a:tcPr>
                </a:tc>
              </a:tr>
              <a:tr h="256032">
                <a:tc>
                  <a:txBody>
                    <a:bodyPr/>
                    <a:lstStyle/>
                    <a:p>
                      <a:pPr algn="l"/>
                      <a:r>
                        <a:rPr sz="800" b="0" i="0">
                          <a:solidFill>
                            <a:srgbClr val="FFFFFF"/>
                          </a:solidFill>
                          <a:latin typeface="Calibri"/>
                        </a:rPr>
                        <a:t>ZB21bsGO0KA_7</a:t>
                      </a:r>
                    </a:p>
                  </a:txBody>
                  <a:tcPr>
                    <a:solidFill>
                      <a:srgbClr val="0d1b2a"/>
                    </a:solidFill>
                  </a:tcPr>
                </a:tc>
                <a:tc>
                  <a:txBody>
                    <a:bodyPr/>
                    <a:lstStyle/>
                    <a:p>
                      <a:pPr algn="l"/>
                      <a:r>
                        <a:rPr sz="800" b="0" i="0">
                          <a:solidFill>
                            <a:srgbClr val="FFFFFF"/>
                          </a:solidFill>
                          <a:latin typeface="Calibri"/>
                        </a:rPr>
                        <a:t>Lo Sem+Lo WER</a:t>
                      </a:r>
                    </a:p>
                  </a:txBody>
                  <a:tcPr>
                    <a:solidFill>
                      <a:srgbClr val="0d1b2a"/>
                    </a:solidFill>
                  </a:tcPr>
                </a:tc>
                <a:tc>
                  <a:txBody>
                    <a:bodyPr/>
                    <a:lstStyle/>
                    <a:p>
                      <a:pPr algn="l"/>
                      <a:r>
                        <a:rPr sz="800" b="0" i="0">
                          <a:solidFill>
                            <a:srgbClr val="FFFFFF"/>
                          </a:solidFill>
                          <a:latin typeface="Calibri"/>
                        </a:rPr>
                        <a:t>A14b</a:t>
                      </a:r>
                    </a:p>
                  </a:txBody>
                  <a:tcPr>
                    <a:solidFill>
                      <a:srgbClr val="0d1b2a"/>
                    </a:solidFill>
                  </a:tcPr>
                </a:tc>
                <a:tc>
                  <a:txBody>
                    <a:bodyPr/>
                    <a:lstStyle/>
                    <a:p>
                      <a:pPr algn="l"/>
                      <a:r>
                        <a:rPr sz="800" b="0" i="0">
                          <a:solidFill>
                            <a:srgbClr val="FFFFFF"/>
                          </a:solidFill>
                          <a:latin typeface="Calibri"/>
                        </a:rPr>
                        <a:t>40%</a:t>
                      </a:r>
                    </a:p>
                  </a:txBody>
                  <a:tcPr>
                    <a:solidFill>
                      <a:srgbClr val="0d1b2a"/>
                    </a:solidFill>
                  </a:tcPr>
                </a:tc>
                <a:tc>
                  <a:txBody>
                    <a:bodyPr/>
                    <a:lstStyle/>
                    <a:p>
                      <a:pPr algn="l"/>
                      <a:r>
                        <a:rPr sz="800" b="0" i="0">
                          <a:solidFill>
                            <a:srgbClr val="FFFFFF"/>
                          </a:solidFill>
                          <a:latin typeface="Calibri"/>
                        </a:rPr>
                        <a:t>─</a:t>
                      </a:r>
                    </a:p>
                  </a:txBody>
                  <a:tcPr>
                    <a:solidFill>
                      <a:srgbClr val="0d1b2a"/>
                    </a:solidFill>
                  </a:tcPr>
                </a:tc>
              </a:tr>
              <a:tr h="256032">
                <a:tc>
                  <a:txBody>
                    <a:bodyPr/>
                    <a:lstStyle/>
                    <a:p>
                      <a:pPr algn="l"/>
                      <a:r>
                        <a:rPr sz="800" b="0" i="0">
                          <a:solidFill>
                            <a:srgbClr val="FFFFFF"/>
                          </a:solidFill>
                          <a:latin typeface="Calibri"/>
                        </a:rPr>
                        <a:t>2T-C7vQJBis_0</a:t>
                      </a:r>
                    </a:p>
                  </a:txBody>
                  <a:tcPr>
                    <a:solidFill>
                      <a:srgbClr val="152a40"/>
                    </a:solidFill>
                  </a:tcPr>
                </a:tc>
                <a:tc>
                  <a:txBody>
                    <a:bodyPr/>
                    <a:lstStyle/>
                    <a:p>
                      <a:pPr algn="l"/>
                      <a:r>
                        <a:rPr sz="800" b="0" i="0">
                          <a:solidFill>
                            <a:srgbClr val="FFFFFF"/>
                          </a:solidFill>
                          <a:latin typeface="Calibri"/>
                        </a:rPr>
                        <a:t>Hi NEA+WWER</a:t>
                      </a:r>
                    </a:p>
                  </a:txBody>
                  <a:tcPr>
                    <a:solidFill>
                      <a:srgbClr val="152a40"/>
                    </a:solidFill>
                  </a:tcPr>
                </a:tc>
                <a:tc>
                  <a:txBody>
                    <a:bodyPr/>
                    <a:lstStyle/>
                    <a:p>
                      <a:pPr algn="l"/>
                      <a:r>
                        <a:rPr sz="800" b="0" i="0">
                          <a:solidFill>
                            <a:srgbClr val="FFFFFF"/>
                          </a:solidFill>
                          <a:latin typeface="Calibri"/>
                        </a:rPr>
                        <a:t>A14b</a:t>
                      </a:r>
                    </a:p>
                  </a:txBody>
                  <a:tcPr>
                    <a:solidFill>
                      <a:srgbClr val="152a40"/>
                    </a:solidFill>
                  </a:tcPr>
                </a:tc>
                <a:tc>
                  <a:txBody>
                    <a:bodyPr/>
                    <a:lstStyle/>
                    <a:p>
                      <a:pPr algn="l"/>
                      <a:r>
                        <a:rPr sz="800" b="0" i="0">
                          <a:solidFill>
                            <a:srgbClr val="FFFFFF"/>
                          </a:solidFill>
                          <a:latin typeface="Calibri"/>
                        </a:rPr>
                        <a:t>42%</a:t>
                      </a:r>
                    </a:p>
                  </a:txBody>
                  <a:tcPr>
                    <a:solidFill>
                      <a:srgbClr val="152a40"/>
                    </a:solidFill>
                  </a:tcPr>
                </a:tc>
                <a:tc>
                  <a:txBody>
                    <a:bodyPr/>
                    <a:lstStyle/>
                    <a:p>
                      <a:pPr algn="l"/>
                      <a:r>
                        <a:rPr sz="800" b="0" i="0">
                          <a:solidFill>
                            <a:srgbClr val="FFFFFF"/>
                          </a:solidFill>
                          <a:latin typeface="Calibri"/>
                        </a:rPr>
                        <a:t>─</a:t>
                      </a:r>
                    </a:p>
                  </a:txBody>
                  <a:tcPr>
                    <a:solidFill>
                      <a:srgbClr val="152a40"/>
                    </a:solidFill>
                  </a:tcPr>
                </a:tc>
              </a:tr>
              <a:tr h="256032">
                <a:tc>
                  <a:txBody>
                    <a:bodyPr/>
                    <a:lstStyle/>
                    <a:p>
                      <a:pPr algn="l"/>
                      <a:r>
                        <a:rPr sz="800" b="0" i="0">
                          <a:solidFill>
                            <a:srgbClr val="FFFFFF"/>
                          </a:solidFill>
                          <a:latin typeface="Calibri"/>
                        </a:rPr>
                        <a:t>0PQonSiGkVE_0</a:t>
                      </a:r>
                    </a:p>
                  </a:txBody>
                  <a:tcPr>
                    <a:solidFill>
                      <a:srgbClr val="0d1b2a"/>
                    </a:solidFill>
                  </a:tcPr>
                </a:tc>
                <a:tc>
                  <a:txBody>
                    <a:bodyPr/>
                    <a:lstStyle/>
                    <a:p>
                      <a:pPr algn="l"/>
                      <a:r>
                        <a:rPr sz="800" b="0" i="0">
                          <a:solidFill>
                            <a:srgbClr val="FFFFFF"/>
                          </a:solidFill>
                          <a:latin typeface="Calibri"/>
                        </a:rPr>
                        <a:t>LR&gt;1.5+WER</a:t>
                      </a:r>
                    </a:p>
                  </a:txBody>
                  <a:tcPr>
                    <a:solidFill>
                      <a:srgbClr val="0d1b2a"/>
                    </a:solidFill>
                  </a:tcPr>
                </a:tc>
                <a:tc>
                  <a:txBody>
                    <a:bodyPr/>
                    <a:lstStyle/>
                    <a:p>
                      <a:pPr algn="l"/>
                      <a:r>
                        <a:rPr sz="800" b="0" i="0">
                          <a:solidFill>
                            <a:srgbClr val="FFFFFF"/>
                          </a:solidFill>
                          <a:latin typeface="Calibri"/>
                        </a:rPr>
                        <a:t>A14b</a:t>
                      </a:r>
                    </a:p>
                  </a:txBody>
                  <a:tcPr>
                    <a:solidFill>
                      <a:srgbClr val="0d1b2a"/>
                    </a:solidFill>
                  </a:tcPr>
                </a:tc>
                <a:tc>
                  <a:txBody>
                    <a:bodyPr/>
                    <a:lstStyle/>
                    <a:p>
                      <a:pPr algn="l"/>
                      <a:r>
                        <a:rPr sz="800" b="0" i="0">
                          <a:solidFill>
                            <a:srgbClr val="FFFFFF"/>
                          </a:solidFill>
                          <a:latin typeface="Calibri"/>
                        </a:rPr>
                        <a:t>140%</a:t>
                      </a:r>
                    </a:p>
                  </a:txBody>
                  <a:tcPr>
                    <a:solidFill>
                      <a:srgbClr val="0d1b2a"/>
                    </a:solidFill>
                  </a:tcPr>
                </a:tc>
                <a:tc>
                  <a:txBody>
                    <a:bodyPr/>
                    <a:lstStyle/>
                    <a:p>
                      <a:pPr algn="l"/>
                      <a:r>
                        <a:rPr sz="800" b="0" i="0">
                          <a:solidFill>
                            <a:srgbClr val="FFFFFF"/>
                          </a:solidFill>
                          <a:latin typeface="Calibri"/>
                        </a:rPr>
                        <a:t>─</a:t>
                      </a:r>
                    </a:p>
                  </a:txBody>
                  <a:tcPr>
                    <a:solidFill>
                      <a:srgbClr val="0d1b2a"/>
                    </a:solidFill>
                  </a:tcPr>
                </a:tc>
              </a:tr>
            </a:tbl>
          </a:graphicData>
        </a:graphic>
      </p:graphicFrame>
      <p:pic>
        <p:nvPicPr>
          <p:cNvPr id="7" name="Picture 6"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8" name="TextBox 7"/>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A7</a:t>
            </a:r>
          </a:p>
        </p:txBody>
      </p:sp>
    </p:spTree>
  </p:cSld>
  <p:clrMapOvr>
    <a:masterClrMapping/>
  </p:clrMapOvr>
  <p:transition spd="med"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A8: LLM Judge × IS Tier Cross-Tabulation</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65760"/>
          </a:xfrm>
          <a:prstGeom prst="rect">
            <a:avLst/>
          </a:prstGeom>
          <a:noFill/>
        </p:spPr>
        <p:txBody>
          <a:bodyPr wrap="square" anchor="t"/>
          <a:lstStyle/>
          <a:p>
            <a:pPr algn="l"/>
            <a:r>
              <a:rPr sz="1400" b="0" i="0">
                <a:solidFill>
                  <a:srgbClr val="AAAAAA"/>
                </a:solidFill>
                <a:latin typeface="Calibri"/>
              </a:rPr>
              <a:t>How the LLM judge verdict distributes across IS quality tiers (blind evaluation):</a:t>
            </a:r>
          </a:p>
        </p:txBody>
      </p:sp>
      <p:graphicFrame>
        <p:nvGraphicFramePr>
          <p:cNvPr id="5" name="Table 4"/>
          <p:cNvGraphicFramePr>
            <a:graphicFrameLocks noGrp="1"/>
          </p:cNvGraphicFramePr>
          <p:nvPr/>
        </p:nvGraphicFramePr>
        <p:xfrm>
          <a:off x="548640" y="1783080"/>
          <a:ext cx="8046720" cy="2194560"/>
        </p:xfrm>
        <a:graphic>
          <a:graphicData uri="http://schemas.openxmlformats.org/drawingml/2006/table">
            <a:tbl>
              <a:tblPr firstRow="0" bandRow="0" lastRow="0" bandCol="0">
                <a:tableStyleId>{5C22544A-7EE6-4342-B048-85BDC9FD1C3A}</a:tableStyleId>
              </a:tblPr>
              <a:tblGrid>
                <a:gridCol w="2560320"/>
                <a:gridCol w="1005840"/>
                <a:gridCol w="822960"/>
                <a:gridCol w="1005840"/>
                <a:gridCol w="822960"/>
                <a:gridCol w="1005840"/>
                <a:gridCol w="822960"/>
              </a:tblGrid>
              <a:tr h="365760">
                <a:tc>
                  <a:txBody>
                    <a:bodyPr/>
                    <a:lstStyle/>
                    <a:p>
                      <a:pPr algn="ctr"/>
                      <a:r>
                        <a:rPr sz="1100" b="1" i="0">
                          <a:solidFill>
                            <a:srgbClr val="FFFFFF"/>
                          </a:solidFill>
                          <a:latin typeface="Calibri"/>
                        </a:rPr>
                        <a:t>IS Tier</a:t>
                      </a:r>
                    </a:p>
                  </a:txBody>
                  <a:tcPr>
                    <a:solidFill>
                      <a:srgbClr val="00b4d8"/>
                    </a:solidFill>
                  </a:tcPr>
                </a:tc>
                <a:tc>
                  <a:txBody>
                    <a:bodyPr/>
                    <a:lstStyle/>
                    <a:p>
                      <a:pPr algn="ctr"/>
                      <a:r>
                        <a:rPr sz="1100" b="1" i="0">
                          <a:solidFill>
                            <a:srgbClr val="FFFFFF"/>
                          </a:solidFill>
                          <a:latin typeface="Calibri"/>
                        </a:rPr>
                        <a:t>Y (count)</a:t>
                      </a:r>
                    </a:p>
                  </a:txBody>
                  <a:tcPr>
                    <a:solidFill>
                      <a:srgbClr val="00b4d8"/>
                    </a:solidFill>
                  </a:tcPr>
                </a:tc>
                <a:tc>
                  <a:txBody>
                    <a:bodyPr/>
                    <a:lstStyle/>
                    <a:p>
                      <a:pPr algn="ctr"/>
                      <a:r>
                        <a:rPr sz="1100" b="1" i="0">
                          <a:solidFill>
                            <a:srgbClr val="FFFFFF"/>
                          </a:solidFill>
                          <a:latin typeface="Calibri"/>
                        </a:rPr>
                        <a:t>Y%</a:t>
                      </a:r>
                    </a:p>
                  </a:txBody>
                  <a:tcPr>
                    <a:solidFill>
                      <a:srgbClr val="00b4d8"/>
                    </a:solidFill>
                  </a:tcPr>
                </a:tc>
                <a:tc>
                  <a:txBody>
                    <a:bodyPr/>
                    <a:lstStyle/>
                    <a:p>
                      <a:pPr algn="ctr"/>
                      <a:r>
                        <a:rPr sz="1100" b="1" i="0">
                          <a:solidFill>
                            <a:srgbClr val="FFFFFF"/>
                          </a:solidFill>
                          <a:latin typeface="Calibri"/>
                        </a:rPr>
                        <a:t>P (count)</a:t>
                      </a:r>
                    </a:p>
                  </a:txBody>
                  <a:tcPr>
                    <a:solidFill>
                      <a:srgbClr val="00b4d8"/>
                    </a:solidFill>
                  </a:tcPr>
                </a:tc>
                <a:tc>
                  <a:txBody>
                    <a:bodyPr/>
                    <a:lstStyle/>
                    <a:p>
                      <a:pPr algn="ctr"/>
                      <a:r>
                        <a:rPr sz="1100" b="1" i="0">
                          <a:solidFill>
                            <a:srgbClr val="FFFFFF"/>
                          </a:solidFill>
                          <a:latin typeface="Calibri"/>
                        </a:rPr>
                        <a:t>P%</a:t>
                      </a:r>
                    </a:p>
                  </a:txBody>
                  <a:tcPr>
                    <a:solidFill>
                      <a:srgbClr val="00b4d8"/>
                    </a:solidFill>
                  </a:tcPr>
                </a:tc>
                <a:tc>
                  <a:txBody>
                    <a:bodyPr/>
                    <a:lstStyle/>
                    <a:p>
                      <a:pPr algn="ctr"/>
                      <a:r>
                        <a:rPr sz="1100" b="1" i="0">
                          <a:solidFill>
                            <a:srgbClr val="FFFFFF"/>
                          </a:solidFill>
                          <a:latin typeface="Calibri"/>
                        </a:rPr>
                        <a:t>N (count)</a:t>
                      </a:r>
                    </a:p>
                  </a:txBody>
                  <a:tcPr>
                    <a:solidFill>
                      <a:srgbClr val="00b4d8"/>
                    </a:solidFill>
                  </a:tcPr>
                </a:tc>
                <a:tc>
                  <a:txBody>
                    <a:bodyPr/>
                    <a:lstStyle/>
                    <a:p>
                      <a:pPr algn="ctr"/>
                      <a:r>
                        <a:rPr sz="1100" b="1" i="0">
                          <a:solidFill>
                            <a:srgbClr val="FFFFFF"/>
                          </a:solidFill>
                          <a:latin typeface="Calibri"/>
                        </a:rPr>
                        <a:t>N%</a:t>
                      </a:r>
                    </a:p>
                  </a:txBody>
                  <a:tcPr>
                    <a:solidFill>
                      <a:srgbClr val="00b4d8"/>
                    </a:solidFill>
                  </a:tcPr>
                </a:tc>
              </a:tr>
              <a:tr h="365760">
                <a:tc>
                  <a:txBody>
                    <a:bodyPr/>
                    <a:lstStyle/>
                    <a:p>
                      <a:pPr algn="l"/>
                      <a:r>
                        <a:rPr sz="1100" b="0" i="0">
                          <a:solidFill>
                            <a:srgbClr val="FFFFFF"/>
                          </a:solidFill>
                          <a:latin typeface="Calibri"/>
                        </a:rPr>
                        <a:t>5 — Excellent (4.0–5.0)</a:t>
                      </a:r>
                    </a:p>
                  </a:txBody>
                  <a:tcPr>
                    <a:solidFill>
                      <a:srgbClr val="0d1b2a"/>
                    </a:solidFill>
                  </a:tcPr>
                </a:tc>
                <a:tc>
                  <a:txBody>
                    <a:bodyPr/>
                    <a:lstStyle/>
                    <a:p>
                      <a:pPr algn="l"/>
                      <a:r>
                        <a:rPr sz="1100" b="0" i="0">
                          <a:solidFill>
                            <a:srgbClr val="FFFFFF"/>
                          </a:solidFill>
                          <a:latin typeface="Calibri"/>
                        </a:rPr>
                        <a:t>157</a:t>
                      </a:r>
                    </a:p>
                  </a:txBody>
                  <a:tcPr>
                    <a:solidFill>
                      <a:srgbClr val="0d1b2a"/>
                    </a:solidFill>
                  </a:tcPr>
                </a:tc>
                <a:tc>
                  <a:txBody>
                    <a:bodyPr/>
                    <a:lstStyle/>
                    <a:p>
                      <a:pPr algn="l"/>
                      <a:r>
                        <a:rPr sz="1100" b="0" i="0">
                          <a:solidFill>
                            <a:srgbClr val="4CAF50"/>
                          </a:solidFill>
                          <a:latin typeface="Calibri"/>
                        </a:rPr>
                        <a:t>56.9%</a:t>
                      </a:r>
                    </a:p>
                  </a:txBody>
                  <a:tcPr>
                    <a:solidFill>
                      <a:srgbClr val="0d1b2a"/>
                    </a:solidFill>
                  </a:tcPr>
                </a:tc>
                <a:tc>
                  <a:txBody>
                    <a:bodyPr/>
                    <a:lstStyle/>
                    <a:p>
                      <a:pPr algn="l"/>
                      <a:r>
                        <a:rPr sz="1100" b="0" i="0">
                          <a:solidFill>
                            <a:srgbClr val="FFFFFF"/>
                          </a:solidFill>
                          <a:latin typeface="Calibri"/>
                        </a:rPr>
                        <a:t>105</a:t>
                      </a:r>
                    </a:p>
                  </a:txBody>
                  <a:tcPr>
                    <a:solidFill>
                      <a:srgbClr val="0d1b2a"/>
                    </a:solidFill>
                  </a:tcPr>
                </a:tc>
                <a:tc>
                  <a:txBody>
                    <a:bodyPr/>
                    <a:lstStyle/>
                    <a:p>
                      <a:pPr algn="l"/>
                      <a:r>
                        <a:rPr sz="1100" b="0" i="0">
                          <a:solidFill>
                            <a:srgbClr val="FFFFFF"/>
                          </a:solidFill>
                          <a:latin typeface="Calibri"/>
                        </a:rPr>
                        <a:t>38.0%</a:t>
                      </a:r>
                    </a:p>
                  </a:txBody>
                  <a:tcPr>
                    <a:solidFill>
                      <a:srgbClr val="0d1b2a"/>
                    </a:solidFill>
                  </a:tcPr>
                </a:tc>
                <a:tc>
                  <a:txBody>
                    <a:bodyPr/>
                    <a:lstStyle/>
                    <a:p>
                      <a:pPr algn="l"/>
                      <a:r>
                        <a:rPr sz="1100" b="0" i="0">
                          <a:solidFill>
                            <a:srgbClr val="FFFFFF"/>
                          </a:solidFill>
                          <a:latin typeface="Calibri"/>
                        </a:rPr>
                        <a:t>14</a:t>
                      </a:r>
                    </a:p>
                  </a:txBody>
                  <a:tcPr>
                    <a:solidFill>
                      <a:srgbClr val="0d1b2a"/>
                    </a:solidFill>
                  </a:tcPr>
                </a:tc>
                <a:tc>
                  <a:txBody>
                    <a:bodyPr/>
                    <a:lstStyle/>
                    <a:p>
                      <a:pPr algn="l"/>
                      <a:r>
                        <a:rPr sz="1100" b="0" i="0">
                          <a:solidFill>
                            <a:srgbClr val="FFFFFF"/>
                          </a:solidFill>
                          <a:latin typeface="Calibri"/>
                        </a:rPr>
                        <a:t>5.1%</a:t>
                      </a:r>
                    </a:p>
                  </a:txBody>
                  <a:tcPr>
                    <a:solidFill>
                      <a:srgbClr val="0d1b2a"/>
                    </a:solidFill>
                  </a:tcPr>
                </a:tc>
              </a:tr>
              <a:tr h="365760">
                <a:tc>
                  <a:txBody>
                    <a:bodyPr/>
                    <a:lstStyle/>
                    <a:p>
                      <a:pPr algn="l"/>
                      <a:r>
                        <a:rPr sz="1100" b="0" i="0">
                          <a:solidFill>
                            <a:srgbClr val="FFFFFF"/>
                          </a:solidFill>
                          <a:latin typeface="Calibri"/>
                        </a:rPr>
                        <a:t>4 — Good (3.0–3.99)</a:t>
                      </a:r>
                    </a:p>
                  </a:txBody>
                  <a:tcPr>
                    <a:solidFill>
                      <a:srgbClr val="152a40"/>
                    </a:solidFill>
                  </a:tcPr>
                </a:tc>
                <a:tc>
                  <a:txBody>
                    <a:bodyPr/>
                    <a:lstStyle/>
                    <a:p>
                      <a:pPr algn="l"/>
                      <a:r>
                        <a:rPr sz="1100" b="0" i="0">
                          <a:solidFill>
                            <a:srgbClr val="FFFFFF"/>
                          </a:solidFill>
                          <a:latin typeface="Calibri"/>
                        </a:rPr>
                        <a:t>67</a:t>
                      </a:r>
                    </a:p>
                  </a:txBody>
                  <a:tcPr>
                    <a:solidFill>
                      <a:srgbClr val="152a40"/>
                    </a:solidFill>
                  </a:tcPr>
                </a:tc>
                <a:tc>
                  <a:txBody>
                    <a:bodyPr/>
                    <a:lstStyle/>
                    <a:p>
                      <a:pPr algn="l"/>
                      <a:r>
                        <a:rPr sz="1100" b="0" i="0">
                          <a:solidFill>
                            <a:srgbClr val="FFFFFF"/>
                          </a:solidFill>
                          <a:latin typeface="Calibri"/>
                        </a:rPr>
                        <a:t>20.9%</a:t>
                      </a:r>
                    </a:p>
                  </a:txBody>
                  <a:tcPr>
                    <a:solidFill>
                      <a:srgbClr val="152a40"/>
                    </a:solidFill>
                  </a:tcPr>
                </a:tc>
                <a:tc>
                  <a:txBody>
                    <a:bodyPr/>
                    <a:lstStyle/>
                    <a:p>
                      <a:pPr algn="l"/>
                      <a:r>
                        <a:rPr sz="1100" b="0" i="0">
                          <a:solidFill>
                            <a:srgbClr val="FFFFFF"/>
                          </a:solidFill>
                          <a:latin typeface="Calibri"/>
                        </a:rPr>
                        <a:t>189</a:t>
                      </a:r>
                    </a:p>
                  </a:txBody>
                  <a:tcPr>
                    <a:solidFill>
                      <a:srgbClr val="152a40"/>
                    </a:solidFill>
                  </a:tcPr>
                </a:tc>
                <a:tc>
                  <a:txBody>
                    <a:bodyPr/>
                    <a:lstStyle/>
                    <a:p>
                      <a:pPr algn="l"/>
                      <a:r>
                        <a:rPr sz="1100" b="0" i="0">
                          <a:solidFill>
                            <a:srgbClr val="FFFFFF"/>
                          </a:solidFill>
                          <a:latin typeface="Calibri"/>
                        </a:rPr>
                        <a:t>58.9%</a:t>
                      </a:r>
                    </a:p>
                  </a:txBody>
                  <a:tcPr>
                    <a:solidFill>
                      <a:srgbClr val="152a40"/>
                    </a:solidFill>
                  </a:tcPr>
                </a:tc>
                <a:tc>
                  <a:txBody>
                    <a:bodyPr/>
                    <a:lstStyle/>
                    <a:p>
                      <a:pPr algn="l"/>
                      <a:r>
                        <a:rPr sz="1100" b="0" i="0">
                          <a:solidFill>
                            <a:srgbClr val="FFFFFF"/>
                          </a:solidFill>
                          <a:latin typeface="Calibri"/>
                        </a:rPr>
                        <a:t>65</a:t>
                      </a:r>
                    </a:p>
                  </a:txBody>
                  <a:tcPr>
                    <a:solidFill>
                      <a:srgbClr val="152a40"/>
                    </a:solidFill>
                  </a:tcPr>
                </a:tc>
                <a:tc>
                  <a:txBody>
                    <a:bodyPr/>
                    <a:lstStyle/>
                    <a:p>
                      <a:pPr algn="l"/>
                      <a:r>
                        <a:rPr sz="1100" b="0" i="0">
                          <a:solidFill>
                            <a:srgbClr val="FFFFFF"/>
                          </a:solidFill>
                          <a:latin typeface="Calibri"/>
                        </a:rPr>
                        <a:t>20.2%</a:t>
                      </a:r>
                    </a:p>
                  </a:txBody>
                  <a:tcPr>
                    <a:solidFill>
                      <a:srgbClr val="152a40"/>
                    </a:solidFill>
                  </a:tcPr>
                </a:tc>
              </a:tr>
              <a:tr h="365760">
                <a:tc>
                  <a:txBody>
                    <a:bodyPr/>
                    <a:lstStyle/>
                    <a:p>
                      <a:pPr algn="l"/>
                      <a:r>
                        <a:rPr sz="1100" b="0" i="0">
                          <a:solidFill>
                            <a:srgbClr val="FFFFFF"/>
                          </a:solidFill>
                          <a:latin typeface="Calibri"/>
                        </a:rPr>
                        <a:t>3 — Fair (2.0–2.99)</a:t>
                      </a:r>
                    </a:p>
                  </a:txBody>
                  <a:tcPr>
                    <a:solidFill>
                      <a:srgbClr val="0d1b2a"/>
                    </a:solidFill>
                  </a:tcPr>
                </a:tc>
                <a:tc>
                  <a:txBody>
                    <a:bodyPr/>
                    <a:lstStyle/>
                    <a:p>
                      <a:pPr algn="l"/>
                      <a:r>
                        <a:rPr sz="1100" b="0" i="0">
                          <a:solidFill>
                            <a:srgbClr val="FFFFFF"/>
                          </a:solidFill>
                          <a:latin typeface="Calibri"/>
                        </a:rPr>
                        <a:t>25</a:t>
                      </a:r>
                    </a:p>
                  </a:txBody>
                  <a:tcPr>
                    <a:solidFill>
                      <a:srgbClr val="0d1b2a"/>
                    </a:solidFill>
                  </a:tcPr>
                </a:tc>
                <a:tc>
                  <a:txBody>
                    <a:bodyPr/>
                    <a:lstStyle/>
                    <a:p>
                      <a:pPr algn="l"/>
                      <a:r>
                        <a:rPr sz="1100" b="0" i="0">
                          <a:solidFill>
                            <a:srgbClr val="FFFFFF"/>
                          </a:solidFill>
                          <a:latin typeface="Calibri"/>
                        </a:rPr>
                        <a:t>7.7%</a:t>
                      </a:r>
                    </a:p>
                  </a:txBody>
                  <a:tcPr>
                    <a:solidFill>
                      <a:srgbClr val="0d1b2a"/>
                    </a:solidFill>
                  </a:tcPr>
                </a:tc>
                <a:tc>
                  <a:txBody>
                    <a:bodyPr/>
                    <a:lstStyle/>
                    <a:p>
                      <a:pPr algn="l"/>
                      <a:r>
                        <a:rPr sz="1100" b="0" i="0">
                          <a:solidFill>
                            <a:srgbClr val="FFFFFF"/>
                          </a:solidFill>
                          <a:latin typeface="Calibri"/>
                        </a:rPr>
                        <a:t>167</a:t>
                      </a:r>
                    </a:p>
                  </a:txBody>
                  <a:tcPr>
                    <a:solidFill>
                      <a:srgbClr val="0d1b2a"/>
                    </a:solidFill>
                  </a:tcPr>
                </a:tc>
                <a:tc>
                  <a:txBody>
                    <a:bodyPr/>
                    <a:lstStyle/>
                    <a:p>
                      <a:pPr algn="l"/>
                      <a:r>
                        <a:rPr sz="1100" b="0" i="0">
                          <a:solidFill>
                            <a:srgbClr val="FFFFFF"/>
                          </a:solidFill>
                          <a:latin typeface="Calibri"/>
                        </a:rPr>
                        <a:t>51.4%</a:t>
                      </a:r>
                    </a:p>
                  </a:txBody>
                  <a:tcPr>
                    <a:solidFill>
                      <a:srgbClr val="0d1b2a"/>
                    </a:solidFill>
                  </a:tcPr>
                </a:tc>
                <a:tc>
                  <a:txBody>
                    <a:bodyPr/>
                    <a:lstStyle/>
                    <a:p>
                      <a:pPr algn="l"/>
                      <a:r>
                        <a:rPr sz="1100" b="0" i="0">
                          <a:solidFill>
                            <a:srgbClr val="FFFFFF"/>
                          </a:solidFill>
                          <a:latin typeface="Calibri"/>
                        </a:rPr>
                        <a:t>133</a:t>
                      </a:r>
                    </a:p>
                  </a:txBody>
                  <a:tcPr>
                    <a:solidFill>
                      <a:srgbClr val="0d1b2a"/>
                    </a:solidFill>
                  </a:tcPr>
                </a:tc>
                <a:tc>
                  <a:txBody>
                    <a:bodyPr/>
                    <a:lstStyle/>
                    <a:p>
                      <a:pPr algn="l"/>
                      <a:r>
                        <a:rPr sz="1100" b="0" i="0">
                          <a:solidFill>
                            <a:srgbClr val="FFFFFF"/>
                          </a:solidFill>
                          <a:latin typeface="Calibri"/>
                        </a:rPr>
                        <a:t>40.9%</a:t>
                      </a:r>
                    </a:p>
                  </a:txBody>
                  <a:tcPr>
                    <a:solidFill>
                      <a:srgbClr val="0d1b2a"/>
                    </a:solidFill>
                  </a:tcPr>
                </a:tc>
              </a:tr>
              <a:tr h="365760">
                <a:tc>
                  <a:txBody>
                    <a:bodyPr/>
                    <a:lstStyle/>
                    <a:p>
                      <a:pPr algn="l"/>
                      <a:r>
                        <a:rPr sz="1100" b="0" i="0">
                          <a:solidFill>
                            <a:srgbClr val="FFFFFF"/>
                          </a:solidFill>
                          <a:latin typeface="Calibri"/>
                        </a:rPr>
                        <a:t>2 — Poor (1.0–1.99)</a:t>
                      </a:r>
                    </a:p>
                  </a:txBody>
                  <a:tcPr>
                    <a:solidFill>
                      <a:srgbClr val="152a40"/>
                    </a:solidFill>
                  </a:tcPr>
                </a:tc>
                <a:tc>
                  <a:txBody>
                    <a:bodyPr/>
                    <a:lstStyle/>
                    <a:p>
                      <a:pPr algn="l"/>
                      <a:r>
                        <a:rPr sz="1100" b="0" i="0">
                          <a:solidFill>
                            <a:srgbClr val="FFFFFF"/>
                          </a:solidFill>
                          <a:latin typeface="Calibri"/>
                        </a:rPr>
                        <a:t>14</a:t>
                      </a:r>
                    </a:p>
                  </a:txBody>
                  <a:tcPr>
                    <a:solidFill>
                      <a:srgbClr val="152a40"/>
                    </a:solidFill>
                  </a:tcPr>
                </a:tc>
                <a:tc>
                  <a:txBody>
                    <a:bodyPr/>
                    <a:lstStyle/>
                    <a:p>
                      <a:pPr algn="l"/>
                      <a:r>
                        <a:rPr sz="1100" b="0" i="0">
                          <a:solidFill>
                            <a:srgbClr val="FFFFFF"/>
                          </a:solidFill>
                          <a:latin typeface="Calibri"/>
                        </a:rPr>
                        <a:t>4.2%</a:t>
                      </a:r>
                    </a:p>
                  </a:txBody>
                  <a:tcPr>
                    <a:solidFill>
                      <a:srgbClr val="152a40"/>
                    </a:solidFill>
                  </a:tcPr>
                </a:tc>
                <a:tc>
                  <a:txBody>
                    <a:bodyPr/>
                    <a:lstStyle/>
                    <a:p>
                      <a:pPr algn="l"/>
                      <a:r>
                        <a:rPr sz="1100" b="0" i="0">
                          <a:solidFill>
                            <a:srgbClr val="FFFFFF"/>
                          </a:solidFill>
                          <a:latin typeface="Calibri"/>
                        </a:rPr>
                        <a:t>115</a:t>
                      </a:r>
                    </a:p>
                  </a:txBody>
                  <a:tcPr>
                    <a:solidFill>
                      <a:srgbClr val="152a40"/>
                    </a:solidFill>
                  </a:tcPr>
                </a:tc>
                <a:tc>
                  <a:txBody>
                    <a:bodyPr/>
                    <a:lstStyle/>
                    <a:p>
                      <a:pPr algn="l"/>
                      <a:r>
                        <a:rPr sz="1100" b="0" i="0">
                          <a:solidFill>
                            <a:srgbClr val="FFFFFF"/>
                          </a:solidFill>
                          <a:latin typeface="Calibri"/>
                        </a:rPr>
                        <a:t>34.2%</a:t>
                      </a:r>
                    </a:p>
                  </a:txBody>
                  <a:tcPr>
                    <a:solidFill>
                      <a:srgbClr val="152a40"/>
                    </a:solidFill>
                  </a:tcPr>
                </a:tc>
                <a:tc>
                  <a:txBody>
                    <a:bodyPr/>
                    <a:lstStyle/>
                    <a:p>
                      <a:pPr algn="l"/>
                      <a:r>
                        <a:rPr sz="1100" b="0" i="0">
                          <a:solidFill>
                            <a:srgbClr val="FFFFFF"/>
                          </a:solidFill>
                          <a:latin typeface="Calibri"/>
                        </a:rPr>
                        <a:t>207</a:t>
                      </a:r>
                    </a:p>
                  </a:txBody>
                  <a:tcPr>
                    <a:solidFill>
                      <a:srgbClr val="152a40"/>
                    </a:solidFill>
                  </a:tcPr>
                </a:tc>
                <a:tc>
                  <a:txBody>
                    <a:bodyPr/>
                    <a:lstStyle/>
                    <a:p>
                      <a:pPr algn="l"/>
                      <a:r>
                        <a:rPr sz="1100" b="0" i="0">
                          <a:solidFill>
                            <a:srgbClr val="FFFFFF"/>
                          </a:solidFill>
                          <a:latin typeface="Calibri"/>
                        </a:rPr>
                        <a:t>61.6%</a:t>
                      </a:r>
                    </a:p>
                  </a:txBody>
                  <a:tcPr>
                    <a:solidFill>
                      <a:srgbClr val="152a40"/>
                    </a:solidFill>
                  </a:tcPr>
                </a:tc>
              </a:tr>
              <a:tr h="365760">
                <a:tc>
                  <a:txBody>
                    <a:bodyPr/>
                    <a:lstStyle/>
                    <a:p>
                      <a:pPr algn="l"/>
                      <a:r>
                        <a:rPr sz="1100" b="0" i="0">
                          <a:solidFill>
                            <a:srgbClr val="FFFFFF"/>
                          </a:solidFill>
                          <a:latin typeface="Calibri"/>
                        </a:rPr>
                        <a:t>1 — Failed (0.0–0.99)</a:t>
                      </a:r>
                    </a:p>
                  </a:txBody>
                  <a:tcPr>
                    <a:solidFill>
                      <a:srgbClr val="0d1b2a"/>
                    </a:solidFill>
                  </a:tcPr>
                </a:tc>
                <a:tc>
                  <a:txBody>
                    <a:bodyPr/>
                    <a:lstStyle/>
                    <a:p>
                      <a:pPr algn="l"/>
                      <a:r>
                        <a:rPr sz="1100" b="0" i="0">
                          <a:solidFill>
                            <a:srgbClr val="FFFFFF"/>
                          </a:solidFill>
                          <a:latin typeface="Calibri"/>
                        </a:rPr>
                        <a:t>5</a:t>
                      </a:r>
                    </a:p>
                  </a:txBody>
                  <a:tcPr>
                    <a:solidFill>
                      <a:srgbClr val="0d1b2a"/>
                    </a:solidFill>
                  </a:tcPr>
                </a:tc>
                <a:tc>
                  <a:txBody>
                    <a:bodyPr/>
                    <a:lstStyle/>
                    <a:p>
                      <a:pPr algn="l"/>
                      <a:r>
                        <a:rPr sz="1100" b="0" i="0">
                          <a:solidFill>
                            <a:srgbClr val="FFFFFF"/>
                          </a:solidFill>
                          <a:latin typeface="Calibri"/>
                        </a:rPr>
                        <a:t>2.1%</a:t>
                      </a:r>
                    </a:p>
                  </a:txBody>
                  <a:tcPr>
                    <a:solidFill>
                      <a:srgbClr val="0d1b2a"/>
                    </a:solidFill>
                  </a:tcPr>
                </a:tc>
                <a:tc>
                  <a:txBody>
                    <a:bodyPr/>
                    <a:lstStyle/>
                    <a:p>
                      <a:pPr algn="l"/>
                      <a:r>
                        <a:rPr sz="1100" b="0" i="0">
                          <a:solidFill>
                            <a:srgbClr val="FFFFFF"/>
                          </a:solidFill>
                          <a:latin typeface="Calibri"/>
                        </a:rPr>
                        <a:t>41</a:t>
                      </a:r>
                    </a:p>
                  </a:txBody>
                  <a:tcPr>
                    <a:solidFill>
                      <a:srgbClr val="0d1b2a"/>
                    </a:solidFill>
                  </a:tcPr>
                </a:tc>
                <a:tc>
                  <a:txBody>
                    <a:bodyPr/>
                    <a:lstStyle/>
                    <a:p>
                      <a:pPr algn="l"/>
                      <a:r>
                        <a:rPr sz="1100" b="0" i="0">
                          <a:solidFill>
                            <a:srgbClr val="FFFFFF"/>
                          </a:solidFill>
                          <a:latin typeface="Calibri"/>
                        </a:rPr>
                        <a:t>17.2%</a:t>
                      </a:r>
                    </a:p>
                  </a:txBody>
                  <a:tcPr>
                    <a:solidFill>
                      <a:srgbClr val="0d1b2a"/>
                    </a:solidFill>
                  </a:tcPr>
                </a:tc>
                <a:tc>
                  <a:txBody>
                    <a:bodyPr/>
                    <a:lstStyle/>
                    <a:p>
                      <a:pPr algn="l"/>
                      <a:r>
                        <a:rPr sz="1100" b="0" i="0">
                          <a:solidFill>
                            <a:srgbClr val="FFFFFF"/>
                          </a:solidFill>
                          <a:latin typeface="Calibri"/>
                        </a:rPr>
                        <a:t>193</a:t>
                      </a:r>
                    </a:p>
                  </a:txBody>
                  <a:tcPr>
                    <a:solidFill>
                      <a:srgbClr val="0d1b2a"/>
                    </a:solidFill>
                  </a:tcPr>
                </a:tc>
                <a:tc>
                  <a:txBody>
                    <a:bodyPr/>
                    <a:lstStyle/>
                    <a:p>
                      <a:pPr algn="l"/>
                      <a:r>
                        <a:rPr sz="1100" b="0" i="0">
                          <a:solidFill>
                            <a:srgbClr val="E06C75"/>
                          </a:solidFill>
                          <a:latin typeface="Calibri"/>
                        </a:rPr>
                        <a:t>80.8%</a:t>
                      </a:r>
                    </a:p>
                  </a:txBody>
                  <a:tcPr>
                    <a:solidFill>
                      <a:srgbClr val="0d1b2a"/>
                    </a:solidFill>
                  </a:tcPr>
                </a:tc>
              </a:tr>
            </a:tbl>
          </a:graphicData>
        </a:graphic>
      </p:graphicFrame>
      <p:sp>
        <p:nvSpPr>
          <p:cNvPr id="6" name="TextBox 5"/>
          <p:cNvSpPr txBox="1"/>
          <p:nvPr/>
        </p:nvSpPr>
        <p:spPr>
          <a:xfrm>
            <a:off x="548640" y="4069080"/>
            <a:ext cx="11091672" cy="274320"/>
          </a:xfrm>
          <a:prstGeom prst="rect">
            <a:avLst/>
          </a:prstGeom>
          <a:noFill/>
        </p:spPr>
        <p:txBody>
          <a:bodyPr wrap="square" anchor="t"/>
          <a:lstStyle/>
          <a:p>
            <a:pPr algn="l"/>
            <a:r>
              <a:rPr sz="1500" b="1" i="0">
                <a:solidFill>
                  <a:srgbClr val="00B4D8"/>
                </a:solidFill>
                <a:latin typeface="Calibri"/>
              </a:rPr>
              <a:t>Key Observations:</a:t>
            </a:r>
          </a:p>
        </p:txBody>
      </p:sp>
      <p:sp>
        <p:nvSpPr>
          <p:cNvPr id="7" name="TextBox 6"/>
          <p:cNvSpPr txBox="1"/>
          <p:nvPr/>
        </p:nvSpPr>
        <p:spPr>
          <a:xfrm>
            <a:off x="548640" y="4434840"/>
            <a:ext cx="11091672" cy="1828800"/>
          </a:xfrm>
          <a:prstGeom prst="rect">
            <a:avLst/>
          </a:prstGeom>
          <a:noFill/>
        </p:spPr>
        <p:txBody>
          <a:bodyPr wrap="square">
            <a:spAutoFit/>
          </a:bodyPr>
          <a:lstStyle/>
          <a:p>
            <a:pPr algn="l">
              <a:spcAft>
                <a:spcPts val="600"/>
              </a:spcAft>
            </a:pPr>
            <a:r>
              <a:rPr sz="1300" b="1">
                <a:solidFill>
                  <a:srgbClr val="00B4D8"/>
                </a:solidFill>
                <a:latin typeface="Calibri"/>
              </a:rPr>
              <a:t>• </a:t>
            </a:r>
            <a:r>
              <a:rPr sz="1300" b="0">
                <a:solidFill>
                  <a:srgbClr val="FFFFFF"/>
                </a:solidFill>
                <a:latin typeface="Calibri"/>
              </a:rPr>
              <a:t>IS Tier 5: 57% full Y — strong agreement on excellent output</a:t>
            </a:r>
          </a:p>
          <a:p>
            <a:pPr algn="l">
              <a:spcAft>
                <a:spcPts val="600"/>
              </a:spcAft>
            </a:pPr>
            <a:r>
              <a:rPr sz="1300" b="1">
                <a:solidFill>
                  <a:srgbClr val="00B4D8"/>
                </a:solidFill>
                <a:latin typeface="Calibri"/>
              </a:rPr>
              <a:t>• </a:t>
            </a:r>
            <a:r>
              <a:rPr sz="1300" b="0">
                <a:solidFill>
                  <a:srgbClr val="FFFFFF"/>
                </a:solidFill>
                <a:latin typeface="Calibri"/>
              </a:rPr>
              <a:t>IS Tiers 2-3: majority P not N — judge sees partial value metrics miss</a:t>
            </a:r>
          </a:p>
          <a:p>
            <a:pPr algn="l">
              <a:spcAft>
                <a:spcPts val="600"/>
              </a:spcAft>
            </a:pPr>
            <a:r>
              <a:rPr sz="1300" b="1">
                <a:solidFill>
                  <a:srgbClr val="00B4D8"/>
                </a:solidFill>
                <a:latin typeface="Calibri"/>
              </a:rPr>
              <a:t>• </a:t>
            </a:r>
            <a:r>
              <a:rPr sz="1300" b="0">
                <a:solidFill>
                  <a:srgbClr val="FFFFFF"/>
                </a:solidFill>
                <a:latin typeface="Calibri"/>
              </a:rPr>
              <a:t>IS Tier 1: 81% N — strong agreement on complete failure</a:t>
            </a:r>
          </a:p>
          <a:p>
            <a:pPr algn="l">
              <a:spcAft>
                <a:spcPts val="600"/>
              </a:spcAft>
            </a:pPr>
            <a:r>
              <a:rPr sz="1300" b="1">
                <a:solidFill>
                  <a:srgbClr val="00B4D8"/>
                </a:solidFill>
                <a:latin typeface="Calibri"/>
              </a:rPr>
              <a:t>• </a:t>
            </a:r>
            <a:r>
              <a:rPr sz="1300" b="0">
                <a:solidFill>
                  <a:srgbClr val="00B4D8"/>
                </a:solidFill>
                <a:latin typeface="Calibri"/>
              </a:rPr>
              <a:t>Pearson r = 0.8495 between IS and judge verdict (coded Y=3, P=2, N=1)</a:t>
            </a:r>
          </a:p>
        </p:txBody>
      </p:sp>
      <p:pic>
        <p:nvPicPr>
          <p:cNvPr id="8" name="Picture 7"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9" name="TextBox 8"/>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A8</a:t>
            </a:r>
          </a:p>
        </p:txBody>
      </p:sp>
    </p:spTree>
  </p:cSld>
  <p:clrMapOvr>
    <a:masterClrMapping/>
  </p:clrMapOvr>
  <p:transition spd="med"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685800"/>
          </a:xfrm>
          <a:prstGeom prst="rect">
            <a:avLst/>
          </a:prstGeom>
          <a:noFill/>
        </p:spPr>
        <p:txBody>
          <a:bodyPr wrap="square">
            <a:spAutoFit/>
          </a:bodyPr>
          <a:lstStyle/>
          <a:p>
            <a:r>
              <a:rPr sz="3200" b="1" i="0">
                <a:solidFill>
                  <a:srgbClr val="FFFFFF"/>
                </a:solidFill>
                <a:latin typeface="Calibri"/>
              </a:rPr>
              <a:t>A9: Context Evaluation — Transition Details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365760"/>
          </a:xfrm>
          <a:prstGeom prst="rect">
            <a:avLst/>
          </a:prstGeom>
          <a:noFill/>
        </p:spPr>
        <p:txBody>
          <a:bodyPr wrap="square" anchor="t"/>
          <a:lstStyle/>
          <a:p>
            <a:pPr algn="l"/>
            <a:r>
              <a:rPr sz="1700" b="1" i="0">
                <a:solidFill>
                  <a:srgbClr val="00B4D8"/>
                </a:solidFill>
                <a:latin typeface="Calibri"/>
              </a:rPr>
              <a:t>Blind → Context Transition Matrix</a:t>
            </a:r>
          </a:p>
        </p:txBody>
      </p:sp>
      <p:graphicFrame>
        <p:nvGraphicFramePr>
          <p:cNvPr id="5" name="Table 4"/>
          <p:cNvGraphicFramePr>
            <a:graphicFrameLocks noGrp="1"/>
          </p:cNvGraphicFramePr>
          <p:nvPr/>
        </p:nvGraphicFramePr>
        <p:xfrm>
          <a:off x="548640" y="1783080"/>
          <a:ext cx="4663440" cy="1389888"/>
        </p:xfrm>
        <a:graphic>
          <a:graphicData uri="http://schemas.openxmlformats.org/drawingml/2006/table">
            <a:tbl>
              <a:tblPr firstRow="0" bandRow="0" lastRow="0" bandCol="0">
                <a:tableStyleId>{5C22544A-7EE6-4342-B048-85BDC9FD1C3A}</a:tableStyleId>
              </a:tblPr>
              <a:tblGrid>
                <a:gridCol w="1371600"/>
                <a:gridCol w="822960"/>
                <a:gridCol w="822960"/>
                <a:gridCol w="822960"/>
                <a:gridCol w="822960"/>
              </a:tblGrid>
              <a:tr h="347472">
                <a:tc>
                  <a:txBody>
                    <a:bodyPr/>
                    <a:lstStyle/>
                    <a:p>
                      <a:pPr algn="ctr"/>
                      <a:r>
                        <a:rPr sz="1200" b="1" i="0">
                          <a:solidFill>
                            <a:srgbClr val="FFFFFF"/>
                          </a:solidFill>
                          <a:latin typeface="Calibri"/>
                        </a:rPr>
                        <a:t>Blind ↓ / Ctx →</a:t>
                      </a:r>
                    </a:p>
                  </a:txBody>
                  <a:tcPr>
                    <a:solidFill>
                      <a:srgbClr val="00b4d8"/>
                    </a:solidFill>
                  </a:tcPr>
                </a:tc>
                <a:tc>
                  <a:txBody>
                    <a:bodyPr/>
                    <a:lstStyle/>
                    <a:p>
                      <a:pPr algn="ctr"/>
                      <a:r>
                        <a:rPr sz="1200" b="1" i="0">
                          <a:solidFill>
                            <a:srgbClr val="FFFFFF"/>
                          </a:solidFill>
                          <a:latin typeface="Calibri"/>
                        </a:rPr>
                        <a:t>Y</a:t>
                      </a:r>
                    </a:p>
                  </a:txBody>
                  <a:tcPr>
                    <a:solidFill>
                      <a:srgbClr val="00b4d8"/>
                    </a:solidFill>
                  </a:tcPr>
                </a:tc>
                <a:tc>
                  <a:txBody>
                    <a:bodyPr/>
                    <a:lstStyle/>
                    <a:p>
                      <a:pPr algn="ctr"/>
                      <a:r>
                        <a:rPr sz="1200" b="1" i="0">
                          <a:solidFill>
                            <a:srgbClr val="FFFFFF"/>
                          </a:solidFill>
                          <a:latin typeface="Calibri"/>
                        </a:rPr>
                        <a:t>P</a:t>
                      </a:r>
                    </a:p>
                  </a:txBody>
                  <a:tcPr>
                    <a:solidFill>
                      <a:srgbClr val="00b4d8"/>
                    </a:solidFill>
                  </a:tcPr>
                </a:tc>
                <a:tc>
                  <a:txBody>
                    <a:bodyPr/>
                    <a:lstStyle/>
                    <a:p>
                      <a:pPr algn="ctr"/>
                      <a:r>
                        <a:rPr sz="1200" b="1" i="0">
                          <a:solidFill>
                            <a:srgbClr val="FFFFFF"/>
                          </a:solidFill>
                          <a:latin typeface="Calibri"/>
                        </a:rPr>
                        <a:t>N</a:t>
                      </a:r>
                    </a:p>
                  </a:txBody>
                  <a:tcPr>
                    <a:solidFill>
                      <a:srgbClr val="00b4d8"/>
                    </a:solidFill>
                  </a:tcPr>
                </a:tc>
                <a:tc>
                  <a:txBody>
                    <a:bodyPr/>
                    <a:lstStyle/>
                    <a:p>
                      <a:pPr algn="ctr"/>
                      <a:r>
                        <a:rPr sz="1200" b="1" i="0">
                          <a:solidFill>
                            <a:srgbClr val="FFFFFF"/>
                          </a:solidFill>
                          <a:latin typeface="Calibri"/>
                        </a:rPr>
                        <a:t>Total</a:t>
                      </a:r>
                    </a:p>
                  </a:txBody>
                  <a:tcPr>
                    <a:solidFill>
                      <a:srgbClr val="00b4d8"/>
                    </a:solidFill>
                  </a:tcPr>
                </a:tc>
              </a:tr>
              <a:tr h="347472">
                <a:tc>
                  <a:txBody>
                    <a:bodyPr/>
                    <a:lstStyle/>
                    <a:p>
                      <a:pPr algn="l"/>
                      <a:r>
                        <a:rPr sz="1200" b="0" i="0">
                          <a:solidFill>
                            <a:srgbClr val="FFFFFF"/>
                          </a:solidFill>
                          <a:latin typeface="Calibri"/>
                        </a:rPr>
                        <a:t>Y</a:t>
                      </a:r>
                    </a:p>
                  </a:txBody>
                  <a:tcPr>
                    <a:solidFill>
                      <a:srgbClr val="0d1b2a"/>
                    </a:solidFill>
                  </a:tcPr>
                </a:tc>
                <a:tc>
                  <a:txBody>
                    <a:bodyPr/>
                    <a:lstStyle/>
                    <a:p>
                      <a:pPr algn="l"/>
                      <a:r>
                        <a:rPr sz="1200" b="0" i="0">
                          <a:solidFill>
                            <a:srgbClr val="FFFFFF"/>
                          </a:solidFill>
                          <a:latin typeface="Calibri"/>
                        </a:rPr>
                        <a:t>207</a:t>
                      </a:r>
                    </a:p>
                  </a:txBody>
                  <a:tcPr>
                    <a:solidFill>
                      <a:srgbClr val="0d1b2a"/>
                    </a:solidFill>
                  </a:tcPr>
                </a:tc>
                <a:tc>
                  <a:txBody>
                    <a:bodyPr/>
                    <a:lstStyle/>
                    <a:p>
                      <a:pPr algn="l"/>
                      <a:r>
                        <a:rPr sz="1200" b="0" i="0">
                          <a:solidFill>
                            <a:srgbClr val="E06C75"/>
                          </a:solidFill>
                          <a:latin typeface="Calibri"/>
                        </a:rPr>
                        <a:t>138</a:t>
                      </a:r>
                    </a:p>
                  </a:txBody>
                  <a:tcPr>
                    <a:solidFill>
                      <a:srgbClr val="0d1b2a"/>
                    </a:solidFill>
                  </a:tcPr>
                </a:tc>
                <a:tc>
                  <a:txBody>
                    <a:bodyPr/>
                    <a:lstStyle/>
                    <a:p>
                      <a:pPr algn="l"/>
                      <a:r>
                        <a:rPr sz="1200" b="0" i="0">
                          <a:solidFill>
                            <a:srgbClr val="FFFFFF"/>
                          </a:solidFill>
                          <a:latin typeface="Calibri"/>
                        </a:rPr>
                        <a:t>0</a:t>
                      </a:r>
                    </a:p>
                  </a:txBody>
                  <a:tcPr>
                    <a:solidFill>
                      <a:srgbClr val="0d1b2a"/>
                    </a:solidFill>
                  </a:tcPr>
                </a:tc>
                <a:tc>
                  <a:txBody>
                    <a:bodyPr/>
                    <a:lstStyle/>
                    <a:p>
                      <a:pPr algn="l"/>
                      <a:r>
                        <a:rPr sz="1200" b="0" i="0">
                          <a:solidFill>
                            <a:srgbClr val="FFFFFF"/>
                          </a:solidFill>
                          <a:latin typeface="Calibri"/>
                        </a:rPr>
                        <a:t>345</a:t>
                      </a:r>
                    </a:p>
                  </a:txBody>
                  <a:tcPr>
                    <a:solidFill>
                      <a:srgbClr val="0d1b2a"/>
                    </a:solidFill>
                  </a:tcPr>
                </a:tc>
              </a:tr>
              <a:tr h="347472">
                <a:tc>
                  <a:txBody>
                    <a:bodyPr/>
                    <a:lstStyle/>
                    <a:p>
                      <a:pPr algn="l"/>
                      <a:r>
                        <a:rPr sz="1200" b="0" i="0">
                          <a:solidFill>
                            <a:srgbClr val="FFFFFF"/>
                          </a:solidFill>
                          <a:latin typeface="Calibri"/>
                        </a:rPr>
                        <a:t>P</a:t>
                      </a:r>
                    </a:p>
                  </a:txBody>
                  <a:tcPr>
                    <a:solidFill>
                      <a:srgbClr val="152a40"/>
                    </a:solidFill>
                  </a:tcPr>
                </a:tc>
                <a:tc>
                  <a:txBody>
                    <a:bodyPr/>
                    <a:lstStyle/>
                    <a:p>
                      <a:pPr algn="l"/>
                      <a:r>
                        <a:rPr sz="1200" b="0" i="0">
                          <a:solidFill>
                            <a:srgbClr val="FFFFFF"/>
                          </a:solidFill>
                          <a:latin typeface="Calibri"/>
                        </a:rPr>
                        <a:t>17</a:t>
                      </a:r>
                    </a:p>
                  </a:txBody>
                  <a:tcPr>
                    <a:solidFill>
                      <a:srgbClr val="152a40"/>
                    </a:solidFill>
                  </a:tcPr>
                </a:tc>
                <a:tc>
                  <a:txBody>
                    <a:bodyPr/>
                    <a:lstStyle/>
                    <a:p>
                      <a:pPr algn="l"/>
                      <a:r>
                        <a:rPr sz="1200" b="0" i="0">
                          <a:solidFill>
                            <a:srgbClr val="FFFFFF"/>
                          </a:solidFill>
                          <a:latin typeface="Calibri"/>
                        </a:rPr>
                        <a:t>519</a:t>
                      </a:r>
                    </a:p>
                  </a:txBody>
                  <a:tcPr>
                    <a:solidFill>
                      <a:srgbClr val="152a40"/>
                    </a:solidFill>
                  </a:tcPr>
                </a:tc>
                <a:tc>
                  <a:txBody>
                    <a:bodyPr/>
                    <a:lstStyle/>
                    <a:p>
                      <a:pPr algn="l"/>
                      <a:r>
                        <a:rPr sz="1200" b="0" i="0">
                          <a:solidFill>
                            <a:srgbClr val="E06C75"/>
                          </a:solidFill>
                          <a:latin typeface="Calibri"/>
                        </a:rPr>
                        <a:t>90</a:t>
                      </a:r>
                    </a:p>
                  </a:txBody>
                  <a:tcPr>
                    <a:solidFill>
                      <a:srgbClr val="152a40"/>
                    </a:solidFill>
                  </a:tcPr>
                </a:tc>
                <a:tc>
                  <a:txBody>
                    <a:bodyPr/>
                    <a:lstStyle/>
                    <a:p>
                      <a:pPr algn="l"/>
                      <a:r>
                        <a:rPr sz="1200" b="0" i="0">
                          <a:solidFill>
                            <a:srgbClr val="FFFFFF"/>
                          </a:solidFill>
                          <a:latin typeface="Calibri"/>
                        </a:rPr>
                        <a:t>626</a:t>
                      </a:r>
                    </a:p>
                  </a:txBody>
                  <a:tcPr>
                    <a:solidFill>
                      <a:srgbClr val="152a40"/>
                    </a:solidFill>
                  </a:tcPr>
                </a:tc>
              </a:tr>
              <a:tr h="347472">
                <a:tc>
                  <a:txBody>
                    <a:bodyPr/>
                    <a:lstStyle/>
                    <a:p>
                      <a:pPr algn="l"/>
                      <a:r>
                        <a:rPr sz="1200" b="0" i="0">
                          <a:solidFill>
                            <a:srgbClr val="FFFFFF"/>
                          </a:solidFill>
                          <a:latin typeface="Calibri"/>
                        </a:rPr>
                        <a:t>N</a:t>
                      </a:r>
                    </a:p>
                  </a:txBody>
                  <a:tcPr>
                    <a:solidFill>
                      <a:srgbClr val="0d1b2a"/>
                    </a:solidFill>
                  </a:tcPr>
                </a:tc>
                <a:tc>
                  <a:txBody>
                    <a:bodyPr/>
                    <a:lstStyle/>
                    <a:p>
                      <a:pPr algn="l"/>
                      <a:r>
                        <a:rPr sz="1200" b="0" i="0">
                          <a:solidFill>
                            <a:srgbClr val="FFFFFF"/>
                          </a:solidFill>
                          <a:latin typeface="Calibri"/>
                        </a:rPr>
                        <a:t>1</a:t>
                      </a:r>
                    </a:p>
                  </a:txBody>
                  <a:tcPr>
                    <a:solidFill>
                      <a:srgbClr val="0d1b2a"/>
                    </a:solidFill>
                  </a:tcPr>
                </a:tc>
                <a:tc>
                  <a:txBody>
                    <a:bodyPr/>
                    <a:lstStyle/>
                    <a:p>
                      <a:pPr algn="l"/>
                      <a:r>
                        <a:rPr sz="1200" b="0" i="0">
                          <a:solidFill>
                            <a:srgbClr val="FFFFFF"/>
                          </a:solidFill>
                          <a:latin typeface="Calibri"/>
                        </a:rPr>
                        <a:t>48</a:t>
                      </a:r>
                    </a:p>
                  </a:txBody>
                  <a:tcPr>
                    <a:solidFill>
                      <a:srgbClr val="0d1b2a"/>
                    </a:solidFill>
                  </a:tcPr>
                </a:tc>
                <a:tc>
                  <a:txBody>
                    <a:bodyPr/>
                    <a:lstStyle/>
                    <a:p>
                      <a:pPr algn="l"/>
                      <a:r>
                        <a:rPr sz="1200" b="0" i="0">
                          <a:solidFill>
                            <a:srgbClr val="FFFFFF"/>
                          </a:solidFill>
                          <a:latin typeface="Calibri"/>
                        </a:rPr>
                        <a:t>477</a:t>
                      </a:r>
                    </a:p>
                  </a:txBody>
                  <a:tcPr>
                    <a:solidFill>
                      <a:srgbClr val="0d1b2a"/>
                    </a:solidFill>
                  </a:tcPr>
                </a:tc>
                <a:tc>
                  <a:txBody>
                    <a:bodyPr/>
                    <a:lstStyle/>
                    <a:p>
                      <a:pPr algn="l"/>
                      <a:r>
                        <a:rPr sz="1200" b="0" i="0">
                          <a:solidFill>
                            <a:srgbClr val="FFFFFF"/>
                          </a:solidFill>
                          <a:latin typeface="Calibri"/>
                        </a:rPr>
                        <a:t>526</a:t>
                      </a:r>
                    </a:p>
                  </a:txBody>
                  <a:tcPr>
                    <a:solidFill>
                      <a:srgbClr val="0d1b2a"/>
                    </a:solidFill>
                  </a:tcPr>
                </a:tc>
              </a:tr>
            </a:tbl>
          </a:graphicData>
        </a:graphic>
      </p:graphicFrame>
      <p:sp>
        <p:nvSpPr>
          <p:cNvPr id="6" name="TextBox 5"/>
          <p:cNvSpPr txBox="1"/>
          <p:nvPr/>
        </p:nvSpPr>
        <p:spPr>
          <a:xfrm>
            <a:off x="548640" y="3337560"/>
            <a:ext cx="5029200" cy="548640"/>
          </a:xfrm>
          <a:prstGeom prst="rect">
            <a:avLst/>
          </a:prstGeom>
          <a:noFill/>
        </p:spPr>
        <p:txBody>
          <a:bodyPr wrap="square" anchor="t"/>
          <a:lstStyle/>
          <a:p>
            <a:pPr algn="l"/>
            <a:r>
              <a:rPr sz="1200" b="0" i="0">
                <a:solidFill>
                  <a:srgbClr val="AAAAAA"/>
                </a:solidFill>
                <a:latin typeface="Calibri"/>
              </a:rPr>
              <a:t>Dominant transition: Y→P (138 cases, 40% of all Y)</a:t>
            </a:r>
            <a:br/>
            <a:r>
              <a:rPr sz="1200" b="0" i="0">
                <a:solidFill>
                  <a:srgbClr val="AAAAAA"/>
                </a:solidFill>
                <a:latin typeface="Calibri"/>
              </a:rPr>
              <a:t>Only 1 N→Y rescue across all 1,497 pairs</a:t>
            </a:r>
          </a:p>
        </p:txBody>
      </p:sp>
      <p:graphicFrame>
        <p:nvGraphicFramePr>
          <p:cNvPr id="7" name="Table 6"/>
          <p:cNvGraphicFramePr>
            <a:graphicFrameLocks noGrp="1"/>
          </p:cNvGraphicFramePr>
          <p:nvPr/>
        </p:nvGraphicFramePr>
        <p:xfrm>
          <a:off x="548640" y="4069080"/>
          <a:ext cx="3520440.0" cy="1737360"/>
        </p:xfrm>
        <a:graphic>
          <a:graphicData uri="http://schemas.openxmlformats.org/drawingml/2006/table">
            <a:tbl>
              <a:tblPr firstRow="0" bandRow="0" lastRow="0" bandCol="0">
                <a:tableStyleId>{5C22544A-7EE6-4342-B048-85BDC9FD1C3A}</a:tableStyleId>
              </a:tblPr>
              <a:tblGrid>
                <a:gridCol w="1760220"/>
                <a:gridCol w="1760220"/>
              </a:tblGrid>
              <a:tr h="347472">
                <a:tc>
                  <a:txBody>
                    <a:bodyPr/>
                    <a:lstStyle/>
                    <a:p>
                      <a:pPr algn="ctr"/>
                      <a:r>
                        <a:rPr sz="1100" b="1" i="0">
                          <a:solidFill>
                            <a:srgbClr val="FFFFFF"/>
                          </a:solidFill>
                          <a:latin typeface="Calibri"/>
                        </a:rPr>
                        <a:t>Metric</a:t>
                      </a:r>
                    </a:p>
                  </a:txBody>
                  <a:tcPr>
                    <a:solidFill>
                      <a:srgbClr val="00b4d8"/>
                    </a:solidFill>
                  </a:tcPr>
                </a:tc>
                <a:tc>
                  <a:txBody>
                    <a:bodyPr/>
                    <a:lstStyle/>
                    <a:p>
                      <a:pPr algn="ctr"/>
                      <a:r>
                        <a:rPr sz="1100" b="1" i="0">
                          <a:solidFill>
                            <a:srgbClr val="FFFFFF"/>
                          </a:solidFill>
                          <a:latin typeface="Calibri"/>
                        </a:rPr>
                        <a:t>Value</a:t>
                      </a:r>
                    </a:p>
                  </a:txBody>
                  <a:tcPr>
                    <a:solidFill>
                      <a:srgbClr val="00b4d8"/>
                    </a:solidFill>
                  </a:tcPr>
                </a:tc>
              </a:tr>
              <a:tr h="347472">
                <a:tc>
                  <a:txBody>
                    <a:bodyPr/>
                    <a:lstStyle/>
                    <a:p>
                      <a:pPr algn="l"/>
                      <a:r>
                        <a:rPr sz="1100" b="0" i="0">
                          <a:solidFill>
                            <a:srgbClr val="FFFFFF"/>
                          </a:solidFill>
                          <a:latin typeface="Calibri"/>
                        </a:rPr>
                        <a:t>Total downgrades</a:t>
                      </a:r>
                    </a:p>
                  </a:txBody>
                  <a:tcPr>
                    <a:solidFill>
                      <a:srgbClr val="0d1b2a"/>
                    </a:solidFill>
                  </a:tcPr>
                </a:tc>
                <a:tc>
                  <a:txBody>
                    <a:bodyPr/>
                    <a:lstStyle/>
                    <a:p>
                      <a:pPr algn="l"/>
                      <a:r>
                        <a:rPr sz="1100" b="0" i="0">
                          <a:solidFill>
                            <a:srgbClr val="FFFFFF"/>
                          </a:solidFill>
                          <a:latin typeface="Calibri"/>
                        </a:rPr>
                        <a:t>230 (15.4%)</a:t>
                      </a:r>
                    </a:p>
                  </a:txBody>
                  <a:tcPr>
                    <a:solidFill>
                      <a:srgbClr val="0d1b2a"/>
                    </a:solidFill>
                  </a:tcPr>
                </a:tc>
              </a:tr>
              <a:tr h="347472">
                <a:tc>
                  <a:txBody>
                    <a:bodyPr/>
                    <a:lstStyle/>
                    <a:p>
                      <a:pPr algn="l"/>
                      <a:r>
                        <a:rPr sz="1100" b="0" i="0">
                          <a:solidFill>
                            <a:srgbClr val="FFFFFF"/>
                          </a:solidFill>
                          <a:latin typeface="Calibri"/>
                        </a:rPr>
                        <a:t>Total upgrades</a:t>
                      </a:r>
                    </a:p>
                  </a:txBody>
                  <a:tcPr>
                    <a:solidFill>
                      <a:srgbClr val="152a40"/>
                    </a:solidFill>
                  </a:tcPr>
                </a:tc>
                <a:tc>
                  <a:txBody>
                    <a:bodyPr/>
                    <a:lstStyle/>
                    <a:p>
                      <a:pPr algn="l"/>
                      <a:r>
                        <a:rPr sz="1100" b="0" i="0">
                          <a:solidFill>
                            <a:srgbClr val="FFFFFF"/>
                          </a:solidFill>
                          <a:latin typeface="Calibri"/>
                        </a:rPr>
                        <a:t>68 (4.5%)</a:t>
                      </a:r>
                    </a:p>
                  </a:txBody>
                  <a:tcPr>
                    <a:solidFill>
                      <a:srgbClr val="152a40"/>
                    </a:solidFill>
                  </a:tcPr>
                </a:tc>
              </a:tr>
              <a:tr h="347472">
                <a:tc>
                  <a:txBody>
                    <a:bodyPr/>
                    <a:lstStyle/>
                    <a:p>
                      <a:pPr algn="l"/>
                      <a:r>
                        <a:rPr sz="1100" b="0" i="0">
                          <a:solidFill>
                            <a:srgbClr val="FFFFFF"/>
                          </a:solidFill>
                          <a:latin typeface="Calibri"/>
                        </a:rPr>
                        <a:t>Unchanged</a:t>
                      </a:r>
                    </a:p>
                  </a:txBody>
                  <a:tcPr>
                    <a:solidFill>
                      <a:srgbClr val="0d1b2a"/>
                    </a:solidFill>
                  </a:tcPr>
                </a:tc>
                <a:tc>
                  <a:txBody>
                    <a:bodyPr/>
                    <a:lstStyle/>
                    <a:p>
                      <a:pPr algn="l"/>
                      <a:r>
                        <a:rPr sz="1100" b="0" i="0">
                          <a:solidFill>
                            <a:srgbClr val="FFFFFF"/>
                          </a:solidFill>
                          <a:latin typeface="Calibri"/>
                        </a:rPr>
                        <a:t>1,199 (80.1%)</a:t>
                      </a:r>
                    </a:p>
                  </a:txBody>
                  <a:tcPr>
                    <a:solidFill>
                      <a:srgbClr val="0d1b2a"/>
                    </a:solidFill>
                  </a:tcPr>
                </a:tc>
              </a:tr>
              <a:tr h="347472">
                <a:tc>
                  <a:txBody>
                    <a:bodyPr/>
                    <a:lstStyle/>
                    <a:p>
                      <a:pPr algn="l"/>
                      <a:r>
                        <a:rPr sz="1100" b="0" i="0">
                          <a:solidFill>
                            <a:srgbClr val="FFFFFF"/>
                          </a:solidFill>
                          <a:latin typeface="Calibri"/>
                        </a:rPr>
                        <a:t>Cross-condition agree.</a:t>
                      </a:r>
                    </a:p>
                  </a:txBody>
                  <a:tcPr>
                    <a:solidFill>
                      <a:srgbClr val="152a40"/>
                    </a:solidFill>
                  </a:tcPr>
                </a:tc>
                <a:tc>
                  <a:txBody>
                    <a:bodyPr/>
                    <a:lstStyle/>
                    <a:p>
                      <a:pPr algn="l"/>
                      <a:r>
                        <a:rPr sz="1100" b="0" i="0">
                          <a:solidFill>
                            <a:srgbClr val="FFFFFF"/>
                          </a:solidFill>
                          <a:latin typeface="Calibri"/>
                        </a:rPr>
                        <a:t>80.0%</a:t>
                      </a:r>
                    </a:p>
                  </a:txBody>
                  <a:tcPr>
                    <a:solidFill>
                      <a:srgbClr val="152a40"/>
                    </a:solidFill>
                  </a:tcPr>
                </a:tc>
              </a:tr>
            </a:tbl>
          </a:graphicData>
        </a:graphic>
      </p:graphicFrame>
      <p:sp>
        <p:nvSpPr>
          <p:cNvPr id="8" name="TextBox 7"/>
          <p:cNvSpPr txBox="1"/>
          <p:nvPr/>
        </p:nvSpPr>
        <p:spPr>
          <a:xfrm>
            <a:off x="6611111" y="1325880"/>
            <a:ext cx="5029200" cy="365760"/>
          </a:xfrm>
          <a:prstGeom prst="rect">
            <a:avLst/>
          </a:prstGeom>
          <a:noFill/>
        </p:spPr>
        <p:txBody>
          <a:bodyPr wrap="square" anchor="t"/>
          <a:lstStyle/>
          <a:p>
            <a:pPr algn="l"/>
            <a:r>
              <a:rPr sz="1700" b="1" i="0">
                <a:solidFill>
                  <a:srgbClr val="E06C75"/>
                </a:solidFill>
                <a:latin typeface="Calibri"/>
              </a:rPr>
              <a:t>Per-Topic Y+P Delta (Blind → Context)</a:t>
            </a:r>
          </a:p>
        </p:txBody>
      </p:sp>
      <p:graphicFrame>
        <p:nvGraphicFramePr>
          <p:cNvPr id="9" name="Table 8"/>
          <p:cNvGraphicFramePr>
            <a:graphicFrameLocks noGrp="1"/>
          </p:cNvGraphicFramePr>
          <p:nvPr/>
        </p:nvGraphicFramePr>
        <p:xfrm>
          <a:off x="6611111" y="1783080"/>
          <a:ext cx="5029200" cy="2779776"/>
        </p:xfrm>
        <a:graphic>
          <a:graphicData uri="http://schemas.openxmlformats.org/drawingml/2006/table">
            <a:tbl>
              <a:tblPr firstRow="0" bandRow="0" lastRow="0" bandCol="0">
                <a:tableStyleId>{5C22544A-7EE6-4342-B048-85BDC9FD1C3A}</a:tableStyleId>
              </a:tblPr>
              <a:tblGrid>
                <a:gridCol w="1257300"/>
                <a:gridCol w="1257300"/>
                <a:gridCol w="1257300"/>
                <a:gridCol w="1257300"/>
              </a:tblGrid>
              <a:tr h="347472">
                <a:tc>
                  <a:txBody>
                    <a:bodyPr/>
                    <a:lstStyle/>
                    <a:p>
                      <a:pPr algn="ctr"/>
                      <a:r>
                        <a:rPr sz="1100" b="1" i="0">
                          <a:solidFill>
                            <a:srgbClr val="FFFFFF"/>
                          </a:solidFill>
                          <a:latin typeface="Calibri"/>
                        </a:rPr>
                        <a:t>Topic</a:t>
                      </a:r>
                    </a:p>
                  </a:txBody>
                  <a:tcPr>
                    <a:solidFill>
                      <a:srgbClr val="00b4d8"/>
                    </a:solidFill>
                  </a:tcPr>
                </a:tc>
                <a:tc>
                  <a:txBody>
                    <a:bodyPr/>
                    <a:lstStyle/>
                    <a:p>
                      <a:pPr algn="ctr"/>
                      <a:r>
                        <a:rPr sz="1100" b="1" i="0">
                          <a:solidFill>
                            <a:srgbClr val="FFFFFF"/>
                          </a:solidFill>
                          <a:latin typeface="Calibri"/>
                        </a:rPr>
                        <a:t>Blind Y+P</a:t>
                      </a:r>
                    </a:p>
                  </a:txBody>
                  <a:tcPr>
                    <a:solidFill>
                      <a:srgbClr val="00b4d8"/>
                    </a:solidFill>
                  </a:tcPr>
                </a:tc>
                <a:tc>
                  <a:txBody>
                    <a:bodyPr/>
                    <a:lstStyle/>
                    <a:p>
                      <a:pPr algn="ctr"/>
                      <a:r>
                        <a:rPr sz="1100" b="1" i="0">
                          <a:solidFill>
                            <a:srgbClr val="FFFFFF"/>
                          </a:solidFill>
                          <a:latin typeface="Calibri"/>
                        </a:rPr>
                        <a:t>Ctx Y+P</a:t>
                      </a:r>
                    </a:p>
                  </a:txBody>
                  <a:tcPr>
                    <a:solidFill>
                      <a:srgbClr val="00b4d8"/>
                    </a:solidFill>
                  </a:tcPr>
                </a:tc>
                <a:tc>
                  <a:txBody>
                    <a:bodyPr/>
                    <a:lstStyle/>
                    <a:p>
                      <a:pPr algn="ctr"/>
                      <a:r>
                        <a:rPr sz="1100" b="1" i="0">
                          <a:solidFill>
                            <a:srgbClr val="FFFFFF"/>
                          </a:solidFill>
                          <a:latin typeface="Calibri"/>
                        </a:rPr>
                        <a:t>Δ</a:t>
                      </a:r>
                    </a:p>
                  </a:txBody>
                  <a:tcPr>
                    <a:solidFill>
                      <a:srgbClr val="00b4d8"/>
                    </a:solidFill>
                  </a:tcPr>
                </a:tc>
              </a:tr>
              <a:tr h="347472">
                <a:tc>
                  <a:txBody>
                    <a:bodyPr/>
                    <a:lstStyle/>
                    <a:p>
                      <a:pPr algn="l"/>
                      <a:r>
                        <a:rPr sz="1100" b="0" i="0">
                          <a:solidFill>
                            <a:srgbClr val="FFFFFF"/>
                          </a:solidFill>
                          <a:latin typeface="Calibri"/>
                        </a:rPr>
                        <a:t>Business/Finance</a:t>
                      </a:r>
                    </a:p>
                  </a:txBody>
                  <a:tcPr>
                    <a:solidFill>
                      <a:srgbClr val="0d1b2a"/>
                    </a:solidFill>
                  </a:tcPr>
                </a:tc>
                <a:tc>
                  <a:txBody>
                    <a:bodyPr/>
                    <a:lstStyle/>
                    <a:p>
                      <a:pPr algn="l"/>
                      <a:r>
                        <a:rPr sz="1100" b="0" i="0">
                          <a:solidFill>
                            <a:srgbClr val="FFFFFF"/>
                          </a:solidFill>
                          <a:latin typeface="Calibri"/>
                        </a:rPr>
                        <a:t>72%</a:t>
                      </a:r>
                    </a:p>
                  </a:txBody>
                  <a:tcPr>
                    <a:solidFill>
                      <a:srgbClr val="0d1b2a"/>
                    </a:solidFill>
                  </a:tcPr>
                </a:tc>
                <a:tc>
                  <a:txBody>
                    <a:bodyPr/>
                    <a:lstStyle/>
                    <a:p>
                      <a:pPr algn="l"/>
                      <a:r>
                        <a:rPr sz="1100" b="0" i="0">
                          <a:solidFill>
                            <a:srgbClr val="FFFFFF"/>
                          </a:solidFill>
                          <a:latin typeface="Calibri"/>
                        </a:rPr>
                        <a:t>70%</a:t>
                      </a:r>
                    </a:p>
                  </a:txBody>
                  <a:tcPr>
                    <a:solidFill>
                      <a:srgbClr val="0d1b2a"/>
                    </a:solidFill>
                  </a:tcPr>
                </a:tc>
                <a:tc>
                  <a:txBody>
                    <a:bodyPr/>
                    <a:lstStyle/>
                    <a:p>
                      <a:pPr algn="l"/>
                      <a:r>
                        <a:rPr sz="1100" b="0" i="0">
                          <a:solidFill>
                            <a:srgbClr val="FFFFFF"/>
                          </a:solidFill>
                          <a:latin typeface="Calibri"/>
                        </a:rPr>
                        <a:t>−2pp</a:t>
                      </a:r>
                    </a:p>
                  </a:txBody>
                  <a:tcPr>
                    <a:solidFill>
                      <a:srgbClr val="0d1b2a"/>
                    </a:solidFill>
                  </a:tcPr>
                </a:tc>
              </a:tr>
              <a:tr h="347472">
                <a:tc>
                  <a:txBody>
                    <a:bodyPr/>
                    <a:lstStyle/>
                    <a:p>
                      <a:pPr algn="l"/>
                      <a:r>
                        <a:rPr sz="1100" b="0" i="0">
                          <a:solidFill>
                            <a:srgbClr val="FFFFFF"/>
                          </a:solidFill>
                          <a:latin typeface="Calibri"/>
                        </a:rPr>
                        <a:t>Education/Lecture</a:t>
                      </a:r>
                    </a:p>
                  </a:txBody>
                  <a:tcPr>
                    <a:solidFill>
                      <a:srgbClr val="152a40"/>
                    </a:solidFill>
                  </a:tcPr>
                </a:tc>
                <a:tc>
                  <a:txBody>
                    <a:bodyPr/>
                    <a:lstStyle/>
                    <a:p>
                      <a:pPr algn="l"/>
                      <a:r>
                        <a:rPr sz="1100" b="0" i="0">
                          <a:solidFill>
                            <a:srgbClr val="FFFFFF"/>
                          </a:solidFill>
                          <a:latin typeface="Calibri"/>
                        </a:rPr>
                        <a:t>67%</a:t>
                      </a:r>
                    </a:p>
                  </a:txBody>
                  <a:tcPr>
                    <a:solidFill>
                      <a:srgbClr val="152a40"/>
                    </a:solidFill>
                  </a:tcPr>
                </a:tc>
                <a:tc>
                  <a:txBody>
                    <a:bodyPr/>
                    <a:lstStyle/>
                    <a:p>
                      <a:pPr algn="l"/>
                      <a:r>
                        <a:rPr sz="1100" b="0" i="0">
                          <a:solidFill>
                            <a:srgbClr val="FFFFFF"/>
                          </a:solidFill>
                          <a:latin typeface="Calibri"/>
                        </a:rPr>
                        <a:t>64%</a:t>
                      </a:r>
                    </a:p>
                  </a:txBody>
                  <a:tcPr>
                    <a:solidFill>
                      <a:srgbClr val="152a40"/>
                    </a:solidFill>
                  </a:tcPr>
                </a:tc>
                <a:tc>
                  <a:txBody>
                    <a:bodyPr/>
                    <a:lstStyle/>
                    <a:p>
                      <a:pPr algn="l"/>
                      <a:r>
                        <a:rPr sz="1100" b="0" i="0">
                          <a:solidFill>
                            <a:srgbClr val="FFFFFF"/>
                          </a:solidFill>
                          <a:latin typeface="Calibri"/>
                        </a:rPr>
                        <a:t>−3pp</a:t>
                      </a:r>
                    </a:p>
                  </a:txBody>
                  <a:tcPr>
                    <a:solidFill>
                      <a:srgbClr val="152a40"/>
                    </a:solidFill>
                  </a:tcPr>
                </a:tc>
              </a:tr>
              <a:tr h="347472">
                <a:tc>
                  <a:txBody>
                    <a:bodyPr/>
                    <a:lstStyle/>
                    <a:p>
                      <a:pPr algn="l"/>
                      <a:r>
                        <a:rPr sz="1100" b="0" i="0">
                          <a:solidFill>
                            <a:srgbClr val="FFFFFF"/>
                          </a:solidFill>
                          <a:latin typeface="Calibri"/>
                        </a:rPr>
                        <a:t>Entertainment</a:t>
                      </a:r>
                    </a:p>
                  </a:txBody>
                  <a:tcPr>
                    <a:solidFill>
                      <a:srgbClr val="0d1b2a"/>
                    </a:solidFill>
                  </a:tcPr>
                </a:tc>
                <a:tc>
                  <a:txBody>
                    <a:bodyPr/>
                    <a:lstStyle/>
                    <a:p>
                      <a:pPr algn="l"/>
                      <a:r>
                        <a:rPr sz="1100" b="0" i="0">
                          <a:solidFill>
                            <a:srgbClr val="FFFFFF"/>
                          </a:solidFill>
                          <a:latin typeface="Calibri"/>
                        </a:rPr>
                        <a:t>64%</a:t>
                      </a:r>
                    </a:p>
                  </a:txBody>
                  <a:tcPr>
                    <a:solidFill>
                      <a:srgbClr val="0d1b2a"/>
                    </a:solidFill>
                  </a:tcPr>
                </a:tc>
                <a:tc>
                  <a:txBody>
                    <a:bodyPr/>
                    <a:lstStyle/>
                    <a:p>
                      <a:pPr algn="l"/>
                      <a:r>
                        <a:rPr sz="1100" b="0" i="0">
                          <a:solidFill>
                            <a:srgbClr val="FFFFFF"/>
                          </a:solidFill>
                          <a:latin typeface="Calibri"/>
                        </a:rPr>
                        <a:t>61%</a:t>
                      </a:r>
                    </a:p>
                  </a:txBody>
                  <a:tcPr>
                    <a:solidFill>
                      <a:srgbClr val="0d1b2a"/>
                    </a:solidFill>
                  </a:tcPr>
                </a:tc>
                <a:tc>
                  <a:txBody>
                    <a:bodyPr/>
                    <a:lstStyle/>
                    <a:p>
                      <a:pPr algn="l"/>
                      <a:r>
                        <a:rPr sz="1100" b="0" i="0">
                          <a:solidFill>
                            <a:srgbClr val="FFFFFF"/>
                          </a:solidFill>
                          <a:latin typeface="Calibri"/>
                        </a:rPr>
                        <a:t>−3pp</a:t>
                      </a:r>
                    </a:p>
                  </a:txBody>
                  <a:tcPr>
                    <a:solidFill>
                      <a:srgbClr val="0d1b2a"/>
                    </a:solidFill>
                  </a:tcPr>
                </a:tc>
              </a:tr>
              <a:tr h="347472">
                <a:tc>
                  <a:txBody>
                    <a:bodyPr/>
                    <a:lstStyle/>
                    <a:p>
                      <a:pPr algn="l"/>
                      <a:r>
                        <a:rPr sz="1100" b="0" i="0">
                          <a:solidFill>
                            <a:srgbClr val="FFFFFF"/>
                          </a:solidFill>
                          <a:latin typeface="Calibri"/>
                        </a:rPr>
                        <a:t>News/Politics</a:t>
                      </a:r>
                    </a:p>
                  </a:txBody>
                  <a:tcPr>
                    <a:solidFill>
                      <a:srgbClr val="152a40"/>
                    </a:solidFill>
                  </a:tcPr>
                </a:tc>
                <a:tc>
                  <a:txBody>
                    <a:bodyPr/>
                    <a:lstStyle/>
                    <a:p>
                      <a:pPr algn="l"/>
                      <a:r>
                        <a:rPr sz="1100" b="0" i="0">
                          <a:solidFill>
                            <a:srgbClr val="FFFFFF"/>
                          </a:solidFill>
                          <a:latin typeface="Calibri"/>
                        </a:rPr>
                        <a:t>65%</a:t>
                      </a:r>
                    </a:p>
                  </a:txBody>
                  <a:tcPr>
                    <a:solidFill>
                      <a:srgbClr val="152a40"/>
                    </a:solidFill>
                  </a:tcPr>
                </a:tc>
                <a:tc>
                  <a:txBody>
                    <a:bodyPr/>
                    <a:lstStyle/>
                    <a:p>
                      <a:pPr algn="l"/>
                      <a:r>
                        <a:rPr sz="1100" b="0" i="0">
                          <a:solidFill>
                            <a:srgbClr val="FFFFFF"/>
                          </a:solidFill>
                          <a:latin typeface="Calibri"/>
                        </a:rPr>
                        <a:t>62%</a:t>
                      </a:r>
                    </a:p>
                  </a:txBody>
                  <a:tcPr>
                    <a:solidFill>
                      <a:srgbClr val="152a40"/>
                    </a:solidFill>
                  </a:tcPr>
                </a:tc>
                <a:tc>
                  <a:txBody>
                    <a:bodyPr/>
                    <a:lstStyle/>
                    <a:p>
                      <a:pPr algn="l"/>
                      <a:r>
                        <a:rPr sz="1100" b="0" i="0">
                          <a:solidFill>
                            <a:srgbClr val="FFFFFF"/>
                          </a:solidFill>
                          <a:latin typeface="Calibri"/>
                        </a:rPr>
                        <a:t>−3pp</a:t>
                      </a:r>
                    </a:p>
                  </a:txBody>
                  <a:tcPr>
                    <a:solidFill>
                      <a:srgbClr val="152a40"/>
                    </a:solidFill>
                  </a:tcPr>
                </a:tc>
              </a:tr>
              <a:tr h="347472">
                <a:tc>
                  <a:txBody>
                    <a:bodyPr/>
                    <a:lstStyle/>
                    <a:p>
                      <a:pPr algn="l"/>
                      <a:r>
                        <a:rPr sz="1100" b="0" i="0">
                          <a:solidFill>
                            <a:srgbClr val="FFFFFF"/>
                          </a:solidFill>
                          <a:latin typeface="Calibri"/>
                        </a:rPr>
                        <a:t>Tech/Science</a:t>
                      </a:r>
                    </a:p>
                  </a:txBody>
                  <a:tcPr>
                    <a:solidFill>
                      <a:srgbClr val="0d1b2a"/>
                    </a:solidFill>
                  </a:tcPr>
                </a:tc>
                <a:tc>
                  <a:txBody>
                    <a:bodyPr/>
                    <a:lstStyle/>
                    <a:p>
                      <a:pPr algn="l"/>
                      <a:r>
                        <a:rPr sz="1100" b="0" i="0">
                          <a:solidFill>
                            <a:srgbClr val="FFFFFF"/>
                          </a:solidFill>
                          <a:latin typeface="Calibri"/>
                        </a:rPr>
                        <a:t>62%</a:t>
                      </a:r>
                    </a:p>
                  </a:txBody>
                  <a:tcPr>
                    <a:solidFill>
                      <a:srgbClr val="0d1b2a"/>
                    </a:solidFill>
                  </a:tcPr>
                </a:tc>
                <a:tc>
                  <a:txBody>
                    <a:bodyPr/>
                    <a:lstStyle/>
                    <a:p>
                      <a:pPr algn="l"/>
                      <a:r>
                        <a:rPr sz="1100" b="0" i="0">
                          <a:solidFill>
                            <a:srgbClr val="FFFFFF"/>
                          </a:solidFill>
                          <a:latin typeface="Calibri"/>
                        </a:rPr>
                        <a:t>59%</a:t>
                      </a:r>
                    </a:p>
                  </a:txBody>
                  <a:tcPr>
                    <a:solidFill>
                      <a:srgbClr val="0d1b2a"/>
                    </a:solidFill>
                  </a:tcPr>
                </a:tc>
                <a:tc>
                  <a:txBody>
                    <a:bodyPr/>
                    <a:lstStyle/>
                    <a:p>
                      <a:pPr algn="l"/>
                      <a:r>
                        <a:rPr sz="1100" b="0" i="0">
                          <a:solidFill>
                            <a:srgbClr val="FFFFFF"/>
                          </a:solidFill>
                          <a:latin typeface="Calibri"/>
                        </a:rPr>
                        <a:t>−3pp</a:t>
                      </a:r>
                    </a:p>
                  </a:txBody>
                  <a:tcPr>
                    <a:solidFill>
                      <a:srgbClr val="0d1b2a"/>
                    </a:solidFill>
                  </a:tcPr>
                </a:tc>
              </a:tr>
              <a:tr h="347472">
                <a:tc>
                  <a:txBody>
                    <a:bodyPr/>
                    <a:lstStyle/>
                    <a:p>
                      <a:pPr algn="l"/>
                      <a:r>
                        <a:rPr sz="1100" b="0" i="0">
                          <a:solidFill>
                            <a:srgbClr val="FFFFFF"/>
                          </a:solidFill>
                          <a:latin typeface="Calibri"/>
                        </a:rPr>
                        <a:t>Sports/Health</a:t>
                      </a:r>
                    </a:p>
                  </a:txBody>
                  <a:tcPr>
                    <a:solidFill>
                      <a:srgbClr val="152a40"/>
                    </a:solidFill>
                  </a:tcPr>
                </a:tc>
                <a:tc>
                  <a:txBody>
                    <a:bodyPr/>
                    <a:lstStyle/>
                    <a:p>
                      <a:pPr algn="l"/>
                      <a:r>
                        <a:rPr sz="1100" b="0" i="0">
                          <a:solidFill>
                            <a:srgbClr val="FFFFFF"/>
                          </a:solidFill>
                          <a:latin typeface="Calibri"/>
                        </a:rPr>
                        <a:t>60%</a:t>
                      </a:r>
                    </a:p>
                  </a:txBody>
                  <a:tcPr>
                    <a:solidFill>
                      <a:srgbClr val="152a40"/>
                    </a:solidFill>
                  </a:tcPr>
                </a:tc>
                <a:tc>
                  <a:txBody>
                    <a:bodyPr/>
                    <a:lstStyle/>
                    <a:p>
                      <a:pPr algn="l"/>
                      <a:r>
                        <a:rPr sz="1100" b="0" i="0">
                          <a:solidFill>
                            <a:srgbClr val="FFFFFF"/>
                          </a:solidFill>
                          <a:latin typeface="Calibri"/>
                        </a:rPr>
                        <a:t>57%</a:t>
                      </a:r>
                    </a:p>
                  </a:txBody>
                  <a:tcPr>
                    <a:solidFill>
                      <a:srgbClr val="152a40"/>
                    </a:solidFill>
                  </a:tcPr>
                </a:tc>
                <a:tc>
                  <a:txBody>
                    <a:bodyPr/>
                    <a:lstStyle/>
                    <a:p>
                      <a:pPr algn="l"/>
                      <a:r>
                        <a:rPr sz="1100" b="0" i="0">
                          <a:solidFill>
                            <a:srgbClr val="FFFFFF"/>
                          </a:solidFill>
                          <a:latin typeface="Calibri"/>
                        </a:rPr>
                        <a:t>−3pp</a:t>
                      </a:r>
                    </a:p>
                  </a:txBody>
                  <a:tcPr>
                    <a:solidFill>
                      <a:srgbClr val="152a40"/>
                    </a:solidFill>
                  </a:tcPr>
                </a:tc>
              </a:tr>
              <a:tr h="347472">
                <a:tc>
                  <a:txBody>
                    <a:bodyPr/>
                    <a:lstStyle/>
                    <a:p>
                      <a:pPr algn="l"/>
                      <a:r>
                        <a:rPr sz="1100" b="0" i="0">
                          <a:solidFill>
                            <a:srgbClr val="FFFFFF"/>
                          </a:solidFill>
                          <a:latin typeface="Calibri"/>
                        </a:rPr>
                        <a:t>DIY/Home</a:t>
                      </a:r>
                    </a:p>
                  </a:txBody>
                  <a:tcPr>
                    <a:solidFill>
                      <a:srgbClr val="0d1b2a"/>
                    </a:solidFill>
                  </a:tcPr>
                </a:tc>
                <a:tc>
                  <a:txBody>
                    <a:bodyPr/>
                    <a:lstStyle/>
                    <a:p>
                      <a:pPr algn="l"/>
                      <a:r>
                        <a:rPr sz="1100" b="0" i="0">
                          <a:solidFill>
                            <a:srgbClr val="FFFFFF"/>
                          </a:solidFill>
                          <a:latin typeface="Calibri"/>
                        </a:rPr>
                        <a:t>48%</a:t>
                      </a:r>
                    </a:p>
                  </a:txBody>
                  <a:tcPr>
                    <a:solidFill>
                      <a:srgbClr val="0d1b2a"/>
                    </a:solidFill>
                  </a:tcPr>
                </a:tc>
                <a:tc>
                  <a:txBody>
                    <a:bodyPr/>
                    <a:lstStyle/>
                    <a:p>
                      <a:pPr algn="l"/>
                      <a:r>
                        <a:rPr sz="1100" b="0" i="0">
                          <a:solidFill>
                            <a:srgbClr val="FFFFFF"/>
                          </a:solidFill>
                          <a:latin typeface="Calibri"/>
                        </a:rPr>
                        <a:t>44%</a:t>
                      </a:r>
                    </a:p>
                  </a:txBody>
                  <a:tcPr>
                    <a:solidFill>
                      <a:srgbClr val="0d1b2a"/>
                    </a:solidFill>
                  </a:tcPr>
                </a:tc>
                <a:tc>
                  <a:txBody>
                    <a:bodyPr/>
                    <a:lstStyle/>
                    <a:p>
                      <a:pPr algn="l"/>
                      <a:r>
                        <a:rPr sz="1100" b="0" i="0">
                          <a:solidFill>
                            <a:srgbClr val="E06C75"/>
                          </a:solidFill>
                          <a:latin typeface="Calibri"/>
                        </a:rPr>
                        <a:t>−4pp</a:t>
                      </a:r>
                    </a:p>
                  </a:txBody>
                  <a:tcPr>
                    <a:solidFill>
                      <a:srgbClr val="0d1b2a"/>
                    </a:solidFill>
                  </a:tcPr>
                </a:tc>
              </a:tr>
            </a:tbl>
          </a:graphicData>
        </a:graphic>
      </p:graphicFrame>
      <p:sp>
        <p:nvSpPr>
          <p:cNvPr id="10" name="TextBox 9"/>
          <p:cNvSpPr txBox="1"/>
          <p:nvPr/>
        </p:nvSpPr>
        <p:spPr>
          <a:xfrm>
            <a:off x="6611111" y="4526280"/>
            <a:ext cx="5029200" cy="548640"/>
          </a:xfrm>
          <a:prstGeom prst="rect">
            <a:avLst/>
          </a:prstGeom>
          <a:noFill/>
        </p:spPr>
        <p:txBody>
          <a:bodyPr wrap="square" anchor="t"/>
          <a:lstStyle/>
          <a:p>
            <a:pPr algn="l"/>
            <a:r>
              <a:rPr sz="1200" b="0" i="1">
                <a:solidFill>
                  <a:srgbClr val="AAAAAA"/>
                </a:solidFill>
                <a:latin typeface="Calibri"/>
              </a:rPr>
              <a:t>Context is uniformly stricter across all topics. DIY/Home has the largest delta (−4pp) — context reveals the most visual-content vocabulary failures.</a:t>
            </a:r>
          </a:p>
        </p:txBody>
      </p:sp>
      <p:pic>
        <p:nvPicPr>
          <p:cNvPr id="11" name="Picture 10" descr="BlackLogo300x300-W-BG.png"/>
          <p:cNvPicPr>
            <a:picLocks noChangeAspect="1"/>
          </p:cNvPicPr>
          <p:nvPr/>
        </p:nvPicPr>
        <p:blipFill>
          <a:blip r:embed="rId2"/>
          <a:stretch>
            <a:fillRect/>
          </a:stretch>
        </p:blipFill>
        <p:spPr>
          <a:xfrm>
            <a:off x="11323320" y="6428232"/>
            <a:ext cx="271117" cy="320040"/>
          </a:xfrm>
          <a:prstGeom prst="rect">
            <a:avLst/>
          </a:prstGeom>
        </p:spPr>
      </p:pic>
      <p:sp>
        <p:nvSpPr>
          <p:cNvPr id="12" name="TextBox 11"/>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A9</a:t>
            </a:r>
          </a:p>
        </p:txBody>
      </p:sp>
    </p:spTree>
  </p:cSld>
  <p:clrMapOvr>
    <a:masterClrMapping/>
  </p:clrMapOvr>
  <p:transition spd="med"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