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presentation covers 3 months of research and engineering on a visual speech processing system — reading lips from video, no audio. We'll cover what we found, what we built, and where we go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VIDEO: IEa7qEkMvfQ_3__c5447488_with_hyp.mp4 — 33 words about health insurance, WER 0%. Play the video first, then explain: this is the best case. The system perfectly reads 33 consecutive words from lip movement alone. Now let's see how it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components. Visual encoder (AV-HuBERT) is frozen — pre-trained on LRS3 lip-reading data. It outputs 1024-dim features per frame. A linear projection maps to 4096-dim (LLM input space). Then LLaMA-2-7B generates text. Key: only the LoRA adapters and projection layer are trained — 12.6M of 7B parameters. And the LLM is swappable: Llama 3.1 8B has the same hidden dimension, making it a trivial 1-2 hour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claims 25.4% Word Error Rate on LRS3 — a curated dataset of TED talks with clear speech, frontal faces, good lighting. Our question: what happens on real-world YouTube video? The chart on the right previews the answer: 64.1% WER, 2.5x worse. And more importantly — is WER even the right way to measure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1,497 diverse YouTube segments. 64.1% mean WER — 2.5x worse than the paper's 25.4%. Only 11.4% usable by WER standards. And 20.6% are hallucinations — fluent text that's completely fabricated. This is the most dangerous failure mode. But WER is misleading — it treats all errors equally.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WER, opposite meaning. Left: minor grammatical change, meaning fully preserved. Right: a name destroyed — 'admiral mcrae' becomes 'animal migratory.' WER sees ~30% error in both. But one is usable and the other is garbage. This motivated our Intelligibility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Intelligibility Score combines 6 signals into a 0-5 composite. Key insight: 39.9% of segments are properly captured (IS &gt;= 3.0) — 3.5x more than WER's 11.4% 'usable.' WER dramatically overstates failure. Methodology: LLM-distilled evaluation — Claude designed the rubric, selected signals and weights, defined tier boundaries. Validated across 16 decode configs: LLM heuristic judge r=0.925 with IS, 88.6%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900 failed segments classified into 10 failure modes. The top two — topic drift and phonetically-similar-wrong-topic — account for 31.6%. Hallucination (12.3%) is the most dangerous: fluent, confident, completely fabricated. Entity destruction (12.0%) loses names and numbers. This taxonomy maps directly to our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boxplot shows WWER distribution across all 13 decode experiments. The box is consistently in the 50-80% range. About 11% of segments are always good regardless of parameters, and about 16% are always bad. The bottleneck is the visual encoder, not decode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root causes. Domain mismatch: the model was trained on formal TED talks, so business/finance content works best (57% captured). DIY/home improvement is worst (30%). Short segments fail catastrophically — under 10 words gives only 32% capture rate. And hallucination: when the visual signal is weak, the LLM's language prior takes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Named Entity Accuracy is the single largest differentiator between success and failure: 74% vs 16%, a 58 percentage point gap. You can guess a missing 'the' from context, but you cannot recover 'Admiral McRae' if the model says 'animal migratory.'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systematic experiments across beam size, length penalty, temperature, and sampling. Config J achieved the best IS. Key trade-off: eliminated all 70 empty outputs but added 41 hallucinations. Net IS gain: only +0.08.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Tuning is mitigation, not a cure. Config J's fundamental trade-off: silent failures (empties) vs noisy failures (hallucinations). Cross-config analysis proves: per-segment IS rankings are nearly identical across all 16 configs (r &gt; 0.92). The bottleneck is the visual encoder. Three levers: (1) scale data, (2) swap LLM, (3) smart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examples spanning the quality range. Row 1: perfect lip-reading. Row 2: WER says 29% error but the meaning is fully preserved — IS 4.3. Row 3: same WER range but a name destroyed, meaning lost. Row 4: complete hallucination — 'carry strap' becomes 'holocaust denier.' This is why WER alone is insufficient.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VIDEOS in order: (1) d8BR6hsvzoY_31 — 'buy one get one free' (WER 0%, short and punchy). (2) -POZpyVCN8k_9 — 'admiral mcrae' becomes 'animal migratory' (funny near-miss). (3) 00MUdHQ7GGY_8 — hallucination: fabricates 'David Irving' narrative (WER 100%).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formal research reports plus the Exp A training analysis. Each report is a deep dive with methodology, results, and recommendations. The Intelligibility Score report is the main methodological contribution. The LLM Upgrade Analysis maps the path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orchestrates three separate research codebases into a single automated system. Eight stages: video normalization, ASR transcription, mouth cropping, LRS3 format conversion, manifest generation, feature clustering, LLM decode, and output generation. Each stage is a separate module with its own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37 bugs found and fixed turning research code into production. The most critical: NVENC silent video corruption that destroyed 43% of processed videos without any error message. Every bug documented with root cause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original pipeline was a single 823-line bash script. Refactored into a 393-line orchestrator calling 11 reusable modules. 37 automated tests validate every module. Environment-aware: automatically detects EC2 development vs Docker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runs as a standalone Docker container — no cloud, no internet required. Web UI for drag-and-drop video upload. INSTALL.sh handles deployment with automatic backup and 13-point verification. Currently deployed and running at the client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intelligent features. Transcription reuse: if you manually correct a segment's transcription, it persists across all future runs. Golden k-means: a 1,396-video baseline model ensures consistent clustering. Smart segmentation: configurable overlap ensures context isn't lost at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Evaluation infrastructure goes far beyond standard WER. 16 plots auto-generated per experiment. Interactive HTML reports. Custom Named Entity Accuracy metric. Full IS pipeline validated across 16 decode configs.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Rigorous engineering process. Over 40 git versions with semantic tagging. EC2-to-container sync protocol tracking 26 items. Eight formal research reports. Full architecture and development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turning point. WER says 11.4% usable. Our Intelligibility Score says 39.9% properly captured — 3.5x more. And 43-51% is context-recoverable. This isn't wishful thinking: IS is validated across all 16 decode configs.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phases, each targeting different bottlenecks. Phase 1 is immediate: confidence scoring to surface the 40% that's already good (2-4 hours). Phase 2: N-best aggregation. Phase 3: swap LLM to Llama 3.1 8B plus smart prompts. Phase 4: the biggest gain — scale training data. Phase 5: GER post-processing. Key: ICLR 2024 shows these gains are multiplicative.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is the quick win. We know 40% is already good; beam scores computed during decode can flag quality automatically. Business/Finance content should get highest confidence. 2-4 hours of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currently throwing away 19 of 20 hypotheses. N-best aggregation (ROVER/MBR) is an established technique that combines multiple hypotheses to reduce errors. Targets the 'death by 1000 cuts'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 A: 1,273 segments, 17 hours on Tesla T4. Best validation accuracy 62.94% at epoch 2 out of 19 — severe overfitting. Exp B with r=64: 3.1pp WORSE. This is NOT a model capacity problem. Data scaling projections: 20K segments brings WER to 45-50%. AVSpeech has 290K videos — data curation is tractable.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columns of future capability. Left: LLM swap to Llama 3.1 8B is trivial — same hidden dimension, 1-2 hours. Center: 7 prompt strategies are a force multiplier — more effective on stronger models. GER uses N-best hypotheses + correction LLM for +8-15pp with no retraining. Right: Arabic support exists, VALLR achieves 18.7% WER with a 3B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takeaways. One: we know exactly where we stand — rigorous assessment with a novel metric that reveals the true picture. Two: production system delivered and deployed. Three: data, not model capacity, is the bottleneck. Four: clear roadmap from 67% to 27-42% 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274320"/>
            <a:ext cx="697157" cy="8229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828800"/>
            <a:ext cx="110916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Argos VSP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10916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0" i="0">
                <a:solidFill>
                  <a:srgbClr val="00B4D8"/>
                </a:solidFill>
                <a:latin typeface="Calibri"/>
              </a:rPr>
              <a:t>Research Findings and Production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1">
                <a:solidFill>
                  <a:srgbClr val="AAAAAA"/>
                </a:solidFill>
                <a:latin typeface="Calibri"/>
              </a:rPr>
              <a:t>Visual Speech Processing — Project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114800"/>
            <a:ext cx="27432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AAAAAA"/>
                </a:solidFill>
                <a:latin typeface="Calibri"/>
              </a:rPr>
              <a:t>February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666666"/>
                </a:solidFill>
                <a:latin typeface="Calibri"/>
              </a:rPr>
              <a:t>Yoad Oxman  •  The Orchard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What is Visual Speech Processing?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16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0" i="0">
                <a:solidFill>
                  <a:srgbClr val="AAAAAA"/>
                </a:solidFill>
                <a:latin typeface="Calibri"/>
              </a:rPr>
              <a:t>A system that reads lips from video — no audio needed.</a:t>
            </a:r>
          </a:p>
        </p:txBody>
      </p:sp>
      <p:sp>
        <p:nvSpPr>
          <p:cNvPr id="5" name="Oval 4"/>
          <p:cNvSpPr/>
          <p:nvPr/>
        </p:nvSpPr>
        <p:spPr>
          <a:xfrm>
            <a:off x="5273040" y="2560320"/>
            <a:ext cx="1645920" cy="1645920"/>
          </a:xfrm>
          <a:prstGeom prst="ellipse">
            <a:avLst/>
          </a:prstGeom>
          <a:solidFill>
            <a:srgbClr val="152A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10200" y="2697480"/>
            <a:ext cx="137160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640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 i="0">
                <a:solidFill>
                  <a:srgbClr val="00B4D8"/>
                </a:solidFill>
                <a:latin typeface="Calibri"/>
              </a:rPr>
              <a:t>Opening Demo: 33-Word Perfect Lip Reading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1109167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666666"/>
                </a:solidFill>
                <a:latin typeface="Calibri"/>
              </a:rPr>
              <a:t>▸ IEa7qEkMvfQ_3__c5447488_with_hyp.mp4</a:t>
            </a:r>
          </a:p>
        </p:txBody>
      </p:sp>
      <p:pic>
        <p:nvPicPr>
          <p:cNvPr id="9" name="Picture 8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How It Works: Three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11091672" cy="62981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29640" y="4937760"/>
            <a:ext cx="3200400" cy="64008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1080" y="4983480"/>
            <a:ext cx="3017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AV-HuBERT</a:t>
            </a:r>
            <a:br/>
            <a:r>
              <a:rPr sz="1200" b="0" i="0">
                <a:solidFill>
                  <a:srgbClr val="FFFFFF"/>
                </a:solidFill>
                <a:latin typeface="Calibri"/>
              </a:rPr>
              <a:t>Visual Encoder, frozen, 1024-dim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5800" y="4937760"/>
            <a:ext cx="3200400" cy="64008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240" y="4983480"/>
            <a:ext cx="3017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Linear Projection</a:t>
            </a:r>
            <a:br/>
            <a:r>
              <a:rPr sz="1200" b="0" i="0">
                <a:solidFill>
                  <a:srgbClr val="FFFFFF"/>
                </a:solidFill>
                <a:latin typeface="Calibri"/>
              </a:rPr>
              <a:t>1024 → 4096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1960" y="4937760"/>
            <a:ext cx="3200400" cy="64008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E06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3400" y="4983480"/>
            <a:ext cx="3017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LLaMA-2-7B</a:t>
            </a:r>
            <a:br/>
            <a:r>
              <a:rPr sz="1200" b="0" i="0">
                <a:solidFill>
                  <a:srgbClr val="FFFFFF"/>
                </a:solidFill>
                <a:latin typeface="Calibri"/>
              </a:rPr>
              <a:t>4-bit QLoRA, r=16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5760" y="502920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0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1920" y="502920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0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1">
                <a:solidFill>
                  <a:srgbClr val="666666"/>
                </a:solidFill>
                <a:latin typeface="Calibri"/>
              </a:rPr>
              <a:t>Only 12.6M trainable params (0.19%). LLM is swappable — Llama 3.1 8B is a drop-in replacement (same 4096 hidden size).</a:t>
            </a:r>
          </a:p>
        </p:txBody>
      </p:sp>
      <p:pic>
        <p:nvPicPr>
          <p:cNvPr id="14" name="Picture 13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The Benchmark: Paper vs Reality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1206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200" b="1" i="0">
                <a:solidFill>
                  <a:srgbClr val="00B4D8"/>
                </a:solidFill>
                <a:latin typeface="Calibri"/>
              </a:rPr>
              <a:t>25.4%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51206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AAAAAA"/>
                </a:solidFill>
                <a:latin typeface="Calibri"/>
              </a:rPr>
              <a:t>WER on LRS3 (TED Talks)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Curated data, controlled conditions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E06C75"/>
                </a:solidFill>
                <a:latin typeface="Calibri"/>
              </a:rPr>
              <a:t>Real-world YouTube: 64.1% WER — 2.5× worse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10916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1">
                <a:solidFill>
                  <a:srgbClr val="AAAAAA"/>
                </a:solidFill>
                <a:latin typeface="Calibri"/>
              </a:rPr>
              <a:t>Two questions: How does this hold on real-world video? And is WER even the right metric?</a:t>
            </a:r>
          </a:p>
        </p:txBody>
      </p:sp>
      <p:pic>
        <p:nvPicPr>
          <p:cNvPr id="8" name="Picture 7" descr="P2_paper_vs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25880"/>
            <a:ext cx="5422392" cy="4140673"/>
          </a:xfrm>
          <a:prstGeom prst="rect">
            <a:avLst/>
          </a:prstGeom>
        </p:spPr>
      </p:pic>
      <p:pic>
        <p:nvPicPr>
          <p:cNvPr id="9" name="Picture 8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The Reality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1206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200" b="1" i="0">
                <a:solidFill>
                  <a:srgbClr val="E06C75"/>
                </a:solidFill>
                <a:latin typeface="Calibri"/>
              </a:rPr>
              <a:t>64.1%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51206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AAAAAA"/>
                </a:solidFill>
                <a:latin typeface="Calibri"/>
              </a:rPr>
              <a:t>Mean WER across 1,497 real-world segments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CAF50"/>
                </a:solidFill>
                <a:latin typeface="Calibri"/>
              </a:rPr>
              <a:t>● </a:t>
            </a:r>
            <a:r>
              <a:rPr sz="1500" b="0">
                <a:solidFill>
                  <a:srgbClr val="FFFFFF"/>
                </a:solidFill>
                <a:latin typeface="Calibri"/>
              </a:rPr>
              <a:t>11.4% Usable (&lt;30%)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C107"/>
                </a:solidFill>
                <a:latin typeface="Calibri"/>
              </a:rPr>
              <a:t>● </a:t>
            </a:r>
            <a:r>
              <a:rPr sz="1500" b="0">
                <a:solidFill>
                  <a:srgbClr val="FFFFFF"/>
                </a:solidFill>
                <a:latin typeface="Calibri"/>
              </a:rPr>
              <a:t>17.4% Marginal (30-50%)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9800"/>
                </a:solidFill>
                <a:latin typeface="Calibri"/>
              </a:rPr>
              <a:t>● </a:t>
            </a:r>
            <a:r>
              <a:rPr sz="1500" b="0">
                <a:solidFill>
                  <a:srgbClr val="FFFFFF"/>
                </a:solidFill>
                <a:latin typeface="Calibri"/>
              </a:rPr>
              <a:t>17.8% Poor (50-75%)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44336"/>
                </a:solidFill>
                <a:latin typeface="Calibri"/>
              </a:rPr>
              <a:t>● </a:t>
            </a:r>
            <a:r>
              <a:rPr sz="1500" b="0">
                <a:solidFill>
                  <a:srgbClr val="FFFFFF"/>
                </a:solidFill>
                <a:latin typeface="Calibri"/>
              </a:rPr>
              <a:t>32.8% Unusable (75-100%)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B71C1C"/>
                </a:solidFill>
                <a:latin typeface="Calibri"/>
              </a:rPr>
              <a:t>● </a:t>
            </a:r>
            <a:r>
              <a:rPr sz="1500" b="0">
                <a:solidFill>
                  <a:srgbClr val="FFFFFF"/>
                </a:solidFill>
                <a:latin typeface="Calibri"/>
              </a:rPr>
              <a:t>20.6% Hallucinated (&gt;100%)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10916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1">
                <a:solidFill>
                  <a:srgbClr val="AAAAAA"/>
                </a:solidFill>
                <a:latin typeface="Calibri"/>
              </a:rPr>
              <a:t>But WER overstates failure — see next slide.</a:t>
            </a:r>
          </a:p>
        </p:txBody>
      </p:sp>
      <p:pic>
        <p:nvPicPr>
          <p:cNvPr id="8" name="Picture 7" descr="P1_quality_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25880"/>
            <a:ext cx="5422392" cy="2314142"/>
          </a:xfrm>
          <a:prstGeom prst="rect">
            <a:avLst/>
          </a:prstGeom>
        </p:spPr>
      </p:pic>
      <p:pic>
        <p:nvPicPr>
          <p:cNvPr id="9" name="Picture 8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WER Is Blind to Meaning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029200" cy="3474720"/>
          </a:xfrm>
          <a:prstGeom prst="roundRect">
            <a:avLst/>
          </a:prstGeom>
          <a:solidFill>
            <a:srgbClr val="152A40"/>
          </a:solidFill>
          <a:ln w="317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4480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4CAF50"/>
                </a:solidFill>
                <a:latin typeface="Calibri"/>
              </a:rPr>
              <a:t>WER 29%  •  IS 4.3 — Fully Intelligible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4805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Ref: "allow you to work with the team in a more"</a:t>
            </a:r>
            <a:br/>
            <a:r>
              <a:rPr sz="1500" b="0" i="0">
                <a:solidFill>
                  <a:srgbClr val="FFFFFF"/>
                </a:solidFill>
                <a:latin typeface="Calibri"/>
              </a:rPr>
              <a:t>Hyp: "allow you to work with a team and more"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11111" y="1417320"/>
            <a:ext cx="5029200" cy="3474720"/>
          </a:xfrm>
          <a:prstGeom prst="roundRect">
            <a:avLst/>
          </a:prstGeom>
          <a:solidFill>
            <a:srgbClr val="152A40"/>
          </a:solidFill>
          <a:ln w="31750">
            <a:solidFill>
              <a:srgbClr val="F44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85431" y="1600200"/>
            <a:ext cx="4480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44336"/>
                </a:solidFill>
                <a:latin typeface="Calibri"/>
              </a:rPr>
              <a:t>WER 33%  •  IS 3.0 — Unintelligible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5431" y="2148840"/>
            <a:ext cx="44805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Ref: "today i'm talking with admiral mcrae"</a:t>
            </a:r>
            <a:br/>
            <a:r>
              <a:rPr sz="1500" b="0" i="0">
                <a:solidFill>
                  <a:srgbClr val="FFFFFF"/>
                </a:solidFill>
                <a:latin typeface="Calibri"/>
              </a:rPr>
              <a:t>Hyp: "today i'm talking with animal migratory"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1">
                <a:solidFill>
                  <a:srgbClr val="AAAAAA"/>
                </a:solidFill>
                <a:latin typeface="Calibri"/>
              </a:rPr>
              <a:t>WER says equal. Meaning says opposite. So we built a metric to capture this.</a:t>
            </a:r>
          </a:p>
        </p:txBody>
      </p:sp>
      <p:pic>
        <p:nvPicPr>
          <p:cNvPr id="11" name="Picture 10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Intelligibility Score: 39.9% Properly Captured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29640" y="1325880"/>
            <a:ext cx="1554480" cy="100584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1080" y="1417320"/>
            <a:ext cx="1371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Semantic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Sim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(25%)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85288" y="1325880"/>
            <a:ext cx="1554480" cy="100584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76728" y="1417320"/>
            <a:ext cx="1371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Phonetic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Sim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(15%)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0936" y="1325880"/>
            <a:ext cx="1554480" cy="100584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2376" y="1417320"/>
            <a:ext cx="1371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Inv.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WER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(15%)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584" y="1325880"/>
            <a:ext cx="1554480" cy="100584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8024" y="1417320"/>
            <a:ext cx="1371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Inv.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WWER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(15%)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2232" y="1325880"/>
            <a:ext cx="1554480" cy="100584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E06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3672" y="1417320"/>
            <a:ext cx="1371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NEA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F1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(15%)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07880" y="1325880"/>
            <a:ext cx="1554480" cy="100584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99320" y="1417320"/>
            <a:ext cx="1371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Length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Ratio</a:t>
            </a:r>
            <a:br/>
            <a:r>
              <a:rPr sz="1100" b="0" i="0">
                <a:solidFill>
                  <a:srgbClr val="FFFFFF"/>
                </a:solidFill>
                <a:latin typeface="Calibri"/>
              </a:rPr>
              <a:t>(15%)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06040"/>
            <a:ext cx="110916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0B4D8"/>
                </a:solidFill>
                <a:latin typeface="Calibri"/>
              </a:rPr>
              <a:t>IS ≥ 3.0 = Properly Captured: 39.9% — 3.5× more than WER's 11.4%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46120"/>
            <a:ext cx="2743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0" i="0">
                <a:solidFill>
                  <a:srgbClr val="FFFFFF"/>
                </a:solidFill>
                <a:latin typeface="Calibri"/>
              </a:rPr>
              <a:t>18.4% Excellent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246120"/>
            <a:ext cx="5383987" cy="3474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03320"/>
            <a:ext cx="2743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0" i="0">
                <a:solidFill>
                  <a:srgbClr val="FFFFFF"/>
                </a:solidFill>
                <a:latin typeface="Calibri"/>
              </a:rPr>
              <a:t>21.4% Good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3703320"/>
            <a:ext cx="6261811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160520"/>
            <a:ext cx="2743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0" i="0">
                <a:solidFill>
                  <a:srgbClr val="FFFFFF"/>
                </a:solidFill>
                <a:latin typeface="Calibri"/>
              </a:rPr>
              <a:t>21.7% Fair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4160520"/>
            <a:ext cx="6349593" cy="34747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2743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0" i="0">
                <a:solidFill>
                  <a:srgbClr val="FFFFFF"/>
                </a:solidFill>
                <a:latin typeface="Calibri"/>
              </a:rPr>
              <a:t>22.4% Poor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0" y="4617720"/>
            <a:ext cx="6554419" cy="34747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074920"/>
            <a:ext cx="2743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0" i="0">
                <a:solidFill>
                  <a:srgbClr val="FFFFFF"/>
                </a:solidFill>
                <a:latin typeface="Calibri"/>
              </a:rPr>
              <a:t>16.0%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5074920"/>
            <a:ext cx="4681728" cy="34747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2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20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10 Classified Failure Modes (900 failed segments)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2926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Total Topic Drift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325880"/>
            <a:ext cx="5906452" cy="329184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55492" y="1325880"/>
            <a:ext cx="13716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AAAAAA"/>
                </a:solidFill>
                <a:latin typeface="Calibri"/>
              </a:rPr>
              <a:t>15.9% (143)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46504"/>
            <a:ext cx="2926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Phonetic Wrong Topic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746504"/>
            <a:ext cx="5832157" cy="329184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81197" y="1746504"/>
            <a:ext cx="13716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AAAAAA"/>
                </a:solidFill>
                <a:latin typeface="Calibri"/>
              </a:rPr>
              <a:t>15.7% (141)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2926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Accumulated Small Errors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167128"/>
            <a:ext cx="4569142" cy="32918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8182" y="2167128"/>
            <a:ext cx="13716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AAAAAA"/>
                </a:solidFill>
                <a:latin typeface="Calibri"/>
              </a:rPr>
              <a:t>12.3% (111)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87752"/>
            <a:ext cx="2926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Hallucination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2587752"/>
            <a:ext cx="4569142" cy="329184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8182" y="2587752"/>
            <a:ext cx="13716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AAAAAA"/>
                </a:solidFill>
                <a:latin typeface="Calibri"/>
              </a:rPr>
              <a:t>12.3% (111)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08376"/>
            <a:ext cx="2926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High Error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3008376"/>
            <a:ext cx="4494847" cy="32918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3887" y="3008376"/>
            <a:ext cx="13716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AAAAAA"/>
                </a:solidFill>
                <a:latin typeface="Calibri"/>
              </a:rPr>
              <a:t>12.1% (109)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429000"/>
            <a:ext cx="2926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Entity Destruction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3429000"/>
            <a:ext cx="4457700" cy="329184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6740" y="3429000"/>
            <a:ext cx="13716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AAAAAA"/>
                </a:solidFill>
                <a:latin typeface="Calibri"/>
              </a:rPr>
              <a:t>12.0% (108)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49624"/>
            <a:ext cx="2926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Content Word Errors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3849624"/>
            <a:ext cx="3974782" cy="32918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3822" y="3849624"/>
            <a:ext cx="13716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AAAAAA"/>
                </a:solidFill>
                <a:latin typeface="Calibri"/>
              </a:rPr>
              <a:t>10.7% (96)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70248"/>
            <a:ext cx="2926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Empty Output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0" y="4270248"/>
            <a:ext cx="2897505" cy="32918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46545" y="4270248"/>
            <a:ext cx="13716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AAAAAA"/>
                </a:solidFill>
                <a:latin typeface="Calibri"/>
              </a:rPr>
              <a:t>7.8% (70)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90872"/>
            <a:ext cx="2926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Truncation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4690872"/>
            <a:ext cx="408622" cy="32918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57662" y="4690872"/>
            <a:ext cx="13716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AAAAAA"/>
                </a:solidFill>
                <a:latin typeface="Calibri"/>
              </a:rPr>
              <a:t>1.1% (10)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111496"/>
            <a:ext cx="29260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Over-generation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0" y="5111496"/>
            <a:ext cx="91440" cy="32918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0" y="5111496"/>
            <a:ext cx="13716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AAAAAA"/>
                </a:solidFill>
                <a:latin typeface="Calibri"/>
              </a:rPr>
              <a:t>0.1% (1)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1">
                <a:solidFill>
                  <a:srgbClr val="AAAAAA"/>
                </a:solidFill>
                <a:latin typeface="Calibri"/>
              </a:rPr>
              <a:t>Failures are diverse — no single fix. Each roadmap phase targets specific modes.</a:t>
            </a:r>
          </a:p>
        </p:txBody>
      </p:sp>
      <p:pic>
        <p:nvPicPr>
          <p:cNvPr id="35" name="Picture 34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80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1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70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Distribution Across 13 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boxplot_wwer_all_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11091672" cy="54423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1">
                <a:solidFill>
                  <a:srgbClr val="AAAAAA"/>
                </a:solidFill>
                <a:latin typeface="Calibri"/>
              </a:rPr>
              <a:t>Most segments: 50-80% WER. Stable core of ~11% always-good segments across all configs.</a:t>
            </a:r>
          </a:p>
        </p:txBody>
      </p:sp>
      <p:pic>
        <p:nvPicPr>
          <p:cNvPr id="6" name="Picture 5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Three Root Causes — With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1206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1">
                <a:solidFill>
                  <a:srgbClr val="FFFFFF"/>
                </a:solidFill>
                <a:latin typeface="Calibri"/>
              </a:rPr>
              <a:t>Domain Mismatch — Business: IS 3.08, 57% captured (best). DIY/Home: IS 2.13, 30% (worst)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Short Segments — 5-10 words: 32% captured, 74% WER. 20+ words: 49% captured, 55% WER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E06C75"/>
                </a:solidFill>
                <a:latin typeface="Calibri"/>
              </a:rPr>
              <a:t>Hallucination — LLM prior overwhelms weak visual signal. 15.9% topic drift, 12.3% hallucination</a:t>
            </a:r>
          </a:p>
        </p:txBody>
      </p:sp>
      <p:pic>
        <p:nvPicPr>
          <p:cNvPr id="5" name="Picture 4" descr="01_wer_vs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25880"/>
            <a:ext cx="5422392" cy="3207417"/>
          </a:xfrm>
          <a:prstGeom prst="rect">
            <a:avLst/>
          </a:prstGeom>
        </p:spPr>
      </p:pic>
      <p:pic>
        <p:nvPicPr>
          <p:cNvPr id="6" name="Picture 5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NEA F1: 38.8% — The Largest Differentiator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1206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Names, numbers, proper nouns — what context cannot recover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1">
                <a:solidFill>
                  <a:srgbClr val="FFFFFF"/>
                </a:solidFill>
                <a:latin typeface="Calibri"/>
              </a:rPr>
              <a:t>NEA F1: 74% vs 16% (gap: 58pp — LARGEST)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Semantic: 0.74 vs 0.24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Phonetic: 0.81 vs 0.38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00B4D8"/>
                </a:solidFill>
                <a:latin typeface="Calibri"/>
              </a:rPr>
              <a:t>NEA contributes 17.3% of IS variance — disproportionate to its 15% weight</a:t>
            </a:r>
          </a:p>
        </p:txBody>
      </p:sp>
      <p:pic>
        <p:nvPicPr>
          <p:cNvPr id="5" name="Picture 4" descr="14_nea_vs_wwe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25880"/>
            <a:ext cx="5422392" cy="3207417"/>
          </a:xfrm>
          <a:prstGeom prst="rect">
            <a:avLst/>
          </a:prstGeom>
        </p:spPr>
      </p:pic>
      <p:pic>
        <p:nvPicPr>
          <p:cNvPr id="6" name="Picture 5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Systematic Parameter Search: 13 Configurations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0B4D8"/>
                </a:solidFill>
                <a:latin typeface="Calibri"/>
              </a:rPr>
              <a:t>Parameters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Beam size (5-50)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Length penalty (-0.5 to 2.0)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Temperature (0.3-1.5)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Sampling strategy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Repetition penalty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11111" y="132588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E06C75"/>
                </a:solidFill>
                <a:latin typeface="Calibri"/>
              </a:rPr>
              <a:t>Best Config (J) — 1,497 segments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1111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IS: 2.60 vs 2.52 baseline (+0.08)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4CAF50"/>
                </a:solidFill>
                <a:latin typeface="Calibri"/>
              </a:rPr>
              <a:t>Captured: 622 vs 597 (+25 segments)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4CAF50"/>
                </a:solidFill>
                <a:latin typeface="Calibri"/>
              </a:rPr>
              <a:t>Empties: 0 vs 70 (eliminated)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E06C75"/>
                </a:solidFill>
                <a:latin typeface="Calibri"/>
              </a:rPr>
              <a:t>Hallucinations: 348 vs 307 (+41 more)</a:t>
            </a:r>
          </a:p>
        </p:txBody>
      </p:sp>
      <p:pic>
        <p:nvPicPr>
          <p:cNvPr id="8" name="Picture 7" descr="10_empty_and_hallucination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1" y="3886200"/>
            <a:ext cx="5029200" cy="2470859"/>
          </a:xfrm>
          <a:prstGeom prst="rect">
            <a:avLst/>
          </a:prstGeom>
        </p:spPr>
      </p:pic>
      <p:pic>
        <p:nvPicPr>
          <p:cNvPr id="9" name="Picture 8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Tuning Is Mitigation, Not a Cure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1206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E06C75"/>
                </a:solidFill>
                <a:latin typeface="Calibri"/>
              </a:rPr>
              <a:t>Config J: eliminates empties but doubles hallucinations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Net IS gain: only +0.08 across 1,497 segments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Cross-config proof: per-segment rankings identical (r &gt; 0.92)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1">
                <a:solidFill>
                  <a:srgbClr val="FFFFFF"/>
                </a:solidFill>
                <a:latin typeface="Calibri"/>
              </a:rPr>
              <a:t>"Hard" and "easy" segments stay the same — bottleneck is the visual encoder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00B4D8"/>
                </a:solidFill>
                <a:latin typeface="Calibri"/>
              </a:rPr>
              <a:t>Three levers remain: more data, stronger LLM, smart prompts</a:t>
            </a:r>
          </a:p>
        </p:txBody>
      </p:sp>
      <p:pic>
        <p:nvPicPr>
          <p:cNvPr id="5" name="Picture 4" descr="P4_lenpen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25880"/>
            <a:ext cx="5422392" cy="3304528"/>
          </a:xfrm>
          <a:prstGeom prst="rect">
            <a:avLst/>
          </a:prstGeom>
        </p:spPr>
      </p:pic>
      <p:pic>
        <p:nvPicPr>
          <p:cNvPr id="6" name="Picture 5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Representative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0149840" cy="2514600"/>
        </p:xfrm>
        <a:graphic>
          <a:graphicData uri="http://schemas.openxmlformats.org/drawingml/2006/table">
            <a:tbl>
              <a:tblPr firstRow="0" bandRow="0" lastRow="0" bandCol="0">
                <a:tableStyleId>{5C22544A-7EE6-4342-B048-85BDC9FD1C3A}</a:tableStyleId>
              </a:tblPr>
              <a:tblGrid>
                <a:gridCol w="1371600"/>
                <a:gridCol w="3474720"/>
                <a:gridCol w="347472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WER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IS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Perfect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health insurance company they pay...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[exact match]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CAF50"/>
                          </a:solidFill>
                          <a:latin typeface="Calibri"/>
                        </a:rPr>
                        <a:t>5.0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WER Misleads</a:t>
                      </a:r>
                    </a:p>
                  </a:txBody>
                  <a:tcPr>
                    <a:solidFill>
                      <a:srgbClr val="152a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work with the team in a more</a:t>
                      </a:r>
                    </a:p>
                  </a:txBody>
                  <a:tcPr>
                    <a:solidFill>
                      <a:srgbClr val="152a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work with a team and more</a:t>
                      </a:r>
                    </a:p>
                  </a:txBody>
                  <a:tcPr>
                    <a:solidFill>
                      <a:srgbClr val="152a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152a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CAF50"/>
                          </a:solidFill>
                          <a:latin typeface="Calibri"/>
                        </a:rPr>
                        <a:t>4.3</a:t>
                      </a:r>
                    </a:p>
                  </a:txBody>
                  <a:tcPr>
                    <a:solidFill>
                      <a:srgbClr val="152a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Entity Lost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talking with admiral mcrae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talking with animal migratory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C107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Hallucinated</a:t>
                      </a:r>
                    </a:p>
                  </a:txBody>
                  <a:tcPr>
                    <a:solidFill>
                      <a:srgbClr val="152a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carry strap</a:t>
                      </a:r>
                    </a:p>
                  </a:txBody>
                  <a:tcPr>
                    <a:solidFill>
                      <a:srgbClr val="152a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holocaust denier</a:t>
                      </a:r>
                    </a:p>
                  </a:txBody>
                  <a:tcPr>
                    <a:solidFill>
                      <a:srgbClr val="152a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FFFFF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152a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F44336"/>
                          </a:solidFill>
                          <a:latin typeface="Calibri"/>
                        </a:rPr>
                        <a:t>0.7</a:t>
                      </a:r>
                    </a:p>
                  </a:txBody>
                  <a:tcPr>
                    <a:solidFill>
                      <a:srgbClr val="152a40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Demo: Three Videos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0" i="0">
                <a:solidFill>
                  <a:srgbClr val="00B4D8"/>
                </a:solidFill>
                <a:latin typeface="Calibri"/>
              </a:rPr>
              <a:t>Perfect  →  Near-miss  →  Hallucination</a:t>
            </a:r>
          </a:p>
        </p:txBody>
      </p:sp>
      <p:sp>
        <p:nvSpPr>
          <p:cNvPr id="5" name="Oval 4"/>
          <p:cNvSpPr/>
          <p:nvPr/>
        </p:nvSpPr>
        <p:spPr>
          <a:xfrm>
            <a:off x="5273040" y="2286000"/>
            <a:ext cx="1645920" cy="1645920"/>
          </a:xfrm>
          <a:prstGeom prst="ellipse">
            <a:avLst/>
          </a:prstGeom>
          <a:solidFill>
            <a:srgbClr val="152A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10200" y="2423160"/>
            <a:ext cx="137160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640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89120"/>
            <a:ext cx="1109167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>
                <a:solidFill>
                  <a:srgbClr val="AAAAAA"/>
                </a:solidFill>
                <a:latin typeface="Calibri"/>
              </a:rPr>
              <a:t>Three demonstrations played from external files.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4754880"/>
            <a:ext cx="74340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• </a:t>
            </a:r>
            <a:r>
              <a:rPr sz="1200" b="0">
                <a:solidFill>
                  <a:srgbClr val="AAAAAA"/>
                </a:solidFill>
                <a:latin typeface="Calibri"/>
              </a:rPr>
              <a:t>1. d8BR6hsvzoY — 'buy one get one free' (WER 0%)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• </a:t>
            </a:r>
            <a:r>
              <a:rPr sz="1200" b="0">
                <a:solidFill>
                  <a:srgbClr val="AAAAAA"/>
                </a:solidFill>
                <a:latin typeface="Calibri"/>
              </a:rPr>
              <a:t>2. -POZpyVCN8k — 'admiral mcrae' → 'animal migratory'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• </a:t>
            </a:r>
            <a:r>
              <a:rPr sz="1200" b="0">
                <a:solidFill>
                  <a:srgbClr val="AAAAAA"/>
                </a:solidFill>
                <a:latin typeface="Calibri"/>
              </a:rPr>
              <a:t>3. 00MUdHQ7GGY — hallucination: fabricates narrative (WER 100%)</a:t>
            </a:r>
          </a:p>
        </p:txBody>
      </p:sp>
      <p:pic>
        <p:nvPicPr>
          <p:cNvPr id="9" name="Picture 8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Eight Research Reports + Training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Executive Assessment — reality gap, quality tiers, 1,497 segments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Hyperparameter Tuning — 13 experiments, parameter sensitivity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Prompt Engineering — context injection, 7 prompt strategies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Confidence Scoring — beam score extraction, quality filtering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N-Best Aggregation — ROVER/MBR hypothesis combination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Fine-Tuning Analysis — LoRA domain adaptation strategy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Intelligibility Scoring — 6-signal composite metric, failure taxonomy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LLM Upgrade Analysis — Llama 3.1 8B drop-in, data scaling, GER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00B4D8"/>
                </a:solidFill>
                <a:latin typeface="Calibri"/>
              </a:rPr>
              <a:t>+ Exp A Training Report — overfitting analysis, 10 diagnostic plots</a:t>
            </a:r>
          </a:p>
        </p:txBody>
      </p:sp>
      <p:pic>
        <p:nvPicPr>
          <p:cNvPr id="5" name="Picture 4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8-Stage Automated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1">
                <a:solidFill>
                  <a:srgbClr val="AAAAAA"/>
                </a:solidFill>
                <a:latin typeface="Calibri"/>
              </a:rPr>
              <a:t>3 research repos → single orchestrated system</a:t>
            </a:r>
          </a:p>
        </p:txBody>
      </p:sp>
      <p:pic>
        <p:nvPicPr>
          <p:cNvPr id="5" name="Picture 4" descr="pipeli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11091672" cy="6298144"/>
          </a:xfrm>
          <a:prstGeom prst="rect">
            <a:avLst/>
          </a:prstGeom>
        </p:spPr>
      </p:pic>
      <p:pic>
        <p:nvPicPr>
          <p:cNvPr id="6" name="Picture 5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37 Bugs Fixed: Research Code →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E06C75"/>
                </a:solidFill>
                <a:latin typeface="Calibri"/>
              </a:rPr>
              <a:t>Critical Fixes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NVENC silent corruption (destroyed 43% of videos)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HDR/10-bit tone mapping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Cython extension compilation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fairseq patching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spaCy offline installation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Docker networking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Python venv conflicts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11111" y="132588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4CAF50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1111" y="178308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Any format: MP4, MKV, AVI, MOV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Any resolution, any codec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GPU detection with CPU fallback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00B4D8"/>
                </a:solidFill>
                <a:latin typeface="Calibri"/>
              </a:rPr>
              <a:t>All 37 bugs documented with root cause</a:t>
            </a:r>
          </a:p>
        </p:txBody>
      </p:sp>
      <p:pic>
        <p:nvPicPr>
          <p:cNvPr id="8" name="Picture 7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52% Code Reduction: 823 → 393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029200" cy="4114800"/>
          </a:xfrm>
          <a:prstGeom prst="roundRect">
            <a:avLst/>
          </a:prstGeom>
          <a:solidFill>
            <a:srgbClr val="152A40"/>
          </a:solidFill>
          <a:ln w="38100">
            <a:solidFill>
              <a:srgbClr val="E06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4480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 i="0">
                <a:solidFill>
                  <a:srgbClr val="E06C75"/>
                </a:solidFill>
                <a:latin typeface="Calibri"/>
              </a:rP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480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06C75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Monolithic 823-line script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E06C75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Fragile, untestable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E06C75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No environment detection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E06C75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Hardcoded paths everywhere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11111" y="1325880"/>
            <a:ext cx="5029200" cy="4114800"/>
          </a:xfrm>
          <a:prstGeom prst="roundRect">
            <a:avLst/>
          </a:prstGeom>
          <a:solidFill>
            <a:srgbClr val="152A40"/>
          </a:solidFill>
          <a:ln w="381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85431" y="1508760"/>
            <a:ext cx="4480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 i="0">
                <a:solidFill>
                  <a:srgbClr val="00B4D8"/>
                </a:solidFill>
                <a:latin typeface="Calibri"/>
              </a:rPr>
              <a:t>AFTER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5431" y="2148840"/>
            <a:ext cx="4480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393-line orchestrator + 11 modules in lib/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00B4D8"/>
                </a:solidFill>
                <a:latin typeface="Calibri"/>
              </a:rPr>
              <a:t>37 automated tests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Each stage independently testable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Auto-detects EC2 vs container</a:t>
            </a:r>
          </a:p>
        </p:txBody>
      </p:sp>
      <p:pic>
        <p:nvPicPr>
          <p:cNvPr id="10" name="Picture 9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Standalone Container — No Cloud Required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Docker container with web UI on Linux machine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Drag-and-drop video upload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Automatic end-to-end processing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INSTALL.sh overlay with backup and verification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1">
                <a:solidFill>
                  <a:srgbClr val="00B4D8"/>
                </a:solidFill>
                <a:latin typeface="Calibri"/>
              </a:rPr>
              <a:t>Currently deployed at client site</a:t>
            </a:r>
          </a:p>
        </p:txBody>
      </p:sp>
      <p:pic>
        <p:nvPicPr>
          <p:cNvPr id="5" name="Picture 4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Pipeline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1040" y="1508760"/>
            <a:ext cx="3291840" cy="365760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9640" y="1783080"/>
            <a:ext cx="28346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00B4D8"/>
                </a:solidFill>
                <a:latin typeface="Calibri"/>
              </a:rPr>
              <a:t>Transcription Reuse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9640" y="2423160"/>
            <a:ext cx="283464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Manual corrections persist across runs. Whisper skips matched segments, saving hours.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0080" y="1508760"/>
            <a:ext cx="3291840" cy="365760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E06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8680" y="1783080"/>
            <a:ext cx="28346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E06C75"/>
                </a:solidFill>
                <a:latin typeface="Calibri"/>
              </a:rPr>
              <a:t>Golden K-means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680" y="2423160"/>
            <a:ext cx="283464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1,396-video baseline clustering model for consistent feature extraction.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9120" y="1508760"/>
            <a:ext cx="3291840" cy="365760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7720" y="1783080"/>
            <a:ext cx="28346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 i="0">
                <a:solidFill>
                  <a:srgbClr val="AAAAAA"/>
                </a:solidFill>
                <a:latin typeface="Calibri"/>
              </a:rPr>
              <a:t>Smart Segmentation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7720" y="2423160"/>
            <a:ext cx="283464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Configurable overlap for context preservation across segment boundaries.</a:t>
            </a:r>
          </a:p>
        </p:txBody>
      </p:sp>
      <p:pic>
        <p:nvPicPr>
          <p:cNvPr id="13" name="Picture 12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Evaluation: Beyond Standard 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1206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16 analytical plots per experiment (auto-generated)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Per-segment HTML reports (13 interactive)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Custom NEA metric for entity accuracy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Intelligibility Score pipeline (LLM-distilled, 6 signals)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IS correlation analysis (16 configs, r=0.925)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Failure mode classification (10 modes)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Topic/length analysis (11 categories)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00B4D8"/>
                </a:solidFill>
                <a:latin typeface="Calibri"/>
              </a:rPr>
              <a:t>Fine-tuning diagnostics (10 training plots)</a:t>
            </a:r>
          </a:p>
        </p:txBody>
      </p:sp>
      <p:pic>
        <p:nvPicPr>
          <p:cNvPr id="5" name="Picture 4" descr="15_cdf_wwer_cu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25880"/>
            <a:ext cx="5422392" cy="3207417"/>
          </a:xfrm>
          <a:prstGeom prst="rect">
            <a:avLst/>
          </a:prstGeom>
        </p:spPr>
      </p:pic>
      <p:pic>
        <p:nvPicPr>
          <p:cNvPr id="6" name="Picture 5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Engineering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40+ git versions with semantic tags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EC2/container sync protocol (26 tracked items)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8 formal research reports + methodology docs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Complete architecture, development, and bug documentation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Automated test suite and verification</a:t>
            </a:r>
          </a:p>
        </p:txBody>
      </p:sp>
      <p:pic>
        <p:nvPicPr>
          <p:cNvPr id="5" name="Picture 4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Starting from 40%, Not 11%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3474720" cy="201168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E06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E06C75"/>
                </a:solidFill>
                <a:latin typeface="Calibri"/>
              </a:rPr>
              <a:t>WER Says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06C75"/>
                </a:solidFill>
                <a:latin typeface="Calibri"/>
              </a:rPr>
              <a:t>• </a:t>
            </a:r>
            <a:r>
              <a:rPr sz="1400" b="0">
                <a:solidFill>
                  <a:srgbClr val="FFFFFF"/>
                </a:solidFill>
                <a:latin typeface="Calibri"/>
              </a:rPr>
              <a:t>11.4% usable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E06C75"/>
                </a:solidFill>
                <a:latin typeface="Calibri"/>
              </a:rPr>
              <a:t>• </a:t>
            </a:r>
            <a:r>
              <a:rPr sz="1400" b="0">
                <a:solidFill>
                  <a:srgbClr val="FFFFFF"/>
                </a:solidFill>
                <a:latin typeface="Calibri"/>
              </a:rPr>
              <a:t>9 out of 10 segments fail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25880"/>
            <a:ext cx="3474720" cy="201168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417320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IS Says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8288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1">
                <a:solidFill>
                  <a:srgbClr val="FFFFFF"/>
                </a:solidFill>
                <a:latin typeface="Calibri"/>
              </a:rPr>
              <a:t>39.9% properly captured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43-51% context-recoverable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Validated across 16 decode configs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LLM judge: 88.6% agreement, r=0.925</a:t>
            </a:r>
          </a:p>
        </p:txBody>
      </p:sp>
      <p:pic>
        <p:nvPicPr>
          <p:cNvPr id="10" name="Picture 9" descr="P1_quality_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325880"/>
            <a:ext cx="3840480" cy="16390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1">
                <a:solidFill>
                  <a:srgbClr val="AAAAAA"/>
                </a:solidFill>
                <a:latin typeface="Calibri"/>
              </a:rPr>
              <a:t>The gap is real — but WER dramatically overstates failure. 40% already works.</a:t>
            </a:r>
          </a:p>
        </p:txBody>
      </p:sp>
      <p:pic>
        <p:nvPicPr>
          <p:cNvPr id="12" name="Picture 11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Five Phases — From 67% to Target 27-42% 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03520" cy="777240"/>
          </a:xfrm>
          <a:prstGeom prst="roundRect">
            <a:avLst/>
          </a:prstGeom>
          <a:solidFill>
            <a:srgbClr val="152A4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0B4D8"/>
                </a:solidFill>
                <a:latin typeface="Calibri"/>
              </a:rPr>
              <a:t>Phase 1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Surface the good 40%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AAAAAA"/>
                </a:solidFill>
                <a:latin typeface="Calibri"/>
              </a:rPr>
              <a:t>Confidence scoring (2-4 hrs)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76272"/>
            <a:ext cx="4983480" cy="777240"/>
          </a:xfrm>
          <a:prstGeom prst="roundRect">
            <a:avLst/>
          </a:prstGeom>
          <a:solidFill>
            <a:srgbClr val="152A4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21992"/>
            <a:ext cx="4617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0B4D8"/>
                </a:solidFill>
                <a:latin typeface="Calibri"/>
              </a:rPr>
              <a:t>Phase 2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Improve the fair 22%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AAAAAA"/>
                </a:solidFill>
                <a:latin typeface="Calibri"/>
              </a:rPr>
              <a:t>N-best aggregation (-5 to -15%)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026664"/>
            <a:ext cx="4663440" cy="777240"/>
          </a:xfrm>
          <a:prstGeom prst="roundRect">
            <a:avLst/>
          </a:prstGeom>
          <a:solidFill>
            <a:srgbClr val="152A4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72384"/>
            <a:ext cx="4297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CAF50"/>
                </a:solidFill>
                <a:latin typeface="Calibri"/>
              </a:rPr>
              <a:t>Phase 3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LLM swap + smart prompts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AAAAAA"/>
                </a:solidFill>
                <a:latin typeface="Calibri"/>
              </a:rPr>
              <a:t>Llama 3.1 8B + prompts (-8 to -18pp)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3877056"/>
            <a:ext cx="4343400" cy="777240"/>
          </a:xfrm>
          <a:prstGeom prst="roundRect">
            <a:avLst/>
          </a:prstGeom>
          <a:solidFill>
            <a:srgbClr val="152A4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3922776"/>
            <a:ext cx="3977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CAF50"/>
                </a:solidFill>
                <a:latin typeface="Calibri"/>
              </a:rPr>
              <a:t>Phase 4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Scale data 20K-50K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AAAAAA"/>
                </a:solidFill>
                <a:latin typeface="Calibri"/>
              </a:rPr>
              <a:t>Fine-tune (-15 to -25pp)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4727448"/>
            <a:ext cx="4023360" cy="777240"/>
          </a:xfrm>
          <a:prstGeom prst="roundRect">
            <a:avLst/>
          </a:prstGeom>
          <a:solidFill>
            <a:srgbClr val="152A40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4773168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AAAAAA"/>
                </a:solidFill>
                <a:latin typeface="Calibri"/>
              </a:rPr>
              <a:t>Phase 5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GER post-processing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AAAAAA"/>
                </a:solidFill>
                <a:latin typeface="Calibri"/>
              </a:rPr>
              <a:t>No retraining needed (-8 to -15pp)</a:t>
            </a:r>
          </a:p>
        </p:txBody>
      </p:sp>
      <p:pic>
        <p:nvPicPr>
          <p:cNvPr id="14" name="Picture 13" descr="P3_wer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25880"/>
            <a:ext cx="5605272" cy="335689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1">
                <a:solidFill>
                  <a:srgbClr val="AAAAAA"/>
                </a:solidFill>
                <a:latin typeface="Calibri"/>
              </a:rPr>
              <a:t>Combined target: 27-42% WER. Multiplicative scaling law (ICLR 2024).</a:t>
            </a:r>
          </a:p>
        </p:txBody>
      </p:sp>
      <p:pic>
        <p:nvPicPr>
          <p:cNvPr id="16" name="Picture 15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Phase 1: Automatic Quality Flagging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IS proves 40% is good — beam scores can flag it at decode time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No additional inference needed — scores already computed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1">
                <a:solidFill>
                  <a:srgbClr val="00B4D8"/>
                </a:solidFill>
                <a:latin typeface="Calibri"/>
              </a:rPr>
              <a:t>Effort: 2-4 hours implementation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Priority: Business/Finance segments (57% captured) most reliable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Short segments (&lt;10 words, 32%) need lower confidence thresholds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1">
                <a:solidFill>
                  <a:srgbClr val="FFFFFF"/>
                </a:solidFill>
                <a:latin typeface="Calibri"/>
              </a:rPr>
              <a:t>This is the immediate next step</a:t>
            </a:r>
          </a:p>
        </p:txBody>
      </p:sp>
      <p:pic>
        <p:nvPicPr>
          <p:cNvPr id="5" name="Picture 4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Phase 2: Exploit All 20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Currently discarding 19 of 20 beam candidates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ROVER/MBR — established technique, consistent gains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1">
                <a:solidFill>
                  <a:srgbClr val="00B4D8"/>
                </a:solidFill>
                <a:latin typeface="Calibri"/>
              </a:rPr>
              <a:t>Expected: 5-15% relative improvement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Targets: Accumulated Small Errors (12.3%) and Content Word Errors (10.7%)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B4D8"/>
                </a:solidFill>
                <a:latin typeface="Calibri"/>
              </a:rPr>
              <a:t>• </a:t>
            </a:r>
            <a:r>
              <a:rPr sz="1500" b="0">
                <a:solidFill>
                  <a:srgbClr val="FFFFFF"/>
                </a:solidFill>
                <a:latin typeface="Calibri"/>
              </a:rPr>
              <a:t>Moves "fair" tier segments up to "good"</a:t>
            </a:r>
          </a:p>
        </p:txBody>
      </p:sp>
      <p:pic>
        <p:nvPicPr>
          <p:cNvPr id="5" name="Picture 4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Domain Adaptation: Data Is the Bottleneck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T_10_summar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11091672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0690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E06C75"/>
                </a:solidFill>
                <a:latin typeface="Calibri"/>
              </a:rPr>
              <a:t>Exp A/B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Exp A (r=16): best val acc 62.94% at epoch 2, severe overfitting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E06C75"/>
                </a:solidFill>
                <a:latin typeface="Calibri"/>
              </a:rPr>
              <a:t>Exp B (r=64): 3.1pp WORSE — more params = faster overfitting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1">
                <a:solidFill>
                  <a:srgbClr val="FFFFFF"/>
                </a:solidFill>
                <a:latin typeface="Calibri"/>
              </a:rPr>
              <a:t>KEY: 1,273 segments too small for LoRA generalization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1111" y="406908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0B4D8"/>
                </a:solidFill>
                <a:latin typeface="Calibri"/>
              </a:rPr>
              <a:t>Data Scaling (ICLR 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11111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5K segments: 55-60% WER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20K segments: 45-50% / 40-45% (Llama 3.1)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50K segments: 40-45% / 35-40%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00B4D8"/>
                </a:solidFill>
                <a:latin typeface="Calibri"/>
              </a:rPr>
              <a:t>AVSpeech: 290K videos available</a:t>
            </a:r>
          </a:p>
        </p:txBody>
      </p:sp>
      <p:pic>
        <p:nvPicPr>
          <p:cNvPr id="9" name="Picture 8" descr="BlackLogo300x300-W-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Stronger LLM + Smart Prompts = Force Multiplier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1040" y="1325880"/>
            <a:ext cx="3291840" cy="438912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3920" y="1463040"/>
            <a:ext cx="2926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0B4D8"/>
                </a:solidFill>
                <a:latin typeface="Calibri"/>
              </a:rPr>
              <a:t>LLM Swap (immediate)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920" y="19659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Llama 3.1 8B: drop-in (same hidden_size 4096)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Quality ≈ Llama-2 70B, 128K vocab, 128K context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1">
                <a:solidFill>
                  <a:srgbClr val="FFFFFF"/>
                </a:solidFill>
                <a:latin typeface="Calibri"/>
              </a:rPr>
              <a:t>Setup: 1-2 hours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Alone: -3 to -8pp 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0080" y="1325880"/>
            <a:ext cx="3291840" cy="438912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E06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2960" y="1463040"/>
            <a:ext cx="2926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E06C75"/>
                </a:solidFill>
                <a:latin typeface="Calibri"/>
              </a:rPr>
              <a:t>Smart Prompts (force multiplier)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2960" y="19659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7 strategies: topic context, word count, anti-hallucination, GER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Llama-2: +5-10pp | Llama 3.1: +12-20pp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4CAF50"/>
                </a:solidFill>
                <a:latin typeface="Calibri"/>
              </a:rPr>
              <a:t>GER post-processing: +8-15pp, no retraining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9120" y="1325880"/>
            <a:ext cx="3291840" cy="4389120"/>
          </a:xfrm>
          <a:prstGeom prst="roundRect">
            <a:avLst/>
          </a:prstGeom>
          <a:solidFill>
            <a:srgbClr val="152A40"/>
          </a:solidFill>
          <a:ln w="254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0" y="1463040"/>
            <a:ext cx="2926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AAAAAA"/>
                </a:solidFill>
                <a:latin typeface="Calibri"/>
              </a:rPr>
              <a:t>Future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0" y="196596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Arabic (K-means model exists)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VALLR: 18.7% WER with 3B model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4D8"/>
                </a:solidFill>
                <a:latin typeface="Calibri"/>
              </a:rPr>
              <a:t>• </a:t>
            </a:r>
            <a:r>
              <a:rPr sz="1300" b="0">
                <a:solidFill>
                  <a:srgbClr val="FFFFFF"/>
                </a:solidFill>
                <a:latin typeface="Calibri"/>
              </a:rPr>
              <a:t>Multi-speaker, streaming</a:t>
            </a:r>
          </a:p>
        </p:txBody>
      </p:sp>
      <p:pic>
        <p:nvPicPr>
          <p:cNvPr id="13" name="Picture 12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1905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325880"/>
            <a:ext cx="1017727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Rigorous assessment: 2.5× WER gap on 1,497 segments. Novel IS metric reveals 40% properly captured. 10 classified failure modes.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68880"/>
            <a:ext cx="1017727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Production system delivered: standalone container, 37 bugs fixed, 8-stage pipeline, 37 tests, 8 research reports.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74904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611880"/>
            <a:ext cx="1017727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Data is the bottleneck: Exp A/B proved 1,273 segments too small. Multiplicative scaling law: stronger LLM + more data compounds.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89204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754880"/>
            <a:ext cx="1017727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Actionable roadmap to 27-42% WER: LLM swap + smart prompts + data scaling + GER. Each targets a different bottleneck.</a:t>
            </a:r>
          </a:p>
        </p:txBody>
      </p:sp>
      <p:pic>
        <p:nvPicPr>
          <p:cNvPr id="16" name="Picture 15" descr="BlackLogo300x300-W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6428232"/>
            <a:ext cx="271117" cy="3200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