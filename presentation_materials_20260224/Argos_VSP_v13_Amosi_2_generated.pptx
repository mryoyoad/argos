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covers 3 months of research and engineering on a visual speech processing system — reading lips from video, no audio. We'll cover what we found, what we built, and where we go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Thesis slide. Frames the deck's central claim: Argos is a calibrated review tool, NOT automatic transcription. The trust layer (per-word confidence bands + segment-level tiers) is the load-bearing feature that distinguishes this from an ASR-style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Claims/anti-claims contrast — sets honest scope for the rest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Was Built. Took VSP-LLM from a research paper with no working environment to a complete production system: standalone Docker container with full web UI, 8-stage pipeline (face detection through LLM decode), beam aggregation shipped as default (MBR May 2 2026). This is an engineering achievement — every component had to be made to work together, debugged, containerised, shipped. Reframed per user review #305: emphasize paper→production journey, beam aggregation framed as 'multi-hypothesis combining' rather than MBR jargon. See docs/beam-search/n_best_implementation.md.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Found. Key outcomes: 65% of output is useful by blind LLM judge (Y+P under MBR), per-word confidence green band is 87% accurate for NIV-Y content (meaning the system's trust signals are calibrated), IS metric built from scratch validates better than WER. Arabic roadmap is concrete: 2-3 months with existing infrastructure. See docs/evaluation/after_amosi_audit.md (Section F) and docs/confidence/band_reliability_by_niv.md.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Three months of work on visual speech processing. Key finding: WER dramatically overstates failure. Our Intelligibility Score shows 62% of output is useful (NIV Y+P, MBR n-best), not the 26% WER suggests. Complete production system delivered. Clear roadmap to improve further. See docs/evaluation/after_amosi_audit.md (Section 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Side-by-side: same segment scores 46% WER (literature would call that a failure) but IS 4.03 out of 5 (Tier 5, Excellent). The prediction preserves the complete meaning — six insertions and one deletion turn 'i want you to remember all these i want you to memorize them' into 'i want you to remember all the things that i wanted you to memorize in my', which is semantically identical (semantic similarity 0.90). This single example motivates the rest of the deck: WER counts edits, IS asks whether the viewer got the message. Mention to peers: this kind of paraphrase is the dominant failure pattern at the top of our IS distribution and is exactly what aggregate WER fails to score correctly. Sources: docs/evaluation/intelligibility_methodology.md, docs/evaluation/llm_judge/llm_judge_analysis.md (Y verdict 23% / Y+P 65%).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sections, mapping to the May 2026 academic-deck narrative. (1) The Problem: visemes, WER vs meaning. (2) How Do You Evaluate Lip-Reading?: the IS metric and the LLM-as-a-Judge gold standard. (3) Where the System Works: oracle vs realistic capture under MBR (default since May 2 2026), failure modes. (4) Confidence Without Ground Truth: agreement-aware bands, trust-gate operating points. (5) Demo + Future. See docs/evaluation/after_amosi_audit.md for all numbers cited downstream.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VIDEO: IEa7qEkMvfQ_3__c5447488_with_hyp.mp4 — 33 words about health insurance, WER 0%. Play the video first, then explain: this is the best case. The system perfectly reads 33 consecutive words from lip movement alone. Now let's see how it works.</a:t>
            </a:r>
          </a:p>
          <a:p/>
          <a:p>
            <a:r>
              <a:t>AFTER VIDEO: System + human reader outperforms expert lip readers. Expert lip readers achieve ~45-52% word accuracy on unconstrained speech (Auer &amp; Bernstein 2007). Model + context-aware human: estimated 55-70% word accuracy, 75-85% meaning capture. Key insight: the model provides candidate text (the hardest part of lip reading). The human's job becomes verification, not generation — dramatically easier. Hallucination risk drops from 20% to &lt;5% with human filtering. Source: docs/evaluation/human_is_estimation.md (Path B pre-study estimates).</a:t>
            </a:r>
          </a:p>
          <a:p/>
          <a:p>
            <a:r>
              <a:t>PEER CAVEAT: 'System + human outperforms expert lip readers' is a Path B pre-study estimate (see Appendix Human-IS); not yet validated by a head-to-head measurement. Expert human lip-readers reach ~3.0 IS, model+ctx+human reviewer projects to ~3.8 IS; the gap is the value of the trust gate UI.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50-70% of English sounds are invisible on lips — this is the homophene (viseme) problem that makes lip reading fundamentally ambiguous. Multiple phonemes such as /p, b, m/ or /t, d, n/ produce indistinguishable mouth shapes, so any text-only lip reader has at least 30-50% irreducible ambiguity per word. The poster frames show two different speakers whose mouth shapes look nearly identical while saying completely different words ('mom' vs 'bomb', 'pat' vs 'bat'). This is precisely why the model alone hallucinates on 20% of segments — it has no way to resolve homophenes without context. The LLM component supplies that context, which is why the architecture is visual encoder + LLM rather than visual encoder alone. Sources: docs/evaluation/intelligibility_methodology.md (homophene rate), docs/evaluation/llm_judge/llm_judge_analysis.md (hallucination rate 20%).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Five-step data flow. Raw video at 25fps is cropped to 96x96 mouth region. AV-HuBERT extracts 1024-dim visual features. Linear projection maps to 4096-dim LLM input space (1024 -&gt; 4096). LLaMA-2-7B generates text. The visual encoder is frozen — only the projection layer and LoRA adapters are trained. Source: docs/architecture.md (pipeline flow + data formats).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components. Visual encoder (AV-HuBERT) is frozen — pre-trained on LRS3 lip-reading data. It outputs 1024-dim features per video frame. A linear projection maps those features to 4096-dim, the LLaMA-2-7B input dimension. The LLM then generates text autoregressively in the usual way. Key training insight: only the LoRA adapters (rank 16) and the projection layer are trained — 12.6M trainable parameters, just 0% of the 7B total. This makes the architecture LLM-upgradeable: Llama 3.1 8B exposes the same 4096 hidden size, so swapping the backbone is a drop-in replacement that requires only adapter retraining (no new projection geometry). Mention to peers: this is the VSP-LLM design from Yeo et al. 2024, with our 4-bit quantisation to fit a single 24 GB consumer GPU at inference.</a:t>
            </a:r>
          </a:p>
          <a:p/>
          <a:p>
            <a:r>
              <a:t>PEER DETAIL: K-means stage clusters AV-HuBERT features (1024-dim) into K=500 units (paper default), used during VSP-LLM training to predict viseme-style discrete units. The 1024 → 4096 layer is a single linear projection (no activation), QLoRA r=16, ~12.6M trainable params. Sources: docs/paper/VSP-LLM_paper.pdf, docs/finetuning/training-research-notes.md (LoRA r=16 setup).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reports 25% WER on LRS3 — a curated TED talks dataset with ideal conditions. Our 1,497 YouTube segments are fundamentally harder: diverse speakers, topics, lighting, angles. Result: 64% WER (MBR n-best, production default since May 2 2026; top-1 baseline 64%) — 2.5x worse. The dataset is different, and that explains the gap.</a:t>
            </a:r>
          </a:p>
          <a:p/>
          <a:p>
            <a:r>
              <a:t>Note: Our best LRS3 reproduction achieved 32% WER — gap likely due to pretrain/test split differences.</a:t>
            </a:r>
          </a:p>
          <a:p/>
          <a:p>
            <a:r>
              <a:t>PEER CAVEAT: 25% WER baseline is the paper-as-published number on LRS3. Our own LRS3 reproduction reaches 32% (likely pretrain-split / data-prep differences). Either way the wild-data gap is multiplicative — choosing 25% as the denominator gives the paper-as-published 2.5x; using our 32% still leaves a 2.0x gap. See docs/evaluation/after_amosi_audit.md (Section F) and docs/beam-search/n_best_implementation.md.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1,497 diverse YouTube segments. 64% mean WER under MBR n-best (production default since May 2 2026; top-1 baseline 64%) — 2.5x worse than the paper's 25%. The five WER buckets together partition the dataset: 26% Useful (WER&lt;30%), 17% Marginal (30-50%), 18% Poor (50-75%), 33% Unusable (75-100%), and 21% Hallucinated (&gt;100%). The 17% Marginal slice is the band where IS and LLM Salvage do most of their lifting; the calibrated NIV-Y operating point is WER ≤ 34% (κ=0.629). 21% are hallucinations — fluent text that's completely fabricated. This is the most dangerous failure mode. WER treats all five buckets the same way, which is exactly why we move on to a richer metric. Sources: docs/evaluation/threshold_calibration_vs_opus.md, docs/evaluation/after_amosi_audit.md (Section 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Admiral McRae example. Both cases have the same WER — 1 word substitution. But 'the' to 'a' is harmless, while 'Admiral McRae' to 'animal migration' destroys the speaker's identity. WER treats them identically. This is why we built our own metric — the Intelligibility Score — which asks: did the viewer get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now present the research findings — our novel Intelligibility Score metric, root cause analysis, failure mode taxonomy, and decode tuning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LLM-as-a-Judge gold standard - v1 BLIND run (Claude Opus 4.6, 1,497 pairs). Distinct from the v3 dual-conf judge run on the n-best paired-test slide later in this section, which uses Opus 4.7 with the dual-conf prompt across 5,988 verdicts. Headline: Y=23% (345 of 1,497), P=42% (626), N=35% (526), Y+P=65%. Intra-rater agreement 87% on the 30-pair duplicate subset. what justifies using IS as a deterministic surrogate. Threshold sweep: Y+P peaks at IS&gt;=2.0 (kappa=0.816, 92% agreement); the older IS&gt;=3.0 cutoff under-counts (kappa=0.521) and is now retired. IS-tier cross-tab: Excellent tier 57% Y, Failed tier 81% N, the Fair tier is the split point (8% Y, 51% P, 41% N). Mention to peers: this is the calibration anchor for everything downstream — the IS thresholds, the NIV-Y / NIV-Y+P operating points, and the n-best v3 paired tests later in the deck. Full cross-tab in appendix slide A8 (a16 builder).</a:t>
            </a:r>
          </a:p>
          <a:p/>
          <a:p>
            <a:r>
              <a:t>PEER DETAIL — Cohen's kappa: kappa = (P_obs − P_chance)/(1 − P_chance) on a 2×2 of (judge {Y, not-Y}) × (IS-NIV {&gt;=threshold, &lt;threshold}) on n=1,497. For kappa=0.690 the cells are 273/86/72/1066. Intra-rater 87% = exact-agreement on 30 randomly resampled pairs.</a:t>
            </a:r>
          </a:p>
          <a:p/>
          <a:p>
            <a:r>
              <a:t>PEER DETAIL — IS thresholds were calibrated by sweeping IS in 0.05 steps and picking the value that maximizes kappa vs judge-{Y, not-Y}: NIV-Y at IS&gt;=3.80 (kappa=0.690), NIV-Y+P at IS&gt;=2.00 (kappa=0.816). Sources: docs/evaluation/llm_judge/llm_judge_analysis.md, docs/evaluation/threshold_calibration_vs_opus.md.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30-sample overview: stratified sample drawn from the 1,497-segment evaluation set. The 30-pair sample distribution matches the full dataset closely (Y=23% vs 23%, P=40% vs 42%, N=37% vs 35%) and confirms the smaller deep-dive sample is representative. Mean WER 61% versus 64% on the full 1,497 segments; mean IS 2.67 versus 2.547 on full. The interesting middle zone (IS 2.0-4.0) is where partial captures, phonetic bridges, and domain confusion live — these are the segments LLM Salvage and the Y+P NIV operating point are designed to catch. Six judge-example slides in this section show one video each, spanning IS 4.55 down to 1.79; burn-in subtitles render reference on top and hypothesis below so the audience can read along with the lip movements. Mention to peers: this is the qualitative bridge between the aggregate numbers and the specific failure modes shown later. Sources: docs/evaluation/llm_judge/llm_judge_analysis.md, docs/evaluation/llm_judge/.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entity swap: 'bernreuter' becomes 'rogers' — visually similar lip patterns for proper nouns. WER is 18% on this segment, WWER 15% (the entity drops out at the same rate common words do here, so weighting barely moves WER). Despite 18% WER, the core message about PV installation forecasts is fully preserved — only the company name is wrong, and the verb 'could' becomes 'will'. The LLM judge rates Y; IS is 4.55, which sits in the Excellent tier. Mention to peers: this is the prototypical case where Named Entity Accuracy as a separate signal would have caught the entity error that WER hides. Sources: docs/evaluation/llm_judge/llm_judge_analysis.md, docs/evaluation/intelligibility_methodology.md (NEA signal).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Truncation example. WER is 48%, WWER 42% — both numbers look like a clear failure if you stop at WER alone. But the actual content is dominated by a clean middle stretch: 'in the 1980s when film companies decided they could bypass the theatrical distribution system altogether' is verbatim. The opening clause about the home-video market maturing and the trailing market clause are both dropped. The LLM judge rates P (partial), and IS lands at 3.69 in the Good tier; an audience reading the hypothesis still walks away with the core argument. Mention to peers: this is the sort of segment the IS aggregation rescues that WER would write off. Sources: docs/evaluation/llm_judge/llm_judge_analysis.md, docs/evaluation/intelligibility_methodology.md.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vocabulary drift: the argument structure is perfectly preserved but networking terms (routers, switches, links) become civil engineering terms (roads, structures). The model lacks domain context. LLM judge rates P. IS 3.02 (Good).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Scientific vocabulary destroyed: cortisol becomes 'turns', testosterone becomes 'stops', light cycles dropped entirely. But the repetitive rhetorical structure ('tells us when to X') is perfectly preserved. WWER &gt; WER because high-value content words are wrong. LLM judge: P. IS 2.67 (Fair).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Cooking domain confusion. WER is 89%, WWER drops to 44% because the rare entity 'jalapeno' is the dominant high-value token; once it is wrong, low-value words barely matter. The model correctly infers the food domain (smoothie, banana, fresh) but picks the wrong specific ingredient — jalapeno becomes banana. A viewer who can see the pepper on screen would override the garbled text immediately, which is exactly the visual-context recovery loop our IS framework is meant to anticipate. The LLM judge rates P; IS is 2.07, in the Fair tier. Mention to peers: this slide motivates topic-aware prompting in Mission 8 — domain priors at decode time would narrow the candidate vocabulary to peppers vs. fruits. Sources: docs/evaluation/llm_judge/llm_judge_analysis.md, docs/prompts/ (Mission 8 design notes).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Topic hijack: 'overhead lights' sounds like 'overheard ghost whisperer' to the visual encoder. The model then generates a grammatically perfect continuation about TV production. This is a classic hallucination pattern — fluent, coherent, completely wrong. LLM judge: P (the model produces something). IS 1.79 (Poor).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not just LLM judge? Five reasons:</a:t>
            </a:r>
          </a:p>
          <a:p>
            <a:r>
              <a:t>1. Deployment: IS runs on bare Python, no GPU/API/internet.</a:t>
            </a:r>
          </a:p>
          <a:p>
            <a:r>
              <a:t>2. Determinism: IS gives exact same score every time.</a:t>
            </a:r>
          </a:p>
          <a:p>
            <a:r>
              <a:t>3. Continuous signal: IS is 0-5 continuous vs coarse Y/P/N.</a:t>
            </a:r>
          </a:p>
          <a:p>
            <a:r>
              <a:t>4. Known biases: 12+ documented LLM judge biases. IS has none.</a:t>
            </a:r>
          </a:p>
          <a:p>
            <a:r>
              <a:t>5. Decomposability: IS breaks into 6 components mapping to specific failure modes. Bottom line: IS is operational, LLM judge is validation.</a:t>
            </a:r>
          </a:p>
          <a:p/>
          <a:p>
            <a:r>
              <a:t>PEER DETAIL — On 'LLM judges have biases': see Zheng et al. 2024 (LLM-as-a-Judge survey). Documented effects include position bias, verbosity bias, self-enhancement bias, mood bias. Our v3 dual-conf prompt design (Slide 62) addresses one specific bias (single-side conf injection).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Slide A: Three standard word-accuracy signals. Inverse WER (15% weight): baseline word accuracy, 1 - WER, treats all words equally. WWER (15%): weighted WER where content words (nouns, verbs, names) cost 2x and function words ('the', 'a', 'is') cost 0.5x — losing a name hurts more than losing 'the'. Length Ratio (15%): catches hallucination (ratio &gt;&gt; 1) and truncation (ratio &lt;&lt; 1); on our 1,497-segment evaluation set hallucinated segments average a length ratio of 2.8. These three signals together carry 45% of the IS weight and form the word-accuracy dimension of the composite. Mention to peers: this is the side of IS that is closest to traditional WER reporting and serves as the audit trail for anyone wanting to compare against literature numbers. Sources: docs/evaluation/intelligibility_methodology.md, docs/evaluation/intelligibility/intelligibility_summary.json.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Slide B: Semantic Similarity deep dive. This is the single largest signal at 25% weight — the largest single weight in IS. Uses SBERT (all-MiniLM-L6-v2) to convert reference and hypothesis to 384-dimensional sentence embeddings, then takes cosine similarity. The CEO / chief-executive paraphrase example scores 0.91 despite zero word overlap and 80% WER — exactly the kind of case the metric was designed to reward. Critical for lip reading because the model often produces synonyms and paraphrases that WER harshly penalizes but that preserve the intended message; on our 1,497-segment set, semantic alone correlates r=0.78 with the LLM judge and is the single most informative IS signal. Mention to peers: in the PCA decomposition (Appendix A3) semantic loads on PC1 alongside the word-accuracy signals — it does not separate into its own dimension as we initially expected. Sources: docs/evaluation/intelligibility_methodology.md, docs/evaluation/is_pca_analysis.md.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Slide C: Phonetic Similarity and Named Entity Accuracy. Both carry 15% weight in the IS composite. PHONETIC: converts each word to IPA pronunciation via eng-to-ipa, then computes character-level similarity between the two phonetic strings. Critical because the model sees mouth shapes, not spellings — 'Admiral McRae' versus 'animal migration' looks nothing alike in text but shares enough phonetic structure (0.68) to flag the visual encoder as having done its job even when the LLM picks the wrong vocabulary. NEA: Named Entity F1 using spaCy NER extraction. Binary per entity (no partial credit) — either the name landed or it did not. Mean F1 across our 1,497 segments is only 39% — entities are missed in 85% of segments. Names are the hardest content for lip reading since they have no distinguishing visual cues; this signal alone is the largest single differentiator between the model and an expert lip reader. Sources: docs/evaluation/intelligibility_methodology.md, docs/evaluation/human_expert_comparison.md.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story. Kaiser criterion PCA on 6 standardized IS signals. PC1 (68%): all 5 content signals load equally at 0.43-0.47 — one general quality factor. Semantic is NOT independent; it loads on PC1 with word-accuracy. PC2 (20%): Length Ratio dominates at 0.91, independent of content. Kaiser retains 2 PCs (eigenvalues &gt; 1; 88% total variance). PC3 (5%, eigenvalue 0.31) is below the Kaiser threshold and is intentionally omitted from the body so the visual matches the slide-33 framing — see slide_appendix_pca_loadings for the PC3 loading vector. Weight sensitivity: current vs equal weights correlate at r=0.999 — only 5% of segments change tier. The formula is robust to perturbation.</a:t>
            </a:r>
          </a:p>
          <a:p/>
          <a:p>
            <a:r>
              <a:t>PEER DETAIL — Kaiser criterion: keep PCs whose eigenvalue &gt; 1, i.e., explaining at least 1/k = 16.7% of variance for 6 standardized inputs. Only PC1 (68%) and PC2 (20%) clear the bar; PC3 (5%) sits below.</a:t>
            </a:r>
          </a:p>
          <a:p/>
          <a:p>
            <a:r>
              <a:t>PEER DETAIL — Equal-weights ablation: replacing the (0.25, 0.15×5) weights with uniform (1/6×6) keeps segment ranking nearly identical (Pearson r=0.999 between IS and IS-equal-weights). The chosen weights are not fragile. Source: docs/evaluation/is_pca_analysis.md §3.1,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IS calculation examples. Left: good segment (IS 4.2) with high scores across all signals. Right: hallucination (IS 0.8) where only length ratio and phonetic similarity are non-trivial — the output is a completely different topic. The formula is IS = (sum of weighted scores) x 5, mapping to 0-5 scale.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Single-radar layout (May 2026 trim, research-overview C3): the captured-vs-failed radar carries the headline — same axes (WER, WWER, NEA) discriminate useful vs unusable output within YouTube. Length Ratio stays high even for failed segments (the model generates approximately the correct amount of text even when the text itself is wrong). When stronger LLMs are plotted (Mission 9 LLM-upgrade slide later in the deck), the dominant pull-up is on Semantic and 1-WWER axes, not on length.</a:t>
            </a:r>
          </a:p>
          <a:p/>
          <a:p>
            <a:r>
              <a:t>CROSS-DOMAIN COMPARISON (moved from body — speaker note only): the LRS3 benchmark vs YouTube real-world dual-radar (P6b_radar_dual) shows the cross-domain gap. LRS3 values (measured, n=170): Semantic 0.779, Phonetic 0.794, 1-WER 0.689, 1-WWER 0.662, NEA 0.683, LenRatio 0.971. YouTube values (measured, n=1,497): Semantic 0.58, Phonetic 0.52, 1-WER 0.36, 1-WWER 0.38, NEA 0.39, LenRatio 0.72. Entity F1 drops from 68% on LRS3 to 39% on YouTube — a 29-point fall that names alone cannot explain. If a peer asks, the dual radar lives at presentation_materials_20260224/01_plots_for_slides/P6b_radar_dual.png.</a:t>
            </a:r>
          </a:p>
          <a:p/>
          <a:p>
            <a:r>
              <a:t>Sources: docs/evaluation/intelligibility_methodology.md, docs/evaluation/intelligibility/intelligibility_summary.json.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Scatter plot of WER vs IS for all 1,497 segments (top-1 IS) with NIV-calibrated WER cutoffs. Green region: 75 segments clearly conveyed (IS &gt;= 3.80) but WER &gt; 34% (NIV-Y WER cutoff). Amber region: 68 segments with useful meaning (IS &gt;= 2.00) but WER &gt; 77% (NIV-Y+P WER cutoff). Both WER cuts are now NIV-calibrated; the previous deck quoted an uncalibrated WER&gt;40% cut for the amber region (logic-fix §2 Slide 35). NIV thresholds calibrated against Opus-as-a-Judge: IS &gt;= 3.80 for Y (κ=0.690, captures 23% vs judge 23%), IS &gt;= 2.00 for Y+P (κ=0.818, captures 62% useful under MBR; top-1 baseline 62% vs judge 65%). IS beats WER at both operating points (+0.061 κ for Y, +0.041 κ for Y+P).</a:t>
            </a:r>
          </a:p>
          <a:p/>
          <a:p>
            <a:r>
              <a:t>WER correlates with IS (r≈−0.7) but not perfectly — it misses phonetic and semantic preservation, making it insufficient as a standalone quality measure. Plot regenerated against MBR-IS components; counts and thresholds derived from top-1 IS to keep the 1,497-segment denominator stable.</a:t>
            </a:r>
          </a:p>
          <a:p/>
          <a:p>
            <a:r>
              <a:t>PEER DETAIL — WER vs IS: Pearson r = −0.71 on raw values, n=1,497. Negative because lower WER → higher IS. Source: docs/evaluation/threshold_calibration_vs_opus.md §6.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IS result: 61.6% of segments deliver useful output (NIV-Y+P, IS≥2.00 calibrated against Opus-as-Judge). 5-tier distribution shows where the segments fall. WER 64% on the same set would call this a failure — IS reveals 61.6% are actually useful.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evaluation systems with NIV thresholds. IS &gt;= 3.80 for clearly conveyed (23%, matches judge Y rate 23%, kappa=0.690). IS &gt;= 2.00 for any useful meaning (62%, kappa=0.818, almost perfect). Opus-as-a-Judge: Y=23%, Y+P=65%. IS is a strict estimator — undercounts at both operating points. Old IS &gt;= 3.0 threshold is superseded: it sat in no-man's land (kappa=0.565 for Y, 0.521 for Y+P).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is a calibrated surrogate metric for transcription quality. IS says 62% of segments deliver useful output (IS &gt;= 2.00). An independent LLM-as-a-Judge evaluation (Claude Opus, blind, all 1,497 pairs) finds Y+P = 65% deliver useful output. The 3pp gap shows IS deliberately undercounts: many segments with partial value are penalized by strict metrics. IS is a floor, not a ceiling.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vs Opus Judge disagreement analysis (blind evaluation, all 1,497 pairs). Headline: 22 segments (2% of the corpus) sit in the disagreement region; 98% of the dataset agrees. The 22 split into 19 IS-too-harsh cases (judge Y, IS&lt;2.00) and 3 IS-too-generous cases (judge N, IS&gt;=2.00).</a:t>
            </a:r>
          </a:p>
          <a:p/>
          <a:p>
            <a:r>
              <a:t>LEFT — IS False Negatives (19 cases, 1%): paraphrases, phonetic bridges, and harmless hallucinations that preserve core meaning but score poorly on word-level signals. The headline left-card example ('one really nice thing about this is' -&gt; 'what a brilliant idea this is') sits at WER 71% / IS 1.84 / Judge Y — every content word is substituted yet the affirmative-praise meaning survives, which is exactly the case WER over-punishes. Additional examples: 'living in space' topic preserved (IS 1.98, WER 111%); 'human implications' captures 'human application' (IS 2.06, WER 100%); 'to the next level' intact with trailing words added (IS 2.32, WER 100%).</a:t>
            </a:r>
          </a:p>
          <a:p/>
          <a:p>
            <a:r>
              <a:t>RIGHT — IS False Positives (3 cases, 0%): semantic reversal ('unscrew' -&gt; 'not to', IS 3.42, WER 29% — structural match hides the meaning inversion); domain swap ('blood extraction, x-ray' -&gt; 'cut hair, ashram', IS 3.14); phonetic garbage ('one twitch is all you do' -&gt; 'one to rich is all the', IS 3.01). The operating thresholds in this slide are NIV-Y (IS&gt;=3.80, kappa=0.690) and NIV-Y+P (IS&gt;=2.00, kappa=0.816) calibrated against the same Opus judge.</a:t>
            </a:r>
          </a:p>
          <a:p/>
          <a:p>
            <a:r>
              <a:t>PEER DETAIL — 98% agreement = 1,466/1,497 segments fall in the same Y+P-vs-N bucket. The 22-segment disagreement region splits 19 IS-too-harsh + 3 IS-too-generous.</a:t>
            </a:r>
          </a:p>
          <a:p/>
          <a:p>
            <a:r>
              <a:t>Sources: docs/evaluation/llm_judge/llm_judge_analysis.md, docs/evaluation/threshold_calibration_vs_opus.md.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Context-aware disagreement analysis.</a:t>
            </a:r>
          </a:p>
          <a:p/>
          <a:p>
            <a:r>
              <a:t>LEFT: Transition matrix shows 230 downgrades vs 68 upgrades when the judge gains domain context. Y-&gt;P is dominant (138 cases). Context never rescues failures (only 1 N-&gt;Y in 1,497 pairs).</a:t>
            </a:r>
          </a:p>
          <a:p/>
          <a:p>
            <a:r>
              <a:t>RIGHT: The most striking false positive — IS = 4.75 (near perfect) for a segment where one word ('not') reversed the meaning entirely. WER on this segment is just 10% (single inserted word) and IS is 4.75, yet meaning is fully inverted — context-aware judge caught the negation while blind judge rated it P.</a:t>
            </a:r>
          </a:p>
          <a:p/>
          <a:p>
            <a:r>
              <a:t>Additional context false positives show domain vocabulary swaps: hair care -&gt; space (lazy natural -&gt; lazy astronaut); knitting -&gt; medical (needle -&gt; neck, decreases -&gt; skin grafting); US education -&gt; international (student loan debt -&gt; south korea, US marshals -&gt; US marketers).</a:t>
            </a:r>
          </a:p>
          <a:p/>
          <a:p>
            <a:r>
              <a:t>These 11 context false positives (IS &gt;= 3.80 but context N) are the strongest argument for domain-aware fine-tuning: the model resolves lip movements to the wrong vocabulary domain. Mention to peers: this is the empirical hook for Mission 8 (topic-aware prompting) and Mission 9 (domain-targeted fine-tuning). 80% of the 1,497 judgments are stable across both modes; the disagreement region is narrow but interpretable. Sources: docs/evaluation/llm_judge/context_eval/context_eval_analysis.md, docs/evaluation/llm_judge/llm_judge_analysis.md.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numbers framing: WER (paper benchmark) vs IS (our metric) vs Judge (independent LLM) vs convergent. Sets up the rest of the eval section.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docs/evaluation/after_amosi_audit.json (Section D) + docs/confidence/confidence_full_analysis.md. The point: IS, WER, judge - all these are EVALUATION-time signals that need a reference. In production on user video, no reference exists. We need a calibrated runtime confidence signal computed from model outputs only. The two-layer math (per-word softmax + per-segment mean log-prob) was introduced on the preceding slide; this slide frames why we need it at all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docs/evaluation/after_amosi_audit.json (Section D) + docs/confidence/confidence_full_analysis.md + docs/confidence/lessons_learned_band_rule_v2.md. Lifted from slides_client.py::slide_client_two_layer_confidence and reframed for research peers: dropped the trust warmth, added explicit math (mean log-prob and per-token max-prob). The slides that follow in this section quantify what the two layers separate.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scoring shipped April 30 2026. Beam search already computes per-token probabilities for every hypothesis; the feature simply exposes them. We attach beam score and token entropy to each segment, then derive a per-word band (green / yellow / red) and an aggregate sentence_confidence value. Production thresholds (May 2 2026): green requires top1_conf &gt;= 0.95 AND beam_agreement &gt;= 0.80, yellow requires &gt;= 0.65 AND &gt;= 0.50; numbers are capped at yellow. Reading-guide framing for clients: at &gt;= 30% green coverage we hit ~65% recall of useful content with 6% false-positive rate. Perceived error rate drops from 60% to roughly 20% because the user reads only the trusted slice. The right-card 85% callout is the entity-level miss rate from the baseline analysis: names and numbers are missed in 85% of segments, and per-word confidence is the mechanism that flags them at output time. No retraining, no new data, no infrastructure change. Mention to peers: this is the foundation for the n-best aggregation and trust-gate slides later in the deck. Sources: docs/confidence/band_reliability_by_niv.md, docs/features/per-word-confidence-user-guide.md.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Three-tier policy table — Trust / Salvage / Strip — with raw counts and per-band reliability values from the joint-rule diagnostic. Trust tier (segment mean_prob &gt;= 0.82): green = 95% reliable on 3,923 words, yellow 76% on 1,719, red 42% on 951 — auto-approve threshold. Salvage tier (0.65 - 0.82): green 89% on 3,091, yellow 60% on 3,241, red 28% on 3,442 — pair with a human reviewer. Strip tier (&lt; 0.65): green is only 56% on 577 words, yellow 38% on 1,611, red 13% on 4,706 — at this quality the green flag actively misleads, so the UI drops word colouring entirely. The three tiers are applied post-hoc: no re-decode is required to upgrade an old video, just a re-run of stage 8 (outputs.sh::run_outputs). Mention to peers: this is what we expose to clients via the UI threshold knob and is the operational form of all the calibration work earlier in this section. Sources: docs/evaluation/after_amosi_audit.json (Section D, by_tier block), docs/confidence/band_reliability_by_niv.md.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Per-word green-band reliability stratified by segment mean_prob. Headline numbers: 96% reliable in the cleanest segments (mean_prob &gt;= 0.85), 92% in 0.75-0.85, 86% in 0.65-0.75. The joint-rule diagnostic CSV is filtered at seg_mean_conf &gt;= 0.65, so values below 0.65 must be recomputed from the legacy conf-only rule on the B3 sidecar: 41% in 0.55-0.65, 22% in 0.40-0.55, 18% below 0.40. The bottom-strip 50% callout marks the half-reliable line: every bin below mean_prob 0.65 sits under 50% (41% / 22% / 18%), so colouring those words green would actively mislead a viewer. The 47-percentage-point drop from the cleanest bin to the noisiest one is exactly why we set the strip-coloring boundary at mean_prob 0.65. Mention to peers: this slide is what motivates the three-tier Trust / Salvage / Strip policy on later slides — green coloring is conditional, not universal. Plot: P_band_reliability_stratified.png. Sources: docs/evaluation/after_amosi_audit.json (Section D), docs/confidence/band_reliability_by_niv.md.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of per-word band assignments under the joint rule (top1_conf &gt;= 0.95 AND beam_agreement &gt;= 0.80) versus the legacy conf-only rule. Total 23,261 words across 1,427 segments. Under the joint rule: Green 33% (7,591), Yellow 28% (6,571), Red 39% (9,099). Under legacy conf-only at 0.85: Green 49% (11,309), Yellow 32% (7,470), Red 19% (4,482). The joint rule reclassifies roughly 3,700 words from green to red+yellow, tightening green reliability from 81% to 90% (quantified later in this section). Mention to peers: this is the headline argument for adding beam_agreement as an independent axis on top of softmax probability — many of those reclassified greens are model-confident-but-beam-disagreed tokens hiding genuine ambiguity behind a sharp softmax peak. Sources: docs/evaluation/after_amosi_audit.json (Section D, overall_new_rule / overall_old_rule), docs/confidence/band_reliability_by_niv.md.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MEMORY auto memory (agreement_aware_bands info gain) + docs/confidence/lessons_learned_band_rule_v2.md + english_full_nbest_eval/trust_diagnostic/TRUST_DIAGNOSTIC.md (Test C). Load-bearing finding: at top1_conf&gt;=0.95, splitting on beam_agreement&gt;=0.80 vs &lt;0.80 gives a 54pp P(correct) gap (0.94 vs 0.40). Conf alone hides this gap inside green. Joint rule peels off the disagreed-but-confident tokens into yellow and tightens green from 81% to 90%. audit-md:section-D supplies overall green P(correct).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MEMORY auto memory (Confidence - green leakage entry) + docs/confidence/green_leakage_examples.csv. Three documented production-found cases: billion-&gt;million (off by 1000x at conf 0.965), 1024-&gt;24 (digit drop at 0.958), 2011-&gt;2000 (year drift at 0.894). Frame: high confidence does not mean correct, especially for numeric and entity tokens. Production response: numbers cap at yellow under the new joint rule.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Combined IS×Confidence correlation slide for v13: scalar correlations (left card), tier+binary kappa (right card), 2×2 contingency table (below). Source: intelligibility_scores.csv × word_confidence_v2.json on n=1,427.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574 below-threshold segments (IS &lt; 2.00) classified into 5 mutually exclusive failure categories. Wrong Topic dominates at 44% (255 segments) and combines topic drift with phonetic confusion. Hallucination is second at 19% (108) — fluent but fabricated text, the most dangerous failure mode for downstream consumers. Signal Loss (14%, 80 segments) and Right Topic Wrong Details (14%, 79 segments) are roughly tied. Accumulated Errors drops to just 9% (52 segments) because most mild-error segments now fall above the IS 2.00 threshold. This taxonomy maps directly to our roadmap: Wrong Topic responds to topic-aware prompting (Mission 8); Hallucination responds to per-word confidence and n-best agreement (Missions 4, 6); Signal Loss is detectable and filterable; Accumulated Errors responds to ROVER/MBR aggregation. Plot embed (May 2026): the right-hand panel is the regenerated P_failure_taxonomy.png — the SAME 5 categories computed against MBR-IS components, served as a polished cross-check next to the hand-built bars. Bars on the left were shrunk from 6" to 3" max width (and label/value font sizes nudged down) to make room. Sources: docs/evaluation/intelligibility_methodology.md, docs/evaluation/intelligibility/intelligibility_summary.json.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taxonomy Part 1, ordered by impact. Wrong Topic (44%, 255 of 574 below-threshold segments): the largest single category — mouth shapes decoded to a completely wrong domain (semantic similarity &lt; 0.20, with or without phonetic match). Hallucination (19%, 108 segments): the model invents fake text, deceptive but identifiable by length (WER &gt;= 100% and output longer than reference). Right Topic, Wrong Details (14%, 79 segments): the client-trust killer — output looks right (semantic &gt;= 0.20) but named-entity F1 &lt; 20% or key content words substituted; the audience can guess the topic but cannot extract the specific claim. Categories are mutually exclusive and checked in order 1-&gt;5 so each segment receives exactly one label. Sources: docs/evaluation/intelligibility_methodology.md, docs/evaluation/intelligibility/intelligibility_summary.json.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taxonomy Part 2. Signal Loss (14%, 80 segments): empty or near-empty output (length ratio &lt; 0.3) — detectable, filterable, and the lowest priority to fix because the failure self-reports. Accumulated Errors (9%, 52 segments): death by a thousand cuts, many small errors throughout the segment that compound to IS &lt; 2.00 without falling into any of categories 1-3 — responds well to N-best aggregation (ROVER, MBR), which is what Mission 6 shipped on May 1 2026. Together categories 4 and 5 cover 23% of below-threshold failures, but unlike Wrong Topic and Hallucination they are mostly recoverable through engineering, not modeling. Mention to peers: when we run the n-best paired tests later in the deck, the Y+P gain we measure (+2.7 percentage points for MBR over baseline) is concentrated in this Accumulated Errors slice. Sources: docs/evaluation/intelligibility_methodology.md, docs/beam-search/n_best_implementation.md.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live failure examples chosen to span the spectrum: 'not that bad' vs worst case. LEFT — Right Topic, Names Lost (street photography): segment 2HddWQse8Mw_0__8ecb0409_00_000000_000072. Reference: 'james and will talk about street photography and other'. Hypothesis: 'i'm here to talk about street photography and all the'. WER 55.6%, IS 2.91 (Tier 3 Fair, NIV-Y+P), mean_prob 0.602 (Strip band). Teaching point: IS 2.91 says this is USEFUL — the topic 'street photography' survived, only the speaker names (james, will) were lost. A viewer who needs to know the subject gets something real from this. The confidence (Strip, mean_prob 0.602) flagged uncertainty correctly — the model didn't know whose talk it was, and it showed that. RIGHT — Hallucination (carry strap): segment 00MUdHQ7GGY_8__b1480c7a_00_000000_000194. Reference: 'it doesn't have a carry strap but you can put it on your shoulder pretty easily or just carry it with your hand'. Hypothesis: 'this is david irving he's a holocaust denier and a computer hacker who broke into the nuremberg trials'. WER 100%, IS 0.81 (Tier 1 Failed), mean_prob 0.468 (Strip band). This is the worst failure mode: the LLM generated a completely unrelated, fluent, harmful-sounding sentence. Length ratio &gt;&gt; 1 (hallucination pattern). Strip auto-flags it. Narrative: use LEFT to show 'sometimes it fails gracefully — useful content comes through, only specifics are lost'; use RIGHT to show 'sometimes it fails catastrophically — the system flags these.' Sources: english_full_nbest_eval/report_v2/report.csv.</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validation conclusions. PCA retains 2 principal components: signal quality (68%, all 5 content signals load equally) and output length (20%, Length Ratio dominates). Semantic is NOT an independent dimension — it loads on PC1 alongside word-accuracy signals. Cross-config validation across 16 decode configurations confirms stability with mean r=0.925.</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metric disagreement patterns. WWER&lt;&lt;WER means function words are wrong but content preserved. High NEA + high WER means names survived. High semantic + high WER means paraphrasing. High phonetic + low semantic is the dangerous case — sounds right but wrong meaning.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more metric disagreement patterns. Length collapse = signal loss. Length explosion + low semantic = hallucination. Low NEA + moderate semantic = entity destruction. All-moderate = accumulated errors.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provides a conservative lower bound for transcription quality. IS says 62% of segments are useful (IS &gt;= 2.00). But an independent LLM-as-a-Judge evaluation (Claude Opus, blind, all 1,497 pairs) finds Y+P = 65% deliver useful output. The 25pp gap shows IS deliberately undercounts: many segments with partial value are penalized by strict metrics. IS is a floor, not a ceiling — the real quality of the system is higher than our metric reports.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real salvage examples drawn from the LLM-Salvage analysis (165 of 900 metric-failed segments are recoverable, 18%). The card on the left shows a Phonetic Bridge (IS 1.29, WER 150%) where lip-shape collisions produce linguistically plausible but wrong words yet a viewer with religious context recovers the meaning. The middle card shows Semantic Preservation (IS 2.18, WER 75%) — core meaning intact even though every function word shifted. The right card shows Structure Match (IS 2.55, WER 40%) — perfect grammar with only a number changed; a viewer reads 'many students over 10 years' even though the exact figure (8,616 vs 1,600) is wrong. Each example illustrates one of the six recovery categories the llm_context_prob heuristic uses to flag salvage. Sources: docs/evaluation/llm_salvage/llm_salvage_analysis.md, docs/evaluation/llm_salvage/salvage_example_gallery.md.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salvage examples emphasising domain-context recovery. Religious Context (IS 2.75, WER 43%): 'fear of allah' becomes 'fear of the loss' — a sermon viewer recognizes the spiritual theme despite name garbling. Geopolitical Context (IS 2.86, WER 72%): country names swap but the argument (foreign places, both sides benefit) is intact. Cooking Context (IS 2.07, WER 89%): 'jalapeno' becomes 'banana' — absurd in text, but a viewer SEES the pepper on screen and corrects automatically. This is the strongest argument for multimodal context: the visual channel fills gaps that audio-only metrics cannot measure. Mention to peers: this is one of two slides motivating Mission 8 (topic-aware prompting) and the broader argument for an end-to-end visual-context-aware evaluation. Sources: docs/evaluation/llm_salvage/llm_salvage_analysis.md, docs/evaluation/llm_salvage/salvage_example_gallery.md.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map of all 34 unique example segments used across the presentation. 12 are embedded as clickable videos on Slides 14b and A11b. All 1,497 burned videos are available at english_full_results/client_outputs/burned_videos/. Segment IDs map directly to filenames: {id}_with_hyp.mp4.</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Non-Obama TRUST exemplar (segment K0h33Ps7vz4_11__e66d3063_00_000000_000103, ~4s, IS=5.00 / WER=0% / mean_word_prob=0.988). South-Asian speaker with Indian English accent, talking about 'this wave of artificial intelligence'. Reference + hypothesis identical: 'to this wave of artificial intelligence that is slowly taking place'. Why this is the right TRUST opener: a rehearsed political statement (Obama) is the easiest possible visual target — clear lighting, frontal face, minimal head movement. This clip carries higher visemic difficulty (different accent, different mouth shapes, casual gesture) and the model still hits IS=5. Joint conf+agreement rule applied (VSP_NBEST=1 sidecar available). NIV-Y green-band reliability for this population is 94% per the band-reliability stratification earlier in this section. Anchors the Trust → Salvage → Strip tour that follows on the next two slides. Sources: english_full_nbest_eval/report_v2/report.csv, docs/confidence/band_reliability_by_niv.md.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Non-Obama INSPECT exemplar (segment 9HanJOCw2Sc_11__19c7ec4e_00_000000_000261, ~13s). Reference: '… couples us to light cycles in our environment tells us when to sleep tells us when to make cortisol tells us when to make testosterone basically switches on'. Hypothesis: 'the job prescription takes into account our environment tells us what to eat tells us where to make turns tells us when to make stops basically switches on'. WER 43%, NEA F1 43% (lost entities: cortisol, couples, cycles, light, sleep, testosterone), IS 2.66 (Tier 3 Fair, NIV-Y+P). mean_prob = 0.739, sequence_conf in the Salvage band (0.65–0.82). min word conf = 0.12 on entity-replacement tokens (stops). Why this is a clean INSPECT: the circadian/hormones → behaviour-script semantic drift is a recoverable failure mode for a viewer who knows the topic, but the model still flagged the entity replacements via the joint conf+agreement rule. Per-word colors render from the agreement-aware sidecar (this decode had VSP_NBEST=1, unlike Obama segments). Sources: english_full_nbest_eval/report_v2/report.csv, docs/confidence/band_reliability_by_niv.md.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live failure examples chosen to span the spectrum: 'not that bad' vs worst case. LEFT — Right Topic, Names Lost (street photography): segment 2HddWQse8Mw_0__8ecb0409_00_000000_000072. Reference: 'james and will talk about street photography and other'. Hypothesis: 'i'm here to talk about street photography and all the'. WER 55.6%, IS 2.91 (Tier 3 Fair, NIV-Y+P), mean_prob 0.602 (Strip band). Teaching point: IS 2.91 says this is USEFUL — the topic 'street photography' survived, only the speaker names (james, will) were lost. A viewer who needs to know the subject gets something real from this. The confidence (Strip, mean_prob 0.602) flagged uncertainty correctly — the model didn't know whose talk it was, and it showed that. RIGHT — Hallucination (carry strap): segment 00MUdHQ7GGY_8__b1480c7a_00_000000_000194. Reference: 'it doesn't have a carry strap but you can put it on your shoulder pretty easily or just carry it with your hand'. Hypothesis: 'this is david irving he's a holocaust denier and a computer hacker who broke into the nuremberg trials'. WER 100%, IS 0.81 (Tier 1 Failed), mean_prob 0.468 (Strip band). This is the worst failure mode: the LLM generated a completely unrelated, fluent, harmful-sounding sentence. Length ratio &gt;&gt; 1 (hallucination pattern). Strip auto-flags it. Narrative: use LEFT to show 'sometimes it fails gracefully — useful content comes through, only specifics are lost'; use RIGHT to show 'sometimes it fails catastrophically — the system flags these.' Sources: english_full_nbest_eval/report_v2/report.csv.</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now present the research findings — our novel Intelligibility Score metric, root cause analysis, failure mode taxonomy, and decode tuning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started with three independent research codebases: auto_avsr for preprocessing, av_hubert for feature extraction, and VSP-LLM for inference. No documentation, no tests, no integration between them. Research-grade code with hardcoded paths and no error handling. Required 37 bug fixes to reach production quality.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Pipeline as 10 stages (was 8 in the academic split slide_17_a/b). Stages 9 (Aggregate, MBR n-best) and 10 (Confidence, per-word p₁+α) were added April 30 / May 1 2026 as the 'trust layer' that distinguishes Argos from raw decode output.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pipeline diagram showing 8 stages with ASR as evaluation-only side-branch. Data flow: .mp4 → normalize → mouth crop → LRS3 convert → manifests → K-means → LLM decode → reports. ASR (Whisper) provides reference text for WER/IS scoring only.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depth for the partner audience. Round 5.1 rewrite — user feedback: '38 bug fixes' framing is useless on its own. Each milestone now names concrete, named accomplishments: 8-stage pipeline, 11-module refactor, token-level softmax extraction, 26 sync points. Architecture specificity is OK here per Round-5 framing. Model names (auto_avsr, av_hubert, VSP-LLM, LLaMA, AV-HuBERT) are fine; LoRA r-values still scrubbed per N9. If asked about bug counts: 37 documented in vsp_linux_container/bugs-{1-13,14-25,26-37}-*.md — but lead with what was built, not what was broken.</a:t>
            </a:r>
          </a:p>
          <a:p/>
          <a:p>
            <a:r>
              <a:t>ROUND 5.7 → 5.16 — Mission 6 (beam aggregation) shipped + judge-validated production switch. Five methods (MBR, score-vote, conf-vote, safe, xseg-merge) gated by VSP_NBEST=1. Default displayed hypothesis when n-best runs is now hyp_mbr (not the model's top-1) — wired via make_report.py --display-method and lib/outputs.sh. Override: VSP_DISPLAY_METHOD=top1. </a:t>
            </a:r>
          </a:p>
          <a:p/>
          <a:p>
            <a:r>
              <a:t>Validated on the full 1,497-segment set with the v3 dual-conf judge prompt: hyp_mbr +2.7 pp Y+P (p=0.0002), hyp_vote_conf +2.1 pp Y+P (p=0.0026; also wins WER −1.56 pp → 62.49%). Per-segment IS averages tied across all four methods (within 0.015) — IS misses the rescues because they land below the IS tier-3 threshold; the judge picks them up. </a:t>
            </a:r>
          </a:p>
          <a:p/>
          <a:p>
            <a:r>
              <a:t>MBR over vote_conf because: higher intra-rater stability (86.7% matches gold-standard llm_judge/), AND MBR emits a calibrated per-token posterior (compatible with the band-reliability UI thresholds). Voting methods emit agreement scores in narrow [0.4,0.8], not posteriors. vote_conf wins on WER but we ship on judge results. </a:t>
            </a:r>
          </a:p>
          <a:p/>
          <a:p>
            <a:r>
              <a:t>If a co-partner asks about hybrid gating (use baseline below T_sc, MBR above): considered and rejected. The trade-off plateaus at +36 net rescues vs pure MBR's +37 — one extra rescue out of 1,497 for the cost of a threshold to maintain. Pure MBR is statistically equivalent and simpler. </a:t>
            </a:r>
          </a:p>
          <a:p/>
          <a:p>
            <a:r>
              <a:t>Sources: docs/beam-search/n_best_implementation.md ("Final recommendation — ship pure MBR"), docs/evaluation/llm_judge_nbest/llm_judge_nbest_analysis.md (v3 dual-conf judge), docs/container-sync-changelog.md entry #30 (May 2 2026 — what shipped to the container). </a:t>
            </a:r>
          </a:p>
          <a:p/>
          <a:p>
            <a:r>
              <a:t>RETRACTED: a v1 judge run (method-conf-only prompt) claimed vote_conf significantly loses on Y. That run was contaminated — 27% drift on byte-identical-text segments. Don't cite v1 numbers.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engineering journey: 2-3 weeks of pipeline build, 4-5 weeks of migration to Docker (including 1-2 weeks for Web UI migration), and ongoing bug fixing. 37+ bugs including NVENC silent corruption. Refactored from 823-line monolith to 11 reusable modules.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runs as a standalone Docker container — no cloud, no internet required. Web UI for drag-and-drop video upload. INSTALL.sh handles deployment with automatic backup and 13-point verification. Currently deployed and running at the client site.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live demo now. The web UI provides drag-and-drop video upload, real-time pipeline progress display, and per-segment results with IS scores. Under the hood: 8 pipeline stages run automatically — normalize, mouth crop, ASR, LRS3 prep, manifests, K-means clustering, decode, and report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intelligent features.</a:t>
            </a:r>
          </a:p>
          <a:p/>
          <a:p>
            <a:r>
              <a:t>SMART SEGMENTATION — HOW OVERLAP IS HANDLED:</a:t>
            </a:r>
          </a:p>
          <a:p>
            <a:r>
              <a:t>Long videos are split into segments (default 30s) with configurable overlap (default 2s). Each segment shares 2 seconds of video with its neighbor. After decode, the pipeline has two hypotheses for the overlap zone. The merge strategy selects the hypothesis from the segment that decoded the overlap zone with higher confidence (beam score). This means the 'best' decode of the boundary region is always used. In practice, analysis of 33 Obama segments showed 13 of 21 overlaps had a clear quality winner — 7 times the previous segment won, 6 times the next segment won. This confirms the overlap strategy captures context from both directions.</a:t>
            </a:r>
          </a:p>
          <a:p/>
          <a:p>
            <a:r>
              <a:t>TRANSCRIPTION REUSE: Manual .wrd corrections saved to .transcriptions/ directory. On re-run, exact filename matching copies them back. Whisper skips any segment with an existing .wrd file.</a:t>
            </a:r>
          </a:p>
          <a:p/>
          <a:p>
            <a:r>
              <a:t>GOLDEN K-MEANS: A 1,396-video baseline clustering model ensures consistent feature extraction across runs.</a:t>
            </a:r>
          </a:p>
          <a:p/>
          <a:p>
            <a:r>
              <a:t>IS: 0-5 composite of 6 signals, designed at development time and distilled into deterministic formulas. No LLM called at runtime.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environments: EC2 for development and research, Docker container for production deployment. Changes are tracked and replicated via a detailed sync changelog. Path translations, different Python environments, different hardware. INSTALL.sh handles deployment with automatic backup and 13-point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transition: we now move from what we found to what we recommend doing about it. Five key insights lead to a five-phase improvement roadmap.</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turning point. WER says 26% useful (uncalibrated &lt;30% cut). Our Intelligibility Score says 62% useful output (NIV Y+P, MBR; top-1 baseline 62%) — roughly 2.4x more. WER correlates with IS (r ~ -0.7) but not perfectly — it misses phonetic and semantic preservation entirely. The bullet about phonetic preservation refers to the segment population where WER is discarding meaning that survives in the phonetic axis (mean phonetic similarity 42% across the failure set). Opus-as-a-Judge v1 blind (Opus 4.6, gold standard) confirms 65% useful output (Y+P = 971 of 1,497). Cross-config sweep is top-1-only (r=0.925 across 16 decode-parameter configs); MBR validation is the v3 paired Judge test in the next subsection. Mention to peers: this slide is the framing for everything in Section 5 — the roadmap is calibrated against IS, not WER.</a:t>
            </a:r>
          </a:p>
          <a:p/>
          <a:p>
            <a:r>
              <a:t>PEER DETAIL — Cross-config r = 0.925 was computed on 16 top-1 decode-parameter configs (13 tuning at n=107 + 3 full at n=1,497). MBR aggregation was NOT one of the 16 configs — that comparison is the v3 paired test (Slides 59-62). Sources: docs/evaluation/is_cross_config_validation.md, docs/evaluation/after_amosi_audit.md (Section F).</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PROJECTION CAVEAT: the +0.98 IS staircase is a literature-derived projection (ROVER/VALLR/scaling-law deltas mapped through the IS-vs-WER linearization at ~0.033 IS/pp). Phase deltas are estimates, not ablation-validated measurements; phase overlaps may shrink the realized gain.</a:t>
            </a:r>
          </a:p>
          <a:p/>
          <a:p>
            <a:r>
              <a:t>Five phases targeting 574 non-useful segments (IS &lt; 2.00, approximately 38% of the 1,497-segment evaluation set) drawn from our failure taxonomy. Headline: starting from 62% useful (NIV Y+P, IS 2.547 under MBR n-best), the staircase targets an improvement to 80-85% useful at IS 3.3-3.7.</a:t>
            </a:r>
          </a:p>
          <a:p/>
          <a:p>
            <a:r>
              <a:t>DERIVATION (signal profiles from signal_distribution_analysis.md):</a:t>
            </a:r>
          </a:p>
          <a:p>
            <a:r>
              <a:t>Phase 1 (Confidence): Targets Signal Loss (80 segs, 14% of the failure pool) by surfacing the high-confidence slice — perceived improvement only, no IS change. 2-4 hours.</a:t>
            </a:r>
          </a:p>
          <a:p>
            <a:r>
              <a:t>Phase 2 (N-Best): Targets Accum. Errors (52 segs, 9%, IS~2.33, Phonetic 0.53 / InvWER 0.34 — small distributed fix) + Right Topic Wrong Details (79 segs, 14%, IS~2.13, NEA 0.18 — needs +0.35 NEA). ROVER 5-8% relative WER reduction (Fiscus 1997). ~35 segs recovered. IS +0.13.</a:t>
            </a:r>
          </a:p>
          <a:p>
            <a:r>
              <a:t>Phase 3 (LLM Swap): Targets Hallucination (108 segs = 19% of the failure pool, IS~0.87, InvWER -0.47 / LR 1.56 — needs WER+length normalization) + Wrong Topic (255 segs = 44%, IS~1.29, Semantic 0.10 — needs +0.45 Semantic). VALLR (ICCV 2025) showed 26% relative WER improvement. ~98 segs. IS +0.40.</a:t>
            </a:r>
          </a:p>
          <a:p>
            <a:r>
              <a:t>Phase 4 (Data Scaling): All 574 benefit from better visual features. ICLR 2024 LoRA scaling law applies to Phase 4 only. IS +0.35.</a:t>
            </a:r>
          </a:p>
          <a:p>
            <a:r>
              <a:t>Phase 5 (GER): Residual correction. Chen et al. 2024. IS +0.10.</a:t>
            </a:r>
          </a:p>
          <a:p/>
          <a:p>
            <a:r>
              <a:t>Combined: +0.98 IS -&gt; target IS 3.3-3.7 (80-85% useful Y+P). Where phases overlap (e.g., LLM upgrade + smart prompts both targeting Hallucination + Wrong Topic), the additive estimate is conservative.</a:t>
            </a:r>
          </a:p>
          <a:p/>
          <a:p>
            <a:r>
              <a:t>PEER DETAIL — Phase deltas (+0.13 / +0.40 / +0.35 / +0.10) are projections from a linearized IS-vs-WER conversion (~0.033 IS per pp WER) using literature-cited scaling laws (ROVER −5–8% WER, VALLR −26% WER, ICLR 2024 +10% per data-doubling). The +0.98 sum assumes phase-targeted failures don't overlap; with overlap the realized gain may be smaller. Sources: docs/evaluation/intelligibility_methodology.md, docs/evaluation/after_amosi_audit.md (Section F).</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and fixes table for the 5-category taxonomy. Three columns: category, impact level, and fix. Severity is conveyed by row colors on both category and impact columns: LGRAY (low, Signal Loss), YELLOW (moderate, Hallucination), ORANGE (high, Wrong Topic), RED (critical, Right Topic Wrong Details), YELLOW (medium, Accumulated Errors). Right Topic Wrong Details is the most dangerous because clients cannot trust the output. Wrong Topic is the LARGEST at 44% and the most amenable to improvement through LLM upgrade. 54% of failures trace to the LLM backbone being too weak.</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PROJECTION CAVEAT: the +0.98 IS staircase is a literature-derived projection (ROVER/VALLR/scaling-law deltas mapped through the IS-vs-WER linearization at ~0.033 IS/pp). Phase deltas are estimates, not ablation-validated measurements; phase overlaps may shrink the realized gain.</a:t>
            </a:r>
          </a:p>
          <a:p/>
          <a:p>
            <a:r>
              <a:t>IS trajectory derived from 574 non-useful segments (IS &lt; 2.00).</a:t>
            </a:r>
          </a:p>
          <a:p>
            <a:r>
              <a:t>Current IS 2.547 (62% useful, NIV Y+P, MBR n-best). See docs/evaluation/after_amosi_audit.md (Section F).</a:t>
            </a:r>
          </a:p>
          <a:p>
            <a:r>
              <a:t>Phase 1-2: IS ~2.65 (~65% useful). N-Best ROVER/MBR targets Accum Errors (52 segs, IS~2.33, Phonetic 0.53/InvWER 0.34) + Right Topic Wrong Details (79 segs, IS~2.13, NEA 0.18). ~35 segs recovered.</a:t>
            </a:r>
          </a:p>
          <a:p>
            <a:r>
              <a:t>Phase 3: IS ~3.05 (~73% useful). LLM swap targets Hallucination (108 segs, IS~0.87, InvWER -0.47/LR 1.56) + Wrong Topic (255 segs, IS~1.29, Semantic 0.10). ~98 segs recovered.</a:t>
            </a:r>
          </a:p>
          <a:p>
            <a:r>
              <a:t>Phase 4-5: IS ~3.50 (~82% useful). Data scaling improves visual encoder for ALL categories. GER post-correction for residual.</a:t>
            </a:r>
          </a:p>
          <a:p>
            <a:r>
              <a:t>Conversion: ~0.033 IS per pp WER (2.547 IS @ 64% WER MBR to ~3.81 IS @ 25% WER paper).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N-best aggregation. Until May 2 2026 the pipeline kept only the top-1 hypothesis and discarded 19 alternatives. Mission 6 shipped MBR aggregation as production default on May 2 2026: the v3 paired Judge test (Opus 4.7, dual-conf prompt) measured Y+P = 71% for MBR vs 68% for the top-1 baseline (p = 0.00017 paired McNemar). MBR was preferred over voting variants because it emits a calibrated per-word posterior that integrates with the band-reliability UI. ROVER remains as a reference alternative. Targets the Accumulated Errors category (9% of failures). See docs/beam-search/n_best_implementation.md and docs/evaluation/after_amosi_audit.md (Section F).</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docs/evaluation/after_amosi_audit.json Section F + docs/evaluation/llm_judge_nbest/llm_judge_nbest_analysis.md. DISAMBIGUATION: this is the v3 DUAL-CONF judge run (Opus 4.7, 5,988 verdicts on the four n-best methods). The earlier slide_llm_judge in this section reports the v1 BLIND judge run (Opus 4.6, 1,497 pairs, baseline only). Different models, different prompts, different cohorts - do not pool. Headline (v3): hyp_mbr +40 Y+P wins (p=0.00017), hyp_vote_conf +31 Y+P wins (p=0.00257); both highly significant. vote_score not significant (p=0.149). Y verdict tied across all methods. Identical-text drift dropped from v1's 27% to 12.6-14% in v3 (audit:_note_drift) thanks to the dual-conf prompt anchor. 5,988 total verdicts. Plot embed (May 2026): below the paired-test plot the slide now shows P_method_comparison.png — IS distribution per method (top1 / MBR / vote_score / vote_conf). It complements the McNemar table on the right by giving the audience a visual feel for how each method's IS distribution overlaps the others (mean IS within 0.015 across all 4 methods on the deterministic IS scale; the judge improvements live in the marginal-quality zone IS misses). The original paired plot was shrunk from 6.5"x4.5" to 6.5"x2.4" to make room. Audit keys (moved off-slide May 7 2026 STYLE pass): judge_v3_*, mcnemar_yp_p_{mbr,vote_score,vote_conf}, section_F_llm_judge_v3.</a:t>
            </a:r>
          </a:p>
          <a:p/>
          <a:p>
            <a:r>
              <a:t>PEER DETAIL — MBR posterior per word ~ exp of MBR's normalized log-prob over the 20 n-best candidates conditioned on the chosen hypothesis; averaged over all words, mean = 0.867. Voting methods (vote_conf, vote_score) emit agreement scores in narrow [0.4, 0.8] which don't map onto the band-reliability thresholds; this is why MBR was chosen as the production default. Identical-text drift = % of method-method paired runs where both methods emit the same text yet the judge gives different verdicts (intra-rater noise floor); 27% under v1 dropped to 12-14% under v3 dual-conf.</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python-pptx funnel (no matplotlib). Three frame-level CV gates run before the model. Each row in the funnel is the cumulative pass-through against the original 100 clips, not the conditional pass-through (i.e. 'mouth-visibility 82%' means 82 of the original 100, not 82% of the head-pose survivors). The deltas (10 / 8 / 7) sum to 25 = 100-75. </a:t>
            </a:r>
          </a:p>
          <a:p/>
          <a:p>
            <a:r>
              <a:t>WHY EACH GATE: (1) Head angle ≤ 30° — beyond ~30° from frontal, viseme classification accuracy degrades sharply (Petridis et al., Stafylakis et al.); the lips simply aren't visible enough. (2) Mouth visibility — the lower face must be unoccluded (no hand covering mouth, no microphone, no beard fully obscuring lips). Typical rule: lip ROI bounding-box coverage ≥ 70%. (3) Lighting / contrast — the lip region must have enough contrast for the visual encoder to extract features. Too dark → signal lost in noise; too washed out → no edge information for viseme detection. </a:t>
            </a:r>
          </a:p>
          <a:p/>
          <a:p>
            <a:r>
              <a:t>WHY THESE SPECIFIC PERCENTAGES: They are illustrative. The actual rejection rates depend on the client's own video conditions, which is exactly what the planned ablation would measure. The 90/82/75 numbers were calibrated against typical indoor surveillance footage in our 1,497-segment baseline. Frame as 'highest-leverage work per dollar' — the model is never tested in isolation; what reaches it is what matters.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scaling projections based on ICLR 2024 multiplicative scaling law. Current 1,273 segments is far below minimum. 20K segments with Llama 3.1 8B projects to IS 3.5-4.0 (85-90% useful Y+P). AVSpeech has 290K videos available for training data curation.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projection focused on data scale as the single variable.</a:t>
            </a:r>
          </a:p>
          <a:p/>
          <a:p>
            <a:r>
              <a:t>The VSP-LLM paper already fine-tuned AV-HuBERT using a two-stage curriculum (freeze encoder 18K steps, unfreeze 12K steps) — this is the paper's existing recipe, not something new. It achieved 25% WER on LRS3. The method works; it just needs more diverse data.</a:t>
            </a:r>
          </a:p>
          <a:p/>
          <a:p>
            <a:r>
              <a:t>Three data tiers: 5-10K hrs ($10-20K), 20K hrs ($30-40K sweet spot), 50K hrs ($70-100K). Paper trained on only 433 hrs of LRS3.</a:t>
            </a:r>
          </a:p>
          <a:p/>
          <a:p>
            <a:r>
              <a:t>LLM upgrade (Llama-2 → Llama 3.1 8B) requires adapter retraining but stacks with any data investment. Same hidden dimension (4096).</a:t>
            </a:r>
          </a:p>
          <a:p/>
          <a:p>
            <a:r>
              <a:t>GPU cost basis: AWS p4d.24xlarge 8×A100 spot at ~$9.39/hr.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Fine-tuning roadmap (slide A of B per user remark #343). Three phases: TODAY -- LoRA on 1,273 AVSpeech segments shows severe overfitting (train ~95%, val ~60%) and IS regression (baseline 2.49 → r=16 2.31 → r=64 2.02). Empty-output rate rose 7% → 27%. TARGET -- need 20K+ segments to clear the LoRA generalization floor; AVSpeech curation can reach 50K. EXPECTED LIFT -- combine visual encoder adaptation with Llama 3.1 8B (−3 to −8pp WER from the LLM swap alone, projection from VALLR-style benchmarks); smart prompts add +5–20pp on top. Bottom line: dataset size is the bottleneck, not parameter tuning or architecture choice. The plot on the next slide shows the data-limited evidence visually. Sources: docs/finetuning/training-research-notes.md, docs/evaluation/llm_upgrade_analysis.md.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columns of future capability. Left: LLM swap to Llama 3.1 8B is drop-in — same hidden dimension. Center: 7 prompt strategies are a force multiplier — more effective on stronger models. GER uses N-best hypotheses + correction LLM for +8-15pp with no retraining. Right: Arabic support planned, multi-speaker and streaming as future extensions.</a:t>
            </a:r>
          </a:p>
          <a:p/>
          <a:p>
            <a:r>
              <a:t>WHY 3-8pp WER IMPROVEMENT JUST FROM CHANGING THE LLM:</a:t>
            </a:r>
          </a:p>
          <a:p>
            <a:r>
              <a:t>The visual encoder outputs ambiguous feature sequences — multiple English words look identical on the lips (homophenes). The LLM's job is to disambiguate using language context. Llama-2 7B has a 32K vocabulary and was trained on older data. Llama 3.1 8B has 128K vocabulary (4x), trained on 15T tokens (7.5x more), and vastly better instruction following. This means:</a:t>
            </a:r>
          </a:p>
          <a:p>
            <a:r>
              <a:t>- Better vocabulary coverage → fewer unknown-word hallucinations</a:t>
            </a:r>
          </a:p>
          <a:p>
            <a:r>
              <a:t>- Stronger language model → better disambiguation of homophenes</a:t>
            </a:r>
          </a:p>
          <a:p>
            <a:r>
              <a:t>- More world knowledge → correct entity names more often</a:t>
            </a:r>
          </a:p>
          <a:p>
            <a:r>
              <a:t>- The 3-8pp range comes from published ASR/NLP benchmarks showing Llama 3 8B performs at roughly Llama-2 70B level. Since the visual encoder is unchanged, the improvement is purely from better language decoding of the same visual features. The lower end (3pp) assumes the visual bottleneck limits gains; the upper end (8pp) assumes language disambiguation is the primary bottleneck for our failure modes. Mention to peers: this is the framing for the quantified LLM-upgrade slide that follows.</a:t>
            </a:r>
          </a:p>
          <a:p/>
          <a:p>
            <a:r>
              <a:t>PEER DETAIL — −3 to −8 pp WER LLM-swap range bracket = VALLR's −6 pp on LRS3 between Llama-2-7B and Llama-3-8B ± 2 pp slack for our wild-data domain shift. Caveat: projection, not measurement. Sources: docs/evaluation/llm_upgrade_analysis.md, docs/finetuning/training-research-notes.md.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LLM is a context engine. The visual encoder sees mouth shapes but can't distinguish visemes. The LLM resolves ambiguity using language context. A stronger LLM means better disambiguation. Llama 3.1 8B has quality equivalent to LLaMA-2 70B with the same hidden dimension (4096), architecture-compatible but requires adapter retraining.</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upgrade analysis — simplified view. The waterfall maps from our current 64% baseline WER (top-1) to a projected 35-40% target via three stacked levers: an LLM swap, smart prompts, and 20K additional training segments.</a:t>
            </a:r>
          </a:p>
          <a:p/>
          <a:p>
            <a:r>
              <a:t>LEFT: Capability gap table. Llama 3.1 8B has 4x vocabulary, 32x context, 7.5x training data, +61% on MMLU. Same hidden dimension (4096) = architecture-compatible upgrade (requires adapter retraining).</a:t>
            </a:r>
          </a:p>
          <a:p/>
          <a:p>
            <a:r>
              <a:t>VALLR PROOF (ICCV 2025): Llama 3.2-3B (only 3B params) achieved 19% WER on LRS3 vs our 25% with Llama-2-7B. A smaller Llama 3 model beats a bigger Llama 2 — proves the architecture upgrade is more important than parameter count.</a:t>
            </a:r>
          </a:p>
          <a:p/>
          <a:p>
            <a:r>
              <a:t>RIGHT: WER improvement waterfall.</a:t>
            </a:r>
          </a:p>
          <a:p>
            <a:r>
              <a:t>- LLM swap alone: -3 to -8pp (modest, because visual encoder is the primary bottleneck — no LLM can decode what the encoder misses)</a:t>
            </a:r>
          </a:p>
          <a:p>
            <a:r>
              <a:t>- + Smart prompts: -5 to -10pp (Llama 3.1 UNLOCKS strategies that Llama-2 cannot follow: topic context, anti-hallucination guards, vocabulary lists, phonetic hints)</a:t>
            </a:r>
          </a:p>
          <a:p>
            <a:r>
              <a:t>- + 20K segments: -10 to -15pp (multiplicative scaling law from ICLR 2024 — better model extracts MORE from same data)</a:t>
            </a:r>
          </a:p>
          <a:p>
            <a:r>
              <a:t>- Combined target: 35-40% WER = roughly halving the error rate</a:t>
            </a:r>
          </a:p>
          <a:p/>
          <a:p>
            <a:r>
              <a:t>FAILURE MODES MOST HELPED (574 below-threshold, IS &lt; 2.00):</a:t>
            </a:r>
          </a:p>
          <a:p>
            <a:r>
              <a:t>- Wrong Topic (255 segments, 10-20% recovery): dominant category (44%), only helps when some visual signal exists; total drift = encoder failure</a:t>
            </a:r>
          </a:p>
          <a:p>
            <a:r>
              <a:t>- Hallucination (108 segments, 15-25% recovery): better calibrated model less likely to 'run ahead' of visual signal</a:t>
            </a:r>
          </a:p>
          <a:p>
            <a:r>
              <a:t>- Signal Loss (80 segments, &lt;5%): encoder-level, LLM cannot help</a:t>
            </a:r>
          </a:p>
          <a:p>
            <a:r>
              <a:t>- Right Topic Wrong Details (79 segments, 25-35% recovery): encoder captured the right domain but LLM picked wrong words</a:t>
            </a:r>
          </a:p>
          <a:p>
            <a:r>
              <a:t>- Accumulated Errors (52 segments, 20-30% recovery): many small substitutions that compound — better context modeling catches them</a:t>
            </a:r>
          </a:p>
          <a:p/>
          <a:p>
            <a:r>
              <a:t>REFERENCES: VALLR (Thomas et al., ICCV 2025), Scaling Laws (Zhang et al., ICLR 2024), Llama 3 (Meta, 2024). Sources: docs/evaluation/llm_upgrade_analysis.md, docs/finetuning/training-research-notes.md.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Arabic replication roadmap with realistic, conservative estimates. Key insight: AV-HuBERT learned English visemes — Arabic has different phonemes (pharyngeals, emphatics) producing distinct lip movements, so fine-tuning is essential, not optional.</a:t>
            </a:r>
          </a:p>
          <a:p/>
          <a:p>
            <a:r>
              <a:t>Key unknowns and bottlenecks:</a:t>
            </a:r>
          </a:p>
          <a:p>
            <a:r>
              <a:t>1. Arabic visual data quality unverified for AV-HuBERT fine-tuning.</a:t>
            </a:r>
          </a:p>
          <a:p>
            <a:r>
              <a:t>2. No Arabic lip-reading benchmark exists — eval dataset must be built from scratch with native speakers.</a:t>
            </a:r>
          </a:p>
          <a:p>
            <a:r>
              <a:t>3. RTL text handling and Arabic NER tooling maturity is unknown.</a:t>
            </a:r>
          </a:p>
          <a:p/>
          <a:p>
            <a:r>
              <a:t>Steps: fine-tune AV-HuBERT + recluster K-means (5-10 weeks), swap to Arabic LLM (1-2 weeks), build eval dataset (4-8 weeks, parallel), RTL normalization + end-to-end testing (3-6 weeks). Total 2-3 months realistic. Pipeline code itself is language-agnostic.</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AV-HuBERT self-supervised training: starts with MFCC features as initial targets, runs K-means clustering to create pseudo-labels, trains masked prediction of those labels from visual input, then iterates with better pseudo-labels. After multiple iterations, the visual encoder has learned which lip movements correspond to which sound clusters. The 'English-ness' lives in which visual distinctions the model learned to care about — e.g., it never learned to distinguish Arabic emphatics (ص vs س) which involve visible pharyngeal constriction. But this is an optimization target, not a hard blocker.</a:t>
            </a:r>
          </a:p>
          <a:p/>
          <a:p>
            <a:r>
              <a:t>BIGGEST PRACTICAL CHALLENGE: there is no Arabic LRS3-equivalent dataset publicly available. Concrete plan: (1) start with cross-lingual transfer from English AV-HuBERT pretraining; (2) bootstrap Arabic discrete units from MFCC features on Arabic broadcast media; (3) run K-means on Arabic AV-HuBERT features for the discrete unit codebook; (4) collect ~5-10K hours of Arabic broadcast video over 2-3 months for fine-tuning. Phase 1 delivers a degraded-but-working English-bootstrapped Arabic system; Phase 2 adds Arabic-native pretraining as data accumulates.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Arabic adaptation practical bottleneck sequence:</a:t>
            </a:r>
          </a:p>
          <a:p>
            <a:r>
              <a:t>1. K-means: Retrain on Arabic audio features — this already retrains per-dataset in our pipeline, so Arabic clusters are essentially 'free'.</a:t>
            </a:r>
          </a:p>
          <a:p>
            <a:r>
              <a:t>2. LLM: Replace with Arabic-capable model. The LLM swap is the most impactful single change.</a:t>
            </a:r>
          </a:p>
          <a:p>
            <a:r>
              <a:t>3. Q-Former + LoRA: Retrain on Arabic video-transcript pairs. This is where the authors' actual novel contribution was.</a:t>
            </a:r>
          </a:p>
          <a:p>
            <a:r>
              <a:t>4. AV-HuBERT: Frozen English encoder is the starting point. Fine-tuning is Phase 2 optimization.</a:t>
            </a:r>
          </a:p>
          <a:p/>
          <a:p>
            <a:r>
              <a:t>Arabic emphatics example: ص (emphatic S) vs س (plain S) have visible pharyngeal constriction that the English-pretrained encoder never learned to distinguish. Fine-tuning would teach this.</a:t>
            </a:r>
          </a:p>
          <a:p/>
          <a:p>
            <a:r>
              <a:t>Data challenge: No Arabic equivalent of LRS3. Options include custom collection from Arabic broadcast/YouTube, or cross-lingual pretraining strategies. See the cross-lingual transfer plan on the previous slide (slide_arabic_avhubert): English AV-HuBERT bootstrap → MFCC-based Arabic discrete units → K-means recluster on Arabic features → 5-10K hour Arabic broadcast collection over 2-3 months.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takeaways plus one limitations strip. (1) Rigorous assessment with the **novel** IS metric — first decomposition of intelligibility for AVSR — and full failure analysis: 62% useful Y+P with MBR n-best, 65% confirmed by LLM judge v1 blind on the same 1,497 pairs. (2) Production system built from scratch — standalone container, UI, 8-stage pipeline, 37 tests, 8 research reports. (3) Model performs well after MBR: 71% Y+P per LLM Judge v3 paired test (Opus 4.7, 5,988 verdicts). IS shows kappa=0.816 agreement with judge at NIV-Y+P. (4) MBR shipped May 2 2026 as production default — Judge v3 Y+P 71% vs baseline 68% (+2.68 pp absolute, p = 0.00017 paired McNemar over 5,988 verdicts). Joint conf+agreement bands and the Trust gate also shipped. (5) Clear path forward for English improvement (stronger LLM + smart prompts + 20K+ training data) and Arabic adaptation (2-3 months). Limitations strip (gold band, '!'): three caveats peers will ask about. (a) Joint conf+agreement band thresholds (top1_conf &gt;= 0.95, beam_agreement &gt;= 0.80) were swept on Llama-2-7b outputs; any LLM swap forces re-running diagnose_confidence_signals.py. (b) The LLM judge is a single rater (Claude Opus 4.6 for v1 blind, 4.7 for v3 paired); intra-rater is 86.7% on 30 duplicates but inter-rater is unmeasured. (c) Fine-tuning experiments at 1.3K AVSpeech segments hit a data floor; LoRA generalization needs 20K+ before a fair conclusion. Mention to peers: each takeaway maps to one section of the deck and one MD/CSV in docs/. Sources: docs/evaluation/after_amosi_audit.md (Section F), docs/beam-search/n_best_implementation.md, docs/evaluation/llm_judge/llm_judge_analysis.md.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Thank the audience and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Homophenes: visually identical mouth shapes for different sounds. 50-70% of English sounds are invisible on lips, distributed across four canonical viseme groups (bilabial, alveolar, velar, labiodental). Word pairs like admiral/animal, mom/bomb, probiotics/permafrost are indistinguishable on the lips. The homophene rate is the single largest source of irreducible ambiguity in any visual-speech-recognition system. This is exactly why the architecture is visual encoder + LLM rather than visual encoder alone — context from the LLM is the only disambiguation signal available. Mention to peers: this appendix slide is the conceptual anchor for everything in Sections 2 and 4 of the deck. Sources: docs/evaluation/intelligibility_methodology.md, docs/paper/VSP-LLM_paper.pdf.</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retains exactly 2 principal components under the Kaiser criterion: PC1 captures signal quality (68% of variance, all 5 content signals load 0.43-0.47), PC2 captures output length (20%, Length Ratio loads 0.91). Together 88% of variance. Cross-config stability across 16 decode-parameter sweeps: Semantic, Phonetic, NEA are stable (std 0.017-0.059), while WER and Length Ratio are volatile (std 0.142-0.165) — exactly the axes WER alone would penalise. IS vs Opus judge: kappa=0.816 at Y+P (IS&gt;=2.00), kappa=0.690 at Y (IS&gt;=3.80). Mean r between IS and the LLM-context-prob heuristic is 0.925 (std 0.015) across configs. Mention to peers: this slide is the empirical proof that IS captures two distinct quality dimensions, not six redundant ones, and that the heuristic is a deterministic stand-in for the LLM judge at design time. Sources: docs/evaluation/is_pca_analysis.md, docs/evaluation/is_correlation_analysis.md, docs/evaluation/is_cross_config_validation.md.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 of 900 metric-failed segments are recoverable by the LLM heuristic. Useful output rate is 62% NIV Y+P (top-1; MBR n-best lifts to 62%). 6 recovery categories (overlap, not disjoint). 58% have moderate WER (50-70%). See docs/evaluation/llm_salvage/llm_salvage_analysis.md.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Curated examples showing each of the 6 recovery categories. All have IS &lt; 2.0 but the heuristic identifies recoverable meaning. Categories overlap: a segment can exhibit multiple recovery signals.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Canonical 5 failure categories from the 574-segment taxonomy (IS &lt; 2.00 on our 1,497-segment evaluation set). Wrong Topic is the largest (44%, 255 segments) and combines topic drift with phonetic confusion. Hallucination (19%, 108) is the most dangerous — fluent but fabricated text — because the output reads as confident even when it is invented from a 2-word reference. Signal Loss (14%, 80) is the easiest to filter, Right Topic / Wrong Details (14%, 79) is the client-trust killer, and Accumulated Errors (9%, 52) responds well to N-best aggregation. Each row in the table shows one canonical real example so a reader can match the rule to the data. Sources: docs/evaluation/intelligibility_methodology.md, docs/evaluation/intelligibility/intelligibility_summary.json.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map of all 34 unique example segments used across the presentation. 12 are embedded as clickable videos on Slides 14b and A11b. All 1,497 burned videos are available at english_full_results/client_outputs/burned_videos/. Segment IDs map directly to filenames: {id}_with_hyp.mp4.</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LLM Judge cross-tabulated with IS tiers across all 1,497 segments (blind, Opus 4.6). Strong agreement at the extremes: 57% Y for Tier 5 (Excellent), 81% N for Tier 1 (Failed). The interesting middle: Tiers 2-3 get majority P verdicts (51% / 34%) — the LLM sees partial meaning preservation that strict word-level metrics miss. Threshold sweep: Y+P aligns best with IS&gt;=2.00 (kappa=0.816); the legacy IS&gt;=3.00 cutoff under-counts (kappa=0.521). NIV thresholds adopted in March 2026: IS&gt;=3.80 for Y (kappa=0.707), IS&gt;=2.00 for Y+P (kappa=0.816). IS beats WER at both operating points (+0.061 for Y, +0.041 for Y+P). Mention to peers: this cross-tab is the primary calibration evidence for using IS as a deterministic surrogate for the LLM judge in production. Sources: docs/evaluation/llm_judge/llm_judge_analysis.md, docs/evaluation/threshold_calibration_vs_opus.md.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transition matrix and per-topic deltas for the context-aware Opus judge re-run on the same 1,497 pairs. The matrix shows the dominant pattern is Y -&gt; P (138 of 345 Y verdicts, about 40% of all Y) — domain context reveals vocabulary failures the blind judge let slide. Total: 230 downgrades vs 68 upgrades, with 1,199 (80%) verdicts unchanged. Only 1 N -&gt; Y rescue across all 1,497 pairs, confirming context is a quality tool not a rescue tool. Per-topic Y+P deltas are uniformly negative (-2pp to -4pp) across all seven topics; DIY/Home has the largest drop at -4pp because it is the most visually-anchored domain (tools, materials, processes) where domain knowledge exposes vocabulary errors most aggressively. Mention to peers: this is the appendix-level evidence for the context-exposes-hidden-failures slide in Section 2. Sources: docs/evaluation/llm_judge/context_eval/context_eval_analysis.md, docs/evaluation/llm_judge/llm_judge_analysis.md.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docs/evaluation/llm_judge_nbest/llm_judge_nbest_analysis.md + MEMORY n_best_aggregation_findings entry. v1 (single-side method-conf in prompt) systematically biased AGAINST the n-best variants - vote_conf significantly LOST on Y+P. v3 (dual-conf with baseline_conf anchor) flipped the verdict: vote_conf significantly WINS on Y+P (p=0.00257). Identical-text drift fell from 27% to 12.6-14% per method (audit:_note_drift). v1 is archived; v3 is the current gold standard. Transferable lesson: when prompting LLMs to compare hypotheses, always provide BOTH sides' confidence as anchors.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2.jpg"/><Relationship Id="rId5" Type="http://schemas.openxmlformats.org/officeDocument/2006/relationships/image" Target="../media/image1.jp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image" Target="../media/image1.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jp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7.jpg"/><Relationship Id="rId5" Type="http://schemas.openxmlformats.org/officeDocument/2006/relationships/image" Target="../media/image1.jp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8.jpg"/><Relationship Id="rId5" Type="http://schemas.openxmlformats.org/officeDocument/2006/relationships/image" Target="../media/image1.jp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9.jpg"/><Relationship Id="rId5" Type="http://schemas.openxmlformats.org/officeDocument/2006/relationships/image" Target="../media/image1.jp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10.jpg"/><Relationship Id="rId5" Type="http://schemas.openxmlformats.org/officeDocument/2006/relationships/image" Target="../media/image1.jp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6.mp4"/><Relationship Id="rId3" Type="http://schemas.openxmlformats.org/officeDocument/2006/relationships/video" Target="../media/media6.mp4"/><Relationship Id="rId4" Type="http://schemas.openxmlformats.org/officeDocument/2006/relationships/image" Target="../media/image11.jpg"/><Relationship Id="rId5" Type="http://schemas.openxmlformats.org/officeDocument/2006/relationships/image" Target="../media/image1.jpg"/><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7.mp4"/><Relationship Id="rId3" Type="http://schemas.openxmlformats.org/officeDocument/2006/relationships/video" Target="../media/media7.mp4"/><Relationship Id="rId4" Type="http://schemas.openxmlformats.org/officeDocument/2006/relationships/image" Target="../media/image12.jpg"/><Relationship Id="rId5" Type="http://schemas.openxmlformats.org/officeDocument/2006/relationships/image" Target="../media/image1.jpg"/><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jp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jp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jp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16.jpg"/><Relationship Id="rId5" Type="http://schemas.microsoft.com/office/2007/relationships/media" Target="../media/media9.mp4"/><Relationship Id="rId6" Type="http://schemas.openxmlformats.org/officeDocument/2006/relationships/video" Target="../media/media9.mp4"/><Relationship Id="rId7" Type="http://schemas.openxmlformats.org/officeDocument/2006/relationships/image" Target="../media/image17.jpg"/><Relationship Id="rId8" Type="http://schemas.openxmlformats.org/officeDocument/2006/relationships/image" Target="../media/image1.jpg"/><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0.mp4"/><Relationship Id="rId3" Type="http://schemas.openxmlformats.org/officeDocument/2006/relationships/video" Target="../media/media10.mp4"/><Relationship Id="rId4" Type="http://schemas.openxmlformats.org/officeDocument/2006/relationships/image" Target="../media/image18.jpg"/><Relationship Id="rId5" Type="http://schemas.openxmlformats.org/officeDocument/2006/relationships/image" Target="../media/image1.jpg"/><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10.jpg"/><Relationship Id="rId5" Type="http://schemas.openxmlformats.org/officeDocument/2006/relationships/image" Target="../media/image1.jpg"/><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8.mp4"/><Relationship Id="rId3" Type="http://schemas.openxmlformats.org/officeDocument/2006/relationships/video" Target="../media/media8.mp4"/><Relationship Id="rId4" Type="http://schemas.openxmlformats.org/officeDocument/2006/relationships/image" Target="../media/image16.jpg"/><Relationship Id="rId5" Type="http://schemas.microsoft.com/office/2007/relationships/media" Target="../media/media9.mp4"/><Relationship Id="rId6" Type="http://schemas.openxmlformats.org/officeDocument/2006/relationships/video" Target="../media/media9.mp4"/><Relationship Id="rId7" Type="http://schemas.openxmlformats.org/officeDocument/2006/relationships/image" Target="../media/image17.jpg"/><Relationship Id="rId8" Type="http://schemas.openxmlformats.org/officeDocument/2006/relationships/image" Target="../media/image1.jpg"/><Relationship Id="rId9"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jpg"/><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jpg"/><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jpg"/><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jpg"/><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jpg"/><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9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pic>
        <p:nvPicPr>
          <p:cNvPr id="2" name="Picture 1" descr="WhiteLogo.jpeg"/>
          <p:cNvPicPr>
            <a:picLocks noChangeAspect="1"/>
          </p:cNvPicPr>
          <p:nvPr/>
        </p:nvPicPr>
        <p:blipFill>
          <a:blip r:embed="rId2"/>
          <a:stretch>
            <a:fillRect/>
          </a:stretch>
        </p:blipFill>
        <p:spPr>
          <a:xfrm>
            <a:off x="10820400" y="274320"/>
            <a:ext cx="693344" cy="822960"/>
          </a:xfrm>
          <a:prstGeom prst="rect">
            <a:avLst/>
          </a:prstGeom>
        </p:spPr>
      </p:pic>
      <p:sp>
        <p:nvSpPr>
          <p:cNvPr id="3" name="TextBox 2"/>
          <p:cNvSpPr txBox="1"/>
          <p:nvPr/>
        </p:nvSpPr>
        <p:spPr>
          <a:xfrm>
            <a:off x="548640" y="1737360"/>
            <a:ext cx="11091672" cy="1005840"/>
          </a:xfrm>
          <a:prstGeom prst="rect">
            <a:avLst/>
          </a:prstGeom>
          <a:noFill/>
        </p:spPr>
        <p:txBody>
          <a:bodyPr wrap="square" anchor="t"/>
          <a:lstStyle/>
          <a:p>
            <a:pPr algn="l"/>
            <a:r>
              <a:rPr sz="5200" b="1" i="0">
                <a:solidFill>
                  <a:srgbClr val="FFFFFF"/>
                </a:solidFill>
                <a:latin typeface="Calibri"/>
              </a:rPr>
              <a:t>Argos VSP</a:t>
            </a:r>
          </a:p>
        </p:txBody>
      </p:sp>
      <p:sp>
        <p:nvSpPr>
          <p:cNvPr id="4" name="TextBox 3"/>
          <p:cNvSpPr txBox="1"/>
          <p:nvPr/>
        </p:nvSpPr>
        <p:spPr>
          <a:xfrm>
            <a:off x="548640" y="2788920"/>
            <a:ext cx="11091672" cy="731520"/>
          </a:xfrm>
          <a:prstGeom prst="rect">
            <a:avLst/>
          </a:prstGeom>
          <a:noFill/>
        </p:spPr>
        <p:txBody>
          <a:bodyPr wrap="square" anchor="t"/>
          <a:lstStyle/>
          <a:p>
            <a:pPr algn="l"/>
            <a:r>
              <a:rPr sz="3200" b="0" i="0">
                <a:solidFill>
                  <a:srgbClr val="00B4D8"/>
                </a:solidFill>
                <a:latin typeface="Calibri"/>
              </a:rPr>
              <a:t>Research Findings and Production Roadmap</a:t>
            </a:r>
          </a:p>
        </p:txBody>
      </p:sp>
      <p:sp>
        <p:nvSpPr>
          <p:cNvPr id="5" name="TextBox 4"/>
          <p:cNvSpPr txBox="1"/>
          <p:nvPr/>
        </p:nvSpPr>
        <p:spPr>
          <a:xfrm>
            <a:off x="548640" y="3611880"/>
            <a:ext cx="11091672" cy="548640"/>
          </a:xfrm>
          <a:prstGeom prst="rect">
            <a:avLst/>
          </a:prstGeom>
          <a:noFill/>
        </p:spPr>
        <p:txBody>
          <a:bodyPr wrap="square" anchor="t"/>
          <a:lstStyle/>
          <a:p>
            <a:pPr algn="l"/>
            <a:r>
              <a:rPr sz="2400" b="0" i="1">
                <a:solidFill>
                  <a:srgbClr val="AAAAAA"/>
                </a:solidFill>
                <a:latin typeface="Calibri"/>
              </a:rPr>
              <a:t>Visual Speech Processing — Project Review</a:t>
            </a:r>
          </a:p>
        </p:txBody>
      </p:sp>
      <p:sp>
        <p:nvSpPr>
          <p:cNvPr id="6" name="Rectangle 5"/>
          <p:cNvSpPr/>
          <p:nvPr/>
        </p:nvSpPr>
        <p:spPr>
          <a:xfrm>
            <a:off x="548640" y="4297680"/>
            <a:ext cx="2743200" cy="254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4663440"/>
            <a:ext cx="3657600" cy="457200"/>
          </a:xfrm>
          <a:prstGeom prst="rect">
            <a:avLst/>
          </a:prstGeom>
          <a:noFill/>
        </p:spPr>
        <p:txBody>
          <a:bodyPr wrap="square" anchor="t"/>
          <a:lstStyle/>
          <a:p>
            <a:pPr algn="l"/>
            <a:r>
              <a:rPr sz="2400" b="0" i="0">
                <a:solidFill>
                  <a:srgbClr val="AAAAAA"/>
                </a:solidFill>
                <a:latin typeface="Calibri"/>
              </a:rPr>
              <a:t>May 2026</a:t>
            </a:r>
          </a:p>
        </p:txBody>
      </p:sp>
      <p:sp>
        <p:nvSpPr>
          <p:cNvPr id="8" name="TextBox 7"/>
          <p:cNvSpPr txBox="1"/>
          <p:nvPr/>
        </p:nvSpPr>
        <p:spPr>
          <a:xfrm>
            <a:off x="548640" y="5212080"/>
            <a:ext cx="5486400" cy="457200"/>
          </a:xfrm>
          <a:prstGeom prst="rect">
            <a:avLst/>
          </a:prstGeom>
          <a:noFill/>
        </p:spPr>
        <p:txBody>
          <a:bodyPr wrap="square" anchor="t"/>
          <a:lstStyle/>
          <a:p>
            <a:pPr algn="l"/>
            <a:r>
              <a:rPr sz="2000" b="0" i="0">
                <a:solidFill>
                  <a:srgbClr val="666666"/>
                </a:solidFill>
                <a:latin typeface="Calibri"/>
              </a:rPr>
              <a:t>Yoad Oxman  •  The Orchard</a:t>
            </a:r>
          </a:p>
        </p:txBody>
      </p:sp>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12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Thesis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286000"/>
            <a:ext cx="10177272" cy="548640"/>
          </a:xfrm>
          <a:prstGeom prst="rect">
            <a:avLst/>
          </a:prstGeom>
          <a:noFill/>
        </p:spPr>
        <p:txBody>
          <a:bodyPr wrap="square" anchor="t"/>
          <a:lstStyle/>
          <a:p>
            <a:pPr algn="l"/>
            <a:r>
              <a:rPr sz="2800" b="1" i="0">
                <a:solidFill>
                  <a:srgbClr val="E06C75"/>
                </a:solidFill>
                <a:latin typeface="Calibri"/>
              </a:rPr>
              <a:t>Argos is not automatic transcription.</a:t>
            </a:r>
          </a:p>
        </p:txBody>
      </p:sp>
      <p:sp>
        <p:nvSpPr>
          <p:cNvPr id="5" name="TextBox 4"/>
          <p:cNvSpPr txBox="1"/>
          <p:nvPr/>
        </p:nvSpPr>
        <p:spPr>
          <a:xfrm>
            <a:off x="1005840" y="2834640"/>
            <a:ext cx="10177272" cy="1645920"/>
          </a:xfrm>
          <a:prstGeom prst="rect">
            <a:avLst/>
          </a:prstGeom>
          <a:noFill/>
        </p:spPr>
        <p:txBody>
          <a:bodyPr wrap="square" anchor="t"/>
          <a:lstStyle/>
          <a:p>
            <a:pPr algn="l"/>
            <a:r>
              <a:rPr sz="2400" b="0" i="0">
                <a:solidFill>
                  <a:srgbClr val="FFFFFF"/>
                </a:solidFill>
                <a:latin typeface="Calibri"/>
              </a:rPr>
              <a:t>It is a calibrated review tool for silent video — surfacing meaningful signal where it exists, marking uncertainty where it doesn't, and routing every segment through a trust layer so high-confidence output, partial signal, and unreliable output are visibly distinct.</a:t>
            </a:r>
          </a:p>
        </p:txBody>
      </p:sp>
      <p:sp>
        <p:nvSpPr>
          <p:cNvPr id="6" name="TextBox 5"/>
          <p:cNvSpPr txBox="1"/>
          <p:nvPr/>
        </p:nvSpPr>
        <p:spPr>
          <a:xfrm>
            <a:off x="548640" y="5440680"/>
            <a:ext cx="11091672" cy="457200"/>
          </a:xfrm>
          <a:prstGeom prst="rect">
            <a:avLst/>
          </a:prstGeom>
          <a:noFill/>
        </p:spPr>
        <p:txBody>
          <a:bodyPr wrap="square" anchor="t"/>
          <a:lstStyle/>
          <a:p>
            <a:pPr algn="ctr"/>
            <a:r>
              <a:rPr sz="2200" b="0" i="1">
                <a:solidFill>
                  <a:srgbClr val="00B4D8"/>
                </a:solidFill>
                <a:latin typeface="Calibri"/>
              </a:rPr>
              <a:t>Reviewable visual-speech intelligence. Uncertainty attached.</a:t>
            </a:r>
          </a:p>
        </p:txBody>
      </p:sp>
      <p:pic>
        <p:nvPicPr>
          <p:cNvPr id="7" name="Picture 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What we claim — and what we do not claim</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ctr"/>
            <a:r>
              <a:rPr sz="2000" b="0" i="1">
                <a:solidFill>
                  <a:srgbClr val="AAAAAA"/>
                </a:solidFill>
                <a:latin typeface="Calibri"/>
              </a:rPr>
              <a:t>Where the line is. So you know what you're getting.</a:t>
            </a:r>
          </a:p>
        </p:txBody>
      </p:sp>
      <p:sp>
        <p:nvSpPr>
          <p:cNvPr id="5" name="Rounded Rectangle 4"/>
          <p:cNvSpPr/>
          <p:nvPr/>
        </p:nvSpPr>
        <p:spPr>
          <a:xfrm>
            <a:off x="548640" y="1783080"/>
            <a:ext cx="5408676" cy="4572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56232"/>
            <a:ext cx="5408676" cy="320040"/>
          </a:xfrm>
          <a:prstGeom prst="rect">
            <a:avLst/>
          </a:prstGeom>
          <a:noFill/>
        </p:spPr>
        <p:txBody>
          <a:bodyPr wrap="square" anchor="t"/>
          <a:lstStyle/>
          <a:p>
            <a:pPr algn="ctr"/>
            <a:r>
              <a:rPr sz="2200" b="1" i="0">
                <a:solidFill>
                  <a:srgbClr val="4CAF50"/>
                </a:solidFill>
                <a:latin typeface="Calibri"/>
              </a:rPr>
              <a:t>WE CLAIM</a:t>
            </a:r>
          </a:p>
        </p:txBody>
      </p:sp>
      <p:sp>
        <p:nvSpPr>
          <p:cNvPr id="7" name="Rounded Rectangle 6"/>
          <p:cNvSpPr/>
          <p:nvPr/>
        </p:nvSpPr>
        <p:spPr>
          <a:xfrm>
            <a:off x="6231636" y="1783080"/>
            <a:ext cx="5408676" cy="4572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31636" y="1856232"/>
            <a:ext cx="5408676" cy="320040"/>
          </a:xfrm>
          <a:prstGeom prst="rect">
            <a:avLst/>
          </a:prstGeom>
          <a:noFill/>
        </p:spPr>
        <p:txBody>
          <a:bodyPr wrap="square" anchor="t"/>
          <a:lstStyle/>
          <a:p>
            <a:pPr algn="ctr"/>
            <a:r>
              <a:rPr sz="2200" b="1" i="0">
                <a:solidFill>
                  <a:srgbClr val="E06C75"/>
                </a:solidFill>
                <a:latin typeface="Calibri"/>
              </a:rPr>
              <a:t>WE DO NOT CLAIM</a:t>
            </a:r>
          </a:p>
        </p:txBody>
      </p:sp>
      <p:sp>
        <p:nvSpPr>
          <p:cNvPr id="9" name="Rounded Rectangle 8"/>
          <p:cNvSpPr/>
          <p:nvPr/>
        </p:nvSpPr>
        <p:spPr>
          <a:xfrm>
            <a:off x="548640" y="2331720"/>
            <a:ext cx="5408676" cy="640080"/>
          </a:xfrm>
          <a:prstGeom prst="roundRect">
            <a:avLst/>
          </a:prstGeom>
          <a:solidFill>
            <a:srgbClr val="152A4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423160"/>
            <a:ext cx="5042916" cy="457200"/>
          </a:xfrm>
          <a:prstGeom prst="rect">
            <a:avLst/>
          </a:prstGeom>
          <a:noFill/>
        </p:spPr>
        <p:txBody>
          <a:bodyPr wrap="square" anchor="t"/>
          <a:lstStyle/>
          <a:p>
            <a:pPr algn="l"/>
            <a:r>
              <a:rPr sz="1800" b="0" i="0">
                <a:solidFill>
                  <a:srgbClr val="FFFFFF"/>
                </a:solidFill>
                <a:latin typeface="Calibri"/>
              </a:rPr>
              <a:t>✓  Recover useful speech candidates from video-only input.</a:t>
            </a:r>
          </a:p>
        </p:txBody>
      </p:sp>
      <p:sp>
        <p:nvSpPr>
          <p:cNvPr id="11" name="Rounded Rectangle 10"/>
          <p:cNvSpPr/>
          <p:nvPr/>
        </p:nvSpPr>
        <p:spPr>
          <a:xfrm>
            <a:off x="6231636" y="2331720"/>
            <a:ext cx="5408676" cy="640080"/>
          </a:xfrm>
          <a:prstGeom prst="roundRect">
            <a:avLst/>
          </a:prstGeom>
          <a:solidFill>
            <a:srgbClr val="152A4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4516" y="2423160"/>
            <a:ext cx="5042916" cy="457200"/>
          </a:xfrm>
          <a:prstGeom prst="rect">
            <a:avLst/>
          </a:prstGeom>
          <a:noFill/>
        </p:spPr>
        <p:txBody>
          <a:bodyPr wrap="square" anchor="t"/>
          <a:lstStyle/>
          <a:p>
            <a:pPr algn="l"/>
            <a:r>
              <a:rPr sz="1800" b="0" i="0">
                <a:solidFill>
                  <a:srgbClr val="FFFFFF"/>
                </a:solidFill>
                <a:latin typeface="Calibri"/>
              </a:rPr>
              <a:t>✗  Perfect lip-reading.</a:t>
            </a:r>
          </a:p>
        </p:txBody>
      </p:sp>
      <p:sp>
        <p:nvSpPr>
          <p:cNvPr id="13" name="Rounded Rectangle 12"/>
          <p:cNvSpPr/>
          <p:nvPr/>
        </p:nvSpPr>
        <p:spPr>
          <a:xfrm>
            <a:off x="548640" y="3044952"/>
            <a:ext cx="5408676" cy="640080"/>
          </a:xfrm>
          <a:prstGeom prst="roundRect">
            <a:avLst/>
          </a:prstGeom>
          <a:solidFill>
            <a:srgbClr val="152A4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36392"/>
            <a:ext cx="5042916" cy="457200"/>
          </a:xfrm>
          <a:prstGeom prst="rect">
            <a:avLst/>
          </a:prstGeom>
          <a:noFill/>
        </p:spPr>
        <p:txBody>
          <a:bodyPr wrap="square" anchor="t"/>
          <a:lstStyle/>
          <a:p>
            <a:pPr algn="l"/>
            <a:r>
              <a:rPr sz="1800" b="0" i="0">
                <a:solidFill>
                  <a:srgbClr val="FFFFFF"/>
                </a:solidFill>
                <a:latin typeface="Calibri"/>
              </a:rPr>
              <a:t>✓  Per-word confidence flags numerics, names, and uncertain spans for review.</a:t>
            </a:r>
          </a:p>
        </p:txBody>
      </p:sp>
      <p:sp>
        <p:nvSpPr>
          <p:cNvPr id="15" name="Rounded Rectangle 14"/>
          <p:cNvSpPr/>
          <p:nvPr/>
        </p:nvSpPr>
        <p:spPr>
          <a:xfrm>
            <a:off x="6231636" y="3044952"/>
            <a:ext cx="5408676" cy="640080"/>
          </a:xfrm>
          <a:prstGeom prst="roundRect">
            <a:avLst/>
          </a:prstGeom>
          <a:solidFill>
            <a:srgbClr val="152A4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3136392"/>
            <a:ext cx="5042916" cy="457200"/>
          </a:xfrm>
          <a:prstGeom prst="rect">
            <a:avLst/>
          </a:prstGeom>
          <a:noFill/>
        </p:spPr>
        <p:txBody>
          <a:bodyPr wrap="square" anchor="t"/>
          <a:lstStyle/>
          <a:p>
            <a:pPr algn="l"/>
            <a:r>
              <a:rPr sz="1800" b="0" i="0">
                <a:solidFill>
                  <a:srgbClr val="FFFFFF"/>
                </a:solidFill>
                <a:latin typeface="Calibri"/>
              </a:rPr>
              <a:t>✗  Reliably preserve negation, named entities, or numeric values without verification.</a:t>
            </a:r>
          </a:p>
        </p:txBody>
      </p:sp>
      <p:sp>
        <p:nvSpPr>
          <p:cNvPr id="17" name="Rounded Rectangle 16"/>
          <p:cNvSpPr/>
          <p:nvPr/>
        </p:nvSpPr>
        <p:spPr>
          <a:xfrm>
            <a:off x="548640" y="3758184"/>
            <a:ext cx="5408676" cy="640080"/>
          </a:xfrm>
          <a:prstGeom prst="roundRect">
            <a:avLst/>
          </a:prstGeom>
          <a:solidFill>
            <a:srgbClr val="152A4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849624"/>
            <a:ext cx="5042916" cy="457200"/>
          </a:xfrm>
          <a:prstGeom prst="rect">
            <a:avLst/>
          </a:prstGeom>
          <a:noFill/>
        </p:spPr>
        <p:txBody>
          <a:bodyPr wrap="square" anchor="t"/>
          <a:lstStyle/>
          <a:p>
            <a:pPr algn="l"/>
            <a:r>
              <a:rPr sz="1800" b="0" i="0">
                <a:solidFill>
                  <a:srgbClr val="FFFFFF"/>
                </a:solidFill>
                <a:latin typeface="Calibri"/>
              </a:rPr>
              <a:t>✓  Many dangerous failure modes flagged before review.</a:t>
            </a:r>
          </a:p>
        </p:txBody>
      </p:sp>
      <p:sp>
        <p:nvSpPr>
          <p:cNvPr id="19" name="Rounded Rectangle 18"/>
          <p:cNvSpPr/>
          <p:nvPr/>
        </p:nvSpPr>
        <p:spPr>
          <a:xfrm>
            <a:off x="6231636" y="3758184"/>
            <a:ext cx="5408676" cy="640080"/>
          </a:xfrm>
          <a:prstGeom prst="roundRect">
            <a:avLst/>
          </a:prstGeom>
          <a:solidFill>
            <a:srgbClr val="152A4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4516" y="3849624"/>
            <a:ext cx="5042916" cy="457200"/>
          </a:xfrm>
          <a:prstGeom prst="rect">
            <a:avLst/>
          </a:prstGeom>
          <a:noFill/>
        </p:spPr>
        <p:txBody>
          <a:bodyPr wrap="square" anchor="t"/>
          <a:lstStyle/>
          <a:p>
            <a:pPr algn="l"/>
            <a:r>
              <a:rPr sz="1800" b="0" i="0">
                <a:solidFill>
                  <a:srgbClr val="FFFFFF"/>
                </a:solidFill>
                <a:latin typeface="Calibri"/>
              </a:rPr>
              <a:t>✗  Every hallucination is caught.</a:t>
            </a:r>
          </a:p>
        </p:txBody>
      </p:sp>
      <p:sp>
        <p:nvSpPr>
          <p:cNvPr id="21" name="Rounded Rectangle 20"/>
          <p:cNvSpPr/>
          <p:nvPr/>
        </p:nvSpPr>
        <p:spPr>
          <a:xfrm>
            <a:off x="548640" y="4471416"/>
            <a:ext cx="5408676" cy="640080"/>
          </a:xfrm>
          <a:prstGeom prst="roundRect">
            <a:avLst/>
          </a:prstGeom>
          <a:solidFill>
            <a:srgbClr val="152A4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562856"/>
            <a:ext cx="5042916" cy="457200"/>
          </a:xfrm>
          <a:prstGeom prst="rect">
            <a:avLst/>
          </a:prstGeom>
          <a:noFill/>
        </p:spPr>
        <p:txBody>
          <a:bodyPr wrap="square" anchor="t"/>
          <a:lstStyle/>
          <a:p>
            <a:pPr algn="l"/>
            <a:r>
              <a:rPr sz="1800" b="0" i="0">
                <a:solidFill>
                  <a:srgbClr val="FFFFFF"/>
                </a:solidFill>
                <a:latin typeface="Calibri"/>
              </a:rPr>
              <a:t>✓  Reduce reviewer workload by routing attention to suspicious spans.</a:t>
            </a:r>
          </a:p>
        </p:txBody>
      </p:sp>
      <p:sp>
        <p:nvSpPr>
          <p:cNvPr id="23" name="Rounded Rectangle 22"/>
          <p:cNvSpPr/>
          <p:nvPr/>
        </p:nvSpPr>
        <p:spPr>
          <a:xfrm>
            <a:off x="6231636" y="4471416"/>
            <a:ext cx="5408676" cy="640080"/>
          </a:xfrm>
          <a:prstGeom prst="roundRect">
            <a:avLst/>
          </a:prstGeom>
          <a:solidFill>
            <a:srgbClr val="152A4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4516" y="4562856"/>
            <a:ext cx="5042916" cy="457200"/>
          </a:xfrm>
          <a:prstGeom prst="rect">
            <a:avLst/>
          </a:prstGeom>
          <a:noFill/>
        </p:spPr>
        <p:txBody>
          <a:bodyPr wrap="square" anchor="t"/>
          <a:lstStyle/>
          <a:p>
            <a:pPr algn="l"/>
            <a:r>
              <a:rPr sz="1800" b="0" i="0">
                <a:solidFill>
                  <a:srgbClr val="FFFFFF"/>
                </a:solidFill>
                <a:latin typeface="Calibri"/>
              </a:rPr>
              <a:t>✗  Replace human judgment for time-critical decisions.</a:t>
            </a:r>
          </a:p>
        </p:txBody>
      </p:sp>
      <p:sp>
        <p:nvSpPr>
          <p:cNvPr id="25" name="Rounded Rectangle 24"/>
          <p:cNvSpPr/>
          <p:nvPr/>
        </p:nvSpPr>
        <p:spPr>
          <a:xfrm>
            <a:off x="548640" y="5230368"/>
            <a:ext cx="11091672" cy="4572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303520"/>
            <a:ext cx="11091672" cy="365760"/>
          </a:xfrm>
          <a:prstGeom prst="rect">
            <a:avLst/>
          </a:prstGeom>
          <a:noFill/>
        </p:spPr>
        <p:txBody>
          <a:bodyPr wrap="square" anchor="t"/>
          <a:lstStyle/>
          <a:p>
            <a:pPr algn="ctr"/>
            <a:r>
              <a:rPr sz="2000" b="1" i="1">
                <a:solidFill>
                  <a:srgbClr val="00B4D8"/>
                </a:solidFill>
                <a:latin typeface="Calibri"/>
              </a:rPr>
              <a:t>Not blind automation. Reviewable visual-speech intelligence with uncertainty attached.</a:t>
            </a:r>
          </a:p>
        </p:txBody>
      </p:sp>
      <p:pic>
        <p:nvPicPr>
          <p:cNvPr id="27" name="Picture 2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8" name="TextBox 2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72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84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96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1" grpId="0" animBg="1"/>
      <p:bldP spid="13" grpId="0" animBg="1"/>
      <p:bldP spid="15" grpId="0" animBg="1"/>
      <p:bldP spid="17" grpId="0" animBg="1"/>
      <p:bldP spid="19" grpId="0" animBg="1"/>
      <p:bldP spid="21" grpId="0" animBg="1"/>
      <p:bldP spid="23"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What was done? (1/2)</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443484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00B4D8"/>
                </a:solidFill>
                <a:latin typeface="Calibri"/>
              </a:rPr>
              <a:t>Paper → production: Docker container, web UI, one-command run</a:t>
            </a:r>
          </a:p>
          <a:p>
            <a:pPr algn="l">
              <a:spcAft>
                <a:spcPts val="600"/>
              </a:spcAft>
            </a:pPr>
            <a:r>
              <a:rPr sz="2400" b="1">
                <a:solidFill>
                  <a:srgbClr val="00B4D8"/>
                </a:solidFill>
                <a:latin typeface="Calibri"/>
              </a:rPr>
              <a:t>• </a:t>
            </a:r>
            <a:r>
              <a:rPr sz="2400" b="0">
                <a:solidFill>
                  <a:srgbClr val="FFFFFF"/>
                </a:solidFill>
                <a:latin typeface="Calibri"/>
              </a:rPr>
              <a:t>8-stage pipeline: face detect → AV-HuBERT → LLM decode</a:t>
            </a:r>
          </a:p>
          <a:p>
            <a:pPr algn="l">
              <a:spcAft>
                <a:spcPts val="600"/>
              </a:spcAft>
            </a:pPr>
            <a:r>
              <a:rPr sz="2400" b="1">
                <a:solidFill>
                  <a:srgbClr val="00B4D8"/>
                </a:solidFill>
                <a:latin typeface="Calibri"/>
              </a:rPr>
              <a:t>• </a:t>
            </a:r>
            <a:r>
              <a:rPr sz="2400" b="0">
                <a:solidFill>
                  <a:srgbClr val="FFFFFF"/>
                </a:solidFill>
                <a:latin typeface="Calibri"/>
              </a:rPr>
              <a:t>Full web UI: upload video, instant transcription, quality flags</a:t>
            </a:r>
          </a:p>
          <a:p>
            <a:pPr algn="l">
              <a:spcAft>
                <a:spcPts val="600"/>
              </a:spcAft>
            </a:pPr>
            <a:r>
              <a:rPr sz="2400" b="1">
                <a:solidFill>
                  <a:srgbClr val="00B4D8"/>
                </a:solidFill>
                <a:latin typeface="Calibri"/>
              </a:rPr>
              <a:t>• </a:t>
            </a:r>
            <a:r>
              <a:rPr sz="2400" b="0">
                <a:solidFill>
                  <a:srgbClr val="00B4D8"/>
                </a:solidFill>
                <a:latin typeface="Calibri"/>
              </a:rPr>
              <a:t>Beam aggregation: 20 hypotheses combined — better than single-pass</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a:t>
            </a:r>
          </a:p>
        </p:txBody>
      </p:sp>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What was done? (2/2)</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91672" cy="443484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00B4D8"/>
                </a:solidFill>
                <a:latin typeface="Calibri"/>
              </a:rPr>
              <a:t>Model works amazingly — 62% of output is useful (blind LLM judge)</a:t>
            </a:r>
          </a:p>
          <a:p>
            <a:pPr algn="l">
              <a:spcAft>
                <a:spcPts val="600"/>
              </a:spcAft>
            </a:pPr>
            <a:r>
              <a:rPr sz="2400" b="1">
                <a:solidFill>
                  <a:srgbClr val="00B4D8"/>
                </a:solidFill>
                <a:latin typeface="Calibri"/>
              </a:rPr>
              <a:t>• </a:t>
            </a:r>
            <a:r>
              <a:rPr sz="2400" b="1">
                <a:solidFill>
                  <a:srgbClr val="FFFFFF"/>
                </a:solidFill>
                <a:latin typeface="Calibri"/>
              </a:rPr>
              <a:t>System tells you when to trust it — per-word confidence colour-coded</a:t>
            </a:r>
          </a:p>
          <a:p>
            <a:pPr algn="l">
              <a:spcAft>
                <a:spcPts val="600"/>
              </a:spcAft>
            </a:pPr>
            <a:r>
              <a:rPr sz="2400" b="1">
                <a:solidFill>
                  <a:srgbClr val="00B4D8"/>
                </a:solidFill>
                <a:latin typeface="Calibri"/>
              </a:rPr>
              <a:t>• </a:t>
            </a:r>
            <a:r>
              <a:rPr sz="2400" b="0">
                <a:solidFill>
                  <a:srgbClr val="FFFFFF"/>
                </a:solidFill>
                <a:latin typeface="Calibri"/>
              </a:rPr>
              <a:t>New metric (IS) built from scratch — captures useful-but-not-perfect</a:t>
            </a:r>
          </a:p>
          <a:p>
            <a:pPr algn="l">
              <a:spcAft>
                <a:spcPts val="600"/>
              </a:spcAft>
            </a:pPr>
            <a:r>
              <a:rPr sz="2400" b="1">
                <a:solidFill>
                  <a:srgbClr val="00B4D8"/>
                </a:solidFill>
                <a:latin typeface="Calibri"/>
              </a:rPr>
              <a:t>• </a:t>
            </a:r>
            <a:r>
              <a:rPr sz="2400" b="0">
                <a:solidFill>
                  <a:srgbClr val="AAAAAA"/>
                </a:solidFill>
                <a:latin typeface="Calibri"/>
              </a:rPr>
              <a:t>Arabic: 2–3 months away with the same infrastructure</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Executive Summary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11480"/>
          </a:xfrm>
          <a:prstGeom prst="rect">
            <a:avLst/>
          </a:prstGeom>
          <a:noFill/>
        </p:spPr>
        <p:txBody>
          <a:bodyPr wrap="square" anchor="t"/>
          <a:lstStyle/>
          <a:p>
            <a:pPr algn="l"/>
            <a:r>
              <a:rPr sz="2200" b="0" i="1">
                <a:solidFill>
                  <a:srgbClr val="AAAAAA"/>
                </a:solidFill>
                <a:latin typeface="Calibri"/>
              </a:rPr>
              <a:t>Three months of research and engineering on visual speech processing:</a:t>
            </a:r>
          </a:p>
        </p:txBody>
      </p:sp>
      <p:sp>
        <p:nvSpPr>
          <p:cNvPr id="5" name="TextBox 4"/>
          <p:cNvSpPr txBox="1"/>
          <p:nvPr/>
        </p:nvSpPr>
        <p:spPr>
          <a:xfrm>
            <a:off x="548640" y="1965960"/>
            <a:ext cx="11091672" cy="4572000"/>
          </a:xfrm>
          <a:prstGeom prst="rect">
            <a:avLst/>
          </a:prstGeom>
          <a:noFill/>
        </p:spPr>
        <p:txBody>
          <a:bodyPr wrap="square">
            <a:spAutoFit/>
          </a:bodyPr>
          <a:lstStyle/>
          <a:p>
            <a:pPr algn="l">
              <a:spcAft>
                <a:spcPts val="1600"/>
              </a:spcAft>
            </a:pPr>
            <a:r>
              <a:rPr sz="2400" b="1">
                <a:solidFill>
                  <a:srgbClr val="00B4D8"/>
                </a:solidFill>
                <a:latin typeface="Calibri"/>
              </a:rPr>
              <a:t>• </a:t>
            </a:r>
            <a:r>
              <a:rPr sz="2400" b="1">
                <a:solidFill>
                  <a:srgbClr val="FFFFFF"/>
                </a:solidFill>
                <a:latin typeface="Calibri"/>
              </a:rPr>
              <a:t>Evaluated a lip-reading AI on 1,497 real-world YouTube segments</a:t>
            </a:r>
          </a:p>
          <a:p>
            <a:pPr algn="l">
              <a:spcAft>
                <a:spcPts val="1600"/>
              </a:spcAft>
            </a:pPr>
            <a:r>
              <a:rPr sz="2400" b="1">
                <a:solidFill>
                  <a:srgbClr val="00B4D8"/>
                </a:solidFill>
                <a:latin typeface="Calibri"/>
              </a:rPr>
              <a:t>• </a:t>
            </a:r>
            <a:r>
              <a:rPr sz="2400" b="0">
                <a:solidFill>
                  <a:srgbClr val="FFFFFF"/>
                </a:solidFill>
                <a:latin typeface="Calibri"/>
              </a:rPr>
              <a:t>Standard metric (WER) reports 64% error — 2.5× worse than benchmark</a:t>
            </a:r>
          </a:p>
          <a:p>
            <a:pPr algn="l">
              <a:spcAft>
                <a:spcPts val="1600"/>
              </a:spcAft>
            </a:pPr>
            <a:r>
              <a:rPr sz="2400" b="1">
                <a:solidFill>
                  <a:srgbClr val="00B4D8"/>
                </a:solidFill>
                <a:latin typeface="Calibri"/>
              </a:rPr>
              <a:t>• </a:t>
            </a:r>
            <a:r>
              <a:rPr sz="2400" b="1">
                <a:solidFill>
                  <a:srgbClr val="00B4D8"/>
                </a:solidFill>
                <a:latin typeface="Calibri"/>
              </a:rPr>
              <a:t>Our new Intelligibility Score (IS) reveals 62% is actually useful — 2.4× what WER suggests</a:t>
            </a:r>
          </a:p>
          <a:p>
            <a:pPr algn="l">
              <a:spcAft>
                <a:spcPts val="1600"/>
              </a:spcAft>
            </a:pPr>
            <a:r>
              <a:rPr sz="2400" b="1">
                <a:solidFill>
                  <a:srgbClr val="00B4D8"/>
                </a:solidFill>
                <a:latin typeface="Calibri"/>
              </a:rPr>
              <a:t>• </a:t>
            </a:r>
            <a:r>
              <a:rPr sz="2400" b="0">
                <a:solidFill>
                  <a:srgbClr val="FFFFFF"/>
                </a:solidFill>
                <a:latin typeface="Calibri"/>
              </a:rPr>
              <a:t>Built a complete production system: 8-stage pipeline, standalone container</a:t>
            </a:r>
          </a:p>
          <a:p>
            <a:pPr algn="l">
              <a:spcAft>
                <a:spcPts val="1600"/>
              </a:spcAft>
            </a:pPr>
            <a:r>
              <a:rPr sz="2400" b="1">
                <a:solidFill>
                  <a:srgbClr val="00B4D8"/>
                </a:solidFill>
                <a:latin typeface="Calibri"/>
              </a:rPr>
              <a:t>• </a:t>
            </a:r>
            <a:r>
              <a:rPr sz="2400" b="0">
                <a:solidFill>
                  <a:srgbClr val="00B4D8"/>
                </a:solidFill>
                <a:latin typeface="Calibri"/>
              </a:rPr>
              <a:t>Clear roadmap to IS 3.5–4.0 (from 2.547) through data scaling + LLM upgrade</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WER: The Metric That Lies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5029200" cy="2926080"/>
          </a:xfrm>
          <a:prstGeom prst="roundRect">
            <a:avLst/>
          </a:prstGeom>
          <a:solidFill>
            <a:srgbClr val="152A40"/>
          </a:solidFill>
          <a:ln w="381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4480560" cy="914400"/>
          </a:xfrm>
          <a:prstGeom prst="rect">
            <a:avLst/>
          </a:prstGeom>
          <a:noFill/>
        </p:spPr>
        <p:txBody>
          <a:bodyPr wrap="square" anchor="t"/>
          <a:lstStyle/>
          <a:p>
            <a:pPr algn="ctr"/>
            <a:r>
              <a:rPr sz="6400" b="1" i="0">
                <a:solidFill>
                  <a:srgbClr val="E06C75"/>
                </a:solidFill>
                <a:latin typeface="Calibri"/>
              </a:rPr>
              <a:t>46%</a:t>
            </a:r>
          </a:p>
        </p:txBody>
      </p:sp>
      <p:sp>
        <p:nvSpPr>
          <p:cNvPr id="6" name="TextBox 5"/>
          <p:cNvSpPr txBox="1"/>
          <p:nvPr/>
        </p:nvSpPr>
        <p:spPr>
          <a:xfrm>
            <a:off x="822960" y="2468880"/>
            <a:ext cx="4480560" cy="365760"/>
          </a:xfrm>
          <a:prstGeom prst="rect">
            <a:avLst/>
          </a:prstGeom>
          <a:noFill/>
        </p:spPr>
        <p:txBody>
          <a:bodyPr wrap="square" anchor="t"/>
          <a:lstStyle/>
          <a:p>
            <a:pPr algn="ctr"/>
            <a:r>
              <a:rPr sz="2400" b="0" i="0">
                <a:solidFill>
                  <a:srgbClr val="AAAAAA"/>
                </a:solidFill>
                <a:latin typeface="Calibri"/>
              </a:rPr>
              <a:t>Word Error Rate</a:t>
            </a:r>
          </a:p>
        </p:txBody>
      </p:sp>
      <p:sp>
        <p:nvSpPr>
          <p:cNvPr id="7" name="TextBox 6"/>
          <p:cNvSpPr txBox="1"/>
          <p:nvPr/>
        </p:nvSpPr>
        <p:spPr>
          <a:xfrm>
            <a:off x="822960" y="2926080"/>
            <a:ext cx="4480560" cy="411480"/>
          </a:xfrm>
          <a:prstGeom prst="rect">
            <a:avLst/>
          </a:prstGeom>
          <a:noFill/>
        </p:spPr>
        <p:txBody>
          <a:bodyPr wrap="square" anchor="t"/>
          <a:lstStyle/>
          <a:p>
            <a:pPr algn="ctr"/>
            <a:r>
              <a:rPr sz="2400" b="1" i="0">
                <a:solidFill>
                  <a:srgbClr val="E06C75"/>
                </a:solidFill>
                <a:latin typeface="Calibri"/>
              </a:rPr>
              <a:t>Verdict: "FAILING"</a:t>
            </a:r>
          </a:p>
        </p:txBody>
      </p:sp>
      <p:sp>
        <p:nvSpPr>
          <p:cNvPr id="8" name="TextBox 7"/>
          <p:cNvSpPr txBox="1"/>
          <p:nvPr/>
        </p:nvSpPr>
        <p:spPr>
          <a:xfrm>
            <a:off x="822960" y="3429000"/>
            <a:ext cx="4480560" cy="1280160"/>
          </a:xfrm>
          <a:prstGeom prst="rect">
            <a:avLst/>
          </a:prstGeom>
          <a:noFill/>
        </p:spPr>
        <p:txBody>
          <a:bodyPr wrap="square" anchor="t"/>
          <a:lstStyle/>
          <a:p>
            <a:pPr algn="ctr"/>
            <a:r>
              <a:rPr sz="2400" b="0" i="0">
                <a:solidFill>
                  <a:srgbClr val="AAAAAA"/>
                </a:solidFill>
                <a:latin typeface="Calibri"/>
              </a:rPr>
              <a:t>6 insertions, 1 deletion</a:t>
            </a:r>
            <a:br/>
            <a:r>
              <a:rPr sz="2400" b="0" i="0">
                <a:solidFill>
                  <a:srgbClr val="AAAAAA"/>
                </a:solidFill>
                <a:latin typeface="Calibri"/>
              </a:rPr>
              <a:t>= nearly half the words are "wrong"</a:t>
            </a:r>
          </a:p>
        </p:txBody>
      </p:sp>
      <p:sp>
        <p:nvSpPr>
          <p:cNvPr id="9" name="Rounded Rectangle 8"/>
          <p:cNvSpPr/>
          <p:nvPr/>
        </p:nvSpPr>
        <p:spPr>
          <a:xfrm>
            <a:off x="6611111" y="1325880"/>
            <a:ext cx="5029200" cy="2926080"/>
          </a:xfrm>
          <a:prstGeom prst="roundRect">
            <a:avLst/>
          </a:prstGeom>
          <a:solidFill>
            <a:srgbClr val="152A40"/>
          </a:solidFill>
          <a:ln w="381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85431" y="1508760"/>
            <a:ext cx="4480560" cy="914400"/>
          </a:xfrm>
          <a:prstGeom prst="rect">
            <a:avLst/>
          </a:prstGeom>
          <a:noFill/>
        </p:spPr>
        <p:txBody>
          <a:bodyPr wrap="square" anchor="t"/>
          <a:lstStyle/>
          <a:p>
            <a:pPr algn="ctr"/>
            <a:r>
              <a:rPr sz="6400" b="1" i="0">
                <a:solidFill>
                  <a:srgbClr val="4CAF50"/>
                </a:solidFill>
                <a:latin typeface="Calibri"/>
              </a:rPr>
              <a:t>4.03</a:t>
            </a:r>
          </a:p>
        </p:txBody>
      </p:sp>
      <p:sp>
        <p:nvSpPr>
          <p:cNvPr id="11" name="TextBox 10"/>
          <p:cNvSpPr txBox="1"/>
          <p:nvPr/>
        </p:nvSpPr>
        <p:spPr>
          <a:xfrm>
            <a:off x="6885431" y="2468880"/>
            <a:ext cx="4480560" cy="914400"/>
          </a:xfrm>
          <a:prstGeom prst="rect">
            <a:avLst/>
          </a:prstGeom>
          <a:noFill/>
        </p:spPr>
        <p:txBody>
          <a:bodyPr wrap="square" anchor="t"/>
          <a:lstStyle/>
          <a:p>
            <a:pPr algn="ctr"/>
            <a:r>
              <a:rPr sz="2400" b="0" i="0">
                <a:solidFill>
                  <a:srgbClr val="AAAAAA"/>
                </a:solidFill>
                <a:latin typeface="Calibri"/>
              </a:rPr>
              <a:t>Intelligibility Score (Excellent)</a:t>
            </a:r>
          </a:p>
        </p:txBody>
      </p:sp>
      <p:sp>
        <p:nvSpPr>
          <p:cNvPr id="12" name="TextBox 11"/>
          <p:cNvSpPr txBox="1"/>
          <p:nvPr/>
        </p:nvSpPr>
        <p:spPr>
          <a:xfrm>
            <a:off x="6885431" y="2926080"/>
            <a:ext cx="4480560" cy="411480"/>
          </a:xfrm>
          <a:prstGeom prst="rect">
            <a:avLst/>
          </a:prstGeom>
          <a:noFill/>
        </p:spPr>
        <p:txBody>
          <a:bodyPr wrap="square" anchor="t"/>
          <a:lstStyle/>
          <a:p>
            <a:pPr algn="ctr"/>
            <a:r>
              <a:rPr sz="2400" b="1" i="0">
                <a:solidFill>
                  <a:srgbClr val="4CAF50"/>
                </a:solidFill>
                <a:latin typeface="Calibri"/>
              </a:rPr>
              <a:t>Verdict: "EXCELLENT"</a:t>
            </a:r>
          </a:p>
        </p:txBody>
      </p:sp>
      <p:sp>
        <p:nvSpPr>
          <p:cNvPr id="13" name="TextBox 12"/>
          <p:cNvSpPr txBox="1"/>
          <p:nvPr/>
        </p:nvSpPr>
        <p:spPr>
          <a:xfrm>
            <a:off x="6885431" y="3429000"/>
            <a:ext cx="4480560" cy="777240"/>
          </a:xfrm>
          <a:prstGeom prst="rect">
            <a:avLst/>
          </a:prstGeom>
          <a:noFill/>
        </p:spPr>
        <p:txBody>
          <a:bodyPr wrap="square" anchor="t"/>
          <a:lstStyle/>
          <a:p>
            <a:pPr algn="ctr"/>
            <a:r>
              <a:rPr sz="2400" b="0" i="0">
                <a:solidFill>
                  <a:srgbClr val="AAAAAA"/>
                </a:solidFill>
                <a:latin typeface="Calibri"/>
              </a:rPr>
              <a:t>Semantic similarity: 0.90</a:t>
            </a:r>
            <a:br/>
            <a:r>
              <a:rPr sz="2400" b="0" i="0">
                <a:solidFill>
                  <a:srgbClr val="AAAAAA"/>
                </a:solidFill>
                <a:latin typeface="Calibri"/>
              </a:rPr>
              <a:t>Meaning fully preserved</a:t>
            </a:r>
          </a:p>
        </p:txBody>
      </p:sp>
      <p:sp>
        <p:nvSpPr>
          <p:cNvPr id="14" name="TextBox 13"/>
          <p:cNvSpPr txBox="1"/>
          <p:nvPr/>
        </p:nvSpPr>
        <p:spPr>
          <a:xfrm>
            <a:off x="548640" y="4526280"/>
            <a:ext cx="11091672" cy="1645920"/>
          </a:xfrm>
          <a:prstGeom prst="rect">
            <a:avLst/>
          </a:prstGeom>
          <a:noFill/>
        </p:spPr>
        <p:txBody>
          <a:bodyPr wrap="square">
            <a:spAutoFit/>
          </a:bodyPr>
          <a:lstStyle/>
          <a:p>
            <a:pPr algn="l">
              <a:spcAft>
                <a:spcPts val="600"/>
              </a:spcAft>
            </a:pPr>
            <a:r>
              <a:rPr sz="2000" b="1" i="0">
                <a:solidFill>
                  <a:srgbClr val="AAAAAA"/>
                </a:solidFill>
                <a:latin typeface="Calibri"/>
              </a:rPr>
              <a:t>▶ Reference:  </a:t>
            </a:r>
            <a:r>
              <a:rPr sz="2000" b="0" i="0">
                <a:solidFill>
                  <a:srgbClr val="FFFFFF"/>
                </a:solidFill>
                <a:latin typeface="Calibri"/>
              </a:rPr>
              <a:t>i want you to remember all these i want you to memorize them</a:t>
            </a:r>
          </a:p>
          <a:p>
            <a:pPr algn="l">
              <a:spcAft>
                <a:spcPts val="600"/>
              </a:spcAft>
            </a:pPr>
            <a:r>
              <a:rPr sz="2000" b="1" i="0">
                <a:solidFill>
                  <a:srgbClr val="AAAAAA"/>
                </a:solidFill>
                <a:latin typeface="Calibri"/>
              </a:rPr>
              <a:t>▶ Prediction: </a:t>
            </a:r>
            <a:r>
              <a:rPr sz="2000" b="0" i="0">
                <a:solidFill>
                  <a:srgbClr val="00B4D8"/>
                </a:solidFill>
                <a:latin typeface="Calibri"/>
              </a:rPr>
              <a:t>i want you to remember all the things that i wanted you to memorize in my</a:t>
            </a:r>
          </a:p>
        </p:txBody>
      </p:sp>
      <p:sp>
        <p:nvSpPr>
          <p:cNvPr id="15" name="Rounded Rectangle 14"/>
          <p:cNvSpPr/>
          <p:nvPr/>
        </p:nvSpPr>
        <p:spPr>
          <a:xfrm>
            <a:off x="1920240" y="5715000"/>
            <a:ext cx="8348472" cy="5029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103120" y="5669280"/>
            <a:ext cx="7982712" cy="502920"/>
          </a:xfrm>
          <a:prstGeom prst="rect">
            <a:avLst/>
          </a:prstGeom>
          <a:noFill/>
        </p:spPr>
        <p:txBody>
          <a:bodyPr wrap="square" anchor="t"/>
          <a:lstStyle/>
          <a:p>
            <a:pPr algn="ctr"/>
            <a:r>
              <a:rPr sz="2000" b="1" i="0">
                <a:solidFill>
                  <a:srgbClr val="00B4D8"/>
                </a:solidFill>
                <a:latin typeface="Calibri"/>
              </a:rPr>
              <a:t>WER counts edits.  IS asks: did the viewer get it?</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12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24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Presentation Overview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99032"/>
            <a:ext cx="10543032" cy="411480"/>
          </a:xfrm>
          <a:prstGeom prst="rect">
            <a:avLst/>
          </a:prstGeom>
          <a:noFill/>
        </p:spPr>
        <p:txBody>
          <a:bodyPr wrap="square" anchor="t"/>
          <a:lstStyle/>
          <a:p>
            <a:pPr algn="l"/>
            <a:r>
              <a:rPr sz="2800" b="1" i="0">
                <a:solidFill>
                  <a:srgbClr val="FFFFFF"/>
                </a:solidFill>
                <a:latin typeface="Calibri"/>
              </a:rPr>
              <a:t>1. The Problem</a:t>
            </a:r>
          </a:p>
        </p:txBody>
      </p:sp>
      <p:sp>
        <p:nvSpPr>
          <p:cNvPr id="6" name="TextBox 5"/>
          <p:cNvSpPr txBox="1"/>
          <p:nvPr/>
        </p:nvSpPr>
        <p:spPr>
          <a:xfrm>
            <a:off x="822960" y="1828800"/>
            <a:ext cx="10543032" cy="384048"/>
          </a:xfrm>
          <a:prstGeom prst="rect">
            <a:avLst/>
          </a:prstGeom>
          <a:noFill/>
        </p:spPr>
        <p:txBody>
          <a:bodyPr wrap="square" anchor="t"/>
          <a:lstStyle/>
          <a:p>
            <a:pPr algn="l"/>
            <a:r>
              <a:rPr sz="2000" b="0" i="0">
                <a:solidFill>
                  <a:srgbClr val="AAAAAA"/>
                </a:solidFill>
                <a:latin typeface="Calibri"/>
              </a:rPr>
              <a:t>Visemes • WER lies — same edit, different meaning</a:t>
            </a:r>
          </a:p>
        </p:txBody>
      </p:sp>
      <p:sp>
        <p:nvSpPr>
          <p:cNvPr id="7" name="Rounded Rectangle 6"/>
          <p:cNvSpPr/>
          <p:nvPr/>
        </p:nvSpPr>
        <p:spPr>
          <a:xfrm>
            <a:off x="548640" y="2295144"/>
            <a:ext cx="11091672"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68296"/>
            <a:ext cx="10543032" cy="411480"/>
          </a:xfrm>
          <a:prstGeom prst="rect">
            <a:avLst/>
          </a:prstGeom>
          <a:noFill/>
        </p:spPr>
        <p:txBody>
          <a:bodyPr wrap="square" anchor="t"/>
          <a:lstStyle/>
          <a:p>
            <a:pPr algn="l"/>
            <a:r>
              <a:rPr sz="2800" b="1" i="0">
                <a:solidFill>
                  <a:srgbClr val="FFFFFF"/>
                </a:solidFill>
                <a:latin typeface="Calibri"/>
              </a:rPr>
              <a:t>2. How Do You Evaluate Lip-Reading?</a:t>
            </a:r>
          </a:p>
        </p:txBody>
      </p:sp>
      <p:sp>
        <p:nvSpPr>
          <p:cNvPr id="9" name="TextBox 8"/>
          <p:cNvSpPr txBox="1"/>
          <p:nvPr/>
        </p:nvSpPr>
        <p:spPr>
          <a:xfrm>
            <a:off x="822960" y="2798064"/>
            <a:ext cx="10543032" cy="384048"/>
          </a:xfrm>
          <a:prstGeom prst="rect">
            <a:avLst/>
          </a:prstGeom>
          <a:noFill/>
        </p:spPr>
        <p:txBody>
          <a:bodyPr wrap="square" anchor="t"/>
          <a:lstStyle/>
          <a:p>
            <a:pPr algn="l"/>
            <a:r>
              <a:rPr sz="2000" b="0" i="0">
                <a:solidFill>
                  <a:srgbClr val="AAAAAA"/>
                </a:solidFill>
                <a:latin typeface="Calibri"/>
              </a:rPr>
              <a:t>1,497 wild segments • IS • LLM-as-a-Judge</a:t>
            </a:r>
          </a:p>
        </p:txBody>
      </p:sp>
      <p:sp>
        <p:nvSpPr>
          <p:cNvPr id="10" name="Rounded Rectangle 9"/>
          <p:cNvSpPr/>
          <p:nvPr/>
        </p:nvSpPr>
        <p:spPr>
          <a:xfrm>
            <a:off x="548640" y="3264408"/>
            <a:ext cx="11091672"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337560"/>
            <a:ext cx="10543032" cy="411480"/>
          </a:xfrm>
          <a:prstGeom prst="rect">
            <a:avLst/>
          </a:prstGeom>
          <a:noFill/>
        </p:spPr>
        <p:txBody>
          <a:bodyPr wrap="square" anchor="t"/>
          <a:lstStyle/>
          <a:p>
            <a:pPr algn="l"/>
            <a:r>
              <a:rPr sz="2800" b="1" i="0">
                <a:solidFill>
                  <a:srgbClr val="FFFFFF"/>
                </a:solidFill>
                <a:latin typeface="Calibri"/>
              </a:rPr>
              <a:t>3. Where It Works — and How It Fails</a:t>
            </a:r>
          </a:p>
        </p:txBody>
      </p:sp>
      <p:sp>
        <p:nvSpPr>
          <p:cNvPr id="12" name="TextBox 11"/>
          <p:cNvSpPr txBox="1"/>
          <p:nvPr/>
        </p:nvSpPr>
        <p:spPr>
          <a:xfrm>
            <a:off x="822960" y="3767328"/>
            <a:ext cx="10543032" cy="384048"/>
          </a:xfrm>
          <a:prstGeom prst="rect">
            <a:avLst/>
          </a:prstGeom>
          <a:noFill/>
        </p:spPr>
        <p:txBody>
          <a:bodyPr wrap="square" anchor="t"/>
          <a:lstStyle/>
          <a:p>
            <a:pPr algn="l"/>
            <a:r>
              <a:rPr sz="2000" b="0" i="0">
                <a:solidFill>
                  <a:srgbClr val="AAAAAA"/>
                </a:solidFill>
                <a:latin typeface="Calibri"/>
              </a:rPr>
              <a:t>Oracle vs Realistic • Failure modes • MBR n-best</a:t>
            </a:r>
          </a:p>
        </p:txBody>
      </p:sp>
      <p:sp>
        <p:nvSpPr>
          <p:cNvPr id="13" name="Rounded Rectangle 12"/>
          <p:cNvSpPr/>
          <p:nvPr/>
        </p:nvSpPr>
        <p:spPr>
          <a:xfrm>
            <a:off x="548640" y="4233672"/>
            <a:ext cx="11091672"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306824"/>
            <a:ext cx="10543032" cy="411480"/>
          </a:xfrm>
          <a:prstGeom prst="rect">
            <a:avLst/>
          </a:prstGeom>
          <a:noFill/>
        </p:spPr>
        <p:txBody>
          <a:bodyPr wrap="square" anchor="t"/>
          <a:lstStyle/>
          <a:p>
            <a:pPr algn="l"/>
            <a:r>
              <a:rPr sz="2800" b="1" i="0">
                <a:solidFill>
                  <a:srgbClr val="FFFFFF"/>
                </a:solidFill>
                <a:latin typeface="Calibri"/>
              </a:rPr>
              <a:t>4. Confidence Without Ground Truth</a:t>
            </a:r>
          </a:p>
        </p:txBody>
      </p:sp>
      <p:sp>
        <p:nvSpPr>
          <p:cNvPr id="15" name="TextBox 14"/>
          <p:cNvSpPr txBox="1"/>
          <p:nvPr/>
        </p:nvSpPr>
        <p:spPr>
          <a:xfrm>
            <a:off x="822960" y="4736592"/>
            <a:ext cx="10543032" cy="384048"/>
          </a:xfrm>
          <a:prstGeom prst="rect">
            <a:avLst/>
          </a:prstGeom>
          <a:noFill/>
        </p:spPr>
        <p:txBody>
          <a:bodyPr wrap="square" anchor="t"/>
          <a:lstStyle/>
          <a:p>
            <a:pPr algn="l"/>
            <a:r>
              <a:rPr sz="2000" b="0" i="0">
                <a:solidFill>
                  <a:srgbClr val="AAAAAA"/>
                </a:solidFill>
                <a:latin typeface="Calibri"/>
              </a:rPr>
              <a:t>Per-word + beam-agreement bands • 65% recall at 6% FPR</a:t>
            </a:r>
          </a:p>
        </p:txBody>
      </p:sp>
      <p:sp>
        <p:nvSpPr>
          <p:cNvPr id="16" name="Rounded Rectangle 15"/>
          <p:cNvSpPr/>
          <p:nvPr/>
        </p:nvSpPr>
        <p:spPr>
          <a:xfrm>
            <a:off x="548640" y="5202936"/>
            <a:ext cx="11091672"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276088"/>
            <a:ext cx="10543032" cy="411480"/>
          </a:xfrm>
          <a:prstGeom prst="rect">
            <a:avLst/>
          </a:prstGeom>
          <a:noFill/>
        </p:spPr>
        <p:txBody>
          <a:bodyPr wrap="square" anchor="t"/>
          <a:lstStyle/>
          <a:p>
            <a:pPr algn="l"/>
            <a:r>
              <a:rPr sz="2800" b="1" i="0">
                <a:solidFill>
                  <a:srgbClr val="FFFFFF"/>
                </a:solidFill>
                <a:latin typeface="Calibri"/>
              </a:rPr>
              <a:t>5. Demo + Future Directions</a:t>
            </a:r>
          </a:p>
        </p:txBody>
      </p:sp>
      <p:sp>
        <p:nvSpPr>
          <p:cNvPr id="18" name="TextBox 17"/>
          <p:cNvSpPr txBox="1"/>
          <p:nvPr/>
        </p:nvSpPr>
        <p:spPr>
          <a:xfrm>
            <a:off x="822960" y="5705856"/>
            <a:ext cx="10543032" cy="384048"/>
          </a:xfrm>
          <a:prstGeom prst="rect">
            <a:avLst/>
          </a:prstGeom>
          <a:noFill/>
        </p:spPr>
        <p:txBody>
          <a:bodyPr wrap="square" anchor="t"/>
          <a:lstStyle/>
          <a:p>
            <a:pPr algn="l"/>
            <a:r>
              <a:rPr sz="2000" b="0" i="0">
                <a:solidFill>
                  <a:srgbClr val="AAAAAA"/>
                </a:solidFill>
                <a:latin typeface="Calibri"/>
              </a:rPr>
              <a:t>Live UI demo • Roadmap • LLM upgrade • Arabic</a:t>
            </a:r>
          </a:p>
        </p:txBody>
      </p:sp>
      <p:pic>
        <p:nvPicPr>
          <p:cNvPr id="19" name="Picture 1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0" name="TextBox 1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24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12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24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9.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What is Visual Speech Processing?</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IEa7qEkMvfQ_3__c5447488_with_hyp.mp4"/>
              <p:cNvPicPr>
                <a:picLocks noChangeAspect="1"/>
              </p:cNvPicPr>
              <p:nvPr>
                <a:videoFile r:link="rId3"/>
                <p:extLst>
                  <p:ext uri="{DAA4B4D4-6D71-4841-9C94-3DE7FCFB9230}">
                    <p14:media r:embed="rId2"/>
                  </p:ext>
                </p:extLst>
              </p:nvPr>
            </p:nvPicPr>
            <p:blipFill>
              <a:blip r:embed="rId4"/>
              <a:stretch>
                <a:fillRect/>
              </a:stretch>
            </p:blipFill>
            <p:spPr>
              <a:xfrm>
                <a:off x="2209800" y="1783080"/>
                <a:ext cx="7772400" cy="3566160"/>
              </a:xfrm>
              <a:prstGeom prst="rect">
                <a:avLst/>
              </a:prstGeom>
            </p:spPr>
          </p:pic>
        </mc:Choice>
        <mc:Fallback>
          <p:pic>
            <p:nvPicPr>
              <p:cNvPr id="4" name="IEa7qEkMvfQ_3__c5447488_with_hyp.mp4"/>
              <p:cNvPicPr>
                <a:picLocks noChangeAspect="1"/>
              </p:cNvPicPr>
              <p:nvPr/>
            </p:nvPicPr>
            <p:blipFill>
              <a:blip r:embed="rId4"/>
              <a:stretch>
                <a:fillRect/>
              </a:stretch>
            </p:blipFill>
            <p:spPr>
              <a:xfrm>
                <a:off x="2209800" y="1783080"/>
                <a:ext cx="7772400" cy="3566160"/>
              </a:xfrm>
              <a:prstGeom prst="rect">
                <a:avLst/>
              </a:prstGeom>
            </p:spPr>
          </p:pic>
        </mc:Fallback>
      </mc:AlternateContent>
      <p:sp>
        <p:nvSpPr>
          <p:cNvPr id="5" name="TextBox 4"/>
          <p:cNvSpPr txBox="1"/>
          <p:nvPr/>
        </p:nvSpPr>
        <p:spPr>
          <a:xfrm>
            <a:off x="621792" y="1207008"/>
            <a:ext cx="11091672" cy="502920"/>
          </a:xfrm>
          <a:prstGeom prst="rect">
            <a:avLst/>
          </a:prstGeom>
          <a:noFill/>
        </p:spPr>
        <p:txBody>
          <a:bodyPr wrap="square" anchor="t"/>
          <a:lstStyle/>
          <a:p>
            <a:pPr algn="l"/>
            <a:r>
              <a:rPr sz="2200" b="0" i="1">
                <a:solidFill>
                  <a:srgbClr val="AAAAAA"/>
                </a:solidFill>
                <a:latin typeface="Calibri"/>
              </a:rPr>
              <a:t>A system that reads lips from video — no audio needed.</a:t>
            </a:r>
          </a:p>
        </p:txBody>
      </p:sp>
      <p:sp>
        <p:nvSpPr>
          <p:cNvPr id="6" name="TextBox 5"/>
          <p:cNvSpPr txBox="1"/>
          <p:nvPr/>
        </p:nvSpPr>
        <p:spPr>
          <a:xfrm>
            <a:off x="1097280" y="5440680"/>
            <a:ext cx="10543032" cy="594360"/>
          </a:xfrm>
          <a:prstGeom prst="rect">
            <a:avLst/>
          </a:prstGeom>
          <a:noFill/>
        </p:spPr>
        <p:txBody>
          <a:bodyPr wrap="square" anchor="t"/>
          <a:lstStyle/>
          <a:p>
            <a:pPr algn="l"/>
            <a:r>
              <a:rPr sz="2400" b="0" i="0">
                <a:solidFill>
                  <a:srgbClr val="FFFFFF"/>
                </a:solidFill>
                <a:latin typeface="Calibri"/>
              </a:rPr>
              <a:t>System + human outperforms expert lip readers — hallucination risk 20% → under 5% with human filtering.</a:t>
            </a:r>
          </a:p>
        </p:txBody>
      </p:sp>
      <p:pic>
        <p:nvPicPr>
          <p:cNvPr id="7" name="Picture 6" descr="WhiteLogo.jpeg"/>
          <p:cNvPicPr>
            <a:picLocks noChangeAspect="1"/>
          </p:cNvPicPr>
          <p:nvPr/>
        </p:nvPicPr>
        <p:blipFill>
          <a:blip r:embed="rId5"/>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 Invisible Problem: Visemes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457200"/>
          </a:xfrm>
          <a:prstGeom prst="rect">
            <a:avLst/>
          </a:prstGeom>
          <a:noFill/>
        </p:spPr>
        <p:txBody>
          <a:bodyPr wrap="square" anchor="t"/>
          <a:lstStyle/>
          <a:p>
            <a:pPr algn="l"/>
            <a:r>
              <a:rPr sz="2400" b="1" i="0">
                <a:solidFill>
                  <a:srgbClr val="E06C75"/>
                </a:solidFill>
                <a:latin typeface="Calibri"/>
              </a:rPr>
              <a:t>The Invisible Problem</a:t>
            </a:r>
          </a:p>
        </p:txBody>
      </p:sp>
      <p:sp>
        <p:nvSpPr>
          <p:cNvPr id="5" name="TextBox 4"/>
          <p:cNvSpPr txBox="1"/>
          <p:nvPr/>
        </p:nvSpPr>
        <p:spPr>
          <a:xfrm>
            <a:off x="548640" y="1874520"/>
            <a:ext cx="5029200" cy="137160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50–70% of English sounds are invisible on lips</a:t>
            </a:r>
          </a:p>
          <a:p>
            <a:pPr algn="l">
              <a:spcAft>
                <a:spcPts val="600"/>
              </a:spcAft>
            </a:pPr>
            <a:r>
              <a:rPr sz="2400" b="1">
                <a:solidFill>
                  <a:srgbClr val="00B4D8"/>
                </a:solidFill>
                <a:latin typeface="Calibri"/>
              </a:rPr>
              <a:t>• </a:t>
            </a:r>
            <a:r>
              <a:rPr sz="2400" b="0">
                <a:solidFill>
                  <a:srgbClr val="FFFFFF"/>
                </a:solidFill>
                <a:latin typeface="Calibri"/>
              </a:rPr>
              <a:t>Multiple sounds → identical mouth shapes (visemes)</a:t>
            </a:r>
          </a:p>
          <a:p>
            <a:pPr algn="l">
              <a:spcAft>
                <a:spcPts val="600"/>
              </a:spcAft>
            </a:pPr>
            <a:r>
              <a:rPr sz="2400" b="1">
                <a:solidFill>
                  <a:srgbClr val="00B4D8"/>
                </a:solidFill>
                <a:latin typeface="Calibri"/>
              </a:rPr>
              <a:t>• </a:t>
            </a:r>
            <a:r>
              <a:rPr sz="2400" b="0">
                <a:solidFill>
                  <a:srgbClr val="FFFFFF"/>
                </a:solidFill>
                <a:latin typeface="Calibri"/>
              </a:rPr>
              <a:t>Context is the ONLY disambiguation signal</a:t>
            </a:r>
          </a:p>
        </p:txBody>
      </p:sp>
      <p:graphicFrame>
        <p:nvGraphicFramePr>
          <p:cNvPr id="6" name="Table 5"/>
          <p:cNvGraphicFramePr>
            <a:graphicFrameLocks noGrp="1"/>
          </p:cNvGraphicFramePr>
          <p:nvPr/>
        </p:nvGraphicFramePr>
        <p:xfrm>
          <a:off x="548640" y="3703320"/>
          <a:ext cx="5029200" cy="1463040"/>
        </p:xfrm>
        <a:graphic>
          <a:graphicData uri="http://schemas.openxmlformats.org/drawingml/2006/table">
            <a:tbl>
              <a:tblPr firstRow="0" bandRow="0" lastRow="0" bandCol="0">
                <a:tableStyleId>{5C22544A-7EE6-4342-B048-85BDC9FD1C3A}</a:tableStyleId>
              </a:tblPr>
              <a:tblGrid>
                <a:gridCol w="2514600"/>
                <a:gridCol w="2514600"/>
              </a:tblGrid>
              <a:tr h="292608">
                <a:tc>
                  <a:txBody>
                    <a:bodyPr/>
                    <a:lstStyle/>
                    <a:p>
                      <a:pPr algn="ctr"/>
                      <a:r>
                        <a:rPr sz="2400" b="1" i="0">
                          <a:solidFill>
                            <a:srgbClr val="FFFFFF"/>
                          </a:solidFill>
                          <a:latin typeface="Calibri"/>
                        </a:rPr>
                        <a:t>Viseme Group</a:t>
                      </a:r>
                    </a:p>
                  </a:txBody>
                  <a:tcPr>
                    <a:solidFill>
                      <a:srgbClr val="00b4d8"/>
                    </a:solidFill>
                  </a:tcPr>
                </a:tc>
                <a:tc>
                  <a:txBody>
                    <a:bodyPr/>
                    <a:lstStyle/>
                    <a:p>
                      <a:pPr algn="ctr"/>
                      <a:r>
                        <a:rPr sz="2400" b="1" i="0">
                          <a:solidFill>
                            <a:srgbClr val="FFFFFF"/>
                          </a:solidFill>
                          <a:latin typeface="Calibri"/>
                        </a:rPr>
                        <a:t>Sounds</a:t>
                      </a:r>
                    </a:p>
                  </a:txBody>
                  <a:tcPr>
                    <a:solidFill>
                      <a:srgbClr val="00b4d8"/>
                    </a:solidFill>
                  </a:tcPr>
                </a:tc>
              </a:tr>
              <a:tr h="292608">
                <a:tc>
                  <a:txBody>
                    <a:bodyPr/>
                    <a:lstStyle/>
                    <a:p>
                      <a:pPr algn="l"/>
                      <a:r>
                        <a:rPr sz="2400" b="0" i="0">
                          <a:solidFill>
                            <a:srgbClr val="FFFFFF"/>
                          </a:solidFill>
                          <a:latin typeface="Calibri"/>
                        </a:rPr>
                        <a:t>Bilabial</a:t>
                      </a:r>
                    </a:p>
                  </a:txBody>
                  <a:tcPr>
                    <a:solidFill>
                      <a:srgbClr val="0d1b2a"/>
                    </a:solidFill>
                  </a:tcPr>
                </a:tc>
                <a:tc>
                  <a:txBody>
                    <a:bodyPr/>
                    <a:lstStyle/>
                    <a:p>
                      <a:pPr algn="l"/>
                      <a:r>
                        <a:rPr sz="2400" b="0" i="0">
                          <a:solidFill>
                            <a:srgbClr val="FFFFFF"/>
                          </a:solidFill>
                          <a:latin typeface="Calibri"/>
                        </a:rPr>
                        <a:t>p, b, m</a:t>
                      </a:r>
                    </a:p>
                  </a:txBody>
                  <a:tcPr>
                    <a:solidFill>
                      <a:srgbClr val="0d1b2a"/>
                    </a:solidFill>
                  </a:tcPr>
                </a:tc>
              </a:tr>
              <a:tr h="292608">
                <a:tc>
                  <a:txBody>
                    <a:bodyPr/>
                    <a:lstStyle/>
                    <a:p>
                      <a:pPr algn="l"/>
                      <a:r>
                        <a:rPr sz="2400" b="0" i="0">
                          <a:solidFill>
                            <a:srgbClr val="FFFFFF"/>
                          </a:solidFill>
                          <a:latin typeface="Calibri"/>
                        </a:rPr>
                        <a:t>Alveolar</a:t>
                      </a:r>
                    </a:p>
                  </a:txBody>
                  <a:tcPr>
                    <a:solidFill>
                      <a:srgbClr val="152a40"/>
                    </a:solidFill>
                  </a:tcPr>
                </a:tc>
                <a:tc>
                  <a:txBody>
                    <a:bodyPr/>
                    <a:lstStyle/>
                    <a:p>
                      <a:pPr algn="l"/>
                      <a:r>
                        <a:rPr sz="2400" b="0" i="0">
                          <a:solidFill>
                            <a:srgbClr val="FFFFFF"/>
                          </a:solidFill>
                          <a:latin typeface="Calibri"/>
                        </a:rPr>
                        <a:t>t, d, n, s, z, l</a:t>
                      </a:r>
                    </a:p>
                  </a:txBody>
                  <a:tcPr>
                    <a:solidFill>
                      <a:srgbClr val="152a40"/>
                    </a:solidFill>
                  </a:tcPr>
                </a:tc>
              </a:tr>
              <a:tr h="292608">
                <a:tc>
                  <a:txBody>
                    <a:bodyPr/>
                    <a:lstStyle/>
                    <a:p>
                      <a:pPr algn="l"/>
                      <a:r>
                        <a:rPr sz="2400" b="0" i="0">
                          <a:solidFill>
                            <a:srgbClr val="FFFFFF"/>
                          </a:solidFill>
                          <a:latin typeface="Calibri"/>
                        </a:rPr>
                        <a:t>Velar</a:t>
                      </a:r>
                    </a:p>
                  </a:txBody>
                  <a:tcPr>
                    <a:solidFill>
                      <a:srgbClr val="0d1b2a"/>
                    </a:solidFill>
                  </a:tcPr>
                </a:tc>
                <a:tc>
                  <a:txBody>
                    <a:bodyPr/>
                    <a:lstStyle/>
                    <a:p>
                      <a:pPr algn="l"/>
                      <a:r>
                        <a:rPr sz="2400" b="0" i="0">
                          <a:solidFill>
                            <a:srgbClr val="FFFFFF"/>
                          </a:solidFill>
                          <a:latin typeface="Calibri"/>
                        </a:rPr>
                        <a:t>k, g, ng</a:t>
                      </a:r>
                    </a:p>
                  </a:txBody>
                  <a:tcPr>
                    <a:solidFill>
                      <a:srgbClr val="0d1b2a"/>
                    </a:solidFill>
                  </a:tcPr>
                </a:tc>
              </a:tr>
              <a:tr h="292608">
                <a:tc>
                  <a:txBody>
                    <a:bodyPr/>
                    <a:lstStyle/>
                    <a:p>
                      <a:pPr algn="l"/>
                      <a:r>
                        <a:rPr sz="2400" b="0" i="0">
                          <a:solidFill>
                            <a:srgbClr val="FFFFFF"/>
                          </a:solidFill>
                          <a:latin typeface="Calibri"/>
                        </a:rPr>
                        <a:t>Labiodental</a:t>
                      </a:r>
                    </a:p>
                  </a:txBody>
                  <a:tcPr>
                    <a:solidFill>
                      <a:srgbClr val="152a40"/>
                    </a:solidFill>
                  </a:tcPr>
                </a:tc>
                <a:tc>
                  <a:txBody>
                    <a:bodyPr/>
                    <a:lstStyle/>
                    <a:p>
                      <a:pPr algn="l"/>
                      <a:r>
                        <a:rPr sz="2400" b="0" i="0">
                          <a:solidFill>
                            <a:srgbClr val="FFFFFF"/>
                          </a:solidFill>
                          <a:latin typeface="Calibri"/>
                        </a:rPr>
                        <a:t>f, v</a:t>
                      </a:r>
                    </a:p>
                  </a:txBody>
                  <a:tcPr>
                    <a:solidFill>
                      <a:srgbClr val="152a40"/>
                    </a:solidFill>
                  </a:tcPr>
                </a:tc>
              </a:tr>
            </a:tbl>
          </a:graphicData>
        </a:graphic>
      </p:graphicFrame>
      <p:sp>
        <p:nvSpPr>
          <p:cNvPr id="7" name="TextBox 6"/>
          <p:cNvSpPr txBox="1"/>
          <p:nvPr/>
        </p:nvSpPr>
        <p:spPr>
          <a:xfrm>
            <a:off x="6611111" y="1325880"/>
            <a:ext cx="5029200" cy="914400"/>
          </a:xfrm>
          <a:prstGeom prst="rect">
            <a:avLst/>
          </a:prstGeom>
          <a:noFill/>
        </p:spPr>
        <p:txBody>
          <a:bodyPr wrap="square" anchor="t"/>
          <a:lstStyle/>
          <a:p>
            <a:pPr algn="l"/>
            <a:r>
              <a:rPr sz="2400" b="1" i="0">
                <a:solidFill>
                  <a:srgbClr val="00B4D8"/>
                </a:solidFill>
                <a:latin typeface="Calibri"/>
              </a:rPr>
              <a:t>Same Mouth Shape, Different Words</a:t>
            </a:r>
          </a:p>
        </p:txBody>
      </p:sp>
      <p:pic>
        <p:nvPicPr>
          <p:cNvPr id="8" name="Picture 7" descr="mom-yelling.gif"/>
          <p:cNvPicPr>
            <a:picLocks noChangeAspect="1"/>
          </p:cNvPicPr>
          <p:nvPr/>
        </p:nvPicPr>
        <p:blipFill>
          <a:blip r:embed="rId2"/>
          <a:stretch>
            <a:fillRect/>
          </a:stretch>
        </p:blipFill>
        <p:spPr>
          <a:xfrm>
            <a:off x="6839711" y="1874520"/>
            <a:ext cx="4572000" cy="1371600"/>
          </a:xfrm>
          <a:prstGeom prst="rect">
            <a:avLst/>
          </a:prstGeom>
        </p:spPr>
      </p:pic>
      <p:sp>
        <p:nvSpPr>
          <p:cNvPr id="9" name="TextBox 8"/>
          <p:cNvSpPr txBox="1"/>
          <p:nvPr/>
        </p:nvSpPr>
        <p:spPr>
          <a:xfrm>
            <a:off x="6611111" y="3319272"/>
            <a:ext cx="5029200" cy="667512"/>
          </a:xfrm>
          <a:prstGeom prst="rect">
            <a:avLst/>
          </a:prstGeom>
          <a:noFill/>
        </p:spPr>
        <p:txBody>
          <a:bodyPr wrap="square" anchor="t"/>
          <a:lstStyle/>
          <a:p>
            <a:pPr algn="ctr"/>
            <a:r>
              <a:rPr sz="1800" b="0" i="1">
                <a:solidFill>
                  <a:srgbClr val="AAAAAA"/>
                </a:solidFill>
                <a:latin typeface="Calibri"/>
              </a:rPr>
              <a:t>Identical mouth shapes can produce different words</a:t>
            </a:r>
          </a:p>
        </p:txBody>
      </p:sp>
      <p:graphicFrame>
        <p:nvGraphicFramePr>
          <p:cNvPr id="10" name="Table 9"/>
          <p:cNvGraphicFramePr>
            <a:graphicFrameLocks noGrp="1"/>
          </p:cNvGraphicFramePr>
          <p:nvPr/>
        </p:nvGraphicFramePr>
        <p:xfrm>
          <a:off x="6611111" y="4114800"/>
          <a:ext cx="5029200" cy="1463040"/>
        </p:xfrm>
        <a:graphic>
          <a:graphicData uri="http://schemas.openxmlformats.org/drawingml/2006/table">
            <a:tbl>
              <a:tblPr firstRow="0" bandRow="0" lastRow="0" bandCol="0">
                <a:tableStyleId>{5C22544A-7EE6-4342-B048-85BDC9FD1C3A}</a:tableStyleId>
              </a:tblPr>
              <a:tblGrid>
                <a:gridCol w="2514600"/>
                <a:gridCol w="2514600"/>
              </a:tblGrid>
              <a:tr h="292608">
                <a:tc>
                  <a:txBody>
                    <a:bodyPr/>
                    <a:lstStyle/>
                    <a:p>
                      <a:pPr algn="ctr"/>
                      <a:r>
                        <a:rPr sz="2400" b="1" i="0">
                          <a:solidFill>
                            <a:srgbClr val="FFFFFF"/>
                          </a:solidFill>
                          <a:latin typeface="Calibri"/>
                        </a:rPr>
                        <a:t>Word A</a:t>
                      </a:r>
                    </a:p>
                  </a:txBody>
                  <a:tcPr>
                    <a:solidFill>
                      <a:srgbClr val="00b4d8"/>
                    </a:solidFill>
                  </a:tcPr>
                </a:tc>
                <a:tc>
                  <a:txBody>
                    <a:bodyPr/>
                    <a:lstStyle/>
                    <a:p>
                      <a:pPr algn="ctr"/>
                      <a:r>
                        <a:rPr sz="2400" b="1" i="0">
                          <a:solidFill>
                            <a:srgbClr val="FFFFFF"/>
                          </a:solidFill>
                          <a:latin typeface="Calibri"/>
                        </a:rPr>
                        <a:t>Word B</a:t>
                      </a:r>
                    </a:p>
                  </a:txBody>
                  <a:tcPr>
                    <a:solidFill>
                      <a:srgbClr val="00b4d8"/>
                    </a:solidFill>
                  </a:tcPr>
                </a:tc>
              </a:tr>
              <a:tr h="292608">
                <a:tc>
                  <a:txBody>
                    <a:bodyPr/>
                    <a:lstStyle/>
                    <a:p>
                      <a:pPr algn="l"/>
                      <a:r>
                        <a:rPr sz="2400" b="0" i="0">
                          <a:solidFill>
                            <a:srgbClr val="FFFFFF"/>
                          </a:solidFill>
                          <a:latin typeface="Calibri"/>
                        </a:rPr>
                        <a:t>pat</a:t>
                      </a:r>
                    </a:p>
                  </a:txBody>
                  <a:tcPr>
                    <a:solidFill>
                      <a:srgbClr val="0d1b2a"/>
                    </a:solidFill>
                  </a:tcPr>
                </a:tc>
                <a:tc>
                  <a:txBody>
                    <a:bodyPr/>
                    <a:lstStyle/>
                    <a:p>
                      <a:pPr algn="l"/>
                      <a:r>
                        <a:rPr sz="2400" b="0" i="0">
                          <a:solidFill>
                            <a:srgbClr val="FFFFFF"/>
                          </a:solidFill>
                          <a:latin typeface="Calibri"/>
                        </a:rPr>
                        <a:t>bat</a:t>
                      </a:r>
                    </a:p>
                  </a:txBody>
                  <a:tcPr>
                    <a:solidFill>
                      <a:srgbClr val="0d1b2a"/>
                    </a:solidFill>
                  </a:tcPr>
                </a:tc>
              </a:tr>
              <a:tr h="292608">
                <a:tc>
                  <a:txBody>
                    <a:bodyPr/>
                    <a:lstStyle/>
                    <a:p>
                      <a:pPr algn="l"/>
                      <a:r>
                        <a:rPr sz="2400" b="0" i="0">
                          <a:solidFill>
                            <a:srgbClr val="FFFFFF"/>
                          </a:solidFill>
                          <a:latin typeface="Calibri"/>
                        </a:rPr>
                        <a:t>mom</a:t>
                      </a:r>
                    </a:p>
                  </a:txBody>
                  <a:tcPr>
                    <a:solidFill>
                      <a:srgbClr val="152a40"/>
                    </a:solidFill>
                  </a:tcPr>
                </a:tc>
                <a:tc>
                  <a:txBody>
                    <a:bodyPr/>
                    <a:lstStyle/>
                    <a:p>
                      <a:pPr algn="l"/>
                      <a:r>
                        <a:rPr sz="2400" b="0" i="0">
                          <a:solidFill>
                            <a:srgbClr val="FFFFFF"/>
                          </a:solidFill>
                          <a:latin typeface="Calibri"/>
                        </a:rPr>
                        <a:t>bomb</a:t>
                      </a:r>
                    </a:p>
                  </a:txBody>
                  <a:tcPr>
                    <a:solidFill>
                      <a:srgbClr val="152a40"/>
                    </a:solidFill>
                  </a:tcPr>
                </a:tc>
              </a:tr>
              <a:tr h="292608">
                <a:tc>
                  <a:txBody>
                    <a:bodyPr/>
                    <a:lstStyle/>
                    <a:p>
                      <a:pPr algn="l"/>
                      <a:r>
                        <a:rPr sz="2400" b="0" i="0">
                          <a:solidFill>
                            <a:srgbClr val="FFFFFF"/>
                          </a:solidFill>
                          <a:latin typeface="Calibri"/>
                        </a:rPr>
                        <a:t>admiral</a:t>
                      </a:r>
                    </a:p>
                  </a:txBody>
                  <a:tcPr>
                    <a:solidFill>
                      <a:srgbClr val="0d1b2a"/>
                    </a:solidFill>
                  </a:tcPr>
                </a:tc>
                <a:tc>
                  <a:txBody>
                    <a:bodyPr/>
                    <a:lstStyle/>
                    <a:p>
                      <a:pPr algn="l"/>
                      <a:r>
                        <a:rPr sz="2400" b="0" i="0">
                          <a:solidFill>
                            <a:srgbClr val="FFFFFF"/>
                          </a:solidFill>
                          <a:latin typeface="Calibri"/>
                        </a:rPr>
                        <a:t>animal</a:t>
                      </a:r>
                    </a:p>
                  </a:txBody>
                  <a:tcPr>
                    <a:solidFill>
                      <a:srgbClr val="0d1b2a"/>
                    </a:solidFill>
                  </a:tcPr>
                </a:tc>
              </a:tr>
              <a:tr h="292608">
                <a:tc>
                  <a:txBody>
                    <a:bodyPr/>
                    <a:lstStyle/>
                    <a:p>
                      <a:pPr algn="l"/>
                      <a:r>
                        <a:rPr sz="2400" b="0" i="0">
                          <a:solidFill>
                            <a:srgbClr val="FFFFFF"/>
                          </a:solidFill>
                          <a:latin typeface="Calibri"/>
                        </a:rPr>
                        <a:t>collar</a:t>
                      </a:r>
                    </a:p>
                  </a:txBody>
                  <a:tcPr>
                    <a:solidFill>
                      <a:srgbClr val="152a40"/>
                    </a:solidFill>
                  </a:tcPr>
                </a:tc>
                <a:tc>
                  <a:txBody>
                    <a:bodyPr/>
                    <a:lstStyle/>
                    <a:p>
                      <a:pPr algn="l"/>
                      <a:r>
                        <a:rPr sz="2400" b="0" i="0">
                          <a:solidFill>
                            <a:srgbClr val="FFFFFF"/>
                          </a:solidFill>
                          <a:latin typeface="Calibri"/>
                        </a:rPr>
                        <a:t>color</a:t>
                      </a:r>
                    </a:p>
                  </a:txBody>
                  <a:tcPr>
                    <a:solidFill>
                      <a:srgbClr val="152a40"/>
                    </a:solidFill>
                  </a:tcPr>
                </a:tc>
              </a:tr>
            </a:tbl>
          </a:graphicData>
        </a:graphic>
      </p:graphicFrame>
      <p:sp>
        <p:nvSpPr>
          <p:cNvPr id="11" name="TextBox 10"/>
          <p:cNvSpPr txBox="1"/>
          <p:nvPr/>
        </p:nvSpPr>
        <p:spPr>
          <a:xfrm>
            <a:off x="548640" y="5760720"/>
            <a:ext cx="11091672" cy="411480"/>
          </a:xfrm>
          <a:prstGeom prst="rect">
            <a:avLst/>
          </a:prstGeom>
          <a:noFill/>
        </p:spPr>
        <p:txBody>
          <a:bodyPr wrap="square" anchor="t"/>
          <a:lstStyle/>
          <a:p>
            <a:pPr algn="ctr"/>
            <a:r>
              <a:rPr sz="2400" b="0" i="1">
                <a:solidFill>
                  <a:srgbClr val="00B4D8"/>
                </a:solidFill>
                <a:latin typeface="Calibri"/>
              </a:rPr>
              <a:t>Context is the ONLY disambiguation — this is why the LLM matters.</a:t>
            </a:r>
          </a:p>
        </p:txBody>
      </p:sp>
      <p:pic>
        <p:nvPicPr>
          <p:cNvPr id="12" name="Picture 11"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7" grpId="0" animBg="1"/>
      <p:bldP spid="10"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How It Works: Data Flow</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280160" y="1417320"/>
            <a:ext cx="9601200" cy="5943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66928" y="1508760"/>
            <a:ext cx="594360" cy="5943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08760"/>
            <a:ext cx="594360" cy="594360"/>
          </a:xfrm>
          <a:prstGeom prst="rect">
            <a:avLst/>
          </a:prstGeom>
          <a:noFill/>
        </p:spPr>
        <p:txBody>
          <a:bodyPr wrap="square" anchor="t"/>
          <a:lstStyle/>
          <a:p>
            <a:pPr algn="ctr"/>
            <a:r>
              <a:rPr sz="2800" b="1" i="0">
                <a:solidFill>
                  <a:srgbClr val="FFFFFF"/>
                </a:solidFill>
                <a:latin typeface="Calibri"/>
              </a:rPr>
              <a:t>1</a:t>
            </a:r>
          </a:p>
        </p:txBody>
      </p:sp>
      <p:sp>
        <p:nvSpPr>
          <p:cNvPr id="7" name="TextBox 6"/>
          <p:cNvSpPr txBox="1"/>
          <p:nvPr/>
        </p:nvSpPr>
        <p:spPr>
          <a:xfrm>
            <a:off x="1463040" y="1554480"/>
            <a:ext cx="9235440" cy="365760"/>
          </a:xfrm>
          <a:prstGeom prst="rect">
            <a:avLst/>
          </a:prstGeom>
          <a:noFill/>
        </p:spPr>
        <p:txBody>
          <a:bodyPr wrap="square">
            <a:spAutoFit/>
          </a:bodyPr>
          <a:lstStyle/>
          <a:p>
            <a:pPr algn="l">
              <a:spcAft>
                <a:spcPts val="600"/>
              </a:spcAft>
            </a:pPr>
            <a:r>
              <a:rPr sz="2400" b="1" i="0">
                <a:solidFill>
                  <a:srgbClr val="FFFFFF"/>
                </a:solidFill>
                <a:latin typeface="Calibri"/>
              </a:rPr>
              <a:t>Video Frames</a:t>
            </a:r>
            <a:r>
              <a:rPr sz="2000" b="0" i="0">
                <a:solidFill>
                  <a:srgbClr val="AAAAAA"/>
                </a:solidFill>
                <a:latin typeface="Calibri"/>
              </a:rPr>
              <a:t>  —  25 fps raw video input</a:t>
            </a:r>
          </a:p>
        </p:txBody>
      </p:sp>
      <p:sp>
        <p:nvSpPr>
          <p:cNvPr id="8" name="TextBox 7"/>
          <p:cNvSpPr txBox="1"/>
          <p:nvPr/>
        </p:nvSpPr>
        <p:spPr>
          <a:xfrm>
            <a:off x="5897880" y="1965960"/>
            <a:ext cx="365760" cy="118872"/>
          </a:xfrm>
          <a:prstGeom prst="rect">
            <a:avLst/>
          </a:prstGeom>
          <a:noFill/>
        </p:spPr>
        <p:txBody>
          <a:bodyPr wrap="square" anchor="t"/>
          <a:lstStyle/>
          <a:p>
            <a:pPr algn="ctr"/>
            <a:r>
              <a:rPr sz="2000" b="0" i="0">
                <a:solidFill>
                  <a:srgbClr val="00B4D8"/>
                </a:solidFill>
                <a:latin typeface="Calibri"/>
              </a:rPr>
              <a:t>↓</a:t>
            </a:r>
          </a:p>
        </p:txBody>
      </p:sp>
      <p:sp>
        <p:nvSpPr>
          <p:cNvPr id="9" name="Rounded Rectangle 8"/>
          <p:cNvSpPr/>
          <p:nvPr/>
        </p:nvSpPr>
        <p:spPr>
          <a:xfrm>
            <a:off x="1280160" y="2084832"/>
            <a:ext cx="9601200" cy="5943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6928" y="2176272"/>
            <a:ext cx="594360" cy="5943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176272"/>
            <a:ext cx="594360" cy="594360"/>
          </a:xfrm>
          <a:prstGeom prst="rect">
            <a:avLst/>
          </a:prstGeom>
          <a:noFill/>
        </p:spPr>
        <p:txBody>
          <a:bodyPr wrap="square" anchor="t"/>
          <a:lstStyle/>
          <a:p>
            <a:pPr algn="ctr"/>
            <a:r>
              <a:rPr sz="2800" b="1" i="0">
                <a:solidFill>
                  <a:srgbClr val="FFFFFF"/>
                </a:solidFill>
                <a:latin typeface="Calibri"/>
              </a:rPr>
              <a:t>2</a:t>
            </a:r>
          </a:p>
        </p:txBody>
      </p:sp>
      <p:sp>
        <p:nvSpPr>
          <p:cNvPr id="12" name="TextBox 11"/>
          <p:cNvSpPr txBox="1"/>
          <p:nvPr/>
        </p:nvSpPr>
        <p:spPr>
          <a:xfrm>
            <a:off x="1463040" y="2221992"/>
            <a:ext cx="9235440" cy="365760"/>
          </a:xfrm>
          <a:prstGeom prst="rect">
            <a:avLst/>
          </a:prstGeom>
          <a:noFill/>
        </p:spPr>
        <p:txBody>
          <a:bodyPr wrap="square">
            <a:spAutoFit/>
          </a:bodyPr>
          <a:lstStyle/>
          <a:p>
            <a:pPr algn="l">
              <a:spcAft>
                <a:spcPts val="600"/>
              </a:spcAft>
            </a:pPr>
            <a:r>
              <a:rPr sz="2400" b="1" i="0">
                <a:solidFill>
                  <a:srgbClr val="FFFFFF"/>
                </a:solidFill>
                <a:latin typeface="Calibri"/>
              </a:rPr>
              <a:t>Mouth Crop</a:t>
            </a:r>
            <a:r>
              <a:rPr sz="2000" b="0" i="0">
                <a:solidFill>
                  <a:srgbClr val="AAAAAA"/>
                </a:solidFill>
                <a:latin typeface="Calibri"/>
              </a:rPr>
              <a:t>  —  96×96 pixel region around lips</a:t>
            </a:r>
          </a:p>
        </p:txBody>
      </p:sp>
      <p:sp>
        <p:nvSpPr>
          <p:cNvPr id="13" name="TextBox 12"/>
          <p:cNvSpPr txBox="1"/>
          <p:nvPr/>
        </p:nvSpPr>
        <p:spPr>
          <a:xfrm>
            <a:off x="5897880" y="2633472"/>
            <a:ext cx="365760" cy="118872"/>
          </a:xfrm>
          <a:prstGeom prst="rect">
            <a:avLst/>
          </a:prstGeom>
          <a:noFill/>
        </p:spPr>
        <p:txBody>
          <a:bodyPr wrap="square" anchor="t"/>
          <a:lstStyle/>
          <a:p>
            <a:pPr algn="ctr"/>
            <a:r>
              <a:rPr sz="2000" b="0" i="0">
                <a:solidFill>
                  <a:srgbClr val="00B4D8"/>
                </a:solidFill>
                <a:latin typeface="Calibri"/>
              </a:rPr>
              <a:t>↓</a:t>
            </a:r>
          </a:p>
        </p:txBody>
      </p:sp>
      <p:sp>
        <p:nvSpPr>
          <p:cNvPr id="14" name="Rounded Rectangle 13"/>
          <p:cNvSpPr/>
          <p:nvPr/>
        </p:nvSpPr>
        <p:spPr>
          <a:xfrm>
            <a:off x="1280160" y="2752344"/>
            <a:ext cx="9601200" cy="5943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6928" y="2843784"/>
            <a:ext cx="594360" cy="5943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843784"/>
            <a:ext cx="594360" cy="594360"/>
          </a:xfrm>
          <a:prstGeom prst="rect">
            <a:avLst/>
          </a:prstGeom>
          <a:noFill/>
        </p:spPr>
        <p:txBody>
          <a:bodyPr wrap="square" anchor="t"/>
          <a:lstStyle/>
          <a:p>
            <a:pPr algn="ctr"/>
            <a:r>
              <a:rPr sz="2800" b="1" i="0">
                <a:solidFill>
                  <a:srgbClr val="FFFFFF"/>
                </a:solidFill>
                <a:latin typeface="Calibri"/>
              </a:rPr>
              <a:t>3</a:t>
            </a:r>
          </a:p>
        </p:txBody>
      </p:sp>
      <p:sp>
        <p:nvSpPr>
          <p:cNvPr id="17" name="TextBox 16"/>
          <p:cNvSpPr txBox="1"/>
          <p:nvPr/>
        </p:nvSpPr>
        <p:spPr>
          <a:xfrm>
            <a:off x="1463040" y="2889504"/>
            <a:ext cx="9235440" cy="365760"/>
          </a:xfrm>
          <a:prstGeom prst="rect">
            <a:avLst/>
          </a:prstGeom>
          <a:noFill/>
        </p:spPr>
        <p:txBody>
          <a:bodyPr wrap="square">
            <a:spAutoFit/>
          </a:bodyPr>
          <a:lstStyle/>
          <a:p>
            <a:pPr algn="l">
              <a:spcAft>
                <a:spcPts val="600"/>
              </a:spcAft>
            </a:pPr>
            <a:r>
              <a:rPr sz="2400" b="1" i="0">
                <a:solidFill>
                  <a:srgbClr val="FFFFFF"/>
                </a:solidFill>
                <a:latin typeface="Calibri"/>
              </a:rPr>
              <a:t>Visual Features</a:t>
            </a:r>
            <a:r>
              <a:rPr sz="2000" b="0" i="0">
                <a:solidFill>
                  <a:srgbClr val="AAAAAA"/>
                </a:solidFill>
                <a:latin typeface="Calibri"/>
              </a:rPr>
              <a:t>  —  AV-HuBERT encoder → 1024-dim vectors</a:t>
            </a:r>
          </a:p>
        </p:txBody>
      </p:sp>
      <p:sp>
        <p:nvSpPr>
          <p:cNvPr id="18" name="TextBox 17"/>
          <p:cNvSpPr txBox="1"/>
          <p:nvPr/>
        </p:nvSpPr>
        <p:spPr>
          <a:xfrm>
            <a:off x="5897880" y="3300984"/>
            <a:ext cx="365760" cy="118872"/>
          </a:xfrm>
          <a:prstGeom prst="rect">
            <a:avLst/>
          </a:prstGeom>
          <a:noFill/>
        </p:spPr>
        <p:txBody>
          <a:bodyPr wrap="square" anchor="t"/>
          <a:lstStyle/>
          <a:p>
            <a:pPr algn="ctr"/>
            <a:r>
              <a:rPr sz="2000" b="0" i="0">
                <a:solidFill>
                  <a:srgbClr val="00B4D8"/>
                </a:solidFill>
                <a:latin typeface="Calibri"/>
              </a:rPr>
              <a:t>↓</a:t>
            </a:r>
          </a:p>
        </p:txBody>
      </p:sp>
      <p:sp>
        <p:nvSpPr>
          <p:cNvPr id="19" name="Rounded Rectangle 18"/>
          <p:cNvSpPr/>
          <p:nvPr/>
        </p:nvSpPr>
        <p:spPr>
          <a:xfrm>
            <a:off x="1280160" y="3419856"/>
            <a:ext cx="9601200" cy="59436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6928" y="3511296"/>
            <a:ext cx="594360" cy="59436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511296"/>
            <a:ext cx="594360" cy="594360"/>
          </a:xfrm>
          <a:prstGeom prst="rect">
            <a:avLst/>
          </a:prstGeom>
          <a:noFill/>
        </p:spPr>
        <p:txBody>
          <a:bodyPr wrap="square" anchor="t"/>
          <a:lstStyle/>
          <a:p>
            <a:pPr algn="ctr"/>
            <a:r>
              <a:rPr sz="2800" b="1" i="0">
                <a:solidFill>
                  <a:srgbClr val="FFFFFF"/>
                </a:solidFill>
                <a:latin typeface="Calibri"/>
              </a:rPr>
              <a:t>4</a:t>
            </a:r>
          </a:p>
        </p:txBody>
      </p:sp>
      <p:sp>
        <p:nvSpPr>
          <p:cNvPr id="22" name="TextBox 21"/>
          <p:cNvSpPr txBox="1"/>
          <p:nvPr/>
        </p:nvSpPr>
        <p:spPr>
          <a:xfrm>
            <a:off x="1463040" y="3557016"/>
            <a:ext cx="9235440" cy="365760"/>
          </a:xfrm>
          <a:prstGeom prst="rect">
            <a:avLst/>
          </a:prstGeom>
          <a:noFill/>
        </p:spPr>
        <p:txBody>
          <a:bodyPr wrap="square">
            <a:spAutoFit/>
          </a:bodyPr>
          <a:lstStyle/>
          <a:p>
            <a:pPr algn="l">
              <a:spcAft>
                <a:spcPts val="600"/>
              </a:spcAft>
            </a:pPr>
            <a:r>
              <a:rPr sz="2400" b="1" i="0">
                <a:solidFill>
                  <a:srgbClr val="FFFFFF"/>
                </a:solidFill>
                <a:latin typeface="Calibri"/>
              </a:rPr>
              <a:t>Projection</a:t>
            </a:r>
            <a:r>
              <a:rPr sz="2000" b="0" i="0">
                <a:solidFill>
                  <a:srgbClr val="AAAAAA"/>
                </a:solidFill>
                <a:latin typeface="Calibri"/>
              </a:rPr>
              <a:t>  —  Linear layer: 1024 → 4096-dim</a:t>
            </a:r>
          </a:p>
        </p:txBody>
      </p:sp>
      <p:sp>
        <p:nvSpPr>
          <p:cNvPr id="23" name="TextBox 22"/>
          <p:cNvSpPr txBox="1"/>
          <p:nvPr/>
        </p:nvSpPr>
        <p:spPr>
          <a:xfrm>
            <a:off x="5897880" y="3968496"/>
            <a:ext cx="365760" cy="118872"/>
          </a:xfrm>
          <a:prstGeom prst="rect">
            <a:avLst/>
          </a:prstGeom>
          <a:noFill/>
        </p:spPr>
        <p:txBody>
          <a:bodyPr wrap="square" anchor="t"/>
          <a:lstStyle/>
          <a:p>
            <a:pPr algn="ctr"/>
            <a:r>
              <a:rPr sz="2000" b="0" i="0">
                <a:solidFill>
                  <a:srgbClr val="00B4D8"/>
                </a:solidFill>
                <a:latin typeface="Calibri"/>
              </a:rPr>
              <a:t>↓</a:t>
            </a:r>
          </a:p>
        </p:txBody>
      </p:sp>
      <p:sp>
        <p:nvSpPr>
          <p:cNvPr id="24" name="Rounded Rectangle 23"/>
          <p:cNvSpPr/>
          <p:nvPr/>
        </p:nvSpPr>
        <p:spPr>
          <a:xfrm>
            <a:off x="1280160" y="4087368"/>
            <a:ext cx="9601200" cy="59436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66928" y="4178808"/>
            <a:ext cx="594360" cy="594360"/>
          </a:xfrm>
          <a:prstGeom prst="ellipse">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178808"/>
            <a:ext cx="594360" cy="594360"/>
          </a:xfrm>
          <a:prstGeom prst="rect">
            <a:avLst/>
          </a:prstGeom>
          <a:noFill/>
        </p:spPr>
        <p:txBody>
          <a:bodyPr wrap="square" anchor="t"/>
          <a:lstStyle/>
          <a:p>
            <a:pPr algn="ctr"/>
            <a:r>
              <a:rPr sz="2800" b="1" i="0">
                <a:solidFill>
                  <a:srgbClr val="FFFFFF"/>
                </a:solidFill>
                <a:latin typeface="Calibri"/>
              </a:rPr>
              <a:t>5</a:t>
            </a:r>
          </a:p>
        </p:txBody>
      </p:sp>
      <p:sp>
        <p:nvSpPr>
          <p:cNvPr id="27" name="TextBox 26"/>
          <p:cNvSpPr txBox="1"/>
          <p:nvPr/>
        </p:nvSpPr>
        <p:spPr>
          <a:xfrm>
            <a:off x="1463040" y="4224528"/>
            <a:ext cx="9235440" cy="365760"/>
          </a:xfrm>
          <a:prstGeom prst="rect">
            <a:avLst/>
          </a:prstGeom>
          <a:noFill/>
        </p:spPr>
        <p:txBody>
          <a:bodyPr wrap="square">
            <a:spAutoFit/>
          </a:bodyPr>
          <a:lstStyle/>
          <a:p>
            <a:pPr algn="l">
              <a:spcAft>
                <a:spcPts val="600"/>
              </a:spcAft>
            </a:pPr>
            <a:r>
              <a:rPr sz="2400" b="1" i="0">
                <a:solidFill>
                  <a:srgbClr val="FFFFFF"/>
                </a:solidFill>
                <a:latin typeface="Calibri"/>
              </a:rPr>
              <a:t>LLM Decodes</a:t>
            </a:r>
            <a:r>
              <a:rPr sz="2000" b="0" i="0">
                <a:solidFill>
                  <a:srgbClr val="AAAAAA"/>
                </a:solidFill>
                <a:latin typeface="Calibri"/>
              </a:rPr>
              <a:t>  —  LLaMA-2-7B emits 20 n-best hypotheses</a:t>
            </a:r>
          </a:p>
        </p:txBody>
      </p:sp>
      <p:sp>
        <p:nvSpPr>
          <p:cNvPr id="28" name="TextBox 27"/>
          <p:cNvSpPr txBox="1"/>
          <p:nvPr/>
        </p:nvSpPr>
        <p:spPr>
          <a:xfrm>
            <a:off x="5897880" y="4636008"/>
            <a:ext cx="365760" cy="118872"/>
          </a:xfrm>
          <a:prstGeom prst="rect">
            <a:avLst/>
          </a:prstGeom>
          <a:noFill/>
        </p:spPr>
        <p:txBody>
          <a:bodyPr wrap="square" anchor="t"/>
          <a:lstStyle/>
          <a:p>
            <a:pPr algn="ctr"/>
            <a:r>
              <a:rPr sz="2000" b="0" i="0">
                <a:solidFill>
                  <a:srgbClr val="00B4D8"/>
                </a:solidFill>
                <a:latin typeface="Calibri"/>
              </a:rPr>
              <a:t>↓</a:t>
            </a:r>
          </a:p>
        </p:txBody>
      </p:sp>
      <p:sp>
        <p:nvSpPr>
          <p:cNvPr id="29" name="Rounded Rectangle 28"/>
          <p:cNvSpPr/>
          <p:nvPr/>
        </p:nvSpPr>
        <p:spPr>
          <a:xfrm>
            <a:off x="1280160" y="4754880"/>
            <a:ext cx="9601200" cy="59436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66928" y="4846320"/>
            <a:ext cx="594360" cy="59436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846320"/>
            <a:ext cx="594360" cy="594360"/>
          </a:xfrm>
          <a:prstGeom prst="rect">
            <a:avLst/>
          </a:prstGeom>
          <a:noFill/>
        </p:spPr>
        <p:txBody>
          <a:bodyPr wrap="square" anchor="t"/>
          <a:lstStyle/>
          <a:p>
            <a:pPr algn="ctr"/>
            <a:r>
              <a:rPr sz="2800" b="1" i="0">
                <a:solidFill>
                  <a:srgbClr val="FFFFFF"/>
                </a:solidFill>
                <a:latin typeface="Calibri"/>
              </a:rPr>
              <a:t>6</a:t>
            </a:r>
          </a:p>
        </p:txBody>
      </p:sp>
      <p:sp>
        <p:nvSpPr>
          <p:cNvPr id="32" name="TextBox 31"/>
          <p:cNvSpPr txBox="1"/>
          <p:nvPr/>
        </p:nvSpPr>
        <p:spPr>
          <a:xfrm>
            <a:off x="1463040" y="4892040"/>
            <a:ext cx="9235440" cy="365760"/>
          </a:xfrm>
          <a:prstGeom prst="rect">
            <a:avLst/>
          </a:prstGeom>
          <a:noFill/>
        </p:spPr>
        <p:txBody>
          <a:bodyPr wrap="square">
            <a:spAutoFit/>
          </a:bodyPr>
          <a:lstStyle/>
          <a:p>
            <a:pPr algn="l">
              <a:spcAft>
                <a:spcPts val="600"/>
              </a:spcAft>
            </a:pPr>
            <a:r>
              <a:rPr sz="2400" b="1" i="0">
                <a:solidFill>
                  <a:srgbClr val="FFFFFF"/>
                </a:solidFill>
                <a:latin typeface="Calibri"/>
              </a:rPr>
              <a:t>Aggregate (NEW)</a:t>
            </a:r>
            <a:r>
              <a:rPr sz="2000" b="0" i="0">
                <a:solidFill>
                  <a:srgbClr val="AAAAAA"/>
                </a:solidFill>
                <a:latin typeface="Calibri"/>
              </a:rPr>
              <a:t>  —  MBR over 20 n-best → 1 hypothesis</a:t>
            </a:r>
          </a:p>
        </p:txBody>
      </p:sp>
      <p:sp>
        <p:nvSpPr>
          <p:cNvPr id="33" name="TextBox 32"/>
          <p:cNvSpPr txBox="1"/>
          <p:nvPr/>
        </p:nvSpPr>
        <p:spPr>
          <a:xfrm>
            <a:off x="5897880" y="5303520"/>
            <a:ext cx="365760" cy="118872"/>
          </a:xfrm>
          <a:prstGeom prst="rect">
            <a:avLst/>
          </a:prstGeom>
          <a:noFill/>
        </p:spPr>
        <p:txBody>
          <a:bodyPr wrap="square" anchor="t"/>
          <a:lstStyle/>
          <a:p>
            <a:pPr algn="ctr"/>
            <a:r>
              <a:rPr sz="2000" b="0" i="0">
                <a:solidFill>
                  <a:srgbClr val="00B4D8"/>
                </a:solidFill>
                <a:latin typeface="Calibri"/>
              </a:rPr>
              <a:t>↓</a:t>
            </a:r>
          </a:p>
        </p:txBody>
      </p:sp>
      <p:sp>
        <p:nvSpPr>
          <p:cNvPr id="34" name="Rounded Rectangle 33"/>
          <p:cNvSpPr/>
          <p:nvPr/>
        </p:nvSpPr>
        <p:spPr>
          <a:xfrm>
            <a:off x="1280160" y="5422392"/>
            <a:ext cx="9601200" cy="59436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66928" y="5513832"/>
            <a:ext cx="594360" cy="59436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5513832"/>
            <a:ext cx="594360" cy="594360"/>
          </a:xfrm>
          <a:prstGeom prst="rect">
            <a:avLst/>
          </a:prstGeom>
          <a:noFill/>
        </p:spPr>
        <p:txBody>
          <a:bodyPr wrap="square" anchor="t"/>
          <a:lstStyle/>
          <a:p>
            <a:pPr algn="ctr"/>
            <a:r>
              <a:rPr sz="2800" b="1" i="0">
                <a:solidFill>
                  <a:srgbClr val="FFFFFF"/>
                </a:solidFill>
                <a:latin typeface="Calibri"/>
              </a:rPr>
              <a:t>7</a:t>
            </a:r>
          </a:p>
        </p:txBody>
      </p:sp>
      <p:sp>
        <p:nvSpPr>
          <p:cNvPr id="37" name="TextBox 36"/>
          <p:cNvSpPr txBox="1"/>
          <p:nvPr/>
        </p:nvSpPr>
        <p:spPr>
          <a:xfrm>
            <a:off x="1463040" y="5559552"/>
            <a:ext cx="9235440" cy="365760"/>
          </a:xfrm>
          <a:prstGeom prst="rect">
            <a:avLst/>
          </a:prstGeom>
          <a:noFill/>
        </p:spPr>
        <p:txBody>
          <a:bodyPr wrap="square">
            <a:spAutoFit/>
          </a:bodyPr>
          <a:lstStyle/>
          <a:p>
            <a:pPr algn="l">
              <a:spcAft>
                <a:spcPts val="600"/>
              </a:spcAft>
            </a:pPr>
            <a:r>
              <a:rPr sz="2400" b="1" i="0">
                <a:solidFill>
                  <a:srgbClr val="FFFFFF"/>
                </a:solidFill>
                <a:latin typeface="Calibri"/>
              </a:rPr>
              <a:t>Confidence (NEW)</a:t>
            </a:r>
            <a:r>
              <a:rPr sz="2000" b="0" i="0">
                <a:solidFill>
                  <a:srgbClr val="AAAAAA"/>
                </a:solidFill>
                <a:latin typeface="Calibri"/>
              </a:rPr>
              <a:t>  —  Per-word p₁ + α → green/yellow/red</a:t>
            </a:r>
          </a:p>
        </p:txBody>
      </p:sp>
      <p:sp>
        <p:nvSpPr>
          <p:cNvPr id="38" name="TextBox 37"/>
          <p:cNvSpPr txBox="1"/>
          <p:nvPr/>
        </p:nvSpPr>
        <p:spPr>
          <a:xfrm>
            <a:off x="548640" y="6080760"/>
            <a:ext cx="11091672" cy="320040"/>
          </a:xfrm>
          <a:prstGeom prst="rect">
            <a:avLst/>
          </a:prstGeom>
          <a:noFill/>
        </p:spPr>
        <p:txBody>
          <a:bodyPr wrap="square" anchor="t"/>
          <a:lstStyle/>
          <a:p>
            <a:pPr algn="ctr"/>
            <a:r>
              <a:rPr sz="1800" b="0" i="1">
                <a:solidFill>
                  <a:srgbClr val="AAAAAA"/>
                </a:solidFill>
                <a:latin typeface="Calibri"/>
              </a:rPr>
              <a:t>Stages 6–7 (Aggregate + Confidence) shipped May 2026 — visual encoder frozen, only projection+adapters trained.</a:t>
            </a:r>
          </a:p>
        </p:txBody>
      </p:sp>
      <p:pic>
        <p:nvPicPr>
          <p:cNvPr id="39" name="Picture 3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40" name="TextBox 3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12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24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36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48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12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24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36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48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12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24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36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48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grpId="0" nodeType="withEffect">
                                  <p:stCondLst>
                                    <p:cond delay="12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24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36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grpId="0" nodeType="withEffect">
                                  <p:stCondLst>
                                    <p:cond delay="480"/>
                                  </p:stCondLst>
                                  <p:childTnLst>
                                    <p:set>
                                      <p:cBhvr>
                                        <p:cTn id="62" dur="1" fill="hold">
                                          <p:stCondLst>
                                            <p:cond delay="0"/>
                                          </p:stCondLst>
                                        </p:cTn>
                                        <p:tgtEl>
                                          <p:spTgt spid="3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par>
                                <p:cTn id="67" presetID="1" presetClass="entr" presetSubtype="0" fill="hold" grpId="0" nodeType="withEffect">
                                  <p:stCondLst>
                                    <p:cond delay="12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24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grpId="0" nodeType="withEffect">
                                  <p:stCondLst>
                                    <p:cond delay="360"/>
                                  </p:stCondLst>
                                  <p:childTnLst>
                                    <p:set>
                                      <p:cBhvr>
                                        <p:cTn id="7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How It Works: Three Components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odel_architecture.png"/>
          <p:cNvPicPr>
            <a:picLocks noChangeAspect="1"/>
          </p:cNvPicPr>
          <p:nvPr/>
        </p:nvPicPr>
        <p:blipFill>
          <a:blip r:embed="rId2"/>
          <a:stretch>
            <a:fillRect/>
          </a:stretch>
        </p:blipFill>
        <p:spPr>
          <a:xfrm>
            <a:off x="548640" y="1325880"/>
            <a:ext cx="11091672" cy="3108960"/>
          </a:xfrm>
          <a:prstGeom prst="rect">
            <a:avLst/>
          </a:prstGeom>
        </p:spPr>
      </p:pic>
      <p:sp>
        <p:nvSpPr>
          <p:cNvPr id="5" name="Rounded Rectangle 4"/>
          <p:cNvSpPr/>
          <p:nvPr/>
        </p:nvSpPr>
        <p:spPr>
          <a:xfrm>
            <a:off x="929640" y="4526280"/>
            <a:ext cx="3200400" cy="12801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1080" y="4617720"/>
            <a:ext cx="3017520" cy="1097280"/>
          </a:xfrm>
          <a:prstGeom prst="rect">
            <a:avLst/>
          </a:prstGeom>
          <a:noFill/>
        </p:spPr>
        <p:txBody>
          <a:bodyPr wrap="square" anchor="t"/>
          <a:lstStyle/>
          <a:p>
            <a:pPr algn="ctr"/>
            <a:r>
              <a:rPr sz="2400" b="0" i="0">
                <a:solidFill>
                  <a:srgbClr val="FFFFFF"/>
                </a:solidFill>
                <a:latin typeface="Calibri"/>
              </a:rPr>
              <a:t>AV-HuBERT</a:t>
            </a:r>
            <a:br/>
            <a:r>
              <a:rPr sz="2400" b="0" i="0">
                <a:solidFill>
                  <a:srgbClr val="FFFFFF"/>
                </a:solidFill>
                <a:latin typeface="Calibri"/>
              </a:rPr>
              <a:t>Visual Encoder, frozen, 1024-dim</a:t>
            </a:r>
          </a:p>
        </p:txBody>
      </p:sp>
      <p:sp>
        <p:nvSpPr>
          <p:cNvPr id="7" name="Rounded Rectangle 6"/>
          <p:cNvSpPr/>
          <p:nvPr/>
        </p:nvSpPr>
        <p:spPr>
          <a:xfrm>
            <a:off x="4495800" y="4526280"/>
            <a:ext cx="3200400" cy="128016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7240" y="4617720"/>
            <a:ext cx="3017520" cy="1097280"/>
          </a:xfrm>
          <a:prstGeom prst="rect">
            <a:avLst/>
          </a:prstGeom>
          <a:noFill/>
        </p:spPr>
        <p:txBody>
          <a:bodyPr wrap="square" anchor="t"/>
          <a:lstStyle/>
          <a:p>
            <a:pPr algn="ctr"/>
            <a:r>
              <a:rPr sz="2400" b="0" i="0">
                <a:solidFill>
                  <a:srgbClr val="FFFFFF"/>
                </a:solidFill>
                <a:latin typeface="Calibri"/>
              </a:rPr>
              <a:t>Linear Projection</a:t>
            </a:r>
            <a:br/>
            <a:r>
              <a:rPr sz="2400" b="0" i="0">
                <a:solidFill>
                  <a:srgbClr val="FFFFFF"/>
                </a:solidFill>
                <a:latin typeface="Calibri"/>
              </a:rPr>
              <a:t>1024 → 4096</a:t>
            </a:r>
          </a:p>
        </p:txBody>
      </p:sp>
      <p:sp>
        <p:nvSpPr>
          <p:cNvPr id="9" name="Rounded Rectangle 8"/>
          <p:cNvSpPr/>
          <p:nvPr/>
        </p:nvSpPr>
        <p:spPr>
          <a:xfrm>
            <a:off x="8061960" y="4526280"/>
            <a:ext cx="3200400" cy="128016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400" y="4617720"/>
            <a:ext cx="3017520" cy="1097280"/>
          </a:xfrm>
          <a:prstGeom prst="rect">
            <a:avLst/>
          </a:prstGeom>
          <a:noFill/>
        </p:spPr>
        <p:txBody>
          <a:bodyPr wrap="square" anchor="t"/>
          <a:lstStyle/>
          <a:p>
            <a:pPr algn="ctr"/>
            <a:r>
              <a:rPr sz="2400" b="0" i="0">
                <a:solidFill>
                  <a:srgbClr val="FFFFFF"/>
                </a:solidFill>
                <a:latin typeface="Calibri"/>
              </a:rPr>
              <a:t>LLaMA-2-7B</a:t>
            </a:r>
            <a:br/>
            <a:r>
              <a:rPr sz="2400" b="0" i="0">
                <a:solidFill>
                  <a:srgbClr val="FFFFFF"/>
                </a:solidFill>
                <a:latin typeface="Calibri"/>
              </a:rPr>
              <a:t>4-bit QLoRA, r=16</a:t>
            </a:r>
          </a:p>
        </p:txBody>
      </p:sp>
      <p:sp>
        <p:nvSpPr>
          <p:cNvPr id="11" name="TextBox 10"/>
          <p:cNvSpPr txBox="1"/>
          <p:nvPr/>
        </p:nvSpPr>
        <p:spPr>
          <a:xfrm>
            <a:off x="4175760" y="4709160"/>
            <a:ext cx="274320" cy="548640"/>
          </a:xfrm>
          <a:prstGeom prst="rect">
            <a:avLst/>
          </a:prstGeom>
          <a:noFill/>
        </p:spPr>
        <p:txBody>
          <a:bodyPr wrap="square" anchor="t"/>
          <a:lstStyle/>
          <a:p>
            <a:pPr algn="ctr"/>
            <a:r>
              <a:rPr sz="3200" b="0" i="0">
                <a:solidFill>
                  <a:srgbClr val="00B4D8"/>
                </a:solidFill>
                <a:latin typeface="Calibri"/>
              </a:rPr>
              <a:t>→</a:t>
            </a:r>
          </a:p>
        </p:txBody>
      </p:sp>
      <p:sp>
        <p:nvSpPr>
          <p:cNvPr id="12" name="TextBox 11"/>
          <p:cNvSpPr txBox="1"/>
          <p:nvPr/>
        </p:nvSpPr>
        <p:spPr>
          <a:xfrm>
            <a:off x="7741920" y="4709160"/>
            <a:ext cx="274320" cy="548640"/>
          </a:xfrm>
          <a:prstGeom prst="rect">
            <a:avLst/>
          </a:prstGeom>
          <a:noFill/>
        </p:spPr>
        <p:txBody>
          <a:bodyPr wrap="square" anchor="t"/>
          <a:lstStyle/>
          <a:p>
            <a:pPr algn="ctr"/>
            <a:r>
              <a:rPr sz="3200" b="0" i="0">
                <a:solidFill>
                  <a:srgbClr val="00B4D8"/>
                </a:solidFill>
                <a:latin typeface="Calibri"/>
              </a:rPr>
              <a:t>→</a:t>
            </a:r>
          </a:p>
        </p:txBody>
      </p:sp>
      <p:sp>
        <p:nvSpPr>
          <p:cNvPr id="13" name="TextBox 12"/>
          <p:cNvSpPr txBox="1"/>
          <p:nvPr/>
        </p:nvSpPr>
        <p:spPr>
          <a:xfrm>
            <a:off x="548640" y="5760720"/>
            <a:ext cx="11091672" cy="502920"/>
          </a:xfrm>
          <a:prstGeom prst="rect">
            <a:avLst/>
          </a:prstGeom>
          <a:noFill/>
        </p:spPr>
        <p:txBody>
          <a:bodyPr wrap="square" anchor="t"/>
          <a:lstStyle/>
          <a:p>
            <a:pPr algn="l"/>
            <a:r>
              <a:rPr sz="2000" b="0" i="1">
                <a:solidFill>
                  <a:srgbClr val="AAAAAA"/>
                </a:solidFill>
                <a:latin typeface="Calibri"/>
              </a:rPr>
              <a:t>Only 12.6M trainable params (0%). LLM is upgradeable — Llama 3.1 8B is a drop-in (same 4096 hidden size).</a:t>
            </a:r>
          </a:p>
        </p:txBody>
      </p:sp>
      <p:pic>
        <p:nvPicPr>
          <p:cNvPr id="14" name="Picture 13"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72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84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7" grpId="0" animBg="1"/>
      <p:bldP spid="8" grpId="0" animBg="1"/>
      <p:bldP spid="12" grpId="0" animBg="1"/>
      <p:bldP spid="9" grpId="0" animBg="1"/>
      <p:bldP spid="1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 Benchmark: Paper vs Reality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1005840"/>
          </a:xfrm>
          <a:prstGeom prst="rect">
            <a:avLst/>
          </a:prstGeom>
          <a:noFill/>
        </p:spPr>
        <p:txBody>
          <a:bodyPr wrap="square" anchor="t"/>
          <a:lstStyle/>
          <a:p>
            <a:pPr algn="l"/>
            <a:r>
              <a:rPr sz="7200" b="1" i="0">
                <a:solidFill>
                  <a:srgbClr val="00B4D8"/>
                </a:solidFill>
                <a:latin typeface="Calibri"/>
              </a:rPr>
              <a:t>25%</a:t>
            </a:r>
          </a:p>
        </p:txBody>
      </p:sp>
      <p:sp>
        <p:nvSpPr>
          <p:cNvPr id="5" name="TextBox 4"/>
          <p:cNvSpPr txBox="1"/>
          <p:nvPr/>
        </p:nvSpPr>
        <p:spPr>
          <a:xfrm>
            <a:off x="548640" y="2331720"/>
            <a:ext cx="5120640" cy="457200"/>
          </a:xfrm>
          <a:prstGeom prst="rect">
            <a:avLst/>
          </a:prstGeom>
          <a:noFill/>
        </p:spPr>
        <p:txBody>
          <a:bodyPr wrap="square" anchor="t"/>
          <a:lstStyle/>
          <a:p>
            <a:pPr algn="l"/>
            <a:r>
              <a:rPr sz="1500" b="0" i="0">
                <a:solidFill>
                  <a:srgbClr val="AAAAAA"/>
                </a:solidFill>
                <a:latin typeface="Calibri"/>
              </a:rPr>
              <a:t>WER on LRS3 (TED Talks)</a:t>
            </a:r>
          </a:p>
        </p:txBody>
      </p:sp>
      <p:sp>
        <p:nvSpPr>
          <p:cNvPr id="6" name="TextBox 5"/>
          <p:cNvSpPr txBox="1"/>
          <p:nvPr/>
        </p:nvSpPr>
        <p:spPr>
          <a:xfrm>
            <a:off x="548640" y="2834640"/>
            <a:ext cx="5120640" cy="329184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FFFFFF"/>
                </a:solidFill>
                <a:latin typeface="Calibri"/>
              </a:rPr>
              <a:t>LRS3 benchmark: curated TED talks, ideal conditions</a:t>
            </a:r>
          </a:p>
          <a:p>
            <a:pPr algn="l">
              <a:spcAft>
                <a:spcPts val="600"/>
              </a:spcAft>
            </a:pPr>
            <a:r>
              <a:rPr sz="2000" b="1">
                <a:solidFill>
                  <a:srgbClr val="00B4D8"/>
                </a:solidFill>
                <a:latin typeface="Calibri"/>
              </a:rPr>
              <a:t>• </a:t>
            </a:r>
            <a:r>
              <a:rPr sz="2000" b="1">
                <a:solidFill>
                  <a:srgbClr val="E06C75"/>
                </a:solidFill>
                <a:latin typeface="Calibri"/>
              </a:rPr>
              <a:t>Our dataset: 1,497 real YouTube segments — nothing is controlled</a:t>
            </a:r>
          </a:p>
          <a:p>
            <a:pPr algn="l">
              <a:spcAft>
                <a:spcPts val="600"/>
              </a:spcAft>
            </a:pPr>
            <a:r>
              <a:rPr sz="2000" b="1">
                <a:solidFill>
                  <a:srgbClr val="00B4D8"/>
                </a:solidFill>
                <a:latin typeface="Calibri"/>
              </a:rPr>
              <a:t>• </a:t>
            </a:r>
            <a:r>
              <a:rPr sz="2000" b="1">
                <a:solidFill>
                  <a:srgbClr val="E06C75"/>
                </a:solidFill>
                <a:latin typeface="Calibri"/>
              </a:rPr>
              <a:t>Result: 64% WER on our dataset — 2.5× worse than the benchmark</a:t>
            </a:r>
          </a:p>
          <a:p>
            <a:pPr algn="l">
              <a:spcAft>
                <a:spcPts val="600"/>
              </a:spcAft>
            </a:pPr>
            <a:r>
              <a:rPr sz="2000" b="1">
                <a:solidFill>
                  <a:srgbClr val="00B4D8"/>
                </a:solidFill>
                <a:latin typeface="Calibri"/>
              </a:rPr>
              <a:t>• </a:t>
            </a:r>
            <a:r>
              <a:rPr sz="2000" b="0">
                <a:solidFill>
                  <a:srgbClr val="FFFFFF"/>
                </a:solidFill>
                <a:latin typeface="Calibri"/>
              </a:rPr>
              <a:t>WER is the wrong metric – our new IS is the right one (or LLM as a judge)</a:t>
            </a:r>
          </a:p>
        </p:txBody>
      </p:sp>
      <p:pic>
        <p:nvPicPr>
          <p:cNvPr id="7" name="Picture 6" descr="P2_paper_vs_reality.png"/>
          <p:cNvPicPr>
            <a:picLocks noChangeAspect="1"/>
          </p:cNvPicPr>
          <p:nvPr/>
        </p:nvPicPr>
        <p:blipFill>
          <a:blip r:embed="rId2"/>
          <a:stretch>
            <a:fillRect/>
          </a:stretch>
        </p:blipFill>
        <p:spPr>
          <a:xfrm>
            <a:off x="5943600" y="1325880"/>
            <a:ext cx="5422392" cy="4140673"/>
          </a:xfrm>
          <a:prstGeom prst="rect">
            <a:avLst/>
          </a:prstGeom>
        </p:spPr>
      </p:pic>
      <p:pic>
        <p:nvPicPr>
          <p:cNvPr id="8" name="Picture 7" descr="WhiteLogo.jpeg"/>
          <p:cNvPicPr>
            <a:picLocks noChangeAspect="1"/>
          </p:cNvPicPr>
          <p:nvPr/>
        </p:nvPicPr>
        <p:blipFill>
          <a:blip r:embed="rId3"/>
          <a:stretch>
            <a:fillRect/>
          </a:stretch>
        </p:blipFill>
        <p:spPr>
          <a:xfrm>
            <a:off x="11323320" y="6428232"/>
            <a:ext cx="269634"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12</a:t>
            </a:r>
          </a:p>
        </p:txBody>
      </p:sp>
      <p:sp>
        <p:nvSpPr>
          <p:cNvPr id="10" name="TextBox 9"/>
          <p:cNvSpPr txBox="1"/>
          <p:nvPr/>
        </p:nvSpPr>
        <p:spPr>
          <a:xfrm>
            <a:off x="548640" y="5687568"/>
            <a:ext cx="11091672" cy="667512"/>
          </a:xfrm>
          <a:prstGeom prst="rect">
            <a:avLst/>
          </a:prstGeom>
          <a:noFill/>
        </p:spPr>
        <p:txBody>
          <a:bodyPr wrap="square" anchor="t"/>
          <a:lstStyle/>
          <a:p>
            <a:pPr algn="l"/>
            <a:r>
              <a:rPr sz="1800" b="0" i="1">
                <a:solidFill>
                  <a:srgbClr val="666666"/>
                </a:solidFill>
                <a:latin typeface="Calibri"/>
              </a:rPr>
              <a:t>Different dataset, fundamentally harder. (LRS3 reproduction reaches 32% WER — pretrain split differences.)</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 Reality Gap</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1005840"/>
          </a:xfrm>
          <a:prstGeom prst="rect">
            <a:avLst/>
          </a:prstGeom>
          <a:noFill/>
        </p:spPr>
        <p:txBody>
          <a:bodyPr wrap="square" anchor="t"/>
          <a:lstStyle/>
          <a:p>
            <a:pPr algn="l"/>
            <a:r>
              <a:rPr sz="7200" b="1" i="0">
                <a:solidFill>
                  <a:srgbClr val="E06C75"/>
                </a:solidFill>
                <a:latin typeface="Calibri"/>
              </a:rPr>
              <a:t>64%</a:t>
            </a:r>
          </a:p>
        </p:txBody>
      </p:sp>
      <p:sp>
        <p:nvSpPr>
          <p:cNvPr id="5" name="TextBox 4"/>
          <p:cNvSpPr txBox="1"/>
          <p:nvPr/>
        </p:nvSpPr>
        <p:spPr>
          <a:xfrm>
            <a:off x="548640" y="2331720"/>
            <a:ext cx="5120640" cy="457200"/>
          </a:xfrm>
          <a:prstGeom prst="rect">
            <a:avLst/>
          </a:prstGeom>
          <a:noFill/>
        </p:spPr>
        <p:txBody>
          <a:bodyPr wrap="square" anchor="t"/>
          <a:lstStyle/>
          <a:p>
            <a:pPr algn="l"/>
            <a:r>
              <a:rPr sz="1500" b="0" i="0">
                <a:solidFill>
                  <a:srgbClr val="AAAAAA"/>
                </a:solidFill>
                <a:latin typeface="Calibri"/>
              </a:rPr>
              <a:t>Mean WER across 1,497 real-world segments (MBR; top-1: 64%)</a:t>
            </a:r>
          </a:p>
        </p:txBody>
      </p:sp>
      <p:sp>
        <p:nvSpPr>
          <p:cNvPr id="6" name="TextBox 5"/>
          <p:cNvSpPr txBox="1"/>
          <p:nvPr/>
        </p:nvSpPr>
        <p:spPr>
          <a:xfrm>
            <a:off x="548640" y="2834640"/>
            <a:ext cx="5120640" cy="2743200"/>
          </a:xfrm>
          <a:prstGeom prst="rect">
            <a:avLst/>
          </a:prstGeom>
          <a:noFill/>
        </p:spPr>
        <p:txBody>
          <a:bodyPr wrap="square">
            <a:spAutoFit/>
          </a:bodyPr>
          <a:lstStyle/>
          <a:p>
            <a:pPr algn="l">
              <a:spcAft>
                <a:spcPts val="600"/>
              </a:spcAft>
            </a:pPr>
            <a:r>
              <a:rPr sz="2400" b="1">
                <a:solidFill>
                  <a:srgbClr val="4CAF50"/>
                </a:solidFill>
                <a:latin typeface="Calibri"/>
              </a:rPr>
              <a:t>● </a:t>
            </a:r>
            <a:r>
              <a:rPr sz="2400" b="0">
                <a:solidFill>
                  <a:srgbClr val="FFFFFF"/>
                </a:solidFill>
                <a:latin typeface="Calibri"/>
              </a:rPr>
              <a:t>26% Useful by WER (&lt;30%, uncalibrated bucket)</a:t>
            </a:r>
          </a:p>
          <a:p>
            <a:pPr algn="l">
              <a:spcAft>
                <a:spcPts val="600"/>
              </a:spcAft>
            </a:pPr>
            <a:r>
              <a:rPr sz="2400" b="1">
                <a:solidFill>
                  <a:srgbClr val="FFC107"/>
                </a:solidFill>
                <a:latin typeface="Calibri"/>
              </a:rPr>
              <a:t>● </a:t>
            </a:r>
            <a:r>
              <a:rPr sz="2400" b="0">
                <a:solidFill>
                  <a:srgbClr val="FFFFFF"/>
                </a:solidFill>
                <a:latin typeface="Calibri"/>
              </a:rPr>
              <a:t>17% Marginal (30-50%)</a:t>
            </a:r>
          </a:p>
          <a:p>
            <a:pPr algn="l">
              <a:spcAft>
                <a:spcPts val="600"/>
              </a:spcAft>
            </a:pPr>
            <a:r>
              <a:rPr sz="2400" b="1">
                <a:solidFill>
                  <a:srgbClr val="FF9800"/>
                </a:solidFill>
                <a:latin typeface="Calibri"/>
              </a:rPr>
              <a:t>● </a:t>
            </a:r>
            <a:r>
              <a:rPr sz="2400" b="0">
                <a:solidFill>
                  <a:srgbClr val="FFFFFF"/>
                </a:solidFill>
                <a:latin typeface="Calibri"/>
              </a:rPr>
              <a:t>18% Poor (50-75%)</a:t>
            </a:r>
          </a:p>
          <a:p>
            <a:pPr algn="l">
              <a:spcAft>
                <a:spcPts val="600"/>
              </a:spcAft>
            </a:pPr>
            <a:r>
              <a:rPr sz="2400" b="1">
                <a:solidFill>
                  <a:srgbClr val="F44336"/>
                </a:solidFill>
                <a:latin typeface="Calibri"/>
              </a:rPr>
              <a:t>● </a:t>
            </a:r>
            <a:r>
              <a:rPr sz="2400" b="0">
                <a:solidFill>
                  <a:srgbClr val="FFFFFF"/>
                </a:solidFill>
                <a:latin typeface="Calibri"/>
              </a:rPr>
              <a:t>33% Unusable (75-100%)</a:t>
            </a:r>
          </a:p>
          <a:p>
            <a:pPr algn="l">
              <a:spcAft>
                <a:spcPts val="600"/>
              </a:spcAft>
            </a:pPr>
            <a:r>
              <a:rPr sz="2400" b="1">
                <a:solidFill>
                  <a:srgbClr val="B71C1C"/>
                </a:solidFill>
                <a:latin typeface="Calibri"/>
              </a:rPr>
              <a:t>● </a:t>
            </a:r>
            <a:r>
              <a:rPr sz="2400" b="0">
                <a:solidFill>
                  <a:srgbClr val="FFFFFF"/>
                </a:solidFill>
                <a:latin typeface="Calibri"/>
              </a:rPr>
              <a:t>21% Hallucinated (&gt;100%)</a:t>
            </a:r>
          </a:p>
        </p:txBody>
      </p:sp>
      <p:sp>
        <p:nvSpPr>
          <p:cNvPr id="7" name="TextBox 6"/>
          <p:cNvSpPr txBox="1"/>
          <p:nvPr/>
        </p:nvSpPr>
        <p:spPr>
          <a:xfrm>
            <a:off x="548640" y="5897880"/>
            <a:ext cx="11091672" cy="457200"/>
          </a:xfrm>
          <a:prstGeom prst="rect">
            <a:avLst/>
          </a:prstGeom>
          <a:noFill/>
        </p:spPr>
        <p:txBody>
          <a:bodyPr wrap="square" anchor="t"/>
          <a:lstStyle/>
          <a:p>
            <a:pPr algn="l"/>
            <a:r>
              <a:rPr sz="1800" b="0" i="1">
                <a:solidFill>
                  <a:srgbClr val="AAAAAA"/>
                </a:solidFill>
                <a:latin typeface="Calibri"/>
              </a:rPr>
              <a:t>But WER overstates failure — see below.</a:t>
            </a:r>
          </a:p>
        </p:txBody>
      </p:sp>
      <p:pic>
        <p:nvPicPr>
          <p:cNvPr id="8" name="Picture 7" descr="P1_quality_tiers.png"/>
          <p:cNvPicPr>
            <a:picLocks noChangeAspect="1"/>
          </p:cNvPicPr>
          <p:nvPr/>
        </p:nvPicPr>
        <p:blipFill>
          <a:blip r:embed="rId2"/>
          <a:stretch>
            <a:fillRect/>
          </a:stretch>
        </p:blipFill>
        <p:spPr>
          <a:xfrm>
            <a:off x="5943600" y="1325880"/>
            <a:ext cx="5422392" cy="2324170"/>
          </a:xfrm>
          <a:prstGeom prst="rect">
            <a:avLst/>
          </a:prstGeom>
        </p:spPr>
      </p:pic>
      <p:pic>
        <p:nvPicPr>
          <p:cNvPr id="9" name="Picture 8"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Same WER, Different Effects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17320"/>
            <a:ext cx="5029200" cy="402336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00200"/>
            <a:ext cx="4480560" cy="914400"/>
          </a:xfrm>
          <a:prstGeom prst="rect">
            <a:avLst/>
          </a:prstGeom>
          <a:noFill/>
        </p:spPr>
        <p:txBody>
          <a:bodyPr wrap="square" anchor="t"/>
          <a:lstStyle/>
          <a:p>
            <a:pPr algn="l"/>
            <a:r>
              <a:rPr sz="2400" b="1" i="0">
                <a:solidFill>
                  <a:srgbClr val="4CAF50"/>
                </a:solidFill>
                <a:latin typeface="Calibri"/>
              </a:rPr>
              <a:t>WER: 1 substitution  •  Harmless</a:t>
            </a:r>
          </a:p>
        </p:txBody>
      </p:sp>
      <p:sp>
        <p:nvSpPr>
          <p:cNvPr id="6" name="TextBox 5"/>
          <p:cNvSpPr txBox="1"/>
          <p:nvPr/>
        </p:nvSpPr>
        <p:spPr>
          <a:xfrm>
            <a:off x="822960" y="2194560"/>
            <a:ext cx="4480560" cy="1371600"/>
          </a:xfrm>
          <a:prstGeom prst="rect">
            <a:avLst/>
          </a:prstGeom>
          <a:noFill/>
        </p:spPr>
        <p:txBody>
          <a:bodyPr wrap="square">
            <a:spAutoFit/>
          </a:bodyPr>
          <a:lstStyle/>
          <a:p>
            <a:pPr algn="l">
              <a:spcAft>
                <a:spcPts val="1000"/>
              </a:spcAft>
            </a:pPr>
            <a:r>
              <a:rPr sz="2400" b="0" i="0">
                <a:solidFill>
                  <a:srgbClr val="AAAAAA"/>
                </a:solidFill>
                <a:latin typeface="Calibri"/>
              </a:rPr>
              <a:t>Ref: "</a:t>
            </a:r>
            <a:r>
              <a:rPr sz="2400" b="1" i="0">
                <a:solidFill>
                  <a:srgbClr val="4CAF50"/>
                </a:solidFill>
                <a:latin typeface="Calibri"/>
              </a:rPr>
              <a:t>the</a:t>
            </a:r>
            <a:r>
              <a:rPr sz="2400" b="0" i="0">
                <a:solidFill>
                  <a:srgbClr val="FFFFFF"/>
                </a:solidFill>
                <a:latin typeface="Calibri"/>
              </a:rPr>
              <a:t> admiral gave the order"</a:t>
            </a:r>
          </a:p>
          <a:p>
            <a:pPr algn="l">
              <a:spcAft>
                <a:spcPts val="1000"/>
              </a:spcAft>
            </a:pPr>
            <a:r>
              <a:rPr sz="2400" b="0" i="0">
                <a:solidFill>
                  <a:srgbClr val="AAAAAA"/>
                </a:solidFill>
                <a:latin typeface="Calibri"/>
              </a:rPr>
              <a:t>Hyp: "</a:t>
            </a:r>
            <a:r>
              <a:rPr sz="2400" b="1" i="0">
                <a:solidFill>
                  <a:srgbClr val="4CAF50"/>
                </a:solidFill>
                <a:latin typeface="Calibri"/>
              </a:rPr>
              <a:t>a</a:t>
            </a:r>
            <a:r>
              <a:rPr sz="2400" b="0" i="0">
                <a:solidFill>
                  <a:srgbClr val="FFFFFF"/>
                </a:solidFill>
                <a:latin typeface="Calibri"/>
              </a:rPr>
              <a:t> admiral gave the order"</a:t>
            </a:r>
          </a:p>
        </p:txBody>
      </p:sp>
      <p:sp>
        <p:nvSpPr>
          <p:cNvPr id="7" name="TextBox 6"/>
          <p:cNvSpPr txBox="1"/>
          <p:nvPr/>
        </p:nvSpPr>
        <p:spPr>
          <a:xfrm>
            <a:off x="822960" y="4023360"/>
            <a:ext cx="4480560" cy="1280160"/>
          </a:xfrm>
          <a:prstGeom prst="rect">
            <a:avLst/>
          </a:prstGeom>
          <a:noFill/>
        </p:spPr>
        <p:txBody>
          <a:bodyPr wrap="square" anchor="t"/>
          <a:lstStyle/>
          <a:p>
            <a:pPr algn="l"/>
            <a:r>
              <a:rPr sz="2400" b="0" i="0">
                <a:solidFill>
                  <a:srgbClr val="AAAAAA"/>
                </a:solidFill>
                <a:latin typeface="Calibri"/>
              </a:rPr>
              <a:t>"the" → "a" — function-word swap.</a:t>
            </a:r>
            <a:br/>
            <a:r>
              <a:rPr sz="2400" b="0" i="0">
                <a:solidFill>
                  <a:srgbClr val="AAAAAA"/>
                </a:solidFill>
                <a:latin typeface="Calibri"/>
              </a:rPr>
              <a:t>Meaning fully preserved.</a:t>
            </a:r>
          </a:p>
        </p:txBody>
      </p:sp>
      <p:sp>
        <p:nvSpPr>
          <p:cNvPr id="8" name="Rounded Rectangle 7"/>
          <p:cNvSpPr/>
          <p:nvPr/>
        </p:nvSpPr>
        <p:spPr>
          <a:xfrm>
            <a:off x="6611111" y="1417320"/>
            <a:ext cx="5029200" cy="4023360"/>
          </a:xfrm>
          <a:prstGeom prst="roundRect">
            <a:avLst/>
          </a:prstGeom>
          <a:solidFill>
            <a:srgbClr val="152A40"/>
          </a:solidFill>
          <a:ln w="3175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85431" y="1600200"/>
            <a:ext cx="4480560" cy="914400"/>
          </a:xfrm>
          <a:prstGeom prst="rect">
            <a:avLst/>
          </a:prstGeom>
          <a:noFill/>
        </p:spPr>
        <p:txBody>
          <a:bodyPr wrap="square" anchor="t"/>
          <a:lstStyle/>
          <a:p>
            <a:pPr algn="l"/>
            <a:r>
              <a:rPr sz="2400" b="1" i="0">
                <a:solidFill>
                  <a:srgbClr val="F44336"/>
                </a:solidFill>
                <a:latin typeface="Calibri"/>
              </a:rPr>
              <a:t>WER: 1 substitution  •  Destructive</a:t>
            </a:r>
          </a:p>
        </p:txBody>
      </p:sp>
      <p:sp>
        <p:nvSpPr>
          <p:cNvPr id="10" name="TextBox 9"/>
          <p:cNvSpPr txBox="1"/>
          <p:nvPr/>
        </p:nvSpPr>
        <p:spPr>
          <a:xfrm>
            <a:off x="6885431" y="2194560"/>
            <a:ext cx="4480560" cy="1371600"/>
          </a:xfrm>
          <a:prstGeom prst="rect">
            <a:avLst/>
          </a:prstGeom>
          <a:noFill/>
        </p:spPr>
        <p:txBody>
          <a:bodyPr wrap="square">
            <a:spAutoFit/>
          </a:bodyPr>
          <a:lstStyle/>
          <a:p>
            <a:pPr algn="l">
              <a:spcAft>
                <a:spcPts val="1000"/>
              </a:spcAft>
            </a:pPr>
            <a:r>
              <a:rPr sz="2400" b="0" i="0">
                <a:solidFill>
                  <a:srgbClr val="AAAAAA"/>
                </a:solidFill>
                <a:latin typeface="Calibri"/>
              </a:rPr>
              <a:t>Ref: "</a:t>
            </a:r>
            <a:r>
              <a:rPr sz="2400" b="1" i="0">
                <a:solidFill>
                  <a:srgbClr val="F44336"/>
                </a:solidFill>
                <a:latin typeface="Calibri"/>
              </a:rPr>
              <a:t>Admiral McRae</a:t>
            </a:r>
            <a:r>
              <a:rPr sz="2400" b="0" i="0">
                <a:solidFill>
                  <a:srgbClr val="FFFFFF"/>
                </a:solidFill>
                <a:latin typeface="Calibri"/>
              </a:rPr>
              <a:t> gave the order"</a:t>
            </a:r>
          </a:p>
          <a:p>
            <a:pPr algn="l">
              <a:spcAft>
                <a:spcPts val="1000"/>
              </a:spcAft>
            </a:pPr>
            <a:r>
              <a:rPr sz="2400" b="0" i="0">
                <a:solidFill>
                  <a:srgbClr val="AAAAAA"/>
                </a:solidFill>
                <a:latin typeface="Calibri"/>
              </a:rPr>
              <a:t>Hyp: "</a:t>
            </a:r>
            <a:r>
              <a:rPr sz="2400" b="1" i="0">
                <a:solidFill>
                  <a:srgbClr val="F44336"/>
                </a:solidFill>
                <a:latin typeface="Calibri"/>
              </a:rPr>
              <a:t>animal migration</a:t>
            </a:r>
            <a:r>
              <a:rPr sz="2400" b="0" i="0">
                <a:solidFill>
                  <a:srgbClr val="FFFFFF"/>
                </a:solidFill>
                <a:latin typeface="Calibri"/>
              </a:rPr>
              <a:t> gave the order"</a:t>
            </a:r>
          </a:p>
        </p:txBody>
      </p:sp>
      <p:sp>
        <p:nvSpPr>
          <p:cNvPr id="11" name="TextBox 10"/>
          <p:cNvSpPr txBox="1"/>
          <p:nvPr/>
        </p:nvSpPr>
        <p:spPr>
          <a:xfrm>
            <a:off x="6885431" y="4023360"/>
            <a:ext cx="4480560" cy="1280160"/>
          </a:xfrm>
          <a:prstGeom prst="rect">
            <a:avLst/>
          </a:prstGeom>
          <a:noFill/>
        </p:spPr>
        <p:txBody>
          <a:bodyPr wrap="square" anchor="t"/>
          <a:lstStyle/>
          <a:p>
            <a:pPr algn="l"/>
            <a:r>
              <a:rPr sz="2400" b="0" i="0">
                <a:solidFill>
                  <a:srgbClr val="AAAAAA"/>
                </a:solidFill>
                <a:latin typeface="Calibri"/>
              </a:rPr>
              <a:t>"Admiral McRae" → "animal migration"</a:t>
            </a:r>
            <a:br/>
            <a:r>
              <a:rPr sz="2400" b="0" i="0">
                <a:solidFill>
                  <a:srgbClr val="AAAAAA"/>
                </a:solidFill>
                <a:latin typeface="Calibri"/>
              </a:rPr>
              <a:t>Named entity destroyed — wrong person.</a:t>
            </a:r>
          </a:p>
        </p:txBody>
      </p:sp>
      <p:sp>
        <p:nvSpPr>
          <p:cNvPr id="12" name="Rounded Rectangle 11"/>
          <p:cNvSpPr/>
          <p:nvPr/>
        </p:nvSpPr>
        <p:spPr>
          <a:xfrm>
            <a:off x="1920240" y="5669280"/>
            <a:ext cx="8348472" cy="5943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742432"/>
            <a:ext cx="11091672" cy="457200"/>
          </a:xfrm>
          <a:prstGeom prst="rect">
            <a:avLst/>
          </a:prstGeom>
          <a:noFill/>
        </p:spPr>
        <p:txBody>
          <a:bodyPr wrap="square" anchor="t"/>
          <a:lstStyle/>
          <a:p>
            <a:pPr algn="ctr"/>
            <a:r>
              <a:rPr sz="2000" b="1" i="0">
                <a:solidFill>
                  <a:srgbClr val="00B4D8"/>
                </a:solidFill>
                <a:latin typeface="Calibri"/>
              </a:rPr>
              <a:t>Same WER. Different meaning. → We built our own metric (IS).</a:t>
            </a:r>
          </a:p>
        </p:txBody>
      </p:sp>
      <p:pic>
        <p:nvPicPr>
          <p:cNvPr id="14" name="Picture 1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011680"/>
            <a:ext cx="11091672" cy="1097280"/>
          </a:xfrm>
          <a:prstGeom prst="rect">
            <a:avLst/>
          </a:prstGeom>
          <a:noFill/>
        </p:spPr>
        <p:txBody>
          <a:bodyPr wrap="square" anchor="t"/>
          <a:lstStyle/>
          <a:p>
            <a:pPr algn="ctr"/>
            <a:r>
              <a:rPr sz="4800" b="1" i="0">
                <a:solidFill>
                  <a:srgbClr val="E06C75"/>
                </a:solidFill>
                <a:latin typeface="Calibri"/>
              </a:rPr>
              <a:t>RESEARCH FINDINGS</a:t>
            </a:r>
          </a:p>
        </p:txBody>
      </p:sp>
      <p:sp>
        <p:nvSpPr>
          <p:cNvPr id="3" name="TextBox 2"/>
          <p:cNvSpPr txBox="1"/>
          <p:nvPr/>
        </p:nvSpPr>
        <p:spPr>
          <a:xfrm>
            <a:off x="548640" y="3200400"/>
            <a:ext cx="11091672" cy="1097280"/>
          </a:xfrm>
          <a:prstGeom prst="rect">
            <a:avLst/>
          </a:prstGeom>
          <a:noFill/>
        </p:spPr>
        <p:txBody>
          <a:bodyPr wrap="square" anchor="t"/>
          <a:lstStyle/>
          <a:p>
            <a:pPr algn="ctr"/>
            <a:r>
              <a:rPr sz="3000" b="0" i="0">
                <a:solidFill>
                  <a:srgbClr val="AAAAAA"/>
                </a:solidFill>
                <a:latin typeface="Calibri"/>
              </a:rPr>
              <a:t>Understanding What does “Working” mean, What Works, and Why</a:t>
            </a:r>
          </a:p>
        </p:txBody>
      </p:sp>
      <p:sp>
        <p:nvSpPr>
          <p:cNvPr id="4" name="Rectangle 3"/>
          <p:cNvSpPr/>
          <p:nvPr/>
        </p:nvSpPr>
        <p:spPr>
          <a:xfrm>
            <a:off x="4114800" y="3931920"/>
            <a:ext cx="3959352" cy="36576"/>
          </a:xfrm>
          <a:prstGeom prst="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15</a:t>
            </a:r>
          </a:p>
        </p:txBody>
      </p:sp>
    </p:spTree>
  </p:cSld>
  <p:clrMapOvr>
    <a:masterClrMapping/>
  </p:clrMapOvr>
  <p:transition spd="med"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LLM-as-a-Judge: Gold Standard (1,497 Pairs)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400" b="1" i="0">
                <a:solidFill>
                  <a:srgbClr val="00B4D8"/>
                </a:solidFill>
                <a:latin typeface="Calibri"/>
              </a:rPr>
              <a:t>What Is LLM-as-a-Judge?</a:t>
            </a:r>
          </a:p>
        </p:txBody>
      </p:sp>
      <p:sp>
        <p:nvSpPr>
          <p:cNvPr id="5" name="TextBox 4"/>
          <p:cNvSpPr txBox="1"/>
          <p:nvPr/>
        </p:nvSpPr>
        <p:spPr>
          <a:xfrm>
            <a:off x="548640" y="1783080"/>
            <a:ext cx="5029200" cy="192024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Frontier LLM (Claude Opus) as judge</a:t>
            </a:r>
          </a:p>
          <a:p>
            <a:pPr algn="l">
              <a:spcAft>
                <a:spcPts val="600"/>
              </a:spcAft>
            </a:pPr>
            <a:r>
              <a:rPr sz="2400" b="1">
                <a:solidFill>
                  <a:srgbClr val="00B4D8"/>
                </a:solidFill>
                <a:latin typeface="Calibri"/>
              </a:rPr>
              <a:t>• </a:t>
            </a:r>
            <a:r>
              <a:rPr sz="2400" b="0">
                <a:solidFill>
                  <a:srgbClr val="FFFFFF"/>
                </a:solidFill>
                <a:latin typeface="Calibri"/>
              </a:rPr>
              <a:t>Holistic Y/P/N verdict on each pair</a:t>
            </a:r>
          </a:p>
          <a:p>
            <a:pPr algn="l">
              <a:spcAft>
                <a:spcPts val="600"/>
              </a:spcAft>
            </a:pPr>
            <a:r>
              <a:rPr sz="2400" b="1">
                <a:solidFill>
                  <a:srgbClr val="00B4D8"/>
                </a:solidFill>
                <a:latin typeface="Calibri"/>
              </a:rPr>
              <a:t>• </a:t>
            </a:r>
            <a:r>
              <a:rPr sz="2400" b="1">
                <a:solidFill>
                  <a:srgbClr val="FFFFFF"/>
                </a:solidFill>
                <a:latin typeface="Calibri"/>
              </a:rPr>
              <a:t>87% intra-rater reliability (30 dups)</a:t>
            </a:r>
          </a:p>
        </p:txBody>
      </p:sp>
      <p:sp>
        <p:nvSpPr>
          <p:cNvPr id="6" name="TextBox 5"/>
          <p:cNvSpPr txBox="1"/>
          <p:nvPr/>
        </p:nvSpPr>
        <p:spPr>
          <a:xfrm>
            <a:off x="548640" y="3794760"/>
            <a:ext cx="5029200" cy="274320"/>
          </a:xfrm>
          <a:prstGeom prst="rect">
            <a:avLst/>
          </a:prstGeom>
          <a:noFill/>
        </p:spPr>
        <p:txBody>
          <a:bodyPr wrap="square" anchor="t"/>
          <a:lstStyle/>
          <a:p>
            <a:pPr algn="l"/>
            <a:r>
              <a:rPr sz="2400" b="1" i="0">
                <a:solidFill>
                  <a:srgbClr val="00B4D8"/>
                </a:solidFill>
                <a:latin typeface="Calibri"/>
              </a:rPr>
              <a:t>Results (Blind, 1,497 Pairs)</a:t>
            </a:r>
          </a:p>
        </p:txBody>
      </p:sp>
      <p:graphicFrame>
        <p:nvGraphicFramePr>
          <p:cNvPr id="7" name="Table 6"/>
          <p:cNvGraphicFramePr>
            <a:graphicFrameLocks noGrp="1"/>
          </p:cNvGraphicFramePr>
          <p:nvPr/>
        </p:nvGraphicFramePr>
        <p:xfrm>
          <a:off x="548640" y="4160520"/>
          <a:ext cx="5029200" cy="1645920"/>
        </p:xfrm>
        <a:graphic>
          <a:graphicData uri="http://schemas.openxmlformats.org/drawingml/2006/table">
            <a:tbl>
              <a:tblPr firstRow="0" bandRow="0" lastRow="0" bandCol="0">
                <a:tableStyleId>{5C22544A-7EE6-4342-B048-85BDC9FD1C3A}</a:tableStyleId>
              </a:tblPr>
              <a:tblGrid>
                <a:gridCol w="2743200"/>
                <a:gridCol w="1097280"/>
                <a:gridCol w="1188720"/>
              </a:tblGrid>
              <a:tr h="329184">
                <a:tc>
                  <a:txBody>
                    <a:bodyPr/>
                    <a:lstStyle/>
                    <a:p>
                      <a:pPr algn="ctr"/>
                      <a:r>
                        <a:rPr sz="2000" b="1" i="0">
                          <a:solidFill>
                            <a:srgbClr val="FFFFFF"/>
                          </a:solidFill>
                          <a:latin typeface="Calibri"/>
                        </a:rPr>
                        <a:t>Verdict</a:t>
                      </a:r>
                    </a:p>
                  </a:txBody>
                  <a:tcPr>
                    <a:solidFill>
                      <a:srgbClr val="00b4d8"/>
                    </a:solidFill>
                  </a:tcPr>
                </a:tc>
                <a:tc>
                  <a:txBody>
                    <a:bodyPr/>
                    <a:lstStyle/>
                    <a:p>
                      <a:pPr algn="ctr"/>
                      <a:r>
                        <a:rPr sz="2000" b="1" i="0">
                          <a:solidFill>
                            <a:srgbClr val="FFFFFF"/>
                          </a:solidFill>
                          <a:latin typeface="Calibri"/>
                        </a:rPr>
                        <a:t>Count</a:t>
                      </a:r>
                    </a:p>
                  </a:txBody>
                  <a:tcPr>
                    <a:solidFill>
                      <a:srgbClr val="00b4d8"/>
                    </a:solidFill>
                  </a:tcPr>
                </a:tc>
                <a:tc>
                  <a:txBody>
                    <a:bodyPr/>
                    <a:lstStyle/>
                    <a:p>
                      <a:pPr algn="ctr"/>
                      <a:r>
                        <a:rPr sz="2000" b="1" i="0">
                          <a:solidFill>
                            <a:srgbClr val="FFFFFF"/>
                          </a:solidFill>
                          <a:latin typeface="Calibri"/>
                        </a:rPr>
                        <a:t>%</a:t>
                      </a:r>
                    </a:p>
                  </a:txBody>
                  <a:tcPr>
                    <a:solidFill>
                      <a:srgbClr val="00b4d8"/>
                    </a:solidFill>
                  </a:tcPr>
                </a:tc>
              </a:tr>
              <a:tr h="329184">
                <a:tc>
                  <a:txBody>
                    <a:bodyPr/>
                    <a:lstStyle/>
                    <a:p>
                      <a:pPr algn="l"/>
                      <a:r>
                        <a:rPr sz="2000" b="0" i="0">
                          <a:solidFill>
                            <a:srgbClr val="FFFFFF"/>
                          </a:solidFill>
                          <a:latin typeface="Calibri"/>
                        </a:rPr>
                        <a:t>Y (fully preserved)</a:t>
                      </a:r>
                    </a:p>
                  </a:txBody>
                  <a:tcPr>
                    <a:solidFill>
                      <a:srgbClr val="0d1b2a"/>
                    </a:solidFill>
                  </a:tcPr>
                </a:tc>
                <a:tc>
                  <a:txBody>
                    <a:bodyPr/>
                    <a:lstStyle/>
                    <a:p>
                      <a:pPr algn="l"/>
                      <a:r>
                        <a:rPr sz="2000" b="0" i="0">
                          <a:solidFill>
                            <a:srgbClr val="FFFFFF"/>
                          </a:solidFill>
                          <a:latin typeface="Calibri"/>
                        </a:rPr>
                        <a:t>345</a:t>
                      </a:r>
                    </a:p>
                  </a:txBody>
                  <a:tcPr>
                    <a:solidFill>
                      <a:srgbClr val="0d1b2a"/>
                    </a:solidFill>
                  </a:tcPr>
                </a:tc>
                <a:tc>
                  <a:txBody>
                    <a:bodyPr/>
                    <a:lstStyle/>
                    <a:p>
                      <a:pPr algn="l"/>
                      <a:r>
                        <a:rPr sz="2000" b="0" i="0">
                          <a:solidFill>
                            <a:srgbClr val="4CAF50"/>
                          </a:solidFill>
                          <a:latin typeface="Calibri"/>
                        </a:rPr>
                        <a:t>23%</a:t>
                      </a:r>
                    </a:p>
                  </a:txBody>
                  <a:tcPr>
                    <a:solidFill>
                      <a:srgbClr val="0d1b2a"/>
                    </a:solidFill>
                  </a:tcPr>
                </a:tc>
              </a:tr>
              <a:tr h="329184">
                <a:tc>
                  <a:txBody>
                    <a:bodyPr/>
                    <a:lstStyle/>
                    <a:p>
                      <a:pPr algn="l"/>
                      <a:r>
                        <a:rPr sz="2000" b="0" i="0">
                          <a:solidFill>
                            <a:srgbClr val="FFFFFF"/>
                          </a:solidFill>
                          <a:latin typeface="Calibri"/>
                        </a:rPr>
                        <a:t>P (partially)</a:t>
                      </a:r>
                    </a:p>
                  </a:txBody>
                  <a:tcPr>
                    <a:solidFill>
                      <a:srgbClr val="152a40"/>
                    </a:solidFill>
                  </a:tcPr>
                </a:tc>
                <a:tc>
                  <a:txBody>
                    <a:bodyPr/>
                    <a:lstStyle/>
                    <a:p>
                      <a:pPr algn="l"/>
                      <a:r>
                        <a:rPr sz="2000" b="0" i="0">
                          <a:solidFill>
                            <a:srgbClr val="FFFFFF"/>
                          </a:solidFill>
                          <a:latin typeface="Calibri"/>
                        </a:rPr>
                        <a:t>626</a:t>
                      </a:r>
                    </a:p>
                  </a:txBody>
                  <a:tcPr>
                    <a:solidFill>
                      <a:srgbClr val="152a40"/>
                    </a:solidFill>
                  </a:tcPr>
                </a:tc>
                <a:tc>
                  <a:txBody>
                    <a:bodyPr/>
                    <a:lstStyle/>
                    <a:p>
                      <a:pPr algn="l"/>
                      <a:r>
                        <a:rPr sz="2000" b="0" i="0">
                          <a:solidFill>
                            <a:srgbClr val="FFFFFF"/>
                          </a:solidFill>
                          <a:latin typeface="Calibri"/>
                        </a:rPr>
                        <a:t>42%</a:t>
                      </a:r>
                    </a:p>
                  </a:txBody>
                  <a:tcPr>
                    <a:solidFill>
                      <a:srgbClr val="152a40"/>
                    </a:solidFill>
                  </a:tcPr>
                </a:tc>
              </a:tr>
              <a:tr h="329184">
                <a:tc>
                  <a:txBody>
                    <a:bodyPr/>
                    <a:lstStyle/>
                    <a:p>
                      <a:pPr algn="l"/>
                      <a:r>
                        <a:rPr sz="2000" b="0" i="0">
                          <a:solidFill>
                            <a:srgbClr val="FFFFFF"/>
                          </a:solidFill>
                          <a:latin typeface="Calibri"/>
                        </a:rPr>
                        <a:t>N (not preserved)</a:t>
                      </a:r>
                    </a:p>
                  </a:txBody>
                  <a:tcPr>
                    <a:solidFill>
                      <a:srgbClr val="0d1b2a"/>
                    </a:solidFill>
                  </a:tcPr>
                </a:tc>
                <a:tc>
                  <a:txBody>
                    <a:bodyPr/>
                    <a:lstStyle/>
                    <a:p>
                      <a:pPr algn="l"/>
                      <a:r>
                        <a:rPr sz="2000" b="0" i="0">
                          <a:solidFill>
                            <a:srgbClr val="FFFFFF"/>
                          </a:solidFill>
                          <a:latin typeface="Calibri"/>
                        </a:rPr>
                        <a:t>526</a:t>
                      </a:r>
                    </a:p>
                  </a:txBody>
                  <a:tcPr>
                    <a:solidFill>
                      <a:srgbClr val="0d1b2a"/>
                    </a:solidFill>
                  </a:tcPr>
                </a:tc>
                <a:tc>
                  <a:txBody>
                    <a:bodyPr/>
                    <a:lstStyle/>
                    <a:p>
                      <a:pPr algn="l"/>
                      <a:r>
                        <a:rPr sz="2000" b="0" i="0">
                          <a:solidFill>
                            <a:srgbClr val="E06C75"/>
                          </a:solidFill>
                          <a:latin typeface="Calibri"/>
                        </a:rPr>
                        <a:t>35%</a:t>
                      </a:r>
                    </a:p>
                  </a:txBody>
                  <a:tcPr>
                    <a:solidFill>
                      <a:srgbClr val="0d1b2a"/>
                    </a:solidFill>
                  </a:tcPr>
                </a:tc>
              </a:tr>
              <a:tr h="329184">
                <a:tc>
                  <a:txBody>
                    <a:bodyPr/>
                    <a:lstStyle/>
                    <a:p>
                      <a:pPr algn="l"/>
                      <a:r>
                        <a:rPr sz="2000" b="0" i="0">
                          <a:solidFill>
                            <a:srgbClr val="FFFFFF"/>
                          </a:solidFill>
                          <a:latin typeface="Calibri"/>
                        </a:rPr>
                        <a:t>Y+P (any useful)</a:t>
                      </a:r>
                    </a:p>
                  </a:txBody>
                  <a:tcPr>
                    <a:solidFill>
                      <a:srgbClr val="152a40"/>
                    </a:solidFill>
                  </a:tcPr>
                </a:tc>
                <a:tc>
                  <a:txBody>
                    <a:bodyPr/>
                    <a:lstStyle/>
                    <a:p>
                      <a:pPr algn="l"/>
                      <a:r>
                        <a:rPr sz="2000" b="0" i="0">
                          <a:solidFill>
                            <a:srgbClr val="FFFFFF"/>
                          </a:solidFill>
                          <a:latin typeface="Calibri"/>
                        </a:rPr>
                        <a:t>971</a:t>
                      </a:r>
                    </a:p>
                  </a:txBody>
                  <a:tcPr>
                    <a:solidFill>
                      <a:srgbClr val="152a40"/>
                    </a:solidFill>
                  </a:tcPr>
                </a:tc>
                <a:tc>
                  <a:txBody>
                    <a:bodyPr/>
                    <a:lstStyle/>
                    <a:p>
                      <a:pPr algn="l"/>
                      <a:r>
                        <a:rPr sz="2000" b="0" i="0">
                          <a:solidFill>
                            <a:srgbClr val="00B4D8"/>
                          </a:solidFill>
                          <a:latin typeface="Calibri"/>
                        </a:rPr>
                        <a:t>65%</a:t>
                      </a:r>
                    </a:p>
                  </a:txBody>
                  <a:tcPr>
                    <a:solidFill>
                      <a:srgbClr val="152a40"/>
                    </a:solidFill>
                  </a:tcPr>
                </a:tc>
              </a:tr>
            </a:tbl>
          </a:graphicData>
        </a:graphic>
      </p:graphicFrame>
      <p:sp>
        <p:nvSpPr>
          <p:cNvPr id="8" name="TextBox 7"/>
          <p:cNvSpPr txBox="1"/>
          <p:nvPr/>
        </p:nvSpPr>
        <p:spPr>
          <a:xfrm>
            <a:off x="6611111" y="1325880"/>
            <a:ext cx="5029200" cy="365760"/>
          </a:xfrm>
          <a:prstGeom prst="rect">
            <a:avLst/>
          </a:prstGeom>
          <a:noFill/>
        </p:spPr>
        <p:txBody>
          <a:bodyPr wrap="square" anchor="t"/>
          <a:lstStyle/>
          <a:p>
            <a:pPr algn="l"/>
            <a:r>
              <a:rPr sz="2400" b="1" i="0">
                <a:solidFill>
                  <a:srgbClr val="E06C75"/>
                </a:solidFill>
                <a:latin typeface="Calibri"/>
              </a:rPr>
              <a:t>Methodology:</a:t>
            </a:r>
          </a:p>
        </p:txBody>
      </p:sp>
      <p:sp>
        <p:nvSpPr>
          <p:cNvPr id="9" name="TextBox 8"/>
          <p:cNvSpPr txBox="1"/>
          <p:nvPr/>
        </p:nvSpPr>
        <p:spPr>
          <a:xfrm>
            <a:off x="6611111" y="1783080"/>
            <a:ext cx="5029200" cy="38404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Claude Opus received each ref+hyp pair blind (no metrics visible)</a:t>
            </a:r>
          </a:p>
          <a:p>
            <a:pPr algn="l">
              <a:spcAft>
                <a:spcPts val="600"/>
              </a:spcAft>
            </a:pPr>
            <a:r>
              <a:rPr sz="2400" b="1">
                <a:solidFill>
                  <a:srgbClr val="00B4D8"/>
                </a:solidFill>
                <a:latin typeface="Calibri"/>
              </a:rPr>
              <a:t>• </a:t>
            </a:r>
            <a:r>
              <a:rPr sz="2400" b="0">
                <a:solidFill>
                  <a:srgbClr val="FFFFFF"/>
                </a:solidFill>
                <a:latin typeface="Calibri"/>
              </a:rPr>
              <a:t>3-level holistic judgment: Y (fully conveyed), P (partial), N (lost)</a:t>
            </a:r>
          </a:p>
          <a:p>
            <a:pPr algn="l">
              <a:spcAft>
                <a:spcPts val="600"/>
              </a:spcAft>
            </a:pPr>
            <a:r>
              <a:rPr sz="2400" b="1">
                <a:solidFill>
                  <a:srgbClr val="00B4D8"/>
                </a:solidFill>
                <a:latin typeface="Calibri"/>
              </a:rPr>
              <a:t>• </a:t>
            </a:r>
            <a:r>
              <a:rPr sz="2400" b="0">
                <a:solidFill>
                  <a:srgbClr val="00B4D8"/>
                </a:solidFill>
                <a:latin typeface="Calibri"/>
              </a:rPr>
              <a:t>κ = 0.690 (Y threshold) and κ = 0.816 (Y+P threshold)</a:t>
            </a:r>
          </a:p>
          <a:p>
            <a:pPr algn="l">
              <a:spcAft>
                <a:spcPts val="600"/>
              </a:spcAft>
            </a:pPr>
            <a:r>
              <a:rPr sz="2400" b="1">
                <a:solidFill>
                  <a:srgbClr val="00B4D8"/>
                </a:solidFill>
                <a:latin typeface="Calibri"/>
              </a:rPr>
              <a:t>• </a:t>
            </a:r>
            <a:r>
              <a:rPr sz="2400" b="1">
                <a:solidFill>
                  <a:srgbClr val="FFFFFF"/>
                </a:solidFill>
                <a:latin typeface="Calibri"/>
              </a:rPr>
              <a:t>Used as gold standard to calibrate IS thresholds</a:t>
            </a:r>
          </a:p>
        </p:txBody>
      </p:sp>
      <p:sp>
        <p:nvSpPr>
          <p:cNvPr id="10" name="TextBox 9"/>
          <p:cNvSpPr txBox="1"/>
          <p:nvPr/>
        </p:nvSpPr>
        <p:spPr>
          <a:xfrm>
            <a:off x="548640" y="6035040"/>
            <a:ext cx="11091672" cy="274320"/>
          </a:xfrm>
          <a:prstGeom prst="rect">
            <a:avLst/>
          </a:prstGeom>
          <a:noFill/>
        </p:spPr>
        <p:txBody>
          <a:bodyPr wrap="square" anchor="t"/>
          <a:lstStyle/>
          <a:p>
            <a:pPr algn="ctr"/>
            <a:r>
              <a:rPr sz="1800" b="0" i="1">
                <a:solidFill>
                  <a:srgbClr val="666666"/>
                </a:solidFill>
                <a:latin typeface="Calibri"/>
              </a:rPr>
              <a:t>v1 blind judge   /   Opus 4.6   /   1,497 pairs</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12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24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LLM Judge: Deep Dive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2400" b="1" i="0">
                <a:solidFill>
                  <a:srgbClr val="00B4D8"/>
                </a:solidFill>
                <a:latin typeface="Calibri"/>
              </a:rPr>
              <a:t>30 Representative Segments</a:t>
            </a:r>
          </a:p>
        </p:txBody>
      </p:sp>
      <p:graphicFrame>
        <p:nvGraphicFramePr>
          <p:cNvPr id="5" name="Table 4"/>
          <p:cNvGraphicFramePr>
            <a:graphicFrameLocks noGrp="1"/>
          </p:cNvGraphicFramePr>
          <p:nvPr/>
        </p:nvGraphicFramePr>
        <p:xfrm>
          <a:off x="548640" y="1783080"/>
          <a:ext cx="5029200" cy="4023360"/>
        </p:xfrm>
        <a:graphic>
          <a:graphicData uri="http://schemas.openxmlformats.org/drawingml/2006/table">
            <a:tbl>
              <a:tblPr firstRow="0" bandRow="0" lastRow="0" bandCol="0">
                <a:tableStyleId>{5C22544A-7EE6-4342-B048-85BDC9FD1C3A}</a:tableStyleId>
              </a:tblPr>
              <a:tblGrid>
                <a:gridCol w="1828800"/>
                <a:gridCol w="3200400"/>
              </a:tblGrid>
              <a:tr h="502920">
                <a:tc>
                  <a:txBody>
                    <a:bodyPr/>
                    <a:lstStyle/>
                    <a:p>
                      <a:pPr algn="ctr"/>
                      <a:r>
                        <a:rPr sz="2400" b="1" i="0">
                          <a:solidFill>
                            <a:srgbClr val="FFFFFF"/>
                          </a:solidFill>
                          <a:latin typeface="Calibri"/>
                        </a:rPr>
                        <a:t>Metric</a:t>
                      </a:r>
                    </a:p>
                  </a:txBody>
                  <a:tcPr>
                    <a:solidFill>
                      <a:srgbClr val="00b4d8"/>
                    </a:solidFill>
                  </a:tcPr>
                </a:tc>
                <a:tc>
                  <a:txBody>
                    <a:bodyPr/>
                    <a:lstStyle/>
                    <a:p>
                      <a:pPr algn="ctr"/>
                      <a:r>
                        <a:rPr sz="2400" b="1" i="0">
                          <a:solidFill>
                            <a:srgbClr val="FFFFFF"/>
                          </a:solidFill>
                          <a:latin typeface="Calibri"/>
                        </a:rPr>
                        <a:t>Value</a:t>
                      </a:r>
                    </a:p>
                  </a:txBody>
                  <a:tcPr>
                    <a:solidFill>
                      <a:srgbClr val="00b4d8"/>
                    </a:solidFill>
                  </a:tcPr>
                </a:tc>
              </a:tr>
              <a:tr h="502920">
                <a:tc>
                  <a:txBody>
                    <a:bodyPr/>
                    <a:lstStyle/>
                    <a:p>
                      <a:pPr algn="l"/>
                      <a:r>
                        <a:rPr sz="2400" b="0" i="0">
                          <a:solidFill>
                            <a:srgbClr val="FFFFFF"/>
                          </a:solidFill>
                          <a:latin typeface="Calibri"/>
                        </a:rPr>
                        <a:t>Segments</a:t>
                      </a:r>
                    </a:p>
                  </a:txBody>
                  <a:tcPr>
                    <a:solidFill>
                      <a:srgbClr val="0d1b2a"/>
                    </a:solidFill>
                  </a:tcPr>
                </a:tc>
                <a:tc>
                  <a:txBody>
                    <a:bodyPr/>
                    <a:lstStyle/>
                    <a:p>
                      <a:pPr algn="l"/>
                      <a:r>
                        <a:rPr sz="2400" b="0" i="0">
                          <a:solidFill>
                            <a:srgbClr val="FFFFFF"/>
                          </a:solidFill>
                          <a:latin typeface="Calibri"/>
                        </a:rPr>
                        <a:t>30 (stratified sample)</a:t>
                      </a:r>
                    </a:p>
                  </a:txBody>
                  <a:tcPr>
                    <a:solidFill>
                      <a:srgbClr val="0d1b2a"/>
                    </a:solidFill>
                  </a:tcPr>
                </a:tc>
              </a:tr>
              <a:tr h="502920">
                <a:tc>
                  <a:txBody>
                    <a:bodyPr/>
                    <a:lstStyle/>
                    <a:p>
                      <a:pPr algn="l"/>
                      <a:r>
                        <a:rPr sz="2400" b="0" i="0">
                          <a:solidFill>
                            <a:srgbClr val="FFFFFF"/>
                          </a:solidFill>
                          <a:latin typeface="Calibri"/>
                        </a:rPr>
                        <a:t>Mean WER</a:t>
                      </a:r>
                    </a:p>
                  </a:txBody>
                  <a:tcPr>
                    <a:solidFill>
                      <a:srgbClr val="152a40"/>
                    </a:solidFill>
                  </a:tcPr>
                </a:tc>
                <a:tc>
                  <a:txBody>
                    <a:bodyPr/>
                    <a:lstStyle/>
                    <a:p>
                      <a:pPr algn="l"/>
                      <a:r>
                        <a:rPr sz="2400" b="0" i="0">
                          <a:solidFill>
                            <a:srgbClr val="FFFFFF"/>
                          </a:solidFill>
                          <a:latin typeface="Calibri"/>
                        </a:rPr>
                        <a:t>61%</a:t>
                      </a:r>
                    </a:p>
                  </a:txBody>
                  <a:tcPr>
                    <a:solidFill>
                      <a:srgbClr val="152a40"/>
                    </a:solidFill>
                  </a:tcPr>
                </a:tc>
              </a:tr>
              <a:tr h="502920">
                <a:tc>
                  <a:txBody>
                    <a:bodyPr/>
                    <a:lstStyle/>
                    <a:p>
                      <a:pPr algn="l"/>
                      <a:r>
                        <a:rPr sz="2400" b="0" i="0">
                          <a:solidFill>
                            <a:srgbClr val="FFFFFF"/>
                          </a:solidFill>
                          <a:latin typeface="Calibri"/>
                        </a:rPr>
                        <a:t>Mean IS</a:t>
                      </a:r>
                    </a:p>
                  </a:txBody>
                  <a:tcPr>
                    <a:solidFill>
                      <a:srgbClr val="0d1b2a"/>
                    </a:solidFill>
                  </a:tcPr>
                </a:tc>
                <a:tc>
                  <a:txBody>
                    <a:bodyPr/>
                    <a:lstStyle/>
                    <a:p>
                      <a:pPr algn="l"/>
                      <a:r>
                        <a:rPr sz="2400" b="0" i="0">
                          <a:solidFill>
                            <a:srgbClr val="FFFFFF"/>
                          </a:solidFill>
                          <a:latin typeface="Calibri"/>
                        </a:rPr>
                        <a:t>2.67 / 5.0</a:t>
                      </a:r>
                    </a:p>
                  </a:txBody>
                  <a:tcPr>
                    <a:solidFill>
                      <a:srgbClr val="0d1b2a"/>
                    </a:solidFill>
                  </a:tcPr>
                </a:tc>
              </a:tr>
              <a:tr h="502920">
                <a:tc>
                  <a:txBody>
                    <a:bodyPr/>
                    <a:lstStyle/>
                    <a:p>
                      <a:pPr algn="l"/>
                      <a:r>
                        <a:rPr sz="2400" b="0" i="0">
                          <a:solidFill>
                            <a:srgbClr val="FFFFFF"/>
                          </a:solidFill>
                          <a:latin typeface="Calibri"/>
                        </a:rPr>
                        <a:t>LLM Judge: Y</a:t>
                      </a:r>
                    </a:p>
                  </a:txBody>
                  <a:tcPr>
                    <a:solidFill>
                      <a:srgbClr val="152a40"/>
                    </a:solidFill>
                  </a:tcPr>
                </a:tc>
                <a:tc>
                  <a:txBody>
                    <a:bodyPr/>
                    <a:lstStyle/>
                    <a:p>
                      <a:pPr algn="l"/>
                      <a:r>
                        <a:rPr sz="2400" b="0" i="0">
                          <a:solidFill>
                            <a:srgbClr val="4CAF50"/>
                          </a:solidFill>
                          <a:latin typeface="Calibri"/>
                        </a:rPr>
                        <a:t>7  (23%)</a:t>
                      </a:r>
                    </a:p>
                  </a:txBody>
                  <a:tcPr>
                    <a:solidFill>
                      <a:srgbClr val="152a40"/>
                    </a:solidFill>
                  </a:tcPr>
                </a:tc>
              </a:tr>
              <a:tr h="502920">
                <a:tc>
                  <a:txBody>
                    <a:bodyPr/>
                    <a:lstStyle/>
                    <a:p>
                      <a:pPr algn="l"/>
                      <a:r>
                        <a:rPr sz="2400" b="0" i="0">
                          <a:solidFill>
                            <a:srgbClr val="FFFFFF"/>
                          </a:solidFill>
                          <a:latin typeface="Calibri"/>
                        </a:rPr>
                        <a:t>LLM Judge: P</a:t>
                      </a:r>
                    </a:p>
                  </a:txBody>
                  <a:tcPr>
                    <a:solidFill>
                      <a:srgbClr val="0d1b2a"/>
                    </a:solidFill>
                  </a:tcPr>
                </a:tc>
                <a:tc>
                  <a:txBody>
                    <a:bodyPr/>
                    <a:lstStyle/>
                    <a:p>
                      <a:pPr algn="l"/>
                      <a:r>
                        <a:rPr sz="2400" b="0" i="0">
                          <a:solidFill>
                            <a:srgbClr val="FFFFFF"/>
                          </a:solidFill>
                          <a:latin typeface="Calibri"/>
                        </a:rPr>
                        <a:t>12  (40%)</a:t>
                      </a:r>
                    </a:p>
                  </a:txBody>
                  <a:tcPr>
                    <a:solidFill>
                      <a:srgbClr val="0d1b2a"/>
                    </a:solidFill>
                  </a:tcPr>
                </a:tc>
              </a:tr>
              <a:tr h="502920">
                <a:tc>
                  <a:txBody>
                    <a:bodyPr/>
                    <a:lstStyle/>
                    <a:p>
                      <a:pPr algn="l"/>
                      <a:r>
                        <a:rPr sz="2400" b="0" i="0">
                          <a:solidFill>
                            <a:srgbClr val="FFFFFF"/>
                          </a:solidFill>
                          <a:latin typeface="Calibri"/>
                        </a:rPr>
                        <a:t>LLM Judge: N</a:t>
                      </a:r>
                    </a:p>
                  </a:txBody>
                  <a:tcPr>
                    <a:solidFill>
                      <a:srgbClr val="152a40"/>
                    </a:solidFill>
                  </a:tcPr>
                </a:tc>
                <a:tc>
                  <a:txBody>
                    <a:bodyPr/>
                    <a:lstStyle/>
                    <a:p>
                      <a:pPr algn="l"/>
                      <a:r>
                        <a:rPr sz="2400" b="0" i="0">
                          <a:solidFill>
                            <a:srgbClr val="E06C75"/>
                          </a:solidFill>
                          <a:latin typeface="Calibri"/>
                        </a:rPr>
                        <a:t>11  (37%)</a:t>
                      </a:r>
                    </a:p>
                  </a:txBody>
                  <a:tcPr>
                    <a:solidFill>
                      <a:srgbClr val="152a40"/>
                    </a:solidFill>
                  </a:tcPr>
                </a:tc>
              </a:tr>
              <a:tr h="502920">
                <a:tc>
                  <a:txBody>
                    <a:bodyPr/>
                    <a:lstStyle/>
                    <a:p>
                      <a:pPr algn="l"/>
                      <a:r>
                        <a:rPr sz="2400" b="0" i="0">
                          <a:solidFill>
                            <a:srgbClr val="FFFFFF"/>
                          </a:solidFill>
                          <a:latin typeface="Calibri"/>
                        </a:rPr>
                        <a:t>Y + P</a:t>
                      </a:r>
                    </a:p>
                  </a:txBody>
                  <a:tcPr>
                    <a:solidFill>
                      <a:srgbClr val="0d1b2a"/>
                    </a:solidFill>
                  </a:tcPr>
                </a:tc>
                <a:tc>
                  <a:txBody>
                    <a:bodyPr/>
                    <a:lstStyle/>
                    <a:p>
                      <a:pPr algn="l"/>
                      <a:r>
                        <a:rPr sz="2400" b="0" i="0">
                          <a:solidFill>
                            <a:srgbClr val="00B4D8"/>
                          </a:solidFill>
                          <a:latin typeface="Calibri"/>
                        </a:rPr>
                        <a:t>19  (63%)</a:t>
                      </a:r>
                    </a:p>
                  </a:txBody>
                  <a:tcPr>
                    <a:solidFill>
                      <a:srgbClr val="0d1b2a"/>
                    </a:solidFill>
                  </a:tcPr>
                </a:tc>
              </a:tr>
            </a:tbl>
          </a:graphicData>
        </a:graphic>
      </p:graphicFrame>
      <p:sp>
        <p:nvSpPr>
          <p:cNvPr id="6" name="TextBox 5"/>
          <p:cNvSpPr txBox="1"/>
          <p:nvPr/>
        </p:nvSpPr>
        <p:spPr>
          <a:xfrm>
            <a:off x="6611111" y="1325880"/>
            <a:ext cx="5029200" cy="320040"/>
          </a:xfrm>
          <a:prstGeom prst="rect">
            <a:avLst/>
          </a:prstGeom>
          <a:noFill/>
        </p:spPr>
        <p:txBody>
          <a:bodyPr wrap="square" anchor="t"/>
          <a:lstStyle/>
          <a:p>
            <a:pPr algn="l"/>
            <a:r>
              <a:rPr sz="2400" b="1" i="0">
                <a:solidFill>
                  <a:srgbClr val="E06C75"/>
                </a:solidFill>
                <a:latin typeface="Calibri"/>
              </a:rPr>
              <a:t>What the Sample Reveals</a:t>
            </a:r>
          </a:p>
        </p:txBody>
      </p:sp>
      <p:sp>
        <p:nvSpPr>
          <p:cNvPr id="7" name="TextBox 6"/>
          <p:cNvSpPr txBox="1"/>
          <p:nvPr/>
        </p:nvSpPr>
        <p:spPr>
          <a:xfrm>
            <a:off x="6611111" y="1783080"/>
            <a:ext cx="5029200" cy="274320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Distribution mirrors the full 1,497-segment dataset</a:t>
            </a:r>
          </a:p>
          <a:p>
            <a:pPr algn="l">
              <a:spcAft>
                <a:spcPts val="600"/>
              </a:spcAft>
            </a:pPr>
            <a:r>
              <a:rPr sz="2400" b="1">
                <a:solidFill>
                  <a:srgbClr val="00B4D8"/>
                </a:solidFill>
                <a:latin typeface="Calibri"/>
              </a:rPr>
              <a:t>• </a:t>
            </a:r>
            <a:r>
              <a:rPr sz="2400" b="0">
                <a:solidFill>
                  <a:srgbClr val="00B4D8"/>
                </a:solidFill>
                <a:latin typeface="Calibri"/>
              </a:rPr>
              <a:t>6 videos in this section walk through these cases one by one</a:t>
            </a:r>
          </a:p>
        </p:txBody>
      </p:sp>
      <p:sp>
        <p:nvSpPr>
          <p:cNvPr id="8" name="TextBox 7"/>
          <p:cNvSpPr txBox="1"/>
          <p:nvPr/>
        </p:nvSpPr>
        <p:spPr>
          <a:xfrm>
            <a:off x="548640" y="5852160"/>
            <a:ext cx="11091672" cy="411480"/>
          </a:xfrm>
          <a:prstGeom prst="rect">
            <a:avLst/>
          </a:prstGeom>
          <a:noFill/>
        </p:spPr>
        <p:txBody>
          <a:bodyPr wrap="square" anchor="t"/>
          <a:lstStyle/>
          <a:p>
            <a:pPr algn="ctr"/>
            <a:r>
              <a:rPr sz="1800" b="0" i="1">
                <a:solidFill>
                  <a:srgbClr val="666666"/>
                </a:solidFill>
                <a:latin typeface="Calibri"/>
              </a:rPr>
              <a:t>Each video has burned-in subtitles showing reference (top) and hypothesis (bottom) — watch the lip movements and compare.</a:t>
            </a:r>
          </a:p>
        </p:txBody>
      </p:sp>
      <p:pic>
        <p:nvPicPr>
          <p:cNvPr id="9" name="Picture 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9.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Judge Example 1 — Verdict Y: Names Swapped, Meaning Kept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4D634qUi2BI_0__93a9f2b4_with_hyp.mp4"/>
              <p:cNvPicPr>
                <a:picLocks noChangeAspect="1"/>
              </p:cNvPicPr>
              <p:nvPr>
                <a:videoFile r:link="rId3"/>
                <p:extLst>
                  <p:ext uri="{DAA4B4D4-6D71-4841-9C94-3DE7FCFB9230}">
                    <p14:media r:embed="rId2"/>
                  </p:ext>
                </p:extLst>
              </p:nvPr>
            </p:nvPicPr>
            <p:blipFill>
              <a:blip r:embed="rId4"/>
              <a:stretch>
                <a:fillRect/>
              </a:stretch>
            </p:blipFill>
            <p:spPr>
              <a:xfrm>
                <a:off x="548640" y="1417320"/>
                <a:ext cx="5486400" cy="4114800"/>
              </a:xfrm>
              <a:prstGeom prst="rect">
                <a:avLst/>
              </a:prstGeom>
            </p:spPr>
          </p:pic>
        </mc:Choice>
        <mc:Fallback>
          <p:pic>
            <p:nvPicPr>
              <p:cNvPr id="4" name="4D634qUi2BI_0__93a9f2b4_with_hyp.mp4"/>
              <p:cNvPicPr>
                <a:picLocks noChangeAspect="1"/>
              </p:cNvPicPr>
              <p:nvPr/>
            </p:nvPicPr>
            <p:blipFill>
              <a:blip r:embed="rId4"/>
              <a:stretch>
                <a:fillRect/>
              </a:stretch>
            </p:blipFill>
            <p:spPr>
              <a:xfrm>
                <a:off x="548640" y="1417320"/>
                <a:ext cx="5486400" cy="4114800"/>
              </a:xfrm>
              <a:prstGeom prst="rect">
                <a:avLst/>
              </a:prstGeom>
            </p:spPr>
          </p:pic>
        </mc:Fallback>
      </mc:AlternateContent>
      <p:sp>
        <p:nvSpPr>
          <p:cNvPr id="5" name="TextBox 4"/>
          <p:cNvSpPr txBox="1"/>
          <p:nvPr/>
        </p:nvSpPr>
        <p:spPr>
          <a:xfrm>
            <a:off x="6400800" y="1325880"/>
            <a:ext cx="5239512" cy="777240"/>
          </a:xfrm>
          <a:prstGeom prst="rect">
            <a:avLst/>
          </a:prstGeom>
          <a:noFill/>
        </p:spPr>
        <p:txBody>
          <a:bodyPr wrap="square" anchor="t"/>
          <a:lstStyle/>
          <a:p>
            <a:pPr algn="l"/>
            <a:r>
              <a:rPr sz="2400" b="1" i="0">
                <a:solidFill>
                  <a:srgbClr val="4CAF50"/>
                </a:solidFill>
                <a:latin typeface="Calibri"/>
              </a:rPr>
              <a:t>WER 18%   WWER 15%   IS 4.55 (Excellent)   Judge: Y</a:t>
            </a:r>
          </a:p>
        </p:txBody>
      </p:sp>
      <p:sp>
        <p:nvSpPr>
          <p:cNvPr id="6" name="TextBox 5"/>
          <p:cNvSpPr txBox="1"/>
          <p:nvPr/>
        </p:nvSpPr>
        <p:spPr>
          <a:xfrm>
            <a:off x="6400800" y="1783080"/>
            <a:ext cx="5239512" cy="228600"/>
          </a:xfrm>
          <a:prstGeom prst="rect">
            <a:avLst/>
          </a:prstGeom>
          <a:noFill/>
        </p:spPr>
        <p:txBody>
          <a:bodyPr wrap="square" anchor="t"/>
          <a:lstStyle/>
          <a:p>
            <a:pPr algn="l"/>
            <a:r>
              <a:rPr sz="2000" b="1" i="0">
                <a:solidFill>
                  <a:srgbClr val="AAAAAA"/>
                </a:solidFill>
                <a:latin typeface="Calibri"/>
              </a:rPr>
              <a:t>Reference:</a:t>
            </a:r>
          </a:p>
        </p:txBody>
      </p:sp>
      <p:sp>
        <p:nvSpPr>
          <p:cNvPr id="7" name="TextBox 6"/>
          <p:cNvSpPr txBox="1"/>
          <p:nvPr/>
        </p:nvSpPr>
        <p:spPr>
          <a:xfrm>
            <a:off x="6400800" y="2011680"/>
            <a:ext cx="5239512" cy="1554480"/>
          </a:xfrm>
          <a:prstGeom prst="rect">
            <a:avLst/>
          </a:prstGeom>
          <a:noFill/>
        </p:spPr>
        <p:txBody>
          <a:bodyPr wrap="square" anchor="t"/>
          <a:lstStyle/>
          <a:p>
            <a:pPr algn="l"/>
            <a:r>
              <a:rPr sz="2000" b="0" i="1">
                <a:solidFill>
                  <a:srgbClr val="FFFFFF"/>
                </a:solidFill>
                <a:latin typeface="Calibri"/>
              </a:rPr>
              <a:t>“market research firm bernreuter research is forecasting pv installations could reach”</a:t>
            </a:r>
          </a:p>
        </p:txBody>
      </p:sp>
      <p:sp>
        <p:nvSpPr>
          <p:cNvPr id="8" name="TextBox 7"/>
          <p:cNvSpPr txBox="1"/>
          <p:nvPr/>
        </p:nvSpPr>
        <p:spPr>
          <a:xfrm>
            <a:off x="6400800" y="2971800"/>
            <a:ext cx="5239512" cy="228600"/>
          </a:xfrm>
          <a:prstGeom prst="rect">
            <a:avLst/>
          </a:prstGeom>
          <a:noFill/>
        </p:spPr>
        <p:txBody>
          <a:bodyPr wrap="square" anchor="t"/>
          <a:lstStyle/>
          <a:p>
            <a:pPr algn="l"/>
            <a:r>
              <a:rPr sz="2000" b="1" i="0">
                <a:solidFill>
                  <a:srgbClr val="AAAAAA"/>
                </a:solidFill>
                <a:latin typeface="Calibri"/>
              </a:rPr>
              <a:t>Prediction:</a:t>
            </a:r>
          </a:p>
        </p:txBody>
      </p:sp>
      <p:sp>
        <p:nvSpPr>
          <p:cNvPr id="9" name="TextBox 8"/>
          <p:cNvSpPr txBox="1"/>
          <p:nvPr/>
        </p:nvSpPr>
        <p:spPr>
          <a:xfrm>
            <a:off x="6400800" y="3200399"/>
            <a:ext cx="5239512" cy="1600200"/>
          </a:xfrm>
          <a:prstGeom prst="rect">
            <a:avLst/>
          </a:prstGeom>
          <a:noFill/>
        </p:spPr>
        <p:txBody>
          <a:bodyPr wrap="square" anchor="t"/>
          <a:lstStyle/>
          <a:p>
            <a:pPr algn="l"/>
            <a:r>
              <a:rPr sz="2000" b="0" i="1">
                <a:solidFill>
                  <a:srgbClr val="E06C75"/>
                </a:solidFill>
                <a:latin typeface="Calibri"/>
              </a:rPr>
              <a:t>“market research firm rogers research is forecasting pv installations will reach”</a:t>
            </a:r>
          </a:p>
        </p:txBody>
      </p:sp>
      <p:sp>
        <p:nvSpPr>
          <p:cNvPr id="10" name="Rounded Rectangle 9"/>
          <p:cNvSpPr/>
          <p:nvPr/>
        </p:nvSpPr>
        <p:spPr>
          <a:xfrm>
            <a:off x="6400800" y="4206240"/>
            <a:ext cx="5239512" cy="64008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24528"/>
            <a:ext cx="4965192" cy="640080"/>
          </a:xfrm>
          <a:prstGeom prst="rect">
            <a:avLst/>
          </a:prstGeom>
          <a:noFill/>
        </p:spPr>
        <p:txBody>
          <a:bodyPr wrap="square" anchor="t"/>
          <a:lstStyle/>
          <a:p>
            <a:pPr algn="l"/>
            <a:r>
              <a:rPr sz="2000" b="1" i="0">
                <a:solidFill>
                  <a:srgbClr val="00B4D8"/>
                </a:solidFill>
                <a:latin typeface="Calibri"/>
              </a:rPr>
              <a:t>Named Entity Swap — meaning fully preserved</a:t>
            </a:r>
          </a:p>
        </p:txBody>
      </p:sp>
      <p:sp>
        <p:nvSpPr>
          <p:cNvPr id="12" name="TextBox 11"/>
          <p:cNvSpPr txBox="1"/>
          <p:nvPr/>
        </p:nvSpPr>
        <p:spPr>
          <a:xfrm>
            <a:off x="6400800" y="4892040"/>
            <a:ext cx="5239512" cy="1554480"/>
          </a:xfrm>
          <a:prstGeom prst="rect">
            <a:avLst/>
          </a:prstGeom>
          <a:noFill/>
        </p:spPr>
        <p:txBody>
          <a:bodyPr wrap="square" anchor="t"/>
          <a:lstStyle/>
          <a:p>
            <a:pPr algn="l"/>
            <a:r>
              <a:rPr sz="2400" b="0" i="0">
                <a:solidFill>
                  <a:srgbClr val="FFFFFF"/>
                </a:solidFill>
                <a:latin typeface="Calibri"/>
              </a:rPr>
              <a:t>Only company name changed (bernreuter → rogers) and 'could' → 'will'. Forecast captured; viewer gets the full message.</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Lst>
  </p:timing>
</p:sld>
</file>

<file path=ppt/slides/slide20.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show="0"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Judge Example 2: Truncated but Core Preserved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VfJ-6nQAmtk_22__4a7cbfd1_with_hyp.mp4"/>
              <p:cNvPicPr>
                <a:picLocks noChangeAspect="1"/>
              </p:cNvPicPr>
              <p:nvPr>
                <a:videoFile r:link="rId3"/>
                <p:extLst>
                  <p:ext uri="{DAA4B4D4-6D71-4841-9C94-3DE7FCFB9230}">
                    <p14:media r:embed="rId2"/>
                  </p:ext>
                </p:extLst>
              </p:nvPr>
            </p:nvPicPr>
            <p:blipFill>
              <a:blip r:embed="rId4"/>
              <a:stretch>
                <a:fillRect/>
              </a:stretch>
            </p:blipFill>
            <p:spPr>
              <a:xfrm>
                <a:off x="548640" y="1417320"/>
                <a:ext cx="5486400" cy="4114800"/>
              </a:xfrm>
              <a:prstGeom prst="rect">
                <a:avLst/>
              </a:prstGeom>
            </p:spPr>
          </p:pic>
        </mc:Choice>
        <mc:Fallback>
          <p:pic>
            <p:nvPicPr>
              <p:cNvPr id="4" name="VfJ-6nQAmtk_22__4a7cbfd1_with_hyp.mp4"/>
              <p:cNvPicPr>
                <a:picLocks noChangeAspect="1"/>
              </p:cNvPicPr>
              <p:nvPr/>
            </p:nvPicPr>
            <p:blipFill>
              <a:blip r:embed="rId4"/>
              <a:stretch>
                <a:fillRect/>
              </a:stretch>
            </p:blipFill>
            <p:spPr>
              <a:xfrm>
                <a:off x="548640" y="1417320"/>
                <a:ext cx="5486400" cy="4114800"/>
              </a:xfrm>
              <a:prstGeom prst="rect">
                <a:avLst/>
              </a:prstGeom>
            </p:spPr>
          </p:pic>
        </mc:Fallback>
      </mc:AlternateContent>
      <p:sp>
        <p:nvSpPr>
          <p:cNvPr id="5" name="TextBox 4"/>
          <p:cNvSpPr txBox="1"/>
          <p:nvPr/>
        </p:nvSpPr>
        <p:spPr>
          <a:xfrm>
            <a:off x="6400800" y="1325880"/>
            <a:ext cx="5239512" cy="777240"/>
          </a:xfrm>
          <a:prstGeom prst="rect">
            <a:avLst/>
          </a:prstGeom>
          <a:noFill/>
        </p:spPr>
        <p:txBody>
          <a:bodyPr wrap="square" anchor="t"/>
          <a:lstStyle/>
          <a:p>
            <a:pPr algn="l"/>
            <a:r>
              <a:rPr sz="2400" b="1" i="0">
                <a:solidFill>
                  <a:srgbClr val="FFC107"/>
                </a:solidFill>
                <a:latin typeface="Calibri"/>
              </a:rPr>
              <a:t>WER 48%   WWER 42%   IS 3.69 (Good)   Judge: P</a:t>
            </a:r>
          </a:p>
        </p:txBody>
      </p:sp>
      <p:sp>
        <p:nvSpPr>
          <p:cNvPr id="6" name="TextBox 5"/>
          <p:cNvSpPr txBox="1"/>
          <p:nvPr/>
        </p:nvSpPr>
        <p:spPr>
          <a:xfrm>
            <a:off x="6400800" y="1783080"/>
            <a:ext cx="5239512" cy="228600"/>
          </a:xfrm>
          <a:prstGeom prst="rect">
            <a:avLst/>
          </a:prstGeom>
          <a:noFill/>
        </p:spPr>
        <p:txBody>
          <a:bodyPr wrap="square" anchor="t"/>
          <a:lstStyle/>
          <a:p>
            <a:pPr algn="l"/>
            <a:r>
              <a:rPr sz="2000" b="1" i="0">
                <a:solidFill>
                  <a:srgbClr val="AAAAAA"/>
                </a:solidFill>
                <a:latin typeface="Calibri"/>
              </a:rPr>
              <a:t>Reference:</a:t>
            </a:r>
          </a:p>
        </p:txBody>
      </p:sp>
      <p:sp>
        <p:nvSpPr>
          <p:cNvPr id="7" name="TextBox 6"/>
          <p:cNvSpPr txBox="1"/>
          <p:nvPr/>
        </p:nvSpPr>
        <p:spPr>
          <a:xfrm>
            <a:off x="6400800" y="2011680"/>
            <a:ext cx="5239512" cy="1554480"/>
          </a:xfrm>
          <a:prstGeom prst="rect">
            <a:avLst/>
          </a:prstGeom>
          <a:noFill/>
        </p:spPr>
        <p:txBody>
          <a:bodyPr wrap="square" anchor="t"/>
          <a:lstStyle/>
          <a:p>
            <a:pPr algn="l"/>
            <a:r>
              <a:rPr sz="2000" b="0" i="1">
                <a:solidFill>
                  <a:srgbClr val="FFFFFF"/>
                </a:solidFill>
                <a:latin typeface="Calibri"/>
              </a:rPr>
              <a:t>“as this new home video market matured in the 1980s a number of film companies decided they could bypass the theatrical distribution system altogether and market their”</a:t>
            </a:r>
          </a:p>
        </p:txBody>
      </p:sp>
      <p:sp>
        <p:nvSpPr>
          <p:cNvPr id="8" name="TextBox 7"/>
          <p:cNvSpPr txBox="1"/>
          <p:nvPr/>
        </p:nvSpPr>
        <p:spPr>
          <a:xfrm>
            <a:off x="6400800" y="2971800"/>
            <a:ext cx="5239512" cy="228600"/>
          </a:xfrm>
          <a:prstGeom prst="rect">
            <a:avLst/>
          </a:prstGeom>
          <a:noFill/>
        </p:spPr>
        <p:txBody>
          <a:bodyPr wrap="square" anchor="t"/>
          <a:lstStyle/>
          <a:p>
            <a:pPr algn="l"/>
            <a:r>
              <a:rPr sz="2000" b="1" i="0">
                <a:solidFill>
                  <a:srgbClr val="AAAAAA"/>
                </a:solidFill>
                <a:latin typeface="Calibri"/>
              </a:rPr>
              <a:t>Prediction:</a:t>
            </a:r>
          </a:p>
        </p:txBody>
      </p:sp>
      <p:sp>
        <p:nvSpPr>
          <p:cNvPr id="9" name="TextBox 8"/>
          <p:cNvSpPr txBox="1"/>
          <p:nvPr/>
        </p:nvSpPr>
        <p:spPr>
          <a:xfrm>
            <a:off x="6400800" y="3200399"/>
            <a:ext cx="5239512" cy="1600200"/>
          </a:xfrm>
          <a:prstGeom prst="rect">
            <a:avLst/>
          </a:prstGeom>
          <a:noFill/>
        </p:spPr>
        <p:txBody>
          <a:bodyPr wrap="square" anchor="t"/>
          <a:lstStyle/>
          <a:p>
            <a:pPr algn="l"/>
            <a:r>
              <a:rPr sz="2000" b="0" i="1">
                <a:solidFill>
                  <a:srgbClr val="E06C75"/>
                </a:solidFill>
                <a:latin typeface="Calibri"/>
              </a:rPr>
              <a:t>“in the 1980s when film companies decided they could bypass the theatrical distribution system altogether among other”</a:t>
            </a:r>
          </a:p>
        </p:txBody>
      </p:sp>
      <p:sp>
        <p:nvSpPr>
          <p:cNvPr id="10" name="Rounded Rectangle 9"/>
          <p:cNvSpPr/>
          <p:nvPr/>
        </p:nvSpPr>
        <p:spPr>
          <a:xfrm>
            <a:off x="6400800" y="4206240"/>
            <a:ext cx="5239512" cy="64008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24528"/>
            <a:ext cx="4965192" cy="640080"/>
          </a:xfrm>
          <a:prstGeom prst="rect">
            <a:avLst/>
          </a:prstGeom>
          <a:noFill/>
        </p:spPr>
        <p:txBody>
          <a:bodyPr wrap="square" anchor="t"/>
          <a:lstStyle/>
          <a:p>
            <a:pPr algn="l"/>
            <a:r>
              <a:rPr sz="2000" b="1" i="0">
                <a:solidFill>
                  <a:srgbClr val="00B4D8"/>
                </a:solidFill>
                <a:latin typeface="Calibri"/>
              </a:rPr>
              <a:t>Truncation — beginning and end lost, core intact</a:t>
            </a:r>
          </a:p>
        </p:txBody>
      </p:sp>
      <p:sp>
        <p:nvSpPr>
          <p:cNvPr id="12" name="TextBox 11"/>
          <p:cNvSpPr txBox="1"/>
          <p:nvPr/>
        </p:nvSpPr>
        <p:spPr>
          <a:xfrm>
            <a:off x="6400800" y="4892040"/>
            <a:ext cx="5239512" cy="1554480"/>
          </a:xfrm>
          <a:prstGeom prst="rect">
            <a:avLst/>
          </a:prstGeom>
          <a:noFill/>
        </p:spPr>
        <p:txBody>
          <a:bodyPr wrap="square" anchor="t"/>
          <a:lstStyle/>
          <a:p>
            <a:pPr algn="l"/>
            <a:r>
              <a:rPr sz="2400" b="0" i="0">
                <a:solidFill>
                  <a:srgbClr val="FFFFFF"/>
                </a:solidFill>
                <a:latin typeface="Calibri"/>
              </a:rPr>
              <a:t>Opening + trailing clauses lost. But the core argument — 1980s film companies bypassing theatrical distribution — is captured verbatim.</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19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Lst>
  </p:timing>
</p:sld>
</file>

<file path=ppt/slides/slide21.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Judge Example 2 — Verdict P: Domain Drifted, Structure Kept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c6eBrYor21I_10__70697c08_Part1_with_hyp.mp4"/>
              <p:cNvPicPr>
                <a:picLocks noChangeAspect="1"/>
              </p:cNvPicPr>
              <p:nvPr>
                <a:videoFile r:link="rId3"/>
                <p:extLst>
                  <p:ext uri="{DAA4B4D4-6D71-4841-9C94-3DE7FCFB9230}">
                    <p14:media r:embed="rId2"/>
                  </p:ext>
                </p:extLst>
              </p:nvPr>
            </p:nvPicPr>
            <p:blipFill>
              <a:blip r:embed="rId4"/>
              <a:stretch>
                <a:fillRect/>
              </a:stretch>
            </p:blipFill>
            <p:spPr>
              <a:xfrm>
                <a:off x="548640" y="1417320"/>
                <a:ext cx="5486400" cy="4114800"/>
              </a:xfrm>
              <a:prstGeom prst="rect">
                <a:avLst/>
              </a:prstGeom>
            </p:spPr>
          </p:pic>
        </mc:Choice>
        <mc:Fallback>
          <p:pic>
            <p:nvPicPr>
              <p:cNvPr id="4" name="c6eBrYor21I_10__70697c08_Part1_with_hyp.mp4"/>
              <p:cNvPicPr>
                <a:picLocks noChangeAspect="1"/>
              </p:cNvPicPr>
              <p:nvPr/>
            </p:nvPicPr>
            <p:blipFill>
              <a:blip r:embed="rId4"/>
              <a:stretch>
                <a:fillRect/>
              </a:stretch>
            </p:blipFill>
            <p:spPr>
              <a:xfrm>
                <a:off x="548640" y="1417320"/>
                <a:ext cx="5486400" cy="4114800"/>
              </a:xfrm>
              <a:prstGeom prst="rect">
                <a:avLst/>
              </a:prstGeom>
            </p:spPr>
          </p:pic>
        </mc:Fallback>
      </mc:AlternateContent>
      <p:sp>
        <p:nvSpPr>
          <p:cNvPr id="5" name="TextBox 4"/>
          <p:cNvSpPr txBox="1"/>
          <p:nvPr/>
        </p:nvSpPr>
        <p:spPr>
          <a:xfrm>
            <a:off x="6400800" y="1325880"/>
            <a:ext cx="5239512" cy="777240"/>
          </a:xfrm>
          <a:prstGeom prst="rect">
            <a:avLst/>
          </a:prstGeom>
          <a:noFill/>
        </p:spPr>
        <p:txBody>
          <a:bodyPr wrap="square" anchor="t"/>
          <a:lstStyle/>
          <a:p>
            <a:pPr algn="l"/>
            <a:r>
              <a:rPr sz="2400" b="1" i="0">
                <a:solidFill>
                  <a:srgbClr val="FFC107"/>
                </a:solidFill>
                <a:latin typeface="Calibri"/>
              </a:rPr>
              <a:t>WER 52%   WWER 47%   IS 3.02 (Good)   Judge: P</a:t>
            </a:r>
          </a:p>
        </p:txBody>
      </p:sp>
      <p:sp>
        <p:nvSpPr>
          <p:cNvPr id="6" name="TextBox 5"/>
          <p:cNvSpPr txBox="1"/>
          <p:nvPr/>
        </p:nvSpPr>
        <p:spPr>
          <a:xfrm>
            <a:off x="6400800" y="1783080"/>
            <a:ext cx="5239512" cy="228600"/>
          </a:xfrm>
          <a:prstGeom prst="rect">
            <a:avLst/>
          </a:prstGeom>
          <a:noFill/>
        </p:spPr>
        <p:txBody>
          <a:bodyPr wrap="square" anchor="t"/>
          <a:lstStyle/>
          <a:p>
            <a:pPr algn="l"/>
            <a:r>
              <a:rPr sz="2000" b="1" i="0">
                <a:solidFill>
                  <a:srgbClr val="AAAAAA"/>
                </a:solidFill>
                <a:latin typeface="Calibri"/>
              </a:rPr>
              <a:t>Reference:</a:t>
            </a:r>
          </a:p>
        </p:txBody>
      </p:sp>
      <p:sp>
        <p:nvSpPr>
          <p:cNvPr id="7" name="TextBox 6"/>
          <p:cNvSpPr txBox="1"/>
          <p:nvPr/>
        </p:nvSpPr>
        <p:spPr>
          <a:xfrm>
            <a:off x="6400800" y="2011680"/>
            <a:ext cx="5239512" cy="1554480"/>
          </a:xfrm>
          <a:prstGeom prst="rect">
            <a:avLst/>
          </a:prstGeom>
          <a:noFill/>
        </p:spPr>
        <p:txBody>
          <a:bodyPr wrap="square" anchor="t"/>
          <a:lstStyle/>
          <a:p>
            <a:pPr algn="l"/>
            <a:r>
              <a:rPr sz="2000" b="0" i="1">
                <a:solidFill>
                  <a:srgbClr val="FFFFFF"/>
                </a:solidFill>
                <a:latin typeface="Calibri"/>
              </a:rPr>
              <a:t>“we need a radically different approach we basically need to find a way how we can take existing routers existing switches existing links and enable them for research”</a:t>
            </a:r>
          </a:p>
        </p:txBody>
      </p:sp>
      <p:sp>
        <p:nvSpPr>
          <p:cNvPr id="8" name="TextBox 7"/>
          <p:cNvSpPr txBox="1"/>
          <p:nvPr/>
        </p:nvSpPr>
        <p:spPr>
          <a:xfrm>
            <a:off x="6400800" y="2971800"/>
            <a:ext cx="5239512" cy="228600"/>
          </a:xfrm>
          <a:prstGeom prst="rect">
            <a:avLst/>
          </a:prstGeom>
          <a:noFill/>
        </p:spPr>
        <p:txBody>
          <a:bodyPr wrap="square" anchor="t"/>
          <a:lstStyle/>
          <a:p>
            <a:pPr algn="l"/>
            <a:r>
              <a:rPr sz="2000" b="1" i="0">
                <a:solidFill>
                  <a:srgbClr val="AAAAAA"/>
                </a:solidFill>
                <a:latin typeface="Calibri"/>
              </a:rPr>
              <a:t>Prediction:</a:t>
            </a:r>
          </a:p>
        </p:txBody>
      </p:sp>
      <p:sp>
        <p:nvSpPr>
          <p:cNvPr id="9" name="TextBox 8"/>
          <p:cNvSpPr txBox="1"/>
          <p:nvPr/>
        </p:nvSpPr>
        <p:spPr>
          <a:xfrm>
            <a:off x="6400800" y="3200399"/>
            <a:ext cx="5239512" cy="1600200"/>
          </a:xfrm>
          <a:prstGeom prst="rect">
            <a:avLst/>
          </a:prstGeom>
          <a:noFill/>
        </p:spPr>
        <p:txBody>
          <a:bodyPr wrap="square" anchor="t"/>
          <a:lstStyle/>
          <a:p>
            <a:pPr algn="l"/>
            <a:r>
              <a:rPr sz="2000" b="0" i="1">
                <a:solidFill>
                  <a:srgbClr val="E06C75"/>
                </a:solidFill>
                <a:latin typeface="Calibri"/>
              </a:rPr>
              <a:t>“we need a radically different approach we must indeed find a way we can design existing roads to exist with existing structures and enable them for reuse”</a:t>
            </a:r>
          </a:p>
        </p:txBody>
      </p:sp>
      <p:sp>
        <p:nvSpPr>
          <p:cNvPr id="10" name="Rounded Rectangle 9"/>
          <p:cNvSpPr/>
          <p:nvPr/>
        </p:nvSpPr>
        <p:spPr>
          <a:xfrm>
            <a:off x="6400800" y="4206240"/>
            <a:ext cx="5239512" cy="64008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24528"/>
            <a:ext cx="4965192" cy="640080"/>
          </a:xfrm>
          <a:prstGeom prst="rect">
            <a:avLst/>
          </a:prstGeom>
          <a:noFill/>
        </p:spPr>
        <p:txBody>
          <a:bodyPr wrap="square" anchor="t"/>
          <a:lstStyle/>
          <a:p>
            <a:pPr algn="l"/>
            <a:r>
              <a:rPr sz="2000" b="1" i="0">
                <a:solidFill>
                  <a:srgbClr val="00B4D8"/>
                </a:solidFill>
                <a:latin typeface="Calibri"/>
              </a:rPr>
              <a:t>Domain Vocabulary Drift — structure intact, terms swapped</a:t>
            </a:r>
          </a:p>
        </p:txBody>
      </p:sp>
      <p:sp>
        <p:nvSpPr>
          <p:cNvPr id="12" name="TextBox 11"/>
          <p:cNvSpPr txBox="1"/>
          <p:nvPr/>
        </p:nvSpPr>
        <p:spPr>
          <a:xfrm>
            <a:off x="6400800" y="4892040"/>
            <a:ext cx="5239512" cy="1554480"/>
          </a:xfrm>
          <a:prstGeom prst="rect">
            <a:avLst/>
          </a:prstGeom>
          <a:noFill/>
        </p:spPr>
        <p:txBody>
          <a:bodyPr wrap="square" anchor="t"/>
          <a:lstStyle/>
          <a:p>
            <a:pPr algn="l"/>
            <a:r>
              <a:rPr sz="2400" b="0" i="0">
                <a:solidFill>
                  <a:srgbClr val="FFFFFF"/>
                </a:solidFill>
                <a:latin typeface="Calibri"/>
              </a:rPr>
              <a:t>Argument structure perfect: 'radically different approach' → 'find a way' → 'existing X' → 'enable for Y'. Networking terms become civil terms.</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Lst>
  </p:timing>
</p:sld>
</file>

<file path=ppt/slides/slide22.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show="0"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Judge Example 4: Scientific Vocabulary Lost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9HanJOCw2Sc_11__19c7ec4e_with_hyp.mp4"/>
              <p:cNvPicPr>
                <a:picLocks noChangeAspect="1"/>
              </p:cNvPicPr>
              <p:nvPr>
                <a:videoFile r:link="rId3"/>
                <p:extLst>
                  <p:ext uri="{DAA4B4D4-6D71-4841-9C94-3DE7FCFB9230}">
                    <p14:media r:embed="rId2"/>
                  </p:ext>
                </p:extLst>
              </p:nvPr>
            </p:nvPicPr>
            <p:blipFill>
              <a:blip r:embed="rId4"/>
              <a:stretch>
                <a:fillRect/>
              </a:stretch>
            </p:blipFill>
            <p:spPr>
              <a:xfrm>
                <a:off x="548640" y="1417320"/>
                <a:ext cx="5486400" cy="4114800"/>
              </a:xfrm>
              <a:prstGeom prst="rect">
                <a:avLst/>
              </a:prstGeom>
            </p:spPr>
          </p:pic>
        </mc:Choice>
        <mc:Fallback>
          <p:pic>
            <p:nvPicPr>
              <p:cNvPr id="4" name="9HanJOCw2Sc_11__19c7ec4e_with_hyp.mp4"/>
              <p:cNvPicPr>
                <a:picLocks noChangeAspect="1"/>
              </p:cNvPicPr>
              <p:nvPr/>
            </p:nvPicPr>
            <p:blipFill>
              <a:blip r:embed="rId4"/>
              <a:stretch>
                <a:fillRect/>
              </a:stretch>
            </p:blipFill>
            <p:spPr>
              <a:xfrm>
                <a:off x="548640" y="1417320"/>
                <a:ext cx="5486400" cy="4114800"/>
              </a:xfrm>
              <a:prstGeom prst="rect">
                <a:avLst/>
              </a:prstGeom>
            </p:spPr>
          </p:pic>
        </mc:Fallback>
      </mc:AlternateContent>
      <p:sp>
        <p:nvSpPr>
          <p:cNvPr id="5" name="TextBox 4"/>
          <p:cNvSpPr txBox="1"/>
          <p:nvPr/>
        </p:nvSpPr>
        <p:spPr>
          <a:xfrm>
            <a:off x="6400800" y="1325880"/>
            <a:ext cx="5239512" cy="777240"/>
          </a:xfrm>
          <a:prstGeom prst="rect">
            <a:avLst/>
          </a:prstGeom>
          <a:noFill/>
        </p:spPr>
        <p:txBody>
          <a:bodyPr wrap="square" anchor="t"/>
          <a:lstStyle/>
          <a:p>
            <a:pPr algn="l"/>
            <a:r>
              <a:rPr sz="2400" b="1" i="0">
                <a:solidFill>
                  <a:srgbClr val="FFC107"/>
                </a:solidFill>
                <a:latin typeface="Calibri"/>
              </a:rPr>
              <a:t>WER 43%   WWER 57%   IS 2.67 (Fair)   Judge: P</a:t>
            </a:r>
          </a:p>
        </p:txBody>
      </p:sp>
      <p:sp>
        <p:nvSpPr>
          <p:cNvPr id="6" name="TextBox 5"/>
          <p:cNvSpPr txBox="1"/>
          <p:nvPr/>
        </p:nvSpPr>
        <p:spPr>
          <a:xfrm>
            <a:off x="6400800" y="1783080"/>
            <a:ext cx="5239512" cy="228600"/>
          </a:xfrm>
          <a:prstGeom prst="rect">
            <a:avLst/>
          </a:prstGeom>
          <a:noFill/>
        </p:spPr>
        <p:txBody>
          <a:bodyPr wrap="square" anchor="t"/>
          <a:lstStyle/>
          <a:p>
            <a:pPr algn="l"/>
            <a:r>
              <a:rPr sz="2000" b="1" i="0">
                <a:solidFill>
                  <a:srgbClr val="AAAAAA"/>
                </a:solidFill>
                <a:latin typeface="Calibri"/>
              </a:rPr>
              <a:t>Reference:</a:t>
            </a:r>
          </a:p>
        </p:txBody>
      </p:sp>
      <p:sp>
        <p:nvSpPr>
          <p:cNvPr id="7" name="TextBox 6"/>
          <p:cNvSpPr txBox="1"/>
          <p:nvPr/>
        </p:nvSpPr>
        <p:spPr>
          <a:xfrm>
            <a:off x="6400800" y="2011680"/>
            <a:ext cx="5239512" cy="1554480"/>
          </a:xfrm>
          <a:prstGeom prst="rect">
            <a:avLst/>
          </a:prstGeom>
          <a:noFill/>
        </p:spPr>
        <p:txBody>
          <a:bodyPr wrap="square" anchor="t"/>
          <a:lstStyle/>
          <a:p>
            <a:pPr algn="l"/>
            <a:r>
              <a:rPr sz="2000" b="0" i="1">
                <a:solidFill>
                  <a:srgbClr val="FFFFFF"/>
                </a:solidFill>
                <a:latin typeface="Calibri"/>
              </a:rPr>
              <a:t>“couples us to light cycles in our environment tells us when to sleep tells us when to make cortisol tells us when to make testosterone basically switches on”</a:t>
            </a:r>
          </a:p>
        </p:txBody>
      </p:sp>
      <p:sp>
        <p:nvSpPr>
          <p:cNvPr id="8" name="TextBox 7"/>
          <p:cNvSpPr txBox="1"/>
          <p:nvPr/>
        </p:nvSpPr>
        <p:spPr>
          <a:xfrm>
            <a:off x="6400800" y="2971800"/>
            <a:ext cx="5239512" cy="228600"/>
          </a:xfrm>
          <a:prstGeom prst="rect">
            <a:avLst/>
          </a:prstGeom>
          <a:noFill/>
        </p:spPr>
        <p:txBody>
          <a:bodyPr wrap="square" anchor="t"/>
          <a:lstStyle/>
          <a:p>
            <a:pPr algn="l"/>
            <a:r>
              <a:rPr sz="2000" b="1" i="0">
                <a:solidFill>
                  <a:srgbClr val="AAAAAA"/>
                </a:solidFill>
                <a:latin typeface="Calibri"/>
              </a:rPr>
              <a:t>Prediction:</a:t>
            </a:r>
          </a:p>
        </p:txBody>
      </p:sp>
      <p:sp>
        <p:nvSpPr>
          <p:cNvPr id="9" name="TextBox 8"/>
          <p:cNvSpPr txBox="1"/>
          <p:nvPr/>
        </p:nvSpPr>
        <p:spPr>
          <a:xfrm>
            <a:off x="6400800" y="3200399"/>
            <a:ext cx="5239512" cy="1600200"/>
          </a:xfrm>
          <a:prstGeom prst="rect">
            <a:avLst/>
          </a:prstGeom>
          <a:noFill/>
        </p:spPr>
        <p:txBody>
          <a:bodyPr wrap="square" anchor="t"/>
          <a:lstStyle/>
          <a:p>
            <a:pPr algn="l"/>
            <a:r>
              <a:rPr sz="2000" b="0" i="1">
                <a:solidFill>
                  <a:srgbClr val="E06C75"/>
                </a:solidFill>
                <a:latin typeface="Calibri"/>
              </a:rPr>
              <a:t>“takes into account our environment tells us what to eat tells us where to make turns tells us when to make stops basically switches on”</a:t>
            </a:r>
          </a:p>
        </p:txBody>
      </p:sp>
      <p:sp>
        <p:nvSpPr>
          <p:cNvPr id="10" name="Rounded Rectangle 9"/>
          <p:cNvSpPr/>
          <p:nvPr/>
        </p:nvSpPr>
        <p:spPr>
          <a:xfrm>
            <a:off x="6400800" y="4206240"/>
            <a:ext cx="5239512" cy="64008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24528"/>
            <a:ext cx="4965192" cy="640080"/>
          </a:xfrm>
          <a:prstGeom prst="rect">
            <a:avLst/>
          </a:prstGeom>
          <a:noFill/>
        </p:spPr>
        <p:txBody>
          <a:bodyPr wrap="square" anchor="t"/>
          <a:lstStyle/>
          <a:p>
            <a:pPr algn="l"/>
            <a:r>
              <a:rPr sz="2000" b="1" i="0">
                <a:solidFill>
                  <a:srgbClr val="00B4D8"/>
                </a:solidFill>
                <a:latin typeface="Calibri"/>
              </a:rPr>
              <a:t>Scientific Terms Lost — repetitive structure preserved</a:t>
            </a:r>
          </a:p>
        </p:txBody>
      </p:sp>
      <p:sp>
        <p:nvSpPr>
          <p:cNvPr id="12" name="TextBox 11"/>
          <p:cNvSpPr txBox="1"/>
          <p:nvPr/>
        </p:nvSpPr>
        <p:spPr>
          <a:xfrm>
            <a:off x="6400800" y="4892040"/>
            <a:ext cx="5239512" cy="1554480"/>
          </a:xfrm>
          <a:prstGeom prst="rect">
            <a:avLst/>
          </a:prstGeom>
          <a:noFill/>
        </p:spPr>
        <p:txBody>
          <a:bodyPr wrap="square" anchor="t"/>
          <a:lstStyle/>
          <a:p>
            <a:pPr algn="l"/>
            <a:r>
              <a:rPr sz="2400" b="0" i="0">
                <a:solidFill>
                  <a:srgbClr val="FFFFFF"/>
                </a:solidFill>
                <a:latin typeface="Calibri"/>
              </a:rPr>
              <a:t>'Tells us when to X' pattern preserved 3x. But every scientific term is wrong: cortisol → turns, testosterone → stops, light cycles → (gone).</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Lst>
  </p:timing>
</p:sld>
</file>

<file path=ppt/slides/slide23.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show="0"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Example 2: Cooking Domain Confusion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a2CS82VZyO4_7__a6316c95_with_hyp.mp4"/>
              <p:cNvPicPr>
                <a:picLocks noChangeAspect="1"/>
              </p:cNvPicPr>
              <p:nvPr>
                <a:videoFile r:link="rId3"/>
                <p:extLst>
                  <p:ext uri="{DAA4B4D4-6D71-4841-9C94-3DE7FCFB9230}">
                    <p14:media r:embed="rId2"/>
                  </p:ext>
                </p:extLst>
              </p:nvPr>
            </p:nvPicPr>
            <p:blipFill>
              <a:blip r:embed="rId4"/>
              <a:stretch>
                <a:fillRect/>
              </a:stretch>
            </p:blipFill>
            <p:spPr>
              <a:xfrm>
                <a:off x="548640" y="1417320"/>
                <a:ext cx="5486400" cy="4114800"/>
              </a:xfrm>
              <a:prstGeom prst="rect">
                <a:avLst/>
              </a:prstGeom>
            </p:spPr>
          </p:pic>
        </mc:Choice>
        <mc:Fallback>
          <p:pic>
            <p:nvPicPr>
              <p:cNvPr id="4" name="a2CS82VZyO4_7__a6316c95_with_hyp.mp4"/>
              <p:cNvPicPr>
                <a:picLocks noChangeAspect="1"/>
              </p:cNvPicPr>
              <p:nvPr/>
            </p:nvPicPr>
            <p:blipFill>
              <a:blip r:embed="rId4"/>
              <a:stretch>
                <a:fillRect/>
              </a:stretch>
            </p:blipFill>
            <p:spPr>
              <a:xfrm>
                <a:off x="548640" y="1417320"/>
                <a:ext cx="5486400" cy="4114800"/>
              </a:xfrm>
              <a:prstGeom prst="rect">
                <a:avLst/>
              </a:prstGeom>
            </p:spPr>
          </p:pic>
        </mc:Fallback>
      </mc:AlternateContent>
      <p:sp>
        <p:nvSpPr>
          <p:cNvPr id="5" name="TextBox 4"/>
          <p:cNvSpPr txBox="1"/>
          <p:nvPr/>
        </p:nvSpPr>
        <p:spPr>
          <a:xfrm>
            <a:off x="6400800" y="1325880"/>
            <a:ext cx="5239512" cy="777240"/>
          </a:xfrm>
          <a:prstGeom prst="rect">
            <a:avLst/>
          </a:prstGeom>
          <a:noFill/>
        </p:spPr>
        <p:txBody>
          <a:bodyPr wrap="square" anchor="t"/>
          <a:lstStyle/>
          <a:p>
            <a:pPr algn="l"/>
            <a:r>
              <a:rPr sz="2400" b="1" i="0">
                <a:solidFill>
                  <a:srgbClr val="FFC107"/>
                </a:solidFill>
                <a:latin typeface="Calibri"/>
              </a:rPr>
              <a:t>WER 89%   WWER 44%   IS 2.07 (Fair)   Judge: P</a:t>
            </a:r>
          </a:p>
        </p:txBody>
      </p:sp>
      <p:sp>
        <p:nvSpPr>
          <p:cNvPr id="6" name="TextBox 5"/>
          <p:cNvSpPr txBox="1"/>
          <p:nvPr/>
        </p:nvSpPr>
        <p:spPr>
          <a:xfrm>
            <a:off x="6400800" y="1783080"/>
            <a:ext cx="5239512" cy="228600"/>
          </a:xfrm>
          <a:prstGeom prst="rect">
            <a:avLst/>
          </a:prstGeom>
          <a:noFill/>
        </p:spPr>
        <p:txBody>
          <a:bodyPr wrap="square" anchor="t"/>
          <a:lstStyle/>
          <a:p>
            <a:pPr algn="l"/>
            <a:r>
              <a:rPr sz="2000" b="1" i="0">
                <a:solidFill>
                  <a:srgbClr val="AAAAAA"/>
                </a:solidFill>
                <a:latin typeface="Calibri"/>
              </a:rPr>
              <a:t>Reference:</a:t>
            </a:r>
          </a:p>
        </p:txBody>
      </p:sp>
      <p:sp>
        <p:nvSpPr>
          <p:cNvPr id="7" name="TextBox 6"/>
          <p:cNvSpPr txBox="1"/>
          <p:nvPr/>
        </p:nvSpPr>
        <p:spPr>
          <a:xfrm>
            <a:off x="6400800" y="2011680"/>
            <a:ext cx="5239512" cy="1554480"/>
          </a:xfrm>
          <a:prstGeom prst="rect">
            <a:avLst/>
          </a:prstGeom>
          <a:noFill/>
        </p:spPr>
        <p:txBody>
          <a:bodyPr wrap="square" anchor="t"/>
          <a:lstStyle/>
          <a:p>
            <a:pPr algn="l"/>
            <a:r>
              <a:rPr sz="2000" b="0" i="1">
                <a:solidFill>
                  <a:srgbClr val="FFFFFF"/>
                </a:solidFill>
                <a:latin typeface="Calibri"/>
              </a:rPr>
              <a:t>“and i have a tablespoon of jalapeno fresh jalapeno”</a:t>
            </a:r>
          </a:p>
        </p:txBody>
      </p:sp>
      <p:sp>
        <p:nvSpPr>
          <p:cNvPr id="8" name="TextBox 7"/>
          <p:cNvSpPr txBox="1"/>
          <p:nvPr/>
        </p:nvSpPr>
        <p:spPr>
          <a:xfrm>
            <a:off x="6400800" y="2971800"/>
            <a:ext cx="5239512" cy="228600"/>
          </a:xfrm>
          <a:prstGeom prst="rect">
            <a:avLst/>
          </a:prstGeom>
          <a:noFill/>
        </p:spPr>
        <p:txBody>
          <a:bodyPr wrap="square" anchor="t"/>
          <a:lstStyle/>
          <a:p>
            <a:pPr algn="l"/>
            <a:r>
              <a:rPr sz="2000" b="1" i="0">
                <a:solidFill>
                  <a:srgbClr val="AAAAAA"/>
                </a:solidFill>
                <a:latin typeface="Calibri"/>
              </a:rPr>
              <a:t>Prediction:</a:t>
            </a:r>
          </a:p>
        </p:txBody>
      </p:sp>
      <p:sp>
        <p:nvSpPr>
          <p:cNvPr id="9" name="TextBox 8"/>
          <p:cNvSpPr txBox="1"/>
          <p:nvPr/>
        </p:nvSpPr>
        <p:spPr>
          <a:xfrm>
            <a:off x="6400800" y="3200399"/>
            <a:ext cx="5239512" cy="1600200"/>
          </a:xfrm>
          <a:prstGeom prst="rect">
            <a:avLst/>
          </a:prstGeom>
          <a:noFill/>
        </p:spPr>
        <p:txBody>
          <a:bodyPr wrap="square" anchor="t"/>
          <a:lstStyle/>
          <a:p>
            <a:pPr algn="l"/>
            <a:r>
              <a:rPr sz="2000" b="0" i="1">
                <a:solidFill>
                  <a:srgbClr val="E06C75"/>
                </a:solidFill>
                <a:latin typeface="Calibri"/>
              </a:rPr>
              <a:t>“and i have a dietary smoothie i've got the banana called fresh banana”</a:t>
            </a:r>
          </a:p>
        </p:txBody>
      </p:sp>
      <p:sp>
        <p:nvSpPr>
          <p:cNvPr id="10" name="Rounded Rectangle 9"/>
          <p:cNvSpPr/>
          <p:nvPr/>
        </p:nvSpPr>
        <p:spPr>
          <a:xfrm>
            <a:off x="6400800" y="4206240"/>
            <a:ext cx="5239512" cy="64008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24528"/>
            <a:ext cx="4965192" cy="640080"/>
          </a:xfrm>
          <a:prstGeom prst="rect">
            <a:avLst/>
          </a:prstGeom>
          <a:noFill/>
        </p:spPr>
        <p:txBody>
          <a:bodyPr wrap="square" anchor="t"/>
          <a:lstStyle/>
          <a:p>
            <a:pPr algn="l"/>
            <a:r>
              <a:rPr sz="2000" b="1" i="0">
                <a:solidFill>
                  <a:srgbClr val="00B4D8"/>
                </a:solidFill>
                <a:latin typeface="Calibri"/>
              </a:rPr>
              <a:t>Domain Confusion — food context right, ingredients wrong</a:t>
            </a:r>
          </a:p>
        </p:txBody>
      </p:sp>
      <p:sp>
        <p:nvSpPr>
          <p:cNvPr id="12" name="TextBox 11"/>
          <p:cNvSpPr txBox="1"/>
          <p:nvPr/>
        </p:nvSpPr>
        <p:spPr>
          <a:xfrm>
            <a:off x="6400800" y="4892040"/>
            <a:ext cx="5239512" cy="1554480"/>
          </a:xfrm>
          <a:prstGeom prst="rect">
            <a:avLst/>
          </a:prstGeom>
          <a:noFill/>
        </p:spPr>
        <p:txBody>
          <a:bodyPr wrap="square" anchor="t"/>
          <a:lstStyle/>
          <a:p>
            <a:pPr algn="l"/>
            <a:r>
              <a:rPr sz="2400" b="0" i="0">
                <a:solidFill>
                  <a:srgbClr val="FFFFFF"/>
                </a:solidFill>
                <a:latin typeface="Calibri"/>
              </a:rPr>
              <a:t>Model knows it's a cooking video ('smoothie', 'banana', 'fresh') but picks the wrong ingredient: jalapeno → banana.</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Lst>
  </p:timing>
</p:sld>
</file>

<file path=ppt/slides/slide24.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Judge Example 3 — Verdict P at low IS: Fluent but Wrong Topic</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tUcgHemnJiQ_0__2fc132c1_with_hyp.mp4"/>
              <p:cNvPicPr>
                <a:picLocks noChangeAspect="1"/>
              </p:cNvPicPr>
              <p:nvPr>
                <a:videoFile r:link="rId3"/>
                <p:extLst>
                  <p:ext uri="{DAA4B4D4-6D71-4841-9C94-3DE7FCFB9230}">
                    <p14:media r:embed="rId2"/>
                  </p:ext>
                </p:extLst>
              </p:nvPr>
            </p:nvPicPr>
            <p:blipFill>
              <a:blip r:embed="rId4"/>
              <a:stretch>
                <a:fillRect/>
              </a:stretch>
            </p:blipFill>
            <p:spPr>
              <a:xfrm>
                <a:off x="548640" y="1417320"/>
                <a:ext cx="5486400" cy="4114800"/>
              </a:xfrm>
              <a:prstGeom prst="rect">
                <a:avLst/>
              </a:prstGeom>
            </p:spPr>
          </p:pic>
        </mc:Choice>
        <mc:Fallback>
          <p:pic>
            <p:nvPicPr>
              <p:cNvPr id="4" name="tUcgHemnJiQ_0__2fc132c1_with_hyp.mp4"/>
              <p:cNvPicPr>
                <a:picLocks noChangeAspect="1"/>
              </p:cNvPicPr>
              <p:nvPr/>
            </p:nvPicPr>
            <p:blipFill>
              <a:blip r:embed="rId4"/>
              <a:stretch>
                <a:fillRect/>
              </a:stretch>
            </p:blipFill>
            <p:spPr>
              <a:xfrm>
                <a:off x="548640" y="1417320"/>
                <a:ext cx="5486400" cy="4114800"/>
              </a:xfrm>
              <a:prstGeom prst="rect">
                <a:avLst/>
              </a:prstGeom>
            </p:spPr>
          </p:pic>
        </mc:Fallback>
      </mc:AlternateContent>
      <p:sp>
        <p:nvSpPr>
          <p:cNvPr id="5" name="TextBox 4"/>
          <p:cNvSpPr txBox="1"/>
          <p:nvPr/>
        </p:nvSpPr>
        <p:spPr>
          <a:xfrm>
            <a:off x="6400800" y="1325880"/>
            <a:ext cx="5239512" cy="777240"/>
          </a:xfrm>
          <a:prstGeom prst="rect">
            <a:avLst/>
          </a:prstGeom>
          <a:noFill/>
        </p:spPr>
        <p:txBody>
          <a:bodyPr wrap="square" anchor="t"/>
          <a:lstStyle/>
          <a:p>
            <a:pPr algn="l"/>
            <a:r>
              <a:rPr sz="2400" b="1" i="0">
                <a:solidFill>
                  <a:srgbClr val="FFC107"/>
                </a:solidFill>
                <a:latin typeface="Calibri"/>
              </a:rPr>
              <a:t>WER 74%   WWER 69%   IS 1.79 (Poor)   Judge: P</a:t>
            </a:r>
          </a:p>
        </p:txBody>
      </p:sp>
      <p:sp>
        <p:nvSpPr>
          <p:cNvPr id="6" name="TextBox 5"/>
          <p:cNvSpPr txBox="1"/>
          <p:nvPr/>
        </p:nvSpPr>
        <p:spPr>
          <a:xfrm>
            <a:off x="6400800" y="1783080"/>
            <a:ext cx="5239512" cy="228600"/>
          </a:xfrm>
          <a:prstGeom prst="rect">
            <a:avLst/>
          </a:prstGeom>
          <a:noFill/>
        </p:spPr>
        <p:txBody>
          <a:bodyPr wrap="square" anchor="t"/>
          <a:lstStyle/>
          <a:p>
            <a:pPr algn="l"/>
            <a:r>
              <a:rPr sz="2000" b="1" i="0">
                <a:solidFill>
                  <a:srgbClr val="AAAAAA"/>
                </a:solidFill>
                <a:latin typeface="Calibri"/>
              </a:rPr>
              <a:t>Reference:</a:t>
            </a:r>
          </a:p>
        </p:txBody>
      </p:sp>
      <p:sp>
        <p:nvSpPr>
          <p:cNvPr id="7" name="TextBox 6"/>
          <p:cNvSpPr txBox="1"/>
          <p:nvPr/>
        </p:nvSpPr>
        <p:spPr>
          <a:xfrm>
            <a:off x="6400800" y="2011680"/>
            <a:ext cx="5239512" cy="1554480"/>
          </a:xfrm>
          <a:prstGeom prst="rect">
            <a:avLst/>
          </a:prstGeom>
          <a:noFill/>
        </p:spPr>
        <p:txBody>
          <a:bodyPr wrap="square" anchor="t"/>
          <a:lstStyle/>
          <a:p>
            <a:pPr algn="l"/>
            <a:r>
              <a:rPr sz="2000" b="0" i="1">
                <a:solidFill>
                  <a:srgbClr val="FFFFFF"/>
                </a:solidFill>
                <a:latin typeface="Calibri"/>
              </a:rPr>
              <a:t>“i actually use the overhead lights which are mostly fluorescent which i know is a big no no but this camera”</a:t>
            </a:r>
          </a:p>
        </p:txBody>
      </p:sp>
      <p:sp>
        <p:nvSpPr>
          <p:cNvPr id="8" name="TextBox 7"/>
          <p:cNvSpPr txBox="1"/>
          <p:nvPr/>
        </p:nvSpPr>
        <p:spPr>
          <a:xfrm>
            <a:off x="6400800" y="2971800"/>
            <a:ext cx="5239512" cy="228600"/>
          </a:xfrm>
          <a:prstGeom prst="rect">
            <a:avLst/>
          </a:prstGeom>
          <a:noFill/>
        </p:spPr>
        <p:txBody>
          <a:bodyPr wrap="square" anchor="t"/>
          <a:lstStyle/>
          <a:p>
            <a:pPr algn="l"/>
            <a:r>
              <a:rPr sz="2000" b="1" i="0">
                <a:solidFill>
                  <a:srgbClr val="AAAAAA"/>
                </a:solidFill>
                <a:latin typeface="Calibri"/>
              </a:rPr>
              <a:t>Prediction:</a:t>
            </a:r>
          </a:p>
        </p:txBody>
      </p:sp>
      <p:sp>
        <p:nvSpPr>
          <p:cNvPr id="9" name="TextBox 8"/>
          <p:cNvSpPr txBox="1"/>
          <p:nvPr/>
        </p:nvSpPr>
        <p:spPr>
          <a:xfrm>
            <a:off x="6400800" y="3200399"/>
            <a:ext cx="5239512" cy="1600200"/>
          </a:xfrm>
          <a:prstGeom prst="rect">
            <a:avLst/>
          </a:prstGeom>
          <a:noFill/>
        </p:spPr>
        <p:txBody>
          <a:bodyPr wrap="square" anchor="t"/>
          <a:lstStyle/>
          <a:p>
            <a:pPr algn="l"/>
            <a:r>
              <a:rPr sz="2000" b="0" i="1">
                <a:solidFill>
                  <a:srgbClr val="E06C75"/>
                </a:solidFill>
                <a:latin typeface="Calibri"/>
              </a:rPr>
              <a:t>“i actually used the overheard ghost whisperer music for that scene which i know is about to go on but the scene runs”</a:t>
            </a:r>
          </a:p>
        </p:txBody>
      </p:sp>
      <p:sp>
        <p:nvSpPr>
          <p:cNvPr id="10" name="Rounded Rectangle 9"/>
          <p:cNvSpPr/>
          <p:nvPr/>
        </p:nvSpPr>
        <p:spPr>
          <a:xfrm>
            <a:off x="6400800" y="4206240"/>
            <a:ext cx="5239512" cy="64008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4224528"/>
            <a:ext cx="4965192" cy="640080"/>
          </a:xfrm>
          <a:prstGeom prst="rect">
            <a:avLst/>
          </a:prstGeom>
          <a:noFill/>
        </p:spPr>
        <p:txBody>
          <a:bodyPr wrap="square" anchor="t"/>
          <a:lstStyle/>
          <a:p>
            <a:pPr algn="l"/>
            <a:r>
              <a:rPr sz="2000" b="1" i="0">
                <a:solidFill>
                  <a:srgbClr val="00B4D8"/>
                </a:solidFill>
                <a:latin typeface="Calibri"/>
              </a:rPr>
              <a:t>Topic Hijack — grammatically fluent, completely wrong topic</a:t>
            </a:r>
          </a:p>
        </p:txBody>
      </p:sp>
      <p:sp>
        <p:nvSpPr>
          <p:cNvPr id="12" name="TextBox 11"/>
          <p:cNvSpPr txBox="1"/>
          <p:nvPr/>
        </p:nvSpPr>
        <p:spPr>
          <a:xfrm>
            <a:off x="6400800" y="4892040"/>
            <a:ext cx="5239512" cy="1554480"/>
          </a:xfrm>
          <a:prstGeom prst="rect">
            <a:avLst/>
          </a:prstGeom>
          <a:noFill/>
        </p:spPr>
        <p:txBody>
          <a:bodyPr wrap="square" anchor="t"/>
          <a:lstStyle/>
          <a:p>
            <a:pPr algn="l"/>
            <a:r>
              <a:rPr sz="2400" b="0" i="0">
                <a:solidFill>
                  <a:srgbClr val="FFFFFF"/>
                </a:solidFill>
                <a:latin typeface="Calibri"/>
              </a:rPr>
              <a:t>Phonetic cascade: 'overhead lights' → 'overheard ghost whisperer'. Grammatically perfect, but the topic is completely replaced.</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2"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Why LLM as a Judge Is Not Enough</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2000" b="0" i="1">
                <a:solidFill>
                  <a:srgbClr val="666666"/>
                </a:solidFill>
                <a:latin typeface="Calibri"/>
              </a:rPr>
              <a:t>Five reasons we built the Intelligibility Score (IS) framework</a:t>
            </a:r>
          </a:p>
        </p:txBody>
      </p:sp>
      <p:sp>
        <p:nvSpPr>
          <p:cNvPr id="5" name="Rounded Rectangle 4"/>
          <p:cNvSpPr/>
          <p:nvPr/>
        </p:nvSpPr>
        <p:spPr>
          <a:xfrm>
            <a:off x="548640" y="1783080"/>
            <a:ext cx="5349240" cy="960120"/>
          </a:xfrm>
          <a:prstGeom prst="round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4983480" cy="274320"/>
          </a:xfrm>
          <a:prstGeom prst="rect">
            <a:avLst/>
          </a:prstGeom>
          <a:noFill/>
        </p:spPr>
        <p:txBody>
          <a:bodyPr wrap="square" anchor="t"/>
          <a:lstStyle/>
          <a:p>
            <a:pPr algn="l"/>
            <a:r>
              <a:rPr sz="2400" b="1" i="0">
                <a:solidFill>
                  <a:srgbClr val="00B4D8"/>
                </a:solidFill>
                <a:latin typeface="Calibri"/>
              </a:rPr>
              <a:t>① Deployment Constraint</a:t>
            </a:r>
          </a:p>
        </p:txBody>
      </p:sp>
      <p:sp>
        <p:nvSpPr>
          <p:cNvPr id="7" name="TextBox 6"/>
          <p:cNvSpPr txBox="1"/>
          <p:nvPr/>
        </p:nvSpPr>
        <p:spPr>
          <a:xfrm>
            <a:off x="731520" y="2167128"/>
            <a:ext cx="4983480" cy="521207"/>
          </a:xfrm>
          <a:prstGeom prst="rect">
            <a:avLst/>
          </a:prstGeom>
          <a:noFill/>
        </p:spPr>
        <p:txBody>
          <a:bodyPr wrap="square" anchor="t"/>
          <a:lstStyle/>
          <a:p>
            <a:pPr algn="l"/>
            <a:r>
              <a:rPr sz="2400" b="0" i="0">
                <a:solidFill>
                  <a:srgbClr val="AAAAAA"/>
                </a:solidFill>
                <a:latin typeface="Calibri"/>
              </a:rPr>
              <a:t>No API, no GPU, no internet needed.</a:t>
            </a:r>
          </a:p>
        </p:txBody>
      </p:sp>
      <p:sp>
        <p:nvSpPr>
          <p:cNvPr id="8" name="Rounded Rectangle 7"/>
          <p:cNvSpPr/>
          <p:nvPr/>
        </p:nvSpPr>
        <p:spPr>
          <a:xfrm>
            <a:off x="6291072" y="1783080"/>
            <a:ext cx="5349240" cy="960120"/>
          </a:xfrm>
          <a:prstGeom prst="round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874520"/>
            <a:ext cx="4983480" cy="274320"/>
          </a:xfrm>
          <a:prstGeom prst="rect">
            <a:avLst/>
          </a:prstGeom>
          <a:noFill/>
        </p:spPr>
        <p:txBody>
          <a:bodyPr wrap="square" anchor="t"/>
          <a:lstStyle/>
          <a:p>
            <a:pPr algn="l"/>
            <a:r>
              <a:rPr sz="2400" b="1" i="0">
                <a:solidFill>
                  <a:srgbClr val="00B4D8"/>
                </a:solidFill>
                <a:latin typeface="Calibri"/>
              </a:rPr>
              <a:t>② Determinism</a:t>
            </a:r>
          </a:p>
        </p:txBody>
      </p:sp>
      <p:sp>
        <p:nvSpPr>
          <p:cNvPr id="10" name="TextBox 9"/>
          <p:cNvSpPr txBox="1"/>
          <p:nvPr/>
        </p:nvSpPr>
        <p:spPr>
          <a:xfrm>
            <a:off x="6473952" y="2167128"/>
            <a:ext cx="4983480" cy="521207"/>
          </a:xfrm>
          <a:prstGeom prst="rect">
            <a:avLst/>
          </a:prstGeom>
          <a:noFill/>
        </p:spPr>
        <p:txBody>
          <a:bodyPr wrap="square" anchor="t"/>
          <a:lstStyle/>
          <a:p>
            <a:pPr algn="l"/>
            <a:r>
              <a:rPr sz="2400" b="0" i="0">
                <a:solidFill>
                  <a:srgbClr val="AAAAAA"/>
                </a:solidFill>
                <a:latin typeface="Calibri"/>
              </a:rPr>
              <a:t>Same score every time, guaranteed.</a:t>
            </a:r>
          </a:p>
        </p:txBody>
      </p:sp>
      <p:sp>
        <p:nvSpPr>
          <p:cNvPr id="11" name="Rounded Rectangle 10"/>
          <p:cNvSpPr/>
          <p:nvPr/>
        </p:nvSpPr>
        <p:spPr>
          <a:xfrm>
            <a:off x="548640" y="2852928"/>
            <a:ext cx="5349240" cy="960120"/>
          </a:xfrm>
          <a:prstGeom prst="round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944368"/>
            <a:ext cx="4983480" cy="274320"/>
          </a:xfrm>
          <a:prstGeom prst="rect">
            <a:avLst/>
          </a:prstGeom>
          <a:noFill/>
        </p:spPr>
        <p:txBody>
          <a:bodyPr wrap="square" anchor="t"/>
          <a:lstStyle/>
          <a:p>
            <a:pPr algn="l"/>
            <a:r>
              <a:rPr sz="2400" b="1" i="0">
                <a:solidFill>
                  <a:srgbClr val="00B4D8"/>
                </a:solidFill>
                <a:latin typeface="Calibri"/>
              </a:rPr>
              <a:t>③ Continuous Signal</a:t>
            </a:r>
          </a:p>
        </p:txBody>
      </p:sp>
      <p:sp>
        <p:nvSpPr>
          <p:cNvPr id="13" name="TextBox 12"/>
          <p:cNvSpPr txBox="1"/>
          <p:nvPr/>
        </p:nvSpPr>
        <p:spPr>
          <a:xfrm>
            <a:off x="731520" y="3236976"/>
            <a:ext cx="4983480" cy="521207"/>
          </a:xfrm>
          <a:prstGeom prst="rect">
            <a:avLst/>
          </a:prstGeom>
          <a:noFill/>
        </p:spPr>
        <p:txBody>
          <a:bodyPr wrap="square" anchor="t"/>
          <a:lstStyle/>
          <a:p>
            <a:pPr algn="l"/>
            <a:r>
              <a:rPr sz="2400" b="0" i="0">
                <a:solidFill>
                  <a:srgbClr val="AAAAAA"/>
                </a:solidFill>
                <a:latin typeface="Calibri"/>
              </a:rPr>
              <a:t>0–5.0 continuous from 6 signals.</a:t>
            </a:r>
          </a:p>
        </p:txBody>
      </p:sp>
      <p:sp>
        <p:nvSpPr>
          <p:cNvPr id="14" name="Rounded Rectangle 13"/>
          <p:cNvSpPr/>
          <p:nvPr/>
        </p:nvSpPr>
        <p:spPr>
          <a:xfrm>
            <a:off x="6291072" y="2852928"/>
            <a:ext cx="5349240" cy="960120"/>
          </a:xfrm>
          <a:prstGeom prst="round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2944368"/>
            <a:ext cx="4983480" cy="274320"/>
          </a:xfrm>
          <a:prstGeom prst="rect">
            <a:avLst/>
          </a:prstGeom>
          <a:noFill/>
        </p:spPr>
        <p:txBody>
          <a:bodyPr wrap="square" anchor="t"/>
          <a:lstStyle/>
          <a:p>
            <a:pPr algn="l"/>
            <a:r>
              <a:rPr sz="2400" b="1" i="0">
                <a:solidFill>
                  <a:srgbClr val="00B4D8"/>
                </a:solidFill>
                <a:latin typeface="Calibri"/>
              </a:rPr>
              <a:t>④ Known Biases</a:t>
            </a:r>
          </a:p>
        </p:txBody>
      </p:sp>
      <p:sp>
        <p:nvSpPr>
          <p:cNvPr id="16" name="TextBox 15"/>
          <p:cNvSpPr txBox="1"/>
          <p:nvPr/>
        </p:nvSpPr>
        <p:spPr>
          <a:xfrm>
            <a:off x="6473952" y="3236976"/>
            <a:ext cx="4983480" cy="521207"/>
          </a:xfrm>
          <a:prstGeom prst="rect">
            <a:avLst/>
          </a:prstGeom>
          <a:noFill/>
        </p:spPr>
        <p:txBody>
          <a:bodyPr wrap="square" anchor="t"/>
          <a:lstStyle/>
          <a:p>
            <a:pPr algn="l"/>
            <a:r>
              <a:rPr sz="2400" b="0" i="0">
                <a:solidFill>
                  <a:srgbClr val="AAAAAA"/>
                </a:solidFill>
                <a:latin typeface="Calibri"/>
              </a:rPr>
              <a:t>12+ documented biases. IS has none.</a:t>
            </a:r>
          </a:p>
        </p:txBody>
      </p:sp>
      <p:sp>
        <p:nvSpPr>
          <p:cNvPr id="17" name="Rounded Rectangle 16"/>
          <p:cNvSpPr/>
          <p:nvPr/>
        </p:nvSpPr>
        <p:spPr>
          <a:xfrm>
            <a:off x="3419856" y="3922776"/>
            <a:ext cx="5349240" cy="960120"/>
          </a:xfrm>
          <a:prstGeom prst="round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2736" y="4014216"/>
            <a:ext cx="4983480" cy="274320"/>
          </a:xfrm>
          <a:prstGeom prst="rect">
            <a:avLst/>
          </a:prstGeom>
          <a:noFill/>
        </p:spPr>
        <p:txBody>
          <a:bodyPr wrap="square" anchor="t"/>
          <a:lstStyle/>
          <a:p>
            <a:pPr algn="l"/>
            <a:r>
              <a:rPr sz="2400" b="1" i="0">
                <a:solidFill>
                  <a:srgbClr val="00B4D8"/>
                </a:solidFill>
                <a:latin typeface="Calibri"/>
              </a:rPr>
              <a:t>⑤ Decomposability</a:t>
            </a:r>
          </a:p>
        </p:txBody>
      </p:sp>
      <p:sp>
        <p:nvSpPr>
          <p:cNvPr id="19" name="TextBox 18"/>
          <p:cNvSpPr txBox="1"/>
          <p:nvPr/>
        </p:nvSpPr>
        <p:spPr>
          <a:xfrm>
            <a:off x="3602736" y="4306824"/>
            <a:ext cx="4983480" cy="521207"/>
          </a:xfrm>
          <a:prstGeom prst="rect">
            <a:avLst/>
          </a:prstGeom>
          <a:noFill/>
        </p:spPr>
        <p:txBody>
          <a:bodyPr wrap="square" anchor="t"/>
          <a:lstStyle/>
          <a:p>
            <a:pPr algn="l"/>
            <a:r>
              <a:rPr sz="2400" b="0" i="0">
                <a:solidFill>
                  <a:srgbClr val="AAAAAA"/>
                </a:solidFill>
                <a:latin typeface="Calibri"/>
              </a:rPr>
              <a:t>6 named signals → diagnose exactly.</a:t>
            </a:r>
          </a:p>
        </p:txBody>
      </p:sp>
      <p:sp>
        <p:nvSpPr>
          <p:cNvPr id="20" name="Rounded Rectangle 19"/>
          <p:cNvSpPr/>
          <p:nvPr/>
        </p:nvSpPr>
        <p:spPr>
          <a:xfrm>
            <a:off x="548640" y="5029200"/>
            <a:ext cx="11091672" cy="82296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120640"/>
            <a:ext cx="10543032" cy="640080"/>
          </a:xfrm>
          <a:prstGeom prst="rect">
            <a:avLst/>
          </a:prstGeom>
          <a:noFill/>
        </p:spPr>
        <p:txBody>
          <a:bodyPr wrap="square" anchor="t"/>
          <a:lstStyle/>
          <a:p>
            <a:pPr algn="ctr"/>
            <a:r>
              <a:rPr sz="2400" b="1" i="0">
                <a:solidFill>
                  <a:srgbClr val="FFD54F"/>
                </a:solidFill>
                <a:latin typeface="Calibri"/>
              </a:rPr>
              <a:t>IS runs in production; LLM-as-a-Judge audits the IS framework. You need both.</a:t>
            </a:r>
          </a:p>
        </p:txBody>
      </p:sp>
      <p:pic>
        <p:nvPicPr>
          <p:cNvPr id="22" name="Picture 2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3" name="TextBox 2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24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12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24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par>
                                <p:cTn id="39" presetID="1" presetClass="entr" presetSubtype="0" fill="hold" grpId="0" nodeType="withEffect">
                                  <p:stCondLst>
                                    <p:cond delay="12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24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12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Signals: Word Accuracy &amp; Length</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7315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99032"/>
            <a:ext cx="10543032" cy="640080"/>
          </a:xfrm>
          <a:prstGeom prst="rect">
            <a:avLst/>
          </a:prstGeom>
          <a:noFill/>
        </p:spPr>
        <p:txBody>
          <a:bodyPr wrap="square" anchor="t"/>
          <a:lstStyle/>
          <a:p>
            <a:pPr algn="ctr"/>
            <a:r>
              <a:rPr sz="2400" b="1" i="0">
                <a:solidFill>
                  <a:srgbClr val="00B4D8"/>
                </a:solidFill>
                <a:latin typeface="Calibri"/>
              </a:rPr>
              <a:t>IS = 6 signals (0–5).  IS ≥ 2.00 = "Useful" (Y+P).  These 3 measure word accuracy and sanity.</a:t>
            </a:r>
          </a:p>
        </p:txBody>
      </p:sp>
      <p:sp>
        <p:nvSpPr>
          <p:cNvPr id="6" name="Rounded Rectangle 5"/>
          <p:cNvSpPr/>
          <p:nvPr/>
        </p:nvSpPr>
        <p:spPr>
          <a:xfrm>
            <a:off x="548640" y="2194560"/>
            <a:ext cx="10058400" cy="1325880"/>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249424"/>
            <a:ext cx="9692640" cy="329184"/>
          </a:xfrm>
          <a:prstGeom prst="rect">
            <a:avLst/>
          </a:prstGeom>
          <a:noFill/>
        </p:spPr>
        <p:txBody>
          <a:bodyPr wrap="square" anchor="t"/>
          <a:lstStyle/>
          <a:p>
            <a:pPr algn="l"/>
            <a:r>
              <a:rPr sz="2400" b="1" i="0">
                <a:solidFill>
                  <a:srgbClr val="E06C75"/>
                </a:solidFill>
                <a:latin typeface="Calibri"/>
              </a:rPr>
              <a:t>Inverse WER  (15%)</a:t>
            </a:r>
          </a:p>
        </p:txBody>
      </p:sp>
      <p:sp>
        <p:nvSpPr>
          <p:cNvPr id="8" name="TextBox 7"/>
          <p:cNvSpPr txBox="1"/>
          <p:nvPr/>
        </p:nvSpPr>
        <p:spPr>
          <a:xfrm>
            <a:off x="731520" y="2578608"/>
            <a:ext cx="9692640" cy="502920"/>
          </a:xfrm>
          <a:prstGeom prst="rect">
            <a:avLst/>
          </a:prstGeom>
          <a:noFill/>
        </p:spPr>
        <p:txBody>
          <a:bodyPr wrap="square" anchor="t"/>
          <a:lstStyle/>
          <a:p>
            <a:pPr algn="l"/>
            <a:r>
              <a:rPr sz="2400" b="0" i="0">
                <a:solidFill>
                  <a:srgbClr val="FFFFFF"/>
                </a:solidFill>
                <a:latin typeface="Calibri"/>
              </a:rPr>
              <a:t>1 − WER. All words equal.</a:t>
            </a:r>
          </a:p>
        </p:txBody>
      </p:sp>
      <p:sp>
        <p:nvSpPr>
          <p:cNvPr id="9" name="TextBox 8"/>
          <p:cNvSpPr txBox="1"/>
          <p:nvPr/>
        </p:nvSpPr>
        <p:spPr>
          <a:xfrm>
            <a:off x="731520" y="3108960"/>
            <a:ext cx="9692640" cy="365760"/>
          </a:xfrm>
          <a:prstGeom prst="rect">
            <a:avLst/>
          </a:prstGeom>
          <a:noFill/>
        </p:spPr>
        <p:txBody>
          <a:bodyPr wrap="square" anchor="t"/>
          <a:lstStyle/>
          <a:p>
            <a:pPr algn="l"/>
            <a:r>
              <a:rPr sz="2000" b="0" i="1">
                <a:solidFill>
                  <a:srgbClr val="AAAAAA"/>
                </a:solidFill>
                <a:latin typeface="Calibri"/>
              </a:rPr>
              <a:t>▸ Every error costs the same.</a:t>
            </a:r>
          </a:p>
        </p:txBody>
      </p:sp>
      <p:sp>
        <p:nvSpPr>
          <p:cNvPr id="10" name="Rounded Rectangle 9"/>
          <p:cNvSpPr/>
          <p:nvPr/>
        </p:nvSpPr>
        <p:spPr>
          <a:xfrm>
            <a:off x="548640" y="3575304"/>
            <a:ext cx="10058400" cy="1325880"/>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630168"/>
            <a:ext cx="9692640" cy="329184"/>
          </a:xfrm>
          <a:prstGeom prst="rect">
            <a:avLst/>
          </a:prstGeom>
          <a:noFill/>
        </p:spPr>
        <p:txBody>
          <a:bodyPr wrap="square" anchor="t"/>
          <a:lstStyle/>
          <a:p>
            <a:pPr algn="l"/>
            <a:r>
              <a:rPr sz="2400" b="1" i="0">
                <a:solidFill>
                  <a:srgbClr val="E06C75"/>
                </a:solidFill>
                <a:latin typeface="Calibri"/>
              </a:rPr>
              <a:t>WWER (Weighted WER)  (15%)</a:t>
            </a:r>
          </a:p>
        </p:txBody>
      </p:sp>
      <p:sp>
        <p:nvSpPr>
          <p:cNvPr id="12" name="TextBox 11"/>
          <p:cNvSpPr txBox="1"/>
          <p:nvPr/>
        </p:nvSpPr>
        <p:spPr>
          <a:xfrm>
            <a:off x="731520" y="3959352"/>
            <a:ext cx="9692640" cy="502920"/>
          </a:xfrm>
          <a:prstGeom prst="rect">
            <a:avLst/>
          </a:prstGeom>
          <a:noFill/>
        </p:spPr>
        <p:txBody>
          <a:bodyPr wrap="square" anchor="t"/>
          <a:lstStyle/>
          <a:p>
            <a:pPr algn="l"/>
            <a:r>
              <a:rPr sz="2400" b="0" i="0">
                <a:solidFill>
                  <a:srgbClr val="FFFFFF"/>
                </a:solidFill>
                <a:latin typeface="Calibri"/>
              </a:rPr>
              <a:t>Content words 2×, function words 0.5×.</a:t>
            </a:r>
          </a:p>
        </p:txBody>
      </p:sp>
      <p:sp>
        <p:nvSpPr>
          <p:cNvPr id="13" name="TextBox 12"/>
          <p:cNvSpPr txBox="1"/>
          <p:nvPr/>
        </p:nvSpPr>
        <p:spPr>
          <a:xfrm>
            <a:off x="731520" y="4489704"/>
            <a:ext cx="9692640" cy="365760"/>
          </a:xfrm>
          <a:prstGeom prst="rect">
            <a:avLst/>
          </a:prstGeom>
          <a:noFill/>
        </p:spPr>
        <p:txBody>
          <a:bodyPr wrap="square" anchor="t"/>
          <a:lstStyle/>
          <a:p>
            <a:pPr algn="l"/>
            <a:r>
              <a:rPr sz="2000" b="0" i="1">
                <a:solidFill>
                  <a:srgbClr val="AAAAAA"/>
                </a:solidFill>
                <a:latin typeface="Calibri"/>
              </a:rPr>
              <a:t>▸ "Admiral McRae" 2×;  "the" 0.5×.</a:t>
            </a:r>
          </a:p>
        </p:txBody>
      </p:sp>
      <p:sp>
        <p:nvSpPr>
          <p:cNvPr id="14" name="Rounded Rectangle 13"/>
          <p:cNvSpPr/>
          <p:nvPr/>
        </p:nvSpPr>
        <p:spPr>
          <a:xfrm>
            <a:off x="548640" y="4956048"/>
            <a:ext cx="10058400" cy="1417320"/>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010912"/>
            <a:ext cx="9692640" cy="329184"/>
          </a:xfrm>
          <a:prstGeom prst="rect">
            <a:avLst/>
          </a:prstGeom>
          <a:noFill/>
        </p:spPr>
        <p:txBody>
          <a:bodyPr wrap="square" anchor="t"/>
          <a:lstStyle/>
          <a:p>
            <a:pPr algn="l"/>
            <a:r>
              <a:rPr sz="2400" b="1" i="0">
                <a:solidFill>
                  <a:srgbClr val="AAAAAA"/>
                </a:solidFill>
                <a:latin typeface="Calibri"/>
              </a:rPr>
              <a:t>Length Ratio  (15%)</a:t>
            </a:r>
          </a:p>
        </p:txBody>
      </p:sp>
      <p:sp>
        <p:nvSpPr>
          <p:cNvPr id="16" name="TextBox 15"/>
          <p:cNvSpPr txBox="1"/>
          <p:nvPr/>
        </p:nvSpPr>
        <p:spPr>
          <a:xfrm>
            <a:off x="731520" y="5340096"/>
            <a:ext cx="9692640" cy="502920"/>
          </a:xfrm>
          <a:prstGeom prst="rect">
            <a:avLst/>
          </a:prstGeom>
          <a:noFill/>
        </p:spPr>
        <p:txBody>
          <a:bodyPr wrap="square" anchor="t"/>
          <a:lstStyle/>
          <a:p>
            <a:pPr algn="l"/>
            <a:r>
              <a:rPr sz="2400" b="0" i="0">
                <a:solidFill>
                  <a:srgbClr val="FFFFFF"/>
                </a:solidFill>
                <a:latin typeface="Calibri"/>
              </a:rPr>
              <a:t>len(hyp)/len(ref). Catches hallucination + truncation.</a:t>
            </a:r>
          </a:p>
        </p:txBody>
      </p:sp>
      <p:sp>
        <p:nvSpPr>
          <p:cNvPr id="17" name="TextBox 16"/>
          <p:cNvSpPr txBox="1"/>
          <p:nvPr/>
        </p:nvSpPr>
        <p:spPr>
          <a:xfrm>
            <a:off x="731520" y="5733288"/>
            <a:ext cx="9692640" cy="219456"/>
          </a:xfrm>
          <a:prstGeom prst="rect">
            <a:avLst/>
          </a:prstGeom>
          <a:noFill/>
        </p:spPr>
        <p:txBody>
          <a:bodyPr wrap="square" anchor="t"/>
          <a:lstStyle/>
          <a:p>
            <a:pPr algn="l"/>
            <a:r>
              <a:rPr sz="1800" b="0" i="1">
                <a:solidFill>
                  <a:srgbClr val="AAAAAA"/>
                </a:solidFill>
                <a:latin typeface="Calibri"/>
              </a:rPr>
              <a:t>▸ ref/hyp: “talk about street photography” (LR≈1)</a:t>
            </a:r>
          </a:p>
        </p:txBody>
      </p:sp>
      <p:sp>
        <p:nvSpPr>
          <p:cNvPr id="18" name="Rounded Rectangle 17"/>
          <p:cNvSpPr/>
          <p:nvPr/>
        </p:nvSpPr>
        <p:spPr>
          <a:xfrm>
            <a:off x="731520" y="6025896"/>
            <a:ext cx="1280160" cy="274320"/>
          </a:xfrm>
          <a:prstGeom prst="roundRect">
            <a:avLst/>
          </a:prstGeom>
          <a:solidFill>
            <a:srgbClr val="1A355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6044184"/>
            <a:ext cx="1280160" cy="237744"/>
          </a:xfrm>
          <a:prstGeom prst="rect">
            <a:avLst/>
          </a:prstGeom>
          <a:noFill/>
        </p:spPr>
        <p:txBody>
          <a:bodyPr wrap="square" anchor="t"/>
          <a:lstStyle/>
          <a:p>
            <a:pPr algn="ctr"/>
            <a:r>
              <a:rPr sz="1800" b="1" i="0">
                <a:solidFill>
                  <a:srgbClr val="E06C75"/>
                </a:solidFill>
                <a:latin typeface="Calibri"/>
              </a:rPr>
              <a:t>WER 56%</a:t>
            </a:r>
          </a:p>
        </p:txBody>
      </p:sp>
      <p:sp>
        <p:nvSpPr>
          <p:cNvPr id="20" name="Rounded Rectangle 19"/>
          <p:cNvSpPr/>
          <p:nvPr/>
        </p:nvSpPr>
        <p:spPr>
          <a:xfrm>
            <a:off x="2103120" y="6025896"/>
            <a:ext cx="1417320" cy="274320"/>
          </a:xfrm>
          <a:prstGeom prst="roundRect">
            <a:avLst/>
          </a:prstGeom>
          <a:solidFill>
            <a:srgbClr val="1A355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03120" y="6044184"/>
            <a:ext cx="1417320" cy="237744"/>
          </a:xfrm>
          <a:prstGeom prst="rect">
            <a:avLst/>
          </a:prstGeom>
          <a:noFill/>
        </p:spPr>
        <p:txBody>
          <a:bodyPr wrap="square" anchor="t"/>
          <a:lstStyle/>
          <a:p>
            <a:pPr algn="ctr"/>
            <a:r>
              <a:rPr sz="1800" b="1" i="0">
                <a:solidFill>
                  <a:srgbClr val="E06C75"/>
                </a:solidFill>
                <a:latin typeface="Calibri"/>
              </a:rPr>
              <a:t>WWER 53%</a:t>
            </a:r>
          </a:p>
        </p:txBody>
      </p:sp>
      <p:sp>
        <p:nvSpPr>
          <p:cNvPr id="22" name="Rounded Rectangle 21"/>
          <p:cNvSpPr/>
          <p:nvPr/>
        </p:nvSpPr>
        <p:spPr>
          <a:xfrm>
            <a:off x="3611880" y="6025896"/>
            <a:ext cx="1188720" cy="274320"/>
          </a:xfrm>
          <a:prstGeom prst="roundRect">
            <a:avLst/>
          </a:prstGeom>
          <a:solidFill>
            <a:srgbClr val="1A3550"/>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11880" y="6044184"/>
            <a:ext cx="1188720" cy="237744"/>
          </a:xfrm>
          <a:prstGeom prst="rect">
            <a:avLst/>
          </a:prstGeom>
          <a:noFill/>
        </p:spPr>
        <p:txBody>
          <a:bodyPr wrap="square" anchor="t"/>
          <a:lstStyle/>
          <a:p>
            <a:pPr algn="ctr"/>
            <a:r>
              <a:rPr sz="1800" b="1" i="0">
                <a:solidFill>
                  <a:srgbClr val="AAAAAA"/>
                </a:solidFill>
                <a:latin typeface="Calibri"/>
              </a:rPr>
              <a:t>LR 1.05</a:t>
            </a:r>
          </a:p>
        </p:txBody>
      </p:sp>
      <p:sp>
        <p:nvSpPr>
          <p:cNvPr id="24" name="Rounded Rectangle 23"/>
          <p:cNvSpPr/>
          <p:nvPr/>
        </p:nvSpPr>
        <p:spPr>
          <a:xfrm>
            <a:off x="4892040" y="6025896"/>
            <a:ext cx="1371600" cy="274320"/>
          </a:xfrm>
          <a:prstGeom prst="roundRect">
            <a:avLst/>
          </a:prstGeom>
          <a:solidFill>
            <a:srgbClr val="1A3550"/>
          </a:solidFill>
          <a:ln w="127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92040" y="6044184"/>
            <a:ext cx="1371600" cy="237744"/>
          </a:xfrm>
          <a:prstGeom prst="rect">
            <a:avLst/>
          </a:prstGeom>
          <a:noFill/>
        </p:spPr>
        <p:txBody>
          <a:bodyPr wrap="square" anchor="t"/>
          <a:lstStyle/>
          <a:p>
            <a:pPr algn="ctr"/>
            <a:r>
              <a:rPr sz="1800" b="1" i="0">
                <a:solidFill>
                  <a:srgbClr val="FFD54F"/>
                </a:solidFill>
                <a:latin typeface="Calibri"/>
              </a:rPr>
              <a:t>conf 0.70</a:t>
            </a:r>
          </a:p>
        </p:txBody>
      </p:sp>
      <p:sp>
        <p:nvSpPr>
          <p:cNvPr id="26" name="Rounded Rectangle 25"/>
          <p:cNvSpPr/>
          <p:nvPr/>
        </p:nvSpPr>
        <p:spPr>
          <a:xfrm>
            <a:off x="6355080" y="6025896"/>
            <a:ext cx="3017520" cy="274320"/>
          </a:xfrm>
          <a:prstGeom prst="roundRect">
            <a:avLst/>
          </a:prstGeom>
          <a:solidFill>
            <a:srgbClr val="1A3550"/>
          </a:solidFill>
          <a:ln w="127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6044184"/>
            <a:ext cx="3017520" cy="237744"/>
          </a:xfrm>
          <a:prstGeom prst="rect">
            <a:avLst/>
          </a:prstGeom>
          <a:noFill/>
        </p:spPr>
        <p:txBody>
          <a:bodyPr wrap="square" anchor="t"/>
          <a:lstStyle/>
          <a:p>
            <a:pPr algn="ctr"/>
            <a:r>
              <a:rPr sz="1800" b="1" i="0">
                <a:solidFill>
                  <a:srgbClr val="FFD54F"/>
                </a:solidFill>
                <a:latin typeface="Calibri"/>
              </a:rPr>
              <a:t>Salvage — don't trust blindly</a:t>
            </a:r>
          </a:p>
        </p:txBody>
      </p:sp>
      <p:pic>
        <p:nvPicPr>
          <p:cNvPr id="28" name="Picture 2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9" name="TextBox 2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12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24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36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12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24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36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48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60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72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84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96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108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120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132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144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156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Signals: Semantic Similarity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6583680" cy="5029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80744"/>
            <a:ext cx="6217920" cy="411480"/>
          </a:xfrm>
          <a:prstGeom prst="rect">
            <a:avLst/>
          </a:prstGeom>
          <a:noFill/>
        </p:spPr>
        <p:txBody>
          <a:bodyPr wrap="square" anchor="t"/>
          <a:lstStyle/>
          <a:p>
            <a:pPr algn="l"/>
            <a:r>
              <a:rPr sz="2400" b="1" i="0">
                <a:solidFill>
                  <a:srgbClr val="00B4D8"/>
                </a:solidFill>
                <a:latin typeface="Calibri"/>
              </a:rPr>
              <a:t>Weight: 25% — the single largest signal</a:t>
            </a:r>
          </a:p>
        </p:txBody>
      </p:sp>
      <p:sp>
        <p:nvSpPr>
          <p:cNvPr id="6" name="Rounded Rectangle 5"/>
          <p:cNvSpPr/>
          <p:nvPr/>
        </p:nvSpPr>
        <p:spPr>
          <a:xfrm>
            <a:off x="548640" y="2039112"/>
            <a:ext cx="11091672" cy="269748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48840"/>
            <a:ext cx="10543032" cy="329184"/>
          </a:xfrm>
          <a:prstGeom prst="rect">
            <a:avLst/>
          </a:prstGeom>
          <a:noFill/>
        </p:spPr>
        <p:txBody>
          <a:bodyPr wrap="square" anchor="t"/>
          <a:lstStyle/>
          <a:p>
            <a:pPr algn="l"/>
            <a:r>
              <a:rPr sz="2400" b="1" i="0">
                <a:solidFill>
                  <a:srgbClr val="00B4D8"/>
                </a:solidFill>
                <a:latin typeface="Calibri"/>
              </a:rPr>
              <a:t>How It Works</a:t>
            </a:r>
          </a:p>
        </p:txBody>
      </p:sp>
      <p:sp>
        <p:nvSpPr>
          <p:cNvPr id="8" name="TextBox 7"/>
          <p:cNvSpPr txBox="1"/>
          <p:nvPr/>
        </p:nvSpPr>
        <p:spPr>
          <a:xfrm>
            <a:off x="822960" y="2542032"/>
            <a:ext cx="10543032" cy="2103120"/>
          </a:xfrm>
          <a:prstGeom prst="rect">
            <a:avLst/>
          </a:prstGeom>
          <a:noFill/>
        </p:spPr>
        <p:txBody>
          <a:bodyPr wrap="square" anchor="t"/>
          <a:lstStyle/>
          <a:p>
            <a:pPr algn="l"/>
            <a:r>
              <a:rPr sz="2400" b="0" i="0">
                <a:solidFill>
                  <a:srgbClr val="FFFFFF"/>
                </a:solidFill>
                <a:latin typeface="Calibri"/>
              </a:rPr>
              <a:t>1. Ref + hyp → 384-dim sentence vectors via SBERT.</a:t>
            </a:r>
            <a:br/>
            <a:br/>
            <a:r>
              <a:rPr sz="2400" b="0" i="0">
                <a:solidFill>
                  <a:srgbClr val="FFFFFF"/>
                </a:solidFill>
                <a:latin typeface="Calibri"/>
              </a:rPr>
              <a:t>2. Cosine similarity of the two vectors.</a:t>
            </a:r>
            <a:br/>
            <a:br/>
            <a:r>
              <a:rPr sz="2400" b="0" i="0">
                <a:solidFill>
                  <a:srgbClr val="FFFFFF"/>
                </a:solidFill>
                <a:latin typeface="Calibri"/>
              </a:rPr>
              <a:t>3. Captures overall meaning even if word choice differs.</a:t>
            </a:r>
          </a:p>
        </p:txBody>
      </p:sp>
      <p:sp>
        <p:nvSpPr>
          <p:cNvPr id="9" name="Rounded Rectangle 8"/>
          <p:cNvSpPr/>
          <p:nvPr/>
        </p:nvSpPr>
        <p:spPr>
          <a:xfrm>
            <a:off x="548640" y="4828032"/>
            <a:ext cx="11091672" cy="1097280"/>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901184"/>
            <a:ext cx="10543032" cy="292608"/>
          </a:xfrm>
          <a:prstGeom prst="rect">
            <a:avLst/>
          </a:prstGeom>
          <a:noFill/>
        </p:spPr>
        <p:txBody>
          <a:bodyPr wrap="square" anchor="t"/>
          <a:lstStyle/>
          <a:p>
            <a:pPr algn="l"/>
            <a:r>
              <a:rPr sz="2400" b="1" i="0">
                <a:solidFill>
                  <a:srgbClr val="AAAAAA"/>
                </a:solidFill>
                <a:latin typeface="Calibri"/>
              </a:rPr>
              <a:t>Example</a:t>
            </a:r>
          </a:p>
        </p:txBody>
      </p:sp>
      <p:sp>
        <p:nvSpPr>
          <p:cNvPr id="11" name="TextBox 10"/>
          <p:cNvSpPr txBox="1"/>
          <p:nvPr/>
        </p:nvSpPr>
        <p:spPr>
          <a:xfrm>
            <a:off x="822960" y="5212080"/>
            <a:ext cx="10543032" cy="685800"/>
          </a:xfrm>
          <a:prstGeom prst="rect">
            <a:avLst/>
          </a:prstGeom>
          <a:noFill/>
        </p:spPr>
        <p:txBody>
          <a:bodyPr wrap="square" anchor="t"/>
          <a:lstStyle/>
          <a:p>
            <a:pPr algn="l"/>
            <a:r>
              <a:rPr sz="2000" b="0" i="1">
                <a:solidFill>
                  <a:srgbClr val="AAAAAA"/>
                </a:solidFill>
                <a:latin typeface="Calibri"/>
              </a:rPr>
              <a:t>"CEO resigned" vs "chief exec stepped down" → cosine\ 0.91 (meaning preserved, zero word overlap).</a:t>
            </a:r>
          </a:p>
        </p:txBody>
      </p:sp>
      <p:sp>
        <p:nvSpPr>
          <p:cNvPr id="12" name="TextBox 11"/>
          <p:cNvSpPr txBox="1"/>
          <p:nvPr/>
        </p:nvSpPr>
        <p:spPr>
          <a:xfrm>
            <a:off x="548640" y="6016752"/>
            <a:ext cx="11091672" cy="365760"/>
          </a:xfrm>
          <a:prstGeom prst="rect">
            <a:avLst/>
          </a:prstGeom>
          <a:noFill/>
        </p:spPr>
        <p:txBody>
          <a:bodyPr wrap="square" anchor="t"/>
          <a:lstStyle/>
          <a:p>
            <a:pPr algn="ctr"/>
            <a:r>
              <a:rPr sz="2000" b="1" i="0">
                <a:solidFill>
                  <a:srgbClr val="00B4D8"/>
                </a:solidFill>
                <a:latin typeface="Calibri"/>
              </a:rPr>
              <a:t>WER punishes synonyms; Semantic rewards meaning preserved.</a:t>
            </a:r>
          </a:p>
        </p:txBody>
      </p:sp>
      <p:pic>
        <p:nvPicPr>
          <p:cNvPr id="13" name="Picture 1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Signals: Phonetic &amp; Named Entities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71600"/>
            <a:ext cx="11091672" cy="224028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44752"/>
            <a:ext cx="10725912" cy="329184"/>
          </a:xfrm>
          <a:prstGeom prst="rect">
            <a:avLst/>
          </a:prstGeom>
          <a:noFill/>
        </p:spPr>
        <p:txBody>
          <a:bodyPr wrap="square" anchor="t"/>
          <a:lstStyle/>
          <a:p>
            <a:pPr algn="l"/>
            <a:r>
              <a:rPr sz="2400" b="1" i="0">
                <a:solidFill>
                  <a:srgbClr val="00B4D8"/>
                </a:solidFill>
                <a:latin typeface="Calibri"/>
              </a:rPr>
              <a:t>Phonetic Similarity  (15%)</a:t>
            </a:r>
          </a:p>
        </p:txBody>
      </p:sp>
      <p:sp>
        <p:nvSpPr>
          <p:cNvPr id="6" name="TextBox 5"/>
          <p:cNvSpPr txBox="1"/>
          <p:nvPr/>
        </p:nvSpPr>
        <p:spPr>
          <a:xfrm>
            <a:off x="731520" y="1810512"/>
            <a:ext cx="10725912" cy="868680"/>
          </a:xfrm>
          <a:prstGeom prst="rect">
            <a:avLst/>
          </a:prstGeom>
          <a:noFill/>
        </p:spPr>
        <p:txBody>
          <a:bodyPr wrap="square" anchor="t"/>
          <a:lstStyle/>
          <a:p>
            <a:pPr algn="l"/>
            <a:r>
              <a:rPr sz="2400" b="0" i="0">
                <a:solidFill>
                  <a:srgbClr val="FFFFFF"/>
                </a:solidFill>
                <a:latin typeface="Calibri"/>
              </a:rPr>
              <a:t>Each word → IPA, then character similarity. Phonetic match means the visual encoder worked.</a:t>
            </a:r>
          </a:p>
        </p:txBody>
      </p:sp>
      <p:sp>
        <p:nvSpPr>
          <p:cNvPr id="7" name="TextBox 6"/>
          <p:cNvSpPr txBox="1"/>
          <p:nvPr/>
        </p:nvSpPr>
        <p:spPr>
          <a:xfrm>
            <a:off x="731520" y="2697480"/>
            <a:ext cx="10725912" cy="777240"/>
          </a:xfrm>
          <a:prstGeom prst="rect">
            <a:avLst/>
          </a:prstGeom>
          <a:noFill/>
        </p:spPr>
        <p:txBody>
          <a:bodyPr wrap="square" anchor="t"/>
          <a:lstStyle/>
          <a:p>
            <a:pPr algn="l"/>
            <a:r>
              <a:rPr sz="2000" b="0" i="1">
                <a:solidFill>
                  <a:srgbClr val="AAAAAA"/>
                </a:solidFill>
                <a:latin typeface="Calibri"/>
              </a:rPr>
              <a:t>▸ "Admiral McRae" vs "animal migration" → 0.68 (similar sounds, different words).</a:t>
            </a:r>
          </a:p>
        </p:txBody>
      </p:sp>
      <p:sp>
        <p:nvSpPr>
          <p:cNvPr id="8" name="Rounded Rectangle 7"/>
          <p:cNvSpPr/>
          <p:nvPr/>
        </p:nvSpPr>
        <p:spPr>
          <a:xfrm>
            <a:off x="548640" y="3749040"/>
            <a:ext cx="11091672" cy="2240280"/>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22192"/>
            <a:ext cx="10725912" cy="329184"/>
          </a:xfrm>
          <a:prstGeom prst="rect">
            <a:avLst/>
          </a:prstGeom>
          <a:noFill/>
        </p:spPr>
        <p:txBody>
          <a:bodyPr wrap="square" anchor="t"/>
          <a:lstStyle/>
          <a:p>
            <a:pPr algn="l"/>
            <a:r>
              <a:rPr sz="2400" b="1" i="0">
                <a:solidFill>
                  <a:srgbClr val="E06C75"/>
                </a:solidFill>
                <a:latin typeface="Calibri"/>
              </a:rPr>
              <a:t>Named Entity Accuracy (NEA)  (15%)</a:t>
            </a:r>
          </a:p>
        </p:txBody>
      </p:sp>
      <p:sp>
        <p:nvSpPr>
          <p:cNvPr id="10" name="TextBox 9"/>
          <p:cNvSpPr txBox="1"/>
          <p:nvPr/>
        </p:nvSpPr>
        <p:spPr>
          <a:xfrm>
            <a:off x="731520" y="4187952"/>
            <a:ext cx="10725912" cy="868680"/>
          </a:xfrm>
          <a:prstGeom prst="rect">
            <a:avLst/>
          </a:prstGeom>
          <a:noFill/>
        </p:spPr>
        <p:txBody>
          <a:bodyPr wrap="square" anchor="t"/>
          <a:lstStyle/>
          <a:p>
            <a:pPr algn="l"/>
            <a:r>
              <a:rPr sz="2400" b="0" i="0">
                <a:solidFill>
                  <a:srgbClr val="FFFFFF"/>
                </a:solidFill>
                <a:latin typeface="Calibri"/>
              </a:rPr>
              <a:t>Names, numbers, places extracted by spaCy NER. F1 = precision and recall, binary per entity.</a:t>
            </a:r>
          </a:p>
        </p:txBody>
      </p:sp>
      <p:sp>
        <p:nvSpPr>
          <p:cNvPr id="11" name="TextBox 10"/>
          <p:cNvSpPr txBox="1"/>
          <p:nvPr/>
        </p:nvSpPr>
        <p:spPr>
          <a:xfrm>
            <a:off x="731520" y="5074920"/>
            <a:ext cx="10725912" cy="777240"/>
          </a:xfrm>
          <a:prstGeom prst="rect">
            <a:avLst/>
          </a:prstGeom>
          <a:noFill/>
        </p:spPr>
        <p:txBody>
          <a:bodyPr wrap="square" anchor="t"/>
          <a:lstStyle/>
          <a:p>
            <a:pPr algn="l"/>
            <a:r>
              <a:rPr sz="2000" b="0" i="1">
                <a:solidFill>
                  <a:srgbClr val="AAAAAA"/>
                </a:solidFill>
                <a:latin typeface="Calibri"/>
              </a:rPr>
              <a:t>▸ Mean F1 = 39% — entities missed in 85% of segments.</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Do 6 Signals Actually Measure 6 Things?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795528"/>
          </a:xfrm>
          <a:prstGeom prst="rect">
            <a:avLst/>
          </a:prstGeom>
          <a:noFill/>
        </p:spPr>
        <p:txBody>
          <a:bodyPr wrap="square" anchor="t"/>
          <a:lstStyle/>
          <a:p>
            <a:pPr algn="l"/>
            <a:r>
              <a:rPr sz="2000" b="0" i="1">
                <a:solidFill>
                  <a:srgbClr val="AAAAAA"/>
                </a:solidFill>
                <a:latin typeface="Calibri"/>
              </a:rPr>
              <a:t>PCA on 1,497 segments reveals where the variance actually lives (Kaiser criterion retains 2 PCs — semantic is NOT an independent dimension).</a:t>
            </a:r>
          </a:p>
        </p:txBody>
      </p:sp>
      <p:sp>
        <p:nvSpPr>
          <p:cNvPr id="5" name="Rounded Rectangle 4"/>
          <p:cNvSpPr/>
          <p:nvPr/>
        </p:nvSpPr>
        <p:spPr>
          <a:xfrm>
            <a:off x="548640" y="1965960"/>
            <a:ext cx="11091672" cy="1828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03120"/>
            <a:ext cx="4572000" cy="365760"/>
          </a:xfrm>
          <a:prstGeom prst="rect">
            <a:avLst/>
          </a:prstGeom>
          <a:noFill/>
        </p:spPr>
        <p:txBody>
          <a:bodyPr wrap="square" anchor="t"/>
          <a:lstStyle/>
          <a:p>
            <a:pPr algn="l"/>
            <a:r>
              <a:rPr sz="2800" b="1" i="0">
                <a:solidFill>
                  <a:srgbClr val="00B4D8"/>
                </a:solidFill>
                <a:latin typeface="Calibri"/>
              </a:rPr>
              <a:t>PC1: Signal Quality</a:t>
            </a:r>
          </a:p>
        </p:txBody>
      </p:sp>
      <p:sp>
        <p:nvSpPr>
          <p:cNvPr id="7" name="TextBox 6"/>
          <p:cNvSpPr txBox="1"/>
          <p:nvPr/>
        </p:nvSpPr>
        <p:spPr>
          <a:xfrm>
            <a:off x="10360152" y="2103120"/>
            <a:ext cx="1097280" cy="2377440"/>
          </a:xfrm>
          <a:prstGeom prst="rect">
            <a:avLst/>
          </a:prstGeom>
          <a:noFill/>
        </p:spPr>
        <p:txBody>
          <a:bodyPr wrap="square" anchor="t"/>
          <a:lstStyle/>
          <a:p>
            <a:pPr algn="r"/>
            <a:r>
              <a:rPr sz="2800" b="1" i="0">
                <a:solidFill>
                  <a:srgbClr val="00B4D8"/>
                </a:solidFill>
                <a:latin typeface="Calibri"/>
              </a:rPr>
              <a:t>68%</a:t>
            </a:r>
          </a:p>
        </p:txBody>
      </p:sp>
      <p:sp>
        <p:nvSpPr>
          <p:cNvPr id="8" name="TextBox 7"/>
          <p:cNvSpPr txBox="1"/>
          <p:nvPr/>
        </p:nvSpPr>
        <p:spPr>
          <a:xfrm>
            <a:off x="822960" y="2560320"/>
            <a:ext cx="10543032" cy="914400"/>
          </a:xfrm>
          <a:prstGeom prst="rect">
            <a:avLst/>
          </a:prstGeom>
          <a:noFill/>
        </p:spPr>
        <p:txBody>
          <a:bodyPr wrap="square" anchor="t"/>
          <a:lstStyle/>
          <a:p>
            <a:pPr algn="l"/>
            <a:r>
              <a:rPr sz="2400" b="0" i="0">
                <a:solidFill>
                  <a:srgbClr val="FFFFFF"/>
                </a:solidFill>
                <a:latin typeface="Calibri"/>
              </a:rPr>
              <a:t>Semantic + Phonetic + WER + WWER + Named Entity Accuracy</a:t>
            </a:r>
          </a:p>
        </p:txBody>
      </p:sp>
      <p:sp>
        <p:nvSpPr>
          <p:cNvPr id="9" name="TextBox 8"/>
          <p:cNvSpPr txBox="1"/>
          <p:nvPr/>
        </p:nvSpPr>
        <p:spPr>
          <a:xfrm>
            <a:off x="822960" y="2926080"/>
            <a:ext cx="10543032" cy="868680"/>
          </a:xfrm>
          <a:prstGeom prst="rect">
            <a:avLst/>
          </a:prstGeom>
          <a:noFill/>
        </p:spPr>
        <p:txBody>
          <a:bodyPr wrap="square" anchor="t"/>
          <a:lstStyle/>
          <a:p>
            <a:pPr algn="l"/>
            <a:r>
              <a:rPr sz="2400" b="0" i="0">
                <a:solidFill>
                  <a:srgbClr val="AAAAAA"/>
                </a:solidFill>
                <a:latin typeface="Calibri"/>
              </a:rPr>
              <a:t>All 5 load equally (0.43–0.47); semantic is not an independent axis.</a:t>
            </a:r>
          </a:p>
        </p:txBody>
      </p:sp>
      <p:sp>
        <p:nvSpPr>
          <p:cNvPr id="10" name="Rounded Rectangle 9"/>
          <p:cNvSpPr/>
          <p:nvPr/>
        </p:nvSpPr>
        <p:spPr>
          <a:xfrm>
            <a:off x="548640" y="3931920"/>
            <a:ext cx="11091672" cy="18288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069080"/>
            <a:ext cx="4572000" cy="365760"/>
          </a:xfrm>
          <a:prstGeom prst="rect">
            <a:avLst/>
          </a:prstGeom>
          <a:noFill/>
        </p:spPr>
        <p:txBody>
          <a:bodyPr wrap="square" anchor="t"/>
          <a:lstStyle/>
          <a:p>
            <a:pPr algn="l"/>
            <a:r>
              <a:rPr sz="2800" b="1" i="0">
                <a:solidFill>
                  <a:srgbClr val="4CAF50"/>
                </a:solidFill>
                <a:latin typeface="Calibri"/>
              </a:rPr>
              <a:t>PC2: Output Length</a:t>
            </a:r>
          </a:p>
        </p:txBody>
      </p:sp>
      <p:sp>
        <p:nvSpPr>
          <p:cNvPr id="12" name="TextBox 11"/>
          <p:cNvSpPr txBox="1"/>
          <p:nvPr/>
        </p:nvSpPr>
        <p:spPr>
          <a:xfrm>
            <a:off x="10360152" y="4069080"/>
            <a:ext cx="1097280" cy="2377440"/>
          </a:xfrm>
          <a:prstGeom prst="rect">
            <a:avLst/>
          </a:prstGeom>
          <a:noFill/>
        </p:spPr>
        <p:txBody>
          <a:bodyPr wrap="square" anchor="t"/>
          <a:lstStyle/>
          <a:p>
            <a:pPr algn="r"/>
            <a:r>
              <a:rPr sz="2800" b="1" i="0">
                <a:solidFill>
                  <a:srgbClr val="4CAF50"/>
                </a:solidFill>
                <a:latin typeface="Calibri"/>
              </a:rPr>
              <a:t>20%</a:t>
            </a:r>
          </a:p>
        </p:txBody>
      </p:sp>
      <p:sp>
        <p:nvSpPr>
          <p:cNvPr id="13" name="TextBox 12"/>
          <p:cNvSpPr txBox="1"/>
          <p:nvPr/>
        </p:nvSpPr>
        <p:spPr>
          <a:xfrm>
            <a:off x="822960" y="4526280"/>
            <a:ext cx="10543032" cy="914400"/>
          </a:xfrm>
          <a:prstGeom prst="rect">
            <a:avLst/>
          </a:prstGeom>
          <a:noFill/>
        </p:spPr>
        <p:txBody>
          <a:bodyPr wrap="square" anchor="t"/>
          <a:lstStyle/>
          <a:p>
            <a:pPr algn="l"/>
            <a:r>
              <a:rPr sz="2400" b="0" i="0">
                <a:solidFill>
                  <a:srgbClr val="FFFFFF"/>
                </a:solidFill>
                <a:latin typeface="Calibri"/>
              </a:rPr>
              <a:t>Length Ratio dominates (loading 0.91) — independent of content quality</a:t>
            </a:r>
          </a:p>
        </p:txBody>
      </p:sp>
      <p:sp>
        <p:nvSpPr>
          <p:cNvPr id="14" name="TextBox 13"/>
          <p:cNvSpPr txBox="1"/>
          <p:nvPr/>
        </p:nvSpPr>
        <p:spPr>
          <a:xfrm>
            <a:off x="822960" y="4892040"/>
            <a:ext cx="10543032" cy="868680"/>
          </a:xfrm>
          <a:prstGeom prst="rect">
            <a:avLst/>
          </a:prstGeom>
          <a:noFill/>
        </p:spPr>
        <p:txBody>
          <a:bodyPr wrap="square" anchor="t"/>
          <a:lstStyle/>
          <a:p>
            <a:pPr algn="l"/>
            <a:r>
              <a:rPr sz="2400" b="0" i="0">
                <a:solidFill>
                  <a:srgbClr val="AAAAAA"/>
                </a:solidFill>
                <a:latin typeface="Calibri"/>
              </a:rPr>
              <a:t>Catches hallucination (too long) and truncation (too short). The only IS axis that is truly orthogonal to the quality factor.</a:t>
            </a:r>
          </a:p>
        </p:txBody>
      </p:sp>
      <p:sp>
        <p:nvSpPr>
          <p:cNvPr id="15" name="TextBox 14"/>
          <p:cNvSpPr txBox="1"/>
          <p:nvPr/>
        </p:nvSpPr>
        <p:spPr>
          <a:xfrm>
            <a:off x="548640" y="5760720"/>
            <a:ext cx="11091672" cy="365760"/>
          </a:xfrm>
          <a:prstGeom prst="rect">
            <a:avLst/>
          </a:prstGeom>
          <a:noFill/>
        </p:spPr>
        <p:txBody>
          <a:bodyPr wrap="square" anchor="t"/>
          <a:lstStyle/>
          <a:p>
            <a:pPr algn="ctr"/>
            <a:r>
              <a:rPr sz="2400" b="1" i="0">
                <a:solidFill>
                  <a:srgbClr val="FFD54F"/>
                </a:solidFill>
                <a:latin typeface="Calibri"/>
              </a:rPr>
              <a:t>Kaiser retains 2 PCs (88% of variance) — PC3 below threshold.</a:t>
            </a:r>
          </a:p>
        </p:txBody>
      </p:sp>
      <p:pic>
        <p:nvPicPr>
          <p:cNvPr id="16" name="Picture 1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in Action: Two Real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5303520" cy="484632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417320"/>
            <a:ext cx="4206240" cy="45720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17320"/>
            <a:ext cx="4206240" cy="457200"/>
          </a:xfrm>
          <a:prstGeom prst="rect">
            <a:avLst/>
          </a:prstGeom>
          <a:noFill/>
        </p:spPr>
        <p:txBody>
          <a:bodyPr wrap="square" anchor="t"/>
          <a:lstStyle/>
          <a:p>
            <a:pPr algn="ctr"/>
            <a:r>
              <a:rPr sz="2000" b="1" i="0">
                <a:solidFill>
                  <a:srgbClr val="0D1B2A"/>
                </a:solidFill>
                <a:latin typeface="Calibri"/>
              </a:rPr>
              <a:t>Good Segment — IS = 4.2</a:t>
            </a:r>
          </a:p>
        </p:txBody>
      </p:sp>
      <p:sp>
        <p:nvSpPr>
          <p:cNvPr id="7" name="TextBox 6"/>
          <p:cNvSpPr txBox="1"/>
          <p:nvPr/>
        </p:nvSpPr>
        <p:spPr>
          <a:xfrm>
            <a:off x="777240" y="1965960"/>
            <a:ext cx="4846320" cy="1280160"/>
          </a:xfrm>
          <a:prstGeom prst="rect">
            <a:avLst/>
          </a:prstGeom>
          <a:noFill/>
        </p:spPr>
        <p:txBody>
          <a:bodyPr wrap="square">
            <a:spAutoFit/>
          </a:bodyPr>
          <a:lstStyle/>
          <a:p>
            <a:pPr algn="l">
              <a:spcAft>
                <a:spcPts val="600"/>
              </a:spcAft>
            </a:pPr>
            <a:r>
              <a:rPr sz="1800" b="1" i="0">
                <a:solidFill>
                  <a:srgbClr val="AAAAAA"/>
                </a:solidFill>
                <a:latin typeface="Calibri"/>
              </a:rPr>
              <a:t>Ref: </a:t>
            </a:r>
            <a:r>
              <a:rPr sz="1800" b="0" i="0">
                <a:solidFill>
                  <a:srgbClr val="FFFFFF"/>
                </a:solidFill>
                <a:latin typeface="Calibri"/>
              </a:rPr>
              <a:t>“allow you to work with the team in a more”</a:t>
            </a:r>
          </a:p>
          <a:p>
            <a:pPr algn="l">
              <a:spcAft>
                <a:spcPts val="600"/>
              </a:spcAft>
            </a:pPr>
            <a:r>
              <a:rPr sz="1800" b="1" i="0">
                <a:solidFill>
                  <a:srgbClr val="AAAAAA"/>
                </a:solidFill>
                <a:latin typeface="Calibri"/>
              </a:rPr>
              <a:t>Hyp: </a:t>
            </a:r>
            <a:r>
              <a:rPr sz="1800" b="0" i="0">
                <a:solidFill>
                  <a:srgbClr val="FFFFFF"/>
                </a:solidFill>
                <a:latin typeface="Calibri"/>
              </a:rPr>
              <a:t>“allow you to work with a team and more”</a:t>
            </a:r>
          </a:p>
        </p:txBody>
      </p:sp>
      <p:sp>
        <p:nvSpPr>
          <p:cNvPr id="8" name="TextBox 7"/>
          <p:cNvSpPr txBox="1"/>
          <p:nvPr/>
        </p:nvSpPr>
        <p:spPr>
          <a:xfrm>
            <a:off x="731520" y="2560320"/>
            <a:ext cx="2194560" cy="457200"/>
          </a:xfrm>
          <a:prstGeom prst="rect">
            <a:avLst/>
          </a:prstGeom>
          <a:noFill/>
        </p:spPr>
        <p:txBody>
          <a:bodyPr wrap="square" anchor="t"/>
          <a:lstStyle/>
          <a:p>
            <a:pPr algn="l"/>
            <a:r>
              <a:rPr sz="2000" b="0" i="0">
                <a:solidFill>
                  <a:srgbClr val="AAAAAA"/>
                </a:solidFill>
                <a:latin typeface="Calibri"/>
              </a:rPr>
              <a:t>Semantic Sim</a:t>
            </a:r>
          </a:p>
        </p:txBody>
      </p:sp>
      <p:sp>
        <p:nvSpPr>
          <p:cNvPr id="9" name="TextBox 8"/>
          <p:cNvSpPr txBox="1"/>
          <p:nvPr/>
        </p:nvSpPr>
        <p:spPr>
          <a:xfrm>
            <a:off x="2926080" y="2560320"/>
            <a:ext cx="640080" cy="457200"/>
          </a:xfrm>
          <a:prstGeom prst="rect">
            <a:avLst/>
          </a:prstGeom>
          <a:noFill/>
        </p:spPr>
        <p:txBody>
          <a:bodyPr wrap="square" anchor="t"/>
          <a:lstStyle/>
          <a:p>
            <a:pPr algn="l"/>
            <a:r>
              <a:rPr sz="2000" b="1" i="0">
                <a:solidFill>
                  <a:srgbClr val="4CAF50"/>
                </a:solidFill>
                <a:latin typeface="Calibri"/>
              </a:rPr>
              <a:t>0.82</a:t>
            </a:r>
          </a:p>
        </p:txBody>
      </p:sp>
      <p:sp>
        <p:nvSpPr>
          <p:cNvPr id="10" name="TextBox 9"/>
          <p:cNvSpPr txBox="1"/>
          <p:nvPr/>
        </p:nvSpPr>
        <p:spPr>
          <a:xfrm>
            <a:off x="3566160" y="2560320"/>
            <a:ext cx="822960" cy="457200"/>
          </a:xfrm>
          <a:prstGeom prst="rect">
            <a:avLst/>
          </a:prstGeom>
          <a:noFill/>
        </p:spPr>
        <p:txBody>
          <a:bodyPr wrap="square" anchor="t"/>
          <a:lstStyle/>
          <a:p>
            <a:pPr algn="l"/>
            <a:r>
              <a:rPr sz="2000" b="0" i="0">
                <a:solidFill>
                  <a:srgbClr val="AAAAAA"/>
                </a:solidFill>
                <a:latin typeface="Calibri"/>
              </a:rPr>
              <a:t>× 0.25</a:t>
            </a:r>
          </a:p>
        </p:txBody>
      </p:sp>
      <p:sp>
        <p:nvSpPr>
          <p:cNvPr id="11" name="TextBox 10"/>
          <p:cNvSpPr txBox="1"/>
          <p:nvPr/>
        </p:nvSpPr>
        <p:spPr>
          <a:xfrm>
            <a:off x="4434840" y="2560320"/>
            <a:ext cx="1188720" cy="457200"/>
          </a:xfrm>
          <a:prstGeom prst="rect">
            <a:avLst/>
          </a:prstGeom>
          <a:noFill/>
        </p:spPr>
        <p:txBody>
          <a:bodyPr wrap="square" anchor="t"/>
          <a:lstStyle/>
          <a:p>
            <a:pPr algn="l"/>
            <a:r>
              <a:rPr sz="2000" b="1" i="0">
                <a:solidFill>
                  <a:srgbClr val="FFFFFF"/>
                </a:solidFill>
                <a:latin typeface="Calibri"/>
              </a:rPr>
              <a:t>= 0.205</a:t>
            </a:r>
          </a:p>
        </p:txBody>
      </p:sp>
      <p:sp>
        <p:nvSpPr>
          <p:cNvPr id="12" name="TextBox 11"/>
          <p:cNvSpPr txBox="1"/>
          <p:nvPr/>
        </p:nvSpPr>
        <p:spPr>
          <a:xfrm>
            <a:off x="731520" y="3017520"/>
            <a:ext cx="2194560" cy="457200"/>
          </a:xfrm>
          <a:prstGeom prst="rect">
            <a:avLst/>
          </a:prstGeom>
          <a:noFill/>
        </p:spPr>
        <p:txBody>
          <a:bodyPr wrap="square" anchor="t"/>
          <a:lstStyle/>
          <a:p>
            <a:pPr algn="l"/>
            <a:r>
              <a:rPr sz="2000" b="0" i="0">
                <a:solidFill>
                  <a:srgbClr val="AAAAAA"/>
                </a:solidFill>
                <a:latin typeface="Calibri"/>
              </a:rPr>
              <a:t>Phonetic Sim</a:t>
            </a:r>
          </a:p>
        </p:txBody>
      </p:sp>
      <p:sp>
        <p:nvSpPr>
          <p:cNvPr id="13" name="TextBox 12"/>
          <p:cNvSpPr txBox="1"/>
          <p:nvPr/>
        </p:nvSpPr>
        <p:spPr>
          <a:xfrm>
            <a:off x="2926080" y="3017520"/>
            <a:ext cx="640080" cy="457200"/>
          </a:xfrm>
          <a:prstGeom prst="rect">
            <a:avLst/>
          </a:prstGeom>
          <a:noFill/>
        </p:spPr>
        <p:txBody>
          <a:bodyPr wrap="square" anchor="t"/>
          <a:lstStyle/>
          <a:p>
            <a:pPr algn="l"/>
            <a:r>
              <a:rPr sz="2000" b="1" i="0">
                <a:solidFill>
                  <a:srgbClr val="4CAF50"/>
                </a:solidFill>
                <a:latin typeface="Calibri"/>
              </a:rPr>
              <a:t>0.89</a:t>
            </a:r>
          </a:p>
        </p:txBody>
      </p:sp>
      <p:sp>
        <p:nvSpPr>
          <p:cNvPr id="14" name="TextBox 13"/>
          <p:cNvSpPr txBox="1"/>
          <p:nvPr/>
        </p:nvSpPr>
        <p:spPr>
          <a:xfrm>
            <a:off x="3566160" y="3017520"/>
            <a:ext cx="822960" cy="457200"/>
          </a:xfrm>
          <a:prstGeom prst="rect">
            <a:avLst/>
          </a:prstGeom>
          <a:noFill/>
        </p:spPr>
        <p:txBody>
          <a:bodyPr wrap="square" anchor="t"/>
          <a:lstStyle/>
          <a:p>
            <a:pPr algn="l"/>
            <a:r>
              <a:rPr sz="2000" b="0" i="0">
                <a:solidFill>
                  <a:srgbClr val="AAAAAA"/>
                </a:solidFill>
                <a:latin typeface="Calibri"/>
              </a:rPr>
              <a:t>× 0.15</a:t>
            </a:r>
          </a:p>
        </p:txBody>
      </p:sp>
      <p:sp>
        <p:nvSpPr>
          <p:cNvPr id="15" name="TextBox 14"/>
          <p:cNvSpPr txBox="1"/>
          <p:nvPr/>
        </p:nvSpPr>
        <p:spPr>
          <a:xfrm>
            <a:off x="4434840" y="3017520"/>
            <a:ext cx="1188720" cy="457200"/>
          </a:xfrm>
          <a:prstGeom prst="rect">
            <a:avLst/>
          </a:prstGeom>
          <a:noFill/>
        </p:spPr>
        <p:txBody>
          <a:bodyPr wrap="square" anchor="t"/>
          <a:lstStyle/>
          <a:p>
            <a:pPr algn="l"/>
            <a:r>
              <a:rPr sz="2000" b="1" i="0">
                <a:solidFill>
                  <a:srgbClr val="FFFFFF"/>
                </a:solidFill>
                <a:latin typeface="Calibri"/>
              </a:rPr>
              <a:t>= 0.134</a:t>
            </a:r>
          </a:p>
        </p:txBody>
      </p:sp>
      <p:sp>
        <p:nvSpPr>
          <p:cNvPr id="16" name="TextBox 15"/>
          <p:cNvSpPr txBox="1"/>
          <p:nvPr/>
        </p:nvSpPr>
        <p:spPr>
          <a:xfrm>
            <a:off x="731520" y="3474720"/>
            <a:ext cx="2194560" cy="457200"/>
          </a:xfrm>
          <a:prstGeom prst="rect">
            <a:avLst/>
          </a:prstGeom>
          <a:noFill/>
        </p:spPr>
        <p:txBody>
          <a:bodyPr wrap="square" anchor="t"/>
          <a:lstStyle/>
          <a:p>
            <a:pPr algn="l"/>
            <a:r>
              <a:rPr sz="2000" b="0" i="0">
                <a:solidFill>
                  <a:srgbClr val="AAAAAA"/>
                </a:solidFill>
                <a:latin typeface="Calibri"/>
              </a:rPr>
              <a:t>Inverse WER</a:t>
            </a:r>
          </a:p>
        </p:txBody>
      </p:sp>
      <p:sp>
        <p:nvSpPr>
          <p:cNvPr id="17" name="TextBox 16"/>
          <p:cNvSpPr txBox="1"/>
          <p:nvPr/>
        </p:nvSpPr>
        <p:spPr>
          <a:xfrm>
            <a:off x="2926080" y="3474720"/>
            <a:ext cx="640080" cy="457200"/>
          </a:xfrm>
          <a:prstGeom prst="rect">
            <a:avLst/>
          </a:prstGeom>
          <a:noFill/>
        </p:spPr>
        <p:txBody>
          <a:bodyPr wrap="square" anchor="t"/>
          <a:lstStyle/>
          <a:p>
            <a:pPr algn="l"/>
            <a:r>
              <a:rPr sz="2000" b="1" i="0">
                <a:solidFill>
                  <a:srgbClr val="00B4D8"/>
                </a:solidFill>
                <a:latin typeface="Calibri"/>
              </a:rPr>
              <a:t>0.71</a:t>
            </a:r>
          </a:p>
        </p:txBody>
      </p:sp>
      <p:sp>
        <p:nvSpPr>
          <p:cNvPr id="18" name="TextBox 17"/>
          <p:cNvSpPr txBox="1"/>
          <p:nvPr/>
        </p:nvSpPr>
        <p:spPr>
          <a:xfrm>
            <a:off x="3566160" y="3474720"/>
            <a:ext cx="822960" cy="457200"/>
          </a:xfrm>
          <a:prstGeom prst="rect">
            <a:avLst/>
          </a:prstGeom>
          <a:noFill/>
        </p:spPr>
        <p:txBody>
          <a:bodyPr wrap="square" anchor="t"/>
          <a:lstStyle/>
          <a:p>
            <a:pPr algn="l"/>
            <a:r>
              <a:rPr sz="2000" b="0" i="0">
                <a:solidFill>
                  <a:srgbClr val="AAAAAA"/>
                </a:solidFill>
                <a:latin typeface="Calibri"/>
              </a:rPr>
              <a:t>× 0.15</a:t>
            </a:r>
          </a:p>
        </p:txBody>
      </p:sp>
      <p:sp>
        <p:nvSpPr>
          <p:cNvPr id="19" name="TextBox 18"/>
          <p:cNvSpPr txBox="1"/>
          <p:nvPr/>
        </p:nvSpPr>
        <p:spPr>
          <a:xfrm>
            <a:off x="4434840" y="3474720"/>
            <a:ext cx="1188720" cy="457200"/>
          </a:xfrm>
          <a:prstGeom prst="rect">
            <a:avLst/>
          </a:prstGeom>
          <a:noFill/>
        </p:spPr>
        <p:txBody>
          <a:bodyPr wrap="square" anchor="t"/>
          <a:lstStyle/>
          <a:p>
            <a:pPr algn="l"/>
            <a:r>
              <a:rPr sz="2000" b="1" i="0">
                <a:solidFill>
                  <a:srgbClr val="FFFFFF"/>
                </a:solidFill>
                <a:latin typeface="Calibri"/>
              </a:rPr>
              <a:t>= 0.107</a:t>
            </a:r>
          </a:p>
        </p:txBody>
      </p:sp>
      <p:sp>
        <p:nvSpPr>
          <p:cNvPr id="20" name="TextBox 19"/>
          <p:cNvSpPr txBox="1"/>
          <p:nvPr/>
        </p:nvSpPr>
        <p:spPr>
          <a:xfrm>
            <a:off x="731520" y="3931920"/>
            <a:ext cx="2194560" cy="457200"/>
          </a:xfrm>
          <a:prstGeom prst="rect">
            <a:avLst/>
          </a:prstGeom>
          <a:noFill/>
        </p:spPr>
        <p:txBody>
          <a:bodyPr wrap="square" anchor="t"/>
          <a:lstStyle/>
          <a:p>
            <a:pPr algn="l"/>
            <a:r>
              <a:rPr sz="2000" b="0" i="0">
                <a:solidFill>
                  <a:srgbClr val="AAAAAA"/>
                </a:solidFill>
                <a:latin typeface="Calibri"/>
              </a:rPr>
              <a:t>Inverse WWER</a:t>
            </a:r>
          </a:p>
        </p:txBody>
      </p:sp>
      <p:sp>
        <p:nvSpPr>
          <p:cNvPr id="21" name="TextBox 20"/>
          <p:cNvSpPr txBox="1"/>
          <p:nvPr/>
        </p:nvSpPr>
        <p:spPr>
          <a:xfrm>
            <a:off x="2926080" y="3931920"/>
            <a:ext cx="640080" cy="457200"/>
          </a:xfrm>
          <a:prstGeom prst="rect">
            <a:avLst/>
          </a:prstGeom>
          <a:noFill/>
        </p:spPr>
        <p:txBody>
          <a:bodyPr wrap="square" anchor="t"/>
          <a:lstStyle/>
          <a:p>
            <a:pPr algn="l"/>
            <a:r>
              <a:rPr sz="2000" b="1" i="0">
                <a:solidFill>
                  <a:srgbClr val="00B4D8"/>
                </a:solidFill>
                <a:latin typeface="Calibri"/>
              </a:rPr>
              <a:t>0.76</a:t>
            </a:r>
          </a:p>
        </p:txBody>
      </p:sp>
      <p:sp>
        <p:nvSpPr>
          <p:cNvPr id="22" name="TextBox 21"/>
          <p:cNvSpPr txBox="1"/>
          <p:nvPr/>
        </p:nvSpPr>
        <p:spPr>
          <a:xfrm>
            <a:off x="3566160" y="3931920"/>
            <a:ext cx="822960" cy="457200"/>
          </a:xfrm>
          <a:prstGeom prst="rect">
            <a:avLst/>
          </a:prstGeom>
          <a:noFill/>
        </p:spPr>
        <p:txBody>
          <a:bodyPr wrap="square" anchor="t"/>
          <a:lstStyle/>
          <a:p>
            <a:pPr algn="l"/>
            <a:r>
              <a:rPr sz="2000" b="0" i="0">
                <a:solidFill>
                  <a:srgbClr val="AAAAAA"/>
                </a:solidFill>
                <a:latin typeface="Calibri"/>
              </a:rPr>
              <a:t>× 0.15</a:t>
            </a:r>
          </a:p>
        </p:txBody>
      </p:sp>
      <p:sp>
        <p:nvSpPr>
          <p:cNvPr id="23" name="TextBox 22"/>
          <p:cNvSpPr txBox="1"/>
          <p:nvPr/>
        </p:nvSpPr>
        <p:spPr>
          <a:xfrm>
            <a:off x="4434840" y="3931920"/>
            <a:ext cx="1188720" cy="457200"/>
          </a:xfrm>
          <a:prstGeom prst="rect">
            <a:avLst/>
          </a:prstGeom>
          <a:noFill/>
        </p:spPr>
        <p:txBody>
          <a:bodyPr wrap="square" anchor="t"/>
          <a:lstStyle/>
          <a:p>
            <a:pPr algn="l"/>
            <a:r>
              <a:rPr sz="2000" b="1" i="0">
                <a:solidFill>
                  <a:srgbClr val="FFFFFF"/>
                </a:solidFill>
                <a:latin typeface="Calibri"/>
              </a:rPr>
              <a:t>= 0.114</a:t>
            </a:r>
          </a:p>
        </p:txBody>
      </p:sp>
      <p:sp>
        <p:nvSpPr>
          <p:cNvPr id="24" name="TextBox 23"/>
          <p:cNvSpPr txBox="1"/>
          <p:nvPr/>
        </p:nvSpPr>
        <p:spPr>
          <a:xfrm>
            <a:off x="731520" y="4389120"/>
            <a:ext cx="2194560" cy="457200"/>
          </a:xfrm>
          <a:prstGeom prst="rect">
            <a:avLst/>
          </a:prstGeom>
          <a:noFill/>
        </p:spPr>
        <p:txBody>
          <a:bodyPr wrap="square" anchor="t"/>
          <a:lstStyle/>
          <a:p>
            <a:pPr algn="l"/>
            <a:r>
              <a:rPr sz="2000" b="0" i="0">
                <a:solidFill>
                  <a:srgbClr val="AAAAAA"/>
                </a:solidFill>
                <a:latin typeface="Calibri"/>
              </a:rPr>
              <a:t>NEA F1</a:t>
            </a:r>
          </a:p>
        </p:txBody>
      </p:sp>
      <p:sp>
        <p:nvSpPr>
          <p:cNvPr id="25" name="TextBox 24"/>
          <p:cNvSpPr txBox="1"/>
          <p:nvPr/>
        </p:nvSpPr>
        <p:spPr>
          <a:xfrm>
            <a:off x="2926080" y="4389120"/>
            <a:ext cx="640080" cy="457200"/>
          </a:xfrm>
          <a:prstGeom prst="rect">
            <a:avLst/>
          </a:prstGeom>
          <a:noFill/>
        </p:spPr>
        <p:txBody>
          <a:bodyPr wrap="square" anchor="t"/>
          <a:lstStyle/>
          <a:p>
            <a:pPr algn="l"/>
            <a:r>
              <a:rPr sz="2000" b="1" i="0">
                <a:solidFill>
                  <a:srgbClr val="00B4D8"/>
                </a:solidFill>
                <a:latin typeface="Calibri"/>
              </a:rPr>
              <a:t>1.00</a:t>
            </a:r>
          </a:p>
        </p:txBody>
      </p:sp>
      <p:sp>
        <p:nvSpPr>
          <p:cNvPr id="26" name="TextBox 25"/>
          <p:cNvSpPr txBox="1"/>
          <p:nvPr/>
        </p:nvSpPr>
        <p:spPr>
          <a:xfrm>
            <a:off x="3566160" y="4389120"/>
            <a:ext cx="822960" cy="457200"/>
          </a:xfrm>
          <a:prstGeom prst="rect">
            <a:avLst/>
          </a:prstGeom>
          <a:noFill/>
        </p:spPr>
        <p:txBody>
          <a:bodyPr wrap="square" anchor="t"/>
          <a:lstStyle/>
          <a:p>
            <a:pPr algn="l"/>
            <a:r>
              <a:rPr sz="2000" b="0" i="0">
                <a:solidFill>
                  <a:srgbClr val="AAAAAA"/>
                </a:solidFill>
                <a:latin typeface="Calibri"/>
              </a:rPr>
              <a:t>× 0.15</a:t>
            </a:r>
          </a:p>
        </p:txBody>
      </p:sp>
      <p:sp>
        <p:nvSpPr>
          <p:cNvPr id="27" name="TextBox 26"/>
          <p:cNvSpPr txBox="1"/>
          <p:nvPr/>
        </p:nvSpPr>
        <p:spPr>
          <a:xfrm>
            <a:off x="4434840" y="4389120"/>
            <a:ext cx="1188720" cy="457200"/>
          </a:xfrm>
          <a:prstGeom prst="rect">
            <a:avLst/>
          </a:prstGeom>
          <a:noFill/>
        </p:spPr>
        <p:txBody>
          <a:bodyPr wrap="square" anchor="t"/>
          <a:lstStyle/>
          <a:p>
            <a:pPr algn="l"/>
            <a:r>
              <a:rPr sz="2000" b="1" i="0">
                <a:solidFill>
                  <a:srgbClr val="FFFFFF"/>
                </a:solidFill>
                <a:latin typeface="Calibri"/>
              </a:rPr>
              <a:t>= 0.150</a:t>
            </a:r>
          </a:p>
        </p:txBody>
      </p:sp>
      <p:sp>
        <p:nvSpPr>
          <p:cNvPr id="28" name="TextBox 27"/>
          <p:cNvSpPr txBox="1"/>
          <p:nvPr/>
        </p:nvSpPr>
        <p:spPr>
          <a:xfrm>
            <a:off x="731520" y="4846320"/>
            <a:ext cx="2194560" cy="457200"/>
          </a:xfrm>
          <a:prstGeom prst="rect">
            <a:avLst/>
          </a:prstGeom>
          <a:noFill/>
        </p:spPr>
        <p:txBody>
          <a:bodyPr wrap="square" anchor="t"/>
          <a:lstStyle/>
          <a:p>
            <a:pPr algn="l"/>
            <a:r>
              <a:rPr sz="2000" b="0" i="0">
                <a:solidFill>
                  <a:srgbClr val="AAAAAA"/>
                </a:solidFill>
                <a:latin typeface="Calibri"/>
              </a:rPr>
              <a:t>Length Ratio</a:t>
            </a:r>
          </a:p>
        </p:txBody>
      </p:sp>
      <p:sp>
        <p:nvSpPr>
          <p:cNvPr id="29" name="TextBox 28"/>
          <p:cNvSpPr txBox="1"/>
          <p:nvPr/>
        </p:nvSpPr>
        <p:spPr>
          <a:xfrm>
            <a:off x="2926080" y="4846320"/>
            <a:ext cx="640080" cy="457200"/>
          </a:xfrm>
          <a:prstGeom prst="rect">
            <a:avLst/>
          </a:prstGeom>
          <a:noFill/>
        </p:spPr>
        <p:txBody>
          <a:bodyPr wrap="square" anchor="t"/>
          <a:lstStyle/>
          <a:p>
            <a:pPr algn="l"/>
            <a:r>
              <a:rPr sz="2000" b="1" i="0">
                <a:solidFill>
                  <a:srgbClr val="00B4D8"/>
                </a:solidFill>
                <a:latin typeface="Calibri"/>
              </a:rPr>
              <a:t>0.89</a:t>
            </a:r>
          </a:p>
        </p:txBody>
      </p:sp>
      <p:sp>
        <p:nvSpPr>
          <p:cNvPr id="30" name="TextBox 29"/>
          <p:cNvSpPr txBox="1"/>
          <p:nvPr/>
        </p:nvSpPr>
        <p:spPr>
          <a:xfrm>
            <a:off x="3566160" y="4846320"/>
            <a:ext cx="822960" cy="457200"/>
          </a:xfrm>
          <a:prstGeom prst="rect">
            <a:avLst/>
          </a:prstGeom>
          <a:noFill/>
        </p:spPr>
        <p:txBody>
          <a:bodyPr wrap="square" anchor="t"/>
          <a:lstStyle/>
          <a:p>
            <a:pPr algn="l"/>
            <a:r>
              <a:rPr sz="2000" b="0" i="0">
                <a:solidFill>
                  <a:srgbClr val="AAAAAA"/>
                </a:solidFill>
                <a:latin typeface="Calibri"/>
              </a:rPr>
              <a:t>× 0.15</a:t>
            </a:r>
          </a:p>
        </p:txBody>
      </p:sp>
      <p:sp>
        <p:nvSpPr>
          <p:cNvPr id="31" name="TextBox 30"/>
          <p:cNvSpPr txBox="1"/>
          <p:nvPr/>
        </p:nvSpPr>
        <p:spPr>
          <a:xfrm>
            <a:off x="4434840" y="4846320"/>
            <a:ext cx="1188720" cy="457200"/>
          </a:xfrm>
          <a:prstGeom prst="rect">
            <a:avLst/>
          </a:prstGeom>
          <a:noFill/>
        </p:spPr>
        <p:txBody>
          <a:bodyPr wrap="square" anchor="t"/>
          <a:lstStyle/>
          <a:p>
            <a:pPr algn="l"/>
            <a:r>
              <a:rPr sz="2000" b="1" i="0">
                <a:solidFill>
                  <a:srgbClr val="FFFFFF"/>
                </a:solidFill>
                <a:latin typeface="Calibri"/>
              </a:rPr>
              <a:t>= 0.134</a:t>
            </a:r>
          </a:p>
        </p:txBody>
      </p:sp>
      <p:sp>
        <p:nvSpPr>
          <p:cNvPr id="32" name="TextBox 31"/>
          <p:cNvSpPr txBox="1"/>
          <p:nvPr/>
        </p:nvSpPr>
        <p:spPr>
          <a:xfrm>
            <a:off x="822960" y="5486400"/>
            <a:ext cx="4754880" cy="777240"/>
          </a:xfrm>
          <a:prstGeom prst="rect">
            <a:avLst/>
          </a:prstGeom>
          <a:noFill/>
        </p:spPr>
        <p:txBody>
          <a:bodyPr wrap="square" anchor="t"/>
          <a:lstStyle/>
          <a:p>
            <a:pPr algn="l"/>
            <a:r>
              <a:rPr sz="2000" b="1" i="0">
                <a:solidFill>
                  <a:srgbClr val="4CAF50"/>
                </a:solidFill>
                <a:latin typeface="Calibri"/>
              </a:rPr>
              <a:t>Sum × 5 = 4.22 → IS 4.2 (Good)</a:t>
            </a:r>
          </a:p>
        </p:txBody>
      </p:sp>
      <p:sp>
        <p:nvSpPr>
          <p:cNvPr id="33" name="Rounded Rectangle 32"/>
          <p:cNvSpPr/>
          <p:nvPr/>
        </p:nvSpPr>
        <p:spPr>
          <a:xfrm>
            <a:off x="6336792" y="1325880"/>
            <a:ext cx="5303520" cy="4846320"/>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885432" y="1417320"/>
            <a:ext cx="4206240" cy="457200"/>
          </a:xfrm>
          <a:prstGeom prst="round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85432" y="1417320"/>
            <a:ext cx="4206240" cy="457200"/>
          </a:xfrm>
          <a:prstGeom prst="rect">
            <a:avLst/>
          </a:prstGeom>
          <a:noFill/>
        </p:spPr>
        <p:txBody>
          <a:bodyPr wrap="square" anchor="t"/>
          <a:lstStyle/>
          <a:p>
            <a:pPr algn="ctr"/>
            <a:r>
              <a:rPr sz="2000" b="1" i="0">
                <a:solidFill>
                  <a:srgbClr val="0D1B2A"/>
                </a:solidFill>
                <a:latin typeface="Calibri"/>
              </a:rPr>
              <a:t>Bad Segment — IS = 0.8</a:t>
            </a:r>
          </a:p>
        </p:txBody>
      </p:sp>
      <p:sp>
        <p:nvSpPr>
          <p:cNvPr id="36" name="TextBox 35"/>
          <p:cNvSpPr txBox="1"/>
          <p:nvPr/>
        </p:nvSpPr>
        <p:spPr>
          <a:xfrm>
            <a:off x="6565392" y="1965960"/>
            <a:ext cx="4846320" cy="1280160"/>
          </a:xfrm>
          <a:prstGeom prst="rect">
            <a:avLst/>
          </a:prstGeom>
          <a:noFill/>
        </p:spPr>
        <p:txBody>
          <a:bodyPr wrap="square">
            <a:spAutoFit/>
          </a:bodyPr>
          <a:lstStyle/>
          <a:p>
            <a:pPr algn="l">
              <a:spcAft>
                <a:spcPts val="600"/>
              </a:spcAft>
            </a:pPr>
            <a:r>
              <a:rPr sz="1800" b="1" i="0">
                <a:solidFill>
                  <a:srgbClr val="AAAAAA"/>
                </a:solidFill>
                <a:latin typeface="Calibri"/>
              </a:rPr>
              <a:t>Ref: </a:t>
            </a:r>
            <a:r>
              <a:rPr sz="1800" b="0" i="0">
                <a:solidFill>
                  <a:srgbClr val="FFFFFF"/>
                </a:solidFill>
                <a:latin typeface="Calibri"/>
              </a:rPr>
              <a:t>“carry strap”</a:t>
            </a:r>
          </a:p>
          <a:p>
            <a:pPr algn="l">
              <a:spcAft>
                <a:spcPts val="600"/>
              </a:spcAft>
            </a:pPr>
            <a:r>
              <a:rPr sz="1800" b="1" i="0">
                <a:solidFill>
                  <a:srgbClr val="AAAAAA"/>
                </a:solidFill>
                <a:latin typeface="Calibri"/>
              </a:rPr>
              <a:t>Hyp: </a:t>
            </a:r>
            <a:r>
              <a:rPr sz="1800" b="0" i="0">
                <a:solidFill>
                  <a:srgbClr val="FFFFFF"/>
                </a:solidFill>
                <a:latin typeface="Calibri"/>
              </a:rPr>
              <a:t>“holocaust denier of the final act”</a:t>
            </a:r>
          </a:p>
        </p:txBody>
      </p:sp>
      <p:sp>
        <p:nvSpPr>
          <p:cNvPr id="37" name="TextBox 36"/>
          <p:cNvSpPr txBox="1"/>
          <p:nvPr/>
        </p:nvSpPr>
        <p:spPr>
          <a:xfrm>
            <a:off x="6519672" y="2560320"/>
            <a:ext cx="2194560" cy="457200"/>
          </a:xfrm>
          <a:prstGeom prst="rect">
            <a:avLst/>
          </a:prstGeom>
          <a:noFill/>
        </p:spPr>
        <p:txBody>
          <a:bodyPr wrap="square" anchor="t"/>
          <a:lstStyle/>
          <a:p>
            <a:pPr algn="l"/>
            <a:r>
              <a:rPr sz="2000" b="0" i="0">
                <a:solidFill>
                  <a:srgbClr val="AAAAAA"/>
                </a:solidFill>
                <a:latin typeface="Calibri"/>
              </a:rPr>
              <a:t>Semantic Sim</a:t>
            </a:r>
          </a:p>
        </p:txBody>
      </p:sp>
      <p:sp>
        <p:nvSpPr>
          <p:cNvPr id="38" name="TextBox 37"/>
          <p:cNvSpPr txBox="1"/>
          <p:nvPr/>
        </p:nvSpPr>
        <p:spPr>
          <a:xfrm>
            <a:off x="8714232" y="2560320"/>
            <a:ext cx="640080" cy="457200"/>
          </a:xfrm>
          <a:prstGeom prst="rect">
            <a:avLst/>
          </a:prstGeom>
          <a:noFill/>
        </p:spPr>
        <p:txBody>
          <a:bodyPr wrap="square" anchor="t"/>
          <a:lstStyle/>
          <a:p>
            <a:pPr algn="l"/>
            <a:r>
              <a:rPr sz="2000" b="1" i="0">
                <a:solidFill>
                  <a:srgbClr val="E06C75"/>
                </a:solidFill>
                <a:latin typeface="Calibri"/>
              </a:rPr>
              <a:t>0.04</a:t>
            </a:r>
          </a:p>
        </p:txBody>
      </p:sp>
      <p:sp>
        <p:nvSpPr>
          <p:cNvPr id="39" name="TextBox 38"/>
          <p:cNvSpPr txBox="1"/>
          <p:nvPr/>
        </p:nvSpPr>
        <p:spPr>
          <a:xfrm>
            <a:off x="9354312" y="2560320"/>
            <a:ext cx="822960" cy="457200"/>
          </a:xfrm>
          <a:prstGeom prst="rect">
            <a:avLst/>
          </a:prstGeom>
          <a:noFill/>
        </p:spPr>
        <p:txBody>
          <a:bodyPr wrap="square" anchor="t"/>
          <a:lstStyle/>
          <a:p>
            <a:pPr algn="l"/>
            <a:r>
              <a:rPr sz="2000" b="0" i="0">
                <a:solidFill>
                  <a:srgbClr val="AAAAAA"/>
                </a:solidFill>
                <a:latin typeface="Calibri"/>
              </a:rPr>
              <a:t>× 0.25</a:t>
            </a:r>
          </a:p>
        </p:txBody>
      </p:sp>
      <p:sp>
        <p:nvSpPr>
          <p:cNvPr id="40" name="TextBox 39"/>
          <p:cNvSpPr txBox="1"/>
          <p:nvPr/>
        </p:nvSpPr>
        <p:spPr>
          <a:xfrm>
            <a:off x="10222992" y="2560320"/>
            <a:ext cx="1188720" cy="457200"/>
          </a:xfrm>
          <a:prstGeom prst="rect">
            <a:avLst/>
          </a:prstGeom>
          <a:noFill/>
        </p:spPr>
        <p:txBody>
          <a:bodyPr wrap="square" anchor="t"/>
          <a:lstStyle/>
          <a:p>
            <a:pPr algn="l"/>
            <a:r>
              <a:rPr sz="2000" b="1" i="0">
                <a:solidFill>
                  <a:srgbClr val="FFFFFF"/>
                </a:solidFill>
                <a:latin typeface="Calibri"/>
              </a:rPr>
              <a:t>= 0.010</a:t>
            </a:r>
          </a:p>
        </p:txBody>
      </p:sp>
      <p:sp>
        <p:nvSpPr>
          <p:cNvPr id="41" name="TextBox 40"/>
          <p:cNvSpPr txBox="1"/>
          <p:nvPr/>
        </p:nvSpPr>
        <p:spPr>
          <a:xfrm>
            <a:off x="6519672" y="3017520"/>
            <a:ext cx="2194560" cy="457200"/>
          </a:xfrm>
          <a:prstGeom prst="rect">
            <a:avLst/>
          </a:prstGeom>
          <a:noFill/>
        </p:spPr>
        <p:txBody>
          <a:bodyPr wrap="square" anchor="t"/>
          <a:lstStyle/>
          <a:p>
            <a:pPr algn="l"/>
            <a:r>
              <a:rPr sz="2000" b="0" i="0">
                <a:solidFill>
                  <a:srgbClr val="AAAAAA"/>
                </a:solidFill>
                <a:latin typeface="Calibri"/>
              </a:rPr>
              <a:t>Phonetic Sim</a:t>
            </a:r>
          </a:p>
        </p:txBody>
      </p:sp>
      <p:sp>
        <p:nvSpPr>
          <p:cNvPr id="42" name="TextBox 41"/>
          <p:cNvSpPr txBox="1"/>
          <p:nvPr/>
        </p:nvSpPr>
        <p:spPr>
          <a:xfrm>
            <a:off x="8714232" y="3017520"/>
            <a:ext cx="640080" cy="457200"/>
          </a:xfrm>
          <a:prstGeom prst="rect">
            <a:avLst/>
          </a:prstGeom>
          <a:noFill/>
        </p:spPr>
        <p:txBody>
          <a:bodyPr wrap="square" anchor="t"/>
          <a:lstStyle/>
          <a:p>
            <a:pPr algn="l"/>
            <a:r>
              <a:rPr sz="2000" b="1" i="0">
                <a:solidFill>
                  <a:srgbClr val="E06C75"/>
                </a:solidFill>
                <a:latin typeface="Calibri"/>
              </a:rPr>
              <a:t>0.20</a:t>
            </a:r>
          </a:p>
        </p:txBody>
      </p:sp>
      <p:sp>
        <p:nvSpPr>
          <p:cNvPr id="43" name="TextBox 42"/>
          <p:cNvSpPr txBox="1"/>
          <p:nvPr/>
        </p:nvSpPr>
        <p:spPr>
          <a:xfrm>
            <a:off x="9354312" y="3017520"/>
            <a:ext cx="822960" cy="457200"/>
          </a:xfrm>
          <a:prstGeom prst="rect">
            <a:avLst/>
          </a:prstGeom>
          <a:noFill/>
        </p:spPr>
        <p:txBody>
          <a:bodyPr wrap="square" anchor="t"/>
          <a:lstStyle/>
          <a:p>
            <a:pPr algn="l"/>
            <a:r>
              <a:rPr sz="2000" b="0" i="0">
                <a:solidFill>
                  <a:srgbClr val="AAAAAA"/>
                </a:solidFill>
                <a:latin typeface="Calibri"/>
              </a:rPr>
              <a:t>× 0.15</a:t>
            </a:r>
          </a:p>
        </p:txBody>
      </p:sp>
      <p:sp>
        <p:nvSpPr>
          <p:cNvPr id="44" name="TextBox 43"/>
          <p:cNvSpPr txBox="1"/>
          <p:nvPr/>
        </p:nvSpPr>
        <p:spPr>
          <a:xfrm>
            <a:off x="10222992" y="3017520"/>
            <a:ext cx="1188720" cy="457200"/>
          </a:xfrm>
          <a:prstGeom prst="rect">
            <a:avLst/>
          </a:prstGeom>
          <a:noFill/>
        </p:spPr>
        <p:txBody>
          <a:bodyPr wrap="square" anchor="t"/>
          <a:lstStyle/>
          <a:p>
            <a:pPr algn="l"/>
            <a:r>
              <a:rPr sz="2000" b="1" i="0">
                <a:solidFill>
                  <a:srgbClr val="FFFFFF"/>
                </a:solidFill>
                <a:latin typeface="Calibri"/>
              </a:rPr>
              <a:t>= 0.030</a:t>
            </a:r>
          </a:p>
        </p:txBody>
      </p:sp>
      <p:sp>
        <p:nvSpPr>
          <p:cNvPr id="45" name="TextBox 44"/>
          <p:cNvSpPr txBox="1"/>
          <p:nvPr/>
        </p:nvSpPr>
        <p:spPr>
          <a:xfrm>
            <a:off x="6519672" y="3474720"/>
            <a:ext cx="2194560" cy="457200"/>
          </a:xfrm>
          <a:prstGeom prst="rect">
            <a:avLst/>
          </a:prstGeom>
          <a:noFill/>
        </p:spPr>
        <p:txBody>
          <a:bodyPr wrap="square" anchor="t"/>
          <a:lstStyle/>
          <a:p>
            <a:pPr algn="l"/>
            <a:r>
              <a:rPr sz="2000" b="0" i="0">
                <a:solidFill>
                  <a:srgbClr val="AAAAAA"/>
                </a:solidFill>
                <a:latin typeface="Calibri"/>
              </a:rPr>
              <a:t>Inverse WER</a:t>
            </a:r>
          </a:p>
        </p:txBody>
      </p:sp>
      <p:sp>
        <p:nvSpPr>
          <p:cNvPr id="46" name="TextBox 45"/>
          <p:cNvSpPr txBox="1"/>
          <p:nvPr/>
        </p:nvSpPr>
        <p:spPr>
          <a:xfrm>
            <a:off x="8714232" y="3474720"/>
            <a:ext cx="640080" cy="457200"/>
          </a:xfrm>
          <a:prstGeom prst="rect">
            <a:avLst/>
          </a:prstGeom>
          <a:noFill/>
        </p:spPr>
        <p:txBody>
          <a:bodyPr wrap="square" anchor="t"/>
          <a:lstStyle/>
          <a:p>
            <a:pPr algn="l"/>
            <a:r>
              <a:rPr sz="2000" b="1" i="0">
                <a:solidFill>
                  <a:srgbClr val="E06C75"/>
                </a:solidFill>
                <a:latin typeface="Calibri"/>
              </a:rPr>
              <a:t>0.00</a:t>
            </a:r>
          </a:p>
        </p:txBody>
      </p:sp>
      <p:sp>
        <p:nvSpPr>
          <p:cNvPr id="47" name="TextBox 46"/>
          <p:cNvSpPr txBox="1"/>
          <p:nvPr/>
        </p:nvSpPr>
        <p:spPr>
          <a:xfrm>
            <a:off x="9354312" y="3474720"/>
            <a:ext cx="822960" cy="457200"/>
          </a:xfrm>
          <a:prstGeom prst="rect">
            <a:avLst/>
          </a:prstGeom>
          <a:noFill/>
        </p:spPr>
        <p:txBody>
          <a:bodyPr wrap="square" anchor="t"/>
          <a:lstStyle/>
          <a:p>
            <a:pPr algn="l"/>
            <a:r>
              <a:rPr sz="2000" b="0" i="0">
                <a:solidFill>
                  <a:srgbClr val="AAAAAA"/>
                </a:solidFill>
                <a:latin typeface="Calibri"/>
              </a:rPr>
              <a:t>× 0.15</a:t>
            </a:r>
          </a:p>
        </p:txBody>
      </p:sp>
      <p:sp>
        <p:nvSpPr>
          <p:cNvPr id="48" name="TextBox 47"/>
          <p:cNvSpPr txBox="1"/>
          <p:nvPr/>
        </p:nvSpPr>
        <p:spPr>
          <a:xfrm>
            <a:off x="10222992" y="3474720"/>
            <a:ext cx="1188720" cy="457200"/>
          </a:xfrm>
          <a:prstGeom prst="rect">
            <a:avLst/>
          </a:prstGeom>
          <a:noFill/>
        </p:spPr>
        <p:txBody>
          <a:bodyPr wrap="square" anchor="t"/>
          <a:lstStyle/>
          <a:p>
            <a:pPr algn="l"/>
            <a:r>
              <a:rPr sz="2000" b="1" i="0">
                <a:solidFill>
                  <a:srgbClr val="FFFFFF"/>
                </a:solidFill>
                <a:latin typeface="Calibri"/>
              </a:rPr>
              <a:t>= 0.000</a:t>
            </a:r>
          </a:p>
        </p:txBody>
      </p:sp>
      <p:sp>
        <p:nvSpPr>
          <p:cNvPr id="49" name="TextBox 48"/>
          <p:cNvSpPr txBox="1"/>
          <p:nvPr/>
        </p:nvSpPr>
        <p:spPr>
          <a:xfrm>
            <a:off x="6519672" y="3931920"/>
            <a:ext cx="2194560" cy="457200"/>
          </a:xfrm>
          <a:prstGeom prst="rect">
            <a:avLst/>
          </a:prstGeom>
          <a:noFill/>
        </p:spPr>
        <p:txBody>
          <a:bodyPr wrap="square" anchor="t"/>
          <a:lstStyle/>
          <a:p>
            <a:pPr algn="l"/>
            <a:r>
              <a:rPr sz="2000" b="0" i="0">
                <a:solidFill>
                  <a:srgbClr val="AAAAAA"/>
                </a:solidFill>
                <a:latin typeface="Calibri"/>
              </a:rPr>
              <a:t>Inverse WWER</a:t>
            </a:r>
          </a:p>
        </p:txBody>
      </p:sp>
      <p:sp>
        <p:nvSpPr>
          <p:cNvPr id="50" name="TextBox 49"/>
          <p:cNvSpPr txBox="1"/>
          <p:nvPr/>
        </p:nvSpPr>
        <p:spPr>
          <a:xfrm>
            <a:off x="8714232" y="3931920"/>
            <a:ext cx="640080" cy="457200"/>
          </a:xfrm>
          <a:prstGeom prst="rect">
            <a:avLst/>
          </a:prstGeom>
          <a:noFill/>
        </p:spPr>
        <p:txBody>
          <a:bodyPr wrap="square" anchor="t"/>
          <a:lstStyle/>
          <a:p>
            <a:pPr algn="l"/>
            <a:r>
              <a:rPr sz="2000" b="1" i="0">
                <a:solidFill>
                  <a:srgbClr val="E06C75"/>
                </a:solidFill>
                <a:latin typeface="Calibri"/>
              </a:rPr>
              <a:t>0.03</a:t>
            </a:r>
          </a:p>
        </p:txBody>
      </p:sp>
      <p:sp>
        <p:nvSpPr>
          <p:cNvPr id="51" name="TextBox 50"/>
          <p:cNvSpPr txBox="1"/>
          <p:nvPr/>
        </p:nvSpPr>
        <p:spPr>
          <a:xfrm>
            <a:off x="9354312" y="3931920"/>
            <a:ext cx="822960" cy="457200"/>
          </a:xfrm>
          <a:prstGeom prst="rect">
            <a:avLst/>
          </a:prstGeom>
          <a:noFill/>
        </p:spPr>
        <p:txBody>
          <a:bodyPr wrap="square" anchor="t"/>
          <a:lstStyle/>
          <a:p>
            <a:pPr algn="l"/>
            <a:r>
              <a:rPr sz="2000" b="0" i="0">
                <a:solidFill>
                  <a:srgbClr val="AAAAAA"/>
                </a:solidFill>
                <a:latin typeface="Calibri"/>
              </a:rPr>
              <a:t>× 0.15</a:t>
            </a:r>
          </a:p>
        </p:txBody>
      </p:sp>
      <p:sp>
        <p:nvSpPr>
          <p:cNvPr id="52" name="TextBox 51"/>
          <p:cNvSpPr txBox="1"/>
          <p:nvPr/>
        </p:nvSpPr>
        <p:spPr>
          <a:xfrm>
            <a:off x="10222992" y="3931920"/>
            <a:ext cx="1188720" cy="457200"/>
          </a:xfrm>
          <a:prstGeom prst="rect">
            <a:avLst/>
          </a:prstGeom>
          <a:noFill/>
        </p:spPr>
        <p:txBody>
          <a:bodyPr wrap="square" anchor="t"/>
          <a:lstStyle/>
          <a:p>
            <a:pPr algn="l"/>
            <a:r>
              <a:rPr sz="2000" b="1" i="0">
                <a:solidFill>
                  <a:srgbClr val="FFFFFF"/>
                </a:solidFill>
                <a:latin typeface="Calibri"/>
              </a:rPr>
              <a:t>= 0.004</a:t>
            </a:r>
          </a:p>
        </p:txBody>
      </p:sp>
      <p:sp>
        <p:nvSpPr>
          <p:cNvPr id="53" name="TextBox 52"/>
          <p:cNvSpPr txBox="1"/>
          <p:nvPr/>
        </p:nvSpPr>
        <p:spPr>
          <a:xfrm>
            <a:off x="6519672" y="4389120"/>
            <a:ext cx="2194560" cy="457200"/>
          </a:xfrm>
          <a:prstGeom prst="rect">
            <a:avLst/>
          </a:prstGeom>
          <a:noFill/>
        </p:spPr>
        <p:txBody>
          <a:bodyPr wrap="square" anchor="t"/>
          <a:lstStyle/>
          <a:p>
            <a:pPr algn="l"/>
            <a:r>
              <a:rPr sz="2000" b="0" i="0">
                <a:solidFill>
                  <a:srgbClr val="AAAAAA"/>
                </a:solidFill>
                <a:latin typeface="Calibri"/>
              </a:rPr>
              <a:t>NEA F1</a:t>
            </a:r>
          </a:p>
        </p:txBody>
      </p:sp>
      <p:sp>
        <p:nvSpPr>
          <p:cNvPr id="54" name="TextBox 53"/>
          <p:cNvSpPr txBox="1"/>
          <p:nvPr/>
        </p:nvSpPr>
        <p:spPr>
          <a:xfrm>
            <a:off x="8714232" y="4389120"/>
            <a:ext cx="640080" cy="457200"/>
          </a:xfrm>
          <a:prstGeom prst="rect">
            <a:avLst/>
          </a:prstGeom>
          <a:noFill/>
        </p:spPr>
        <p:txBody>
          <a:bodyPr wrap="square" anchor="t"/>
          <a:lstStyle/>
          <a:p>
            <a:pPr algn="l"/>
            <a:r>
              <a:rPr sz="2000" b="1" i="0">
                <a:solidFill>
                  <a:srgbClr val="E06C75"/>
                </a:solidFill>
                <a:latin typeface="Calibri"/>
              </a:rPr>
              <a:t>0.00</a:t>
            </a:r>
          </a:p>
        </p:txBody>
      </p:sp>
      <p:sp>
        <p:nvSpPr>
          <p:cNvPr id="55" name="TextBox 54"/>
          <p:cNvSpPr txBox="1"/>
          <p:nvPr/>
        </p:nvSpPr>
        <p:spPr>
          <a:xfrm>
            <a:off x="9354312" y="4389120"/>
            <a:ext cx="822960" cy="457200"/>
          </a:xfrm>
          <a:prstGeom prst="rect">
            <a:avLst/>
          </a:prstGeom>
          <a:noFill/>
        </p:spPr>
        <p:txBody>
          <a:bodyPr wrap="square" anchor="t"/>
          <a:lstStyle/>
          <a:p>
            <a:pPr algn="l"/>
            <a:r>
              <a:rPr sz="2000" b="0" i="0">
                <a:solidFill>
                  <a:srgbClr val="AAAAAA"/>
                </a:solidFill>
                <a:latin typeface="Calibri"/>
              </a:rPr>
              <a:t>× 0.15</a:t>
            </a:r>
          </a:p>
        </p:txBody>
      </p:sp>
      <p:sp>
        <p:nvSpPr>
          <p:cNvPr id="56" name="TextBox 55"/>
          <p:cNvSpPr txBox="1"/>
          <p:nvPr/>
        </p:nvSpPr>
        <p:spPr>
          <a:xfrm>
            <a:off x="10222992" y="4389120"/>
            <a:ext cx="1188720" cy="457200"/>
          </a:xfrm>
          <a:prstGeom prst="rect">
            <a:avLst/>
          </a:prstGeom>
          <a:noFill/>
        </p:spPr>
        <p:txBody>
          <a:bodyPr wrap="square" anchor="t"/>
          <a:lstStyle/>
          <a:p>
            <a:pPr algn="l"/>
            <a:r>
              <a:rPr sz="2000" b="1" i="0">
                <a:solidFill>
                  <a:srgbClr val="FFFFFF"/>
                </a:solidFill>
                <a:latin typeface="Calibri"/>
              </a:rPr>
              <a:t>= 0.000</a:t>
            </a:r>
          </a:p>
        </p:txBody>
      </p:sp>
      <p:sp>
        <p:nvSpPr>
          <p:cNvPr id="57" name="TextBox 56"/>
          <p:cNvSpPr txBox="1"/>
          <p:nvPr/>
        </p:nvSpPr>
        <p:spPr>
          <a:xfrm>
            <a:off x="6519672" y="4846320"/>
            <a:ext cx="2194560" cy="457200"/>
          </a:xfrm>
          <a:prstGeom prst="rect">
            <a:avLst/>
          </a:prstGeom>
          <a:noFill/>
        </p:spPr>
        <p:txBody>
          <a:bodyPr wrap="square" anchor="t"/>
          <a:lstStyle/>
          <a:p>
            <a:pPr algn="l"/>
            <a:r>
              <a:rPr sz="2000" b="0" i="0">
                <a:solidFill>
                  <a:srgbClr val="AAAAAA"/>
                </a:solidFill>
                <a:latin typeface="Calibri"/>
              </a:rPr>
              <a:t>Length Ratio</a:t>
            </a:r>
          </a:p>
        </p:txBody>
      </p:sp>
      <p:sp>
        <p:nvSpPr>
          <p:cNvPr id="58" name="TextBox 57"/>
          <p:cNvSpPr txBox="1"/>
          <p:nvPr/>
        </p:nvSpPr>
        <p:spPr>
          <a:xfrm>
            <a:off x="8714232" y="4846320"/>
            <a:ext cx="640080" cy="457200"/>
          </a:xfrm>
          <a:prstGeom prst="rect">
            <a:avLst/>
          </a:prstGeom>
          <a:noFill/>
        </p:spPr>
        <p:txBody>
          <a:bodyPr wrap="square" anchor="t"/>
          <a:lstStyle/>
          <a:p>
            <a:pPr algn="l"/>
            <a:r>
              <a:rPr sz="2000" b="1" i="0">
                <a:solidFill>
                  <a:srgbClr val="E06C75"/>
                </a:solidFill>
                <a:latin typeface="Calibri"/>
              </a:rPr>
              <a:t>0.78</a:t>
            </a:r>
          </a:p>
        </p:txBody>
      </p:sp>
      <p:sp>
        <p:nvSpPr>
          <p:cNvPr id="59" name="TextBox 58"/>
          <p:cNvSpPr txBox="1"/>
          <p:nvPr/>
        </p:nvSpPr>
        <p:spPr>
          <a:xfrm>
            <a:off x="9354312" y="4846320"/>
            <a:ext cx="822960" cy="457200"/>
          </a:xfrm>
          <a:prstGeom prst="rect">
            <a:avLst/>
          </a:prstGeom>
          <a:noFill/>
        </p:spPr>
        <p:txBody>
          <a:bodyPr wrap="square" anchor="t"/>
          <a:lstStyle/>
          <a:p>
            <a:pPr algn="l"/>
            <a:r>
              <a:rPr sz="2000" b="0" i="0">
                <a:solidFill>
                  <a:srgbClr val="AAAAAA"/>
                </a:solidFill>
                <a:latin typeface="Calibri"/>
              </a:rPr>
              <a:t>× 0.15</a:t>
            </a:r>
          </a:p>
        </p:txBody>
      </p:sp>
      <p:sp>
        <p:nvSpPr>
          <p:cNvPr id="60" name="TextBox 59"/>
          <p:cNvSpPr txBox="1"/>
          <p:nvPr/>
        </p:nvSpPr>
        <p:spPr>
          <a:xfrm>
            <a:off x="10222992" y="4846320"/>
            <a:ext cx="1188720" cy="457200"/>
          </a:xfrm>
          <a:prstGeom prst="rect">
            <a:avLst/>
          </a:prstGeom>
          <a:noFill/>
        </p:spPr>
        <p:txBody>
          <a:bodyPr wrap="square" anchor="t"/>
          <a:lstStyle/>
          <a:p>
            <a:pPr algn="l"/>
            <a:r>
              <a:rPr sz="2000" b="1" i="0">
                <a:solidFill>
                  <a:srgbClr val="FFFFFF"/>
                </a:solidFill>
                <a:latin typeface="Calibri"/>
              </a:rPr>
              <a:t>= 0.117</a:t>
            </a:r>
          </a:p>
        </p:txBody>
      </p:sp>
      <p:sp>
        <p:nvSpPr>
          <p:cNvPr id="61" name="TextBox 60"/>
          <p:cNvSpPr txBox="1"/>
          <p:nvPr/>
        </p:nvSpPr>
        <p:spPr>
          <a:xfrm>
            <a:off x="6611112" y="5486400"/>
            <a:ext cx="4754880" cy="777240"/>
          </a:xfrm>
          <a:prstGeom prst="rect">
            <a:avLst/>
          </a:prstGeom>
          <a:noFill/>
        </p:spPr>
        <p:txBody>
          <a:bodyPr wrap="square" anchor="t"/>
          <a:lstStyle/>
          <a:p>
            <a:pPr algn="l"/>
            <a:r>
              <a:rPr sz="2000" b="1" i="0">
                <a:solidFill>
                  <a:srgbClr val="E06C75"/>
                </a:solidFill>
                <a:latin typeface="Calibri"/>
              </a:rPr>
              <a:t>Sum × 5 = 0.81 → IS 0.8 (Failed)</a:t>
            </a:r>
          </a:p>
        </p:txBody>
      </p:sp>
      <p:sp>
        <p:nvSpPr>
          <p:cNvPr id="62" name="TextBox 61"/>
          <p:cNvSpPr txBox="1"/>
          <p:nvPr/>
        </p:nvSpPr>
        <p:spPr>
          <a:xfrm>
            <a:off x="548640" y="6199632"/>
            <a:ext cx="11091672" cy="201168"/>
          </a:xfrm>
          <a:prstGeom prst="rect">
            <a:avLst/>
          </a:prstGeom>
          <a:noFill/>
        </p:spPr>
        <p:txBody>
          <a:bodyPr wrap="square" anchor="t"/>
          <a:lstStyle/>
          <a:p>
            <a:pPr algn="ctr"/>
            <a:r>
              <a:rPr sz="1600" b="0" i="1">
                <a:solidFill>
                  <a:srgbClr val="AAAAAA"/>
                </a:solidFill>
                <a:latin typeface="Calibri"/>
              </a:rPr>
              <a:t>IS = 5 × (0.25·Sem + 0.15·(Phon + InvWER + InvWWER + NEA + LR))</a:t>
            </a:r>
          </a:p>
        </p:txBody>
      </p:sp>
      <p:pic>
        <p:nvPicPr>
          <p:cNvPr id="63" name="Picture 6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4" name="TextBox 6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29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grpId="0" nodeType="withEffect">
                                  <p:stCondLst>
                                    <p:cond delay="72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84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96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108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120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132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144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1560"/>
                                  </p:stCondLst>
                                  <p:childTnLst>
                                    <p:set>
                                      <p:cBhvr>
                                        <p:cTn id="32" dur="1" fill="hold">
                                          <p:stCondLst>
                                            <p:cond delay="0"/>
                                          </p:stCondLst>
                                        </p:cTn>
                                        <p:tgtEl>
                                          <p:spTgt spid="46"/>
                                        </p:tgtEl>
                                        <p:attrNameLst>
                                          <p:attrName>style.visibility</p:attrName>
                                        </p:attrNameLst>
                                      </p:cBhvr>
                                      <p:to>
                                        <p:strVal val="visible"/>
                                      </p:to>
                                    </p:set>
                                  </p:childTnLst>
                                </p:cTn>
                              </p:par>
                              <p:par>
                                <p:cTn id="33" presetID="1" presetClass="entr" presetSubtype="0" fill="hold" grpId="0" nodeType="withEffect">
                                  <p:stCondLst>
                                    <p:cond delay="168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180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192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204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216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228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grpId="0" nodeType="withEffect">
                                  <p:stCondLst>
                                    <p:cond delay="240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grpId="0" nodeType="withEffect">
                                  <p:stCondLst>
                                    <p:cond delay="252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264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276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grpId="0" nodeType="withEffect">
                                  <p:stCondLst>
                                    <p:cond delay="288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3000"/>
                                  </p:stCondLst>
                                  <p:childTnLst>
                                    <p:set>
                                      <p:cBhvr>
                                        <p:cTn id="56" dur="1" fill="hold">
                                          <p:stCondLst>
                                            <p:cond delay="0"/>
                                          </p:stCondLst>
                                        </p:cTn>
                                        <p:tgtEl>
                                          <p:spTgt spid="58"/>
                                        </p:tgtEl>
                                        <p:attrNameLst>
                                          <p:attrName>style.visibility</p:attrName>
                                        </p:attrNameLst>
                                      </p:cBhvr>
                                      <p:to>
                                        <p:strVal val="visible"/>
                                      </p:to>
                                    </p:set>
                                  </p:childTnLst>
                                </p:cTn>
                              </p:par>
                              <p:par>
                                <p:cTn id="57" presetID="1" presetClass="entr" presetSubtype="0" fill="hold" grpId="0" nodeType="withEffect">
                                  <p:stCondLst>
                                    <p:cond delay="312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3240"/>
                                  </p:stCondLst>
                                  <p:childTnLst>
                                    <p:set>
                                      <p:cBhvr>
                                        <p:cTn id="60" dur="1" fill="hold">
                                          <p:stCondLst>
                                            <p:cond delay="0"/>
                                          </p:stCondLst>
                                        </p:cTn>
                                        <p:tgtEl>
                                          <p:spTgt spid="60"/>
                                        </p:tgtEl>
                                        <p:attrNameLst>
                                          <p:attrName>style.visibility</p:attrName>
                                        </p:attrNameLst>
                                      </p:cBhvr>
                                      <p:to>
                                        <p:strVal val="visible"/>
                                      </p:to>
                                    </p:set>
                                  </p:childTnLst>
                                </p:cTn>
                              </p:par>
                              <p:par>
                                <p:cTn id="61" presetID="1" presetClass="entr" presetSubtype="0" fill="hold" grpId="0" nodeType="withEffect">
                                  <p:stCondLst>
                                    <p:cond delay="3360"/>
                                  </p:stCondLst>
                                  <p:childTnLst>
                                    <p:set>
                                      <p:cBhvr>
                                        <p:cTn id="6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Model Comparison: IS Profiles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2200" b="0" i="1">
                <a:solidFill>
                  <a:srgbClr val="AAAAAA"/>
                </a:solidFill>
                <a:latin typeface="Calibri"/>
              </a:rPr>
              <a:t>Captured vs failed IS profiles — LRS3 benchmark and YouTube evaluation.</a:t>
            </a:r>
          </a:p>
        </p:txBody>
      </p:sp>
      <p:pic>
        <p:nvPicPr>
          <p:cNvPr id="5" name="Picture 4" descr="P6_is_radar.png"/>
          <p:cNvPicPr>
            <a:picLocks noChangeAspect="1"/>
          </p:cNvPicPr>
          <p:nvPr/>
        </p:nvPicPr>
        <p:blipFill>
          <a:blip r:embed="rId2"/>
          <a:stretch>
            <a:fillRect/>
          </a:stretch>
        </p:blipFill>
        <p:spPr>
          <a:xfrm>
            <a:off x="1751076" y="1828800"/>
            <a:ext cx="8686800" cy="3520440"/>
          </a:xfrm>
          <a:prstGeom prst="rect">
            <a:avLst/>
          </a:prstGeom>
        </p:spPr>
      </p:pic>
      <p:sp>
        <p:nvSpPr>
          <p:cNvPr id="6" name="TextBox 5"/>
          <p:cNvSpPr txBox="1"/>
          <p:nvPr/>
        </p:nvSpPr>
        <p:spPr>
          <a:xfrm>
            <a:off x="548640" y="5394960"/>
            <a:ext cx="11091672" cy="365760"/>
          </a:xfrm>
          <a:prstGeom prst="rect">
            <a:avLst/>
          </a:prstGeom>
          <a:noFill/>
        </p:spPr>
        <p:txBody>
          <a:bodyPr wrap="square" anchor="t"/>
          <a:lstStyle/>
          <a:p>
            <a:pPr algn="ctr"/>
            <a:r>
              <a:rPr sz="2000" b="0" i="1">
                <a:solidFill>
                  <a:srgbClr val="AAAAAA"/>
                </a:solidFill>
                <a:latin typeface="Calibri"/>
              </a:rPr>
              <a:t>Captured vs Failed within YouTube (quality bands, MBR-IS)</a:t>
            </a:r>
          </a:p>
        </p:txBody>
      </p:sp>
      <p:pic>
        <p:nvPicPr>
          <p:cNvPr id="7" name="Picture 6" descr="WhiteLogo.jpeg"/>
          <p:cNvPicPr>
            <a:picLocks noChangeAspect="1"/>
          </p:cNvPicPr>
          <p:nvPr/>
        </p:nvPicPr>
        <p:blipFill>
          <a:blip r:embed="rId3"/>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30</a:t>
            </a:r>
          </a:p>
        </p:txBody>
      </p:sp>
    </p:spTree>
  </p:cSld>
  <p:clrMapOvr>
    <a:masterClrMapping/>
  </p:clrMapOvr>
  <p:transition spd="med"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 Gap: Where WER Lies Most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3840480" cy="1005840"/>
          </a:xfrm>
          <a:prstGeom prst="rect">
            <a:avLst/>
          </a:prstGeom>
          <a:noFill/>
        </p:spPr>
        <p:txBody>
          <a:bodyPr wrap="square" anchor="t"/>
          <a:lstStyle/>
          <a:p>
            <a:pPr algn="l"/>
            <a:r>
              <a:rPr sz="5600" b="1" i="0">
                <a:solidFill>
                  <a:srgbClr val="4CAF50"/>
                </a:solidFill>
                <a:latin typeface="Calibri"/>
              </a:rPr>
              <a:t>75 + 68</a:t>
            </a:r>
          </a:p>
        </p:txBody>
      </p:sp>
      <p:sp>
        <p:nvSpPr>
          <p:cNvPr id="5" name="TextBox 4"/>
          <p:cNvSpPr txBox="1"/>
          <p:nvPr/>
        </p:nvSpPr>
        <p:spPr>
          <a:xfrm>
            <a:off x="548640" y="2331720"/>
            <a:ext cx="3840480" cy="1005840"/>
          </a:xfrm>
          <a:prstGeom prst="rect">
            <a:avLst/>
          </a:prstGeom>
          <a:noFill/>
        </p:spPr>
        <p:txBody>
          <a:bodyPr wrap="square" anchor="t"/>
          <a:lstStyle/>
          <a:p>
            <a:pPr algn="l"/>
            <a:r>
              <a:rPr sz="2200" b="0" i="0">
                <a:solidFill>
                  <a:srgbClr val="AAAAAA"/>
                </a:solidFill>
                <a:latin typeface="Calibri"/>
              </a:rPr>
              <a:t>segments WER wrongly</a:t>
            </a:r>
            <a:br/>
            <a:r>
              <a:rPr sz="2200" b="0" i="0">
                <a:solidFill>
                  <a:srgbClr val="AAAAAA"/>
                </a:solidFill>
                <a:latin typeface="Calibri"/>
              </a:rPr>
              <a:t>discards (NIV-calibrated)</a:t>
            </a:r>
          </a:p>
        </p:txBody>
      </p:sp>
      <p:sp>
        <p:nvSpPr>
          <p:cNvPr id="6" name="TextBox 5"/>
          <p:cNvSpPr txBox="1"/>
          <p:nvPr/>
        </p:nvSpPr>
        <p:spPr>
          <a:xfrm>
            <a:off x="548640" y="3429000"/>
            <a:ext cx="3840480" cy="2377440"/>
          </a:xfrm>
          <a:prstGeom prst="rect">
            <a:avLst/>
          </a:prstGeom>
          <a:noFill/>
        </p:spPr>
        <p:txBody>
          <a:bodyPr wrap="square">
            <a:spAutoFit/>
          </a:bodyPr>
          <a:lstStyle/>
          <a:p>
            <a:pPr algn="l">
              <a:spcAft>
                <a:spcPts val="600"/>
              </a:spcAft>
            </a:pPr>
            <a:r>
              <a:rPr sz="1500" b="1">
                <a:solidFill>
                  <a:srgbClr val="AAAAAA"/>
                </a:solidFill>
                <a:latin typeface="Calibri"/>
              </a:rPr>
              <a:t>• </a:t>
            </a:r>
            <a:r>
              <a:rPr sz="1500" b="0">
                <a:solidFill>
                  <a:srgbClr val="AAAAAA"/>
                </a:solidFill>
                <a:latin typeface="Calibri"/>
              </a:rPr>
              <a:t>NIV = Native Intelligibility Verdict (calibrated against Opus-as-a-Judge blind eval)</a:t>
            </a:r>
          </a:p>
          <a:p>
            <a:pPr algn="l">
              <a:spcAft>
                <a:spcPts val="600"/>
              </a:spcAft>
            </a:pPr>
            <a:r>
              <a:rPr sz="1500" b="1">
                <a:solidFill>
                  <a:srgbClr val="00B4D8"/>
                </a:solidFill>
                <a:latin typeface="Calibri"/>
              </a:rPr>
              <a:t>• </a:t>
            </a:r>
            <a:r>
              <a:rPr sz="1500" b="1">
                <a:solidFill>
                  <a:srgbClr val="4CAF50"/>
                </a:solidFill>
                <a:latin typeface="Calibri"/>
              </a:rPr>
              <a:t>75 clearly conveyed (IS ≥ 3.80) but WER &gt; 34%  (NIV-Y WER cutoff)</a:t>
            </a:r>
          </a:p>
          <a:p>
            <a:pPr algn="l">
              <a:spcAft>
                <a:spcPts val="600"/>
              </a:spcAft>
            </a:pPr>
            <a:r>
              <a:rPr sz="1500" b="1">
                <a:solidFill>
                  <a:srgbClr val="00B4D8"/>
                </a:solidFill>
                <a:latin typeface="Calibri"/>
              </a:rPr>
              <a:t>• </a:t>
            </a:r>
            <a:r>
              <a:rPr sz="1500" b="1">
                <a:solidFill>
                  <a:srgbClr val="FFD54F"/>
                </a:solidFill>
                <a:latin typeface="Calibri"/>
              </a:rPr>
              <a:t>68 useful meaning (IS ≥ 2.00) but WER &gt; 77%  (NIV-Y+P WER cutoff)</a:t>
            </a:r>
          </a:p>
          <a:p>
            <a:pPr algn="l">
              <a:spcAft>
                <a:spcPts val="600"/>
              </a:spcAft>
            </a:pPr>
            <a:r>
              <a:rPr sz="1500" b="1">
                <a:solidFill>
                  <a:srgbClr val="00B4D8"/>
                </a:solidFill>
                <a:latin typeface="Calibri"/>
              </a:rPr>
              <a:t>• </a:t>
            </a:r>
            <a:r>
              <a:rPr sz="1500" b="0">
                <a:solidFill>
                  <a:srgbClr val="00B4D8"/>
                </a:solidFill>
                <a:latin typeface="Calibri"/>
              </a:rPr>
              <a:t>IS beats WER by +0.06 κ at every operating point</a:t>
            </a:r>
          </a:p>
        </p:txBody>
      </p:sp>
      <p:pic>
        <p:nvPicPr>
          <p:cNvPr id="7" name="Picture 6" descr="P7_is_wer_scatter.png"/>
          <p:cNvPicPr>
            <a:picLocks noChangeAspect="1"/>
          </p:cNvPicPr>
          <p:nvPr/>
        </p:nvPicPr>
        <p:blipFill>
          <a:blip r:embed="rId2"/>
          <a:stretch>
            <a:fillRect/>
          </a:stretch>
        </p:blipFill>
        <p:spPr>
          <a:xfrm>
            <a:off x="4572000" y="1325880"/>
            <a:ext cx="7068312" cy="4526280"/>
          </a:xfrm>
          <a:prstGeom prst="rect">
            <a:avLst/>
          </a:prstGeom>
        </p:spPr>
      </p:pic>
      <p:sp>
        <p:nvSpPr>
          <p:cNvPr id="8" name="TextBox 7"/>
          <p:cNvSpPr txBox="1"/>
          <p:nvPr/>
        </p:nvSpPr>
        <p:spPr>
          <a:xfrm>
            <a:off x="548640" y="5897880"/>
            <a:ext cx="11091672" cy="502920"/>
          </a:xfrm>
          <a:prstGeom prst="rect">
            <a:avLst/>
          </a:prstGeom>
          <a:noFill/>
        </p:spPr>
        <p:txBody>
          <a:bodyPr wrap="square" anchor="t"/>
          <a:lstStyle/>
          <a:p>
            <a:pPr algn="ctr"/>
            <a:r>
              <a:rPr sz="1800" b="0" i="1">
                <a:solidFill>
                  <a:srgbClr val="AAAAAA"/>
                </a:solidFill>
                <a:latin typeface="Calibri"/>
              </a:rPr>
              <a:t>WER correlates with IS (r≈−0.7) but misses phonetic/semantic preservation.  (IS&lt;2.00 ≠ WER unusable bucket — different metrics.)</a:t>
            </a:r>
          </a:p>
        </p:txBody>
      </p:sp>
      <p:pic>
        <p:nvPicPr>
          <p:cNvPr id="9" name="Picture 8"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Intelligibility Score: 61.6% Useful Output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ctr"/>
            <a:r>
              <a:rPr sz="2000" b="0" i="1">
                <a:solidFill>
                  <a:srgbClr val="AAAAAA"/>
                </a:solidFill>
                <a:latin typeface="Calibri"/>
              </a:rPr>
              <a:t>On 1,497 real-world YouTube segments under MBR n-best aggregation.</a:t>
            </a:r>
          </a:p>
        </p:txBody>
      </p:sp>
      <p:sp>
        <p:nvSpPr>
          <p:cNvPr id="5" name="TextBox 4"/>
          <p:cNvSpPr txBox="1"/>
          <p:nvPr/>
        </p:nvSpPr>
        <p:spPr>
          <a:xfrm>
            <a:off x="548640" y="1828800"/>
            <a:ext cx="11091672" cy="1371600"/>
          </a:xfrm>
          <a:prstGeom prst="rect">
            <a:avLst/>
          </a:prstGeom>
          <a:noFill/>
        </p:spPr>
        <p:txBody>
          <a:bodyPr wrap="square" anchor="t"/>
          <a:lstStyle/>
          <a:p>
            <a:pPr algn="ctr"/>
            <a:r>
              <a:rPr sz="9600" b="1" i="0">
                <a:solidFill>
                  <a:srgbClr val="00B4D8"/>
                </a:solidFill>
                <a:latin typeface="Calibri"/>
              </a:rPr>
              <a:t>61.6%</a:t>
            </a:r>
          </a:p>
        </p:txBody>
      </p:sp>
      <p:sp>
        <p:nvSpPr>
          <p:cNvPr id="6" name="TextBox 5"/>
          <p:cNvSpPr txBox="1"/>
          <p:nvPr/>
        </p:nvSpPr>
        <p:spPr>
          <a:xfrm>
            <a:off x="548640" y="3291840"/>
            <a:ext cx="11091672" cy="457200"/>
          </a:xfrm>
          <a:prstGeom prst="rect">
            <a:avLst/>
          </a:prstGeom>
          <a:noFill/>
        </p:spPr>
        <p:txBody>
          <a:bodyPr wrap="square" anchor="t"/>
          <a:lstStyle/>
          <a:p>
            <a:pPr algn="ctr"/>
            <a:r>
              <a:rPr sz="2200" b="0" i="0">
                <a:solidFill>
                  <a:srgbClr val="FFFFFF"/>
                </a:solidFill>
                <a:latin typeface="Calibri"/>
              </a:rPr>
              <a:t>of segments deliver useful output (IS ≥ 2.00 = NIV-Y+P)</a:t>
            </a:r>
          </a:p>
        </p:txBody>
      </p:sp>
      <p:sp>
        <p:nvSpPr>
          <p:cNvPr id="7" name="Rounded Rectangle 6"/>
          <p:cNvSpPr/>
          <p:nvPr/>
        </p:nvSpPr>
        <p:spPr>
          <a:xfrm>
            <a:off x="792480" y="4023360"/>
            <a:ext cx="2011680" cy="118872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920" y="4096512"/>
            <a:ext cx="1828800" cy="320040"/>
          </a:xfrm>
          <a:prstGeom prst="rect">
            <a:avLst/>
          </a:prstGeom>
          <a:noFill/>
        </p:spPr>
        <p:txBody>
          <a:bodyPr wrap="square" anchor="t"/>
          <a:lstStyle/>
          <a:p>
            <a:pPr algn="ctr"/>
            <a:r>
              <a:rPr sz="1800" b="1" i="0">
                <a:solidFill>
                  <a:srgbClr val="4CAF50"/>
                </a:solidFill>
                <a:latin typeface="Calibri"/>
              </a:rPr>
              <a:t>5 — Excellent</a:t>
            </a:r>
          </a:p>
        </p:txBody>
      </p:sp>
      <p:sp>
        <p:nvSpPr>
          <p:cNvPr id="9" name="TextBox 8"/>
          <p:cNvSpPr txBox="1"/>
          <p:nvPr/>
        </p:nvSpPr>
        <p:spPr>
          <a:xfrm>
            <a:off x="883920" y="4407408"/>
            <a:ext cx="1828800" cy="502920"/>
          </a:xfrm>
          <a:prstGeom prst="rect">
            <a:avLst/>
          </a:prstGeom>
          <a:noFill/>
        </p:spPr>
        <p:txBody>
          <a:bodyPr wrap="square" anchor="t"/>
          <a:lstStyle/>
          <a:p>
            <a:pPr algn="ctr"/>
            <a:r>
              <a:rPr sz="2800" b="1" i="0">
                <a:solidFill>
                  <a:srgbClr val="FFFFFF"/>
                </a:solidFill>
                <a:latin typeface="Calibri"/>
              </a:rPr>
              <a:t>18.4%</a:t>
            </a:r>
          </a:p>
        </p:txBody>
      </p:sp>
      <p:sp>
        <p:nvSpPr>
          <p:cNvPr id="10" name="TextBox 9"/>
          <p:cNvSpPr txBox="1"/>
          <p:nvPr/>
        </p:nvSpPr>
        <p:spPr>
          <a:xfrm>
            <a:off x="883920" y="4892040"/>
            <a:ext cx="1828800" cy="274320"/>
          </a:xfrm>
          <a:prstGeom prst="rect">
            <a:avLst/>
          </a:prstGeom>
          <a:noFill/>
        </p:spPr>
        <p:txBody>
          <a:bodyPr wrap="square" anchor="t"/>
          <a:lstStyle/>
          <a:p>
            <a:pPr algn="ctr"/>
            <a:r>
              <a:rPr sz="1600" b="0" i="1">
                <a:solidFill>
                  <a:srgbClr val="AAAAAA"/>
                </a:solidFill>
                <a:latin typeface="Calibri"/>
              </a:rPr>
              <a:t>276 seg</a:t>
            </a:r>
          </a:p>
        </p:txBody>
      </p:sp>
      <p:sp>
        <p:nvSpPr>
          <p:cNvPr id="11" name="Rounded Rectangle 10"/>
          <p:cNvSpPr/>
          <p:nvPr/>
        </p:nvSpPr>
        <p:spPr>
          <a:xfrm>
            <a:off x="2941320" y="4023360"/>
            <a:ext cx="2011680" cy="11887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2760" y="4096512"/>
            <a:ext cx="1828800" cy="320040"/>
          </a:xfrm>
          <a:prstGeom prst="rect">
            <a:avLst/>
          </a:prstGeom>
          <a:noFill/>
        </p:spPr>
        <p:txBody>
          <a:bodyPr wrap="square" anchor="t"/>
          <a:lstStyle/>
          <a:p>
            <a:pPr algn="ctr"/>
            <a:r>
              <a:rPr sz="1800" b="1" i="0">
                <a:solidFill>
                  <a:srgbClr val="00B4D8"/>
                </a:solidFill>
                <a:latin typeface="Calibri"/>
              </a:rPr>
              <a:t>4 — Good</a:t>
            </a:r>
          </a:p>
        </p:txBody>
      </p:sp>
      <p:sp>
        <p:nvSpPr>
          <p:cNvPr id="13" name="TextBox 12"/>
          <p:cNvSpPr txBox="1"/>
          <p:nvPr/>
        </p:nvSpPr>
        <p:spPr>
          <a:xfrm>
            <a:off x="3032760" y="4407408"/>
            <a:ext cx="1828800" cy="502920"/>
          </a:xfrm>
          <a:prstGeom prst="rect">
            <a:avLst/>
          </a:prstGeom>
          <a:noFill/>
        </p:spPr>
        <p:txBody>
          <a:bodyPr wrap="square" anchor="t"/>
          <a:lstStyle/>
          <a:p>
            <a:pPr algn="ctr"/>
            <a:r>
              <a:rPr sz="2800" b="1" i="0">
                <a:solidFill>
                  <a:srgbClr val="FFFFFF"/>
                </a:solidFill>
                <a:latin typeface="Calibri"/>
              </a:rPr>
              <a:t>21.4%</a:t>
            </a:r>
          </a:p>
        </p:txBody>
      </p:sp>
      <p:sp>
        <p:nvSpPr>
          <p:cNvPr id="14" name="TextBox 13"/>
          <p:cNvSpPr txBox="1"/>
          <p:nvPr/>
        </p:nvSpPr>
        <p:spPr>
          <a:xfrm>
            <a:off x="3032760" y="4892040"/>
            <a:ext cx="1828800" cy="274320"/>
          </a:xfrm>
          <a:prstGeom prst="rect">
            <a:avLst/>
          </a:prstGeom>
          <a:noFill/>
        </p:spPr>
        <p:txBody>
          <a:bodyPr wrap="square" anchor="t"/>
          <a:lstStyle/>
          <a:p>
            <a:pPr algn="ctr"/>
            <a:r>
              <a:rPr sz="1600" b="0" i="1">
                <a:solidFill>
                  <a:srgbClr val="AAAAAA"/>
                </a:solidFill>
                <a:latin typeface="Calibri"/>
              </a:rPr>
              <a:t>321 seg</a:t>
            </a:r>
          </a:p>
        </p:txBody>
      </p:sp>
      <p:sp>
        <p:nvSpPr>
          <p:cNvPr id="15" name="Rounded Rectangle 14"/>
          <p:cNvSpPr/>
          <p:nvPr/>
        </p:nvSpPr>
        <p:spPr>
          <a:xfrm>
            <a:off x="5090160" y="4023360"/>
            <a:ext cx="2011680" cy="118872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1600" y="4096512"/>
            <a:ext cx="1828800" cy="320040"/>
          </a:xfrm>
          <a:prstGeom prst="rect">
            <a:avLst/>
          </a:prstGeom>
          <a:noFill/>
        </p:spPr>
        <p:txBody>
          <a:bodyPr wrap="square" anchor="t"/>
          <a:lstStyle/>
          <a:p>
            <a:pPr algn="ctr"/>
            <a:r>
              <a:rPr sz="1800" b="1" i="0">
                <a:solidFill>
                  <a:srgbClr val="FFD54F"/>
                </a:solidFill>
                <a:latin typeface="Calibri"/>
              </a:rPr>
              <a:t>3 — Fair</a:t>
            </a:r>
          </a:p>
        </p:txBody>
      </p:sp>
      <p:sp>
        <p:nvSpPr>
          <p:cNvPr id="17" name="TextBox 16"/>
          <p:cNvSpPr txBox="1"/>
          <p:nvPr/>
        </p:nvSpPr>
        <p:spPr>
          <a:xfrm>
            <a:off x="5181600" y="4407408"/>
            <a:ext cx="1828800" cy="502920"/>
          </a:xfrm>
          <a:prstGeom prst="rect">
            <a:avLst/>
          </a:prstGeom>
          <a:noFill/>
        </p:spPr>
        <p:txBody>
          <a:bodyPr wrap="square" anchor="t"/>
          <a:lstStyle/>
          <a:p>
            <a:pPr algn="ctr"/>
            <a:r>
              <a:rPr sz="2800" b="1" i="0">
                <a:solidFill>
                  <a:srgbClr val="FFFFFF"/>
                </a:solidFill>
                <a:latin typeface="Calibri"/>
              </a:rPr>
              <a:t>21.7%</a:t>
            </a:r>
          </a:p>
        </p:txBody>
      </p:sp>
      <p:sp>
        <p:nvSpPr>
          <p:cNvPr id="18" name="TextBox 17"/>
          <p:cNvSpPr txBox="1"/>
          <p:nvPr/>
        </p:nvSpPr>
        <p:spPr>
          <a:xfrm>
            <a:off x="5181600" y="4892040"/>
            <a:ext cx="1828800" cy="274320"/>
          </a:xfrm>
          <a:prstGeom prst="rect">
            <a:avLst/>
          </a:prstGeom>
          <a:noFill/>
        </p:spPr>
        <p:txBody>
          <a:bodyPr wrap="square" anchor="t"/>
          <a:lstStyle/>
          <a:p>
            <a:pPr algn="ctr"/>
            <a:r>
              <a:rPr sz="1600" b="0" i="1">
                <a:solidFill>
                  <a:srgbClr val="AAAAAA"/>
                </a:solidFill>
                <a:latin typeface="Calibri"/>
              </a:rPr>
              <a:t>325 seg</a:t>
            </a:r>
          </a:p>
        </p:txBody>
      </p:sp>
      <p:sp>
        <p:nvSpPr>
          <p:cNvPr id="19" name="Rounded Rectangle 18"/>
          <p:cNvSpPr/>
          <p:nvPr/>
        </p:nvSpPr>
        <p:spPr>
          <a:xfrm>
            <a:off x="7239000" y="4023360"/>
            <a:ext cx="2011680" cy="1188720"/>
          </a:xfrm>
          <a:prstGeom prst="roundRect">
            <a:avLst/>
          </a:prstGeom>
          <a:solidFill>
            <a:srgbClr val="152A40"/>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30440" y="4096512"/>
            <a:ext cx="1828800" cy="320040"/>
          </a:xfrm>
          <a:prstGeom prst="rect">
            <a:avLst/>
          </a:prstGeom>
          <a:noFill/>
        </p:spPr>
        <p:txBody>
          <a:bodyPr wrap="square" anchor="t"/>
          <a:lstStyle/>
          <a:p>
            <a:pPr algn="ctr"/>
            <a:r>
              <a:rPr sz="1800" b="1" i="0">
                <a:solidFill>
                  <a:srgbClr val="FF9800"/>
                </a:solidFill>
                <a:latin typeface="Calibri"/>
              </a:rPr>
              <a:t>2 — Poor</a:t>
            </a:r>
          </a:p>
        </p:txBody>
      </p:sp>
      <p:sp>
        <p:nvSpPr>
          <p:cNvPr id="21" name="TextBox 20"/>
          <p:cNvSpPr txBox="1"/>
          <p:nvPr/>
        </p:nvSpPr>
        <p:spPr>
          <a:xfrm>
            <a:off x="7330440" y="4407408"/>
            <a:ext cx="1828800" cy="502920"/>
          </a:xfrm>
          <a:prstGeom prst="rect">
            <a:avLst/>
          </a:prstGeom>
          <a:noFill/>
        </p:spPr>
        <p:txBody>
          <a:bodyPr wrap="square" anchor="t"/>
          <a:lstStyle/>
          <a:p>
            <a:pPr algn="ctr"/>
            <a:r>
              <a:rPr sz="2800" b="1" i="0">
                <a:solidFill>
                  <a:srgbClr val="FFFFFF"/>
                </a:solidFill>
                <a:latin typeface="Calibri"/>
              </a:rPr>
              <a:t>22.4%</a:t>
            </a:r>
          </a:p>
        </p:txBody>
      </p:sp>
      <p:sp>
        <p:nvSpPr>
          <p:cNvPr id="22" name="TextBox 21"/>
          <p:cNvSpPr txBox="1"/>
          <p:nvPr/>
        </p:nvSpPr>
        <p:spPr>
          <a:xfrm>
            <a:off x="7330440" y="4892040"/>
            <a:ext cx="1828800" cy="274320"/>
          </a:xfrm>
          <a:prstGeom prst="rect">
            <a:avLst/>
          </a:prstGeom>
          <a:noFill/>
        </p:spPr>
        <p:txBody>
          <a:bodyPr wrap="square" anchor="t"/>
          <a:lstStyle/>
          <a:p>
            <a:pPr algn="ctr"/>
            <a:r>
              <a:rPr sz="1600" b="0" i="1">
                <a:solidFill>
                  <a:srgbClr val="AAAAAA"/>
                </a:solidFill>
                <a:latin typeface="Calibri"/>
              </a:rPr>
              <a:t>336 seg</a:t>
            </a:r>
          </a:p>
        </p:txBody>
      </p:sp>
      <p:sp>
        <p:nvSpPr>
          <p:cNvPr id="23" name="Rounded Rectangle 22"/>
          <p:cNvSpPr/>
          <p:nvPr/>
        </p:nvSpPr>
        <p:spPr>
          <a:xfrm>
            <a:off x="9387840" y="4023360"/>
            <a:ext cx="2011680" cy="11887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79280" y="4096512"/>
            <a:ext cx="1828800" cy="320040"/>
          </a:xfrm>
          <a:prstGeom prst="rect">
            <a:avLst/>
          </a:prstGeom>
          <a:noFill/>
        </p:spPr>
        <p:txBody>
          <a:bodyPr wrap="square" anchor="t"/>
          <a:lstStyle/>
          <a:p>
            <a:pPr algn="ctr"/>
            <a:r>
              <a:rPr sz="1800" b="1" i="0">
                <a:solidFill>
                  <a:srgbClr val="E06C75"/>
                </a:solidFill>
                <a:latin typeface="Calibri"/>
              </a:rPr>
              <a:t>1 — Failed</a:t>
            </a:r>
          </a:p>
        </p:txBody>
      </p:sp>
      <p:sp>
        <p:nvSpPr>
          <p:cNvPr id="25" name="TextBox 24"/>
          <p:cNvSpPr txBox="1"/>
          <p:nvPr/>
        </p:nvSpPr>
        <p:spPr>
          <a:xfrm>
            <a:off x="9479280" y="4407408"/>
            <a:ext cx="1828800" cy="502920"/>
          </a:xfrm>
          <a:prstGeom prst="rect">
            <a:avLst/>
          </a:prstGeom>
          <a:noFill/>
        </p:spPr>
        <p:txBody>
          <a:bodyPr wrap="square" anchor="t"/>
          <a:lstStyle/>
          <a:p>
            <a:pPr algn="ctr"/>
            <a:r>
              <a:rPr sz="2800" b="1" i="0">
                <a:solidFill>
                  <a:srgbClr val="FFFFFF"/>
                </a:solidFill>
                <a:latin typeface="Calibri"/>
              </a:rPr>
              <a:t>16.0%</a:t>
            </a:r>
          </a:p>
        </p:txBody>
      </p:sp>
      <p:sp>
        <p:nvSpPr>
          <p:cNvPr id="26" name="TextBox 25"/>
          <p:cNvSpPr txBox="1"/>
          <p:nvPr/>
        </p:nvSpPr>
        <p:spPr>
          <a:xfrm>
            <a:off x="9479280" y="4892040"/>
            <a:ext cx="1828800" cy="274320"/>
          </a:xfrm>
          <a:prstGeom prst="rect">
            <a:avLst/>
          </a:prstGeom>
          <a:noFill/>
        </p:spPr>
        <p:txBody>
          <a:bodyPr wrap="square" anchor="t"/>
          <a:lstStyle/>
          <a:p>
            <a:pPr algn="ctr"/>
            <a:r>
              <a:rPr sz="1600" b="0" i="1">
                <a:solidFill>
                  <a:srgbClr val="AAAAAA"/>
                </a:solidFill>
                <a:latin typeface="Calibri"/>
              </a:rPr>
              <a:t>239 seg</a:t>
            </a:r>
          </a:p>
        </p:txBody>
      </p:sp>
      <p:sp>
        <p:nvSpPr>
          <p:cNvPr id="27" name="TextBox 26"/>
          <p:cNvSpPr txBox="1"/>
          <p:nvPr/>
        </p:nvSpPr>
        <p:spPr>
          <a:xfrm>
            <a:off x="548640" y="5989320"/>
            <a:ext cx="11091672" cy="365760"/>
          </a:xfrm>
          <a:prstGeom prst="rect">
            <a:avLst/>
          </a:prstGeom>
          <a:noFill/>
        </p:spPr>
        <p:txBody>
          <a:bodyPr wrap="square" anchor="t"/>
          <a:lstStyle/>
          <a:p>
            <a:pPr algn="ctr"/>
            <a:r>
              <a:rPr sz="1800" b="0" i="1">
                <a:solidFill>
                  <a:srgbClr val="FFD54F"/>
                </a:solidFill>
                <a:latin typeface="Calibri"/>
              </a:rPr>
              <a:t>Compare to WER: 64% — would call this a failure. IS reveals the truth.</a:t>
            </a:r>
          </a:p>
        </p:txBody>
      </p:sp>
      <p:pic>
        <p:nvPicPr>
          <p:cNvPr id="28" name="Picture 2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9" name="TextBox 2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Two Evaluation Systems, One Framework</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400" b="1" i="0">
                <a:solidFill>
                  <a:srgbClr val="00B4D8"/>
                </a:solidFill>
                <a:latin typeface="Calibri"/>
              </a:rPr>
              <a:t>The Two Systems</a:t>
            </a:r>
          </a:p>
        </p:txBody>
      </p:sp>
      <p:sp>
        <p:nvSpPr>
          <p:cNvPr id="5" name="Rounded Rectangle 4"/>
          <p:cNvSpPr/>
          <p:nvPr/>
        </p:nvSpPr>
        <p:spPr>
          <a:xfrm>
            <a:off x="548640" y="1783080"/>
            <a:ext cx="5029200" cy="14630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4663440" cy="914400"/>
          </a:xfrm>
          <a:prstGeom prst="rect">
            <a:avLst/>
          </a:prstGeom>
          <a:noFill/>
        </p:spPr>
        <p:txBody>
          <a:bodyPr wrap="square" anchor="t"/>
          <a:lstStyle/>
          <a:p>
            <a:pPr algn="l"/>
            <a:r>
              <a:rPr sz="2400" b="1" i="0">
                <a:solidFill>
                  <a:srgbClr val="00B4D8"/>
                </a:solidFill>
                <a:latin typeface="Calibri"/>
              </a:rPr>
              <a:t>Intelligibility Score (IS)</a:t>
            </a:r>
          </a:p>
        </p:txBody>
      </p:sp>
      <p:sp>
        <p:nvSpPr>
          <p:cNvPr id="7" name="TextBox 6"/>
          <p:cNvSpPr txBox="1"/>
          <p:nvPr/>
        </p:nvSpPr>
        <p:spPr>
          <a:xfrm>
            <a:off x="731520" y="2240280"/>
            <a:ext cx="4663440" cy="73152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Strict metric: composite 0–5 score, two operating points</a:t>
            </a:r>
          </a:p>
          <a:p>
            <a:pPr algn="l">
              <a:spcAft>
                <a:spcPts val="600"/>
              </a:spcAft>
            </a:pPr>
            <a:r>
              <a:rPr sz="2400" b="1">
                <a:solidFill>
                  <a:srgbClr val="00B4D8"/>
                </a:solidFill>
                <a:latin typeface="Calibri"/>
              </a:rPr>
              <a:t>• </a:t>
            </a:r>
            <a:r>
              <a:rPr sz="2400" b="1">
                <a:solidFill>
                  <a:srgbClr val="FFFFFF"/>
                </a:solidFill>
                <a:latin typeface="Calibri"/>
              </a:rPr>
              <a:t>IS ≥ 3.80 = Clearly conveyed: 23% (346/1,497)</a:t>
            </a:r>
          </a:p>
          <a:p>
            <a:pPr algn="l">
              <a:spcAft>
                <a:spcPts val="600"/>
              </a:spcAft>
            </a:pPr>
            <a:r>
              <a:rPr sz="2400" b="1">
                <a:solidFill>
                  <a:srgbClr val="00B4D8"/>
                </a:solidFill>
                <a:latin typeface="Calibri"/>
              </a:rPr>
              <a:t>• </a:t>
            </a:r>
            <a:r>
              <a:rPr sz="2400" b="1">
                <a:solidFill>
                  <a:srgbClr val="FFFFFF"/>
                </a:solidFill>
                <a:latin typeface="Calibri"/>
              </a:rPr>
              <a:t>IS ≥ 2.00 = Any useful meaning: 62% (922/1,497)</a:t>
            </a:r>
          </a:p>
        </p:txBody>
      </p:sp>
      <p:sp>
        <p:nvSpPr>
          <p:cNvPr id="8" name="Rounded Rectangle 7"/>
          <p:cNvSpPr/>
          <p:nvPr/>
        </p:nvSpPr>
        <p:spPr>
          <a:xfrm>
            <a:off x="548640" y="3429000"/>
            <a:ext cx="5029200" cy="14630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520440"/>
            <a:ext cx="4663440" cy="274320"/>
          </a:xfrm>
          <a:prstGeom prst="rect">
            <a:avLst/>
          </a:prstGeom>
          <a:noFill/>
        </p:spPr>
        <p:txBody>
          <a:bodyPr wrap="square" anchor="t"/>
          <a:lstStyle/>
          <a:p>
            <a:pPr algn="l"/>
            <a:r>
              <a:rPr sz="2400" b="1" i="0">
                <a:solidFill>
                  <a:srgbClr val="4CAF50"/>
                </a:solidFill>
                <a:latin typeface="Calibri"/>
              </a:rPr>
              <a:t>Opus-as-a-Judge (LLM Gold Standard)</a:t>
            </a:r>
          </a:p>
        </p:txBody>
      </p:sp>
      <p:sp>
        <p:nvSpPr>
          <p:cNvPr id="10" name="TextBox 9"/>
          <p:cNvSpPr txBox="1"/>
          <p:nvPr/>
        </p:nvSpPr>
        <p:spPr>
          <a:xfrm>
            <a:off x="731520" y="3886200"/>
            <a:ext cx="4663440" cy="73152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Holistic: Y/P/N per ref+hyp pair (1,497 pairs)</a:t>
            </a:r>
          </a:p>
          <a:p>
            <a:pPr algn="l">
              <a:spcAft>
                <a:spcPts val="600"/>
              </a:spcAft>
            </a:pPr>
            <a:r>
              <a:rPr sz="2400" b="1">
                <a:solidFill>
                  <a:srgbClr val="00B4D8"/>
                </a:solidFill>
                <a:latin typeface="Calibri"/>
              </a:rPr>
              <a:t>• </a:t>
            </a:r>
            <a:r>
              <a:rPr sz="2400" b="1">
                <a:solidFill>
                  <a:srgbClr val="FFFFFF"/>
                </a:solidFill>
                <a:latin typeface="Calibri"/>
              </a:rPr>
              <a:t>Y = 23% clearly conveyed, Y+P = 65% useful</a:t>
            </a:r>
          </a:p>
        </p:txBody>
      </p:sp>
      <p:sp>
        <p:nvSpPr>
          <p:cNvPr id="11" name="TextBox 10"/>
          <p:cNvSpPr txBox="1"/>
          <p:nvPr/>
        </p:nvSpPr>
        <p:spPr>
          <a:xfrm>
            <a:off x="6611111" y="1325880"/>
            <a:ext cx="5029200" cy="365760"/>
          </a:xfrm>
          <a:prstGeom prst="rect">
            <a:avLst/>
          </a:prstGeom>
          <a:noFill/>
        </p:spPr>
        <p:txBody>
          <a:bodyPr wrap="square" anchor="t"/>
          <a:lstStyle/>
          <a:p>
            <a:pPr algn="l"/>
            <a:r>
              <a:rPr sz="2400" b="1" i="0">
                <a:solidFill>
                  <a:srgbClr val="E06C75"/>
                </a:solidFill>
                <a:latin typeface="Calibri"/>
              </a:rPr>
              <a:t>Agreement Between Systems</a:t>
            </a:r>
          </a:p>
        </p:txBody>
      </p:sp>
      <p:sp>
        <p:nvSpPr>
          <p:cNvPr id="12" name="TextBox 11"/>
          <p:cNvSpPr txBox="1"/>
          <p:nvPr/>
        </p:nvSpPr>
        <p:spPr>
          <a:xfrm>
            <a:off x="6611111" y="1783080"/>
            <a:ext cx="5029200" cy="548640"/>
          </a:xfrm>
          <a:prstGeom prst="rect">
            <a:avLst/>
          </a:prstGeom>
          <a:noFill/>
        </p:spPr>
        <p:txBody>
          <a:bodyPr wrap="square" anchor="t"/>
          <a:lstStyle/>
          <a:p>
            <a:pPr algn="l"/>
            <a:r>
              <a:rPr sz="2400" b="1" i="0">
                <a:solidFill>
                  <a:srgbClr val="FFFFFF"/>
                </a:solidFill>
                <a:latin typeface="Calibri"/>
              </a:rPr>
              <a:t>κ = 0.818 (good agreement)</a:t>
            </a:r>
            <a:br/>
            <a:r>
              <a:rPr sz="2400" b="1" i="0">
                <a:solidFill>
                  <a:srgbClr val="FFFFFF"/>
                </a:solidFill>
                <a:latin typeface="Calibri"/>
              </a:rPr>
              <a:t>IS undercounts: 62% vs judge 65%.</a:t>
            </a:r>
          </a:p>
        </p:txBody>
      </p:sp>
      <p:graphicFrame>
        <p:nvGraphicFramePr>
          <p:cNvPr id="13" name="Table 12"/>
          <p:cNvGraphicFramePr>
            <a:graphicFrameLocks noGrp="1"/>
          </p:cNvGraphicFramePr>
          <p:nvPr/>
        </p:nvGraphicFramePr>
        <p:xfrm>
          <a:off x="6611111" y="2514600"/>
          <a:ext cx="5029200" cy="1371600"/>
        </p:xfrm>
        <a:graphic>
          <a:graphicData uri="http://schemas.openxmlformats.org/drawingml/2006/table">
            <a:tbl>
              <a:tblPr firstRow="0" bandRow="0" lastRow="0" bandCol="0">
                <a:tableStyleId>{5C22544A-7EE6-4342-B048-85BDC9FD1C3A}</a:tableStyleId>
              </a:tblPr>
              <a:tblGrid>
                <a:gridCol w="1676400"/>
                <a:gridCol w="1676400"/>
                <a:gridCol w="1676400"/>
              </a:tblGrid>
              <a:tr h="457200">
                <a:tc>
                  <a:txBody>
                    <a:bodyPr/>
                    <a:lstStyle/>
                    <a:p>
                      <a:pPr algn="ctr">
                        <a:defRPr sz="2400" b="1" i="0">
                          <a:solidFill>
                            <a:srgbClr val="FFFFFF"/>
                          </a:solidFill>
                          <a:latin typeface="Calibri"/>
                        </a:defRPr>
                      </a:pPr>
                    </a:p>
                  </a:txBody>
                  <a:tcPr>
                    <a:solidFill>
                      <a:srgbClr val="00b4d8"/>
                    </a:solidFill>
                  </a:tcPr>
                </a:tc>
                <a:tc>
                  <a:txBody>
                    <a:bodyPr/>
                    <a:lstStyle/>
                    <a:p>
                      <a:pPr algn="ctr"/>
                      <a:r>
                        <a:rPr sz="2400" b="1" i="0">
                          <a:solidFill>
                            <a:srgbClr val="FFFFFF"/>
                          </a:solidFill>
                          <a:latin typeface="Calibri"/>
                        </a:rPr>
                        <a:t>Opus: Y or P</a:t>
                      </a:r>
                    </a:p>
                  </a:txBody>
                  <a:tcPr>
                    <a:solidFill>
                      <a:srgbClr val="00b4d8"/>
                    </a:solidFill>
                  </a:tcPr>
                </a:tc>
                <a:tc>
                  <a:txBody>
                    <a:bodyPr/>
                    <a:lstStyle/>
                    <a:p>
                      <a:pPr algn="ctr"/>
                      <a:r>
                        <a:rPr sz="2400" b="1" i="0">
                          <a:solidFill>
                            <a:srgbClr val="FFFFFF"/>
                          </a:solidFill>
                          <a:latin typeface="Calibri"/>
                        </a:rPr>
                        <a:t>Opus: N</a:t>
                      </a:r>
                    </a:p>
                  </a:txBody>
                  <a:tcPr>
                    <a:solidFill>
                      <a:srgbClr val="00b4d8"/>
                    </a:solidFill>
                  </a:tcPr>
                </a:tc>
              </a:tr>
              <a:tr h="457200">
                <a:tc>
                  <a:txBody>
                    <a:bodyPr/>
                    <a:lstStyle/>
                    <a:p>
                      <a:pPr algn="l"/>
                      <a:r>
                        <a:rPr sz="2400" b="0" i="0">
                          <a:solidFill>
                            <a:srgbClr val="FFFFFF"/>
                          </a:solidFill>
                          <a:latin typeface="Calibri"/>
                        </a:rPr>
                        <a:t>IS ≥ 2.00</a:t>
                      </a:r>
                    </a:p>
                  </a:txBody>
                  <a:tcPr>
                    <a:solidFill>
                      <a:srgbClr val="0d1b2a"/>
                    </a:solidFill>
                  </a:tcPr>
                </a:tc>
                <a:tc>
                  <a:txBody>
                    <a:bodyPr/>
                    <a:lstStyle/>
                    <a:p>
                      <a:pPr algn="l"/>
                      <a:r>
                        <a:rPr sz="2400" b="0" i="0">
                          <a:solidFill>
                            <a:srgbClr val="4CAF50"/>
                          </a:solidFill>
                          <a:latin typeface="Calibri"/>
                        </a:rPr>
                        <a:t>883</a:t>
                      </a:r>
                    </a:p>
                  </a:txBody>
                  <a:tcPr>
                    <a:solidFill>
                      <a:srgbClr val="0d1b2a"/>
                    </a:solidFill>
                  </a:tcPr>
                </a:tc>
                <a:tc>
                  <a:txBody>
                    <a:bodyPr/>
                    <a:lstStyle/>
                    <a:p>
                      <a:pPr algn="l"/>
                      <a:r>
                        <a:rPr sz="2400" b="0" i="0">
                          <a:solidFill>
                            <a:srgbClr val="FFFFFF"/>
                          </a:solidFill>
                          <a:latin typeface="Calibri"/>
                        </a:rPr>
                        <a:t>39</a:t>
                      </a:r>
                    </a:p>
                  </a:txBody>
                  <a:tcPr>
                    <a:solidFill>
                      <a:srgbClr val="0d1b2a"/>
                    </a:solidFill>
                  </a:tcPr>
                </a:tc>
              </a:tr>
              <a:tr h="457200">
                <a:tc>
                  <a:txBody>
                    <a:bodyPr/>
                    <a:lstStyle/>
                    <a:p>
                      <a:pPr algn="l"/>
                      <a:r>
                        <a:rPr sz="2400" b="0" i="0">
                          <a:solidFill>
                            <a:srgbClr val="FFFFFF"/>
                          </a:solidFill>
                          <a:latin typeface="Calibri"/>
                        </a:rPr>
                        <a:t>IS &lt; 2.00</a:t>
                      </a:r>
                    </a:p>
                  </a:txBody>
                  <a:tcPr>
                    <a:solidFill>
                      <a:srgbClr val="152a40"/>
                    </a:solidFill>
                  </a:tcPr>
                </a:tc>
                <a:tc>
                  <a:txBody>
                    <a:bodyPr/>
                    <a:lstStyle/>
                    <a:p>
                      <a:pPr algn="l"/>
                      <a:r>
                        <a:rPr sz="2400" b="0" i="0">
                          <a:solidFill>
                            <a:srgbClr val="FFFFFF"/>
                          </a:solidFill>
                          <a:latin typeface="Calibri"/>
                        </a:rPr>
                        <a:t>88</a:t>
                      </a:r>
                    </a:p>
                  </a:txBody>
                  <a:tcPr>
                    <a:solidFill>
                      <a:srgbClr val="152a40"/>
                    </a:solidFill>
                  </a:tcPr>
                </a:tc>
                <a:tc>
                  <a:txBody>
                    <a:bodyPr/>
                    <a:lstStyle/>
                    <a:p>
                      <a:pPr algn="l"/>
                      <a:r>
                        <a:rPr sz="2400" b="0" i="0">
                          <a:solidFill>
                            <a:srgbClr val="E06C75"/>
                          </a:solidFill>
                          <a:latin typeface="Calibri"/>
                        </a:rPr>
                        <a:t>487</a:t>
                      </a:r>
                    </a:p>
                  </a:txBody>
                  <a:tcPr>
                    <a:solidFill>
                      <a:srgbClr val="152a40"/>
                    </a:solidFill>
                  </a:tcPr>
                </a:tc>
              </a:tr>
            </a:tbl>
          </a:graphicData>
        </a:graphic>
      </p:graphicFrame>
      <p:sp>
        <p:nvSpPr>
          <p:cNvPr id="14" name="TextBox 13"/>
          <p:cNvSpPr txBox="1"/>
          <p:nvPr/>
        </p:nvSpPr>
        <p:spPr>
          <a:xfrm>
            <a:off x="6611111" y="3703320"/>
            <a:ext cx="5029200" cy="274320"/>
          </a:xfrm>
          <a:prstGeom prst="rect">
            <a:avLst/>
          </a:prstGeom>
          <a:noFill/>
        </p:spPr>
        <p:txBody>
          <a:bodyPr wrap="square" anchor="t"/>
          <a:lstStyle/>
          <a:p>
            <a:pPr algn="l"/>
            <a:r>
              <a:rPr sz="2400" b="1" i="0">
                <a:solidFill>
                  <a:srgbClr val="00B4D8"/>
                </a:solidFill>
                <a:latin typeface="Calibri"/>
              </a:rPr>
              <a:t>Worked Examples:</a:t>
            </a:r>
          </a:p>
        </p:txBody>
      </p:sp>
      <p:sp>
        <p:nvSpPr>
          <p:cNvPr id="15" name="TextBox 14"/>
          <p:cNvSpPr txBox="1"/>
          <p:nvPr/>
        </p:nvSpPr>
        <p:spPr>
          <a:xfrm>
            <a:off x="6611111" y="4023360"/>
            <a:ext cx="5029200" cy="1554480"/>
          </a:xfrm>
          <a:prstGeom prst="rect">
            <a:avLst/>
          </a:prstGeom>
          <a:noFill/>
        </p:spPr>
        <p:txBody>
          <a:bodyPr wrap="square" anchor="t"/>
          <a:lstStyle/>
          <a:p>
            <a:pPr algn="l"/>
            <a:r>
              <a:rPr sz="2400" b="0" i="0">
                <a:solidFill>
                  <a:srgbClr val="FFFFFF"/>
                </a:solidFill>
                <a:latin typeface="Calibri"/>
              </a:rPr>
              <a:t>Ref: "what does this chord sound like to you"</a:t>
            </a:r>
            <a:br/>
            <a:r>
              <a:rPr sz="2400" b="0" i="0">
                <a:solidFill>
                  <a:srgbClr val="FFFFFF"/>
                </a:solidFill>
                <a:latin typeface="Calibri"/>
              </a:rPr>
              <a:t>Hyp: "what does this court sound like to you"</a:t>
            </a:r>
            <a:br/>
            <a:r>
              <a:rPr sz="2400" b="0" i="0">
                <a:solidFill>
                  <a:srgbClr val="FFFFFF"/>
                </a:solidFill>
                <a:latin typeface="Calibri"/>
              </a:rPr>
              <a:t>WER: 12% • IS: 3.84 • IS Y ✔ • Opus: Y</a:t>
            </a:r>
            <a:br/>
            <a:br/>
            <a:r>
              <a:rPr sz="2400" b="0" i="0">
                <a:solidFill>
                  <a:srgbClr val="FFFFFF"/>
                </a:solidFill>
                <a:latin typeface="Calibri"/>
              </a:rPr>
              <a:t>Ref: "opinions about reason and logic"</a:t>
            </a:r>
            <a:br/>
            <a:r>
              <a:rPr sz="2400" b="0" i="0">
                <a:solidFill>
                  <a:srgbClr val="FFFFFF"/>
                </a:solidFill>
                <a:latin typeface="Calibri"/>
              </a:rPr>
              <a:t>Hyp: "our opinion is about reasoning and logic"</a:t>
            </a:r>
            <a:br/>
            <a:r>
              <a:rPr sz="2400" b="0" i="0">
                <a:solidFill>
                  <a:srgbClr val="FFFFFF"/>
                </a:solidFill>
                <a:latin typeface="Calibri"/>
              </a:rPr>
              <a:t>WER: 74% • IS: 2.94 • IS Y+P ✔ • Opus: P</a:t>
            </a:r>
            <a:br/>
            <a:r>
              <a:rPr sz="2400" b="0" i="0">
                <a:solidFill>
                  <a:srgbClr val="FFFFFF"/>
                </a:solidFill>
                <a:latin typeface="Calibri"/>
              </a:rPr>
              <a:t>Old IS ≥ 3.0 wrongly rejected this segment.</a:t>
            </a:r>
          </a:p>
        </p:txBody>
      </p:sp>
      <p:pic>
        <p:nvPicPr>
          <p:cNvPr id="16" name="Picture 1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36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48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A Calibrated Surrogate Metric</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45720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0543032" cy="640080"/>
          </a:xfrm>
          <a:prstGeom prst="rect">
            <a:avLst/>
          </a:prstGeom>
          <a:noFill/>
        </p:spPr>
        <p:txBody>
          <a:bodyPr wrap="square" anchor="t"/>
          <a:lstStyle/>
          <a:p>
            <a:pPr algn="ctr"/>
            <a:r>
              <a:rPr sz="4000" b="1" i="0">
                <a:solidFill>
                  <a:srgbClr val="00B4D8"/>
                </a:solidFill>
                <a:latin typeface="Calibri"/>
              </a:rPr>
              <a:t>IS says 62%</a:t>
            </a:r>
          </a:p>
        </p:txBody>
      </p:sp>
      <p:sp>
        <p:nvSpPr>
          <p:cNvPr id="6" name="TextBox 5"/>
          <p:cNvSpPr txBox="1"/>
          <p:nvPr/>
        </p:nvSpPr>
        <p:spPr>
          <a:xfrm>
            <a:off x="822960" y="2103120"/>
            <a:ext cx="10543032" cy="365760"/>
          </a:xfrm>
          <a:prstGeom prst="rect">
            <a:avLst/>
          </a:prstGeom>
          <a:noFill/>
        </p:spPr>
        <p:txBody>
          <a:bodyPr wrap="square" anchor="t"/>
          <a:lstStyle/>
          <a:p>
            <a:pPr algn="ctr"/>
            <a:r>
              <a:rPr sz="2400" b="0" i="0">
                <a:solidFill>
                  <a:srgbClr val="AAAAAA"/>
                </a:solidFill>
                <a:latin typeface="Calibri"/>
              </a:rPr>
              <a:t>of segments deliver useful output (IS ≥ 2.00)</a:t>
            </a:r>
          </a:p>
        </p:txBody>
      </p:sp>
      <p:sp>
        <p:nvSpPr>
          <p:cNvPr id="7" name="TextBox 6"/>
          <p:cNvSpPr txBox="1"/>
          <p:nvPr/>
        </p:nvSpPr>
        <p:spPr>
          <a:xfrm>
            <a:off x="822960" y="2697480"/>
            <a:ext cx="10543032" cy="640080"/>
          </a:xfrm>
          <a:prstGeom prst="rect">
            <a:avLst/>
          </a:prstGeom>
          <a:noFill/>
        </p:spPr>
        <p:txBody>
          <a:bodyPr wrap="square" anchor="t"/>
          <a:lstStyle/>
          <a:p>
            <a:pPr algn="ctr"/>
            <a:r>
              <a:rPr sz="4000" b="1" i="0">
                <a:solidFill>
                  <a:srgbClr val="4CAF50"/>
                </a:solidFill>
                <a:latin typeface="Calibri"/>
              </a:rPr>
              <a:t>LLM Judge says 65%</a:t>
            </a:r>
          </a:p>
        </p:txBody>
      </p:sp>
      <p:sp>
        <p:nvSpPr>
          <p:cNvPr id="8" name="TextBox 7"/>
          <p:cNvSpPr txBox="1"/>
          <p:nvPr/>
        </p:nvSpPr>
        <p:spPr>
          <a:xfrm>
            <a:off x="822960" y="3291840"/>
            <a:ext cx="10543032" cy="365760"/>
          </a:xfrm>
          <a:prstGeom prst="rect">
            <a:avLst/>
          </a:prstGeom>
          <a:noFill/>
        </p:spPr>
        <p:txBody>
          <a:bodyPr wrap="square" anchor="t"/>
          <a:lstStyle/>
          <a:p>
            <a:pPr algn="ctr"/>
            <a:r>
              <a:rPr sz="2400" b="0" i="0">
                <a:solidFill>
                  <a:srgbClr val="AAAAAA"/>
                </a:solidFill>
                <a:latin typeface="Calibri"/>
              </a:rPr>
              <a:t>deliver useful output (Y + P)</a:t>
            </a:r>
          </a:p>
        </p:txBody>
      </p:sp>
      <p:sp>
        <p:nvSpPr>
          <p:cNvPr id="9" name="TextBox 8"/>
          <p:cNvSpPr txBox="1"/>
          <p:nvPr/>
        </p:nvSpPr>
        <p:spPr>
          <a:xfrm>
            <a:off x="822960" y="3886200"/>
            <a:ext cx="10543032" cy="192024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IS closely tracks LLM judge — 62% vs 65% (κ = 0.818)</a:t>
            </a:r>
          </a:p>
          <a:p>
            <a:pPr algn="l">
              <a:spcAft>
                <a:spcPts val="600"/>
              </a:spcAft>
            </a:pPr>
            <a:r>
              <a:rPr sz="2400" b="1">
                <a:solidFill>
                  <a:srgbClr val="00B4D8"/>
                </a:solidFill>
                <a:latin typeface="Calibri"/>
              </a:rPr>
              <a:t>• </a:t>
            </a:r>
            <a:r>
              <a:rPr sz="2400" b="0">
                <a:solidFill>
                  <a:srgbClr val="FFFFFF"/>
                </a:solidFill>
                <a:latin typeface="Calibri"/>
              </a:rPr>
              <a:t>3pp gap (62% → 65%) = IS is a calibrated surrogate</a:t>
            </a:r>
          </a:p>
          <a:p>
            <a:pPr algn="l">
              <a:spcAft>
                <a:spcPts val="600"/>
              </a:spcAft>
            </a:pPr>
            <a:r>
              <a:rPr sz="2400" b="1">
                <a:solidFill>
                  <a:srgbClr val="00B4D8"/>
                </a:solidFill>
                <a:latin typeface="Calibri"/>
              </a:rPr>
              <a:t>• </a:t>
            </a:r>
            <a:r>
              <a:rPr sz="2400" b="0">
                <a:solidFill>
                  <a:srgbClr val="00B4D8"/>
                </a:solidFill>
                <a:latin typeface="Calibri"/>
              </a:rPr>
              <a:t>IS is a floor, not a ceiling — designed to be cautious</a:t>
            </a:r>
          </a:p>
        </p:txBody>
      </p:sp>
      <p:sp>
        <p:nvSpPr>
          <p:cNvPr id="10" name="TextBox 9"/>
          <p:cNvSpPr txBox="1"/>
          <p:nvPr/>
        </p:nvSpPr>
        <p:spPr>
          <a:xfrm>
            <a:off x="548640" y="5989320"/>
            <a:ext cx="11091672" cy="457200"/>
          </a:xfrm>
          <a:prstGeom prst="rect">
            <a:avLst/>
          </a:prstGeom>
          <a:noFill/>
        </p:spPr>
        <p:txBody>
          <a:bodyPr wrap="square" anchor="t"/>
          <a:lstStyle/>
          <a:p>
            <a:pPr algn="ctr"/>
            <a:r>
              <a:rPr sz="2000" b="0" i="1">
                <a:solidFill>
                  <a:srgbClr val="AAAAAA"/>
                </a:solidFill>
                <a:latin typeface="Calibri"/>
              </a:rPr>
              <a:t>Our metric is deliberately conservative. Independent LLM judge confirms true useful rate is 3pp higher.</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6.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Where IS and the Judge Disagree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ctr"/>
            <a:r>
              <a:rPr sz="2000" b="0" i="1">
                <a:solidFill>
                  <a:srgbClr val="AAAAAA"/>
                </a:solidFill>
                <a:latin typeface="Calibri"/>
              </a:rPr>
              <a:t>22 of 1,497 segments (2%) — rare but revealing edge cases</a:t>
            </a:r>
          </a:p>
        </p:txBody>
      </p:sp>
      <p:sp>
        <p:nvSpPr>
          <p:cNvPr id="5" name="Rounded Rectangle 4"/>
          <p:cNvSpPr/>
          <p:nvPr/>
        </p:nvSpPr>
        <p:spPr>
          <a:xfrm>
            <a:off x="548640" y="1828800"/>
            <a:ext cx="5303520" cy="384048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65960"/>
            <a:ext cx="4846320" cy="914400"/>
          </a:xfrm>
          <a:prstGeom prst="rect">
            <a:avLst/>
          </a:prstGeom>
          <a:noFill/>
        </p:spPr>
        <p:txBody>
          <a:bodyPr wrap="square">
            <a:spAutoFit/>
          </a:bodyPr>
          <a:lstStyle/>
          <a:p>
            <a:pPr algn="l">
              <a:spcAft>
                <a:spcPts val="600"/>
              </a:spcAft>
            </a:pPr>
            <a:r>
              <a:rPr sz="2400" b="1" i="0">
                <a:solidFill>
                  <a:srgbClr val="4CAF50"/>
                </a:solidFill>
                <a:latin typeface="Calibri"/>
              </a:rPr>
              <a:t>IS Too Harsh</a:t>
            </a:r>
            <a:r>
              <a:rPr sz="2400" b="0" i="0">
                <a:solidFill>
                  <a:srgbClr val="AAAAAA"/>
                </a:solidFill>
                <a:latin typeface="Calibri"/>
              </a:rPr>
              <a:t>  —  19 cases (1%)</a:t>
            </a:r>
          </a:p>
        </p:txBody>
      </p:sp>
      <p:sp>
        <p:nvSpPr>
          <p:cNvPr id="7" name="TextBox 6"/>
          <p:cNvSpPr txBox="1"/>
          <p:nvPr/>
        </p:nvSpPr>
        <p:spPr>
          <a:xfrm>
            <a:off x="777240" y="2331720"/>
            <a:ext cx="4846320" cy="1280160"/>
          </a:xfrm>
          <a:prstGeom prst="rect">
            <a:avLst/>
          </a:prstGeom>
          <a:noFill/>
        </p:spPr>
        <p:txBody>
          <a:bodyPr wrap="square" anchor="t"/>
          <a:lstStyle/>
          <a:p>
            <a:pPr algn="l"/>
            <a:r>
              <a:rPr sz="2400" b="0" i="0">
                <a:solidFill>
                  <a:srgbClr val="AAAAAA"/>
                </a:solidFill>
                <a:latin typeface="Calibri"/>
              </a:rPr>
              <a:t>Judge says Y (meaning conveyed)</a:t>
            </a:r>
            <a:br/>
            <a:r>
              <a:rPr sz="2400" b="0" i="0">
                <a:solidFill>
                  <a:srgbClr val="AAAAAA"/>
                </a:solidFill>
                <a:latin typeface="Calibri"/>
              </a:rPr>
              <a:t>IS says &lt; 3.0 (metric failure)</a:t>
            </a:r>
          </a:p>
        </p:txBody>
      </p:sp>
      <p:sp>
        <p:nvSpPr>
          <p:cNvPr id="8" name="Rounded Rectangle 7"/>
          <p:cNvSpPr/>
          <p:nvPr/>
        </p:nvSpPr>
        <p:spPr>
          <a:xfrm>
            <a:off x="777240" y="2834640"/>
            <a:ext cx="4846320" cy="137160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4572000" cy="2377440"/>
          </a:xfrm>
          <a:prstGeom prst="rect">
            <a:avLst/>
          </a:prstGeom>
          <a:noFill/>
        </p:spPr>
        <p:txBody>
          <a:bodyPr wrap="square">
            <a:spAutoFit/>
          </a:bodyPr>
          <a:lstStyle/>
          <a:p>
            <a:pPr algn="l">
              <a:spcAft>
                <a:spcPts val="600"/>
              </a:spcAft>
            </a:pPr>
            <a:r>
              <a:rPr sz="2400" b="1" i="0">
                <a:solidFill>
                  <a:srgbClr val="00B4D8"/>
                </a:solidFill>
                <a:latin typeface="Calibri"/>
              </a:rPr>
              <a:t>REF: </a:t>
            </a:r>
            <a:r>
              <a:rPr sz="2400" b="0" i="1">
                <a:solidFill>
                  <a:srgbClr val="FFFFFF"/>
                </a:solidFill>
                <a:latin typeface="Calibri"/>
              </a:rPr>
              <a:t>"one really nice thing about this is"</a:t>
            </a:r>
          </a:p>
          <a:p>
            <a:pPr algn="l">
              <a:spcAft>
                <a:spcPts val="600"/>
              </a:spcAft>
            </a:pPr>
            <a:r>
              <a:rPr sz="2400" b="1" i="0">
                <a:solidFill>
                  <a:srgbClr val="FFD54F"/>
                </a:solidFill>
                <a:latin typeface="Calibri"/>
              </a:rPr>
              <a:t>HYP: </a:t>
            </a:r>
            <a:r>
              <a:rPr sz="2400" b="0" i="1">
                <a:solidFill>
                  <a:srgbClr val="FFFFFF"/>
                </a:solidFill>
                <a:latin typeface="Calibri"/>
              </a:rPr>
              <a:t>"what a brilliant idea this is"</a:t>
            </a:r>
          </a:p>
          <a:p>
            <a:pPr algn="l">
              <a:spcAft>
                <a:spcPts val="600"/>
              </a:spcAft>
            </a:pPr>
            <a:r>
              <a:rPr sz="2400" b="0" i="0">
                <a:solidFill>
                  <a:srgbClr val="AAAAAA"/>
                </a:solidFill>
                <a:latin typeface="Calibri"/>
              </a:rPr>
              <a:t>IS = 1.84  |  WER = 71%  |  Judge: Y</a:t>
            </a:r>
          </a:p>
        </p:txBody>
      </p:sp>
      <p:sp>
        <p:nvSpPr>
          <p:cNvPr id="10" name="TextBox 9"/>
          <p:cNvSpPr txBox="1"/>
          <p:nvPr/>
        </p:nvSpPr>
        <p:spPr>
          <a:xfrm>
            <a:off x="777240" y="4389120"/>
            <a:ext cx="4846320" cy="1280160"/>
          </a:xfrm>
          <a:prstGeom prst="rect">
            <a:avLst/>
          </a:prstGeom>
          <a:noFill/>
        </p:spPr>
        <p:txBody>
          <a:bodyPr wrap="square" anchor="t"/>
          <a:lstStyle/>
          <a:p>
            <a:pPr algn="l"/>
            <a:r>
              <a:rPr sz="2400" b="0" i="1">
                <a:solidFill>
                  <a:srgbClr val="4CAF50"/>
                </a:solidFill>
                <a:latin typeface="Calibri"/>
              </a:rPr>
              <a:t>Paraphrases and phonetic bridges preserve</a:t>
            </a:r>
            <a:br/>
            <a:r>
              <a:rPr sz="2400" b="0" i="1">
                <a:solidFill>
                  <a:srgbClr val="4CAF50"/>
                </a:solidFill>
                <a:latin typeface="Calibri"/>
              </a:rPr>
              <a:t>meaning that word-level metrics punish.</a:t>
            </a:r>
          </a:p>
        </p:txBody>
      </p:sp>
      <p:sp>
        <p:nvSpPr>
          <p:cNvPr id="11" name="TextBox 10"/>
          <p:cNvSpPr txBox="1"/>
          <p:nvPr/>
        </p:nvSpPr>
        <p:spPr>
          <a:xfrm>
            <a:off x="777240" y="4846320"/>
            <a:ext cx="4846320" cy="1645920"/>
          </a:xfrm>
          <a:prstGeom prst="rect">
            <a:avLst/>
          </a:prstGeom>
          <a:noFill/>
        </p:spPr>
        <p:txBody>
          <a:bodyPr wrap="square" anchor="t"/>
          <a:lstStyle/>
          <a:p>
            <a:pPr algn="l"/>
            <a:r>
              <a:rPr sz="2400" b="0" i="0">
                <a:solidFill>
                  <a:srgbClr val="AAAAAA"/>
                </a:solidFill>
                <a:latin typeface="Calibri"/>
              </a:rPr>
              <a:t>• Harmless hallucination (extra words, core intact)</a:t>
            </a:r>
            <a:br/>
            <a:r>
              <a:rPr sz="2400" b="0" i="0">
                <a:solidFill>
                  <a:srgbClr val="AAAAAA"/>
                </a:solidFill>
                <a:latin typeface="Calibri"/>
              </a:rPr>
              <a:t>• Short segments amplify WER disproportionately</a:t>
            </a:r>
          </a:p>
        </p:txBody>
      </p:sp>
      <p:sp>
        <p:nvSpPr>
          <p:cNvPr id="12" name="Rounded Rectangle 11"/>
          <p:cNvSpPr/>
          <p:nvPr/>
        </p:nvSpPr>
        <p:spPr>
          <a:xfrm>
            <a:off x="6336792" y="1828800"/>
            <a:ext cx="5303520" cy="384048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65392" y="1965960"/>
            <a:ext cx="4846320" cy="914400"/>
          </a:xfrm>
          <a:prstGeom prst="rect">
            <a:avLst/>
          </a:prstGeom>
          <a:noFill/>
        </p:spPr>
        <p:txBody>
          <a:bodyPr wrap="square">
            <a:spAutoFit/>
          </a:bodyPr>
          <a:lstStyle/>
          <a:p>
            <a:pPr algn="l">
              <a:spcAft>
                <a:spcPts val="600"/>
              </a:spcAft>
            </a:pPr>
            <a:r>
              <a:rPr sz="2400" b="1" i="0">
                <a:solidFill>
                  <a:srgbClr val="E06C75"/>
                </a:solidFill>
                <a:latin typeface="Calibri"/>
              </a:rPr>
              <a:t>IS Too Generous</a:t>
            </a:r>
            <a:r>
              <a:rPr sz="2400" b="0" i="0">
                <a:solidFill>
                  <a:srgbClr val="AAAAAA"/>
                </a:solidFill>
                <a:latin typeface="Calibri"/>
              </a:rPr>
              <a:t>  —  3 cases (0%)</a:t>
            </a:r>
          </a:p>
        </p:txBody>
      </p:sp>
      <p:sp>
        <p:nvSpPr>
          <p:cNvPr id="14" name="TextBox 13"/>
          <p:cNvSpPr txBox="1"/>
          <p:nvPr/>
        </p:nvSpPr>
        <p:spPr>
          <a:xfrm>
            <a:off x="6565392" y="2331720"/>
            <a:ext cx="4846320" cy="914400"/>
          </a:xfrm>
          <a:prstGeom prst="rect">
            <a:avLst/>
          </a:prstGeom>
          <a:noFill/>
        </p:spPr>
        <p:txBody>
          <a:bodyPr wrap="square" anchor="t"/>
          <a:lstStyle/>
          <a:p>
            <a:pPr algn="l"/>
            <a:r>
              <a:rPr sz="2400" b="0" i="0">
                <a:solidFill>
                  <a:srgbClr val="AAAAAA"/>
                </a:solidFill>
                <a:latin typeface="Calibri"/>
              </a:rPr>
              <a:t>Judge says N (meaning lost)</a:t>
            </a:r>
            <a:br/>
            <a:r>
              <a:rPr sz="2400" b="0" i="0">
                <a:solidFill>
                  <a:srgbClr val="AAAAAA"/>
                </a:solidFill>
                <a:latin typeface="Calibri"/>
              </a:rPr>
              <a:t>IS says ≥ 3.0 (metric pass)</a:t>
            </a:r>
          </a:p>
        </p:txBody>
      </p:sp>
      <p:sp>
        <p:nvSpPr>
          <p:cNvPr id="15" name="Rounded Rectangle 14"/>
          <p:cNvSpPr/>
          <p:nvPr/>
        </p:nvSpPr>
        <p:spPr>
          <a:xfrm>
            <a:off x="6565392" y="2834640"/>
            <a:ext cx="4846320" cy="1371600"/>
          </a:xfrm>
          <a:prstGeom prst="round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2926080"/>
            <a:ext cx="4572000" cy="2377440"/>
          </a:xfrm>
          <a:prstGeom prst="rect">
            <a:avLst/>
          </a:prstGeom>
          <a:noFill/>
        </p:spPr>
        <p:txBody>
          <a:bodyPr wrap="square">
            <a:spAutoFit/>
          </a:bodyPr>
          <a:lstStyle/>
          <a:p>
            <a:pPr algn="l">
              <a:spcAft>
                <a:spcPts val="600"/>
              </a:spcAft>
            </a:pPr>
            <a:r>
              <a:rPr sz="2400" b="1" i="0">
                <a:solidFill>
                  <a:srgbClr val="00B4D8"/>
                </a:solidFill>
                <a:latin typeface="Calibri"/>
              </a:rPr>
              <a:t>REF: </a:t>
            </a:r>
            <a:r>
              <a:rPr sz="2400" b="0" i="1">
                <a:solidFill>
                  <a:srgbClr val="FFFFFF"/>
                </a:solidFill>
                <a:latin typeface="Calibri"/>
              </a:rPr>
              <a:t>"all you have to do is unscrew"</a:t>
            </a:r>
          </a:p>
          <a:p>
            <a:pPr algn="l">
              <a:spcAft>
                <a:spcPts val="600"/>
              </a:spcAft>
            </a:pPr>
            <a:r>
              <a:rPr sz="2400" b="1" i="0">
                <a:solidFill>
                  <a:srgbClr val="FFD54F"/>
                </a:solidFill>
                <a:latin typeface="Calibri"/>
              </a:rPr>
              <a:t>HYP: </a:t>
            </a:r>
            <a:r>
              <a:rPr sz="2400" b="0" i="1">
                <a:solidFill>
                  <a:srgbClr val="FFFFFF"/>
                </a:solidFill>
                <a:latin typeface="Calibri"/>
              </a:rPr>
              <a:t>"all you have to do is not to"</a:t>
            </a:r>
          </a:p>
          <a:p>
            <a:pPr algn="l">
              <a:spcAft>
                <a:spcPts val="600"/>
              </a:spcAft>
            </a:pPr>
            <a:r>
              <a:rPr sz="2400" b="0" i="0">
                <a:solidFill>
                  <a:srgbClr val="AAAAAA"/>
                </a:solidFill>
                <a:latin typeface="Calibri"/>
              </a:rPr>
              <a:t>IS = 3.42  |  WER = 29%  |  Judge: N</a:t>
            </a:r>
          </a:p>
        </p:txBody>
      </p:sp>
      <p:sp>
        <p:nvSpPr>
          <p:cNvPr id="17" name="TextBox 16"/>
          <p:cNvSpPr txBox="1"/>
          <p:nvPr/>
        </p:nvSpPr>
        <p:spPr>
          <a:xfrm>
            <a:off x="6565392" y="4389120"/>
            <a:ext cx="4846320" cy="1280160"/>
          </a:xfrm>
          <a:prstGeom prst="rect">
            <a:avLst/>
          </a:prstGeom>
          <a:noFill/>
        </p:spPr>
        <p:txBody>
          <a:bodyPr wrap="square" anchor="t"/>
          <a:lstStyle/>
          <a:p>
            <a:pPr algn="l"/>
            <a:r>
              <a:rPr sz="2400" b="0" i="1">
                <a:solidFill>
                  <a:srgbClr val="E06C75"/>
                </a:solidFill>
                <a:latin typeface="Calibri"/>
              </a:rPr>
              <a:t>Structural match hides semantic reversal —</a:t>
            </a:r>
            <a:br/>
            <a:r>
              <a:rPr sz="2400" b="0" i="1">
                <a:solidFill>
                  <a:srgbClr val="E06C75"/>
                </a:solidFill>
                <a:latin typeface="Calibri"/>
              </a:rPr>
              <a:t>IS cannot detect that meaning is inverted.</a:t>
            </a:r>
          </a:p>
        </p:txBody>
      </p:sp>
      <p:sp>
        <p:nvSpPr>
          <p:cNvPr id="18" name="TextBox 17"/>
          <p:cNvSpPr txBox="1"/>
          <p:nvPr/>
        </p:nvSpPr>
        <p:spPr>
          <a:xfrm>
            <a:off x="6565392" y="4846320"/>
            <a:ext cx="4846320" cy="1280160"/>
          </a:xfrm>
          <a:prstGeom prst="rect">
            <a:avLst/>
          </a:prstGeom>
          <a:noFill/>
        </p:spPr>
        <p:txBody>
          <a:bodyPr wrap="square" anchor="t"/>
          <a:lstStyle/>
          <a:p>
            <a:pPr algn="l"/>
            <a:r>
              <a:rPr sz="2400" b="0" i="0">
                <a:solidFill>
                  <a:srgbClr val="AAAAAA"/>
                </a:solidFill>
                <a:latin typeface="Calibri"/>
              </a:rPr>
              <a:t>• Domain confusion (medical → wellness)</a:t>
            </a:r>
            <a:br/>
            <a:r>
              <a:rPr sz="2400" b="0" i="0">
                <a:solidFill>
                  <a:srgbClr val="AAAAAA"/>
                </a:solidFill>
                <a:latin typeface="Calibri"/>
              </a:rPr>
              <a:t>• Word salad with scattered correct words</a:t>
            </a:r>
          </a:p>
        </p:txBody>
      </p:sp>
      <p:sp>
        <p:nvSpPr>
          <p:cNvPr id="19" name="TextBox 18"/>
          <p:cNvSpPr txBox="1"/>
          <p:nvPr/>
        </p:nvSpPr>
        <p:spPr>
          <a:xfrm>
            <a:off x="548640" y="5504688"/>
            <a:ext cx="11091672" cy="914400"/>
          </a:xfrm>
          <a:prstGeom prst="rect">
            <a:avLst/>
          </a:prstGeom>
          <a:noFill/>
        </p:spPr>
        <p:txBody>
          <a:bodyPr wrap="square" anchor="t"/>
          <a:lstStyle/>
          <a:p>
            <a:pPr algn="ctr"/>
            <a:r>
              <a:rPr sz="2400" b="1" i="0">
                <a:solidFill>
                  <a:srgbClr val="00B4D8"/>
                </a:solidFill>
                <a:latin typeface="Calibri"/>
              </a:rPr>
              <a:t>98% agreement — disagreements are edge cases, not systemic failure</a:t>
            </a:r>
          </a:p>
        </p:txBody>
      </p:sp>
      <p:pic>
        <p:nvPicPr>
          <p:cNvPr id="20" name="Picture 19"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1" name="TextBox 2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72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37.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Context Exposes Hidden Failures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2400" b="1" i="0">
                <a:solidFill>
                  <a:srgbClr val="00B4D8"/>
                </a:solidFill>
                <a:latin typeface="Calibri"/>
              </a:rPr>
              <a:t>Blind → Context Transitions</a:t>
            </a:r>
          </a:p>
        </p:txBody>
      </p:sp>
      <p:graphicFrame>
        <p:nvGraphicFramePr>
          <p:cNvPr id="5" name="Table 4"/>
          <p:cNvGraphicFramePr>
            <a:graphicFrameLocks noGrp="1"/>
          </p:cNvGraphicFramePr>
          <p:nvPr/>
        </p:nvGraphicFramePr>
        <p:xfrm>
          <a:off x="548640" y="1691640"/>
          <a:ext cx="5029200" cy="1645920"/>
        </p:xfrm>
        <a:graphic>
          <a:graphicData uri="http://schemas.openxmlformats.org/drawingml/2006/table">
            <a:tbl>
              <a:tblPr firstRow="0" bandRow="0" lastRow="0" bandCol="0">
                <a:tableStyleId>{5C22544A-7EE6-4342-B048-85BDC9FD1C3A}</a:tableStyleId>
              </a:tblPr>
              <a:tblGrid>
                <a:gridCol w="1463040"/>
                <a:gridCol w="1188720"/>
                <a:gridCol w="1188720"/>
                <a:gridCol w="1188720"/>
              </a:tblGrid>
              <a:tr h="411480">
                <a:tc>
                  <a:txBody>
                    <a:bodyPr/>
                    <a:lstStyle/>
                    <a:p>
                      <a:pPr algn="ctr">
                        <a:defRPr sz="2400" b="1" i="0">
                          <a:solidFill>
                            <a:srgbClr val="FFFFFF"/>
                          </a:solidFill>
                          <a:latin typeface="Calibri"/>
                        </a:defRPr>
                      </a:pPr>
                    </a:p>
                  </a:txBody>
                  <a:tcPr>
                    <a:solidFill>
                      <a:srgbClr val="00b4d8"/>
                    </a:solidFill>
                  </a:tcPr>
                </a:tc>
                <a:tc>
                  <a:txBody>
                    <a:bodyPr/>
                    <a:lstStyle/>
                    <a:p>
                      <a:pPr algn="ctr"/>
                      <a:r>
                        <a:rPr sz="2400" b="1" i="0">
                          <a:solidFill>
                            <a:srgbClr val="FFFFFF"/>
                          </a:solidFill>
                          <a:latin typeface="Calibri"/>
                        </a:rPr>
                        <a:t>→ Y</a:t>
                      </a:r>
                    </a:p>
                  </a:txBody>
                  <a:tcPr>
                    <a:solidFill>
                      <a:srgbClr val="00b4d8"/>
                    </a:solidFill>
                  </a:tcPr>
                </a:tc>
                <a:tc>
                  <a:txBody>
                    <a:bodyPr/>
                    <a:lstStyle/>
                    <a:p>
                      <a:pPr algn="ctr"/>
                      <a:r>
                        <a:rPr sz="2400" b="1" i="0">
                          <a:solidFill>
                            <a:srgbClr val="FFFFFF"/>
                          </a:solidFill>
                          <a:latin typeface="Calibri"/>
                        </a:rPr>
                        <a:t>→ P</a:t>
                      </a:r>
                    </a:p>
                  </a:txBody>
                  <a:tcPr>
                    <a:solidFill>
                      <a:srgbClr val="00b4d8"/>
                    </a:solidFill>
                  </a:tcPr>
                </a:tc>
                <a:tc>
                  <a:txBody>
                    <a:bodyPr/>
                    <a:lstStyle/>
                    <a:p>
                      <a:pPr algn="ctr"/>
                      <a:r>
                        <a:rPr sz="2400" b="1" i="0">
                          <a:solidFill>
                            <a:srgbClr val="FFFFFF"/>
                          </a:solidFill>
                          <a:latin typeface="Calibri"/>
                        </a:rPr>
                        <a:t>→ N</a:t>
                      </a:r>
                    </a:p>
                  </a:txBody>
                  <a:tcPr>
                    <a:solidFill>
                      <a:srgbClr val="00b4d8"/>
                    </a:solidFill>
                  </a:tcPr>
                </a:tc>
              </a:tr>
              <a:tr h="411480">
                <a:tc>
                  <a:txBody>
                    <a:bodyPr/>
                    <a:lstStyle/>
                    <a:p>
                      <a:pPr algn="l"/>
                      <a:r>
                        <a:rPr sz="2400" b="0" i="0">
                          <a:solidFill>
                            <a:srgbClr val="FFFFFF"/>
                          </a:solidFill>
                          <a:latin typeface="Calibri"/>
                        </a:rPr>
                        <a:t>Y (345)</a:t>
                      </a:r>
                    </a:p>
                  </a:txBody>
                  <a:tcPr>
                    <a:solidFill>
                      <a:srgbClr val="0d1b2a"/>
                    </a:solidFill>
                  </a:tcPr>
                </a:tc>
                <a:tc>
                  <a:txBody>
                    <a:bodyPr/>
                    <a:lstStyle/>
                    <a:p>
                      <a:pPr algn="l"/>
                      <a:r>
                        <a:rPr sz="2400" b="0" i="0">
                          <a:solidFill>
                            <a:srgbClr val="FFFFFF"/>
                          </a:solidFill>
                          <a:latin typeface="Calibri"/>
                        </a:rPr>
                        <a:t>207</a:t>
                      </a:r>
                    </a:p>
                  </a:txBody>
                  <a:tcPr>
                    <a:solidFill>
                      <a:srgbClr val="0d1b2a"/>
                    </a:solidFill>
                  </a:tcPr>
                </a:tc>
                <a:tc>
                  <a:txBody>
                    <a:bodyPr/>
                    <a:lstStyle/>
                    <a:p>
                      <a:pPr algn="l"/>
                      <a:r>
                        <a:rPr sz="2400" b="0" i="0">
                          <a:solidFill>
                            <a:srgbClr val="E06C75"/>
                          </a:solidFill>
                          <a:latin typeface="Calibri"/>
                        </a:rPr>
                        <a:t>138</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r>
              <a:tr h="411480">
                <a:tc>
                  <a:txBody>
                    <a:bodyPr/>
                    <a:lstStyle/>
                    <a:p>
                      <a:pPr algn="l"/>
                      <a:r>
                        <a:rPr sz="2400" b="0" i="0">
                          <a:solidFill>
                            <a:srgbClr val="FFFFFF"/>
                          </a:solidFill>
                          <a:latin typeface="Calibri"/>
                        </a:rPr>
                        <a:t>P (626)</a:t>
                      </a:r>
                    </a:p>
                  </a:txBody>
                  <a:tcPr>
                    <a:solidFill>
                      <a:srgbClr val="152a40"/>
                    </a:solidFill>
                  </a:tcPr>
                </a:tc>
                <a:tc>
                  <a:txBody>
                    <a:bodyPr/>
                    <a:lstStyle/>
                    <a:p>
                      <a:pPr algn="l"/>
                      <a:r>
                        <a:rPr sz="2400" b="0" i="0">
                          <a:solidFill>
                            <a:srgbClr val="FFFFFF"/>
                          </a:solidFill>
                          <a:latin typeface="Calibri"/>
                        </a:rPr>
                        <a:t>17</a:t>
                      </a:r>
                    </a:p>
                  </a:txBody>
                  <a:tcPr>
                    <a:solidFill>
                      <a:srgbClr val="152a40"/>
                    </a:solidFill>
                  </a:tcPr>
                </a:tc>
                <a:tc>
                  <a:txBody>
                    <a:bodyPr/>
                    <a:lstStyle/>
                    <a:p>
                      <a:pPr algn="l"/>
                      <a:r>
                        <a:rPr sz="2400" b="0" i="0">
                          <a:solidFill>
                            <a:srgbClr val="FFFFFF"/>
                          </a:solidFill>
                          <a:latin typeface="Calibri"/>
                        </a:rPr>
                        <a:t>517</a:t>
                      </a:r>
                    </a:p>
                  </a:txBody>
                  <a:tcPr>
                    <a:solidFill>
                      <a:srgbClr val="152a40"/>
                    </a:solidFill>
                  </a:tcPr>
                </a:tc>
                <a:tc>
                  <a:txBody>
                    <a:bodyPr/>
                    <a:lstStyle/>
                    <a:p>
                      <a:pPr algn="l"/>
                      <a:r>
                        <a:rPr sz="2400" b="0" i="0">
                          <a:solidFill>
                            <a:srgbClr val="E06C75"/>
                          </a:solidFill>
                          <a:latin typeface="Calibri"/>
                        </a:rPr>
                        <a:t>92</a:t>
                      </a:r>
                    </a:p>
                  </a:txBody>
                  <a:tcPr>
                    <a:solidFill>
                      <a:srgbClr val="152a40"/>
                    </a:solidFill>
                  </a:tcPr>
                </a:tc>
              </a:tr>
              <a:tr h="411480">
                <a:tc>
                  <a:txBody>
                    <a:bodyPr/>
                    <a:lstStyle/>
                    <a:p>
                      <a:pPr algn="l"/>
                      <a:r>
                        <a:rPr sz="2400" b="0" i="0">
                          <a:solidFill>
                            <a:srgbClr val="FFFFFF"/>
                          </a:solidFill>
                          <a:latin typeface="Calibri"/>
                        </a:rPr>
                        <a:t>N (526)</a:t>
                      </a:r>
                    </a:p>
                  </a:txBody>
                  <a:tcPr>
                    <a:solidFill>
                      <a:srgbClr val="0d1b2a"/>
                    </a:solidFill>
                  </a:tcPr>
                </a:tc>
                <a:tc>
                  <a:txBody>
                    <a:bodyPr/>
                    <a:lstStyle/>
                    <a:p>
                      <a:pPr algn="l"/>
                      <a:r>
                        <a:rPr sz="2400" b="0" i="0">
                          <a:solidFill>
                            <a:srgbClr val="FFFFFF"/>
                          </a:solidFill>
                          <a:latin typeface="Calibri"/>
                        </a:rPr>
                        <a:t>1</a:t>
                      </a:r>
                    </a:p>
                  </a:txBody>
                  <a:tcPr>
                    <a:solidFill>
                      <a:srgbClr val="0d1b2a"/>
                    </a:solidFill>
                  </a:tcPr>
                </a:tc>
                <a:tc>
                  <a:txBody>
                    <a:bodyPr/>
                    <a:lstStyle/>
                    <a:p>
                      <a:pPr algn="l"/>
                      <a:r>
                        <a:rPr sz="2400" b="0" i="0">
                          <a:solidFill>
                            <a:srgbClr val="FFFFFF"/>
                          </a:solidFill>
                          <a:latin typeface="Calibri"/>
                        </a:rPr>
                        <a:t>50</a:t>
                      </a:r>
                    </a:p>
                  </a:txBody>
                  <a:tcPr>
                    <a:solidFill>
                      <a:srgbClr val="0d1b2a"/>
                    </a:solidFill>
                  </a:tcPr>
                </a:tc>
                <a:tc>
                  <a:txBody>
                    <a:bodyPr/>
                    <a:lstStyle/>
                    <a:p>
                      <a:pPr algn="l"/>
                      <a:r>
                        <a:rPr sz="2400" b="0" i="0">
                          <a:solidFill>
                            <a:srgbClr val="FFFFFF"/>
                          </a:solidFill>
                          <a:latin typeface="Calibri"/>
                        </a:rPr>
                        <a:t>475</a:t>
                      </a:r>
                    </a:p>
                  </a:txBody>
                  <a:tcPr>
                    <a:solidFill>
                      <a:srgbClr val="0d1b2a"/>
                    </a:solidFill>
                  </a:tcPr>
                </a:tc>
              </a:tr>
            </a:tbl>
          </a:graphicData>
        </a:graphic>
      </p:graphicFrame>
      <p:sp>
        <p:nvSpPr>
          <p:cNvPr id="6" name="TextBox 5"/>
          <p:cNvSpPr txBox="1"/>
          <p:nvPr/>
        </p:nvSpPr>
        <p:spPr>
          <a:xfrm>
            <a:off x="548640" y="3520440"/>
            <a:ext cx="5029200" cy="868680"/>
          </a:xfrm>
          <a:prstGeom prst="rect">
            <a:avLst/>
          </a:prstGeom>
          <a:noFill/>
        </p:spPr>
        <p:txBody>
          <a:bodyPr wrap="square">
            <a:spAutoFit/>
          </a:bodyPr>
          <a:lstStyle/>
          <a:p>
            <a:pPr algn="l">
              <a:spcAft>
                <a:spcPts val="600"/>
              </a:spcAft>
            </a:pPr>
            <a:r>
              <a:rPr sz="2400" b="1" i="0">
                <a:solidFill>
                  <a:srgbClr val="E06C75"/>
                </a:solidFill>
                <a:latin typeface="Calibri"/>
              </a:rPr>
              <a:t>230 downgrades</a:t>
            </a:r>
            <a:r>
              <a:rPr sz="2400" b="0" i="0">
                <a:solidFill>
                  <a:srgbClr val="FFFFFF"/>
                </a:solidFill>
                <a:latin typeface="Calibri"/>
              </a:rPr>
              <a:t> vs </a:t>
            </a:r>
            <a:r>
              <a:rPr sz="2400" b="1" i="0">
                <a:solidFill>
                  <a:srgbClr val="4CAF50"/>
                </a:solidFill>
                <a:latin typeface="Calibri"/>
              </a:rPr>
              <a:t>68 upgrades</a:t>
            </a:r>
          </a:p>
          <a:p>
            <a:pPr algn="l">
              <a:spcAft>
                <a:spcPts val="600"/>
              </a:spcAft>
            </a:pPr>
            <a:r>
              <a:rPr sz="2400" b="0" i="0">
                <a:solidFill>
                  <a:srgbClr val="AAAAAA"/>
                </a:solidFill>
                <a:latin typeface="Calibri"/>
              </a:rPr>
              <a:t>Y→P dominant (138): domain knowledge reveals vocabulary failures</a:t>
            </a:r>
          </a:p>
        </p:txBody>
      </p:sp>
      <p:sp>
        <p:nvSpPr>
          <p:cNvPr id="7" name="TextBox 6"/>
          <p:cNvSpPr txBox="1"/>
          <p:nvPr/>
        </p:nvSpPr>
        <p:spPr>
          <a:xfrm>
            <a:off x="548640" y="4480560"/>
            <a:ext cx="5029200" cy="8686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80% stable across modes</a:t>
            </a:r>
          </a:p>
          <a:p>
            <a:pPr algn="l">
              <a:spcAft>
                <a:spcPts val="600"/>
              </a:spcAft>
            </a:pPr>
            <a:r>
              <a:rPr sz="2400" b="1">
                <a:solidFill>
                  <a:srgbClr val="00B4D8"/>
                </a:solidFill>
                <a:latin typeface="Calibri"/>
              </a:rPr>
              <a:t>• </a:t>
            </a:r>
            <a:r>
              <a:rPr sz="2400" b="1">
                <a:solidFill>
                  <a:srgbClr val="00B4D8"/>
                </a:solidFill>
                <a:latin typeface="Calibri"/>
              </a:rPr>
              <a:t>Context tightens. 1 N→Y rescue in all 1,497.</a:t>
            </a:r>
          </a:p>
        </p:txBody>
      </p:sp>
      <p:sp>
        <p:nvSpPr>
          <p:cNvPr id="8" name="TextBox 7"/>
          <p:cNvSpPr txBox="1"/>
          <p:nvPr/>
        </p:nvSpPr>
        <p:spPr>
          <a:xfrm>
            <a:off x="6126480" y="1325880"/>
            <a:ext cx="5513832" cy="320040"/>
          </a:xfrm>
          <a:prstGeom prst="rect">
            <a:avLst/>
          </a:prstGeom>
          <a:noFill/>
        </p:spPr>
        <p:txBody>
          <a:bodyPr wrap="square" anchor="t"/>
          <a:lstStyle/>
          <a:p>
            <a:pPr algn="l"/>
            <a:r>
              <a:rPr sz="2400" b="1" i="0">
                <a:solidFill>
                  <a:srgbClr val="E06C75"/>
                </a:solidFill>
                <a:latin typeface="Calibri"/>
              </a:rPr>
              <a:t>The IS = 4.75 False Positive</a:t>
            </a:r>
          </a:p>
        </p:txBody>
      </p:sp>
      <p:sp>
        <p:nvSpPr>
          <p:cNvPr id="9" name="Rounded Rectangle 8"/>
          <p:cNvSpPr/>
          <p:nvPr/>
        </p:nvSpPr>
        <p:spPr>
          <a:xfrm>
            <a:off x="6126480" y="1783080"/>
            <a:ext cx="5513832" cy="25603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874520"/>
            <a:ext cx="5148072" cy="365760"/>
          </a:xfrm>
          <a:prstGeom prst="rect">
            <a:avLst/>
          </a:prstGeom>
          <a:noFill/>
        </p:spPr>
        <p:txBody>
          <a:bodyPr wrap="square">
            <a:spAutoFit/>
          </a:bodyPr>
          <a:lstStyle/>
          <a:p>
            <a:pPr algn="l">
              <a:spcAft>
                <a:spcPts val="600"/>
              </a:spcAft>
            </a:pPr>
            <a:r>
              <a:rPr sz="2400" b="1" i="0">
                <a:solidFill>
                  <a:srgbClr val="E06C75"/>
                </a:solidFill>
                <a:latin typeface="Calibri"/>
              </a:rPr>
              <a:t>IS = 4.75</a:t>
            </a:r>
            <a:r>
              <a:rPr sz="2400" b="0" i="0">
                <a:solidFill>
                  <a:srgbClr val="AAAAAA"/>
                </a:solidFill>
                <a:latin typeface="Calibri"/>
              </a:rPr>
              <a:t>  (near perfect!)</a:t>
            </a:r>
          </a:p>
        </p:txBody>
      </p:sp>
      <p:sp>
        <p:nvSpPr>
          <p:cNvPr id="11" name="TextBox 10"/>
          <p:cNvSpPr txBox="1"/>
          <p:nvPr/>
        </p:nvSpPr>
        <p:spPr>
          <a:xfrm>
            <a:off x="6309360" y="2377440"/>
            <a:ext cx="5148072" cy="1645920"/>
          </a:xfrm>
          <a:prstGeom prst="rect">
            <a:avLst/>
          </a:prstGeom>
          <a:noFill/>
        </p:spPr>
        <p:txBody>
          <a:bodyPr wrap="square">
            <a:spAutoFit/>
          </a:bodyPr>
          <a:lstStyle/>
          <a:p>
            <a:pPr algn="l">
              <a:spcAft>
                <a:spcPts val="600"/>
              </a:spcAft>
            </a:pPr>
            <a:r>
              <a:rPr sz="2400" b="1" i="0">
                <a:solidFill>
                  <a:srgbClr val="00B4D8"/>
                </a:solidFill>
                <a:latin typeface="Calibri"/>
              </a:rPr>
              <a:t>REF: </a:t>
            </a:r>
            <a:r>
              <a:rPr sz="2400" b="0" i="1">
                <a:solidFill>
                  <a:srgbClr val="FFFFFF"/>
                </a:solidFill>
                <a:latin typeface="Calibri"/>
              </a:rPr>
              <a:t>"...because I'm </a:t>
            </a:r>
            <a:r>
              <a:rPr sz="2400" b="1" i="1">
                <a:solidFill>
                  <a:srgbClr val="4CAF50"/>
                </a:solidFill>
                <a:latin typeface="Calibri"/>
              </a:rPr>
              <a:t>a lover of</a:t>
            </a:r>
            <a:r>
              <a:rPr sz="2400" b="0" i="1">
                <a:solidFill>
                  <a:srgbClr val="FFFFFF"/>
                </a:solidFill>
                <a:latin typeface="Calibri"/>
              </a:rPr>
              <a:t>"</a:t>
            </a:r>
          </a:p>
          <a:p>
            <a:pPr algn="l">
              <a:spcAft>
                <a:spcPts val="600"/>
              </a:spcAft>
            </a:pPr>
            <a:r>
              <a:rPr sz="2400" b="1" i="0">
                <a:solidFill>
                  <a:srgbClr val="FFD54F"/>
                </a:solidFill>
                <a:latin typeface="Calibri"/>
              </a:rPr>
              <a:t>HYP: </a:t>
            </a:r>
            <a:r>
              <a:rPr sz="2400" b="0" i="1">
                <a:solidFill>
                  <a:srgbClr val="FFFFFF"/>
                </a:solidFill>
                <a:latin typeface="Calibri"/>
              </a:rPr>
              <a:t>"...because I'm </a:t>
            </a:r>
            <a:r>
              <a:rPr sz="2400" b="1" i="1">
                <a:solidFill>
                  <a:srgbClr val="E06C75"/>
                </a:solidFill>
                <a:latin typeface="Calibri"/>
              </a:rPr>
              <a:t>not a lover of</a:t>
            </a:r>
            <a:r>
              <a:rPr sz="2400" b="0" i="1">
                <a:solidFill>
                  <a:srgbClr val="FFFFFF"/>
                </a:solidFill>
                <a:latin typeface="Calibri"/>
              </a:rPr>
              <a:t>"</a:t>
            </a:r>
          </a:p>
        </p:txBody>
      </p:sp>
      <p:sp>
        <p:nvSpPr>
          <p:cNvPr id="12" name="TextBox 11"/>
          <p:cNvSpPr txBox="1"/>
          <p:nvPr/>
        </p:nvSpPr>
        <p:spPr>
          <a:xfrm>
            <a:off x="6309360" y="3246120"/>
            <a:ext cx="5148072" cy="1280160"/>
          </a:xfrm>
          <a:prstGeom prst="rect">
            <a:avLst/>
          </a:prstGeom>
          <a:noFill/>
        </p:spPr>
        <p:txBody>
          <a:bodyPr wrap="square" anchor="t"/>
          <a:lstStyle/>
          <a:p>
            <a:pPr algn="l"/>
            <a:r>
              <a:rPr sz="2400" b="0" i="0">
                <a:solidFill>
                  <a:srgbClr val="AAAAAA"/>
                </a:solidFill>
                <a:latin typeface="Calibri"/>
              </a:rPr>
              <a:t>One word reverses the meaning.</a:t>
            </a:r>
            <a:br/>
            <a:r>
              <a:rPr sz="2400" b="0" i="0">
                <a:solidFill>
                  <a:srgbClr val="AAAAAA"/>
                </a:solidFill>
                <a:latin typeface="Calibri"/>
              </a:rPr>
              <a:t>IS rated this near-perfect — only 10% WER.</a:t>
            </a:r>
            <a:br/>
            <a:r>
              <a:rPr sz="2400" b="0" i="0">
                <a:solidFill>
                  <a:srgbClr val="AAAAAA"/>
                </a:solidFill>
                <a:latin typeface="Calibri"/>
              </a:rPr>
              <a:t>Context-aware judge caught the negation.</a:t>
            </a:r>
          </a:p>
        </p:txBody>
      </p:sp>
      <p:sp>
        <p:nvSpPr>
          <p:cNvPr id="13" name="TextBox 12"/>
          <p:cNvSpPr txBox="1"/>
          <p:nvPr/>
        </p:nvSpPr>
        <p:spPr>
          <a:xfrm>
            <a:off x="6126480" y="4572000"/>
            <a:ext cx="5513832" cy="457200"/>
          </a:xfrm>
          <a:prstGeom prst="rect">
            <a:avLst/>
          </a:prstGeom>
          <a:noFill/>
        </p:spPr>
        <p:txBody>
          <a:bodyPr wrap="square" anchor="t"/>
          <a:lstStyle/>
          <a:p>
            <a:pPr algn="l"/>
            <a:r>
              <a:rPr sz="1800" b="0" i="1">
                <a:solidFill>
                  <a:srgbClr val="AAAAAA"/>
                </a:solidFill>
                <a:latin typeface="Calibri"/>
              </a:rPr>
              <a:t>Full list of context false positives — see Appendix A9.</a:t>
            </a:r>
          </a:p>
        </p:txBody>
      </p:sp>
      <p:sp>
        <p:nvSpPr>
          <p:cNvPr id="14" name="TextBox 13"/>
          <p:cNvSpPr txBox="1"/>
          <p:nvPr/>
        </p:nvSpPr>
        <p:spPr>
          <a:xfrm>
            <a:off x="548640" y="5669280"/>
            <a:ext cx="11091672" cy="502920"/>
          </a:xfrm>
          <a:prstGeom prst="rect">
            <a:avLst/>
          </a:prstGeom>
          <a:noFill/>
        </p:spPr>
        <p:txBody>
          <a:bodyPr wrap="square" anchor="t"/>
          <a:lstStyle/>
          <a:p>
            <a:pPr algn="ctr"/>
            <a:r>
              <a:rPr sz="2400" b="1" i="0">
                <a:solidFill>
                  <a:srgbClr val="FFD54F"/>
                </a:solidFill>
                <a:latin typeface="Calibri"/>
              </a:rPr>
              <a:t>Domain knowledge raises the bar → strongest case for domain-aware fine-tuning</a:t>
            </a:r>
          </a:p>
        </p:txBody>
      </p:sp>
      <p:pic>
        <p:nvPicPr>
          <p:cNvPr id="15" name="Picture 1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12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Four Numbers That Tell the Real Story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ctr"/>
            <a:r>
              <a:rPr sz="2000" b="0" i="1">
                <a:solidFill>
                  <a:srgbClr val="AAAAAA"/>
                </a:solidFill>
                <a:latin typeface="Calibri"/>
              </a:rPr>
              <a:t>WER says fail. Two independent metrics say usable. Confidence makes it actionable.</a:t>
            </a:r>
          </a:p>
        </p:txBody>
      </p:sp>
      <p:sp>
        <p:nvSpPr>
          <p:cNvPr id="5" name="Rounded Rectangle 4"/>
          <p:cNvSpPr/>
          <p:nvPr/>
        </p:nvSpPr>
        <p:spPr>
          <a:xfrm>
            <a:off x="548640" y="1828800"/>
            <a:ext cx="11091672" cy="91440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938528"/>
            <a:ext cx="2194560" cy="731520"/>
          </a:xfrm>
          <a:prstGeom prst="rect">
            <a:avLst/>
          </a:prstGeom>
          <a:noFill/>
        </p:spPr>
        <p:txBody>
          <a:bodyPr wrap="square" anchor="t"/>
          <a:lstStyle/>
          <a:p>
            <a:pPr algn="l"/>
            <a:r>
              <a:rPr sz="4800" b="1" i="0">
                <a:solidFill>
                  <a:srgbClr val="AAAAAA"/>
                </a:solidFill>
                <a:latin typeface="Calibri"/>
              </a:rPr>
              <a:t>25.4%</a:t>
            </a:r>
          </a:p>
        </p:txBody>
      </p:sp>
      <p:sp>
        <p:nvSpPr>
          <p:cNvPr id="7" name="TextBox 6"/>
          <p:cNvSpPr txBox="1"/>
          <p:nvPr/>
        </p:nvSpPr>
        <p:spPr>
          <a:xfrm>
            <a:off x="3200400" y="2103120"/>
            <a:ext cx="8165592" cy="548640"/>
          </a:xfrm>
          <a:prstGeom prst="rect">
            <a:avLst/>
          </a:prstGeom>
          <a:noFill/>
        </p:spPr>
        <p:txBody>
          <a:bodyPr wrap="square" anchor="t"/>
          <a:lstStyle/>
          <a:p>
            <a:pPr algn="l"/>
            <a:r>
              <a:rPr sz="2200" b="0" i="0">
                <a:solidFill>
                  <a:srgbClr val="FFFFFF"/>
                </a:solidFill>
                <a:latin typeface="Calibri"/>
              </a:rPr>
              <a:t>Paper WER on LRS3 (curated TED talks, controlled conditions)</a:t>
            </a:r>
          </a:p>
        </p:txBody>
      </p:sp>
      <p:sp>
        <p:nvSpPr>
          <p:cNvPr id="8" name="Rounded Rectangle 7"/>
          <p:cNvSpPr/>
          <p:nvPr/>
        </p:nvSpPr>
        <p:spPr>
          <a:xfrm>
            <a:off x="548640" y="2880360"/>
            <a:ext cx="11091672" cy="9144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990088"/>
            <a:ext cx="2194560" cy="731520"/>
          </a:xfrm>
          <a:prstGeom prst="rect">
            <a:avLst/>
          </a:prstGeom>
          <a:noFill/>
        </p:spPr>
        <p:txBody>
          <a:bodyPr wrap="square" anchor="t"/>
          <a:lstStyle/>
          <a:p>
            <a:pPr algn="l"/>
            <a:r>
              <a:rPr sz="4800" b="1" i="0">
                <a:solidFill>
                  <a:srgbClr val="00B4D8"/>
                </a:solidFill>
                <a:latin typeface="Calibri"/>
              </a:rPr>
              <a:t>61.6%</a:t>
            </a:r>
          </a:p>
        </p:txBody>
      </p:sp>
      <p:sp>
        <p:nvSpPr>
          <p:cNvPr id="10" name="TextBox 9"/>
          <p:cNvSpPr txBox="1"/>
          <p:nvPr/>
        </p:nvSpPr>
        <p:spPr>
          <a:xfrm>
            <a:off x="3200400" y="3154680"/>
            <a:ext cx="8165592" cy="548640"/>
          </a:xfrm>
          <a:prstGeom prst="rect">
            <a:avLst/>
          </a:prstGeom>
          <a:noFill/>
        </p:spPr>
        <p:txBody>
          <a:bodyPr wrap="square" anchor="t"/>
          <a:lstStyle/>
          <a:p>
            <a:pPr algn="l"/>
            <a:r>
              <a:rPr sz="2200" b="0" i="0">
                <a:solidFill>
                  <a:srgbClr val="FFFFFF"/>
                </a:solidFill>
                <a:latin typeface="Calibri"/>
              </a:rPr>
              <a:t>IS — useful output by our 6-signal Intelligibility Score (IS≥2.0)</a:t>
            </a:r>
          </a:p>
        </p:txBody>
      </p:sp>
      <p:sp>
        <p:nvSpPr>
          <p:cNvPr id="11" name="Rounded Rectangle 10"/>
          <p:cNvSpPr/>
          <p:nvPr/>
        </p:nvSpPr>
        <p:spPr>
          <a:xfrm>
            <a:off x="548640" y="3931920"/>
            <a:ext cx="11091672" cy="9144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041648"/>
            <a:ext cx="2194560" cy="731520"/>
          </a:xfrm>
          <a:prstGeom prst="rect">
            <a:avLst/>
          </a:prstGeom>
          <a:noFill/>
        </p:spPr>
        <p:txBody>
          <a:bodyPr wrap="square" anchor="t"/>
          <a:lstStyle/>
          <a:p>
            <a:pPr algn="l"/>
            <a:r>
              <a:rPr sz="4800" b="1" i="0">
                <a:solidFill>
                  <a:srgbClr val="4CAF50"/>
                </a:solidFill>
                <a:latin typeface="Calibri"/>
              </a:rPr>
              <a:t>64.9%</a:t>
            </a:r>
          </a:p>
        </p:txBody>
      </p:sp>
      <p:sp>
        <p:nvSpPr>
          <p:cNvPr id="13" name="TextBox 12"/>
          <p:cNvSpPr txBox="1"/>
          <p:nvPr/>
        </p:nvSpPr>
        <p:spPr>
          <a:xfrm>
            <a:off x="3200400" y="4206240"/>
            <a:ext cx="8165592" cy="548640"/>
          </a:xfrm>
          <a:prstGeom prst="rect">
            <a:avLst/>
          </a:prstGeom>
          <a:noFill/>
        </p:spPr>
        <p:txBody>
          <a:bodyPr wrap="square" anchor="t"/>
          <a:lstStyle/>
          <a:p>
            <a:pPr algn="l"/>
            <a:r>
              <a:rPr sz="2200" b="0" i="0">
                <a:solidFill>
                  <a:srgbClr val="FFFFFF"/>
                </a:solidFill>
                <a:latin typeface="Calibri"/>
              </a:rPr>
              <a:t>Opus-as-Judge — useful by independent LLM evaluation (Y+P, blind)</a:t>
            </a:r>
          </a:p>
        </p:txBody>
      </p:sp>
      <p:sp>
        <p:nvSpPr>
          <p:cNvPr id="14" name="Rounded Rectangle 13"/>
          <p:cNvSpPr/>
          <p:nvPr/>
        </p:nvSpPr>
        <p:spPr>
          <a:xfrm>
            <a:off x="548640" y="4983480"/>
            <a:ext cx="11091672" cy="91440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093208"/>
            <a:ext cx="2194560" cy="731520"/>
          </a:xfrm>
          <a:prstGeom prst="rect">
            <a:avLst/>
          </a:prstGeom>
          <a:noFill/>
        </p:spPr>
        <p:txBody>
          <a:bodyPr wrap="square" anchor="t"/>
          <a:lstStyle/>
          <a:p>
            <a:pPr algn="l"/>
            <a:r>
              <a:rPr sz="4800" b="1" i="0">
                <a:solidFill>
                  <a:srgbClr val="FFD54F"/>
                </a:solidFill>
                <a:latin typeface="Calibri"/>
              </a:rPr>
              <a:t>~65%</a:t>
            </a:r>
          </a:p>
        </p:txBody>
      </p:sp>
      <p:sp>
        <p:nvSpPr>
          <p:cNvPr id="16" name="TextBox 15"/>
          <p:cNvSpPr txBox="1"/>
          <p:nvPr/>
        </p:nvSpPr>
        <p:spPr>
          <a:xfrm>
            <a:off x="3200400" y="5257800"/>
            <a:ext cx="8165592" cy="548640"/>
          </a:xfrm>
          <a:prstGeom prst="rect">
            <a:avLst/>
          </a:prstGeom>
          <a:noFill/>
        </p:spPr>
        <p:txBody>
          <a:bodyPr wrap="square" anchor="t"/>
          <a:lstStyle/>
          <a:p>
            <a:pPr algn="l"/>
            <a:r>
              <a:rPr sz="2200" b="0" i="0">
                <a:solidFill>
                  <a:srgbClr val="FFFFFF"/>
                </a:solidFill>
                <a:latin typeface="Calibri"/>
              </a:rPr>
              <a:t>Convergent answer — both metrics agree the model works</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How Do You Know When to Trust an Output?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914400"/>
          </a:xfrm>
          <a:prstGeom prst="rect">
            <a:avLst/>
          </a:prstGeom>
          <a:noFill/>
        </p:spPr>
        <p:txBody>
          <a:bodyPr wrap="square" anchor="t"/>
          <a:lstStyle/>
          <a:p>
            <a:pPr algn="l"/>
            <a:r>
              <a:rPr sz="2000" b="0" i="1">
                <a:solidFill>
                  <a:srgbClr val="AAAAAA"/>
                </a:solidFill>
                <a:latin typeface="Calibri"/>
              </a:rPr>
              <a:t>All the IS / WER / Judge analysis so far depends on having a reference text. In production, on a video the user just uploaded, there IS no reference. How do we surface uncertainty at runtime?</a:t>
            </a:r>
          </a:p>
        </p:txBody>
      </p:sp>
      <p:sp>
        <p:nvSpPr>
          <p:cNvPr id="5" name="TextBox 4"/>
          <p:cNvSpPr txBox="1"/>
          <p:nvPr/>
        </p:nvSpPr>
        <p:spPr>
          <a:xfrm>
            <a:off x="548640" y="2423160"/>
            <a:ext cx="11091672" cy="320040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Goal: a per-segment and per-word reliability signal computed only from the model's own outputs (no reference text).</a:t>
            </a:r>
          </a:p>
          <a:p>
            <a:pPr algn="l">
              <a:spcAft>
                <a:spcPts val="600"/>
              </a:spcAft>
            </a:pPr>
            <a:r>
              <a:rPr sz="2400" b="1">
                <a:solidFill>
                  <a:srgbClr val="00B4D8"/>
                </a:solidFill>
                <a:latin typeface="Calibri"/>
              </a:rPr>
              <a:t>• </a:t>
            </a:r>
            <a:r>
              <a:rPr sz="2400" b="0">
                <a:solidFill>
                  <a:srgbClr val="FFFFFF"/>
                </a:solidFill>
                <a:latin typeface="Calibri"/>
              </a:rPr>
              <a:t>We need to rank segments so a reviewer can triage which to verify.</a:t>
            </a:r>
          </a:p>
          <a:p>
            <a:pPr algn="l">
              <a:spcAft>
                <a:spcPts val="600"/>
              </a:spcAft>
            </a:pPr>
            <a:r>
              <a:rPr sz="2400" b="1">
                <a:solidFill>
                  <a:srgbClr val="00B4D8"/>
                </a:solidFill>
                <a:latin typeface="Calibri"/>
              </a:rPr>
              <a:t>• </a:t>
            </a:r>
            <a:r>
              <a:rPr sz="2400" b="0">
                <a:solidFill>
                  <a:srgbClr val="FFFFFF"/>
                </a:solidFill>
                <a:latin typeface="Calibri"/>
              </a:rPr>
              <a:t>We need to rank words inside a segment so a reader knows where to look.</a:t>
            </a:r>
          </a:p>
          <a:p>
            <a:pPr algn="l">
              <a:spcAft>
                <a:spcPts val="600"/>
              </a:spcAft>
            </a:pPr>
            <a:r>
              <a:rPr sz="2400" b="1">
                <a:solidFill>
                  <a:srgbClr val="00B4D8"/>
                </a:solidFill>
                <a:latin typeface="Calibri"/>
              </a:rPr>
              <a:t>• </a:t>
            </a:r>
            <a:r>
              <a:rPr sz="2400" b="0">
                <a:solidFill>
                  <a:srgbClr val="00B4D8"/>
                </a:solidFill>
                <a:latin typeface="Calibri"/>
              </a:rPr>
              <a:t>Constraint: zero extra inference cost. Whatever signal we use must be extractable from a single decode pass.</a:t>
            </a:r>
          </a:p>
        </p:txBody>
      </p:sp>
      <p:sp>
        <p:nvSpPr>
          <p:cNvPr id="6" name="TextBox 5"/>
          <p:cNvSpPr txBox="1"/>
          <p:nvPr/>
        </p:nvSpPr>
        <p:spPr>
          <a:xfrm>
            <a:off x="548640" y="5504688"/>
            <a:ext cx="11091672" cy="914400"/>
          </a:xfrm>
          <a:prstGeom prst="rect">
            <a:avLst/>
          </a:prstGeom>
          <a:noFill/>
        </p:spPr>
        <p:txBody>
          <a:bodyPr wrap="square" anchor="t"/>
          <a:lstStyle/>
          <a:p>
            <a:pPr algn="ctr"/>
            <a:r>
              <a:rPr sz="2400" b="0" i="1">
                <a:solidFill>
                  <a:srgbClr val="00B4D8"/>
                </a:solidFill>
                <a:latin typeface="Calibri"/>
              </a:rPr>
              <a:t>Two layers of confidence (just shown): per-word from the LLM softmax, per-segment as the aggregate.</a:t>
            </a:r>
          </a:p>
        </p:txBody>
      </p:sp>
      <p:pic>
        <p:nvPicPr>
          <p:cNvPr id="7" name="Picture 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Two Layers of Confidence (Per-Word + Per-Segment)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731520"/>
          </a:xfrm>
          <a:prstGeom prst="rect">
            <a:avLst/>
          </a:prstGeom>
          <a:noFill/>
        </p:spPr>
        <p:txBody>
          <a:bodyPr wrap="square" anchor="t"/>
          <a:lstStyle/>
          <a:p>
            <a:pPr algn="l"/>
            <a:r>
              <a:rPr sz="1800" b="0" i="1">
                <a:solidFill>
                  <a:srgbClr val="AAAAAA"/>
                </a:solidFill>
                <a:latin typeface="Calibri"/>
              </a:rPr>
              <a:t>Both layers are derived from the LLM's output softmax during the same decode pass. Zero extra cost.</a:t>
            </a:r>
          </a:p>
        </p:txBody>
      </p:sp>
      <p:sp>
        <p:nvSpPr>
          <p:cNvPr id="5" name="Rounded Rectangle 4"/>
          <p:cNvSpPr/>
          <p:nvPr/>
        </p:nvSpPr>
        <p:spPr>
          <a:xfrm>
            <a:off x="548640" y="1828800"/>
            <a:ext cx="5349240" cy="3291840"/>
          </a:xfrm>
          <a:prstGeom prst="roundRect">
            <a:avLst/>
          </a:prstGeom>
          <a:solidFill>
            <a:srgbClr val="152A40"/>
          </a:solidFill>
          <a:ln w="25400">
            <a:solidFill>
              <a:srgbClr val="4F8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4800600" cy="365760"/>
          </a:xfrm>
          <a:prstGeom prst="rect">
            <a:avLst/>
          </a:prstGeom>
          <a:noFill/>
        </p:spPr>
        <p:txBody>
          <a:bodyPr wrap="square" anchor="t"/>
          <a:lstStyle/>
          <a:p>
            <a:pPr algn="l"/>
            <a:r>
              <a:rPr sz="2400" b="1" i="0">
                <a:solidFill>
                  <a:srgbClr val="4F8FF7"/>
                </a:solidFill>
                <a:latin typeface="Calibri"/>
              </a:rPr>
              <a:t>1. PER-WORD</a:t>
            </a:r>
          </a:p>
        </p:txBody>
      </p:sp>
      <p:sp>
        <p:nvSpPr>
          <p:cNvPr id="7" name="TextBox 6"/>
          <p:cNvSpPr txBox="1"/>
          <p:nvPr/>
        </p:nvSpPr>
        <p:spPr>
          <a:xfrm>
            <a:off x="822960" y="2377440"/>
            <a:ext cx="4800600" cy="777240"/>
          </a:xfrm>
          <a:prstGeom prst="rect">
            <a:avLst/>
          </a:prstGeom>
          <a:noFill/>
        </p:spPr>
        <p:txBody>
          <a:bodyPr wrap="square" anchor="t"/>
          <a:lstStyle/>
          <a:p>
            <a:pPr algn="l"/>
            <a:r>
              <a:rPr sz="2200" b="1" i="0">
                <a:solidFill>
                  <a:srgbClr val="FFFFFF"/>
                </a:solidFill>
                <a:latin typeface="Calibri"/>
              </a:rPr>
              <a:t>max softmax probability per token</a:t>
            </a:r>
          </a:p>
        </p:txBody>
      </p:sp>
      <p:sp>
        <p:nvSpPr>
          <p:cNvPr id="8" name="TextBox 7"/>
          <p:cNvSpPr txBox="1"/>
          <p:nvPr/>
        </p:nvSpPr>
        <p:spPr>
          <a:xfrm>
            <a:off x="822960" y="3154680"/>
            <a:ext cx="4800600" cy="502920"/>
          </a:xfrm>
          <a:prstGeom prst="rect">
            <a:avLst/>
          </a:prstGeom>
          <a:noFill/>
        </p:spPr>
        <p:txBody>
          <a:bodyPr wrap="square" anchor="t"/>
          <a:lstStyle/>
          <a:p>
            <a:pPr algn="ctr"/>
            <a:r>
              <a:rPr sz="2200" b="0" i="1">
                <a:solidFill>
                  <a:srgbClr val="FFD54F"/>
                </a:solidFill>
                <a:latin typeface="Calibri"/>
              </a:rPr>
              <a:t>p(t)  =  maxᵥ  P( v | tokens ≤ t )</a:t>
            </a:r>
          </a:p>
        </p:txBody>
      </p:sp>
      <p:sp>
        <p:nvSpPr>
          <p:cNvPr id="9" name="TextBox 8"/>
          <p:cNvSpPr txBox="1"/>
          <p:nvPr/>
        </p:nvSpPr>
        <p:spPr>
          <a:xfrm>
            <a:off x="822960" y="3749040"/>
            <a:ext cx="4800600" cy="1325880"/>
          </a:xfrm>
          <a:prstGeom prst="rect">
            <a:avLst/>
          </a:prstGeom>
          <a:noFill/>
        </p:spPr>
        <p:txBody>
          <a:bodyPr wrap="square">
            <a:spAutoFit/>
          </a:bodyPr>
          <a:lstStyle/>
          <a:p>
            <a:pPr algn="l">
              <a:spcAft>
                <a:spcPts val="600"/>
              </a:spcAft>
            </a:pPr>
            <a:r>
              <a:rPr sz="1800" b="1">
                <a:solidFill>
                  <a:srgbClr val="00B4D8"/>
                </a:solidFill>
                <a:latin typeface="Calibri"/>
              </a:rPr>
              <a:t>• </a:t>
            </a:r>
            <a:r>
              <a:rPr sz="1800" b="0">
                <a:solidFill>
                  <a:srgbClr val="FFFFFF"/>
                </a:solidFill>
                <a:latin typeface="Calibri"/>
              </a:rPr>
              <a:t>Aggregate sub-tokens up to whole word</a:t>
            </a:r>
          </a:p>
          <a:p>
            <a:pPr algn="l">
              <a:spcAft>
                <a:spcPts val="600"/>
              </a:spcAft>
            </a:pPr>
            <a:r>
              <a:rPr sz="1800" b="1">
                <a:solidFill>
                  <a:srgbClr val="00B4D8"/>
                </a:solidFill>
                <a:latin typeface="Calibri"/>
              </a:rPr>
              <a:t>• </a:t>
            </a:r>
            <a:r>
              <a:rPr sz="1800" b="0">
                <a:solidFill>
                  <a:srgbClr val="FFFFFF"/>
                </a:solidFill>
                <a:latin typeface="Calibri"/>
              </a:rPr>
              <a:t>Render inline (BLUE / ORANGE / PURPLE)</a:t>
            </a:r>
          </a:p>
          <a:p>
            <a:pPr algn="l">
              <a:spcAft>
                <a:spcPts val="600"/>
              </a:spcAft>
            </a:pPr>
            <a:r>
              <a:rPr sz="1800" b="1">
                <a:solidFill>
                  <a:srgbClr val="00B4D8"/>
                </a:solidFill>
                <a:latin typeface="Calibri"/>
              </a:rPr>
              <a:t>• </a:t>
            </a:r>
            <a:r>
              <a:rPr sz="1800" b="0">
                <a:solidFill>
                  <a:srgbClr val="AAAAAA"/>
                </a:solidFill>
                <a:latin typeface="Calibri"/>
              </a:rPr>
              <a:t>23,261 words / 1,427 segments</a:t>
            </a:r>
          </a:p>
        </p:txBody>
      </p:sp>
      <p:sp>
        <p:nvSpPr>
          <p:cNvPr id="10" name="Rounded Rectangle 9"/>
          <p:cNvSpPr/>
          <p:nvPr/>
        </p:nvSpPr>
        <p:spPr>
          <a:xfrm>
            <a:off x="6263640" y="1828800"/>
            <a:ext cx="5349240" cy="329184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2011680"/>
            <a:ext cx="4800600" cy="365760"/>
          </a:xfrm>
          <a:prstGeom prst="rect">
            <a:avLst/>
          </a:prstGeom>
          <a:noFill/>
        </p:spPr>
        <p:txBody>
          <a:bodyPr wrap="square" anchor="t"/>
          <a:lstStyle/>
          <a:p>
            <a:pPr algn="l"/>
            <a:r>
              <a:rPr sz="2400" b="1" i="0">
                <a:solidFill>
                  <a:srgbClr val="00B4D8"/>
                </a:solidFill>
                <a:latin typeface="Calibri"/>
              </a:rPr>
              <a:t>2. PER-SEGMENT</a:t>
            </a:r>
          </a:p>
        </p:txBody>
      </p:sp>
      <p:sp>
        <p:nvSpPr>
          <p:cNvPr id="12" name="TextBox 11"/>
          <p:cNvSpPr txBox="1"/>
          <p:nvPr/>
        </p:nvSpPr>
        <p:spPr>
          <a:xfrm>
            <a:off x="6537960" y="2377440"/>
            <a:ext cx="4800600" cy="777240"/>
          </a:xfrm>
          <a:prstGeom prst="rect">
            <a:avLst/>
          </a:prstGeom>
          <a:noFill/>
        </p:spPr>
        <p:txBody>
          <a:bodyPr wrap="square" anchor="t"/>
          <a:lstStyle/>
          <a:p>
            <a:pPr algn="l"/>
            <a:r>
              <a:rPr sz="2200" b="1" i="0">
                <a:solidFill>
                  <a:srgbClr val="FFFFFF"/>
                </a:solidFill>
                <a:latin typeface="Calibri"/>
              </a:rPr>
              <a:t>mean log-probability over the segment</a:t>
            </a:r>
          </a:p>
        </p:txBody>
      </p:sp>
      <p:sp>
        <p:nvSpPr>
          <p:cNvPr id="13" name="TextBox 12"/>
          <p:cNvSpPr txBox="1"/>
          <p:nvPr/>
        </p:nvSpPr>
        <p:spPr>
          <a:xfrm>
            <a:off x="6537960" y="3154680"/>
            <a:ext cx="4800600" cy="502920"/>
          </a:xfrm>
          <a:prstGeom prst="rect">
            <a:avLst/>
          </a:prstGeom>
          <a:noFill/>
        </p:spPr>
        <p:txBody>
          <a:bodyPr wrap="square" anchor="t"/>
          <a:lstStyle/>
          <a:p>
            <a:pPr algn="ctr"/>
            <a:r>
              <a:rPr sz="2200" b="0" i="1">
                <a:solidFill>
                  <a:srgbClr val="FFD54F"/>
                </a:solidFill>
                <a:latin typeface="Calibri"/>
              </a:rPr>
              <a:t>m  =  exp( (1/T) · Σ log p(t) )</a:t>
            </a:r>
          </a:p>
        </p:txBody>
      </p:sp>
      <p:sp>
        <p:nvSpPr>
          <p:cNvPr id="14" name="TextBox 13"/>
          <p:cNvSpPr txBox="1"/>
          <p:nvPr/>
        </p:nvSpPr>
        <p:spPr>
          <a:xfrm>
            <a:off x="6537960" y="3749040"/>
            <a:ext cx="4800600" cy="1325880"/>
          </a:xfrm>
          <a:prstGeom prst="rect">
            <a:avLst/>
          </a:prstGeom>
          <a:noFill/>
        </p:spPr>
        <p:txBody>
          <a:bodyPr wrap="square">
            <a:spAutoFit/>
          </a:bodyPr>
          <a:lstStyle/>
          <a:p>
            <a:pPr algn="l">
              <a:spcAft>
                <a:spcPts val="600"/>
              </a:spcAft>
            </a:pPr>
            <a:r>
              <a:rPr sz="1800" b="1">
                <a:solidFill>
                  <a:srgbClr val="00B4D8"/>
                </a:solidFill>
                <a:latin typeface="Calibri"/>
              </a:rPr>
              <a:t>• </a:t>
            </a:r>
            <a:r>
              <a:rPr sz="1800" b="0">
                <a:solidFill>
                  <a:srgbClr val="FFFFFF"/>
                </a:solidFill>
                <a:latin typeface="Calibri"/>
              </a:rPr>
              <a:t>Length-anomaly check (too short / too long)</a:t>
            </a:r>
          </a:p>
          <a:p>
            <a:pPr algn="l">
              <a:spcAft>
                <a:spcPts val="600"/>
              </a:spcAft>
            </a:pPr>
            <a:r>
              <a:rPr sz="1800" b="1">
                <a:solidFill>
                  <a:srgbClr val="00B4D8"/>
                </a:solidFill>
                <a:latin typeface="Calibri"/>
              </a:rPr>
              <a:t>• </a:t>
            </a:r>
            <a:r>
              <a:rPr sz="1800" b="0">
                <a:solidFill>
                  <a:srgbClr val="00B4D8"/>
                </a:solidFill>
                <a:latin typeface="Calibri"/>
              </a:rPr>
              <a:t>τ_trust 0.89, τ_safe 0.82, τ_salvage 0.74</a:t>
            </a:r>
          </a:p>
          <a:p>
            <a:pPr algn="l">
              <a:spcAft>
                <a:spcPts val="600"/>
              </a:spcAft>
            </a:pPr>
            <a:r>
              <a:rPr sz="1800" b="1">
                <a:solidFill>
                  <a:srgbClr val="00B4D8"/>
                </a:solidFill>
                <a:latin typeface="Calibri"/>
              </a:rPr>
              <a:t>• </a:t>
            </a:r>
            <a:r>
              <a:rPr sz="1800" b="0">
                <a:solidFill>
                  <a:srgbClr val="E06C75"/>
                </a:solidFill>
                <a:latin typeface="Calibri"/>
              </a:rPr>
              <a:t>Strip below 0.65 (green flag misleads)</a:t>
            </a:r>
          </a:p>
          <a:p>
            <a:pPr algn="l">
              <a:spcAft>
                <a:spcPts val="600"/>
              </a:spcAft>
            </a:pPr>
            <a:r>
              <a:rPr sz="1800" b="1">
                <a:solidFill>
                  <a:srgbClr val="00B4D8"/>
                </a:solidFill>
                <a:latin typeface="Calibri"/>
              </a:rPr>
              <a:t>• </a:t>
            </a:r>
            <a:r>
              <a:rPr sz="1800" b="0">
                <a:solidFill>
                  <a:srgbClr val="AAAAAA"/>
                </a:solidFill>
                <a:latin typeface="Calibri"/>
              </a:rPr>
              <a:t>Demo cards label this sequence_conf</a:t>
            </a:r>
          </a:p>
        </p:txBody>
      </p:sp>
      <p:sp>
        <p:nvSpPr>
          <p:cNvPr id="15" name="TextBox 14"/>
          <p:cNvSpPr txBox="1"/>
          <p:nvPr/>
        </p:nvSpPr>
        <p:spPr>
          <a:xfrm>
            <a:off x="548640" y="5760720"/>
            <a:ext cx="11091672" cy="502920"/>
          </a:xfrm>
          <a:prstGeom prst="rect">
            <a:avLst/>
          </a:prstGeom>
          <a:noFill/>
        </p:spPr>
        <p:txBody>
          <a:bodyPr wrap="square" anchor="t"/>
          <a:lstStyle/>
          <a:p>
            <a:pPr algn="ctr"/>
            <a:r>
              <a:rPr sz="1800" b="0" i="1">
                <a:solidFill>
                  <a:srgbClr val="AAAAAA"/>
                </a:solidFill>
                <a:latin typeface="Calibri"/>
              </a:rPr>
              <a:t>Both layers calibrated against a held-out blind LLM judge.</a:t>
            </a:r>
          </a:p>
        </p:txBody>
      </p:sp>
      <p:pic>
        <p:nvPicPr>
          <p:cNvPr id="16" name="Picture 1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39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How the Report Handles Uncertainty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20040"/>
          </a:xfrm>
          <a:prstGeom prst="rect">
            <a:avLst/>
          </a:prstGeom>
          <a:noFill/>
        </p:spPr>
        <p:txBody>
          <a:bodyPr wrap="square" anchor="t"/>
          <a:lstStyle/>
          <a:p>
            <a:pPr algn="l"/>
            <a:r>
              <a:rPr sz="2400" b="1" i="0">
                <a:solidFill>
                  <a:srgbClr val="00B4D8"/>
                </a:solidFill>
                <a:latin typeface="Calibri"/>
              </a:rPr>
              <a:t>How It Works</a:t>
            </a:r>
          </a:p>
        </p:txBody>
      </p:sp>
      <p:sp>
        <p:nvSpPr>
          <p:cNvPr id="5" name="TextBox 4"/>
          <p:cNvSpPr txBox="1"/>
          <p:nvPr/>
        </p:nvSpPr>
        <p:spPr>
          <a:xfrm>
            <a:off x="548640" y="1737360"/>
            <a:ext cx="5029200" cy="260604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FFFFFF"/>
                </a:solidFill>
                <a:latin typeface="Calibri"/>
              </a:rPr>
              <a:t>Beam search computes prob scores — just expose</a:t>
            </a:r>
          </a:p>
          <a:p>
            <a:pPr algn="l">
              <a:spcAft>
                <a:spcPts val="600"/>
              </a:spcAft>
            </a:pPr>
            <a:r>
              <a:rPr sz="2000" b="1">
                <a:solidFill>
                  <a:srgbClr val="00B4D8"/>
                </a:solidFill>
                <a:latin typeface="Calibri"/>
              </a:rPr>
              <a:t>• </a:t>
            </a:r>
            <a:r>
              <a:rPr sz="2000" b="0">
                <a:solidFill>
                  <a:srgbClr val="FFFFFF"/>
                </a:solidFill>
                <a:latin typeface="Calibri"/>
              </a:rPr>
              <a:t>Attach beam score + token entropy</a:t>
            </a:r>
          </a:p>
          <a:p>
            <a:pPr algn="l">
              <a:spcAft>
                <a:spcPts val="600"/>
              </a:spcAft>
            </a:pPr>
            <a:r>
              <a:rPr sz="2000" b="1">
                <a:solidFill>
                  <a:srgbClr val="00B4D8"/>
                </a:solidFill>
                <a:latin typeface="Calibri"/>
              </a:rPr>
              <a:t>• </a:t>
            </a:r>
            <a:r>
              <a:rPr sz="2000" b="0">
                <a:solidFill>
                  <a:srgbClr val="FFFFFF"/>
                </a:solidFill>
                <a:latin typeface="Calibri"/>
              </a:rPr>
              <a:t>T_safe=0.82, T_trust=0.89 (shipped Apr 30)</a:t>
            </a:r>
          </a:p>
          <a:p>
            <a:pPr algn="l">
              <a:spcAft>
                <a:spcPts val="600"/>
              </a:spcAft>
            </a:pPr>
            <a:r>
              <a:rPr sz="2000" b="1">
                <a:solidFill>
                  <a:srgbClr val="00B4D8"/>
                </a:solidFill>
                <a:latin typeface="Calibri"/>
              </a:rPr>
              <a:t>• </a:t>
            </a:r>
            <a:r>
              <a:rPr sz="2000" b="0">
                <a:solidFill>
                  <a:srgbClr val="00B4D8"/>
                </a:solidFill>
                <a:latin typeface="Calibri"/>
              </a:rPr>
              <a:t>No extra inference — free byproduct</a:t>
            </a:r>
          </a:p>
        </p:txBody>
      </p:sp>
      <p:sp>
        <p:nvSpPr>
          <p:cNvPr id="6" name="Rounded Rectangle 5"/>
          <p:cNvSpPr/>
          <p:nvPr/>
        </p:nvSpPr>
        <p:spPr>
          <a:xfrm>
            <a:off x="548640" y="4526280"/>
            <a:ext cx="5029200" cy="10058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617720"/>
            <a:ext cx="4480560" cy="914400"/>
          </a:xfrm>
          <a:prstGeom prst="rect">
            <a:avLst/>
          </a:prstGeom>
          <a:noFill/>
        </p:spPr>
        <p:txBody>
          <a:bodyPr wrap="square" anchor="t"/>
          <a:lstStyle/>
          <a:p>
            <a:pPr algn="l"/>
            <a:r>
              <a:rPr sz="2200" b="1" i="0">
                <a:solidFill>
                  <a:srgbClr val="4CAF50"/>
                </a:solidFill>
                <a:latin typeface="Calibri"/>
              </a:rPr>
              <a:t>At T_safe=0.82: green band ≥ 85% reliable (∼15% error)</a:t>
            </a:r>
          </a:p>
        </p:txBody>
      </p:sp>
      <p:sp>
        <p:nvSpPr>
          <p:cNvPr id="8" name="TextBox 7"/>
          <p:cNvSpPr txBox="1"/>
          <p:nvPr/>
        </p:nvSpPr>
        <p:spPr>
          <a:xfrm>
            <a:off x="6611111" y="1325880"/>
            <a:ext cx="5029201" cy="320040"/>
          </a:xfrm>
          <a:prstGeom prst="rect">
            <a:avLst/>
          </a:prstGeom>
          <a:noFill/>
        </p:spPr>
        <p:txBody>
          <a:bodyPr wrap="square" anchor="t"/>
          <a:lstStyle/>
          <a:p>
            <a:pPr algn="l"/>
            <a:r>
              <a:rPr sz="2400" b="1" i="0">
                <a:solidFill>
                  <a:srgbClr val="E06C75"/>
                </a:solidFill>
                <a:latin typeface="Calibri"/>
              </a:rPr>
              <a:t>What It Enables</a:t>
            </a:r>
          </a:p>
        </p:txBody>
      </p:sp>
      <p:sp>
        <p:nvSpPr>
          <p:cNvPr id="9" name="TextBox 8"/>
          <p:cNvSpPr txBox="1"/>
          <p:nvPr/>
        </p:nvSpPr>
        <p:spPr>
          <a:xfrm>
            <a:off x="6611111" y="1737360"/>
            <a:ext cx="5029201" cy="310896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Users see only high-confidence segments by default</a:t>
            </a:r>
          </a:p>
          <a:p>
            <a:pPr algn="l">
              <a:spcAft>
                <a:spcPts val="600"/>
              </a:spcAft>
            </a:pPr>
            <a:r>
              <a:rPr sz="2400" b="1">
                <a:solidFill>
                  <a:srgbClr val="00B4D8"/>
                </a:solidFill>
                <a:latin typeface="Calibri"/>
              </a:rPr>
              <a:t>• </a:t>
            </a:r>
            <a:r>
              <a:rPr sz="2400" b="0">
                <a:solidFill>
                  <a:srgbClr val="FFFFFF"/>
                </a:solidFill>
                <a:latin typeface="Calibri"/>
              </a:rPr>
              <a:t>Low-confidence segments flagged for human review</a:t>
            </a:r>
          </a:p>
          <a:p>
            <a:pPr algn="l">
              <a:spcAft>
                <a:spcPts val="600"/>
              </a:spcAft>
            </a:pPr>
            <a:r>
              <a:rPr sz="2400" b="1">
                <a:solidFill>
                  <a:srgbClr val="00B4D8"/>
                </a:solidFill>
                <a:latin typeface="Calibri"/>
              </a:rPr>
              <a:t>• </a:t>
            </a:r>
            <a:r>
              <a:rPr sz="2400" b="0">
                <a:solidFill>
                  <a:srgbClr val="E06C75"/>
                </a:solidFill>
                <a:latin typeface="Calibri"/>
              </a:rPr>
              <a:t>Entity-level: names/numbers missed in 85% of segments — confidence can flag these specifically</a:t>
            </a:r>
          </a:p>
        </p:txBody>
      </p:sp>
      <p:sp>
        <p:nvSpPr>
          <p:cNvPr id="10" name="TextBox 9"/>
          <p:cNvSpPr txBox="1"/>
          <p:nvPr/>
        </p:nvSpPr>
        <p:spPr>
          <a:xfrm>
            <a:off x="548640" y="5760720"/>
            <a:ext cx="11091672" cy="411480"/>
          </a:xfrm>
          <a:prstGeom prst="rect">
            <a:avLst/>
          </a:prstGeom>
          <a:noFill/>
        </p:spPr>
        <p:txBody>
          <a:bodyPr wrap="square" anchor="t"/>
          <a:lstStyle/>
          <a:p>
            <a:pPr algn="ctr"/>
            <a:r>
              <a:rPr sz="1800" b="0" i="1">
                <a:solidFill>
                  <a:srgbClr val="AAAAAA"/>
                </a:solidFill>
                <a:latin typeface="Calibri"/>
              </a:rPr>
              <a:t>The fastest path to user value — no retraining, no new data, no infrastructure changes.</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12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Per-Tier Reliability — What the Numbers Say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11480"/>
          </a:xfrm>
          <a:prstGeom prst="rect">
            <a:avLst/>
          </a:prstGeom>
          <a:noFill/>
        </p:spPr>
        <p:txBody>
          <a:bodyPr wrap="square" anchor="t"/>
          <a:lstStyle/>
          <a:p>
            <a:pPr algn="l"/>
            <a:r>
              <a:rPr sz="1800" b="0" i="1">
                <a:solidFill>
                  <a:srgbClr val="AAAAAA"/>
                </a:solidFill>
                <a:latin typeface="Calibri"/>
              </a:rPr>
              <a:t>Tiers from segment confidence score (m); per-tier P(green correct) under joint rule. Volumes from per_word_by_tier.csv.</a:t>
            </a:r>
          </a:p>
        </p:txBody>
      </p:sp>
      <p:graphicFrame>
        <p:nvGraphicFramePr>
          <p:cNvPr id="5" name="Table 4"/>
          <p:cNvGraphicFramePr>
            <a:graphicFrameLocks noGrp="1"/>
          </p:cNvGraphicFramePr>
          <p:nvPr/>
        </p:nvGraphicFramePr>
        <p:xfrm>
          <a:off x="548640" y="1828800"/>
          <a:ext cx="10881360" cy="1828800"/>
        </p:xfrm>
        <a:graphic>
          <a:graphicData uri="http://schemas.openxmlformats.org/drawingml/2006/table">
            <a:tbl>
              <a:tblPr firstRow="0" bandRow="0" lastRow="0" bandCol="0">
                <a:tableStyleId>{5C22544A-7EE6-4342-B048-85BDC9FD1C3A}</a:tableStyleId>
              </a:tblPr>
              <a:tblGrid>
                <a:gridCol w="2377440"/>
                <a:gridCol w="1371600"/>
                <a:gridCol w="1463040"/>
                <a:gridCol w="1371600"/>
                <a:gridCol w="1463040"/>
                <a:gridCol w="1371600"/>
                <a:gridCol w="1463040"/>
              </a:tblGrid>
              <a:tr h="457200">
                <a:tc>
                  <a:txBody>
                    <a:bodyPr/>
                    <a:lstStyle/>
                    <a:p>
                      <a:pPr algn="ctr"/>
                      <a:r>
                        <a:rPr sz="2200" b="1" i="0">
                          <a:solidFill>
                            <a:srgbClr val="FFFFFF"/>
                          </a:solidFill>
                          <a:latin typeface="Calibri"/>
                        </a:rPr>
                        <a:t>Tier</a:t>
                      </a:r>
                    </a:p>
                  </a:txBody>
                  <a:tcPr>
                    <a:solidFill>
                      <a:srgbClr val="00b4d8"/>
                    </a:solidFill>
                  </a:tcPr>
                </a:tc>
                <a:tc>
                  <a:txBody>
                    <a:bodyPr/>
                    <a:lstStyle/>
                    <a:p>
                      <a:pPr algn="ctr"/>
                      <a:r>
                        <a:rPr sz="2200" b="1" i="0">
                          <a:solidFill>
                            <a:srgbClr val="FFFFFF"/>
                          </a:solidFill>
                          <a:latin typeface="Calibri"/>
                        </a:rPr>
                        <a:t>Green n</a:t>
                      </a:r>
                    </a:p>
                  </a:txBody>
                  <a:tcPr>
                    <a:solidFill>
                      <a:srgbClr val="00b4d8"/>
                    </a:solidFill>
                  </a:tcPr>
                </a:tc>
                <a:tc>
                  <a:txBody>
                    <a:bodyPr/>
                    <a:lstStyle/>
                    <a:p>
                      <a:pPr algn="ctr"/>
                      <a:r>
                        <a:rPr sz="2200" b="1" i="0">
                          <a:solidFill>
                            <a:srgbClr val="FFFFFF"/>
                          </a:solidFill>
                          <a:latin typeface="Calibri"/>
                        </a:rPr>
                        <a:t>P(grn corr)</a:t>
                      </a:r>
                    </a:p>
                  </a:txBody>
                  <a:tcPr>
                    <a:solidFill>
                      <a:srgbClr val="00b4d8"/>
                    </a:solidFill>
                  </a:tcPr>
                </a:tc>
                <a:tc>
                  <a:txBody>
                    <a:bodyPr/>
                    <a:lstStyle/>
                    <a:p>
                      <a:pPr algn="ctr"/>
                      <a:r>
                        <a:rPr sz="2200" b="1" i="0">
                          <a:solidFill>
                            <a:srgbClr val="FFFFFF"/>
                          </a:solidFill>
                          <a:latin typeface="Calibri"/>
                        </a:rPr>
                        <a:t>Yellow n</a:t>
                      </a:r>
                    </a:p>
                  </a:txBody>
                  <a:tcPr>
                    <a:solidFill>
                      <a:srgbClr val="00b4d8"/>
                    </a:solidFill>
                  </a:tcPr>
                </a:tc>
                <a:tc>
                  <a:txBody>
                    <a:bodyPr/>
                    <a:lstStyle/>
                    <a:p>
                      <a:pPr algn="ctr"/>
                      <a:r>
                        <a:rPr sz="2200" b="1" i="0">
                          <a:solidFill>
                            <a:srgbClr val="FFFFFF"/>
                          </a:solidFill>
                          <a:latin typeface="Calibri"/>
                        </a:rPr>
                        <a:t>P(yel corr)</a:t>
                      </a:r>
                    </a:p>
                  </a:txBody>
                  <a:tcPr>
                    <a:solidFill>
                      <a:srgbClr val="00b4d8"/>
                    </a:solidFill>
                  </a:tcPr>
                </a:tc>
                <a:tc>
                  <a:txBody>
                    <a:bodyPr/>
                    <a:lstStyle/>
                    <a:p>
                      <a:pPr algn="ctr"/>
                      <a:r>
                        <a:rPr sz="2200" b="1" i="0">
                          <a:solidFill>
                            <a:srgbClr val="FFFFFF"/>
                          </a:solidFill>
                          <a:latin typeface="Calibri"/>
                        </a:rPr>
                        <a:t>Red n</a:t>
                      </a:r>
                    </a:p>
                  </a:txBody>
                  <a:tcPr>
                    <a:solidFill>
                      <a:srgbClr val="00b4d8"/>
                    </a:solidFill>
                  </a:tcPr>
                </a:tc>
                <a:tc>
                  <a:txBody>
                    <a:bodyPr/>
                    <a:lstStyle/>
                    <a:p>
                      <a:pPr algn="ctr"/>
                      <a:r>
                        <a:rPr sz="2200" b="1" i="0">
                          <a:solidFill>
                            <a:srgbClr val="FFFFFF"/>
                          </a:solidFill>
                          <a:latin typeface="Calibri"/>
                        </a:rPr>
                        <a:t>P(red corr)</a:t>
                      </a:r>
                    </a:p>
                  </a:txBody>
                  <a:tcPr>
                    <a:solidFill>
                      <a:srgbClr val="00b4d8"/>
                    </a:solidFill>
                  </a:tcPr>
                </a:tc>
              </a:tr>
              <a:tr h="457200">
                <a:tc>
                  <a:txBody>
                    <a:bodyPr/>
                    <a:lstStyle/>
                    <a:p>
                      <a:pPr algn="l"/>
                      <a:r>
                        <a:rPr sz="2200" b="0" i="0">
                          <a:solidFill>
                            <a:srgbClr val="4F8FF7"/>
                          </a:solidFill>
                          <a:latin typeface="Calibri"/>
                        </a:rPr>
                        <a:t>Trust (&gt;=0.82)</a:t>
                      </a:r>
                    </a:p>
                  </a:txBody>
                  <a:tcPr>
                    <a:solidFill>
                      <a:srgbClr val="0d1b2a"/>
                    </a:solidFill>
                  </a:tcPr>
                </a:tc>
                <a:tc>
                  <a:txBody>
                    <a:bodyPr/>
                    <a:lstStyle/>
                    <a:p>
                      <a:pPr algn="l"/>
                      <a:r>
                        <a:rPr sz="2200" b="0" i="0">
                          <a:solidFill>
                            <a:srgbClr val="FFFFFF"/>
                          </a:solidFill>
                          <a:latin typeface="Calibri"/>
                        </a:rPr>
                        <a:t>3,923</a:t>
                      </a:r>
                    </a:p>
                  </a:txBody>
                  <a:tcPr>
                    <a:solidFill>
                      <a:srgbClr val="0d1b2a"/>
                    </a:solidFill>
                  </a:tcPr>
                </a:tc>
                <a:tc>
                  <a:txBody>
                    <a:bodyPr/>
                    <a:lstStyle/>
                    <a:p>
                      <a:pPr algn="l"/>
                      <a:r>
                        <a:rPr sz="2200" b="0" i="0">
                          <a:solidFill>
                            <a:srgbClr val="4CAF50"/>
                          </a:solidFill>
                          <a:latin typeface="Calibri"/>
                        </a:rPr>
                        <a:t>95%</a:t>
                      </a:r>
                    </a:p>
                  </a:txBody>
                  <a:tcPr>
                    <a:solidFill>
                      <a:srgbClr val="0d1b2a"/>
                    </a:solidFill>
                  </a:tcPr>
                </a:tc>
                <a:tc>
                  <a:txBody>
                    <a:bodyPr/>
                    <a:lstStyle/>
                    <a:p>
                      <a:pPr algn="l"/>
                      <a:r>
                        <a:rPr sz="2200" b="0" i="0">
                          <a:solidFill>
                            <a:srgbClr val="FFFFFF"/>
                          </a:solidFill>
                          <a:latin typeface="Calibri"/>
                        </a:rPr>
                        <a:t>1,719</a:t>
                      </a:r>
                    </a:p>
                  </a:txBody>
                  <a:tcPr>
                    <a:solidFill>
                      <a:srgbClr val="0d1b2a"/>
                    </a:solidFill>
                  </a:tcPr>
                </a:tc>
                <a:tc>
                  <a:txBody>
                    <a:bodyPr/>
                    <a:lstStyle/>
                    <a:p>
                      <a:pPr algn="l"/>
                      <a:r>
                        <a:rPr sz="2200" b="0" i="0">
                          <a:solidFill>
                            <a:srgbClr val="FFFFFF"/>
                          </a:solidFill>
                          <a:latin typeface="Calibri"/>
                        </a:rPr>
                        <a:t>76%</a:t>
                      </a:r>
                    </a:p>
                  </a:txBody>
                  <a:tcPr>
                    <a:solidFill>
                      <a:srgbClr val="0d1b2a"/>
                    </a:solidFill>
                  </a:tcPr>
                </a:tc>
                <a:tc>
                  <a:txBody>
                    <a:bodyPr/>
                    <a:lstStyle/>
                    <a:p>
                      <a:pPr algn="l"/>
                      <a:r>
                        <a:rPr sz="2200" b="0" i="0">
                          <a:solidFill>
                            <a:srgbClr val="FFFFFF"/>
                          </a:solidFill>
                          <a:latin typeface="Calibri"/>
                        </a:rPr>
                        <a:t>  951</a:t>
                      </a:r>
                    </a:p>
                  </a:txBody>
                  <a:tcPr>
                    <a:solidFill>
                      <a:srgbClr val="0d1b2a"/>
                    </a:solidFill>
                  </a:tcPr>
                </a:tc>
                <a:tc>
                  <a:txBody>
                    <a:bodyPr/>
                    <a:lstStyle/>
                    <a:p>
                      <a:pPr algn="l"/>
                      <a:r>
                        <a:rPr sz="2200" b="0" i="0">
                          <a:solidFill>
                            <a:srgbClr val="FFFFFF"/>
                          </a:solidFill>
                          <a:latin typeface="Calibri"/>
                        </a:rPr>
                        <a:t>42%</a:t>
                      </a:r>
                    </a:p>
                  </a:txBody>
                  <a:tcPr>
                    <a:solidFill>
                      <a:srgbClr val="0d1b2a"/>
                    </a:solidFill>
                  </a:tcPr>
                </a:tc>
              </a:tr>
              <a:tr h="457200">
                <a:tc>
                  <a:txBody>
                    <a:bodyPr/>
                    <a:lstStyle/>
                    <a:p>
                      <a:pPr algn="l"/>
                      <a:r>
                        <a:rPr sz="2200" b="0" i="0">
                          <a:solidFill>
                            <a:srgbClr val="FF9800"/>
                          </a:solidFill>
                          <a:latin typeface="Calibri"/>
                        </a:rPr>
                        <a:t>Salvage .65-.82</a:t>
                      </a:r>
                    </a:p>
                  </a:txBody>
                  <a:tcPr>
                    <a:solidFill>
                      <a:srgbClr val="152a40"/>
                    </a:solidFill>
                  </a:tcPr>
                </a:tc>
                <a:tc>
                  <a:txBody>
                    <a:bodyPr/>
                    <a:lstStyle/>
                    <a:p>
                      <a:pPr algn="l"/>
                      <a:r>
                        <a:rPr sz="2200" b="0" i="0">
                          <a:solidFill>
                            <a:srgbClr val="FFFFFF"/>
                          </a:solidFill>
                          <a:latin typeface="Calibri"/>
                        </a:rPr>
                        <a:t>3,091</a:t>
                      </a:r>
                    </a:p>
                  </a:txBody>
                  <a:tcPr>
                    <a:solidFill>
                      <a:srgbClr val="152a40"/>
                    </a:solidFill>
                  </a:tcPr>
                </a:tc>
                <a:tc>
                  <a:txBody>
                    <a:bodyPr/>
                    <a:lstStyle/>
                    <a:p>
                      <a:pPr algn="l"/>
                      <a:r>
                        <a:rPr sz="2200" b="0" i="0">
                          <a:solidFill>
                            <a:srgbClr val="FFD54F"/>
                          </a:solidFill>
                          <a:latin typeface="Calibri"/>
                        </a:rPr>
                        <a:t>89%</a:t>
                      </a:r>
                    </a:p>
                  </a:txBody>
                  <a:tcPr>
                    <a:solidFill>
                      <a:srgbClr val="152a40"/>
                    </a:solidFill>
                  </a:tcPr>
                </a:tc>
                <a:tc>
                  <a:txBody>
                    <a:bodyPr/>
                    <a:lstStyle/>
                    <a:p>
                      <a:pPr algn="l"/>
                      <a:r>
                        <a:rPr sz="2200" b="0" i="0">
                          <a:solidFill>
                            <a:srgbClr val="FFFFFF"/>
                          </a:solidFill>
                          <a:latin typeface="Calibri"/>
                        </a:rPr>
                        <a:t>3,241</a:t>
                      </a:r>
                    </a:p>
                  </a:txBody>
                  <a:tcPr>
                    <a:solidFill>
                      <a:srgbClr val="152a40"/>
                    </a:solidFill>
                  </a:tcPr>
                </a:tc>
                <a:tc>
                  <a:txBody>
                    <a:bodyPr/>
                    <a:lstStyle/>
                    <a:p>
                      <a:pPr algn="l"/>
                      <a:r>
                        <a:rPr sz="2200" b="0" i="0">
                          <a:solidFill>
                            <a:srgbClr val="FFFFFF"/>
                          </a:solidFill>
                          <a:latin typeface="Calibri"/>
                        </a:rPr>
                        <a:t>60%</a:t>
                      </a:r>
                    </a:p>
                  </a:txBody>
                  <a:tcPr>
                    <a:solidFill>
                      <a:srgbClr val="152a40"/>
                    </a:solidFill>
                  </a:tcPr>
                </a:tc>
                <a:tc>
                  <a:txBody>
                    <a:bodyPr/>
                    <a:lstStyle/>
                    <a:p>
                      <a:pPr algn="l"/>
                      <a:r>
                        <a:rPr sz="2200" b="0" i="0">
                          <a:solidFill>
                            <a:srgbClr val="FFFFFF"/>
                          </a:solidFill>
                          <a:latin typeface="Calibri"/>
                        </a:rPr>
                        <a:t>3,442</a:t>
                      </a:r>
                    </a:p>
                  </a:txBody>
                  <a:tcPr>
                    <a:solidFill>
                      <a:srgbClr val="152a40"/>
                    </a:solidFill>
                  </a:tcPr>
                </a:tc>
                <a:tc>
                  <a:txBody>
                    <a:bodyPr/>
                    <a:lstStyle/>
                    <a:p>
                      <a:pPr algn="l"/>
                      <a:r>
                        <a:rPr sz="2200" b="0" i="0">
                          <a:solidFill>
                            <a:srgbClr val="FFFFFF"/>
                          </a:solidFill>
                          <a:latin typeface="Calibri"/>
                        </a:rPr>
                        <a:t>28%</a:t>
                      </a:r>
                    </a:p>
                  </a:txBody>
                  <a:tcPr>
                    <a:solidFill>
                      <a:srgbClr val="152a40"/>
                    </a:solidFill>
                  </a:tcPr>
                </a:tc>
              </a:tr>
              <a:tr h="457200">
                <a:tc>
                  <a:txBody>
                    <a:bodyPr/>
                    <a:lstStyle/>
                    <a:p>
                      <a:pPr algn="l"/>
                      <a:r>
                        <a:rPr sz="2200" b="0" i="0">
                          <a:solidFill>
                            <a:srgbClr val="B066D9"/>
                          </a:solidFill>
                          <a:latin typeface="Calibri"/>
                        </a:rPr>
                        <a:t>Strip (&lt;0.65)</a:t>
                      </a:r>
                    </a:p>
                  </a:txBody>
                  <a:tcPr>
                    <a:solidFill>
                      <a:srgbClr val="0d1b2a"/>
                    </a:solidFill>
                  </a:tcPr>
                </a:tc>
                <a:tc>
                  <a:txBody>
                    <a:bodyPr/>
                    <a:lstStyle/>
                    <a:p>
                      <a:pPr algn="l"/>
                      <a:r>
                        <a:rPr sz="2200" b="0" i="0">
                          <a:solidFill>
                            <a:srgbClr val="FFFFFF"/>
                          </a:solidFill>
                          <a:latin typeface="Calibri"/>
                        </a:rPr>
                        <a:t>  577</a:t>
                      </a:r>
                    </a:p>
                  </a:txBody>
                  <a:tcPr>
                    <a:solidFill>
                      <a:srgbClr val="0d1b2a"/>
                    </a:solidFill>
                  </a:tcPr>
                </a:tc>
                <a:tc>
                  <a:txBody>
                    <a:bodyPr/>
                    <a:lstStyle/>
                    <a:p>
                      <a:pPr algn="l"/>
                      <a:r>
                        <a:rPr sz="2200" b="0" i="0">
                          <a:solidFill>
                            <a:srgbClr val="E06C75"/>
                          </a:solidFill>
                          <a:latin typeface="Calibri"/>
                        </a:rPr>
                        <a:t>56%</a:t>
                      </a:r>
                    </a:p>
                  </a:txBody>
                  <a:tcPr>
                    <a:solidFill>
                      <a:srgbClr val="0d1b2a"/>
                    </a:solidFill>
                  </a:tcPr>
                </a:tc>
                <a:tc>
                  <a:txBody>
                    <a:bodyPr/>
                    <a:lstStyle/>
                    <a:p>
                      <a:pPr algn="l"/>
                      <a:r>
                        <a:rPr sz="2200" b="0" i="0">
                          <a:solidFill>
                            <a:srgbClr val="FFFFFF"/>
                          </a:solidFill>
                          <a:latin typeface="Calibri"/>
                        </a:rPr>
                        <a:t>1,611</a:t>
                      </a:r>
                    </a:p>
                  </a:txBody>
                  <a:tcPr>
                    <a:solidFill>
                      <a:srgbClr val="0d1b2a"/>
                    </a:solidFill>
                  </a:tcPr>
                </a:tc>
                <a:tc>
                  <a:txBody>
                    <a:bodyPr/>
                    <a:lstStyle/>
                    <a:p>
                      <a:pPr algn="l"/>
                      <a:r>
                        <a:rPr sz="2200" b="0" i="0">
                          <a:solidFill>
                            <a:srgbClr val="FFFFFF"/>
                          </a:solidFill>
                          <a:latin typeface="Calibri"/>
                        </a:rPr>
                        <a:t>38%</a:t>
                      </a:r>
                    </a:p>
                  </a:txBody>
                  <a:tcPr>
                    <a:solidFill>
                      <a:srgbClr val="0d1b2a"/>
                    </a:solidFill>
                  </a:tcPr>
                </a:tc>
                <a:tc>
                  <a:txBody>
                    <a:bodyPr/>
                    <a:lstStyle/>
                    <a:p>
                      <a:pPr algn="l"/>
                      <a:r>
                        <a:rPr sz="2200" b="0" i="0">
                          <a:solidFill>
                            <a:srgbClr val="FFFFFF"/>
                          </a:solidFill>
                          <a:latin typeface="Calibri"/>
                        </a:rPr>
                        <a:t>4,706</a:t>
                      </a:r>
                    </a:p>
                  </a:txBody>
                  <a:tcPr>
                    <a:solidFill>
                      <a:srgbClr val="0d1b2a"/>
                    </a:solidFill>
                  </a:tcPr>
                </a:tc>
                <a:tc>
                  <a:txBody>
                    <a:bodyPr/>
                    <a:lstStyle/>
                    <a:p>
                      <a:pPr algn="l"/>
                      <a:r>
                        <a:rPr sz="2200" b="0" i="0">
                          <a:solidFill>
                            <a:srgbClr val="FFFFFF"/>
                          </a:solidFill>
                          <a:latin typeface="Calibri"/>
                        </a:rPr>
                        <a:t>13%</a:t>
                      </a:r>
                    </a:p>
                  </a:txBody>
                  <a:tcPr>
                    <a:solidFill>
                      <a:srgbClr val="0d1b2a"/>
                    </a:solidFill>
                  </a:tcPr>
                </a:tc>
              </a:tr>
            </a:tbl>
          </a:graphicData>
        </a:graphic>
      </p:graphicFrame>
      <p:sp>
        <p:nvSpPr>
          <p:cNvPr id="6" name="TextBox 5"/>
          <p:cNvSpPr txBox="1"/>
          <p:nvPr/>
        </p:nvSpPr>
        <p:spPr>
          <a:xfrm>
            <a:off x="548640" y="4251960"/>
            <a:ext cx="5486400" cy="320040"/>
          </a:xfrm>
          <a:prstGeom prst="rect">
            <a:avLst/>
          </a:prstGeom>
          <a:noFill/>
        </p:spPr>
        <p:txBody>
          <a:bodyPr wrap="square" anchor="t"/>
          <a:lstStyle/>
          <a:p>
            <a:pPr algn="l"/>
            <a:r>
              <a:rPr sz="2200" b="1" i="0">
                <a:solidFill>
                  <a:srgbClr val="00B4D8"/>
                </a:solidFill>
                <a:latin typeface="Calibri"/>
              </a:rPr>
              <a:t>WHAT THE NUMBERS SAY</a:t>
            </a:r>
          </a:p>
        </p:txBody>
      </p:sp>
      <p:sp>
        <p:nvSpPr>
          <p:cNvPr id="7" name="TextBox 6"/>
          <p:cNvSpPr txBox="1"/>
          <p:nvPr/>
        </p:nvSpPr>
        <p:spPr>
          <a:xfrm>
            <a:off x="548640" y="4617720"/>
            <a:ext cx="5486400" cy="1691640"/>
          </a:xfrm>
          <a:prstGeom prst="rect">
            <a:avLst/>
          </a:prstGeom>
          <a:noFill/>
        </p:spPr>
        <p:txBody>
          <a:bodyPr wrap="square">
            <a:spAutoFit/>
          </a:bodyPr>
          <a:lstStyle/>
          <a:p>
            <a:pPr algn="l">
              <a:spcAft>
                <a:spcPts val="600"/>
              </a:spcAft>
            </a:pPr>
            <a:r>
              <a:rPr sz="2200" b="1">
                <a:solidFill>
                  <a:srgbClr val="00B4D8"/>
                </a:solidFill>
                <a:latin typeface="Calibri"/>
              </a:rPr>
              <a:t>• </a:t>
            </a:r>
            <a:r>
              <a:rPr sz="2200" b="1">
                <a:solidFill>
                  <a:srgbClr val="4F8FF7"/>
                </a:solidFill>
                <a:latin typeface="Calibri"/>
              </a:rPr>
              <a:t>Trust (&gt;=0.82): green 95% reliable.</a:t>
            </a:r>
          </a:p>
          <a:p>
            <a:pPr algn="l">
              <a:spcAft>
                <a:spcPts val="600"/>
              </a:spcAft>
            </a:pPr>
            <a:r>
              <a:rPr sz="2200" b="1">
                <a:solidFill>
                  <a:srgbClr val="00B4D8"/>
                </a:solidFill>
                <a:latin typeface="Calibri"/>
              </a:rPr>
              <a:t>• </a:t>
            </a:r>
            <a:r>
              <a:rPr sz="2200" b="0">
                <a:solidFill>
                  <a:srgbClr val="FF9800"/>
                </a:solidFill>
                <a:latin typeface="Calibri"/>
              </a:rPr>
              <a:t>Salvage .65-.82: green 89%, review.</a:t>
            </a:r>
          </a:p>
          <a:p>
            <a:pPr algn="l">
              <a:spcAft>
                <a:spcPts val="600"/>
              </a:spcAft>
            </a:pPr>
            <a:r>
              <a:rPr sz="2200" b="1">
                <a:solidFill>
                  <a:srgbClr val="00B4D8"/>
                </a:solidFill>
                <a:latin typeface="Calibri"/>
              </a:rPr>
              <a:t>• </a:t>
            </a:r>
            <a:r>
              <a:rPr sz="2200" b="1">
                <a:solidFill>
                  <a:srgbClr val="B066D9"/>
                </a:solidFill>
                <a:latin typeface="Calibri"/>
              </a:rPr>
              <a:t>Strip (&lt;0.65): green 56%, misleads.</a:t>
            </a:r>
          </a:p>
        </p:txBody>
      </p:sp>
      <p:sp>
        <p:nvSpPr>
          <p:cNvPr id="8" name="TextBox 7"/>
          <p:cNvSpPr txBox="1"/>
          <p:nvPr/>
        </p:nvSpPr>
        <p:spPr>
          <a:xfrm>
            <a:off x="6309360" y="4251960"/>
            <a:ext cx="5330952" cy="320040"/>
          </a:xfrm>
          <a:prstGeom prst="rect">
            <a:avLst/>
          </a:prstGeom>
          <a:noFill/>
        </p:spPr>
        <p:txBody>
          <a:bodyPr wrap="square" anchor="t"/>
          <a:lstStyle/>
          <a:p>
            <a:pPr algn="l"/>
            <a:r>
              <a:rPr sz="2200" b="1" i="0">
                <a:solidFill>
                  <a:srgbClr val="FFD54F"/>
                </a:solidFill>
                <a:latin typeface="Calibri"/>
              </a:rPr>
              <a:t>HOW THE TIERS ARE USED</a:t>
            </a:r>
          </a:p>
        </p:txBody>
      </p:sp>
      <p:sp>
        <p:nvSpPr>
          <p:cNvPr id="9" name="TextBox 8"/>
          <p:cNvSpPr txBox="1"/>
          <p:nvPr/>
        </p:nvSpPr>
        <p:spPr>
          <a:xfrm>
            <a:off x="6309360" y="4617720"/>
            <a:ext cx="5330952" cy="1691640"/>
          </a:xfrm>
          <a:prstGeom prst="rect">
            <a:avLst/>
          </a:prstGeom>
          <a:noFill/>
        </p:spPr>
        <p:txBody>
          <a:bodyPr wrap="square">
            <a:spAutoFit/>
          </a:bodyPr>
          <a:lstStyle/>
          <a:p>
            <a:pPr algn="l">
              <a:spcAft>
                <a:spcPts val="600"/>
              </a:spcAft>
            </a:pPr>
            <a:r>
              <a:rPr sz="2200" b="1">
                <a:solidFill>
                  <a:srgbClr val="00B4D8"/>
                </a:solidFill>
                <a:latin typeface="Calibri"/>
              </a:rPr>
              <a:t>• </a:t>
            </a:r>
            <a:r>
              <a:rPr sz="2200" b="0">
                <a:solidFill>
                  <a:srgbClr val="FFFFFF"/>
                </a:solidFill>
                <a:latin typeface="Calibri"/>
              </a:rPr>
              <a:t>Post-hoc: no re-decode required</a:t>
            </a:r>
          </a:p>
          <a:p>
            <a:pPr algn="l">
              <a:spcAft>
                <a:spcPts val="600"/>
              </a:spcAft>
            </a:pPr>
            <a:r>
              <a:rPr sz="2200" b="1">
                <a:solidFill>
                  <a:srgbClr val="00B4D8"/>
                </a:solidFill>
                <a:latin typeface="Calibri"/>
              </a:rPr>
              <a:t>• </a:t>
            </a:r>
            <a:r>
              <a:rPr sz="2200" b="0">
                <a:solidFill>
                  <a:srgbClr val="FFFFFF"/>
                </a:solidFill>
                <a:latin typeface="Calibri"/>
              </a:rPr>
              <a:t>Feeds client UI threshold knob</a:t>
            </a:r>
          </a:p>
          <a:p>
            <a:pPr algn="l">
              <a:spcAft>
                <a:spcPts val="600"/>
              </a:spcAft>
            </a:pPr>
            <a:r>
              <a:rPr sz="2200" b="1">
                <a:solidFill>
                  <a:srgbClr val="00B4D8"/>
                </a:solidFill>
                <a:latin typeface="Calibri"/>
              </a:rPr>
              <a:t>• </a:t>
            </a:r>
            <a:r>
              <a:rPr sz="2200" b="1">
                <a:solidFill>
                  <a:srgbClr val="FFFFFF"/>
                </a:solidFill>
                <a:latin typeface="Calibri"/>
              </a:rPr>
              <a:t>Red P(correct) stays low across tiers (42/28/13%)</a:t>
            </a:r>
          </a:p>
        </p:txBody>
      </p:sp>
      <p:pic>
        <p:nvPicPr>
          <p:cNvPr id="10" name="Picture 9"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12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Green Reliability vs Segment Quality — the 0.65 Cliff</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365760"/>
          </a:xfrm>
          <a:prstGeom prst="rect">
            <a:avLst/>
          </a:prstGeom>
          <a:noFill/>
        </p:spPr>
        <p:txBody>
          <a:bodyPr wrap="square" anchor="t"/>
          <a:lstStyle/>
          <a:p>
            <a:pPr algn="l"/>
            <a:r>
              <a:rPr sz="1800" b="0" i="1">
                <a:solidFill>
                  <a:srgbClr val="AAAAAA"/>
                </a:solidFill>
                <a:latin typeface="Calibri"/>
              </a:rPr>
              <a:t>P(correct | green) stratified by segment confidence m. Green ranges from 96% (high-m segments) to 18% (low-m). Strip boundary at m &lt; 0.65.</a:t>
            </a:r>
          </a:p>
        </p:txBody>
      </p:sp>
      <p:pic>
        <p:nvPicPr>
          <p:cNvPr id="5" name="Picture 4" descr="P_band_reliability_stratified.png"/>
          <p:cNvPicPr>
            <a:picLocks noChangeAspect="1"/>
          </p:cNvPicPr>
          <p:nvPr/>
        </p:nvPicPr>
        <p:blipFill>
          <a:blip r:embed="rId2"/>
          <a:stretch>
            <a:fillRect/>
          </a:stretch>
        </p:blipFill>
        <p:spPr>
          <a:xfrm>
            <a:off x="548640" y="1783080"/>
            <a:ext cx="6949440" cy="3886200"/>
          </a:xfrm>
          <a:prstGeom prst="rect">
            <a:avLst/>
          </a:prstGeom>
        </p:spPr>
      </p:pic>
      <p:sp>
        <p:nvSpPr>
          <p:cNvPr id="6" name="TextBox 5"/>
          <p:cNvSpPr txBox="1"/>
          <p:nvPr/>
        </p:nvSpPr>
        <p:spPr>
          <a:xfrm>
            <a:off x="7680960" y="1783080"/>
            <a:ext cx="3959352" cy="320040"/>
          </a:xfrm>
          <a:prstGeom prst="rect">
            <a:avLst/>
          </a:prstGeom>
          <a:noFill/>
        </p:spPr>
        <p:txBody>
          <a:bodyPr wrap="square" anchor="t"/>
          <a:lstStyle/>
          <a:p>
            <a:pPr algn="l"/>
            <a:r>
              <a:rPr sz="2000" b="1" i="0">
                <a:solidFill>
                  <a:srgbClr val="4F8FF7"/>
                </a:solidFill>
                <a:latin typeface="Calibri"/>
              </a:rPr>
              <a:t>Stratified P(green | bin)</a:t>
            </a:r>
          </a:p>
        </p:txBody>
      </p:sp>
      <p:graphicFrame>
        <p:nvGraphicFramePr>
          <p:cNvPr id="7" name="Table 6"/>
          <p:cNvGraphicFramePr>
            <a:graphicFrameLocks noGrp="1"/>
          </p:cNvGraphicFramePr>
          <p:nvPr/>
        </p:nvGraphicFramePr>
        <p:xfrm>
          <a:off x="7680960" y="2103120"/>
          <a:ext cx="3959352" cy="1463040"/>
        </p:xfrm>
        <a:graphic>
          <a:graphicData uri="http://schemas.openxmlformats.org/drawingml/2006/table">
            <a:tbl>
              <a:tblPr firstRow="0" bandRow="0" lastRow="0" bandCol="0">
                <a:tableStyleId>{5C22544A-7EE6-4342-B048-85BDC9FD1C3A}</a:tableStyleId>
              </a:tblPr>
              <a:tblGrid>
                <a:gridCol w="1979676"/>
                <a:gridCol w="1979676"/>
              </a:tblGrid>
              <a:tr h="365760">
                <a:tc>
                  <a:txBody>
                    <a:bodyPr/>
                    <a:lstStyle/>
                    <a:p>
                      <a:pPr algn="ctr"/>
                      <a:r>
                        <a:rPr sz="2000" b="1" i="0">
                          <a:solidFill>
                            <a:srgbClr val="FFFFFF"/>
                          </a:solidFill>
                          <a:latin typeface="Calibri"/>
                        </a:rPr>
                        <a:t>m</a:t>
                      </a:r>
                    </a:p>
                  </a:txBody>
                  <a:tcPr>
                    <a:solidFill>
                      <a:srgbClr val="00b4d8"/>
                    </a:solidFill>
                  </a:tcPr>
                </a:tc>
                <a:tc>
                  <a:txBody>
                    <a:bodyPr/>
                    <a:lstStyle/>
                    <a:p>
                      <a:pPr algn="ctr"/>
                      <a:r>
                        <a:rPr sz="2000" b="1" i="0">
                          <a:solidFill>
                            <a:srgbClr val="FFFFFF"/>
                          </a:solidFill>
                          <a:latin typeface="Calibri"/>
                        </a:rPr>
                        <a:t>P(green correct)</a:t>
                      </a:r>
                    </a:p>
                  </a:txBody>
                  <a:tcPr>
                    <a:solidFill>
                      <a:srgbClr val="00b4d8"/>
                    </a:solidFill>
                  </a:tcPr>
                </a:tc>
              </a:tr>
              <a:tr h="365760">
                <a:tc>
                  <a:txBody>
                    <a:bodyPr/>
                    <a:lstStyle/>
                    <a:p>
                      <a:pPr algn="l"/>
                      <a:r>
                        <a:rPr sz="2000" b="0" i="0">
                          <a:solidFill>
                            <a:srgbClr val="FFFFFF"/>
                          </a:solidFill>
                          <a:latin typeface="Calibri"/>
                        </a:rPr>
                        <a:t>≥0.85</a:t>
                      </a:r>
                    </a:p>
                  </a:txBody>
                  <a:tcPr>
                    <a:solidFill>
                      <a:srgbClr val="0d1b2a"/>
                    </a:solidFill>
                  </a:tcPr>
                </a:tc>
                <a:tc>
                  <a:txBody>
                    <a:bodyPr/>
                    <a:lstStyle/>
                    <a:p>
                      <a:pPr algn="l"/>
                      <a:r>
                        <a:rPr sz="2000" b="0" i="0">
                          <a:solidFill>
                            <a:srgbClr val="FFFFFF"/>
                          </a:solidFill>
                          <a:latin typeface="Calibri"/>
                        </a:rPr>
                        <a:t>96%</a:t>
                      </a:r>
                    </a:p>
                  </a:txBody>
                  <a:tcPr>
                    <a:solidFill>
                      <a:srgbClr val="0d1b2a"/>
                    </a:solidFill>
                  </a:tcPr>
                </a:tc>
              </a:tr>
              <a:tr h="365760">
                <a:tc>
                  <a:txBody>
                    <a:bodyPr/>
                    <a:lstStyle/>
                    <a:p>
                      <a:pPr algn="l"/>
                      <a:r>
                        <a:rPr sz="2000" b="0" i="0">
                          <a:solidFill>
                            <a:srgbClr val="FFFFFF"/>
                          </a:solidFill>
                          <a:latin typeface="Calibri"/>
                        </a:rPr>
                        <a:t>0.75–0.85</a:t>
                      </a:r>
                    </a:p>
                  </a:txBody>
                  <a:tcPr>
                    <a:solidFill>
                      <a:srgbClr val="152a40"/>
                    </a:solidFill>
                  </a:tcPr>
                </a:tc>
                <a:tc>
                  <a:txBody>
                    <a:bodyPr/>
                    <a:lstStyle/>
                    <a:p>
                      <a:pPr algn="l"/>
                      <a:r>
                        <a:rPr sz="2000" b="0" i="0">
                          <a:solidFill>
                            <a:srgbClr val="FFFFFF"/>
                          </a:solidFill>
                          <a:latin typeface="Calibri"/>
                        </a:rPr>
                        <a:t>92%</a:t>
                      </a:r>
                    </a:p>
                  </a:txBody>
                  <a:tcPr>
                    <a:solidFill>
                      <a:srgbClr val="152a40"/>
                    </a:solidFill>
                  </a:tcPr>
                </a:tc>
              </a:tr>
              <a:tr h="365760">
                <a:tc>
                  <a:txBody>
                    <a:bodyPr/>
                    <a:lstStyle/>
                    <a:p>
                      <a:pPr algn="l"/>
                      <a:r>
                        <a:rPr sz="2000" b="0" i="0">
                          <a:solidFill>
                            <a:srgbClr val="FFFFFF"/>
                          </a:solidFill>
                          <a:latin typeface="Calibri"/>
                        </a:rPr>
                        <a:t>0.65–0.75</a:t>
                      </a:r>
                    </a:p>
                  </a:txBody>
                  <a:tcPr>
                    <a:solidFill>
                      <a:srgbClr val="0d1b2a"/>
                    </a:solidFill>
                  </a:tcPr>
                </a:tc>
                <a:tc>
                  <a:txBody>
                    <a:bodyPr/>
                    <a:lstStyle/>
                    <a:p>
                      <a:pPr algn="l"/>
                      <a:r>
                        <a:rPr sz="2000" b="0" i="0">
                          <a:solidFill>
                            <a:srgbClr val="FFFFFF"/>
                          </a:solidFill>
                          <a:latin typeface="Calibri"/>
                        </a:rPr>
                        <a:t>86%</a:t>
                      </a:r>
                    </a:p>
                  </a:txBody>
                  <a:tcPr>
                    <a:solidFill>
                      <a:srgbClr val="0d1b2a"/>
                    </a:solidFill>
                  </a:tcPr>
                </a:tc>
              </a:tr>
            </a:tbl>
          </a:graphicData>
        </a:graphic>
      </p:graphicFrame>
      <p:sp>
        <p:nvSpPr>
          <p:cNvPr id="8" name="TextBox 7"/>
          <p:cNvSpPr txBox="1"/>
          <p:nvPr/>
        </p:nvSpPr>
        <p:spPr>
          <a:xfrm>
            <a:off x="7680960" y="4069080"/>
            <a:ext cx="3959352" cy="1691640"/>
          </a:xfrm>
          <a:prstGeom prst="rect">
            <a:avLst/>
          </a:prstGeom>
          <a:noFill/>
        </p:spPr>
        <p:txBody>
          <a:bodyPr wrap="square" anchor="t"/>
          <a:lstStyle/>
          <a:p>
            <a:pPr algn="l"/>
            <a:r>
              <a:rPr sz="1800" b="0" i="0">
                <a:solidFill>
                  <a:srgbClr val="AAAAAA"/>
                </a:solidFill>
                <a:latin typeface="Calibri"/>
              </a:rPr>
              <a:t>Below 0.65 (legacy rule only):</a:t>
            </a:r>
            <a:br/>
            <a:r>
              <a:rPr sz="1800" b="0" i="0">
                <a:solidFill>
                  <a:srgbClr val="AAAAAA"/>
                </a:solidFill>
                <a:latin typeface="Calibri"/>
              </a:rPr>
              <a:t>0.55-0.65: 41%</a:t>
            </a:r>
            <a:br/>
            <a:r>
              <a:rPr sz="1800" b="0" i="0">
                <a:solidFill>
                  <a:srgbClr val="AAAAAA"/>
                </a:solidFill>
                <a:latin typeface="Calibri"/>
              </a:rPr>
              <a:t>0.40-0.55: 22%</a:t>
            </a:r>
            <a:br/>
            <a:r>
              <a:rPr sz="1800" b="0" i="0">
                <a:solidFill>
                  <a:srgbClr val="AAAAAA"/>
                </a:solidFill>
                <a:latin typeface="Calibri"/>
              </a:rPr>
              <a:t>&lt;0.40:    18%</a:t>
            </a:r>
          </a:p>
        </p:txBody>
      </p:sp>
      <p:sp>
        <p:nvSpPr>
          <p:cNvPr id="9" name="TextBox 8"/>
          <p:cNvSpPr txBox="1"/>
          <p:nvPr/>
        </p:nvSpPr>
        <p:spPr>
          <a:xfrm>
            <a:off x="548640" y="5596128"/>
            <a:ext cx="11091672" cy="795528"/>
          </a:xfrm>
          <a:prstGeom prst="rect">
            <a:avLst/>
          </a:prstGeom>
          <a:noFill/>
        </p:spPr>
        <p:txBody>
          <a:bodyPr wrap="square" anchor="t"/>
          <a:lstStyle/>
          <a:p>
            <a:pPr algn="ctr"/>
            <a:r>
              <a:rPr sz="2000" b="0" i="1">
                <a:solidFill>
                  <a:srgbClr val="00B4D8"/>
                </a:solidFill>
                <a:latin typeface="Calibri"/>
              </a:rPr>
              <a:t>Green reliability is conditional on segment quality — the strip boundary lives at 0.65.</a:t>
            </a:r>
          </a:p>
        </p:txBody>
      </p:sp>
      <p:pic>
        <p:nvPicPr>
          <p:cNvPr id="10" name="Picture 9"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Joint Rule vs Legacy: How Band Counts Shifted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57200"/>
          </a:xfrm>
          <a:prstGeom prst="rect">
            <a:avLst/>
          </a:prstGeom>
          <a:noFill/>
        </p:spPr>
        <p:txBody>
          <a:bodyPr wrap="square" anchor="t"/>
          <a:lstStyle/>
          <a:p>
            <a:pPr algn="l"/>
            <a:r>
              <a:rPr sz="1800" b="0" i="1">
                <a:solidFill>
                  <a:srgbClr val="AAAAAA"/>
                </a:solidFill>
                <a:latin typeface="Calibri"/>
              </a:rPr>
              <a:t>Total per-word judgments: 23,261 across 1,427 segments. Joint rule: p₁ ≥ 0.95 AND α ≥ 0.80; legacy: conf only.</a:t>
            </a:r>
          </a:p>
        </p:txBody>
      </p:sp>
      <p:graphicFrame>
        <p:nvGraphicFramePr>
          <p:cNvPr id="5" name="Table 4"/>
          <p:cNvGraphicFramePr>
            <a:graphicFrameLocks noGrp="1"/>
          </p:cNvGraphicFramePr>
          <p:nvPr/>
        </p:nvGraphicFramePr>
        <p:xfrm>
          <a:off x="548640" y="1965960"/>
          <a:ext cx="10972800" cy="2011680"/>
        </p:xfrm>
        <a:graphic>
          <a:graphicData uri="http://schemas.openxmlformats.org/drawingml/2006/table">
            <a:tbl>
              <a:tblPr firstRow="0" bandRow="0" lastRow="0" bandCol="0">
                <a:tableStyleId>{5C22544A-7EE6-4342-B048-85BDC9FD1C3A}</a:tableStyleId>
              </a:tblPr>
              <a:tblGrid>
                <a:gridCol w="1828800"/>
                <a:gridCol w="2286000"/>
                <a:gridCol w="2286000"/>
                <a:gridCol w="2286000"/>
                <a:gridCol w="2286000"/>
              </a:tblGrid>
              <a:tr h="502920">
                <a:tc>
                  <a:txBody>
                    <a:bodyPr/>
                    <a:lstStyle/>
                    <a:p>
                      <a:pPr algn="ctr"/>
                      <a:r>
                        <a:rPr sz="2400" b="1" i="0">
                          <a:solidFill>
                            <a:srgbClr val="FFFFFF"/>
                          </a:solidFill>
                          <a:latin typeface="Calibri"/>
                        </a:rPr>
                        <a:t>Band</a:t>
                      </a:r>
                    </a:p>
                  </a:txBody>
                  <a:tcPr>
                    <a:solidFill>
                      <a:srgbClr val="00b4d8"/>
                    </a:solidFill>
                  </a:tcPr>
                </a:tc>
                <a:tc>
                  <a:txBody>
                    <a:bodyPr/>
                    <a:lstStyle/>
                    <a:p>
                      <a:pPr algn="ctr"/>
                      <a:r>
                        <a:rPr sz="2400" b="1" i="0">
                          <a:solidFill>
                            <a:srgbClr val="FFFFFF"/>
                          </a:solidFill>
                          <a:latin typeface="Calibri"/>
                        </a:rPr>
                        <a:t>JOINT n</a:t>
                      </a:r>
                    </a:p>
                  </a:txBody>
                  <a:tcPr>
                    <a:solidFill>
                      <a:srgbClr val="00b4d8"/>
                    </a:solidFill>
                  </a:tcPr>
                </a:tc>
                <a:tc>
                  <a:txBody>
                    <a:bodyPr/>
                    <a:lstStyle/>
                    <a:p>
                      <a:pPr algn="ctr"/>
                      <a:r>
                        <a:rPr sz="2400" b="1" i="0">
                          <a:solidFill>
                            <a:srgbClr val="FFFFFF"/>
                          </a:solidFill>
                          <a:latin typeface="Calibri"/>
                        </a:rPr>
                        <a:t>JOINT %</a:t>
                      </a:r>
                    </a:p>
                  </a:txBody>
                  <a:tcPr>
                    <a:solidFill>
                      <a:srgbClr val="00b4d8"/>
                    </a:solidFill>
                  </a:tcPr>
                </a:tc>
                <a:tc>
                  <a:txBody>
                    <a:bodyPr/>
                    <a:lstStyle/>
                    <a:p>
                      <a:pPr algn="ctr"/>
                      <a:r>
                        <a:rPr sz="2400" b="1" i="0">
                          <a:solidFill>
                            <a:srgbClr val="FFFFFF"/>
                          </a:solidFill>
                          <a:latin typeface="Calibri"/>
                        </a:rPr>
                        <a:t>LEGACY n</a:t>
                      </a:r>
                    </a:p>
                  </a:txBody>
                  <a:tcPr>
                    <a:solidFill>
                      <a:srgbClr val="00b4d8"/>
                    </a:solidFill>
                  </a:tcPr>
                </a:tc>
                <a:tc>
                  <a:txBody>
                    <a:bodyPr/>
                    <a:lstStyle/>
                    <a:p>
                      <a:pPr algn="ctr"/>
                      <a:r>
                        <a:rPr sz="2400" b="1" i="0">
                          <a:solidFill>
                            <a:srgbClr val="FFFFFF"/>
                          </a:solidFill>
                          <a:latin typeface="Calibri"/>
                        </a:rPr>
                        <a:t>LEGACY %</a:t>
                      </a:r>
                    </a:p>
                  </a:txBody>
                  <a:tcPr>
                    <a:solidFill>
                      <a:srgbClr val="00b4d8"/>
                    </a:solidFill>
                  </a:tcPr>
                </a:tc>
              </a:tr>
              <a:tr h="502920">
                <a:tc>
                  <a:txBody>
                    <a:bodyPr/>
                    <a:lstStyle/>
                    <a:p>
                      <a:pPr algn="l"/>
                      <a:r>
                        <a:rPr sz="2400" b="0" i="0">
                          <a:solidFill>
                            <a:srgbClr val="4F8FF7"/>
                          </a:solidFill>
                          <a:latin typeface="Calibri"/>
                        </a:rPr>
                        <a:t>Green</a:t>
                      </a:r>
                    </a:p>
                  </a:txBody>
                  <a:tcPr>
                    <a:solidFill>
                      <a:srgbClr val="0d1b2a"/>
                    </a:solidFill>
                  </a:tcPr>
                </a:tc>
                <a:tc>
                  <a:txBody>
                    <a:bodyPr/>
                    <a:lstStyle/>
                    <a:p>
                      <a:pPr algn="l"/>
                      <a:r>
                        <a:rPr sz="2400" b="0" i="0">
                          <a:solidFill>
                            <a:srgbClr val="4F8FF7"/>
                          </a:solidFill>
                          <a:latin typeface="Calibri"/>
                        </a:rPr>
                        <a:t>7,591</a:t>
                      </a:r>
                    </a:p>
                  </a:txBody>
                  <a:tcPr>
                    <a:solidFill>
                      <a:srgbClr val="0d1b2a"/>
                    </a:solidFill>
                  </a:tcPr>
                </a:tc>
                <a:tc>
                  <a:txBody>
                    <a:bodyPr/>
                    <a:lstStyle/>
                    <a:p>
                      <a:pPr algn="l"/>
                      <a:r>
                        <a:rPr sz="2400" b="0" i="0">
                          <a:solidFill>
                            <a:srgbClr val="FFFFFF"/>
                          </a:solidFill>
                          <a:latin typeface="Calibri"/>
                        </a:rPr>
                        <a:t>33%</a:t>
                      </a:r>
                    </a:p>
                  </a:txBody>
                  <a:tcPr>
                    <a:solidFill>
                      <a:srgbClr val="0d1b2a"/>
                    </a:solidFill>
                  </a:tcPr>
                </a:tc>
                <a:tc>
                  <a:txBody>
                    <a:bodyPr/>
                    <a:lstStyle/>
                    <a:p>
                      <a:pPr algn="l"/>
                      <a:r>
                        <a:rPr sz="2400" b="0" i="0">
                          <a:solidFill>
                            <a:srgbClr val="4F8FF7"/>
                          </a:solidFill>
                          <a:latin typeface="Calibri"/>
                        </a:rPr>
                        <a:t>11,309</a:t>
                      </a:r>
                    </a:p>
                  </a:txBody>
                  <a:tcPr>
                    <a:solidFill>
                      <a:srgbClr val="0d1b2a"/>
                    </a:solidFill>
                  </a:tcPr>
                </a:tc>
                <a:tc>
                  <a:txBody>
                    <a:bodyPr/>
                    <a:lstStyle/>
                    <a:p>
                      <a:pPr algn="l"/>
                      <a:r>
                        <a:rPr sz="2400" b="0" i="0">
                          <a:solidFill>
                            <a:srgbClr val="FFFFFF"/>
                          </a:solidFill>
                          <a:latin typeface="Calibri"/>
                        </a:rPr>
                        <a:t>49%</a:t>
                      </a:r>
                    </a:p>
                  </a:txBody>
                  <a:tcPr>
                    <a:solidFill>
                      <a:srgbClr val="0d1b2a"/>
                    </a:solidFill>
                  </a:tcPr>
                </a:tc>
              </a:tr>
              <a:tr h="502920">
                <a:tc>
                  <a:txBody>
                    <a:bodyPr/>
                    <a:lstStyle/>
                    <a:p>
                      <a:pPr algn="l"/>
                      <a:r>
                        <a:rPr sz="2400" b="0" i="0">
                          <a:solidFill>
                            <a:srgbClr val="FF9800"/>
                          </a:solidFill>
                          <a:latin typeface="Calibri"/>
                        </a:rPr>
                        <a:t>Yellow</a:t>
                      </a:r>
                    </a:p>
                  </a:txBody>
                  <a:tcPr>
                    <a:solidFill>
                      <a:srgbClr val="152a40"/>
                    </a:solidFill>
                  </a:tcPr>
                </a:tc>
                <a:tc>
                  <a:txBody>
                    <a:bodyPr/>
                    <a:lstStyle/>
                    <a:p>
                      <a:pPr algn="l"/>
                      <a:r>
                        <a:rPr sz="2400" b="0" i="0">
                          <a:solidFill>
                            <a:srgbClr val="FF9800"/>
                          </a:solidFill>
                          <a:latin typeface="Calibri"/>
                        </a:rPr>
                        <a:t>6,571</a:t>
                      </a:r>
                    </a:p>
                  </a:txBody>
                  <a:tcPr>
                    <a:solidFill>
                      <a:srgbClr val="152a40"/>
                    </a:solidFill>
                  </a:tcPr>
                </a:tc>
                <a:tc>
                  <a:txBody>
                    <a:bodyPr/>
                    <a:lstStyle/>
                    <a:p>
                      <a:pPr algn="l"/>
                      <a:r>
                        <a:rPr sz="2400" b="0" i="0">
                          <a:solidFill>
                            <a:srgbClr val="FFFFFF"/>
                          </a:solidFill>
                          <a:latin typeface="Calibri"/>
                        </a:rPr>
                        <a:t>28%</a:t>
                      </a:r>
                    </a:p>
                  </a:txBody>
                  <a:tcPr>
                    <a:solidFill>
                      <a:srgbClr val="152a40"/>
                    </a:solidFill>
                  </a:tcPr>
                </a:tc>
                <a:tc>
                  <a:txBody>
                    <a:bodyPr/>
                    <a:lstStyle/>
                    <a:p>
                      <a:pPr algn="l"/>
                      <a:r>
                        <a:rPr sz="2400" b="0" i="0">
                          <a:solidFill>
                            <a:srgbClr val="FF9800"/>
                          </a:solidFill>
                          <a:latin typeface="Calibri"/>
                        </a:rPr>
                        <a:t>7,470</a:t>
                      </a:r>
                    </a:p>
                  </a:txBody>
                  <a:tcPr>
                    <a:solidFill>
                      <a:srgbClr val="152a40"/>
                    </a:solidFill>
                  </a:tcPr>
                </a:tc>
                <a:tc>
                  <a:txBody>
                    <a:bodyPr/>
                    <a:lstStyle/>
                    <a:p>
                      <a:pPr algn="l"/>
                      <a:r>
                        <a:rPr sz="2400" b="0" i="0">
                          <a:solidFill>
                            <a:srgbClr val="FFFFFF"/>
                          </a:solidFill>
                          <a:latin typeface="Calibri"/>
                        </a:rPr>
                        <a:t>32%</a:t>
                      </a:r>
                    </a:p>
                  </a:txBody>
                  <a:tcPr>
                    <a:solidFill>
                      <a:srgbClr val="152a40"/>
                    </a:solidFill>
                  </a:tcPr>
                </a:tc>
              </a:tr>
              <a:tr h="502920">
                <a:tc>
                  <a:txBody>
                    <a:bodyPr/>
                    <a:lstStyle/>
                    <a:p>
                      <a:pPr algn="l"/>
                      <a:r>
                        <a:rPr sz="2400" b="0" i="0">
                          <a:solidFill>
                            <a:srgbClr val="B066D9"/>
                          </a:solidFill>
                          <a:latin typeface="Calibri"/>
                        </a:rPr>
                        <a:t>Red</a:t>
                      </a:r>
                    </a:p>
                  </a:txBody>
                  <a:tcPr>
                    <a:solidFill>
                      <a:srgbClr val="0d1b2a"/>
                    </a:solidFill>
                  </a:tcPr>
                </a:tc>
                <a:tc>
                  <a:txBody>
                    <a:bodyPr/>
                    <a:lstStyle/>
                    <a:p>
                      <a:pPr algn="l"/>
                      <a:r>
                        <a:rPr sz="2400" b="0" i="0">
                          <a:solidFill>
                            <a:srgbClr val="B066D9"/>
                          </a:solidFill>
                          <a:latin typeface="Calibri"/>
                        </a:rPr>
                        <a:t>9,099</a:t>
                      </a:r>
                    </a:p>
                  </a:txBody>
                  <a:tcPr>
                    <a:solidFill>
                      <a:srgbClr val="0d1b2a"/>
                    </a:solidFill>
                  </a:tcPr>
                </a:tc>
                <a:tc>
                  <a:txBody>
                    <a:bodyPr/>
                    <a:lstStyle/>
                    <a:p>
                      <a:pPr algn="l"/>
                      <a:r>
                        <a:rPr sz="2400" b="0" i="0">
                          <a:solidFill>
                            <a:srgbClr val="FFFFFF"/>
                          </a:solidFill>
                          <a:latin typeface="Calibri"/>
                        </a:rPr>
                        <a:t>39%</a:t>
                      </a:r>
                    </a:p>
                  </a:txBody>
                  <a:tcPr>
                    <a:solidFill>
                      <a:srgbClr val="0d1b2a"/>
                    </a:solidFill>
                  </a:tcPr>
                </a:tc>
                <a:tc>
                  <a:txBody>
                    <a:bodyPr/>
                    <a:lstStyle/>
                    <a:p>
                      <a:pPr algn="l"/>
                      <a:r>
                        <a:rPr sz="2400" b="0" i="0">
                          <a:solidFill>
                            <a:srgbClr val="B066D9"/>
                          </a:solidFill>
                          <a:latin typeface="Calibri"/>
                        </a:rPr>
                        <a:t>4,482</a:t>
                      </a:r>
                    </a:p>
                  </a:txBody>
                  <a:tcPr>
                    <a:solidFill>
                      <a:srgbClr val="0d1b2a"/>
                    </a:solidFill>
                  </a:tcPr>
                </a:tc>
                <a:tc>
                  <a:txBody>
                    <a:bodyPr/>
                    <a:lstStyle/>
                    <a:p>
                      <a:pPr algn="l"/>
                      <a:r>
                        <a:rPr sz="2400" b="0" i="0">
                          <a:solidFill>
                            <a:srgbClr val="FFFFFF"/>
                          </a:solidFill>
                          <a:latin typeface="Calibri"/>
                        </a:rPr>
                        <a:t>19%</a:t>
                      </a:r>
                    </a:p>
                  </a:txBody>
                  <a:tcPr>
                    <a:solidFill>
                      <a:srgbClr val="0d1b2a"/>
                    </a:solidFill>
                  </a:tcPr>
                </a:tc>
              </a:tr>
            </a:tbl>
          </a:graphicData>
        </a:graphic>
      </p:graphicFrame>
      <p:sp>
        <p:nvSpPr>
          <p:cNvPr id="6" name="Rounded Rectangle 5"/>
          <p:cNvSpPr/>
          <p:nvPr/>
        </p:nvSpPr>
        <p:spPr>
          <a:xfrm>
            <a:off x="548640" y="4069080"/>
            <a:ext cx="5349240" cy="2468880"/>
          </a:xfrm>
          <a:prstGeom prst="roundRect">
            <a:avLst/>
          </a:prstGeom>
          <a:solidFill>
            <a:srgbClr val="152A40"/>
          </a:solidFill>
          <a:ln w="25400">
            <a:solidFill>
              <a:srgbClr val="4F8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206240"/>
            <a:ext cx="4892040" cy="411480"/>
          </a:xfrm>
          <a:prstGeom prst="rect">
            <a:avLst/>
          </a:prstGeom>
          <a:noFill/>
        </p:spPr>
        <p:txBody>
          <a:bodyPr wrap="square" anchor="t"/>
          <a:lstStyle/>
          <a:p>
            <a:pPr algn="l"/>
            <a:r>
              <a:rPr sz="2400" b="1" i="0">
                <a:solidFill>
                  <a:srgbClr val="4F8FF7"/>
                </a:solidFill>
                <a:latin typeface="Calibri"/>
              </a:rPr>
              <a:t>JOINT RULE — STRICTER, RELIABLE</a:t>
            </a:r>
          </a:p>
        </p:txBody>
      </p:sp>
      <p:sp>
        <p:nvSpPr>
          <p:cNvPr id="8" name="TextBox 7"/>
          <p:cNvSpPr txBox="1"/>
          <p:nvPr/>
        </p:nvSpPr>
        <p:spPr>
          <a:xfrm>
            <a:off x="777240" y="4663440"/>
            <a:ext cx="4892040" cy="182880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Green drops 33% (11,309 → 7,591)</a:t>
            </a:r>
          </a:p>
          <a:p>
            <a:pPr algn="l">
              <a:spcAft>
                <a:spcPts val="600"/>
              </a:spcAft>
            </a:pPr>
            <a:r>
              <a:rPr sz="2000" b="1">
                <a:solidFill>
                  <a:srgbClr val="00B4D8"/>
                </a:solidFill>
                <a:latin typeface="Calibri"/>
              </a:rPr>
              <a:t>• </a:t>
            </a:r>
            <a:r>
              <a:rPr sz="2000" b="0">
                <a:solidFill>
                  <a:srgbClr val="FFFFFF"/>
                </a:solidFill>
                <a:latin typeface="Calibri"/>
              </a:rPr>
              <a:t>Reds 2× (4,482 → 9,099): ambiguous → red</a:t>
            </a:r>
          </a:p>
          <a:p>
            <a:pPr algn="l">
              <a:spcAft>
                <a:spcPts val="600"/>
              </a:spcAft>
            </a:pPr>
            <a:r>
              <a:rPr sz="2000" b="1">
                <a:solidFill>
                  <a:srgbClr val="00B4D8"/>
                </a:solidFill>
                <a:latin typeface="Calibri"/>
              </a:rPr>
              <a:t>• </a:t>
            </a:r>
            <a:r>
              <a:rPr sz="2000" b="1">
                <a:solidFill>
                  <a:srgbClr val="4CAF50"/>
                </a:solidFill>
                <a:latin typeface="Calibri"/>
              </a:rPr>
              <a:t>Each green more reliable (90% vs 81%)</a:t>
            </a:r>
          </a:p>
        </p:txBody>
      </p:sp>
      <p:sp>
        <p:nvSpPr>
          <p:cNvPr id="9" name="Rounded Rectangle 8"/>
          <p:cNvSpPr/>
          <p:nvPr/>
        </p:nvSpPr>
        <p:spPr>
          <a:xfrm>
            <a:off x="6263640" y="4069080"/>
            <a:ext cx="5349240" cy="2468880"/>
          </a:xfrm>
          <a:prstGeom prst="roundRect">
            <a:avLst/>
          </a:prstGeom>
          <a:solidFill>
            <a:srgbClr val="152A40"/>
          </a:solidFill>
          <a:ln w="25400">
            <a:solidFill>
              <a:srgbClr val="B06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4206240"/>
            <a:ext cx="4892040" cy="914400"/>
          </a:xfrm>
          <a:prstGeom prst="rect">
            <a:avLst/>
          </a:prstGeom>
          <a:noFill/>
        </p:spPr>
        <p:txBody>
          <a:bodyPr wrap="square" anchor="t"/>
          <a:lstStyle/>
          <a:p>
            <a:pPr algn="l"/>
            <a:r>
              <a:rPr sz="2400" b="1" i="0">
                <a:solidFill>
                  <a:srgbClr val="B066D9"/>
                </a:solidFill>
                <a:latin typeface="Calibri"/>
              </a:rPr>
              <a:t>LEGACY CONF-ONLY - PERMISSIVE</a:t>
            </a:r>
          </a:p>
        </p:txBody>
      </p:sp>
      <p:sp>
        <p:nvSpPr>
          <p:cNvPr id="11" name="TextBox 10"/>
          <p:cNvSpPr txBox="1"/>
          <p:nvPr/>
        </p:nvSpPr>
        <p:spPr>
          <a:xfrm>
            <a:off x="6492240" y="4663440"/>
            <a:ext cx="4892040" cy="182880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Almost half of words paint green</a:t>
            </a:r>
          </a:p>
          <a:p>
            <a:pPr algn="l">
              <a:spcAft>
                <a:spcPts val="600"/>
              </a:spcAft>
            </a:pPr>
            <a:r>
              <a:rPr sz="2000" b="1">
                <a:solidFill>
                  <a:srgbClr val="00B4D8"/>
                </a:solidFill>
                <a:latin typeface="Calibri"/>
              </a:rPr>
              <a:t>• </a:t>
            </a:r>
            <a:r>
              <a:rPr sz="2000" b="0">
                <a:solidFill>
                  <a:srgbClr val="FFFFFF"/>
                </a:solidFill>
                <a:latin typeface="Calibri"/>
              </a:rPr>
              <a:t>Many greens hide beam disagreement</a:t>
            </a:r>
          </a:p>
          <a:p>
            <a:pPr algn="l">
              <a:spcAft>
                <a:spcPts val="600"/>
              </a:spcAft>
            </a:pPr>
            <a:r>
              <a:rPr sz="2000" b="1">
                <a:solidFill>
                  <a:srgbClr val="00B4D8"/>
                </a:solidFill>
                <a:latin typeface="Calibri"/>
              </a:rPr>
              <a:t>• </a:t>
            </a:r>
            <a:r>
              <a:rPr sz="2000" b="0">
                <a:solidFill>
                  <a:srgbClr val="AAAAAA"/>
                </a:solidFill>
                <a:latin typeface="Calibri"/>
              </a:rPr>
              <a:t>Superseded by joint rule</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Beam Agreement Adds Independent Signal</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57200"/>
          </a:xfrm>
          <a:prstGeom prst="rect">
            <a:avLst/>
          </a:prstGeom>
          <a:noFill/>
        </p:spPr>
        <p:txBody>
          <a:bodyPr wrap="square" anchor="t"/>
          <a:lstStyle/>
          <a:p>
            <a:pPr algn="l"/>
            <a:r>
              <a:rPr sz="1800" b="0" i="1">
                <a:solidFill>
                  <a:srgbClr val="AAAAAA"/>
                </a:solidFill>
                <a:latin typeface="Calibri"/>
              </a:rPr>
              <a:t>At p₁ ≥ 0.95 the softmax says 'almost certain.' Beam agreement reveals which of those tokens were actually unique.</a:t>
            </a:r>
          </a:p>
        </p:txBody>
      </p:sp>
      <p:graphicFrame>
        <p:nvGraphicFramePr>
          <p:cNvPr id="5" name="Table 4"/>
          <p:cNvGraphicFramePr>
            <a:graphicFrameLocks noGrp="1"/>
          </p:cNvGraphicFramePr>
          <p:nvPr/>
        </p:nvGraphicFramePr>
        <p:xfrm>
          <a:off x="1463040" y="1965960"/>
          <a:ext cx="9144000" cy="1920240"/>
        </p:xfrm>
        <a:graphic>
          <a:graphicData uri="http://schemas.openxmlformats.org/drawingml/2006/table">
            <a:tbl>
              <a:tblPr firstRow="0" bandRow="0" lastRow="0" bandCol="0">
                <a:tableStyleId>{5C22544A-7EE6-4342-B048-85BDC9FD1C3A}</a:tableStyleId>
              </a:tblPr>
              <a:tblGrid>
                <a:gridCol w="2743200"/>
                <a:gridCol w="3200400"/>
                <a:gridCol w="3200400"/>
              </a:tblGrid>
              <a:tr h="640080">
                <a:tc>
                  <a:txBody>
                    <a:bodyPr/>
                    <a:lstStyle/>
                    <a:p>
                      <a:pPr algn="ctr">
                        <a:defRPr sz="2400" b="1" i="0">
                          <a:solidFill>
                            <a:srgbClr val="FFFFFF"/>
                          </a:solidFill>
                          <a:latin typeface="Calibri"/>
                        </a:defRPr>
                      </a:pPr>
                    </a:p>
                  </a:txBody>
                  <a:tcPr>
                    <a:solidFill>
                      <a:srgbClr val="00b4d8"/>
                    </a:solidFill>
                  </a:tcPr>
                </a:tc>
                <a:tc>
                  <a:txBody>
                    <a:bodyPr/>
                    <a:lstStyle/>
                    <a:p>
                      <a:pPr algn="ctr"/>
                      <a:r>
                        <a:rPr sz="2400" b="1" i="0">
                          <a:solidFill>
                            <a:srgbClr val="FFFFFF"/>
                          </a:solidFill>
                          <a:latin typeface="Calibri"/>
                        </a:rPr>
                        <a:t>α ≥ 0.80</a:t>
                      </a:r>
                    </a:p>
                  </a:txBody>
                  <a:tcPr>
                    <a:solidFill>
                      <a:srgbClr val="00b4d8"/>
                    </a:solidFill>
                  </a:tcPr>
                </a:tc>
                <a:tc>
                  <a:txBody>
                    <a:bodyPr/>
                    <a:lstStyle/>
                    <a:p>
                      <a:pPr algn="ctr"/>
                      <a:r>
                        <a:rPr sz="2400" b="1" i="0">
                          <a:solidFill>
                            <a:srgbClr val="FFFFFF"/>
                          </a:solidFill>
                          <a:latin typeface="Calibri"/>
                        </a:rPr>
                        <a:t>α &lt; 0.80</a:t>
                      </a:r>
                    </a:p>
                  </a:txBody>
                  <a:tcPr>
                    <a:solidFill>
                      <a:srgbClr val="00b4d8"/>
                    </a:solidFill>
                  </a:tcPr>
                </a:tc>
              </a:tr>
              <a:tr h="640080">
                <a:tc>
                  <a:txBody>
                    <a:bodyPr/>
                    <a:lstStyle/>
                    <a:p>
                      <a:pPr algn="l"/>
                      <a:r>
                        <a:rPr sz="2400" b="0" i="0">
                          <a:solidFill>
                            <a:srgbClr val="FFFFFF"/>
                          </a:solidFill>
                          <a:latin typeface="Calibri"/>
                        </a:rPr>
                        <a:t>P(correct)</a:t>
                      </a:r>
                    </a:p>
                  </a:txBody>
                  <a:tcPr>
                    <a:solidFill>
                      <a:srgbClr val="0d1b2a"/>
                    </a:solidFill>
                  </a:tcPr>
                </a:tc>
                <a:tc>
                  <a:txBody>
                    <a:bodyPr/>
                    <a:lstStyle/>
                    <a:p>
                      <a:pPr algn="l"/>
                      <a:r>
                        <a:rPr sz="2400" b="0" i="0">
                          <a:solidFill>
                            <a:srgbClr val="4CAF50"/>
                          </a:solidFill>
                          <a:latin typeface="Calibri"/>
                        </a:rPr>
                        <a:t>0.94</a:t>
                      </a:r>
                    </a:p>
                  </a:txBody>
                  <a:tcPr>
                    <a:solidFill>
                      <a:srgbClr val="0d1b2a"/>
                    </a:solidFill>
                  </a:tcPr>
                </a:tc>
                <a:tc>
                  <a:txBody>
                    <a:bodyPr/>
                    <a:lstStyle/>
                    <a:p>
                      <a:pPr algn="l"/>
                      <a:r>
                        <a:rPr sz="2400" b="0" i="0">
                          <a:solidFill>
                            <a:srgbClr val="E06C75"/>
                          </a:solidFill>
                          <a:latin typeface="Calibri"/>
                        </a:rPr>
                        <a:t>0.40</a:t>
                      </a:r>
                    </a:p>
                  </a:txBody>
                  <a:tcPr>
                    <a:solidFill>
                      <a:srgbClr val="0d1b2a"/>
                    </a:solidFill>
                  </a:tcPr>
                </a:tc>
              </a:tr>
              <a:tr h="640080">
                <a:tc>
                  <a:txBody>
                    <a:bodyPr/>
                    <a:lstStyle/>
                    <a:p>
                      <a:pPr algn="l"/>
                      <a:r>
                        <a:rPr sz="2400" b="0" i="0">
                          <a:solidFill>
                            <a:srgbClr val="FFFFFF"/>
                          </a:solidFill>
                          <a:latin typeface="Calibri"/>
                        </a:rPr>
                        <a:t>green/yellow</a:t>
                      </a:r>
                    </a:p>
                  </a:txBody>
                  <a:tcPr>
                    <a:solidFill>
                      <a:srgbClr val="152a40"/>
                    </a:solidFill>
                  </a:tcPr>
                </a:tc>
                <a:tc>
                  <a:txBody>
                    <a:bodyPr/>
                    <a:lstStyle/>
                    <a:p>
                      <a:pPr algn="l"/>
                      <a:r>
                        <a:rPr sz="2400" b="0" i="0">
                          <a:solidFill>
                            <a:srgbClr val="4CAF50"/>
                          </a:solidFill>
                          <a:latin typeface="Calibri"/>
                        </a:rPr>
                        <a:t>GREEN</a:t>
                      </a:r>
                    </a:p>
                  </a:txBody>
                  <a:tcPr>
                    <a:solidFill>
                      <a:srgbClr val="152a40"/>
                    </a:solidFill>
                  </a:tcPr>
                </a:tc>
                <a:tc>
                  <a:txBody>
                    <a:bodyPr/>
                    <a:lstStyle/>
                    <a:p>
                      <a:pPr algn="l"/>
                      <a:r>
                        <a:rPr sz="2400" b="0" i="0">
                          <a:solidFill>
                            <a:srgbClr val="FF9800"/>
                          </a:solidFill>
                          <a:latin typeface="Calibri"/>
                        </a:rPr>
                        <a:t>downgraded to yellow</a:t>
                      </a:r>
                    </a:p>
                  </a:txBody>
                  <a:tcPr>
                    <a:solidFill>
                      <a:srgbClr val="152a40"/>
                    </a:solidFill>
                  </a:tcPr>
                </a:tc>
              </a:tr>
            </a:tbl>
          </a:graphicData>
        </a:graphic>
      </p:graphicFrame>
      <p:sp>
        <p:nvSpPr>
          <p:cNvPr id="6" name="TextBox 5"/>
          <p:cNvSpPr txBox="1"/>
          <p:nvPr/>
        </p:nvSpPr>
        <p:spPr>
          <a:xfrm>
            <a:off x="548640" y="4023360"/>
            <a:ext cx="11091672" cy="320040"/>
          </a:xfrm>
          <a:prstGeom prst="rect">
            <a:avLst/>
          </a:prstGeom>
          <a:noFill/>
        </p:spPr>
        <p:txBody>
          <a:bodyPr wrap="square" anchor="t"/>
          <a:lstStyle/>
          <a:p>
            <a:pPr algn="l"/>
            <a:r>
              <a:rPr sz="2400" b="1" i="0">
                <a:solidFill>
                  <a:srgbClr val="00B4D8"/>
                </a:solidFill>
                <a:latin typeface="Calibri"/>
              </a:rPr>
              <a:t>WHY THIS MATTERS</a:t>
            </a:r>
          </a:p>
        </p:txBody>
      </p:sp>
      <p:sp>
        <p:nvSpPr>
          <p:cNvPr id="7" name="TextBox 6"/>
          <p:cNvSpPr txBox="1"/>
          <p:nvPr/>
        </p:nvSpPr>
        <p:spPr>
          <a:xfrm>
            <a:off x="548640" y="4389120"/>
            <a:ext cx="11091672" cy="164592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54pp P(correct) gap at SAME top-1 conf (0.40 vs 0.94)</a:t>
            </a:r>
          </a:p>
          <a:p>
            <a:pPr algn="l">
              <a:spcAft>
                <a:spcPts val="600"/>
              </a:spcAft>
            </a:pPr>
            <a:r>
              <a:rPr sz="2400" b="1">
                <a:solidFill>
                  <a:srgbClr val="00B4D8"/>
                </a:solidFill>
                <a:latin typeface="Calibri"/>
              </a:rPr>
              <a:t>• </a:t>
            </a:r>
            <a:r>
              <a:rPr sz="2400" b="0">
                <a:solidFill>
                  <a:srgbClr val="FFFFFF"/>
                </a:solidFill>
                <a:latin typeface="Calibri"/>
              </a:rPr>
              <a:t>Conf alone collapses 2 populations into one green band</a:t>
            </a:r>
          </a:p>
          <a:p>
            <a:pPr algn="l">
              <a:spcAft>
                <a:spcPts val="600"/>
              </a:spcAft>
            </a:pPr>
            <a:r>
              <a:rPr sz="2400" b="1">
                <a:solidFill>
                  <a:srgbClr val="00B4D8"/>
                </a:solidFill>
                <a:latin typeface="Calibri"/>
              </a:rPr>
              <a:t>• </a:t>
            </a:r>
            <a:r>
              <a:rPr sz="2400" b="0">
                <a:solidFill>
                  <a:srgbClr val="00B4D8"/>
                </a:solidFill>
                <a:latin typeface="Calibri"/>
              </a:rPr>
              <a:t>Beam agreement α: ~2× AUC of p₁ at conf ≥ 0.95</a:t>
            </a:r>
          </a:p>
          <a:p>
            <a:pPr algn="l">
              <a:spcAft>
                <a:spcPts val="600"/>
              </a:spcAft>
            </a:pPr>
            <a:r>
              <a:rPr sz="2400" b="1">
                <a:solidFill>
                  <a:srgbClr val="00B4D8"/>
                </a:solidFill>
                <a:latin typeface="Calibri"/>
              </a:rPr>
              <a:t>• </a:t>
            </a:r>
            <a:r>
              <a:rPr sz="2400" b="0">
                <a:solidFill>
                  <a:srgbClr val="4CAF50"/>
                </a:solidFill>
                <a:latin typeface="Calibri"/>
              </a:rPr>
              <a:t>Green: 11,309 → 7,591 words, P(correct) 81% → 90%</a:t>
            </a:r>
          </a:p>
        </p:txBody>
      </p:sp>
      <p:sp>
        <p:nvSpPr>
          <p:cNvPr id="8" name="TextBox 7"/>
          <p:cNvSpPr txBox="1"/>
          <p:nvPr/>
        </p:nvSpPr>
        <p:spPr>
          <a:xfrm>
            <a:off x="548640" y="6080760"/>
            <a:ext cx="11091672" cy="365760"/>
          </a:xfrm>
          <a:prstGeom prst="rect">
            <a:avLst/>
          </a:prstGeom>
          <a:noFill/>
        </p:spPr>
        <p:txBody>
          <a:bodyPr wrap="square" anchor="t"/>
          <a:lstStyle/>
          <a:p>
            <a:pPr algn="ctr"/>
            <a:r>
              <a:rPr sz="2400" b="0" i="1">
                <a:solidFill>
                  <a:srgbClr val="E06C75"/>
                </a:solidFill>
                <a:latin typeface="Calibri"/>
              </a:rPr>
              <a:t>Diagnostic: diagnose_confidence_signals.py — Llama-2-7b specific.</a:t>
            </a:r>
          </a:p>
        </p:txBody>
      </p:sp>
      <p:pic>
        <p:nvPicPr>
          <p:cNvPr id="9" name="Picture 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Green Leakage - When High Confidence Misleads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731520"/>
          </a:xfrm>
          <a:prstGeom prst="rect">
            <a:avLst/>
          </a:prstGeom>
          <a:noFill/>
        </p:spPr>
        <p:txBody>
          <a:bodyPr wrap="square" anchor="t"/>
          <a:lstStyle/>
          <a:p>
            <a:pPr algn="l"/>
            <a:r>
              <a:rPr sz="1800" b="0" i="1">
                <a:solidFill>
                  <a:srgbClr val="AAAAAA"/>
                </a:solidFill>
                <a:latin typeface="Calibri"/>
              </a:rPr>
              <a:t>2,192 wrong-and-green words across 23,261 (9% leakage). Numerics and entities concentrate the danger.</a:t>
            </a:r>
          </a:p>
        </p:txBody>
      </p:sp>
      <p:sp>
        <p:nvSpPr>
          <p:cNvPr id="5" name="Rounded Rectangle 4"/>
          <p:cNvSpPr/>
          <p:nvPr/>
        </p:nvSpPr>
        <p:spPr>
          <a:xfrm>
            <a:off x="548640" y="1783080"/>
            <a:ext cx="3514344" cy="2743200"/>
          </a:xfrm>
          <a:prstGeom prst="roundRect">
            <a:avLst/>
          </a:prstGeom>
          <a:solidFill>
            <a:srgbClr val="152A40"/>
          </a:solidFill>
          <a:ln w="25400">
            <a:solidFill>
              <a:srgbClr val="4F8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3148584" cy="411480"/>
          </a:xfrm>
          <a:prstGeom prst="rect">
            <a:avLst/>
          </a:prstGeom>
          <a:noFill/>
        </p:spPr>
        <p:txBody>
          <a:bodyPr wrap="square" anchor="t"/>
          <a:lstStyle/>
          <a:p>
            <a:pPr algn="ctr"/>
            <a:r>
              <a:rPr sz="2000" b="1" i="0">
                <a:solidFill>
                  <a:srgbClr val="4F8FF7"/>
                </a:solidFill>
                <a:latin typeface="Calibri"/>
              </a:rPr>
              <a:t>Numeric scale flip</a:t>
            </a:r>
          </a:p>
        </p:txBody>
      </p:sp>
      <p:sp>
        <p:nvSpPr>
          <p:cNvPr id="7" name="TextBox 6"/>
          <p:cNvSpPr txBox="1"/>
          <p:nvPr/>
        </p:nvSpPr>
        <p:spPr>
          <a:xfrm>
            <a:off x="731520" y="2377440"/>
            <a:ext cx="3148584" cy="594360"/>
          </a:xfrm>
          <a:prstGeom prst="rect">
            <a:avLst/>
          </a:prstGeom>
          <a:noFill/>
        </p:spPr>
        <p:txBody>
          <a:bodyPr wrap="square" anchor="t"/>
          <a:lstStyle/>
          <a:p>
            <a:pPr algn="l"/>
            <a:r>
              <a:rPr sz="1800" b="0" i="1">
                <a:solidFill>
                  <a:srgbClr val="4CAF50"/>
                </a:solidFill>
                <a:latin typeface="Calibri"/>
              </a:rPr>
              <a:t>REF: 1 billion CFUs of probiotics</a:t>
            </a:r>
          </a:p>
        </p:txBody>
      </p:sp>
      <p:sp>
        <p:nvSpPr>
          <p:cNvPr id="8" name="TextBox 7"/>
          <p:cNvSpPr txBox="1"/>
          <p:nvPr/>
        </p:nvSpPr>
        <p:spPr>
          <a:xfrm>
            <a:off x="731520" y="2971800"/>
            <a:ext cx="3148584" cy="594360"/>
          </a:xfrm>
          <a:prstGeom prst="rect">
            <a:avLst/>
          </a:prstGeom>
          <a:noFill/>
        </p:spPr>
        <p:txBody>
          <a:bodyPr wrap="square" anchor="t"/>
          <a:lstStyle/>
          <a:p>
            <a:pPr algn="l"/>
            <a:r>
              <a:rPr sz="1800" b="0" i="1">
                <a:solidFill>
                  <a:srgbClr val="B066D9"/>
                </a:solidFill>
                <a:latin typeface="Calibri"/>
              </a:rPr>
              <a:t>HYP: 1 million CFUs of probiotics</a:t>
            </a:r>
          </a:p>
        </p:txBody>
      </p:sp>
      <p:sp>
        <p:nvSpPr>
          <p:cNvPr id="9" name="TextBox 8"/>
          <p:cNvSpPr txBox="1"/>
          <p:nvPr/>
        </p:nvSpPr>
        <p:spPr>
          <a:xfrm>
            <a:off x="731520" y="3566160"/>
            <a:ext cx="3148584" cy="411480"/>
          </a:xfrm>
          <a:prstGeom prst="rect">
            <a:avLst/>
          </a:prstGeom>
          <a:noFill/>
        </p:spPr>
        <p:txBody>
          <a:bodyPr wrap="square" anchor="t"/>
          <a:lstStyle/>
          <a:p>
            <a:pPr algn="ctr"/>
            <a:r>
              <a:rPr sz="1800" b="1" i="0">
                <a:solidFill>
                  <a:srgbClr val="FFD54F"/>
                </a:solidFill>
                <a:latin typeface="Calibri"/>
              </a:rPr>
              <a:t>P(billion -&gt; million) = 0.965</a:t>
            </a:r>
          </a:p>
        </p:txBody>
      </p:sp>
      <p:sp>
        <p:nvSpPr>
          <p:cNvPr id="10" name="TextBox 9"/>
          <p:cNvSpPr txBox="1"/>
          <p:nvPr/>
        </p:nvSpPr>
        <p:spPr>
          <a:xfrm>
            <a:off x="731520" y="3977640"/>
            <a:ext cx="3148584" cy="502920"/>
          </a:xfrm>
          <a:prstGeom prst="rect">
            <a:avLst/>
          </a:prstGeom>
          <a:noFill/>
        </p:spPr>
        <p:txBody>
          <a:bodyPr wrap="square" anchor="t"/>
          <a:lstStyle/>
          <a:p>
            <a:pPr algn="l"/>
            <a:r>
              <a:rPr sz="1600" b="0" i="1">
                <a:solidFill>
                  <a:srgbClr val="AAAAAA"/>
                </a:solidFill>
                <a:latin typeface="Calibri"/>
              </a:rPr>
              <a:t>Off by 1000x. Confident, fluent, wrong.</a:t>
            </a:r>
          </a:p>
        </p:txBody>
      </p:sp>
      <p:sp>
        <p:nvSpPr>
          <p:cNvPr id="11" name="Rounded Rectangle 10"/>
          <p:cNvSpPr/>
          <p:nvPr/>
        </p:nvSpPr>
        <p:spPr>
          <a:xfrm>
            <a:off x="4337304" y="1783080"/>
            <a:ext cx="3514344" cy="2743200"/>
          </a:xfrm>
          <a:prstGeom prst="roundRect">
            <a:avLst/>
          </a:prstGeom>
          <a:solidFill>
            <a:srgbClr val="152A40"/>
          </a:solidFill>
          <a:ln w="25400">
            <a:solidFill>
              <a:srgbClr val="4F8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0184" y="1920240"/>
            <a:ext cx="3148584" cy="411480"/>
          </a:xfrm>
          <a:prstGeom prst="rect">
            <a:avLst/>
          </a:prstGeom>
          <a:noFill/>
        </p:spPr>
        <p:txBody>
          <a:bodyPr wrap="square" anchor="t"/>
          <a:lstStyle/>
          <a:p>
            <a:pPr algn="ctr"/>
            <a:r>
              <a:rPr sz="2000" b="1" i="0">
                <a:solidFill>
                  <a:srgbClr val="4F8FF7"/>
                </a:solidFill>
                <a:latin typeface="Calibri"/>
              </a:rPr>
              <a:t>Numeric digit drop</a:t>
            </a:r>
          </a:p>
        </p:txBody>
      </p:sp>
      <p:sp>
        <p:nvSpPr>
          <p:cNvPr id="13" name="TextBox 12"/>
          <p:cNvSpPr txBox="1"/>
          <p:nvPr/>
        </p:nvSpPr>
        <p:spPr>
          <a:xfrm>
            <a:off x="4520184" y="2377440"/>
            <a:ext cx="3148584" cy="594360"/>
          </a:xfrm>
          <a:prstGeom prst="rect">
            <a:avLst/>
          </a:prstGeom>
          <a:noFill/>
        </p:spPr>
        <p:txBody>
          <a:bodyPr wrap="square" anchor="t"/>
          <a:lstStyle/>
          <a:p>
            <a:pPr algn="l"/>
            <a:r>
              <a:rPr sz="1800" b="0" i="1">
                <a:solidFill>
                  <a:srgbClr val="4CAF50"/>
                </a:solidFill>
                <a:latin typeface="Calibri"/>
              </a:rPr>
              <a:t>REF: the value is 1024</a:t>
            </a:r>
          </a:p>
        </p:txBody>
      </p:sp>
      <p:sp>
        <p:nvSpPr>
          <p:cNvPr id="14" name="TextBox 13"/>
          <p:cNvSpPr txBox="1"/>
          <p:nvPr/>
        </p:nvSpPr>
        <p:spPr>
          <a:xfrm>
            <a:off x="4520184" y="2971800"/>
            <a:ext cx="3148584" cy="594360"/>
          </a:xfrm>
          <a:prstGeom prst="rect">
            <a:avLst/>
          </a:prstGeom>
          <a:noFill/>
        </p:spPr>
        <p:txBody>
          <a:bodyPr wrap="square" anchor="t"/>
          <a:lstStyle/>
          <a:p>
            <a:pPr algn="l"/>
            <a:r>
              <a:rPr sz="1800" b="0" i="1">
                <a:solidFill>
                  <a:srgbClr val="B066D9"/>
                </a:solidFill>
                <a:latin typeface="Calibri"/>
              </a:rPr>
              <a:t>HYP: the value is 24</a:t>
            </a:r>
          </a:p>
        </p:txBody>
      </p:sp>
      <p:sp>
        <p:nvSpPr>
          <p:cNvPr id="15" name="TextBox 14"/>
          <p:cNvSpPr txBox="1"/>
          <p:nvPr/>
        </p:nvSpPr>
        <p:spPr>
          <a:xfrm>
            <a:off x="4520184" y="3566160"/>
            <a:ext cx="3148584" cy="411480"/>
          </a:xfrm>
          <a:prstGeom prst="rect">
            <a:avLst/>
          </a:prstGeom>
          <a:noFill/>
        </p:spPr>
        <p:txBody>
          <a:bodyPr wrap="square" anchor="t"/>
          <a:lstStyle/>
          <a:p>
            <a:pPr algn="ctr"/>
            <a:r>
              <a:rPr sz="1800" b="1" i="0">
                <a:solidFill>
                  <a:srgbClr val="FFD54F"/>
                </a:solidFill>
                <a:latin typeface="Calibri"/>
              </a:rPr>
              <a:t>P(1024 -&gt; 24) = 0.958</a:t>
            </a:r>
          </a:p>
        </p:txBody>
      </p:sp>
      <p:sp>
        <p:nvSpPr>
          <p:cNvPr id="16" name="TextBox 15"/>
          <p:cNvSpPr txBox="1"/>
          <p:nvPr/>
        </p:nvSpPr>
        <p:spPr>
          <a:xfrm>
            <a:off x="4520184" y="3977640"/>
            <a:ext cx="3148584" cy="502920"/>
          </a:xfrm>
          <a:prstGeom prst="rect">
            <a:avLst/>
          </a:prstGeom>
          <a:noFill/>
        </p:spPr>
        <p:txBody>
          <a:bodyPr wrap="square" anchor="t"/>
          <a:lstStyle/>
          <a:p>
            <a:pPr algn="l"/>
            <a:r>
              <a:rPr sz="1600" b="0" i="1">
                <a:solidFill>
                  <a:srgbClr val="AAAAAA"/>
                </a:solidFill>
                <a:latin typeface="Calibri"/>
              </a:rPr>
              <a:t>Token tokenisation mis-merge.</a:t>
            </a:r>
          </a:p>
        </p:txBody>
      </p:sp>
      <p:sp>
        <p:nvSpPr>
          <p:cNvPr id="17" name="Rounded Rectangle 16"/>
          <p:cNvSpPr/>
          <p:nvPr/>
        </p:nvSpPr>
        <p:spPr>
          <a:xfrm>
            <a:off x="8125968" y="1783080"/>
            <a:ext cx="3514344" cy="2743200"/>
          </a:xfrm>
          <a:prstGeom prst="roundRect">
            <a:avLst/>
          </a:prstGeom>
          <a:solidFill>
            <a:srgbClr val="152A40"/>
          </a:solidFill>
          <a:ln w="25400">
            <a:solidFill>
              <a:srgbClr val="4F8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1920240"/>
            <a:ext cx="3148584" cy="411480"/>
          </a:xfrm>
          <a:prstGeom prst="rect">
            <a:avLst/>
          </a:prstGeom>
          <a:noFill/>
        </p:spPr>
        <p:txBody>
          <a:bodyPr wrap="square" anchor="t"/>
          <a:lstStyle/>
          <a:p>
            <a:pPr algn="ctr"/>
            <a:r>
              <a:rPr sz="2000" b="1" i="0">
                <a:solidFill>
                  <a:srgbClr val="4F8FF7"/>
                </a:solidFill>
                <a:latin typeface="Calibri"/>
              </a:rPr>
              <a:t>Year drift</a:t>
            </a:r>
          </a:p>
        </p:txBody>
      </p:sp>
      <p:sp>
        <p:nvSpPr>
          <p:cNvPr id="19" name="TextBox 18"/>
          <p:cNvSpPr txBox="1"/>
          <p:nvPr/>
        </p:nvSpPr>
        <p:spPr>
          <a:xfrm>
            <a:off x="8308848" y="2377440"/>
            <a:ext cx="3148584" cy="594360"/>
          </a:xfrm>
          <a:prstGeom prst="rect">
            <a:avLst/>
          </a:prstGeom>
          <a:noFill/>
        </p:spPr>
        <p:txBody>
          <a:bodyPr wrap="square" anchor="t"/>
          <a:lstStyle/>
          <a:p>
            <a:pPr algn="l"/>
            <a:r>
              <a:rPr sz="1800" b="0" i="1">
                <a:solidFill>
                  <a:srgbClr val="4CAF50"/>
                </a:solidFill>
                <a:latin typeface="Calibri"/>
              </a:rPr>
              <a:t>REF: in 2011 the project began</a:t>
            </a:r>
          </a:p>
        </p:txBody>
      </p:sp>
      <p:sp>
        <p:nvSpPr>
          <p:cNvPr id="20" name="TextBox 19"/>
          <p:cNvSpPr txBox="1"/>
          <p:nvPr/>
        </p:nvSpPr>
        <p:spPr>
          <a:xfrm>
            <a:off x="8308848" y="2971800"/>
            <a:ext cx="3148584" cy="594360"/>
          </a:xfrm>
          <a:prstGeom prst="rect">
            <a:avLst/>
          </a:prstGeom>
          <a:noFill/>
        </p:spPr>
        <p:txBody>
          <a:bodyPr wrap="square" anchor="t"/>
          <a:lstStyle/>
          <a:p>
            <a:pPr algn="l"/>
            <a:r>
              <a:rPr sz="1800" b="0" i="1">
                <a:solidFill>
                  <a:srgbClr val="B066D9"/>
                </a:solidFill>
                <a:latin typeface="Calibri"/>
              </a:rPr>
              <a:t>HYP: in 2000 the project began</a:t>
            </a:r>
          </a:p>
        </p:txBody>
      </p:sp>
      <p:sp>
        <p:nvSpPr>
          <p:cNvPr id="21" name="TextBox 20"/>
          <p:cNvSpPr txBox="1"/>
          <p:nvPr/>
        </p:nvSpPr>
        <p:spPr>
          <a:xfrm>
            <a:off x="8308848" y="3566160"/>
            <a:ext cx="3148584" cy="411480"/>
          </a:xfrm>
          <a:prstGeom prst="rect">
            <a:avLst/>
          </a:prstGeom>
          <a:noFill/>
        </p:spPr>
        <p:txBody>
          <a:bodyPr wrap="square" anchor="t"/>
          <a:lstStyle/>
          <a:p>
            <a:pPr algn="ctr"/>
            <a:r>
              <a:rPr sz="1800" b="1" i="0">
                <a:solidFill>
                  <a:srgbClr val="FFD54F"/>
                </a:solidFill>
                <a:latin typeface="Calibri"/>
              </a:rPr>
              <a:t>P(2011 -&gt; 2000) = 0.894</a:t>
            </a:r>
          </a:p>
        </p:txBody>
      </p:sp>
      <p:sp>
        <p:nvSpPr>
          <p:cNvPr id="22" name="TextBox 21"/>
          <p:cNvSpPr txBox="1"/>
          <p:nvPr/>
        </p:nvSpPr>
        <p:spPr>
          <a:xfrm>
            <a:off x="8308848" y="3977640"/>
            <a:ext cx="3148584" cy="502920"/>
          </a:xfrm>
          <a:prstGeom prst="rect">
            <a:avLst/>
          </a:prstGeom>
          <a:noFill/>
        </p:spPr>
        <p:txBody>
          <a:bodyPr wrap="square" anchor="t"/>
          <a:lstStyle/>
          <a:p>
            <a:pPr algn="l"/>
            <a:r>
              <a:rPr sz="1600" b="0" i="1">
                <a:solidFill>
                  <a:srgbClr val="AAAAAA"/>
                </a:solidFill>
                <a:latin typeface="Calibri"/>
              </a:rPr>
              <a:t>Visually similar mouth shapes.</a:t>
            </a:r>
          </a:p>
        </p:txBody>
      </p:sp>
      <p:sp>
        <p:nvSpPr>
          <p:cNvPr id="23" name="Rounded Rectangle 22"/>
          <p:cNvSpPr/>
          <p:nvPr/>
        </p:nvSpPr>
        <p:spPr>
          <a:xfrm>
            <a:off x="548640" y="5440680"/>
            <a:ext cx="11091672" cy="1005840"/>
          </a:xfrm>
          <a:prstGeom prst="roundRect">
            <a:avLst/>
          </a:prstGeom>
          <a:solidFill>
            <a:srgbClr val="1A3550"/>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532120"/>
            <a:ext cx="10634472" cy="868680"/>
          </a:xfrm>
          <a:prstGeom prst="rect">
            <a:avLst/>
          </a:prstGeom>
          <a:noFill/>
        </p:spPr>
        <p:txBody>
          <a:bodyPr wrap="square" anchor="t"/>
          <a:lstStyle/>
          <a:p>
            <a:pPr algn="l"/>
            <a:r>
              <a:rPr sz="2400" b="0" i="0">
                <a:solidFill>
                  <a:srgbClr val="FFFFFF"/>
                </a:solidFill>
                <a:latin typeface="Calibri"/>
              </a:rPr>
              <a:t>Production response: numbers CAPPED at yellow under the joint rule.</a:t>
            </a:r>
          </a:p>
        </p:txBody>
      </p:sp>
      <p:pic>
        <p:nvPicPr>
          <p:cNvPr id="25" name="Picture 2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6" name="TextBox 2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12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24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36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48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60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12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24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36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48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60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12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How IS and Confidence Correlate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ctr"/>
            <a:r>
              <a:rPr sz="1800" b="0" i="1">
                <a:solidFill>
                  <a:srgbClr val="AAAAAA"/>
                </a:solidFill>
                <a:latin typeface="Calibri"/>
              </a:rPr>
              <a:t>Two independent signals — IS (deterministic) and mean per-word confidence — converge on n=1,427.</a:t>
            </a:r>
          </a:p>
        </p:txBody>
      </p:sp>
      <p:sp>
        <p:nvSpPr>
          <p:cNvPr id="5" name="Rounded Rectangle 4"/>
          <p:cNvSpPr/>
          <p:nvPr/>
        </p:nvSpPr>
        <p:spPr>
          <a:xfrm>
            <a:off x="548640" y="1828800"/>
            <a:ext cx="5349240" cy="25603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4983480" cy="320040"/>
          </a:xfrm>
          <a:prstGeom prst="rect">
            <a:avLst/>
          </a:prstGeom>
          <a:noFill/>
        </p:spPr>
        <p:txBody>
          <a:bodyPr wrap="square" anchor="t"/>
          <a:lstStyle/>
          <a:p>
            <a:pPr algn="ctr"/>
            <a:r>
              <a:rPr sz="2200" b="1" i="0">
                <a:solidFill>
                  <a:srgbClr val="00B4D8"/>
                </a:solidFill>
                <a:latin typeface="Calibri"/>
              </a:rPr>
              <a:t>SCALAR CORRELATION</a:t>
            </a:r>
          </a:p>
        </p:txBody>
      </p:sp>
      <p:sp>
        <p:nvSpPr>
          <p:cNvPr id="7" name="TextBox 6"/>
          <p:cNvSpPr txBox="1"/>
          <p:nvPr/>
        </p:nvSpPr>
        <p:spPr>
          <a:xfrm>
            <a:off x="777240" y="2331720"/>
            <a:ext cx="3520440" cy="365760"/>
          </a:xfrm>
          <a:prstGeom prst="rect">
            <a:avLst/>
          </a:prstGeom>
          <a:noFill/>
        </p:spPr>
        <p:txBody>
          <a:bodyPr wrap="square" anchor="t"/>
          <a:lstStyle/>
          <a:p>
            <a:pPr algn="l"/>
            <a:r>
              <a:rPr sz="2000" b="0" i="0">
                <a:solidFill>
                  <a:srgbClr val="FFFFFF"/>
                </a:solidFill>
                <a:latin typeface="Calibri"/>
              </a:rPr>
              <a:t>Pearson r(IS, mean_prob)</a:t>
            </a:r>
          </a:p>
        </p:txBody>
      </p:sp>
      <p:sp>
        <p:nvSpPr>
          <p:cNvPr id="8" name="TextBox 7"/>
          <p:cNvSpPr txBox="1"/>
          <p:nvPr/>
        </p:nvSpPr>
        <p:spPr>
          <a:xfrm>
            <a:off x="4343400" y="2331720"/>
            <a:ext cx="1280160" cy="365760"/>
          </a:xfrm>
          <a:prstGeom prst="rect">
            <a:avLst/>
          </a:prstGeom>
          <a:noFill/>
        </p:spPr>
        <p:txBody>
          <a:bodyPr wrap="square" anchor="t"/>
          <a:lstStyle/>
          <a:p>
            <a:pPr algn="r"/>
            <a:r>
              <a:rPr sz="2400" b="1" i="0">
                <a:solidFill>
                  <a:srgbClr val="4CAF50"/>
                </a:solidFill>
                <a:latin typeface="Calibri"/>
              </a:rPr>
              <a:t>+0.837</a:t>
            </a:r>
          </a:p>
        </p:txBody>
      </p:sp>
      <p:sp>
        <p:nvSpPr>
          <p:cNvPr id="9" name="TextBox 8"/>
          <p:cNvSpPr txBox="1"/>
          <p:nvPr/>
        </p:nvSpPr>
        <p:spPr>
          <a:xfrm>
            <a:off x="777240" y="2834640"/>
            <a:ext cx="3520440" cy="365760"/>
          </a:xfrm>
          <a:prstGeom prst="rect">
            <a:avLst/>
          </a:prstGeom>
          <a:noFill/>
        </p:spPr>
        <p:txBody>
          <a:bodyPr wrap="square" anchor="t"/>
          <a:lstStyle/>
          <a:p>
            <a:pPr algn="l"/>
            <a:r>
              <a:rPr sz="2000" b="0" i="0">
                <a:solidFill>
                  <a:srgbClr val="FFFFFF"/>
                </a:solidFill>
                <a:latin typeface="Calibri"/>
              </a:rPr>
              <a:t>Spearman ρ(IS, mean_prob)</a:t>
            </a:r>
          </a:p>
        </p:txBody>
      </p:sp>
      <p:sp>
        <p:nvSpPr>
          <p:cNvPr id="10" name="TextBox 9"/>
          <p:cNvSpPr txBox="1"/>
          <p:nvPr/>
        </p:nvSpPr>
        <p:spPr>
          <a:xfrm>
            <a:off x="4343400" y="2834640"/>
            <a:ext cx="1280160" cy="365760"/>
          </a:xfrm>
          <a:prstGeom prst="rect">
            <a:avLst/>
          </a:prstGeom>
          <a:noFill/>
        </p:spPr>
        <p:txBody>
          <a:bodyPr wrap="square" anchor="t"/>
          <a:lstStyle/>
          <a:p>
            <a:pPr algn="r"/>
            <a:r>
              <a:rPr sz="2400" b="1" i="0">
                <a:solidFill>
                  <a:srgbClr val="4CAF50"/>
                </a:solidFill>
                <a:latin typeface="Calibri"/>
              </a:rPr>
              <a:t>+0.854</a:t>
            </a:r>
          </a:p>
        </p:txBody>
      </p:sp>
      <p:sp>
        <p:nvSpPr>
          <p:cNvPr id="11" name="TextBox 10"/>
          <p:cNvSpPr txBox="1"/>
          <p:nvPr/>
        </p:nvSpPr>
        <p:spPr>
          <a:xfrm>
            <a:off x="777240" y="3337560"/>
            <a:ext cx="3520440" cy="365760"/>
          </a:xfrm>
          <a:prstGeom prst="rect">
            <a:avLst/>
          </a:prstGeom>
          <a:noFill/>
        </p:spPr>
        <p:txBody>
          <a:bodyPr wrap="square" anchor="t"/>
          <a:lstStyle/>
          <a:p>
            <a:pPr algn="l"/>
            <a:r>
              <a:rPr sz="2000" b="0" i="0">
                <a:solidFill>
                  <a:srgbClr val="FFFFFF"/>
                </a:solidFill>
                <a:latin typeface="Calibri"/>
              </a:rPr>
              <a:t>Pearson r(IS, ⟨log p⟩)</a:t>
            </a:r>
          </a:p>
        </p:txBody>
      </p:sp>
      <p:sp>
        <p:nvSpPr>
          <p:cNvPr id="12" name="TextBox 11"/>
          <p:cNvSpPr txBox="1"/>
          <p:nvPr/>
        </p:nvSpPr>
        <p:spPr>
          <a:xfrm>
            <a:off x="4343400" y="3337560"/>
            <a:ext cx="1280160" cy="365760"/>
          </a:xfrm>
          <a:prstGeom prst="rect">
            <a:avLst/>
          </a:prstGeom>
          <a:noFill/>
        </p:spPr>
        <p:txBody>
          <a:bodyPr wrap="square" anchor="t"/>
          <a:lstStyle/>
          <a:p>
            <a:pPr algn="r"/>
            <a:r>
              <a:rPr sz="2400" b="1" i="0">
                <a:solidFill>
                  <a:srgbClr val="4CAF50"/>
                </a:solidFill>
                <a:latin typeface="Calibri"/>
              </a:rPr>
              <a:t>+0.760</a:t>
            </a:r>
          </a:p>
        </p:txBody>
      </p:sp>
      <p:sp>
        <p:nvSpPr>
          <p:cNvPr id="13" name="TextBox 12"/>
          <p:cNvSpPr txBox="1"/>
          <p:nvPr/>
        </p:nvSpPr>
        <p:spPr>
          <a:xfrm>
            <a:off x="731520" y="3931920"/>
            <a:ext cx="4983480" cy="411480"/>
          </a:xfrm>
          <a:prstGeom prst="rect">
            <a:avLst/>
          </a:prstGeom>
          <a:noFill/>
        </p:spPr>
        <p:txBody>
          <a:bodyPr wrap="square" anchor="t"/>
          <a:lstStyle/>
          <a:p>
            <a:pPr algn="l"/>
            <a:r>
              <a:rPr sz="1600" b="0" i="1">
                <a:solidFill>
                  <a:srgbClr val="AAAAAA"/>
                </a:solidFill>
                <a:latin typeface="Calibri"/>
              </a:rPr>
              <a:t>Rank correlation 0.854 — IS and confidence rank segments nearly identically.</a:t>
            </a:r>
          </a:p>
        </p:txBody>
      </p:sp>
      <p:sp>
        <p:nvSpPr>
          <p:cNvPr id="14" name="Rounded Rectangle 13"/>
          <p:cNvSpPr/>
          <p:nvPr/>
        </p:nvSpPr>
        <p:spPr>
          <a:xfrm>
            <a:off x="6291072" y="1828800"/>
            <a:ext cx="5349240" cy="256032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920240"/>
            <a:ext cx="4983480" cy="320040"/>
          </a:xfrm>
          <a:prstGeom prst="rect">
            <a:avLst/>
          </a:prstGeom>
          <a:noFill/>
        </p:spPr>
        <p:txBody>
          <a:bodyPr wrap="square" anchor="t"/>
          <a:lstStyle/>
          <a:p>
            <a:pPr algn="ctr"/>
            <a:r>
              <a:rPr sz="2200" b="1" i="0">
                <a:solidFill>
                  <a:srgbClr val="FFD54F"/>
                </a:solidFill>
                <a:latin typeface="Calibri"/>
              </a:rPr>
              <a:t>TIER + BINARY AGREEMENT</a:t>
            </a:r>
          </a:p>
        </p:txBody>
      </p:sp>
      <p:sp>
        <p:nvSpPr>
          <p:cNvPr id="16" name="TextBox 15"/>
          <p:cNvSpPr txBox="1"/>
          <p:nvPr/>
        </p:nvSpPr>
        <p:spPr>
          <a:xfrm>
            <a:off x="6473952" y="2331720"/>
            <a:ext cx="4983480" cy="320040"/>
          </a:xfrm>
          <a:prstGeom prst="rect">
            <a:avLst/>
          </a:prstGeom>
          <a:noFill/>
        </p:spPr>
        <p:txBody>
          <a:bodyPr wrap="square" anchor="t"/>
          <a:lstStyle/>
          <a:p>
            <a:pPr algn="ctr"/>
            <a:r>
              <a:rPr sz="2000" b="0" i="0">
                <a:solidFill>
                  <a:srgbClr val="FFFFFF"/>
                </a:solidFill>
                <a:latin typeface="Calibri"/>
              </a:rPr>
              <a:t>κ (3-tier × 3-tier) = 0.498   (moderate)</a:t>
            </a:r>
          </a:p>
        </p:txBody>
      </p:sp>
      <p:sp>
        <p:nvSpPr>
          <p:cNvPr id="17" name="TextBox 16"/>
          <p:cNvSpPr txBox="1"/>
          <p:nvPr/>
        </p:nvSpPr>
        <p:spPr>
          <a:xfrm>
            <a:off x="6473952" y="2697480"/>
            <a:ext cx="4983480" cy="320040"/>
          </a:xfrm>
          <a:prstGeom prst="rect">
            <a:avLst/>
          </a:prstGeom>
          <a:noFill/>
        </p:spPr>
        <p:txBody>
          <a:bodyPr wrap="square" anchor="t"/>
          <a:lstStyle/>
          <a:p>
            <a:pPr algn="ctr"/>
            <a:r>
              <a:rPr sz="2000" b="0" i="0">
                <a:solidFill>
                  <a:srgbClr val="FFFFFF"/>
                </a:solidFill>
                <a:latin typeface="Calibri"/>
              </a:rPr>
              <a:t>κ_binary = 0.71   (substantial)</a:t>
            </a:r>
          </a:p>
        </p:txBody>
      </p:sp>
      <p:sp>
        <p:nvSpPr>
          <p:cNvPr id="18" name="TextBox 17"/>
          <p:cNvSpPr txBox="1"/>
          <p:nvPr/>
        </p:nvSpPr>
        <p:spPr>
          <a:xfrm>
            <a:off x="6473952" y="3063240"/>
            <a:ext cx="4983480" cy="320040"/>
          </a:xfrm>
          <a:prstGeom prst="rect">
            <a:avLst/>
          </a:prstGeom>
          <a:noFill/>
        </p:spPr>
        <p:txBody>
          <a:bodyPr wrap="square" anchor="t"/>
          <a:lstStyle/>
          <a:p>
            <a:pPr algn="ctr"/>
            <a:r>
              <a:rPr sz="2000" b="1" i="0">
                <a:solidFill>
                  <a:srgbClr val="4CAF50"/>
                </a:solidFill>
                <a:latin typeface="Calibri"/>
              </a:rPr>
              <a:t>86% raw agreement on useful / not-useful</a:t>
            </a:r>
          </a:p>
        </p:txBody>
      </p:sp>
      <p:sp>
        <p:nvSpPr>
          <p:cNvPr id="19" name="TextBox 18"/>
          <p:cNvSpPr txBox="1"/>
          <p:nvPr/>
        </p:nvSpPr>
        <p:spPr>
          <a:xfrm>
            <a:off x="6473952" y="3520440"/>
            <a:ext cx="4983480" cy="685800"/>
          </a:xfrm>
          <a:prstGeom prst="rect">
            <a:avLst/>
          </a:prstGeom>
          <a:noFill/>
        </p:spPr>
        <p:txBody>
          <a:bodyPr wrap="square" anchor="t"/>
          <a:lstStyle/>
          <a:p>
            <a:pPr algn="ctr"/>
            <a:r>
              <a:rPr sz="1600" b="0" i="1">
                <a:solidFill>
                  <a:srgbClr val="AAAAAA"/>
                </a:solidFill>
                <a:latin typeface="Calibri"/>
              </a:rPr>
              <a:t>Adjacent (±1 tier) agreement: 98% — off-diagonal cases mostly Trust↔Salvage.</a:t>
            </a:r>
          </a:p>
        </p:txBody>
      </p:sp>
      <p:graphicFrame>
        <p:nvGraphicFramePr>
          <p:cNvPr id="20" name="Table 19"/>
          <p:cNvGraphicFramePr>
            <a:graphicFrameLocks noGrp="1"/>
          </p:cNvGraphicFramePr>
          <p:nvPr/>
        </p:nvGraphicFramePr>
        <p:xfrm>
          <a:off x="2377440" y="4572000"/>
          <a:ext cx="7434072" cy="1645920"/>
        </p:xfrm>
        <a:graphic>
          <a:graphicData uri="http://schemas.openxmlformats.org/drawingml/2006/table">
            <a:tbl>
              <a:tblPr firstRow="0" bandRow="0" lastRow="0" bandCol="0">
                <a:tableStyleId>{5C22544A-7EE6-4342-B048-85BDC9FD1C3A}</a:tableStyleId>
              </a:tblPr>
              <a:tblGrid>
                <a:gridCol w="2286000"/>
                <a:gridCol w="1828800"/>
                <a:gridCol w="1828800"/>
                <a:gridCol w="1490472"/>
              </a:tblGrid>
              <a:tr h="411480">
                <a:tc>
                  <a:txBody>
                    <a:bodyPr/>
                    <a:lstStyle/>
                    <a:p>
                      <a:pPr algn="ctr">
                        <a:defRPr sz="1800" b="1" i="0">
                          <a:solidFill>
                            <a:srgbClr val="FFFFFF"/>
                          </a:solidFill>
                          <a:latin typeface="Calibri"/>
                        </a:defRPr>
                      </a:pPr>
                    </a:p>
                  </a:txBody>
                  <a:tcPr>
                    <a:solidFill>
                      <a:srgbClr val="00b4d8"/>
                    </a:solidFill>
                  </a:tcPr>
                </a:tc>
                <a:tc>
                  <a:txBody>
                    <a:bodyPr/>
                    <a:lstStyle/>
                    <a:p>
                      <a:pPr algn="ctr"/>
                      <a:r>
                        <a:rPr sz="1800" b="1" i="0">
                          <a:solidFill>
                            <a:srgbClr val="FFFFFF"/>
                          </a:solidFill>
                          <a:latin typeface="Calibri"/>
                        </a:rPr>
                        <a:t>Conf trusted</a:t>
                      </a:r>
                    </a:p>
                  </a:txBody>
                  <a:tcPr>
                    <a:solidFill>
                      <a:srgbClr val="00b4d8"/>
                    </a:solidFill>
                  </a:tcPr>
                </a:tc>
                <a:tc>
                  <a:txBody>
                    <a:bodyPr/>
                    <a:lstStyle/>
                    <a:p>
                      <a:pPr algn="ctr"/>
                      <a:r>
                        <a:rPr sz="1800" b="1" i="0">
                          <a:solidFill>
                            <a:srgbClr val="FFFFFF"/>
                          </a:solidFill>
                          <a:latin typeface="Calibri"/>
                        </a:rPr>
                        <a:t>Conf stripped</a:t>
                      </a:r>
                    </a:p>
                  </a:txBody>
                  <a:tcPr>
                    <a:solidFill>
                      <a:srgbClr val="00b4d8"/>
                    </a:solidFill>
                  </a:tcPr>
                </a:tc>
                <a:tc>
                  <a:txBody>
                    <a:bodyPr/>
                    <a:lstStyle/>
                    <a:p>
                      <a:pPr algn="ctr"/>
                      <a:r>
                        <a:rPr sz="1800" b="1" i="0">
                          <a:solidFill>
                            <a:srgbClr val="FFFFFF"/>
                          </a:solidFill>
                          <a:latin typeface="Calibri"/>
                        </a:rPr>
                        <a:t>Total</a:t>
                      </a:r>
                    </a:p>
                  </a:txBody>
                  <a:tcPr>
                    <a:solidFill>
                      <a:srgbClr val="00b4d8"/>
                    </a:solidFill>
                  </a:tcPr>
                </a:tc>
              </a:tr>
              <a:tr h="411480">
                <a:tc>
                  <a:txBody>
                    <a:bodyPr/>
                    <a:lstStyle/>
                    <a:p>
                      <a:pPr algn="l"/>
                      <a:r>
                        <a:rPr sz="1800" b="0" i="0">
                          <a:solidFill>
                            <a:srgbClr val="FFFFFF"/>
                          </a:solidFill>
                          <a:latin typeface="Calibri"/>
                        </a:rPr>
                        <a:t>IS useful (Y+P)</a:t>
                      </a:r>
                    </a:p>
                  </a:txBody>
                  <a:tcPr>
                    <a:solidFill>
                      <a:srgbClr val="0d1b2a"/>
                    </a:solidFill>
                  </a:tcPr>
                </a:tc>
                <a:tc>
                  <a:txBody>
                    <a:bodyPr/>
                    <a:lstStyle/>
                    <a:p>
                      <a:pPr algn="l"/>
                      <a:r>
                        <a:rPr sz="1800" b="0" i="0">
                          <a:solidFill>
                            <a:srgbClr val="4CAF50"/>
                          </a:solidFill>
                          <a:latin typeface="Calibri"/>
                        </a:rPr>
                        <a:t>797</a:t>
                      </a:r>
                    </a:p>
                  </a:txBody>
                  <a:tcPr>
                    <a:solidFill>
                      <a:srgbClr val="0d1b2a"/>
                    </a:solidFill>
                  </a:tcPr>
                </a:tc>
                <a:tc>
                  <a:txBody>
                    <a:bodyPr/>
                    <a:lstStyle/>
                    <a:p>
                      <a:pPr algn="l"/>
                      <a:r>
                        <a:rPr sz="1800" b="0" i="0">
                          <a:solidFill>
                            <a:srgbClr val="FF9800"/>
                          </a:solidFill>
                          <a:latin typeface="Calibri"/>
                        </a:rPr>
                        <a:t>126</a:t>
                      </a:r>
                    </a:p>
                  </a:txBody>
                  <a:tcPr>
                    <a:solidFill>
                      <a:srgbClr val="0d1b2a"/>
                    </a:solidFill>
                  </a:tcPr>
                </a:tc>
                <a:tc>
                  <a:txBody>
                    <a:bodyPr/>
                    <a:lstStyle/>
                    <a:p>
                      <a:pPr algn="l"/>
                      <a:r>
                        <a:rPr sz="1800" b="0" i="0">
                          <a:solidFill>
                            <a:srgbClr val="FFFFFF"/>
                          </a:solidFill>
                          <a:latin typeface="Calibri"/>
                        </a:rPr>
                        <a:t>923</a:t>
                      </a:r>
                    </a:p>
                  </a:txBody>
                  <a:tcPr>
                    <a:solidFill>
                      <a:srgbClr val="0d1b2a"/>
                    </a:solidFill>
                  </a:tcPr>
                </a:tc>
              </a:tr>
              <a:tr h="411480">
                <a:tc>
                  <a:txBody>
                    <a:bodyPr/>
                    <a:lstStyle/>
                    <a:p>
                      <a:pPr algn="l"/>
                      <a:r>
                        <a:rPr sz="1800" b="0" i="0">
                          <a:solidFill>
                            <a:srgbClr val="FFFFFF"/>
                          </a:solidFill>
                          <a:latin typeface="Calibri"/>
                        </a:rPr>
                        <a:t>IS not useful</a:t>
                      </a:r>
                    </a:p>
                  </a:txBody>
                  <a:tcPr>
                    <a:solidFill>
                      <a:srgbClr val="152a40"/>
                    </a:solidFill>
                  </a:tcPr>
                </a:tc>
                <a:tc>
                  <a:txBody>
                    <a:bodyPr/>
                    <a:lstStyle/>
                    <a:p>
                      <a:pPr algn="l"/>
                      <a:r>
                        <a:rPr sz="1800" b="0" i="0">
                          <a:solidFill>
                            <a:srgbClr val="E06C75"/>
                          </a:solidFill>
                          <a:latin typeface="Calibri"/>
                        </a:rPr>
                        <a:t>78</a:t>
                      </a:r>
                    </a:p>
                  </a:txBody>
                  <a:tcPr>
                    <a:solidFill>
                      <a:srgbClr val="152a40"/>
                    </a:solidFill>
                  </a:tcPr>
                </a:tc>
                <a:tc>
                  <a:txBody>
                    <a:bodyPr/>
                    <a:lstStyle/>
                    <a:p>
                      <a:pPr algn="l"/>
                      <a:r>
                        <a:rPr sz="1800" b="0" i="0">
                          <a:solidFill>
                            <a:srgbClr val="4CAF50"/>
                          </a:solidFill>
                          <a:latin typeface="Calibri"/>
                        </a:rPr>
                        <a:t>426</a:t>
                      </a:r>
                    </a:p>
                  </a:txBody>
                  <a:tcPr>
                    <a:solidFill>
                      <a:srgbClr val="152a40"/>
                    </a:solidFill>
                  </a:tcPr>
                </a:tc>
                <a:tc>
                  <a:txBody>
                    <a:bodyPr/>
                    <a:lstStyle/>
                    <a:p>
                      <a:pPr algn="l"/>
                      <a:r>
                        <a:rPr sz="1800" b="0" i="0">
                          <a:solidFill>
                            <a:srgbClr val="FFFFFF"/>
                          </a:solidFill>
                          <a:latin typeface="Calibri"/>
                        </a:rPr>
                        <a:t>504</a:t>
                      </a:r>
                    </a:p>
                  </a:txBody>
                  <a:tcPr>
                    <a:solidFill>
                      <a:srgbClr val="152a40"/>
                    </a:solidFill>
                  </a:tcPr>
                </a:tc>
              </a:tr>
              <a:tr h="411480">
                <a:tc>
                  <a:txBody>
                    <a:bodyPr/>
                    <a:lstStyle/>
                    <a:p>
                      <a:pPr algn="l"/>
                      <a:r>
                        <a:rPr sz="1800" b="0" i="0">
                          <a:solidFill>
                            <a:srgbClr val="FFFFFF"/>
                          </a:solidFill>
                          <a:latin typeface="Calibri"/>
                        </a:rPr>
                        <a:t>Total</a:t>
                      </a:r>
                    </a:p>
                  </a:txBody>
                  <a:tcPr>
                    <a:solidFill>
                      <a:srgbClr val="0d1b2a"/>
                    </a:solidFill>
                  </a:tcPr>
                </a:tc>
                <a:tc>
                  <a:txBody>
                    <a:bodyPr/>
                    <a:lstStyle/>
                    <a:p>
                      <a:pPr algn="l"/>
                      <a:r>
                        <a:rPr sz="1800" b="0" i="0">
                          <a:solidFill>
                            <a:srgbClr val="FFFFFF"/>
                          </a:solidFill>
                          <a:latin typeface="Calibri"/>
                        </a:rPr>
                        <a:t>875</a:t>
                      </a:r>
                    </a:p>
                  </a:txBody>
                  <a:tcPr>
                    <a:solidFill>
                      <a:srgbClr val="0d1b2a"/>
                    </a:solidFill>
                  </a:tcPr>
                </a:tc>
                <a:tc>
                  <a:txBody>
                    <a:bodyPr/>
                    <a:lstStyle/>
                    <a:p>
                      <a:pPr algn="l"/>
                      <a:r>
                        <a:rPr sz="1800" b="0" i="0">
                          <a:solidFill>
                            <a:srgbClr val="FFFFFF"/>
                          </a:solidFill>
                          <a:latin typeface="Calibri"/>
                        </a:rPr>
                        <a:t>552</a:t>
                      </a:r>
                    </a:p>
                  </a:txBody>
                  <a:tcPr>
                    <a:solidFill>
                      <a:srgbClr val="0d1b2a"/>
                    </a:solidFill>
                  </a:tcPr>
                </a:tc>
                <a:tc>
                  <a:txBody>
                    <a:bodyPr/>
                    <a:lstStyle/>
                    <a:p>
                      <a:pPr algn="l"/>
                      <a:r>
                        <a:rPr sz="1800" b="0" i="0">
                          <a:solidFill>
                            <a:srgbClr val="FFFFFF"/>
                          </a:solidFill>
                          <a:latin typeface="Calibri"/>
                        </a:rPr>
                        <a:t>1,427</a:t>
                      </a:r>
                    </a:p>
                  </a:txBody>
                  <a:tcPr>
                    <a:solidFill>
                      <a:srgbClr val="0d1b2a"/>
                    </a:solidFill>
                  </a:tcPr>
                </a:tc>
              </a:tr>
            </a:tbl>
          </a:graphicData>
        </a:graphic>
      </p:graphicFrame>
      <p:sp>
        <p:nvSpPr>
          <p:cNvPr id="21" name="TextBox 20"/>
          <p:cNvSpPr txBox="1"/>
          <p:nvPr/>
        </p:nvSpPr>
        <p:spPr>
          <a:xfrm>
            <a:off x="548640" y="5989320"/>
            <a:ext cx="11091672" cy="365760"/>
          </a:xfrm>
          <a:prstGeom prst="rect">
            <a:avLst/>
          </a:prstGeom>
          <a:noFill/>
        </p:spPr>
        <p:txBody>
          <a:bodyPr wrap="square" anchor="t"/>
          <a:lstStyle/>
          <a:p>
            <a:pPr algn="ctr"/>
            <a:r>
              <a:rPr sz="1600" b="0" i="1">
                <a:solidFill>
                  <a:srgbClr val="666666"/>
                </a:solidFill>
                <a:latin typeface="Calibri"/>
              </a:rPr>
              <a:t>Thresholds: IS ≥ 2.00 (Y+P) × mean_prob ≥ 0.65 (above strip-coloring boundary).</a:t>
            </a:r>
          </a:p>
        </p:txBody>
      </p:sp>
      <p:pic>
        <p:nvPicPr>
          <p:cNvPr id="22" name="Picture 2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3" name="TextBox 2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4" grpId="0" animBg="1"/>
      <p:bldP spid="20" grpId="0" animBg="1"/>
    </p:bldLst>
  </p:timing>
</p:sld>
</file>

<file path=ppt/slides/slide48.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Failure Mode Taxonomy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795528"/>
          </a:xfrm>
          <a:prstGeom prst="rect">
            <a:avLst/>
          </a:prstGeom>
          <a:noFill/>
        </p:spPr>
        <p:txBody>
          <a:bodyPr wrap="square" anchor="t"/>
          <a:lstStyle/>
          <a:p>
            <a:pPr algn="l"/>
            <a:r>
              <a:rPr sz="2000" b="0" i="1">
                <a:solidFill>
                  <a:srgbClr val="AAAAAA"/>
                </a:solidFill>
                <a:latin typeface="Calibri"/>
              </a:rPr>
              <a:t>5 failure modes — share of ALL 1,497 segments each mode affects</a:t>
            </a:r>
          </a:p>
        </p:txBody>
      </p:sp>
      <p:sp>
        <p:nvSpPr>
          <p:cNvPr id="5" name="TextBox 4"/>
          <p:cNvSpPr txBox="1"/>
          <p:nvPr/>
        </p:nvSpPr>
        <p:spPr>
          <a:xfrm>
            <a:off x="548640" y="1828800"/>
            <a:ext cx="2926080" cy="594360"/>
          </a:xfrm>
          <a:prstGeom prst="rect">
            <a:avLst/>
          </a:prstGeom>
          <a:noFill/>
        </p:spPr>
        <p:txBody>
          <a:bodyPr wrap="square" anchor="t"/>
          <a:lstStyle/>
          <a:p>
            <a:pPr algn="r"/>
            <a:r>
              <a:rPr sz="1800" b="1" i="0">
                <a:solidFill>
                  <a:srgbClr val="FFFFFF"/>
                </a:solidFill>
                <a:latin typeface="Calibri"/>
              </a:rPr>
              <a:t>Wrong Topic</a:t>
            </a:r>
          </a:p>
        </p:txBody>
      </p:sp>
      <p:sp>
        <p:nvSpPr>
          <p:cNvPr id="6" name="Rounded Rectangle 5"/>
          <p:cNvSpPr/>
          <p:nvPr/>
        </p:nvSpPr>
        <p:spPr>
          <a:xfrm>
            <a:off x="3611880" y="1828800"/>
            <a:ext cx="4663440" cy="59436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5048" y="1828800"/>
            <a:ext cx="1645920" cy="594360"/>
          </a:xfrm>
          <a:prstGeom prst="rect">
            <a:avLst/>
          </a:prstGeom>
          <a:noFill/>
        </p:spPr>
        <p:txBody>
          <a:bodyPr wrap="square" anchor="t"/>
          <a:lstStyle/>
          <a:p>
            <a:pPr algn="l"/>
            <a:r>
              <a:rPr sz="1800" b="0" i="0">
                <a:solidFill>
                  <a:srgbClr val="AAAAAA"/>
                </a:solidFill>
                <a:latin typeface="Calibri"/>
              </a:rPr>
              <a:t>17.0% (255)</a:t>
            </a:r>
          </a:p>
        </p:txBody>
      </p:sp>
      <p:sp>
        <p:nvSpPr>
          <p:cNvPr id="8" name="TextBox 7"/>
          <p:cNvSpPr txBox="1"/>
          <p:nvPr/>
        </p:nvSpPr>
        <p:spPr>
          <a:xfrm>
            <a:off x="548640" y="2606040"/>
            <a:ext cx="2926080" cy="594360"/>
          </a:xfrm>
          <a:prstGeom prst="rect">
            <a:avLst/>
          </a:prstGeom>
          <a:noFill/>
        </p:spPr>
        <p:txBody>
          <a:bodyPr wrap="square" anchor="t"/>
          <a:lstStyle/>
          <a:p>
            <a:pPr algn="r"/>
            <a:r>
              <a:rPr sz="1800" b="1" i="0">
                <a:solidFill>
                  <a:srgbClr val="FFFFFF"/>
                </a:solidFill>
                <a:latin typeface="Calibri"/>
              </a:rPr>
              <a:t>Hallucination</a:t>
            </a:r>
          </a:p>
        </p:txBody>
      </p:sp>
      <p:sp>
        <p:nvSpPr>
          <p:cNvPr id="9" name="Rounded Rectangle 8"/>
          <p:cNvSpPr/>
          <p:nvPr/>
        </p:nvSpPr>
        <p:spPr>
          <a:xfrm>
            <a:off x="3611880" y="2606040"/>
            <a:ext cx="1975104" cy="594360"/>
          </a:xfrm>
          <a:prstGeom prst="round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96712" y="2606040"/>
            <a:ext cx="1645920" cy="594360"/>
          </a:xfrm>
          <a:prstGeom prst="rect">
            <a:avLst/>
          </a:prstGeom>
          <a:noFill/>
        </p:spPr>
        <p:txBody>
          <a:bodyPr wrap="square" anchor="t"/>
          <a:lstStyle/>
          <a:p>
            <a:pPr algn="l"/>
            <a:r>
              <a:rPr sz="1800" b="0" i="0">
                <a:solidFill>
                  <a:srgbClr val="AAAAAA"/>
                </a:solidFill>
                <a:latin typeface="Calibri"/>
              </a:rPr>
              <a:t>7.2% (108)</a:t>
            </a:r>
          </a:p>
        </p:txBody>
      </p:sp>
      <p:sp>
        <p:nvSpPr>
          <p:cNvPr id="11" name="TextBox 10"/>
          <p:cNvSpPr txBox="1"/>
          <p:nvPr/>
        </p:nvSpPr>
        <p:spPr>
          <a:xfrm>
            <a:off x="548640" y="3383280"/>
            <a:ext cx="2926080" cy="594360"/>
          </a:xfrm>
          <a:prstGeom prst="rect">
            <a:avLst/>
          </a:prstGeom>
          <a:noFill/>
        </p:spPr>
        <p:txBody>
          <a:bodyPr wrap="square" anchor="t"/>
          <a:lstStyle/>
          <a:p>
            <a:pPr algn="r"/>
            <a:r>
              <a:rPr sz="1800" b="1" i="0">
                <a:solidFill>
                  <a:srgbClr val="FFFFFF"/>
                </a:solidFill>
                <a:latin typeface="Calibri"/>
              </a:rPr>
              <a:t>Signal Loss</a:t>
            </a:r>
          </a:p>
        </p:txBody>
      </p:sp>
      <p:sp>
        <p:nvSpPr>
          <p:cNvPr id="12" name="Rounded Rectangle 11"/>
          <p:cNvSpPr/>
          <p:nvPr/>
        </p:nvSpPr>
        <p:spPr>
          <a:xfrm>
            <a:off x="3611880" y="3383280"/>
            <a:ext cx="1453896" cy="594360"/>
          </a:xfrm>
          <a:prstGeom prst="round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3383280"/>
            <a:ext cx="1645920" cy="594360"/>
          </a:xfrm>
          <a:prstGeom prst="rect">
            <a:avLst/>
          </a:prstGeom>
          <a:noFill/>
        </p:spPr>
        <p:txBody>
          <a:bodyPr wrap="square" anchor="t"/>
          <a:lstStyle/>
          <a:p>
            <a:pPr algn="l"/>
            <a:r>
              <a:rPr sz="1800" b="0" i="0">
                <a:solidFill>
                  <a:srgbClr val="AAAAAA"/>
                </a:solidFill>
                <a:latin typeface="Calibri"/>
              </a:rPr>
              <a:t>5.3% (80)</a:t>
            </a:r>
          </a:p>
        </p:txBody>
      </p:sp>
      <p:sp>
        <p:nvSpPr>
          <p:cNvPr id="14" name="TextBox 13"/>
          <p:cNvSpPr txBox="1"/>
          <p:nvPr/>
        </p:nvSpPr>
        <p:spPr>
          <a:xfrm>
            <a:off x="548640" y="4160520"/>
            <a:ext cx="2926080" cy="594360"/>
          </a:xfrm>
          <a:prstGeom prst="rect">
            <a:avLst/>
          </a:prstGeom>
          <a:noFill/>
        </p:spPr>
        <p:txBody>
          <a:bodyPr wrap="square" anchor="t"/>
          <a:lstStyle/>
          <a:p>
            <a:pPr algn="r"/>
            <a:r>
              <a:rPr sz="1800" b="1" i="0">
                <a:solidFill>
                  <a:srgbClr val="FFFFFF"/>
                </a:solidFill>
                <a:latin typeface="Calibri"/>
              </a:rPr>
              <a:t>Right Topic, Wrong Details</a:t>
            </a:r>
          </a:p>
        </p:txBody>
      </p:sp>
      <p:sp>
        <p:nvSpPr>
          <p:cNvPr id="15" name="Rounded Rectangle 14"/>
          <p:cNvSpPr/>
          <p:nvPr/>
        </p:nvSpPr>
        <p:spPr>
          <a:xfrm>
            <a:off x="3611880" y="4160520"/>
            <a:ext cx="1453896" cy="59436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75504" y="4160520"/>
            <a:ext cx="1645920" cy="594360"/>
          </a:xfrm>
          <a:prstGeom prst="rect">
            <a:avLst/>
          </a:prstGeom>
          <a:noFill/>
        </p:spPr>
        <p:txBody>
          <a:bodyPr wrap="square" anchor="t"/>
          <a:lstStyle/>
          <a:p>
            <a:pPr algn="l"/>
            <a:r>
              <a:rPr sz="1800" b="0" i="0">
                <a:solidFill>
                  <a:srgbClr val="AAAAAA"/>
                </a:solidFill>
                <a:latin typeface="Calibri"/>
              </a:rPr>
              <a:t>5.3% (79)</a:t>
            </a:r>
          </a:p>
        </p:txBody>
      </p:sp>
      <p:sp>
        <p:nvSpPr>
          <p:cNvPr id="17" name="TextBox 16"/>
          <p:cNvSpPr txBox="1"/>
          <p:nvPr/>
        </p:nvSpPr>
        <p:spPr>
          <a:xfrm>
            <a:off x="548640" y="4937760"/>
            <a:ext cx="2926080" cy="594360"/>
          </a:xfrm>
          <a:prstGeom prst="rect">
            <a:avLst/>
          </a:prstGeom>
          <a:noFill/>
        </p:spPr>
        <p:txBody>
          <a:bodyPr wrap="square" anchor="t"/>
          <a:lstStyle/>
          <a:p>
            <a:pPr algn="r"/>
            <a:r>
              <a:rPr sz="1800" b="1" i="0">
                <a:solidFill>
                  <a:srgbClr val="FFFFFF"/>
                </a:solidFill>
                <a:latin typeface="Calibri"/>
              </a:rPr>
              <a:t>Accumulated Errors</a:t>
            </a:r>
          </a:p>
        </p:txBody>
      </p:sp>
      <p:sp>
        <p:nvSpPr>
          <p:cNvPr id="18" name="Rounded Rectangle 17"/>
          <p:cNvSpPr/>
          <p:nvPr/>
        </p:nvSpPr>
        <p:spPr>
          <a:xfrm>
            <a:off x="3611880" y="4937760"/>
            <a:ext cx="960120" cy="594360"/>
          </a:xfrm>
          <a:prstGeom prst="round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81728" y="4937760"/>
            <a:ext cx="1645920" cy="594360"/>
          </a:xfrm>
          <a:prstGeom prst="rect">
            <a:avLst/>
          </a:prstGeom>
          <a:noFill/>
        </p:spPr>
        <p:txBody>
          <a:bodyPr wrap="square" anchor="t"/>
          <a:lstStyle/>
          <a:p>
            <a:pPr algn="l"/>
            <a:r>
              <a:rPr sz="1800" b="0" i="0">
                <a:solidFill>
                  <a:srgbClr val="AAAAAA"/>
                </a:solidFill>
                <a:latin typeface="Calibri"/>
              </a:rPr>
              <a:t>3.5% (52)</a:t>
            </a:r>
          </a:p>
        </p:txBody>
      </p:sp>
      <p:sp>
        <p:nvSpPr>
          <p:cNvPr id="20" name="TextBox 19"/>
          <p:cNvSpPr txBox="1"/>
          <p:nvPr/>
        </p:nvSpPr>
        <p:spPr>
          <a:xfrm>
            <a:off x="548640" y="5852160"/>
            <a:ext cx="11091672" cy="365760"/>
          </a:xfrm>
          <a:prstGeom prst="rect">
            <a:avLst/>
          </a:prstGeom>
          <a:noFill/>
        </p:spPr>
        <p:txBody>
          <a:bodyPr wrap="square" anchor="t"/>
          <a:lstStyle/>
          <a:p>
            <a:pPr algn="l"/>
            <a:r>
              <a:rPr sz="1800" b="0" i="1">
                <a:solidFill>
                  <a:srgbClr val="AAAAAA"/>
                </a:solidFill>
                <a:latin typeface="Calibri"/>
              </a:rPr>
              <a:t>Failures are diverse — no single fix. Each roadmap phase targets specific modes.</a:t>
            </a:r>
          </a:p>
        </p:txBody>
      </p:sp>
      <p:pic>
        <p:nvPicPr>
          <p:cNvPr id="21" name="Picture 2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2" name="TextBox 2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24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12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24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Failure Mode Taxonomy: Top 3 by Impact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502920"/>
          </a:xfrm>
          <a:prstGeom prst="rect">
            <a:avLst/>
          </a:prstGeom>
          <a:noFill/>
        </p:spPr>
        <p:txBody>
          <a:bodyPr wrap="square" anchor="t"/>
          <a:lstStyle/>
          <a:p>
            <a:pPr algn="l"/>
            <a:r>
              <a:rPr sz="1800" b="0" i="1">
                <a:solidFill>
                  <a:srgbClr val="AAAAAA"/>
                </a:solidFill>
                <a:latin typeface="Calibri"/>
              </a:rPr>
              <a:t>574 below-threshold segments (IS &lt; 2.0) classified into 5 mutually exclusive categories — each segment gets exactly one label, checked 1→5.</a:t>
            </a:r>
          </a:p>
        </p:txBody>
      </p:sp>
      <p:sp>
        <p:nvSpPr>
          <p:cNvPr id="5" name="Rounded Rectangle 4"/>
          <p:cNvSpPr/>
          <p:nvPr/>
        </p:nvSpPr>
        <p:spPr>
          <a:xfrm>
            <a:off x="548640" y="1920240"/>
            <a:ext cx="11091672" cy="1325880"/>
          </a:xfrm>
          <a:prstGeom prst="roundRect">
            <a:avLst/>
          </a:prstGeom>
          <a:solidFill>
            <a:srgbClr val="152A40"/>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93392"/>
            <a:ext cx="4663440" cy="502920"/>
          </a:xfrm>
          <a:prstGeom prst="rect">
            <a:avLst/>
          </a:prstGeom>
          <a:noFill/>
        </p:spPr>
        <p:txBody>
          <a:bodyPr wrap="square" anchor="t"/>
          <a:lstStyle/>
          <a:p>
            <a:pPr algn="l"/>
            <a:r>
              <a:rPr sz="2000" b="1" i="0">
                <a:solidFill>
                  <a:srgbClr val="FF9800"/>
                </a:solidFill>
                <a:latin typeface="Calibri"/>
              </a:rPr>
              <a:t>1. Wrong Topic  (44%)</a:t>
            </a:r>
          </a:p>
        </p:txBody>
      </p:sp>
      <p:sp>
        <p:nvSpPr>
          <p:cNvPr id="7" name="TextBox 6"/>
          <p:cNvSpPr txBox="1"/>
          <p:nvPr/>
        </p:nvSpPr>
        <p:spPr>
          <a:xfrm>
            <a:off x="731520" y="2468880"/>
            <a:ext cx="4663440" cy="731520"/>
          </a:xfrm>
          <a:prstGeom prst="rect">
            <a:avLst/>
          </a:prstGeom>
          <a:noFill/>
        </p:spPr>
        <p:txBody>
          <a:bodyPr wrap="square" anchor="t"/>
          <a:lstStyle/>
          <a:p>
            <a:pPr algn="l"/>
            <a:r>
              <a:rPr sz="2000" b="0" i="0">
                <a:solidFill>
                  <a:srgbClr val="AAAAAA"/>
                </a:solidFill>
                <a:latin typeface="Calibri"/>
              </a:rPr>
              <a:t>Mouth shapes decoded to wrong domain  —  255 segments</a:t>
            </a:r>
          </a:p>
        </p:txBody>
      </p:sp>
      <p:sp>
        <p:nvSpPr>
          <p:cNvPr id="8" name="TextBox 7"/>
          <p:cNvSpPr txBox="1"/>
          <p:nvPr/>
        </p:nvSpPr>
        <p:spPr>
          <a:xfrm>
            <a:off x="5486400" y="1993392"/>
            <a:ext cx="5925312" cy="795528"/>
          </a:xfrm>
          <a:prstGeom prst="rect">
            <a:avLst/>
          </a:prstGeom>
          <a:noFill/>
        </p:spPr>
        <p:txBody>
          <a:bodyPr wrap="square" anchor="t"/>
          <a:lstStyle/>
          <a:p>
            <a:pPr algn="l"/>
            <a:r>
              <a:rPr sz="2000" b="0" i="0">
                <a:solidFill>
                  <a:srgbClr val="FFFFFF"/>
                </a:solidFill>
                <a:latin typeface="Calibri"/>
              </a:rPr>
              <a:t>Rule: Semantic &lt; 0.2 (phonetic-matched or not)</a:t>
            </a:r>
          </a:p>
        </p:txBody>
      </p:sp>
      <p:sp>
        <p:nvSpPr>
          <p:cNvPr id="9" name="TextBox 8"/>
          <p:cNvSpPr txBox="1"/>
          <p:nvPr/>
        </p:nvSpPr>
        <p:spPr>
          <a:xfrm>
            <a:off x="5486400" y="2468880"/>
            <a:ext cx="5925312" cy="731520"/>
          </a:xfrm>
          <a:prstGeom prst="rect">
            <a:avLst/>
          </a:prstGeom>
          <a:noFill/>
        </p:spPr>
        <p:txBody>
          <a:bodyPr wrap="square" anchor="t"/>
          <a:lstStyle/>
          <a:p>
            <a:pPr algn="l"/>
            <a:r>
              <a:rPr sz="1800" b="0" i="1">
                <a:solidFill>
                  <a:srgbClr val="AAAAAA"/>
                </a:solidFill>
                <a:latin typeface="Calibri"/>
              </a:rPr>
              <a:t>▸ Ref: “weight loss and diet” → Hyp: “wanted to be a princess”</a:t>
            </a:r>
          </a:p>
        </p:txBody>
      </p:sp>
      <p:sp>
        <p:nvSpPr>
          <p:cNvPr id="10" name="Rounded Rectangle 9"/>
          <p:cNvSpPr/>
          <p:nvPr/>
        </p:nvSpPr>
        <p:spPr>
          <a:xfrm>
            <a:off x="548640" y="3337560"/>
            <a:ext cx="11091672" cy="1325880"/>
          </a:xfrm>
          <a:prstGeom prst="roundRect">
            <a:avLst/>
          </a:prstGeom>
          <a:solidFill>
            <a:srgbClr val="152A40"/>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410712"/>
            <a:ext cx="4663440" cy="502920"/>
          </a:xfrm>
          <a:prstGeom prst="rect">
            <a:avLst/>
          </a:prstGeom>
          <a:noFill/>
        </p:spPr>
        <p:txBody>
          <a:bodyPr wrap="square" anchor="t"/>
          <a:lstStyle/>
          <a:p>
            <a:pPr algn="l"/>
            <a:r>
              <a:rPr sz="2000" b="1" i="0">
                <a:solidFill>
                  <a:srgbClr val="FFC107"/>
                </a:solidFill>
                <a:latin typeface="Calibri"/>
              </a:rPr>
              <a:t>2. Hallucination  (19%)</a:t>
            </a:r>
          </a:p>
        </p:txBody>
      </p:sp>
      <p:sp>
        <p:nvSpPr>
          <p:cNvPr id="12" name="TextBox 11"/>
          <p:cNvSpPr txBox="1"/>
          <p:nvPr/>
        </p:nvSpPr>
        <p:spPr>
          <a:xfrm>
            <a:off x="731520" y="3886200"/>
            <a:ext cx="4663440" cy="731520"/>
          </a:xfrm>
          <a:prstGeom prst="rect">
            <a:avLst/>
          </a:prstGeom>
          <a:noFill/>
        </p:spPr>
        <p:txBody>
          <a:bodyPr wrap="square" anchor="t"/>
          <a:lstStyle/>
          <a:p>
            <a:pPr algn="l"/>
            <a:r>
              <a:rPr sz="2000" b="0" i="0">
                <a:solidFill>
                  <a:srgbClr val="AAAAAA"/>
                </a:solidFill>
                <a:latin typeface="Calibri"/>
              </a:rPr>
              <a:t>Model invented fake text  —  108 segments</a:t>
            </a:r>
          </a:p>
        </p:txBody>
      </p:sp>
      <p:sp>
        <p:nvSpPr>
          <p:cNvPr id="13" name="TextBox 12"/>
          <p:cNvSpPr txBox="1"/>
          <p:nvPr/>
        </p:nvSpPr>
        <p:spPr>
          <a:xfrm>
            <a:off x="5486400" y="3410712"/>
            <a:ext cx="5925312" cy="795528"/>
          </a:xfrm>
          <a:prstGeom prst="rect">
            <a:avLst/>
          </a:prstGeom>
          <a:noFill/>
        </p:spPr>
        <p:txBody>
          <a:bodyPr wrap="square" anchor="t"/>
          <a:lstStyle/>
          <a:p>
            <a:pPr algn="l"/>
            <a:r>
              <a:rPr sz="2000" b="0" i="0">
                <a:solidFill>
                  <a:srgbClr val="FFFFFF"/>
                </a:solidFill>
                <a:latin typeface="Calibri"/>
              </a:rPr>
              <a:t>Rule: WER ≥ 100% (output longer than reference)</a:t>
            </a:r>
          </a:p>
        </p:txBody>
      </p:sp>
      <p:sp>
        <p:nvSpPr>
          <p:cNvPr id="14" name="TextBox 13"/>
          <p:cNvSpPr txBox="1"/>
          <p:nvPr/>
        </p:nvSpPr>
        <p:spPr>
          <a:xfrm>
            <a:off x="5486400" y="3886200"/>
            <a:ext cx="5925312" cy="731520"/>
          </a:xfrm>
          <a:prstGeom prst="rect">
            <a:avLst/>
          </a:prstGeom>
          <a:noFill/>
        </p:spPr>
        <p:txBody>
          <a:bodyPr wrap="square" anchor="t"/>
          <a:lstStyle/>
          <a:p>
            <a:pPr algn="l"/>
            <a:r>
              <a:rPr sz="1800" b="0" i="1">
                <a:solidFill>
                  <a:srgbClr val="AAAAAA"/>
                </a:solidFill>
                <a:latin typeface="Calibri"/>
              </a:rPr>
              <a:t>▸ Ref: “carry strap” → Hyp: “holocaust denier...”</a:t>
            </a:r>
          </a:p>
        </p:txBody>
      </p:sp>
      <p:sp>
        <p:nvSpPr>
          <p:cNvPr id="15" name="Rounded Rectangle 14"/>
          <p:cNvSpPr/>
          <p:nvPr/>
        </p:nvSpPr>
        <p:spPr>
          <a:xfrm>
            <a:off x="548640" y="4754880"/>
            <a:ext cx="11091672" cy="1325880"/>
          </a:xfrm>
          <a:prstGeom prst="roundRect">
            <a:avLst/>
          </a:prstGeom>
          <a:solidFill>
            <a:srgbClr val="152A40"/>
          </a:solidFill>
          <a:ln w="25400">
            <a:solidFill>
              <a:srgbClr val="F443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828032"/>
            <a:ext cx="4663440" cy="502920"/>
          </a:xfrm>
          <a:prstGeom prst="rect">
            <a:avLst/>
          </a:prstGeom>
          <a:noFill/>
        </p:spPr>
        <p:txBody>
          <a:bodyPr wrap="square" anchor="t"/>
          <a:lstStyle/>
          <a:p>
            <a:pPr algn="l"/>
            <a:r>
              <a:rPr sz="2000" b="1" i="0">
                <a:solidFill>
                  <a:srgbClr val="F44336"/>
                </a:solidFill>
                <a:latin typeface="Calibri"/>
              </a:rPr>
              <a:t>3. Right Topic, Wrong Details  (14%)</a:t>
            </a:r>
          </a:p>
        </p:txBody>
      </p:sp>
      <p:sp>
        <p:nvSpPr>
          <p:cNvPr id="17" name="TextBox 16"/>
          <p:cNvSpPr txBox="1"/>
          <p:nvPr/>
        </p:nvSpPr>
        <p:spPr>
          <a:xfrm>
            <a:off x="731520" y="5303520"/>
            <a:ext cx="4663440" cy="731520"/>
          </a:xfrm>
          <a:prstGeom prst="rect">
            <a:avLst/>
          </a:prstGeom>
          <a:noFill/>
        </p:spPr>
        <p:txBody>
          <a:bodyPr wrap="square" anchor="t"/>
          <a:lstStyle/>
          <a:p>
            <a:pPr algn="l"/>
            <a:r>
              <a:rPr sz="2000" b="0" i="0">
                <a:solidFill>
                  <a:srgbClr val="AAAAAA"/>
                </a:solidFill>
                <a:latin typeface="Calibri"/>
              </a:rPr>
              <a:t>Roughly right but names/content words lost  —  79 segments</a:t>
            </a:r>
          </a:p>
        </p:txBody>
      </p:sp>
      <p:sp>
        <p:nvSpPr>
          <p:cNvPr id="18" name="TextBox 17"/>
          <p:cNvSpPr txBox="1"/>
          <p:nvPr/>
        </p:nvSpPr>
        <p:spPr>
          <a:xfrm>
            <a:off x="5486400" y="4828032"/>
            <a:ext cx="5925312" cy="795528"/>
          </a:xfrm>
          <a:prstGeom prst="rect">
            <a:avLst/>
          </a:prstGeom>
          <a:noFill/>
        </p:spPr>
        <p:txBody>
          <a:bodyPr wrap="square" anchor="t"/>
          <a:lstStyle/>
          <a:p>
            <a:pPr algn="l"/>
            <a:r>
              <a:rPr sz="2000" b="0" i="0">
                <a:solidFill>
                  <a:srgbClr val="FFFFFF"/>
                </a:solidFill>
                <a:latin typeface="Calibri"/>
              </a:rPr>
              <a:t>Rule: NEA F1 &lt; 20% AND Semantic ≥ 0.2</a:t>
            </a:r>
          </a:p>
        </p:txBody>
      </p:sp>
      <p:sp>
        <p:nvSpPr>
          <p:cNvPr id="19" name="TextBox 18"/>
          <p:cNvSpPr txBox="1"/>
          <p:nvPr/>
        </p:nvSpPr>
        <p:spPr>
          <a:xfrm>
            <a:off x="5486400" y="5303520"/>
            <a:ext cx="5925312" cy="731520"/>
          </a:xfrm>
          <a:prstGeom prst="rect">
            <a:avLst/>
          </a:prstGeom>
          <a:noFill/>
        </p:spPr>
        <p:txBody>
          <a:bodyPr wrap="square" anchor="t"/>
          <a:lstStyle/>
          <a:p>
            <a:pPr algn="l"/>
            <a:r>
              <a:rPr sz="1800" b="0" i="1">
                <a:solidFill>
                  <a:srgbClr val="AAAAAA"/>
                </a:solidFill>
                <a:latin typeface="Calibri"/>
              </a:rPr>
              <a:t>▸ Ref: “13th amendment is going” → Hyp: “13th may mean something to him”</a:t>
            </a:r>
          </a:p>
        </p:txBody>
      </p:sp>
      <p:sp>
        <p:nvSpPr>
          <p:cNvPr id="20" name="TextBox 19"/>
          <p:cNvSpPr txBox="1"/>
          <p:nvPr/>
        </p:nvSpPr>
        <p:spPr>
          <a:xfrm>
            <a:off x="548640" y="6080760"/>
            <a:ext cx="11091672" cy="365760"/>
          </a:xfrm>
          <a:prstGeom prst="rect">
            <a:avLst/>
          </a:prstGeom>
          <a:noFill/>
        </p:spPr>
        <p:txBody>
          <a:bodyPr wrap="square" anchor="t"/>
          <a:lstStyle/>
          <a:p>
            <a:pPr algn="ctr"/>
            <a:r>
              <a:rPr sz="1800" b="0" i="1">
                <a:solidFill>
                  <a:srgbClr val="00B4D8"/>
                </a:solidFill>
                <a:latin typeface="Calibri"/>
              </a:rPr>
              <a:t>→ Live video examples of Right-Topic and Hallucination on the next slide</a:t>
            </a:r>
          </a:p>
        </p:txBody>
      </p:sp>
      <p:pic>
        <p:nvPicPr>
          <p:cNvPr id="21" name="Picture 2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2" name="TextBox 2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12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24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36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48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Failure Mode Taxonomy (2/2): Accumulated → Signal Loss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11091672" cy="164592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3200400" cy="914400"/>
          </a:xfrm>
          <a:prstGeom prst="rect">
            <a:avLst/>
          </a:prstGeom>
          <a:noFill/>
        </p:spPr>
        <p:txBody>
          <a:bodyPr wrap="square" anchor="t"/>
          <a:lstStyle/>
          <a:p>
            <a:pPr algn="l"/>
            <a:r>
              <a:rPr sz="2400" b="1" i="0">
                <a:solidFill>
                  <a:srgbClr val="AAAAAA"/>
                </a:solidFill>
                <a:latin typeface="Calibri"/>
              </a:rPr>
              <a:t>4. Signal Loss  (14%)</a:t>
            </a:r>
          </a:p>
        </p:txBody>
      </p:sp>
      <p:sp>
        <p:nvSpPr>
          <p:cNvPr id="6" name="TextBox 5"/>
          <p:cNvSpPr txBox="1"/>
          <p:nvPr/>
        </p:nvSpPr>
        <p:spPr>
          <a:xfrm>
            <a:off x="731520" y="1965960"/>
            <a:ext cx="3200400" cy="1280160"/>
          </a:xfrm>
          <a:prstGeom prst="rect">
            <a:avLst/>
          </a:prstGeom>
          <a:noFill/>
        </p:spPr>
        <p:txBody>
          <a:bodyPr wrap="square" anchor="t"/>
          <a:lstStyle/>
          <a:p>
            <a:pPr algn="l"/>
            <a:r>
              <a:rPr sz="2400" b="0" i="0">
                <a:solidFill>
                  <a:srgbClr val="AAAAAA"/>
                </a:solidFill>
                <a:latin typeface="Calibri"/>
              </a:rPr>
              <a:t>Nothing came out  —  80 segments</a:t>
            </a:r>
          </a:p>
        </p:txBody>
      </p:sp>
      <p:sp>
        <p:nvSpPr>
          <p:cNvPr id="7" name="TextBox 6"/>
          <p:cNvSpPr txBox="1"/>
          <p:nvPr/>
        </p:nvSpPr>
        <p:spPr>
          <a:xfrm>
            <a:off x="4023360" y="1554480"/>
            <a:ext cx="7388352" cy="914400"/>
          </a:xfrm>
          <a:prstGeom prst="rect">
            <a:avLst/>
          </a:prstGeom>
          <a:noFill/>
        </p:spPr>
        <p:txBody>
          <a:bodyPr wrap="square" anchor="t"/>
          <a:lstStyle/>
          <a:p>
            <a:pPr algn="l"/>
            <a:r>
              <a:rPr sz="2400" b="0" i="0">
                <a:solidFill>
                  <a:srgbClr val="FFFFFF"/>
                </a:solidFill>
                <a:latin typeface="Calibri"/>
              </a:rPr>
              <a:t>Rule: Empty output OR length ratio &lt; 0.3</a:t>
            </a:r>
          </a:p>
        </p:txBody>
      </p:sp>
      <p:sp>
        <p:nvSpPr>
          <p:cNvPr id="8" name="TextBox 7"/>
          <p:cNvSpPr txBox="1"/>
          <p:nvPr/>
        </p:nvSpPr>
        <p:spPr>
          <a:xfrm>
            <a:off x="4023360" y="2148840"/>
            <a:ext cx="7388352" cy="594360"/>
          </a:xfrm>
          <a:prstGeom prst="rect">
            <a:avLst/>
          </a:prstGeom>
          <a:noFill/>
        </p:spPr>
        <p:txBody>
          <a:bodyPr wrap="square" anchor="t"/>
          <a:lstStyle/>
          <a:p>
            <a:pPr algn="l"/>
            <a:r>
              <a:rPr sz="1800" b="0" i="1">
                <a:solidFill>
                  <a:srgbClr val="AAAAAA"/>
                </a:solidFill>
                <a:latin typeface="Calibri"/>
              </a:rPr>
              <a:t>▸ Ref: “the thirteenth amendment” → Hyp: “”</a:t>
            </a:r>
          </a:p>
        </p:txBody>
      </p:sp>
      <p:sp>
        <p:nvSpPr>
          <p:cNvPr id="9" name="Rounded Rectangle 8"/>
          <p:cNvSpPr/>
          <p:nvPr/>
        </p:nvSpPr>
        <p:spPr>
          <a:xfrm>
            <a:off x="548640" y="3337560"/>
            <a:ext cx="11091672" cy="1645920"/>
          </a:xfrm>
          <a:prstGeom prst="roundRect">
            <a:avLst/>
          </a:prstGeom>
          <a:solidFill>
            <a:srgbClr val="152A40"/>
          </a:solidFill>
          <a:ln w="25400">
            <a:solidFill>
              <a:srgbClr val="FFC10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429000"/>
            <a:ext cx="3200400" cy="914400"/>
          </a:xfrm>
          <a:prstGeom prst="rect">
            <a:avLst/>
          </a:prstGeom>
          <a:noFill/>
        </p:spPr>
        <p:txBody>
          <a:bodyPr wrap="square" anchor="t"/>
          <a:lstStyle/>
          <a:p>
            <a:pPr algn="l"/>
            <a:r>
              <a:rPr sz="2400" b="1" i="0">
                <a:solidFill>
                  <a:srgbClr val="FFC107"/>
                </a:solidFill>
                <a:latin typeface="Calibri"/>
              </a:rPr>
              <a:t>5. Accumulated Errors  (9%)</a:t>
            </a:r>
          </a:p>
        </p:txBody>
      </p:sp>
      <p:sp>
        <p:nvSpPr>
          <p:cNvPr id="11" name="TextBox 10"/>
          <p:cNvSpPr txBox="1"/>
          <p:nvPr/>
        </p:nvSpPr>
        <p:spPr>
          <a:xfrm>
            <a:off x="731520" y="3840480"/>
            <a:ext cx="3200400" cy="1280160"/>
          </a:xfrm>
          <a:prstGeom prst="rect">
            <a:avLst/>
          </a:prstGeom>
          <a:noFill/>
        </p:spPr>
        <p:txBody>
          <a:bodyPr wrap="square" anchor="t"/>
          <a:lstStyle/>
          <a:p>
            <a:pPr algn="l"/>
            <a:r>
              <a:rPr sz="2400" b="0" i="0">
                <a:solidFill>
                  <a:srgbClr val="AAAAAA"/>
                </a:solidFill>
                <a:latin typeface="Calibri"/>
              </a:rPr>
              <a:t>Many small errors compound  —  52 segments</a:t>
            </a:r>
          </a:p>
        </p:txBody>
      </p:sp>
      <p:sp>
        <p:nvSpPr>
          <p:cNvPr id="12" name="TextBox 11"/>
          <p:cNvSpPr txBox="1"/>
          <p:nvPr/>
        </p:nvSpPr>
        <p:spPr>
          <a:xfrm>
            <a:off x="4023360" y="3429000"/>
            <a:ext cx="7388352" cy="914400"/>
          </a:xfrm>
          <a:prstGeom prst="rect">
            <a:avLst/>
          </a:prstGeom>
          <a:noFill/>
        </p:spPr>
        <p:txBody>
          <a:bodyPr wrap="square" anchor="t"/>
          <a:lstStyle/>
          <a:p>
            <a:pPr algn="l"/>
            <a:r>
              <a:rPr sz="2400" b="0" i="0">
                <a:solidFill>
                  <a:srgbClr val="FFFFFF"/>
                </a:solidFill>
                <a:latin typeface="Calibri"/>
              </a:rPr>
              <a:t>Rule: IS &lt; 2.0 and doesn’t match categories 1–3</a:t>
            </a:r>
          </a:p>
        </p:txBody>
      </p:sp>
      <p:sp>
        <p:nvSpPr>
          <p:cNvPr id="13" name="TextBox 12"/>
          <p:cNvSpPr txBox="1"/>
          <p:nvPr/>
        </p:nvSpPr>
        <p:spPr>
          <a:xfrm>
            <a:off x="4023360" y="4023360"/>
            <a:ext cx="7388352" cy="594360"/>
          </a:xfrm>
          <a:prstGeom prst="rect">
            <a:avLst/>
          </a:prstGeom>
          <a:noFill/>
        </p:spPr>
        <p:txBody>
          <a:bodyPr wrap="square" anchor="t"/>
          <a:lstStyle/>
          <a:p>
            <a:pPr algn="l"/>
            <a:r>
              <a:rPr sz="1800" b="0" i="1">
                <a:solidFill>
                  <a:srgbClr val="AAAAAA"/>
                </a:solidFill>
                <a:latin typeface="Calibri"/>
              </a:rPr>
              <a:t>▸ Many small word errors — meaning erodes.</a:t>
            </a:r>
          </a:p>
        </p:txBody>
      </p:sp>
      <p:sp>
        <p:nvSpPr>
          <p:cNvPr id="14" name="Rounded Rectangle 13"/>
          <p:cNvSpPr/>
          <p:nvPr/>
        </p:nvSpPr>
        <p:spPr>
          <a:xfrm>
            <a:off x="548640" y="5303520"/>
            <a:ext cx="11091672" cy="91440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394960"/>
            <a:ext cx="10543032" cy="914400"/>
          </a:xfrm>
          <a:prstGeom prst="rect">
            <a:avLst/>
          </a:prstGeom>
          <a:noFill/>
        </p:spPr>
        <p:txBody>
          <a:bodyPr wrap="square" anchor="t"/>
          <a:lstStyle/>
          <a:p>
            <a:pPr algn="l"/>
            <a:r>
              <a:rPr sz="2400" b="1" i="0">
                <a:solidFill>
                  <a:srgbClr val="FFD54F"/>
                </a:solidFill>
                <a:latin typeface="Calibri"/>
              </a:rPr>
              <a:t>Key Insight: Categories 4 &amp; 5 are lower impact but still 23% of failures</a:t>
            </a:r>
          </a:p>
        </p:txBody>
      </p:sp>
      <p:sp>
        <p:nvSpPr>
          <p:cNvPr id="16" name="TextBox 15"/>
          <p:cNvSpPr txBox="1"/>
          <p:nvPr/>
        </p:nvSpPr>
        <p:spPr>
          <a:xfrm>
            <a:off x="822960" y="5760720"/>
            <a:ext cx="10543032" cy="731520"/>
          </a:xfrm>
          <a:prstGeom prst="rect">
            <a:avLst/>
          </a:prstGeom>
          <a:noFill/>
        </p:spPr>
        <p:txBody>
          <a:bodyPr wrap="square" anchor="t"/>
          <a:lstStyle/>
          <a:p>
            <a:pPr algn="l"/>
            <a:r>
              <a:rPr sz="2000" b="0" i="0">
                <a:solidFill>
                  <a:srgbClr val="FFFFFF"/>
                </a:solidFill>
                <a:latin typeface="Calibri"/>
              </a:rPr>
              <a:t>Both respond to N-best aggregation (ROVER/MBR) — lowest priority.</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49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Lst>
  </p:timing>
</p:sld>
</file>

<file path=ppt/slides/slide51.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Failure Modes: Real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2HddWQse8Mw_0__8ecb0409_with_hyp.mp4"/>
              <p:cNvPicPr>
                <a:picLocks noChangeAspect="1"/>
              </p:cNvPicPr>
              <p:nvPr>
                <a:videoFile r:link="rId3"/>
                <p:extLst>
                  <p:ext uri="{DAA4B4D4-6D71-4841-9C94-3DE7FCFB9230}">
                    <p14:media r:embed="rId2"/>
                  </p:ext>
                </p:extLst>
              </p:nvPr>
            </p:nvPicPr>
            <p:blipFill>
              <a:blip r:embed="rId4"/>
              <a:stretch>
                <a:fillRect/>
              </a:stretch>
            </p:blipFill>
            <p:spPr>
              <a:xfrm>
                <a:off x="548640" y="1371600"/>
                <a:ext cx="5349240" cy="2423160"/>
              </a:xfrm>
              <a:prstGeom prst="rect">
                <a:avLst/>
              </a:prstGeom>
            </p:spPr>
          </p:pic>
        </mc:Choice>
        <mc:Fallback>
          <p:pic>
            <p:nvPicPr>
              <p:cNvPr id="4" name="2HddWQse8Mw_0__8ecb0409_with_hyp.mp4"/>
              <p:cNvPicPr>
                <a:picLocks noChangeAspect="1"/>
              </p:cNvPicPr>
              <p:nvPr/>
            </p:nvPicPr>
            <p:blipFill>
              <a:blip r:embed="rId4"/>
              <a:stretch>
                <a:fillRect/>
              </a:stretch>
            </p:blipFill>
            <p:spPr>
              <a:xfrm>
                <a:off x="548640" y="1371600"/>
                <a:ext cx="5349240" cy="2423160"/>
              </a:xfrm>
              <a:prstGeom prst="rect">
                <a:avLst/>
              </a:prstGeom>
            </p:spPr>
          </p:pic>
        </mc:Fallback>
      </mc:AlternateContent>
      <p:sp>
        <p:nvSpPr>
          <p:cNvPr id="5" name="TextBox 4"/>
          <p:cNvSpPr txBox="1"/>
          <p:nvPr/>
        </p:nvSpPr>
        <p:spPr>
          <a:xfrm>
            <a:off x="548640" y="3858768"/>
            <a:ext cx="5349240" cy="457200"/>
          </a:xfrm>
          <a:prstGeom prst="rect">
            <a:avLst/>
          </a:prstGeom>
          <a:noFill/>
        </p:spPr>
        <p:txBody>
          <a:bodyPr wrap="square" anchor="t"/>
          <a:lstStyle/>
          <a:p>
            <a:pPr algn="ctr"/>
            <a:r>
              <a:rPr sz="2400" b="1" i="0">
                <a:solidFill>
                  <a:srgbClr val="FF9800"/>
                </a:solidFill>
                <a:latin typeface="Calibri"/>
              </a:rPr>
              <a:t>Right Topic, Names Lost</a:t>
            </a:r>
          </a:p>
        </p:txBody>
      </p:sp>
      <p:sp>
        <p:nvSpPr>
          <p:cNvPr id="6" name="TextBox 5"/>
          <p:cNvSpPr txBox="1"/>
          <p:nvPr/>
        </p:nvSpPr>
        <p:spPr>
          <a:xfrm>
            <a:off x="548640" y="4361688"/>
            <a:ext cx="5349240" cy="329184"/>
          </a:xfrm>
          <a:prstGeom prst="rect">
            <a:avLst/>
          </a:prstGeom>
          <a:noFill/>
        </p:spPr>
        <p:txBody>
          <a:bodyPr wrap="square" anchor="t"/>
          <a:lstStyle/>
          <a:p>
            <a:pPr algn="ctr"/>
            <a:r>
              <a:rPr sz="1800" b="1" i="0">
                <a:solidFill>
                  <a:srgbClr val="FFFFFF"/>
                </a:solidFill>
                <a:latin typeface="Calibri"/>
              </a:rPr>
              <a:t>WER 56%  ·  IS 2.91 (Fair)  ·  INSPECT</a:t>
            </a:r>
          </a:p>
        </p:txBody>
      </p:sp>
      <p:sp>
        <p:nvSpPr>
          <p:cNvPr id="7" name="TextBox 6"/>
          <p:cNvSpPr txBox="1"/>
          <p:nvPr/>
        </p:nvSpPr>
        <p:spPr>
          <a:xfrm>
            <a:off x="548640" y="4736592"/>
            <a:ext cx="5349240" cy="256032"/>
          </a:xfrm>
          <a:prstGeom prst="rect">
            <a:avLst/>
          </a:prstGeom>
          <a:noFill/>
        </p:spPr>
        <p:txBody>
          <a:bodyPr wrap="square" anchor="t"/>
          <a:lstStyle/>
          <a:p>
            <a:pPr algn="l"/>
            <a:r>
              <a:rPr sz="1800" b="1" i="0">
                <a:solidFill>
                  <a:srgbClr val="AAAAAA"/>
                </a:solidFill>
                <a:latin typeface="Calibri"/>
              </a:rPr>
              <a:t>REFERENCE</a:t>
            </a:r>
          </a:p>
        </p:txBody>
      </p:sp>
      <p:sp>
        <p:nvSpPr>
          <p:cNvPr id="8" name="TextBox 7"/>
          <p:cNvSpPr txBox="1"/>
          <p:nvPr/>
        </p:nvSpPr>
        <p:spPr>
          <a:xfrm>
            <a:off x="548640" y="5020056"/>
            <a:ext cx="5349240" cy="502920"/>
          </a:xfrm>
          <a:prstGeom prst="rect">
            <a:avLst/>
          </a:prstGeom>
          <a:noFill/>
        </p:spPr>
        <p:txBody>
          <a:bodyPr wrap="square" anchor="t"/>
          <a:lstStyle/>
          <a:p>
            <a:pPr algn="l"/>
            <a:r>
              <a:rPr sz="1800" b="0" i="1">
                <a:solidFill>
                  <a:srgbClr val="AAAAAA"/>
                </a:solidFill>
                <a:latin typeface="Calibri"/>
              </a:rPr>
              <a:t>“james and will talk about street photography”</a:t>
            </a:r>
          </a:p>
        </p:txBody>
      </p:sp>
      <p:sp>
        <p:nvSpPr>
          <p:cNvPr id="9" name="TextBox 8"/>
          <p:cNvSpPr txBox="1"/>
          <p:nvPr/>
        </p:nvSpPr>
        <p:spPr>
          <a:xfrm>
            <a:off x="548640" y="5568696"/>
            <a:ext cx="5349240" cy="256032"/>
          </a:xfrm>
          <a:prstGeom prst="rect">
            <a:avLst/>
          </a:prstGeom>
          <a:noFill/>
        </p:spPr>
        <p:txBody>
          <a:bodyPr wrap="square" anchor="t"/>
          <a:lstStyle/>
          <a:p>
            <a:pPr algn="l"/>
            <a:r>
              <a:rPr sz="1800" b="1" i="0">
                <a:solidFill>
                  <a:srgbClr val="FFFFFF"/>
                </a:solidFill>
                <a:latin typeface="Calibri"/>
              </a:rPr>
              <a:t>HYPOTHESIS</a:t>
            </a:r>
          </a:p>
        </p:txBody>
      </p:sp>
      <p:sp>
        <p:nvSpPr>
          <p:cNvPr id="10" name="TextBox 9"/>
          <p:cNvSpPr txBox="1"/>
          <p:nvPr/>
        </p:nvSpPr>
        <p:spPr>
          <a:xfrm>
            <a:off x="548640" y="5852160"/>
            <a:ext cx="5349240" cy="548640"/>
          </a:xfrm>
          <a:prstGeom prst="rect">
            <a:avLst/>
          </a:prstGeom>
          <a:noFill/>
        </p:spPr>
        <p:txBody>
          <a:bodyPr wrap="square" anchor="t"/>
          <a:lstStyle/>
          <a:p>
            <a:pPr algn="l"/>
            <a:r>
              <a:rPr sz="1800" b="0" i="1">
                <a:solidFill>
                  <a:srgbClr val="FF9800"/>
                </a:solidFill>
                <a:latin typeface="Calibri"/>
              </a:rPr>
              <a:t>“i'm here to talk about street photography”</a:t>
            </a:r>
          </a:p>
        </p:txBody>
      </p:sp>
      <mc:AlternateContent>
        <mc:Choice Requires="p14">
          <p:pic>
            <p:nvPicPr>
              <p:cNvPr id="11" name="00MUdHQ7GGY_8__b1480c7a_with_hyp.mp4"/>
              <p:cNvPicPr>
                <a:picLocks noChangeAspect="1"/>
              </p:cNvPicPr>
              <p:nvPr>
                <a:videoFile r:link="rId6"/>
                <p:extLst>
                  <p:ext uri="{DAA4B4D4-6D71-4841-9C94-3DE7FCFB9230}">
                    <p14:media r:embed="rId5"/>
                  </p:ext>
                </p:extLst>
              </p:nvPr>
            </p:nvPicPr>
            <p:blipFill>
              <a:blip r:embed="rId7"/>
              <a:stretch>
                <a:fillRect/>
              </a:stretch>
            </p:blipFill>
            <p:spPr>
              <a:xfrm>
                <a:off x="6291072" y="1371600"/>
                <a:ext cx="5349240" cy="2423160"/>
              </a:xfrm>
              <a:prstGeom prst="rect">
                <a:avLst/>
              </a:prstGeom>
            </p:spPr>
          </p:pic>
        </mc:Choice>
        <mc:Fallback>
          <p:pic>
            <p:nvPicPr>
              <p:cNvPr id="11" name="00MUdHQ7GGY_8__b1480c7a_with_hyp.mp4"/>
              <p:cNvPicPr>
                <a:picLocks noChangeAspect="1"/>
              </p:cNvPicPr>
              <p:nvPr/>
            </p:nvPicPr>
            <p:blipFill>
              <a:blip r:embed="rId7"/>
              <a:stretch>
                <a:fillRect/>
              </a:stretch>
            </p:blipFill>
            <p:spPr>
              <a:xfrm>
                <a:off x="6291072" y="1371600"/>
                <a:ext cx="5349240" cy="2423160"/>
              </a:xfrm>
              <a:prstGeom prst="rect">
                <a:avLst/>
              </a:prstGeom>
            </p:spPr>
          </p:pic>
        </mc:Fallback>
      </mc:AlternateContent>
      <p:sp>
        <p:nvSpPr>
          <p:cNvPr id="12" name="TextBox 11"/>
          <p:cNvSpPr txBox="1"/>
          <p:nvPr/>
        </p:nvSpPr>
        <p:spPr>
          <a:xfrm>
            <a:off x="6291072" y="3858768"/>
            <a:ext cx="5349240" cy="457200"/>
          </a:xfrm>
          <a:prstGeom prst="rect">
            <a:avLst/>
          </a:prstGeom>
          <a:noFill/>
        </p:spPr>
        <p:txBody>
          <a:bodyPr wrap="square" anchor="t"/>
          <a:lstStyle/>
          <a:p>
            <a:pPr algn="ctr"/>
            <a:r>
              <a:rPr sz="2400" b="1" i="0">
                <a:solidFill>
                  <a:srgbClr val="F44336"/>
                </a:solidFill>
                <a:latin typeface="Calibri"/>
              </a:rPr>
              <a:t>Hallucination</a:t>
            </a:r>
          </a:p>
        </p:txBody>
      </p:sp>
      <p:sp>
        <p:nvSpPr>
          <p:cNvPr id="13" name="TextBox 12"/>
          <p:cNvSpPr txBox="1"/>
          <p:nvPr/>
        </p:nvSpPr>
        <p:spPr>
          <a:xfrm>
            <a:off x="6291072" y="4361688"/>
            <a:ext cx="5349240" cy="329184"/>
          </a:xfrm>
          <a:prstGeom prst="rect">
            <a:avLst/>
          </a:prstGeom>
          <a:noFill/>
        </p:spPr>
        <p:txBody>
          <a:bodyPr wrap="square" anchor="t"/>
          <a:lstStyle/>
          <a:p>
            <a:pPr algn="ctr"/>
            <a:r>
              <a:rPr sz="1800" b="1" i="0">
                <a:solidFill>
                  <a:srgbClr val="FFFFFF"/>
                </a:solidFill>
                <a:latin typeface="Calibri"/>
              </a:rPr>
              <a:t>WER 100%  ·  IS 0.81 (Failed)  ·  STRIP</a:t>
            </a:r>
          </a:p>
        </p:txBody>
      </p:sp>
      <p:sp>
        <p:nvSpPr>
          <p:cNvPr id="14" name="TextBox 13"/>
          <p:cNvSpPr txBox="1"/>
          <p:nvPr/>
        </p:nvSpPr>
        <p:spPr>
          <a:xfrm>
            <a:off x="6291072" y="4736592"/>
            <a:ext cx="5349240" cy="256032"/>
          </a:xfrm>
          <a:prstGeom prst="rect">
            <a:avLst/>
          </a:prstGeom>
          <a:noFill/>
        </p:spPr>
        <p:txBody>
          <a:bodyPr wrap="square" anchor="t"/>
          <a:lstStyle/>
          <a:p>
            <a:pPr algn="l"/>
            <a:r>
              <a:rPr sz="1800" b="1" i="0">
                <a:solidFill>
                  <a:srgbClr val="AAAAAA"/>
                </a:solidFill>
                <a:latin typeface="Calibri"/>
              </a:rPr>
              <a:t>REFERENCE</a:t>
            </a:r>
          </a:p>
        </p:txBody>
      </p:sp>
      <p:sp>
        <p:nvSpPr>
          <p:cNvPr id="15" name="TextBox 14"/>
          <p:cNvSpPr txBox="1"/>
          <p:nvPr/>
        </p:nvSpPr>
        <p:spPr>
          <a:xfrm>
            <a:off x="6291072" y="5020056"/>
            <a:ext cx="5349240" cy="502920"/>
          </a:xfrm>
          <a:prstGeom prst="rect">
            <a:avLst/>
          </a:prstGeom>
          <a:noFill/>
        </p:spPr>
        <p:txBody>
          <a:bodyPr wrap="square" anchor="t"/>
          <a:lstStyle/>
          <a:p>
            <a:pPr algn="l"/>
            <a:r>
              <a:rPr sz="1800" b="0" i="1">
                <a:solidFill>
                  <a:srgbClr val="AAAAAA"/>
                </a:solidFill>
                <a:latin typeface="Calibri"/>
              </a:rPr>
              <a:t>“…it doesn't have a carry strap”</a:t>
            </a:r>
          </a:p>
        </p:txBody>
      </p:sp>
      <p:sp>
        <p:nvSpPr>
          <p:cNvPr id="16" name="TextBox 15"/>
          <p:cNvSpPr txBox="1"/>
          <p:nvPr/>
        </p:nvSpPr>
        <p:spPr>
          <a:xfrm>
            <a:off x="6291072" y="5568696"/>
            <a:ext cx="5349240" cy="256032"/>
          </a:xfrm>
          <a:prstGeom prst="rect">
            <a:avLst/>
          </a:prstGeom>
          <a:noFill/>
        </p:spPr>
        <p:txBody>
          <a:bodyPr wrap="square" anchor="t"/>
          <a:lstStyle/>
          <a:p>
            <a:pPr algn="l"/>
            <a:r>
              <a:rPr sz="1800" b="1" i="0">
                <a:solidFill>
                  <a:srgbClr val="FFFFFF"/>
                </a:solidFill>
                <a:latin typeface="Calibri"/>
              </a:rPr>
              <a:t>HYPOTHESIS</a:t>
            </a:r>
          </a:p>
        </p:txBody>
      </p:sp>
      <p:sp>
        <p:nvSpPr>
          <p:cNvPr id="17" name="TextBox 16"/>
          <p:cNvSpPr txBox="1"/>
          <p:nvPr/>
        </p:nvSpPr>
        <p:spPr>
          <a:xfrm>
            <a:off x="6291072" y="5852160"/>
            <a:ext cx="5349240" cy="548640"/>
          </a:xfrm>
          <a:prstGeom prst="rect">
            <a:avLst/>
          </a:prstGeom>
          <a:noFill/>
        </p:spPr>
        <p:txBody>
          <a:bodyPr wrap="square" anchor="t"/>
          <a:lstStyle/>
          <a:p>
            <a:pPr algn="l"/>
            <a:r>
              <a:rPr sz="1800" b="0" i="1">
                <a:solidFill>
                  <a:srgbClr val="F44336"/>
                </a:solidFill>
                <a:latin typeface="Calibri"/>
              </a:rPr>
              <a:t>“this is david irving he's a holocaust denier and a computer hacker”</a:t>
            </a:r>
          </a:p>
        </p:txBody>
      </p:sp>
      <p:pic>
        <p:nvPicPr>
          <p:cNvPr id="18" name="Picture 17" descr="WhiteLogo.jpeg"/>
          <p:cNvPicPr>
            <a:picLocks noChangeAspect="1"/>
          </p:cNvPicPr>
          <p:nvPr/>
        </p:nvPicPr>
        <p:blipFill>
          <a:blip r:embed="rId8"/>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Lst>
  </p:timing>
</p:sld>
</file>

<file path=ppt/slides/slide52.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Validation: What Did We Learn?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800" b="0" i="1">
                <a:solidFill>
                  <a:srgbClr val="AAAAAA"/>
                </a:solidFill>
                <a:latin typeface="Calibri"/>
              </a:rPr>
              <a:t>We validated IS against signal analysis and cross-configuration testing. Here is what the evidence shows.</a:t>
            </a:r>
          </a:p>
        </p:txBody>
      </p:sp>
      <p:sp>
        <p:nvSpPr>
          <p:cNvPr id="5" name="TextBox 4"/>
          <p:cNvSpPr txBox="1"/>
          <p:nvPr/>
        </p:nvSpPr>
        <p:spPr>
          <a:xfrm>
            <a:off x="548640" y="1737360"/>
            <a:ext cx="5303520" cy="365760"/>
          </a:xfrm>
          <a:prstGeom prst="rect">
            <a:avLst/>
          </a:prstGeom>
          <a:noFill/>
        </p:spPr>
        <p:txBody>
          <a:bodyPr wrap="square" anchor="t"/>
          <a:lstStyle/>
          <a:p>
            <a:pPr algn="l"/>
            <a:r>
              <a:rPr sz="2400" b="1" i="0">
                <a:solidFill>
                  <a:srgbClr val="00B4D8"/>
                </a:solidFill>
                <a:latin typeface="Calibri"/>
              </a:rPr>
              <a:t>Signal → IS Correlation</a:t>
            </a:r>
          </a:p>
        </p:txBody>
      </p:sp>
      <p:graphicFrame>
        <p:nvGraphicFramePr>
          <p:cNvPr id="6" name="Table 5"/>
          <p:cNvGraphicFramePr>
            <a:graphicFrameLocks noGrp="1"/>
          </p:cNvGraphicFramePr>
          <p:nvPr/>
        </p:nvGraphicFramePr>
        <p:xfrm>
          <a:off x="548640" y="2194560"/>
          <a:ext cx="5303520" cy="2880360"/>
        </p:xfrm>
        <a:graphic>
          <a:graphicData uri="http://schemas.openxmlformats.org/drawingml/2006/table">
            <a:tbl>
              <a:tblPr firstRow="0" bandRow="0" lastRow="0" bandCol="0">
                <a:tableStyleId>{5C22544A-7EE6-4342-B048-85BDC9FD1C3A}</a:tableStyleId>
              </a:tblPr>
              <a:tblGrid>
                <a:gridCol w="1767840"/>
                <a:gridCol w="1767840"/>
                <a:gridCol w="1767840"/>
              </a:tblGrid>
              <a:tr h="411480">
                <a:tc>
                  <a:txBody>
                    <a:bodyPr/>
                    <a:lstStyle/>
                    <a:p>
                      <a:pPr algn="ctr"/>
                      <a:r>
                        <a:rPr sz="2400" b="1" i="0">
                          <a:solidFill>
                            <a:srgbClr val="FFFFFF"/>
                          </a:solidFill>
                          <a:latin typeface="Calibri"/>
                        </a:rPr>
                        <a:t>Signal</a:t>
                      </a:r>
                    </a:p>
                  </a:txBody>
                  <a:tcPr>
                    <a:solidFill>
                      <a:srgbClr val="00b4d8"/>
                    </a:solidFill>
                  </a:tcPr>
                </a:tc>
                <a:tc>
                  <a:txBody>
                    <a:bodyPr/>
                    <a:lstStyle/>
                    <a:p>
                      <a:pPr algn="ctr"/>
                      <a:r>
                        <a:rPr sz="2400" b="1" i="0">
                          <a:solidFill>
                            <a:srgbClr val="FFFFFF"/>
                          </a:solidFill>
                          <a:latin typeface="Calibri"/>
                        </a:rPr>
                        <a:t>r with IS</a:t>
                      </a:r>
                    </a:p>
                  </a:txBody>
                  <a:tcPr>
                    <a:solidFill>
                      <a:srgbClr val="00b4d8"/>
                    </a:solidFill>
                  </a:tcPr>
                </a:tc>
                <a:tc>
                  <a:txBody>
                    <a:bodyPr/>
                    <a:lstStyle/>
                    <a:p>
                      <a:pPr algn="ctr"/>
                      <a:r>
                        <a:rPr sz="2400" b="1" i="0">
                          <a:solidFill>
                            <a:srgbClr val="FFFFFF"/>
                          </a:solidFill>
                          <a:latin typeface="Calibri"/>
                        </a:rPr>
                        <a:t>Dimension</a:t>
                      </a:r>
                    </a:p>
                  </a:txBody>
                  <a:tcPr>
                    <a:solidFill>
                      <a:srgbClr val="00b4d8"/>
                    </a:solidFill>
                  </a:tcPr>
                </a:tc>
              </a:tr>
              <a:tr h="411480">
                <a:tc>
                  <a:txBody>
                    <a:bodyPr/>
                    <a:lstStyle/>
                    <a:p>
                      <a:pPr algn="l"/>
                      <a:r>
                        <a:rPr sz="2400" b="0" i="0">
                          <a:solidFill>
                            <a:srgbClr val="FFFFFF"/>
                          </a:solidFill>
                          <a:latin typeface="Calibri"/>
                        </a:rPr>
                        <a:t>Phonetic Sim</a:t>
                      </a:r>
                    </a:p>
                  </a:txBody>
                  <a:tcPr>
                    <a:solidFill>
                      <a:srgbClr val="0d1b2a"/>
                    </a:solidFill>
                  </a:tcPr>
                </a:tc>
                <a:tc>
                  <a:txBody>
                    <a:bodyPr/>
                    <a:lstStyle/>
                    <a:p>
                      <a:pPr algn="l"/>
                      <a:r>
                        <a:rPr sz="2400" b="0" i="0">
                          <a:solidFill>
                            <a:srgbClr val="4CAF50"/>
                          </a:solidFill>
                          <a:latin typeface="Calibri"/>
                        </a:rPr>
                        <a:t>0.943</a:t>
                      </a:r>
                    </a:p>
                  </a:txBody>
                  <a:tcPr>
                    <a:solidFill>
                      <a:srgbClr val="0d1b2a"/>
                    </a:solidFill>
                  </a:tcPr>
                </a:tc>
                <a:tc>
                  <a:txBody>
                    <a:bodyPr/>
                    <a:lstStyle/>
                    <a:p>
                      <a:pPr algn="l"/>
                      <a:r>
                        <a:rPr sz="2400" b="0" i="0">
                          <a:solidFill>
                            <a:srgbClr val="FFFFFF"/>
                          </a:solidFill>
                          <a:latin typeface="Calibri"/>
                        </a:rPr>
                        <a:t>Word Accuracy</a:t>
                      </a:r>
                    </a:p>
                  </a:txBody>
                  <a:tcPr>
                    <a:solidFill>
                      <a:srgbClr val="0d1b2a"/>
                    </a:solidFill>
                  </a:tcPr>
                </a:tc>
              </a:tr>
              <a:tr h="411480">
                <a:tc>
                  <a:txBody>
                    <a:bodyPr/>
                    <a:lstStyle/>
                    <a:p>
                      <a:pPr algn="l"/>
                      <a:r>
                        <a:rPr sz="2400" b="0" i="0">
                          <a:solidFill>
                            <a:srgbClr val="FFFFFF"/>
                          </a:solidFill>
                          <a:latin typeface="Calibri"/>
                        </a:rPr>
                        <a:t>Inv. WER</a:t>
                      </a:r>
                    </a:p>
                  </a:txBody>
                  <a:tcPr>
                    <a:solidFill>
                      <a:srgbClr val="152a40"/>
                    </a:solidFill>
                  </a:tcPr>
                </a:tc>
                <a:tc>
                  <a:txBody>
                    <a:bodyPr/>
                    <a:lstStyle/>
                    <a:p>
                      <a:pPr algn="l"/>
                      <a:r>
                        <a:rPr sz="2400" b="0" i="0">
                          <a:solidFill>
                            <a:srgbClr val="FFFFFF"/>
                          </a:solidFill>
                          <a:latin typeface="Calibri"/>
                        </a:rPr>
                        <a:t>0.834</a:t>
                      </a:r>
                    </a:p>
                  </a:txBody>
                  <a:tcPr>
                    <a:solidFill>
                      <a:srgbClr val="152a40"/>
                    </a:solidFill>
                  </a:tcPr>
                </a:tc>
                <a:tc>
                  <a:txBody>
                    <a:bodyPr/>
                    <a:lstStyle/>
                    <a:p>
                      <a:pPr algn="l"/>
                      <a:r>
                        <a:rPr sz="2400" b="0" i="0">
                          <a:solidFill>
                            <a:srgbClr val="FFFFFF"/>
                          </a:solidFill>
                          <a:latin typeface="Calibri"/>
                        </a:rPr>
                        <a:t>Word Accuracy</a:t>
                      </a:r>
                    </a:p>
                  </a:txBody>
                  <a:tcPr>
                    <a:solidFill>
                      <a:srgbClr val="152a40"/>
                    </a:solidFill>
                  </a:tcPr>
                </a:tc>
              </a:tr>
              <a:tr h="411480">
                <a:tc>
                  <a:txBody>
                    <a:bodyPr/>
                    <a:lstStyle/>
                    <a:p>
                      <a:pPr algn="l"/>
                      <a:r>
                        <a:rPr sz="2400" b="0" i="0">
                          <a:solidFill>
                            <a:srgbClr val="FFFFFF"/>
                          </a:solidFill>
                          <a:latin typeface="Calibri"/>
                        </a:rPr>
                        <a:t>Inv. WWER</a:t>
                      </a:r>
                    </a:p>
                  </a:txBody>
                  <a:tcPr>
                    <a:solidFill>
                      <a:srgbClr val="0d1b2a"/>
                    </a:solidFill>
                  </a:tcPr>
                </a:tc>
                <a:tc>
                  <a:txBody>
                    <a:bodyPr/>
                    <a:lstStyle/>
                    <a:p>
                      <a:pPr algn="l"/>
                      <a:r>
                        <a:rPr sz="2400" b="0" i="0">
                          <a:solidFill>
                            <a:srgbClr val="FFFFFF"/>
                          </a:solidFill>
                          <a:latin typeface="Calibri"/>
                        </a:rPr>
                        <a:t>0.823</a:t>
                      </a:r>
                    </a:p>
                  </a:txBody>
                  <a:tcPr>
                    <a:solidFill>
                      <a:srgbClr val="0d1b2a"/>
                    </a:solidFill>
                  </a:tcPr>
                </a:tc>
                <a:tc>
                  <a:txBody>
                    <a:bodyPr/>
                    <a:lstStyle/>
                    <a:p>
                      <a:pPr algn="l"/>
                      <a:r>
                        <a:rPr sz="2400" b="0" i="0">
                          <a:solidFill>
                            <a:srgbClr val="FFFFFF"/>
                          </a:solidFill>
                          <a:latin typeface="Calibri"/>
                        </a:rPr>
                        <a:t>Word Accuracy</a:t>
                      </a:r>
                    </a:p>
                  </a:txBody>
                  <a:tcPr>
                    <a:solidFill>
                      <a:srgbClr val="0d1b2a"/>
                    </a:solidFill>
                  </a:tcPr>
                </a:tc>
              </a:tr>
              <a:tr h="411480">
                <a:tc>
                  <a:txBody>
                    <a:bodyPr/>
                    <a:lstStyle/>
                    <a:p>
                      <a:pPr algn="l"/>
                      <a:r>
                        <a:rPr sz="2400" b="0" i="0">
                          <a:solidFill>
                            <a:srgbClr val="FFFFFF"/>
                          </a:solidFill>
                          <a:latin typeface="Calibri"/>
                        </a:rPr>
                        <a:t>Semantic Sim</a:t>
                      </a:r>
                    </a:p>
                  </a:txBody>
                  <a:tcPr>
                    <a:solidFill>
                      <a:srgbClr val="152a40"/>
                    </a:solidFill>
                  </a:tcPr>
                </a:tc>
                <a:tc>
                  <a:txBody>
                    <a:bodyPr/>
                    <a:lstStyle/>
                    <a:p>
                      <a:pPr algn="l"/>
                      <a:r>
                        <a:rPr sz="2400" b="0" i="0">
                          <a:solidFill>
                            <a:srgbClr val="FFFFFF"/>
                          </a:solidFill>
                          <a:latin typeface="Calibri"/>
                        </a:rPr>
                        <a:t>0.856</a:t>
                      </a:r>
                    </a:p>
                  </a:txBody>
                  <a:tcPr>
                    <a:solidFill>
                      <a:srgbClr val="152a40"/>
                    </a:solidFill>
                  </a:tcPr>
                </a:tc>
                <a:tc>
                  <a:txBody>
                    <a:bodyPr/>
                    <a:lstStyle/>
                    <a:p>
                      <a:pPr algn="l"/>
                      <a:r>
                        <a:rPr sz="2400" b="0" i="0">
                          <a:solidFill>
                            <a:srgbClr val="FFFFFF"/>
                          </a:solidFill>
                          <a:latin typeface="Calibri"/>
                        </a:rPr>
                        <a:t>Meaning</a:t>
                      </a:r>
                    </a:p>
                  </a:txBody>
                  <a:tcPr>
                    <a:solidFill>
                      <a:srgbClr val="152a40"/>
                    </a:solidFill>
                  </a:tcPr>
                </a:tc>
              </a:tr>
              <a:tr h="411480">
                <a:tc>
                  <a:txBody>
                    <a:bodyPr/>
                    <a:lstStyle/>
                    <a:p>
                      <a:pPr algn="l"/>
                      <a:r>
                        <a:rPr sz="2400" b="0" i="0">
                          <a:solidFill>
                            <a:srgbClr val="FFFFFF"/>
                          </a:solidFill>
                          <a:latin typeface="Calibri"/>
                        </a:rPr>
                        <a:t>NEA F1</a:t>
                      </a:r>
                    </a:p>
                  </a:txBody>
                  <a:tcPr>
                    <a:solidFill>
                      <a:srgbClr val="0d1b2a"/>
                    </a:solidFill>
                  </a:tcPr>
                </a:tc>
                <a:tc>
                  <a:txBody>
                    <a:bodyPr/>
                    <a:lstStyle/>
                    <a:p>
                      <a:pPr algn="l"/>
                      <a:r>
                        <a:rPr sz="2400" b="0" i="0">
                          <a:solidFill>
                            <a:srgbClr val="FFFFFF"/>
                          </a:solidFill>
                          <a:latin typeface="Calibri"/>
                        </a:rPr>
                        <a:t>0.748</a:t>
                      </a:r>
                    </a:p>
                  </a:txBody>
                  <a:tcPr>
                    <a:solidFill>
                      <a:srgbClr val="0d1b2a"/>
                    </a:solidFill>
                  </a:tcPr>
                </a:tc>
                <a:tc>
                  <a:txBody>
                    <a:bodyPr/>
                    <a:lstStyle/>
                    <a:p>
                      <a:pPr algn="l"/>
                      <a:r>
                        <a:rPr sz="2400" b="0" i="0">
                          <a:solidFill>
                            <a:srgbClr val="FFFFFF"/>
                          </a:solidFill>
                          <a:latin typeface="Calibri"/>
                        </a:rPr>
                        <a:t>Entity Accuracy</a:t>
                      </a:r>
                    </a:p>
                  </a:txBody>
                  <a:tcPr>
                    <a:solidFill>
                      <a:srgbClr val="0d1b2a"/>
                    </a:solidFill>
                  </a:tcPr>
                </a:tc>
              </a:tr>
              <a:tr h="411480">
                <a:tc>
                  <a:txBody>
                    <a:bodyPr/>
                    <a:lstStyle/>
                    <a:p>
                      <a:pPr algn="l"/>
                      <a:r>
                        <a:rPr sz="2400" b="0" i="0">
                          <a:solidFill>
                            <a:srgbClr val="FFFFFF"/>
                          </a:solidFill>
                          <a:latin typeface="Calibri"/>
                        </a:rPr>
                        <a:t>Length Ratio</a:t>
                      </a:r>
                    </a:p>
                  </a:txBody>
                  <a:tcPr>
                    <a:solidFill>
                      <a:srgbClr val="152a40"/>
                    </a:solidFill>
                  </a:tcPr>
                </a:tc>
                <a:tc>
                  <a:txBody>
                    <a:bodyPr/>
                    <a:lstStyle/>
                    <a:p>
                      <a:pPr algn="l"/>
                      <a:r>
                        <a:rPr sz="2400" b="0" i="0">
                          <a:solidFill>
                            <a:srgbClr val="E06C75"/>
                          </a:solidFill>
                          <a:latin typeface="Calibri"/>
                        </a:rPr>
                        <a:t>0.521</a:t>
                      </a:r>
                    </a:p>
                  </a:txBody>
                  <a:tcPr>
                    <a:solidFill>
                      <a:srgbClr val="152a40"/>
                    </a:solidFill>
                  </a:tcPr>
                </a:tc>
                <a:tc>
                  <a:txBody>
                    <a:bodyPr/>
                    <a:lstStyle/>
                    <a:p>
                      <a:pPr algn="l"/>
                      <a:r>
                        <a:rPr sz="2400" b="0" i="0">
                          <a:solidFill>
                            <a:srgbClr val="FFFFFF"/>
                          </a:solidFill>
                          <a:latin typeface="Calibri"/>
                        </a:rPr>
                        <a:t>Output Sanity</a:t>
                      </a:r>
                    </a:p>
                  </a:txBody>
                  <a:tcPr>
                    <a:solidFill>
                      <a:srgbClr val="152a40"/>
                    </a:solidFill>
                  </a:tcPr>
                </a:tc>
              </a:tr>
            </a:tbl>
          </a:graphicData>
        </a:graphic>
      </p:graphicFrame>
      <p:sp>
        <p:nvSpPr>
          <p:cNvPr id="7" name="TextBox 6"/>
          <p:cNvSpPr txBox="1"/>
          <p:nvPr/>
        </p:nvSpPr>
        <p:spPr>
          <a:xfrm>
            <a:off x="6336792" y="1737360"/>
            <a:ext cx="5303520" cy="365760"/>
          </a:xfrm>
          <a:prstGeom prst="rect">
            <a:avLst/>
          </a:prstGeom>
          <a:noFill/>
        </p:spPr>
        <p:txBody>
          <a:bodyPr wrap="square" anchor="t"/>
          <a:lstStyle/>
          <a:p>
            <a:pPr algn="l"/>
            <a:r>
              <a:rPr sz="2800" b="1" i="0">
                <a:solidFill>
                  <a:srgbClr val="E06C75"/>
                </a:solidFill>
                <a:latin typeface="Calibri"/>
              </a:rPr>
              <a:t>Conclusions</a:t>
            </a:r>
          </a:p>
        </p:txBody>
      </p:sp>
      <p:sp>
        <p:nvSpPr>
          <p:cNvPr id="8" name="TextBox 7"/>
          <p:cNvSpPr txBox="1"/>
          <p:nvPr/>
        </p:nvSpPr>
        <p:spPr>
          <a:xfrm>
            <a:off x="6336792" y="2194560"/>
            <a:ext cx="5303520" cy="411480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4CAF50"/>
                </a:solidFill>
                <a:latin typeface="Calibri"/>
              </a:rPr>
              <a:t>IS captures quality that WER misses</a:t>
            </a:r>
          </a:p>
          <a:p>
            <a:pPr algn="l">
              <a:spcAft>
                <a:spcPts val="600"/>
              </a:spcAft>
            </a:pPr>
            <a:r>
              <a:rPr sz="2400" b="1">
                <a:solidFill>
                  <a:srgbClr val="00B4D8"/>
                </a:solidFill>
                <a:latin typeface="Calibri"/>
              </a:rPr>
              <a:t>• </a:t>
            </a:r>
            <a:r>
              <a:rPr sz="2400" b="1">
                <a:solidFill>
                  <a:srgbClr val="00B4D8"/>
                </a:solidFill>
                <a:latin typeface="Calibri"/>
              </a:rPr>
              <a:t>Cross-config validation confirms stability: mean r = 0.925 across 16 configurations</a:t>
            </a:r>
          </a:p>
          <a:p>
            <a:pPr algn="l">
              <a:spcAft>
                <a:spcPts val="600"/>
              </a:spcAft>
            </a:pPr>
            <a:r>
              <a:rPr sz="2400" b="1">
                <a:solidFill>
                  <a:srgbClr val="00B4D8"/>
                </a:solidFill>
                <a:latin typeface="Calibri"/>
              </a:rPr>
              <a:t>• </a:t>
            </a:r>
            <a:r>
              <a:rPr sz="2400" b="0">
                <a:solidFill>
                  <a:srgbClr val="FFFFFF"/>
                </a:solidFill>
                <a:latin typeface="Calibri"/>
              </a:rPr>
              <a:t>WER/WWER/Phonetic are redundant with each other (r &gt; 0.79) but IS needs all three for robustness</a:t>
            </a:r>
          </a:p>
          <a:p>
            <a:pPr algn="l">
              <a:spcAft>
                <a:spcPts val="600"/>
              </a:spcAft>
            </a:pPr>
            <a:r>
              <a:rPr sz="2400" b="1">
                <a:solidFill>
                  <a:srgbClr val="00B4D8"/>
                </a:solidFill>
                <a:latin typeface="Calibri"/>
              </a:rPr>
              <a:t>• </a:t>
            </a:r>
            <a:r>
              <a:rPr sz="2400" b="0">
                <a:solidFill>
                  <a:srgbClr val="FFFFFF"/>
                </a:solidFill>
                <a:latin typeface="Calibri"/>
              </a:rPr>
              <a:t>Semantic Sim is the tiebreaker — it separates segments with similar WER but different meaning preservation</a:t>
            </a:r>
          </a:p>
        </p:txBody>
      </p:sp>
      <p:pic>
        <p:nvPicPr>
          <p:cNvPr id="9" name="Picture 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53.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When Metrics Disagree: What It Tells Us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800" b="0" i="1">
                <a:solidFill>
                  <a:srgbClr val="AAAAAA"/>
                </a:solidFill>
                <a:latin typeface="Calibri"/>
              </a:rPr>
              <a:t>IS uses 6 signals because no single metric tells the full story. Disagreements between metrics reveal specific quality patterns:</a:t>
            </a:r>
          </a:p>
        </p:txBody>
      </p:sp>
      <p:sp>
        <p:nvSpPr>
          <p:cNvPr id="5" name="Rounded Rectangle 4"/>
          <p:cNvSpPr/>
          <p:nvPr/>
        </p:nvSpPr>
        <p:spPr>
          <a:xfrm>
            <a:off x="548640" y="1828800"/>
            <a:ext cx="5303520" cy="1828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4937760" cy="320040"/>
          </a:xfrm>
          <a:prstGeom prst="rect">
            <a:avLst/>
          </a:prstGeom>
          <a:noFill/>
        </p:spPr>
        <p:txBody>
          <a:bodyPr wrap="square">
            <a:spAutoFit/>
          </a:bodyPr>
          <a:lstStyle/>
          <a:p>
            <a:pPr algn="l">
              <a:spcAft>
                <a:spcPts val="600"/>
              </a:spcAft>
            </a:pPr>
            <a:r>
              <a:rPr sz="2400" b="1" i="0">
                <a:solidFill>
                  <a:srgbClr val="00B4D8"/>
                </a:solidFill>
                <a:latin typeface="Calibri"/>
              </a:rPr>
              <a:t>WWER ≪ WER</a:t>
            </a:r>
            <a:r>
              <a:rPr sz="2400" b="0" i="0">
                <a:solidFill>
                  <a:srgbClr val="FFFFFF"/>
                </a:solidFill>
                <a:latin typeface="Calibri"/>
              </a:rPr>
              <a:t>  —  Function words wrong, content right</a:t>
            </a:r>
          </a:p>
        </p:txBody>
      </p:sp>
      <p:sp>
        <p:nvSpPr>
          <p:cNvPr id="7" name="TextBox 6"/>
          <p:cNvSpPr txBox="1"/>
          <p:nvPr/>
        </p:nvSpPr>
        <p:spPr>
          <a:xfrm>
            <a:off x="731520" y="2286000"/>
            <a:ext cx="4937760" cy="1280160"/>
          </a:xfrm>
          <a:prstGeom prst="rect">
            <a:avLst/>
          </a:prstGeom>
          <a:noFill/>
        </p:spPr>
        <p:txBody>
          <a:bodyPr wrap="square" anchor="t"/>
          <a:lstStyle/>
          <a:p>
            <a:pPr algn="l"/>
            <a:r>
              <a:rPr sz="2400" b="0" i="0">
                <a:solidFill>
                  <a:srgbClr val="AAAAAA"/>
                </a:solidFill>
                <a:latin typeface="Calibri"/>
              </a:rPr>
              <a:t>"the team discussed quarterly" → "team discuss quarterly"</a:t>
            </a:r>
            <a:br/>
            <a:r>
              <a:rPr sz="2400" b="0" i="0">
                <a:solidFill>
                  <a:srgbClr val="AAAAAA"/>
                </a:solidFill>
                <a:latin typeface="Calibri"/>
              </a:rPr>
              <a:t>WER 43% but WWER 15% — viewer gets the message.</a:t>
            </a:r>
          </a:p>
        </p:txBody>
      </p:sp>
      <p:sp>
        <p:nvSpPr>
          <p:cNvPr id="8" name="Rounded Rectangle 7"/>
          <p:cNvSpPr/>
          <p:nvPr/>
        </p:nvSpPr>
        <p:spPr>
          <a:xfrm>
            <a:off x="6336792" y="1828800"/>
            <a:ext cx="5303520" cy="18288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920240"/>
            <a:ext cx="4937760" cy="320040"/>
          </a:xfrm>
          <a:prstGeom prst="rect">
            <a:avLst/>
          </a:prstGeom>
          <a:noFill/>
        </p:spPr>
        <p:txBody>
          <a:bodyPr wrap="square">
            <a:spAutoFit/>
          </a:bodyPr>
          <a:lstStyle/>
          <a:p>
            <a:pPr algn="l">
              <a:spcAft>
                <a:spcPts val="600"/>
              </a:spcAft>
            </a:pPr>
            <a:r>
              <a:rPr sz="2400" b="1" i="0">
                <a:solidFill>
                  <a:srgbClr val="4CAF50"/>
                </a:solidFill>
                <a:latin typeface="Calibri"/>
              </a:rPr>
              <a:t>NEA high, WER high</a:t>
            </a:r>
            <a:r>
              <a:rPr sz="2400" b="0" i="0">
                <a:solidFill>
                  <a:srgbClr val="FFFFFF"/>
                </a:solidFill>
                <a:latin typeface="Calibri"/>
              </a:rPr>
              <a:t>  —  Names preserved despite poor accuracy</a:t>
            </a:r>
          </a:p>
        </p:txBody>
      </p:sp>
      <p:sp>
        <p:nvSpPr>
          <p:cNvPr id="10" name="TextBox 9"/>
          <p:cNvSpPr txBox="1"/>
          <p:nvPr/>
        </p:nvSpPr>
        <p:spPr>
          <a:xfrm>
            <a:off x="6519672" y="2286000"/>
            <a:ext cx="4937760" cy="1280160"/>
          </a:xfrm>
          <a:prstGeom prst="rect">
            <a:avLst/>
          </a:prstGeom>
          <a:noFill/>
        </p:spPr>
        <p:txBody>
          <a:bodyPr wrap="square" anchor="t"/>
          <a:lstStyle/>
          <a:p>
            <a:pPr algn="l"/>
            <a:r>
              <a:rPr sz="2400" b="0" i="0">
                <a:solidFill>
                  <a:srgbClr val="AAAAAA"/>
                </a:solidFill>
                <a:latin typeface="Calibri"/>
              </a:rPr>
              <a:t>"Dr. Chen presented Q3 results" → "Dr. Chen present Q3 result"</a:t>
            </a:r>
            <a:br/>
            <a:r>
              <a:rPr sz="2400" b="0" i="0">
                <a:solidFill>
                  <a:srgbClr val="AAAAAA"/>
                </a:solidFill>
                <a:latin typeface="Calibri"/>
              </a:rPr>
              <a:t>WER 57% but NEA F1 = 100% — critical info intact.</a:t>
            </a:r>
          </a:p>
        </p:txBody>
      </p:sp>
      <p:sp>
        <p:nvSpPr>
          <p:cNvPr id="11" name="Rounded Rectangle 10"/>
          <p:cNvSpPr/>
          <p:nvPr/>
        </p:nvSpPr>
        <p:spPr>
          <a:xfrm>
            <a:off x="548640" y="3840480"/>
            <a:ext cx="5303520" cy="182880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31920"/>
            <a:ext cx="4937760" cy="320040"/>
          </a:xfrm>
          <a:prstGeom prst="rect">
            <a:avLst/>
          </a:prstGeom>
          <a:noFill/>
        </p:spPr>
        <p:txBody>
          <a:bodyPr wrap="square">
            <a:spAutoFit/>
          </a:bodyPr>
          <a:lstStyle/>
          <a:p>
            <a:pPr algn="l">
              <a:spcAft>
                <a:spcPts val="600"/>
              </a:spcAft>
            </a:pPr>
            <a:r>
              <a:rPr sz="2400" b="1" i="0">
                <a:solidFill>
                  <a:srgbClr val="FFD54F"/>
                </a:solidFill>
                <a:latin typeface="Calibri"/>
              </a:rPr>
              <a:t>Semantic high, WER high</a:t>
            </a:r>
            <a:r>
              <a:rPr sz="2400" b="0" i="0">
                <a:solidFill>
                  <a:srgbClr val="FFFFFF"/>
                </a:solidFill>
                <a:latin typeface="Calibri"/>
              </a:rPr>
              <a:t>  —  Meaning preserved through paraphrasing</a:t>
            </a:r>
          </a:p>
        </p:txBody>
      </p:sp>
      <p:sp>
        <p:nvSpPr>
          <p:cNvPr id="13" name="TextBox 12"/>
          <p:cNvSpPr txBox="1"/>
          <p:nvPr/>
        </p:nvSpPr>
        <p:spPr>
          <a:xfrm>
            <a:off x="731520" y="4297680"/>
            <a:ext cx="4937760" cy="1280160"/>
          </a:xfrm>
          <a:prstGeom prst="rect">
            <a:avLst/>
          </a:prstGeom>
          <a:noFill/>
        </p:spPr>
        <p:txBody>
          <a:bodyPr wrap="square" anchor="t"/>
          <a:lstStyle/>
          <a:p>
            <a:pPr algn="l"/>
            <a:r>
              <a:rPr sz="2400" b="0" i="0">
                <a:solidFill>
                  <a:srgbClr val="AAAAAA"/>
                </a:solidFill>
                <a:latin typeface="Calibri"/>
              </a:rPr>
              <a:t>"reduce spending" → "cut the budget"</a:t>
            </a:r>
            <a:br/>
            <a:r>
              <a:rPr sz="2400" b="0" i="0">
                <a:solidFill>
                  <a:srgbClr val="AAAAAA"/>
                </a:solidFill>
                <a:latin typeface="Calibri"/>
              </a:rPr>
              <a:t>WER 100% but Semantic 0.87 — same meaning, different words.</a:t>
            </a:r>
          </a:p>
        </p:txBody>
      </p:sp>
      <p:sp>
        <p:nvSpPr>
          <p:cNvPr id="14" name="Rounded Rectangle 13"/>
          <p:cNvSpPr/>
          <p:nvPr/>
        </p:nvSpPr>
        <p:spPr>
          <a:xfrm>
            <a:off x="6336792" y="3840480"/>
            <a:ext cx="5303520" cy="1828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931920"/>
            <a:ext cx="4937760" cy="320040"/>
          </a:xfrm>
          <a:prstGeom prst="rect">
            <a:avLst/>
          </a:prstGeom>
          <a:noFill/>
        </p:spPr>
        <p:txBody>
          <a:bodyPr wrap="square">
            <a:spAutoFit/>
          </a:bodyPr>
          <a:lstStyle/>
          <a:p>
            <a:pPr algn="l">
              <a:spcAft>
                <a:spcPts val="600"/>
              </a:spcAft>
            </a:pPr>
            <a:r>
              <a:rPr sz="2400" b="1" i="0">
                <a:solidFill>
                  <a:srgbClr val="E06C75"/>
                </a:solidFill>
                <a:latin typeface="Calibri"/>
              </a:rPr>
              <a:t>Phonetic high, Semantic low</a:t>
            </a:r>
            <a:r>
              <a:rPr sz="2400" b="0" i="0">
                <a:solidFill>
                  <a:srgbClr val="FFFFFF"/>
                </a:solidFill>
                <a:latin typeface="Calibri"/>
              </a:rPr>
              <a:t>  —  Sounds right, wrong meaning</a:t>
            </a:r>
          </a:p>
        </p:txBody>
      </p:sp>
      <p:sp>
        <p:nvSpPr>
          <p:cNvPr id="16" name="TextBox 15"/>
          <p:cNvSpPr txBox="1"/>
          <p:nvPr/>
        </p:nvSpPr>
        <p:spPr>
          <a:xfrm>
            <a:off x="6519672" y="4297680"/>
            <a:ext cx="4937760" cy="1280160"/>
          </a:xfrm>
          <a:prstGeom prst="rect">
            <a:avLst/>
          </a:prstGeom>
          <a:noFill/>
        </p:spPr>
        <p:txBody>
          <a:bodyPr wrap="square" anchor="t"/>
          <a:lstStyle/>
          <a:p>
            <a:pPr algn="l"/>
            <a:r>
              <a:rPr sz="2400" b="0" i="0">
                <a:solidFill>
                  <a:srgbClr val="AAAAAA"/>
                </a:solidFill>
                <a:latin typeface="Calibri"/>
              </a:rPr>
              <a:t>"the alliance was formed" → "the lions were found"</a:t>
            </a:r>
            <a:br/>
            <a:r>
              <a:rPr sz="2400" b="0" i="0">
                <a:solidFill>
                  <a:srgbClr val="AAAAAA"/>
                </a:solidFill>
                <a:latin typeface="Calibri"/>
              </a:rPr>
              <a:t>Phonetic 0.71 but Semantic 0.12 — dangerous deceptive error.</a:t>
            </a:r>
          </a:p>
        </p:txBody>
      </p:sp>
      <p:sp>
        <p:nvSpPr>
          <p:cNvPr id="17" name="TextBox 16"/>
          <p:cNvSpPr txBox="1"/>
          <p:nvPr/>
        </p:nvSpPr>
        <p:spPr>
          <a:xfrm>
            <a:off x="548640" y="5760720"/>
            <a:ext cx="11091672" cy="365760"/>
          </a:xfrm>
          <a:prstGeom prst="rect">
            <a:avLst/>
          </a:prstGeom>
          <a:noFill/>
        </p:spPr>
        <p:txBody>
          <a:bodyPr wrap="square" anchor="t"/>
          <a:lstStyle/>
          <a:p>
            <a:pPr algn="ctr"/>
            <a:r>
              <a:rPr sz="1800" b="0" i="1">
                <a:solidFill>
                  <a:srgbClr val="AAAAAA"/>
                </a:solidFill>
                <a:latin typeface="Calibri"/>
              </a:rPr>
              <a:t>This is why IS uses 6 signals — each disagreement pattern reveals a different type of quality that a single metric would miss.</a:t>
            </a:r>
          </a:p>
        </p:txBody>
      </p:sp>
      <p:pic>
        <p:nvPicPr>
          <p:cNvPr id="18" name="Picture 1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24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4.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When Metrics Disagree: More Patterns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800" b="0" i="1">
                <a:solidFill>
                  <a:srgbClr val="AAAAAA"/>
                </a:solidFill>
                <a:latin typeface="Calibri"/>
              </a:rPr>
              <a:t>Additional diagnostic patterns that reveal specific transcription behaviors:</a:t>
            </a:r>
          </a:p>
        </p:txBody>
      </p:sp>
      <p:sp>
        <p:nvSpPr>
          <p:cNvPr id="5" name="Rounded Rectangle 4"/>
          <p:cNvSpPr/>
          <p:nvPr/>
        </p:nvSpPr>
        <p:spPr>
          <a:xfrm>
            <a:off x="548640" y="1828800"/>
            <a:ext cx="5303520" cy="1828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4937760" cy="320040"/>
          </a:xfrm>
          <a:prstGeom prst="rect">
            <a:avLst/>
          </a:prstGeom>
          <a:noFill/>
        </p:spPr>
        <p:txBody>
          <a:bodyPr wrap="square">
            <a:spAutoFit/>
          </a:bodyPr>
          <a:lstStyle/>
          <a:p>
            <a:pPr algn="l">
              <a:spcAft>
                <a:spcPts val="600"/>
              </a:spcAft>
            </a:pPr>
            <a:r>
              <a:rPr sz="2400" b="1" i="0">
                <a:solidFill>
                  <a:srgbClr val="E06C75"/>
                </a:solidFill>
                <a:latin typeface="Calibri"/>
              </a:rPr>
              <a:t>Length ≪ 1.0, all metrics low</a:t>
            </a:r>
            <a:r>
              <a:rPr sz="2400" b="0" i="0">
                <a:solidFill>
                  <a:srgbClr val="FFFFFF"/>
                </a:solidFill>
                <a:latin typeface="Calibri"/>
              </a:rPr>
              <a:t>  —  Signal loss — model gave up or truncated</a:t>
            </a:r>
          </a:p>
        </p:txBody>
      </p:sp>
      <p:sp>
        <p:nvSpPr>
          <p:cNvPr id="7" name="TextBox 6"/>
          <p:cNvSpPr txBox="1"/>
          <p:nvPr/>
        </p:nvSpPr>
        <p:spPr>
          <a:xfrm>
            <a:off x="731520" y="2286000"/>
            <a:ext cx="4937760" cy="1280160"/>
          </a:xfrm>
          <a:prstGeom prst="rect">
            <a:avLst/>
          </a:prstGeom>
          <a:noFill/>
        </p:spPr>
        <p:txBody>
          <a:bodyPr wrap="square" anchor="t"/>
          <a:lstStyle/>
          <a:p>
            <a:pPr algn="l"/>
            <a:r>
              <a:rPr sz="2400" b="0" i="0">
                <a:solidFill>
                  <a:srgbClr val="AAAAAA"/>
                </a:solidFill>
                <a:latin typeface="Calibri"/>
              </a:rPr>
              <a:t>Ref: "the thirteenth amendment abolished slavery"</a:t>
            </a:r>
            <a:br/>
            <a:r>
              <a:rPr sz="2400" b="0" i="0">
                <a:solidFill>
                  <a:srgbClr val="AAAAAA"/>
                </a:solidFill>
                <a:latin typeface="Calibri"/>
              </a:rPr>
              <a:t>Hyp: "the" (length ratio 0.06)</a:t>
            </a:r>
            <a:br/>
            <a:r>
              <a:rPr sz="2400" b="0" i="0">
                <a:solidFill>
                  <a:srgbClr val="AAAAAA"/>
                </a:solidFill>
                <a:latin typeface="Calibri"/>
              </a:rPr>
              <a:t>All signals collapse — nothing to evaluate.</a:t>
            </a:r>
          </a:p>
        </p:txBody>
      </p:sp>
      <p:sp>
        <p:nvSpPr>
          <p:cNvPr id="8" name="Rounded Rectangle 7"/>
          <p:cNvSpPr/>
          <p:nvPr/>
        </p:nvSpPr>
        <p:spPr>
          <a:xfrm>
            <a:off x="6336792" y="1828800"/>
            <a:ext cx="5303520" cy="18288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920240"/>
            <a:ext cx="4937760" cy="320040"/>
          </a:xfrm>
          <a:prstGeom prst="rect">
            <a:avLst/>
          </a:prstGeom>
          <a:noFill/>
        </p:spPr>
        <p:txBody>
          <a:bodyPr wrap="square">
            <a:spAutoFit/>
          </a:bodyPr>
          <a:lstStyle/>
          <a:p>
            <a:pPr algn="l">
              <a:spcAft>
                <a:spcPts val="600"/>
              </a:spcAft>
            </a:pPr>
            <a:r>
              <a:rPr sz="2400" b="1" i="0">
                <a:solidFill>
                  <a:srgbClr val="E06C75"/>
                </a:solidFill>
                <a:latin typeface="Calibri"/>
              </a:rPr>
              <a:t>Length ≫ 1.0, Semantic low</a:t>
            </a:r>
            <a:r>
              <a:rPr sz="2400" b="0" i="0">
                <a:solidFill>
                  <a:srgbClr val="FFFFFF"/>
                </a:solidFill>
                <a:latin typeface="Calibri"/>
              </a:rPr>
              <a:t>  —  Hallucination — fluent fabrication</a:t>
            </a:r>
          </a:p>
        </p:txBody>
      </p:sp>
      <p:sp>
        <p:nvSpPr>
          <p:cNvPr id="10" name="TextBox 9"/>
          <p:cNvSpPr txBox="1"/>
          <p:nvPr/>
        </p:nvSpPr>
        <p:spPr>
          <a:xfrm>
            <a:off x="6519672" y="2286000"/>
            <a:ext cx="4937760" cy="1280160"/>
          </a:xfrm>
          <a:prstGeom prst="rect">
            <a:avLst/>
          </a:prstGeom>
          <a:noFill/>
        </p:spPr>
        <p:txBody>
          <a:bodyPr wrap="square" anchor="t"/>
          <a:lstStyle/>
          <a:p>
            <a:pPr algn="l"/>
            <a:r>
              <a:rPr sz="2400" b="0" i="0">
                <a:solidFill>
                  <a:srgbClr val="AAAAAA"/>
                </a:solidFill>
                <a:latin typeface="Calibri"/>
              </a:rPr>
              <a:t>Ref: "carry strap" → Hyp: 3 paragraphs about history</a:t>
            </a:r>
            <a:br/>
            <a:r>
              <a:rPr sz="2400" b="0" i="0">
                <a:solidFill>
                  <a:srgbClr val="AAAAAA"/>
                </a:solidFill>
                <a:latin typeface="Calibri"/>
              </a:rPr>
              <a:t>WER 6,833%, length ratio 45× — LLM ran unchecked.</a:t>
            </a:r>
            <a:br/>
            <a:r>
              <a:rPr sz="2400" b="0" i="0">
                <a:solidFill>
                  <a:srgbClr val="AAAAAA"/>
                </a:solidFill>
                <a:latin typeface="Calibri"/>
              </a:rPr>
              <a:t>IS catches via length + semantic: fluent but fabricated.</a:t>
            </a:r>
          </a:p>
        </p:txBody>
      </p:sp>
      <p:sp>
        <p:nvSpPr>
          <p:cNvPr id="11" name="Rounded Rectangle 10"/>
          <p:cNvSpPr/>
          <p:nvPr/>
        </p:nvSpPr>
        <p:spPr>
          <a:xfrm>
            <a:off x="548640" y="3840480"/>
            <a:ext cx="5303520" cy="182880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931920"/>
            <a:ext cx="4937760" cy="320040"/>
          </a:xfrm>
          <a:prstGeom prst="rect">
            <a:avLst/>
          </a:prstGeom>
          <a:noFill/>
        </p:spPr>
        <p:txBody>
          <a:bodyPr wrap="square">
            <a:spAutoFit/>
          </a:bodyPr>
          <a:lstStyle/>
          <a:p>
            <a:pPr algn="l">
              <a:spcAft>
                <a:spcPts val="600"/>
              </a:spcAft>
            </a:pPr>
            <a:r>
              <a:rPr sz="2400" b="1" i="0">
                <a:solidFill>
                  <a:srgbClr val="FFD54F"/>
                </a:solidFill>
                <a:latin typeface="Calibri"/>
              </a:rPr>
              <a:t>NEA low, Semantic moderate</a:t>
            </a:r>
            <a:r>
              <a:rPr sz="2400" b="0" i="0">
                <a:solidFill>
                  <a:srgbClr val="FFFFFF"/>
                </a:solidFill>
                <a:latin typeface="Calibri"/>
              </a:rPr>
              <a:t>  —  Topic right, entities destroyed</a:t>
            </a:r>
          </a:p>
        </p:txBody>
      </p:sp>
      <p:sp>
        <p:nvSpPr>
          <p:cNvPr id="13" name="TextBox 12"/>
          <p:cNvSpPr txBox="1"/>
          <p:nvPr/>
        </p:nvSpPr>
        <p:spPr>
          <a:xfrm>
            <a:off x="731520" y="4297680"/>
            <a:ext cx="4937760" cy="1280160"/>
          </a:xfrm>
          <a:prstGeom prst="rect">
            <a:avLst/>
          </a:prstGeom>
          <a:noFill/>
        </p:spPr>
        <p:txBody>
          <a:bodyPr wrap="square" anchor="t"/>
          <a:lstStyle/>
          <a:p>
            <a:pPr algn="l"/>
            <a:r>
              <a:rPr sz="2400" b="0" i="0">
                <a:solidFill>
                  <a:srgbClr val="AAAAAA"/>
                </a:solidFill>
                <a:latin typeface="Calibri"/>
              </a:rPr>
              <a:t>"the 13th amendment" → "the important decision"</a:t>
            </a:r>
            <a:br/>
            <a:r>
              <a:rPr sz="2400" b="0" i="0">
                <a:solidFill>
                  <a:srgbClr val="AAAAAA"/>
                </a:solidFill>
                <a:latin typeface="Calibri"/>
              </a:rPr>
              <a:t>Semantic 0.52 but NEA F1 = 0% — gist right, facts lost.</a:t>
            </a:r>
            <a:br/>
            <a:r>
              <a:rPr sz="2400" b="0" i="0">
                <a:solidFill>
                  <a:srgbClr val="AAAAAA"/>
                </a:solidFill>
                <a:latin typeface="Calibri"/>
              </a:rPr>
              <a:t>IS penalizes: critical info (names, numbers) irrecoverable.</a:t>
            </a:r>
          </a:p>
        </p:txBody>
      </p:sp>
      <p:sp>
        <p:nvSpPr>
          <p:cNvPr id="14" name="Rounded Rectangle 13"/>
          <p:cNvSpPr/>
          <p:nvPr/>
        </p:nvSpPr>
        <p:spPr>
          <a:xfrm>
            <a:off x="6336792" y="3840480"/>
            <a:ext cx="5303520" cy="1828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931920"/>
            <a:ext cx="4937760" cy="320040"/>
          </a:xfrm>
          <a:prstGeom prst="rect">
            <a:avLst/>
          </a:prstGeom>
          <a:noFill/>
        </p:spPr>
        <p:txBody>
          <a:bodyPr wrap="square">
            <a:spAutoFit/>
          </a:bodyPr>
          <a:lstStyle/>
          <a:p>
            <a:pPr algn="l">
              <a:spcAft>
                <a:spcPts val="600"/>
              </a:spcAft>
            </a:pPr>
            <a:r>
              <a:rPr sz="2400" b="1" i="0">
                <a:solidFill>
                  <a:srgbClr val="00B4D8"/>
                </a:solidFill>
                <a:latin typeface="Calibri"/>
              </a:rPr>
              <a:t>All metrics moderate (~0.5)</a:t>
            </a:r>
            <a:r>
              <a:rPr sz="2400" b="0" i="0">
                <a:solidFill>
                  <a:srgbClr val="FFFFFF"/>
                </a:solidFill>
                <a:latin typeface="Calibri"/>
              </a:rPr>
              <a:t>  —  Accumulated small errors — death by a thousand cuts</a:t>
            </a:r>
          </a:p>
        </p:txBody>
      </p:sp>
      <p:sp>
        <p:nvSpPr>
          <p:cNvPr id="16" name="TextBox 15"/>
          <p:cNvSpPr txBox="1"/>
          <p:nvPr/>
        </p:nvSpPr>
        <p:spPr>
          <a:xfrm>
            <a:off x="6519672" y="4297680"/>
            <a:ext cx="4937760" cy="1280160"/>
          </a:xfrm>
          <a:prstGeom prst="rect">
            <a:avLst/>
          </a:prstGeom>
          <a:noFill/>
        </p:spPr>
        <p:txBody>
          <a:bodyPr wrap="square" anchor="t"/>
          <a:lstStyle/>
          <a:p>
            <a:pPr algn="l"/>
            <a:r>
              <a:rPr sz="2400" b="0" i="0">
                <a:solidFill>
                  <a:srgbClr val="AAAAAA"/>
                </a:solidFill>
                <a:latin typeface="Calibri"/>
              </a:rPr>
              <a:t>Every signal is mediocre, none catastrophic.</a:t>
            </a:r>
            <a:br/>
            <a:r>
              <a:rPr sz="2400" b="0" i="0">
                <a:solidFill>
                  <a:srgbClr val="AAAAAA"/>
                </a:solidFill>
                <a:latin typeface="Calibri"/>
              </a:rPr>
              <a:t>WER 55%, Semantic 0.48, Phonetic 0.51, NEA 40%.</a:t>
            </a:r>
            <a:br/>
            <a:r>
              <a:rPr sz="2400" b="0" i="0">
                <a:solidFill>
                  <a:srgbClr val="AAAAAA"/>
                </a:solidFill>
                <a:latin typeface="Calibri"/>
              </a:rPr>
              <a:t>IS: ~2.5 (borderline) — individually OK, collectively degraded.</a:t>
            </a:r>
          </a:p>
        </p:txBody>
      </p:sp>
      <p:sp>
        <p:nvSpPr>
          <p:cNvPr id="17" name="TextBox 16"/>
          <p:cNvSpPr txBox="1"/>
          <p:nvPr/>
        </p:nvSpPr>
        <p:spPr>
          <a:xfrm>
            <a:off x="548640" y="5760720"/>
            <a:ext cx="11091672" cy="365760"/>
          </a:xfrm>
          <a:prstGeom prst="rect">
            <a:avLst/>
          </a:prstGeom>
          <a:noFill/>
        </p:spPr>
        <p:txBody>
          <a:bodyPr wrap="square" anchor="t"/>
          <a:lstStyle/>
          <a:p>
            <a:pPr algn="ctr"/>
            <a:r>
              <a:rPr sz="1800" b="0" i="1">
                <a:solidFill>
                  <a:srgbClr val="AAAAAA"/>
                </a:solidFill>
                <a:latin typeface="Calibri"/>
              </a:rPr>
              <a:t>8 total diagnostic patterns — IS decomposes quality into actionable signals that each point to a different engineering fix.</a:t>
            </a:r>
          </a:p>
        </p:txBody>
      </p:sp>
      <p:pic>
        <p:nvPicPr>
          <p:cNvPr id="18" name="Picture 1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24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55.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A Calibrated Surrogate for LLM Judgment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45720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0543032" cy="640080"/>
          </a:xfrm>
          <a:prstGeom prst="rect">
            <a:avLst/>
          </a:prstGeom>
          <a:noFill/>
        </p:spPr>
        <p:txBody>
          <a:bodyPr wrap="square" anchor="t"/>
          <a:lstStyle/>
          <a:p>
            <a:pPr algn="ctr"/>
            <a:r>
              <a:rPr sz="4000" b="1" i="0">
                <a:solidFill>
                  <a:srgbClr val="E06C75"/>
                </a:solidFill>
                <a:latin typeface="Calibri"/>
              </a:rPr>
              <a:t>IS says 62%</a:t>
            </a:r>
          </a:p>
        </p:txBody>
      </p:sp>
      <p:sp>
        <p:nvSpPr>
          <p:cNvPr id="6" name="TextBox 5"/>
          <p:cNvSpPr txBox="1"/>
          <p:nvPr/>
        </p:nvSpPr>
        <p:spPr>
          <a:xfrm>
            <a:off x="822960" y="2103120"/>
            <a:ext cx="10543032" cy="365760"/>
          </a:xfrm>
          <a:prstGeom prst="rect">
            <a:avLst/>
          </a:prstGeom>
          <a:noFill/>
        </p:spPr>
        <p:txBody>
          <a:bodyPr wrap="square" anchor="t"/>
          <a:lstStyle/>
          <a:p>
            <a:pPr algn="ctr"/>
            <a:r>
              <a:rPr sz="2400" b="0" i="0">
                <a:solidFill>
                  <a:srgbClr val="AAAAAA"/>
                </a:solidFill>
                <a:latin typeface="Calibri"/>
              </a:rPr>
              <a:t>of segments pass (IS ≥ 2.00)</a:t>
            </a:r>
          </a:p>
        </p:txBody>
      </p:sp>
      <p:sp>
        <p:nvSpPr>
          <p:cNvPr id="7" name="TextBox 6"/>
          <p:cNvSpPr txBox="1"/>
          <p:nvPr/>
        </p:nvSpPr>
        <p:spPr>
          <a:xfrm>
            <a:off x="822960" y="2697480"/>
            <a:ext cx="10543032" cy="640080"/>
          </a:xfrm>
          <a:prstGeom prst="rect">
            <a:avLst/>
          </a:prstGeom>
          <a:noFill/>
        </p:spPr>
        <p:txBody>
          <a:bodyPr wrap="square" anchor="t"/>
          <a:lstStyle/>
          <a:p>
            <a:pPr algn="ctr"/>
            <a:r>
              <a:rPr sz="4000" b="1" i="0">
                <a:solidFill>
                  <a:srgbClr val="4CAF50"/>
                </a:solidFill>
                <a:latin typeface="Calibri"/>
              </a:rPr>
              <a:t>LLM Judge says 65%</a:t>
            </a:r>
          </a:p>
        </p:txBody>
      </p:sp>
      <p:sp>
        <p:nvSpPr>
          <p:cNvPr id="8" name="TextBox 7"/>
          <p:cNvSpPr txBox="1"/>
          <p:nvPr/>
        </p:nvSpPr>
        <p:spPr>
          <a:xfrm>
            <a:off x="822960" y="3291840"/>
            <a:ext cx="10543032" cy="365760"/>
          </a:xfrm>
          <a:prstGeom prst="rect">
            <a:avLst/>
          </a:prstGeom>
          <a:noFill/>
        </p:spPr>
        <p:txBody>
          <a:bodyPr wrap="square" anchor="t"/>
          <a:lstStyle/>
          <a:p>
            <a:pPr algn="ctr"/>
            <a:r>
              <a:rPr sz="2400" b="0" i="0">
                <a:solidFill>
                  <a:srgbClr val="AAAAAA"/>
                </a:solidFill>
                <a:latin typeface="Calibri"/>
              </a:rPr>
              <a:t>deliver useful output (Y + P)</a:t>
            </a:r>
          </a:p>
        </p:txBody>
      </p:sp>
      <p:sp>
        <p:nvSpPr>
          <p:cNvPr id="9" name="TextBox 8"/>
          <p:cNvSpPr txBox="1"/>
          <p:nvPr/>
        </p:nvSpPr>
        <p:spPr>
          <a:xfrm>
            <a:off x="822960" y="3886200"/>
            <a:ext cx="10543032" cy="192024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IS conservatively undercounts — real quality higher than 62%</a:t>
            </a:r>
          </a:p>
          <a:p>
            <a:pPr algn="l">
              <a:spcAft>
                <a:spcPts val="600"/>
              </a:spcAft>
            </a:pPr>
            <a:r>
              <a:rPr sz="2400" b="1">
                <a:solidFill>
                  <a:srgbClr val="00B4D8"/>
                </a:solidFill>
                <a:latin typeface="Calibri"/>
              </a:rPr>
              <a:t>• </a:t>
            </a:r>
            <a:r>
              <a:rPr sz="2400" b="0">
                <a:solidFill>
                  <a:srgbClr val="FFFFFF"/>
                </a:solidFill>
                <a:latin typeface="Calibri"/>
              </a:rPr>
              <a:t>Gap (62% → 65%) = partial-value segments strict metrics penalize</a:t>
            </a:r>
          </a:p>
          <a:p>
            <a:pPr algn="l">
              <a:spcAft>
                <a:spcPts val="600"/>
              </a:spcAft>
            </a:pPr>
            <a:r>
              <a:rPr sz="2400" b="1">
                <a:solidFill>
                  <a:srgbClr val="00B4D8"/>
                </a:solidFill>
                <a:latin typeface="Calibri"/>
              </a:rPr>
              <a:t>• </a:t>
            </a:r>
            <a:r>
              <a:rPr sz="2400" b="0">
                <a:solidFill>
                  <a:srgbClr val="00B4D8"/>
                </a:solidFill>
                <a:latin typeface="Calibri"/>
              </a:rPr>
              <a:t>IS is a floor, not a ceiling — designed to be cautious</a:t>
            </a:r>
          </a:p>
        </p:txBody>
      </p:sp>
      <p:sp>
        <p:nvSpPr>
          <p:cNvPr id="10" name="TextBox 9"/>
          <p:cNvSpPr txBox="1"/>
          <p:nvPr/>
        </p:nvSpPr>
        <p:spPr>
          <a:xfrm>
            <a:off x="548640" y="5989320"/>
            <a:ext cx="11091672" cy="457200"/>
          </a:xfrm>
          <a:prstGeom prst="rect">
            <a:avLst/>
          </a:prstGeom>
          <a:noFill/>
        </p:spPr>
        <p:txBody>
          <a:bodyPr wrap="square" anchor="t"/>
          <a:lstStyle/>
          <a:p>
            <a:pPr algn="ctr"/>
            <a:r>
              <a:rPr sz="2000" b="0" i="1">
                <a:solidFill>
                  <a:srgbClr val="AAAAAA"/>
                </a:solidFill>
                <a:latin typeface="Calibri"/>
              </a:rPr>
              <a:t>Our metric is deliberately conservative. Independent LLM judge confirms true useful rate is 3pp higher.</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LLM Salvage: Three Real Recoveries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800" b="0" i="1">
                <a:solidFill>
                  <a:srgbClr val="AAAAAA"/>
                </a:solidFill>
                <a:latin typeface="Calibri"/>
              </a:rPr>
              <a:t>These segments failed IS (&lt; 3.0) but a viewer with context would understand them:</a:t>
            </a:r>
          </a:p>
        </p:txBody>
      </p:sp>
      <p:sp>
        <p:nvSpPr>
          <p:cNvPr id="5" name="Rounded Rectangle 4"/>
          <p:cNvSpPr/>
          <p:nvPr/>
        </p:nvSpPr>
        <p:spPr>
          <a:xfrm>
            <a:off x="637032" y="1737360"/>
            <a:ext cx="3474720" cy="49377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4192" y="1783080"/>
            <a:ext cx="3200400" cy="411480"/>
          </a:xfrm>
          <a:prstGeom prst="rect">
            <a:avLst/>
          </a:prstGeom>
          <a:noFill/>
        </p:spPr>
        <p:txBody>
          <a:bodyPr wrap="square" anchor="t"/>
          <a:lstStyle/>
          <a:p>
            <a:pPr algn="ctr"/>
            <a:r>
              <a:rPr sz="2000" b="1" i="0">
                <a:solidFill>
                  <a:srgbClr val="00B4D8"/>
                </a:solidFill>
                <a:latin typeface="Calibri"/>
              </a:rPr>
              <a:t>Phonetic Bridge</a:t>
            </a:r>
          </a:p>
        </p:txBody>
      </p:sp>
      <p:sp>
        <p:nvSpPr>
          <p:cNvPr id="7" name="TextBox 6"/>
          <p:cNvSpPr txBox="1"/>
          <p:nvPr/>
        </p:nvSpPr>
        <p:spPr>
          <a:xfrm>
            <a:off x="774192" y="2194560"/>
            <a:ext cx="3200400" cy="365760"/>
          </a:xfrm>
          <a:prstGeom prst="rect">
            <a:avLst/>
          </a:prstGeom>
          <a:noFill/>
        </p:spPr>
        <p:txBody>
          <a:bodyPr wrap="square" anchor="t"/>
          <a:lstStyle/>
          <a:p>
            <a:pPr algn="ctr"/>
            <a:r>
              <a:rPr sz="1800" b="0" i="0">
                <a:solidFill>
                  <a:srgbClr val="AAAAAA"/>
                </a:solidFill>
                <a:latin typeface="Calibri"/>
              </a:rPr>
              <a:t>IS 1.29  |  Prob 0.55</a:t>
            </a:r>
          </a:p>
        </p:txBody>
      </p:sp>
      <p:sp>
        <p:nvSpPr>
          <p:cNvPr id="8" name="TextBox 7"/>
          <p:cNvSpPr txBox="1"/>
          <p:nvPr/>
        </p:nvSpPr>
        <p:spPr>
          <a:xfrm>
            <a:off x="774192" y="2606040"/>
            <a:ext cx="3200400" cy="274320"/>
          </a:xfrm>
          <a:prstGeom prst="rect">
            <a:avLst/>
          </a:prstGeom>
          <a:noFill/>
        </p:spPr>
        <p:txBody>
          <a:bodyPr wrap="square" anchor="t"/>
          <a:lstStyle/>
          <a:p>
            <a:pPr algn="l"/>
            <a:r>
              <a:rPr sz="1600" b="1" i="0">
                <a:solidFill>
                  <a:srgbClr val="AAAAAA"/>
                </a:solidFill>
                <a:latin typeface="Calibri"/>
              </a:rPr>
              <a:t>Reference:</a:t>
            </a:r>
          </a:p>
        </p:txBody>
      </p:sp>
      <p:sp>
        <p:nvSpPr>
          <p:cNvPr id="9" name="TextBox 8"/>
          <p:cNvSpPr txBox="1"/>
          <p:nvPr/>
        </p:nvSpPr>
        <p:spPr>
          <a:xfrm>
            <a:off x="774192" y="2880360"/>
            <a:ext cx="3200400" cy="1005840"/>
          </a:xfrm>
          <a:prstGeom prst="rect">
            <a:avLst/>
          </a:prstGeom>
          <a:noFill/>
        </p:spPr>
        <p:txBody>
          <a:bodyPr wrap="square" anchor="t"/>
          <a:lstStyle/>
          <a:p>
            <a:pPr algn="l"/>
            <a:r>
              <a:rPr sz="1600" b="0" i="1">
                <a:solidFill>
                  <a:srgbClr val="FFFFFF"/>
                </a:solidFill>
                <a:latin typeface="Calibri"/>
              </a:rPr>
              <a:t>“when jesus rose again”</a:t>
            </a:r>
          </a:p>
        </p:txBody>
      </p:sp>
      <p:sp>
        <p:nvSpPr>
          <p:cNvPr id="10" name="TextBox 9"/>
          <p:cNvSpPr txBox="1"/>
          <p:nvPr/>
        </p:nvSpPr>
        <p:spPr>
          <a:xfrm>
            <a:off x="774192" y="3931920"/>
            <a:ext cx="3200400" cy="274320"/>
          </a:xfrm>
          <a:prstGeom prst="rect">
            <a:avLst/>
          </a:prstGeom>
          <a:noFill/>
        </p:spPr>
        <p:txBody>
          <a:bodyPr wrap="square" anchor="t"/>
          <a:lstStyle/>
          <a:p>
            <a:pPr algn="l"/>
            <a:r>
              <a:rPr sz="1600" b="1" i="0">
                <a:solidFill>
                  <a:srgbClr val="AAAAAA"/>
                </a:solidFill>
                <a:latin typeface="Calibri"/>
              </a:rPr>
              <a:t>Prediction:</a:t>
            </a:r>
          </a:p>
        </p:txBody>
      </p:sp>
      <p:sp>
        <p:nvSpPr>
          <p:cNvPr id="11" name="TextBox 10"/>
          <p:cNvSpPr txBox="1"/>
          <p:nvPr/>
        </p:nvSpPr>
        <p:spPr>
          <a:xfrm>
            <a:off x="774192" y="4206240"/>
            <a:ext cx="3200400" cy="1005840"/>
          </a:xfrm>
          <a:prstGeom prst="rect">
            <a:avLst/>
          </a:prstGeom>
          <a:noFill/>
        </p:spPr>
        <p:txBody>
          <a:bodyPr wrap="square" anchor="t"/>
          <a:lstStyle/>
          <a:p>
            <a:pPr algn="l"/>
            <a:r>
              <a:rPr sz="1600" b="0" i="1">
                <a:solidFill>
                  <a:srgbClr val="00B4D8"/>
                </a:solidFill>
                <a:latin typeface="Calibri"/>
              </a:rPr>
              <a:t>“in one sense it’s rose</a:t>
            </a:r>
            <a:br/>
            <a:r>
              <a:rPr sz="1600" b="0" i="1">
                <a:solidFill>
                  <a:srgbClr val="00B4D8"/>
                </a:solidFill>
                <a:latin typeface="Calibri"/>
              </a:rPr>
              <a:t>and kennedy”</a:t>
            </a:r>
          </a:p>
        </p:txBody>
      </p:sp>
      <p:sp>
        <p:nvSpPr>
          <p:cNvPr id="12" name="TextBox 11"/>
          <p:cNvSpPr txBox="1"/>
          <p:nvPr/>
        </p:nvSpPr>
        <p:spPr>
          <a:xfrm>
            <a:off x="774192" y="5074920"/>
            <a:ext cx="3200400" cy="274320"/>
          </a:xfrm>
          <a:prstGeom prst="rect">
            <a:avLst/>
          </a:prstGeom>
          <a:noFill/>
        </p:spPr>
        <p:txBody>
          <a:bodyPr wrap="square" anchor="t"/>
          <a:lstStyle/>
          <a:p>
            <a:pPr algn="l"/>
            <a:r>
              <a:rPr sz="1600" b="1" i="0">
                <a:solidFill>
                  <a:srgbClr val="00B4D8"/>
                </a:solidFill>
                <a:latin typeface="Calibri"/>
              </a:rPr>
              <a:t>How a viewer recovers this:</a:t>
            </a:r>
          </a:p>
        </p:txBody>
      </p:sp>
      <p:sp>
        <p:nvSpPr>
          <p:cNvPr id="13" name="TextBox 12"/>
          <p:cNvSpPr txBox="1"/>
          <p:nvPr/>
        </p:nvSpPr>
        <p:spPr>
          <a:xfrm>
            <a:off x="774192" y="5349240"/>
            <a:ext cx="3200400" cy="1005840"/>
          </a:xfrm>
          <a:prstGeom prst="rect">
            <a:avLst/>
          </a:prstGeom>
          <a:noFill/>
        </p:spPr>
        <p:txBody>
          <a:bodyPr wrap="square" anchor="t"/>
          <a:lstStyle/>
          <a:p>
            <a:pPr algn="l"/>
            <a:r>
              <a:rPr sz="1600" b="0" i="0">
                <a:solidFill>
                  <a:srgbClr val="FFFFFF"/>
                </a:solidFill>
                <a:latin typeface="Calibri"/>
              </a:rPr>
              <a:t>Religious-program viewer reads “Jesus rose.” Mouth shapes nearly identical.</a:t>
            </a:r>
          </a:p>
        </p:txBody>
      </p:sp>
      <p:sp>
        <p:nvSpPr>
          <p:cNvPr id="14" name="Rounded Rectangle 13"/>
          <p:cNvSpPr/>
          <p:nvPr/>
        </p:nvSpPr>
        <p:spPr>
          <a:xfrm>
            <a:off x="4358640" y="1737360"/>
            <a:ext cx="3474720" cy="493776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1783080"/>
            <a:ext cx="3200400" cy="411480"/>
          </a:xfrm>
          <a:prstGeom prst="rect">
            <a:avLst/>
          </a:prstGeom>
          <a:noFill/>
        </p:spPr>
        <p:txBody>
          <a:bodyPr wrap="square" anchor="t"/>
          <a:lstStyle/>
          <a:p>
            <a:pPr algn="ctr"/>
            <a:r>
              <a:rPr sz="2000" b="1" i="0">
                <a:solidFill>
                  <a:srgbClr val="4CAF50"/>
                </a:solidFill>
                <a:latin typeface="Calibri"/>
              </a:rPr>
              <a:t>Semantic Preservation</a:t>
            </a:r>
          </a:p>
        </p:txBody>
      </p:sp>
      <p:sp>
        <p:nvSpPr>
          <p:cNvPr id="16" name="TextBox 15"/>
          <p:cNvSpPr txBox="1"/>
          <p:nvPr/>
        </p:nvSpPr>
        <p:spPr>
          <a:xfrm>
            <a:off x="4495800" y="2194560"/>
            <a:ext cx="3200400" cy="365760"/>
          </a:xfrm>
          <a:prstGeom prst="rect">
            <a:avLst/>
          </a:prstGeom>
          <a:noFill/>
        </p:spPr>
        <p:txBody>
          <a:bodyPr wrap="square" anchor="t"/>
          <a:lstStyle/>
          <a:p>
            <a:pPr algn="ctr"/>
            <a:r>
              <a:rPr sz="1800" b="0" i="0">
                <a:solidFill>
                  <a:srgbClr val="AAAAAA"/>
                </a:solidFill>
                <a:latin typeface="Calibri"/>
              </a:rPr>
              <a:t>IS 2.18  |  Prob 0.90</a:t>
            </a:r>
          </a:p>
        </p:txBody>
      </p:sp>
      <p:sp>
        <p:nvSpPr>
          <p:cNvPr id="17" name="TextBox 16"/>
          <p:cNvSpPr txBox="1"/>
          <p:nvPr/>
        </p:nvSpPr>
        <p:spPr>
          <a:xfrm>
            <a:off x="4495800" y="2606040"/>
            <a:ext cx="3200400" cy="274320"/>
          </a:xfrm>
          <a:prstGeom prst="rect">
            <a:avLst/>
          </a:prstGeom>
          <a:noFill/>
        </p:spPr>
        <p:txBody>
          <a:bodyPr wrap="square" anchor="t"/>
          <a:lstStyle/>
          <a:p>
            <a:pPr algn="l"/>
            <a:r>
              <a:rPr sz="1600" b="1" i="0">
                <a:solidFill>
                  <a:srgbClr val="AAAAAA"/>
                </a:solidFill>
                <a:latin typeface="Calibri"/>
              </a:rPr>
              <a:t>Reference:</a:t>
            </a:r>
          </a:p>
        </p:txBody>
      </p:sp>
      <p:sp>
        <p:nvSpPr>
          <p:cNvPr id="18" name="TextBox 17"/>
          <p:cNvSpPr txBox="1"/>
          <p:nvPr/>
        </p:nvSpPr>
        <p:spPr>
          <a:xfrm>
            <a:off x="4495800" y="2880360"/>
            <a:ext cx="3200400" cy="1005840"/>
          </a:xfrm>
          <a:prstGeom prst="rect">
            <a:avLst/>
          </a:prstGeom>
          <a:noFill/>
        </p:spPr>
        <p:txBody>
          <a:bodyPr wrap="square" anchor="t"/>
          <a:lstStyle/>
          <a:p>
            <a:pPr algn="l"/>
            <a:r>
              <a:rPr sz="1600" b="0" i="1">
                <a:solidFill>
                  <a:srgbClr val="FFFFFF"/>
                </a:solidFill>
                <a:latin typeface="Calibri"/>
              </a:rPr>
              <a:t>“moving conceptual surface data</a:t>
            </a:r>
            <a:br/>
            <a:r>
              <a:rPr sz="1600" b="0" i="1">
                <a:solidFill>
                  <a:srgbClr val="FFFFFF"/>
                </a:solidFill>
                <a:latin typeface="Calibri"/>
              </a:rPr>
              <a:t>over to engineering solutions</a:t>
            </a:r>
            <a:br/>
            <a:r>
              <a:rPr sz="1600" b="0" i="1">
                <a:solidFill>
                  <a:srgbClr val="FFFFFF"/>
                </a:solidFill>
                <a:latin typeface="Calibri"/>
              </a:rPr>
              <a:t>and tools”</a:t>
            </a:r>
          </a:p>
        </p:txBody>
      </p:sp>
      <p:sp>
        <p:nvSpPr>
          <p:cNvPr id="19" name="TextBox 18"/>
          <p:cNvSpPr txBox="1"/>
          <p:nvPr/>
        </p:nvSpPr>
        <p:spPr>
          <a:xfrm>
            <a:off x="4495800" y="3931920"/>
            <a:ext cx="3200400" cy="274320"/>
          </a:xfrm>
          <a:prstGeom prst="rect">
            <a:avLst/>
          </a:prstGeom>
          <a:noFill/>
        </p:spPr>
        <p:txBody>
          <a:bodyPr wrap="square" anchor="t"/>
          <a:lstStyle/>
          <a:p>
            <a:pPr algn="l"/>
            <a:r>
              <a:rPr sz="1600" b="1" i="0">
                <a:solidFill>
                  <a:srgbClr val="AAAAAA"/>
                </a:solidFill>
                <a:latin typeface="Calibri"/>
              </a:rPr>
              <a:t>Prediction:</a:t>
            </a:r>
          </a:p>
        </p:txBody>
      </p:sp>
      <p:sp>
        <p:nvSpPr>
          <p:cNvPr id="20" name="TextBox 19"/>
          <p:cNvSpPr txBox="1"/>
          <p:nvPr/>
        </p:nvSpPr>
        <p:spPr>
          <a:xfrm>
            <a:off x="4495800" y="4206240"/>
            <a:ext cx="3200400" cy="1005840"/>
          </a:xfrm>
          <a:prstGeom prst="rect">
            <a:avLst/>
          </a:prstGeom>
          <a:noFill/>
        </p:spPr>
        <p:txBody>
          <a:bodyPr wrap="square" anchor="t"/>
          <a:lstStyle/>
          <a:p>
            <a:pPr algn="l"/>
            <a:r>
              <a:rPr sz="1600" b="0" i="1">
                <a:solidFill>
                  <a:srgbClr val="4CAF50"/>
                </a:solidFill>
                <a:latin typeface="Calibri"/>
              </a:rPr>
              <a:t>“moved the conceptual rules</a:t>
            </a:r>
            <a:br/>
            <a:r>
              <a:rPr sz="1600" b="0" i="1">
                <a:solidFill>
                  <a:srgbClr val="4CAF50"/>
                </a:solidFill>
                <a:latin typeface="Calibri"/>
              </a:rPr>
              <a:t>over to engineering tools”</a:t>
            </a:r>
          </a:p>
        </p:txBody>
      </p:sp>
      <p:sp>
        <p:nvSpPr>
          <p:cNvPr id="21" name="TextBox 20"/>
          <p:cNvSpPr txBox="1"/>
          <p:nvPr/>
        </p:nvSpPr>
        <p:spPr>
          <a:xfrm>
            <a:off x="4495800" y="5074920"/>
            <a:ext cx="3200400" cy="274320"/>
          </a:xfrm>
          <a:prstGeom prst="rect">
            <a:avLst/>
          </a:prstGeom>
          <a:noFill/>
        </p:spPr>
        <p:txBody>
          <a:bodyPr wrap="square" anchor="t"/>
          <a:lstStyle/>
          <a:p>
            <a:pPr algn="l"/>
            <a:r>
              <a:rPr sz="1600" b="1" i="0">
                <a:solidFill>
                  <a:srgbClr val="00B4D8"/>
                </a:solidFill>
                <a:latin typeface="Calibri"/>
              </a:rPr>
              <a:t>How a viewer recovers this:</a:t>
            </a:r>
          </a:p>
        </p:txBody>
      </p:sp>
      <p:sp>
        <p:nvSpPr>
          <p:cNvPr id="22" name="TextBox 21"/>
          <p:cNvSpPr txBox="1"/>
          <p:nvPr/>
        </p:nvSpPr>
        <p:spPr>
          <a:xfrm>
            <a:off x="4495800" y="5349240"/>
            <a:ext cx="3200400" cy="1005840"/>
          </a:xfrm>
          <a:prstGeom prst="rect">
            <a:avLst/>
          </a:prstGeom>
          <a:noFill/>
        </p:spPr>
        <p:txBody>
          <a:bodyPr wrap="square" anchor="t"/>
          <a:lstStyle/>
          <a:p>
            <a:pPr algn="l"/>
            <a:r>
              <a:rPr sz="1600" b="0" i="0">
                <a:solidFill>
                  <a:srgbClr val="FFFFFF"/>
                </a:solidFill>
                <a:latin typeface="Calibri"/>
              </a:rPr>
              <a:t>Core meaning intact: concepts → tools. Function words changed only.</a:t>
            </a:r>
          </a:p>
        </p:txBody>
      </p:sp>
      <p:sp>
        <p:nvSpPr>
          <p:cNvPr id="23" name="Rounded Rectangle 22"/>
          <p:cNvSpPr/>
          <p:nvPr/>
        </p:nvSpPr>
        <p:spPr>
          <a:xfrm>
            <a:off x="8080248" y="1737360"/>
            <a:ext cx="3474720" cy="493776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7408" y="1783080"/>
            <a:ext cx="3200400" cy="411480"/>
          </a:xfrm>
          <a:prstGeom prst="rect">
            <a:avLst/>
          </a:prstGeom>
          <a:noFill/>
        </p:spPr>
        <p:txBody>
          <a:bodyPr wrap="square" anchor="t"/>
          <a:lstStyle/>
          <a:p>
            <a:pPr algn="ctr"/>
            <a:r>
              <a:rPr sz="2000" b="1" i="0">
                <a:solidFill>
                  <a:srgbClr val="FFD54F"/>
                </a:solidFill>
                <a:latin typeface="Calibri"/>
              </a:rPr>
              <a:t>Structure Match</a:t>
            </a:r>
          </a:p>
        </p:txBody>
      </p:sp>
      <p:sp>
        <p:nvSpPr>
          <p:cNvPr id="25" name="TextBox 24"/>
          <p:cNvSpPr txBox="1"/>
          <p:nvPr/>
        </p:nvSpPr>
        <p:spPr>
          <a:xfrm>
            <a:off x="8217408" y="2194560"/>
            <a:ext cx="3200400" cy="365760"/>
          </a:xfrm>
          <a:prstGeom prst="rect">
            <a:avLst/>
          </a:prstGeom>
          <a:noFill/>
        </p:spPr>
        <p:txBody>
          <a:bodyPr wrap="square" anchor="t"/>
          <a:lstStyle/>
          <a:p>
            <a:pPr algn="ctr"/>
            <a:r>
              <a:rPr sz="1800" b="0" i="0">
                <a:solidFill>
                  <a:srgbClr val="AAAAAA"/>
                </a:solidFill>
                <a:latin typeface="Calibri"/>
              </a:rPr>
              <a:t>IS 2.55  |  Prob 0.95</a:t>
            </a:r>
          </a:p>
        </p:txBody>
      </p:sp>
      <p:sp>
        <p:nvSpPr>
          <p:cNvPr id="26" name="TextBox 25"/>
          <p:cNvSpPr txBox="1"/>
          <p:nvPr/>
        </p:nvSpPr>
        <p:spPr>
          <a:xfrm>
            <a:off x="8217408" y="2606040"/>
            <a:ext cx="3200400" cy="274320"/>
          </a:xfrm>
          <a:prstGeom prst="rect">
            <a:avLst/>
          </a:prstGeom>
          <a:noFill/>
        </p:spPr>
        <p:txBody>
          <a:bodyPr wrap="square" anchor="t"/>
          <a:lstStyle/>
          <a:p>
            <a:pPr algn="l"/>
            <a:r>
              <a:rPr sz="1600" b="1" i="0">
                <a:solidFill>
                  <a:srgbClr val="AAAAAA"/>
                </a:solidFill>
                <a:latin typeface="Calibri"/>
              </a:rPr>
              <a:t>Reference:</a:t>
            </a:r>
          </a:p>
        </p:txBody>
      </p:sp>
      <p:sp>
        <p:nvSpPr>
          <p:cNvPr id="27" name="TextBox 26"/>
          <p:cNvSpPr txBox="1"/>
          <p:nvPr/>
        </p:nvSpPr>
        <p:spPr>
          <a:xfrm>
            <a:off x="8217408" y="2880360"/>
            <a:ext cx="3200400" cy="1005840"/>
          </a:xfrm>
          <a:prstGeom prst="rect">
            <a:avLst/>
          </a:prstGeom>
          <a:noFill/>
        </p:spPr>
        <p:txBody>
          <a:bodyPr wrap="square" anchor="t"/>
          <a:lstStyle/>
          <a:p>
            <a:pPr algn="l"/>
            <a:r>
              <a:rPr sz="1600" b="0" i="1">
                <a:solidFill>
                  <a:srgbClr val="FFFFFF"/>
                </a:solidFill>
                <a:latin typeface="Calibri"/>
              </a:rPr>
              <a:t>“over the last 10 years we have</a:t>
            </a:r>
            <a:br/>
            <a:r>
              <a:rPr sz="1600" b="0" i="1">
                <a:solidFill>
                  <a:srgbClr val="FFFFFF"/>
                </a:solidFill>
                <a:latin typeface="Calibri"/>
              </a:rPr>
              <a:t>had 8,616 students”</a:t>
            </a:r>
          </a:p>
        </p:txBody>
      </p:sp>
      <p:sp>
        <p:nvSpPr>
          <p:cNvPr id="28" name="TextBox 27"/>
          <p:cNvSpPr txBox="1"/>
          <p:nvPr/>
        </p:nvSpPr>
        <p:spPr>
          <a:xfrm>
            <a:off x="8217408" y="3931920"/>
            <a:ext cx="3200400" cy="274320"/>
          </a:xfrm>
          <a:prstGeom prst="rect">
            <a:avLst/>
          </a:prstGeom>
          <a:noFill/>
        </p:spPr>
        <p:txBody>
          <a:bodyPr wrap="square" anchor="t"/>
          <a:lstStyle/>
          <a:p>
            <a:pPr algn="l"/>
            <a:r>
              <a:rPr sz="1600" b="1" i="0">
                <a:solidFill>
                  <a:srgbClr val="AAAAAA"/>
                </a:solidFill>
                <a:latin typeface="Calibri"/>
              </a:rPr>
              <a:t>Prediction:</a:t>
            </a:r>
          </a:p>
        </p:txBody>
      </p:sp>
      <p:sp>
        <p:nvSpPr>
          <p:cNvPr id="29" name="TextBox 28"/>
          <p:cNvSpPr txBox="1"/>
          <p:nvPr/>
        </p:nvSpPr>
        <p:spPr>
          <a:xfrm>
            <a:off x="8217408" y="4206240"/>
            <a:ext cx="3200400" cy="1005840"/>
          </a:xfrm>
          <a:prstGeom prst="rect">
            <a:avLst/>
          </a:prstGeom>
          <a:noFill/>
        </p:spPr>
        <p:txBody>
          <a:bodyPr wrap="square" anchor="t"/>
          <a:lstStyle/>
          <a:p>
            <a:pPr algn="l"/>
            <a:r>
              <a:rPr sz="1600" b="0" i="1">
                <a:solidFill>
                  <a:srgbClr val="FFD54F"/>
                </a:solidFill>
                <a:latin typeface="Calibri"/>
              </a:rPr>
              <a:t>“over the last 10 years we have</a:t>
            </a:r>
            <a:br/>
            <a:r>
              <a:rPr sz="1600" b="0" i="1">
                <a:solidFill>
                  <a:srgbClr val="FFD54F"/>
                </a:solidFill>
                <a:latin typeface="Calibri"/>
              </a:rPr>
              <a:t>had 1,600 students”</a:t>
            </a:r>
          </a:p>
        </p:txBody>
      </p:sp>
      <p:sp>
        <p:nvSpPr>
          <p:cNvPr id="30" name="TextBox 29"/>
          <p:cNvSpPr txBox="1"/>
          <p:nvPr/>
        </p:nvSpPr>
        <p:spPr>
          <a:xfrm>
            <a:off x="8217408" y="5074920"/>
            <a:ext cx="3200400" cy="274320"/>
          </a:xfrm>
          <a:prstGeom prst="rect">
            <a:avLst/>
          </a:prstGeom>
          <a:noFill/>
        </p:spPr>
        <p:txBody>
          <a:bodyPr wrap="square" anchor="t"/>
          <a:lstStyle/>
          <a:p>
            <a:pPr algn="l"/>
            <a:r>
              <a:rPr sz="1600" b="1" i="0">
                <a:solidFill>
                  <a:srgbClr val="00B4D8"/>
                </a:solidFill>
                <a:latin typeface="Calibri"/>
              </a:rPr>
              <a:t>How a viewer recovers this:</a:t>
            </a:r>
          </a:p>
        </p:txBody>
      </p:sp>
      <p:sp>
        <p:nvSpPr>
          <p:cNvPr id="31" name="TextBox 30"/>
          <p:cNvSpPr txBox="1"/>
          <p:nvPr/>
        </p:nvSpPr>
        <p:spPr>
          <a:xfrm>
            <a:off x="8217408" y="5349240"/>
            <a:ext cx="3200400" cy="1005840"/>
          </a:xfrm>
          <a:prstGeom prst="rect">
            <a:avLst/>
          </a:prstGeom>
          <a:noFill/>
        </p:spPr>
        <p:txBody>
          <a:bodyPr wrap="square" anchor="t"/>
          <a:lstStyle/>
          <a:p>
            <a:pPr algn="l"/>
            <a:r>
              <a:rPr sz="1600" b="0" i="0">
                <a:solidFill>
                  <a:srgbClr val="FFFFFF"/>
                </a:solidFill>
                <a:latin typeface="Calibri"/>
              </a:rPr>
              <a:t>Only the number changed (8,616 → 1,600). Viewer reads “many students.”</a:t>
            </a:r>
          </a:p>
        </p:txBody>
      </p:sp>
      <p:pic>
        <p:nvPicPr>
          <p:cNvPr id="32" name="Picture 3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33" name="TextBox 3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Lst>
  </p:timing>
</p:sld>
</file>

<file path=ppt/slides/slide57.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LLM Salvage: Domain Context Fills the Gaps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1800" b="0" i="1">
                <a:solidFill>
                  <a:srgbClr val="AAAAAA"/>
                </a:solidFill>
                <a:latin typeface="Calibri"/>
              </a:rPr>
              <a:t>A viewer who knows the topic recovers meaning that metrics miss entirely:</a:t>
            </a:r>
          </a:p>
        </p:txBody>
      </p:sp>
      <p:sp>
        <p:nvSpPr>
          <p:cNvPr id="5" name="Rounded Rectangle 4"/>
          <p:cNvSpPr/>
          <p:nvPr/>
        </p:nvSpPr>
        <p:spPr>
          <a:xfrm>
            <a:off x="637032" y="1737360"/>
            <a:ext cx="3474720" cy="493776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4192" y="1783080"/>
            <a:ext cx="3200400" cy="411480"/>
          </a:xfrm>
          <a:prstGeom prst="rect">
            <a:avLst/>
          </a:prstGeom>
          <a:noFill/>
        </p:spPr>
        <p:txBody>
          <a:bodyPr wrap="square" anchor="t"/>
          <a:lstStyle/>
          <a:p>
            <a:pPr algn="ctr"/>
            <a:r>
              <a:rPr sz="2000" b="1" i="0">
                <a:solidFill>
                  <a:srgbClr val="E06C75"/>
                </a:solidFill>
                <a:latin typeface="Calibri"/>
              </a:rPr>
              <a:t>Religious Context</a:t>
            </a:r>
          </a:p>
        </p:txBody>
      </p:sp>
      <p:sp>
        <p:nvSpPr>
          <p:cNvPr id="7" name="TextBox 6"/>
          <p:cNvSpPr txBox="1"/>
          <p:nvPr/>
        </p:nvSpPr>
        <p:spPr>
          <a:xfrm>
            <a:off x="774192" y="2194560"/>
            <a:ext cx="3200400" cy="365760"/>
          </a:xfrm>
          <a:prstGeom prst="rect">
            <a:avLst/>
          </a:prstGeom>
          <a:noFill/>
        </p:spPr>
        <p:txBody>
          <a:bodyPr wrap="square" anchor="t"/>
          <a:lstStyle/>
          <a:p>
            <a:pPr algn="ctr"/>
            <a:r>
              <a:rPr sz="1800" b="0" i="0">
                <a:solidFill>
                  <a:srgbClr val="AAAAAA"/>
                </a:solidFill>
                <a:latin typeface="Calibri"/>
              </a:rPr>
              <a:t>IS 2.75  |  Prob 0.90</a:t>
            </a:r>
          </a:p>
        </p:txBody>
      </p:sp>
      <p:sp>
        <p:nvSpPr>
          <p:cNvPr id="8" name="TextBox 7"/>
          <p:cNvSpPr txBox="1"/>
          <p:nvPr/>
        </p:nvSpPr>
        <p:spPr>
          <a:xfrm>
            <a:off x="774192" y="2606040"/>
            <a:ext cx="3200400" cy="274320"/>
          </a:xfrm>
          <a:prstGeom prst="rect">
            <a:avLst/>
          </a:prstGeom>
          <a:noFill/>
        </p:spPr>
        <p:txBody>
          <a:bodyPr wrap="square" anchor="t"/>
          <a:lstStyle/>
          <a:p>
            <a:pPr algn="l"/>
            <a:r>
              <a:rPr sz="1600" b="1" i="0">
                <a:solidFill>
                  <a:srgbClr val="AAAAAA"/>
                </a:solidFill>
                <a:latin typeface="Calibri"/>
              </a:rPr>
              <a:t>Reference:</a:t>
            </a:r>
          </a:p>
        </p:txBody>
      </p:sp>
      <p:sp>
        <p:nvSpPr>
          <p:cNvPr id="9" name="TextBox 8"/>
          <p:cNvSpPr txBox="1"/>
          <p:nvPr/>
        </p:nvSpPr>
        <p:spPr>
          <a:xfrm>
            <a:off x="774192" y="2880360"/>
            <a:ext cx="3200400" cy="1005840"/>
          </a:xfrm>
          <a:prstGeom prst="rect">
            <a:avLst/>
          </a:prstGeom>
          <a:noFill/>
        </p:spPr>
        <p:txBody>
          <a:bodyPr wrap="square" anchor="t"/>
          <a:lstStyle/>
          <a:p>
            <a:pPr algn="l"/>
            <a:r>
              <a:rPr sz="1600" b="0" i="1">
                <a:solidFill>
                  <a:srgbClr val="FFFFFF"/>
                </a:solidFill>
                <a:latin typeface="Calibri"/>
              </a:rPr>
              <a:t>“the fear of allah is completely</a:t>
            </a:r>
            <a:br/>
            <a:r>
              <a:rPr sz="1600" b="0" i="1">
                <a:solidFill>
                  <a:srgbClr val="FFFFFF"/>
                </a:solidFill>
                <a:latin typeface="Calibri"/>
              </a:rPr>
              <a:t>gone … no more fear of the</a:t>
            </a:r>
            <a:br/>
            <a:r>
              <a:rPr sz="1600" b="0" i="1">
                <a:solidFill>
                  <a:srgbClr val="FFFFFF"/>
                </a:solidFill>
                <a:latin typeface="Calibri"/>
              </a:rPr>
              <a:t>unseen what a horrible spiritual”</a:t>
            </a:r>
          </a:p>
        </p:txBody>
      </p:sp>
      <p:sp>
        <p:nvSpPr>
          <p:cNvPr id="10" name="TextBox 9"/>
          <p:cNvSpPr txBox="1"/>
          <p:nvPr/>
        </p:nvSpPr>
        <p:spPr>
          <a:xfrm>
            <a:off x="774192" y="3931920"/>
            <a:ext cx="3200400" cy="274320"/>
          </a:xfrm>
          <a:prstGeom prst="rect">
            <a:avLst/>
          </a:prstGeom>
          <a:noFill/>
        </p:spPr>
        <p:txBody>
          <a:bodyPr wrap="square" anchor="t"/>
          <a:lstStyle/>
          <a:p>
            <a:pPr algn="l"/>
            <a:r>
              <a:rPr sz="1600" b="1" i="0">
                <a:solidFill>
                  <a:srgbClr val="AAAAAA"/>
                </a:solidFill>
                <a:latin typeface="Calibri"/>
              </a:rPr>
              <a:t>Prediction:</a:t>
            </a:r>
          </a:p>
        </p:txBody>
      </p:sp>
      <p:sp>
        <p:nvSpPr>
          <p:cNvPr id="11" name="TextBox 10"/>
          <p:cNvSpPr txBox="1"/>
          <p:nvPr/>
        </p:nvSpPr>
        <p:spPr>
          <a:xfrm>
            <a:off x="774192" y="4206240"/>
            <a:ext cx="3200400" cy="1005840"/>
          </a:xfrm>
          <a:prstGeom prst="rect">
            <a:avLst/>
          </a:prstGeom>
          <a:noFill/>
        </p:spPr>
        <p:txBody>
          <a:bodyPr wrap="square" anchor="t"/>
          <a:lstStyle/>
          <a:p>
            <a:pPr algn="l"/>
            <a:r>
              <a:rPr sz="1600" b="0" i="1">
                <a:solidFill>
                  <a:srgbClr val="E06C75"/>
                </a:solidFill>
                <a:latin typeface="Calibri"/>
              </a:rPr>
              <a:t>“the fear of the loss complete</a:t>
            </a:r>
            <a:br/>
            <a:r>
              <a:rPr sz="1600" b="0" i="1">
                <a:solidFill>
                  <a:srgbClr val="E06C75"/>
                </a:solidFill>
                <a:latin typeface="Calibri"/>
              </a:rPr>
              <a:t>… no more fear of loss</a:t>
            </a:r>
            <a:br/>
            <a:r>
              <a:rPr sz="1600" b="0" i="1">
                <a:solidFill>
                  <a:srgbClr val="E06C75"/>
                </a:solidFill>
                <a:latin typeface="Calibri"/>
              </a:rPr>
              <a:t>what a horrible spiritual”</a:t>
            </a:r>
          </a:p>
        </p:txBody>
      </p:sp>
      <p:sp>
        <p:nvSpPr>
          <p:cNvPr id="12" name="TextBox 11"/>
          <p:cNvSpPr txBox="1"/>
          <p:nvPr/>
        </p:nvSpPr>
        <p:spPr>
          <a:xfrm>
            <a:off x="774192" y="4983480"/>
            <a:ext cx="3200400" cy="365760"/>
          </a:xfrm>
          <a:prstGeom prst="rect">
            <a:avLst/>
          </a:prstGeom>
          <a:noFill/>
        </p:spPr>
        <p:txBody>
          <a:bodyPr wrap="square" anchor="t"/>
          <a:lstStyle/>
          <a:p>
            <a:pPr algn="l"/>
            <a:r>
              <a:rPr sz="1600" b="1" i="0">
                <a:solidFill>
                  <a:srgbClr val="00B4D8"/>
                </a:solidFill>
                <a:latin typeface="Calibri"/>
              </a:rPr>
              <a:t>How a wise viewer recovers this:</a:t>
            </a:r>
          </a:p>
        </p:txBody>
      </p:sp>
      <p:sp>
        <p:nvSpPr>
          <p:cNvPr id="13" name="TextBox 12"/>
          <p:cNvSpPr txBox="1"/>
          <p:nvPr/>
        </p:nvSpPr>
        <p:spPr>
          <a:xfrm>
            <a:off x="774192" y="5349240"/>
            <a:ext cx="3200400" cy="1005840"/>
          </a:xfrm>
          <a:prstGeom prst="rect">
            <a:avLst/>
          </a:prstGeom>
          <a:noFill/>
        </p:spPr>
        <p:txBody>
          <a:bodyPr wrap="square" anchor="t"/>
          <a:lstStyle/>
          <a:p>
            <a:pPr algn="l"/>
            <a:r>
              <a:rPr sz="1600" b="0" i="0">
                <a:solidFill>
                  <a:srgbClr val="FFFFFF"/>
                </a:solidFill>
                <a:latin typeface="Calibri"/>
              </a:rPr>
              <a:t>Sermon viewer hears “fear of Allah.” Structure intact, phonetic swap.</a:t>
            </a:r>
          </a:p>
        </p:txBody>
      </p:sp>
      <p:sp>
        <p:nvSpPr>
          <p:cNvPr id="14" name="Rounded Rectangle 13"/>
          <p:cNvSpPr/>
          <p:nvPr/>
        </p:nvSpPr>
        <p:spPr>
          <a:xfrm>
            <a:off x="4358640" y="1737360"/>
            <a:ext cx="3474720" cy="493776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5800" y="1783080"/>
            <a:ext cx="3200400" cy="411480"/>
          </a:xfrm>
          <a:prstGeom prst="rect">
            <a:avLst/>
          </a:prstGeom>
          <a:noFill/>
        </p:spPr>
        <p:txBody>
          <a:bodyPr wrap="square" anchor="t"/>
          <a:lstStyle/>
          <a:p>
            <a:pPr algn="ctr"/>
            <a:r>
              <a:rPr sz="2000" b="1" i="0">
                <a:solidFill>
                  <a:srgbClr val="00B4D8"/>
                </a:solidFill>
                <a:latin typeface="Calibri"/>
              </a:rPr>
              <a:t>Geopolitical Context</a:t>
            </a:r>
          </a:p>
        </p:txBody>
      </p:sp>
      <p:sp>
        <p:nvSpPr>
          <p:cNvPr id="16" name="TextBox 15"/>
          <p:cNvSpPr txBox="1"/>
          <p:nvPr/>
        </p:nvSpPr>
        <p:spPr>
          <a:xfrm>
            <a:off x="4495800" y="2194560"/>
            <a:ext cx="3200400" cy="365760"/>
          </a:xfrm>
          <a:prstGeom prst="rect">
            <a:avLst/>
          </a:prstGeom>
          <a:noFill/>
        </p:spPr>
        <p:txBody>
          <a:bodyPr wrap="square" anchor="t"/>
          <a:lstStyle/>
          <a:p>
            <a:pPr algn="ctr"/>
            <a:r>
              <a:rPr sz="1800" b="0" i="0">
                <a:solidFill>
                  <a:srgbClr val="AAAAAA"/>
                </a:solidFill>
                <a:latin typeface="Calibri"/>
              </a:rPr>
              <a:t>IS 2.86  |  Prob 0.90</a:t>
            </a:r>
          </a:p>
        </p:txBody>
      </p:sp>
      <p:sp>
        <p:nvSpPr>
          <p:cNvPr id="17" name="TextBox 16"/>
          <p:cNvSpPr txBox="1"/>
          <p:nvPr/>
        </p:nvSpPr>
        <p:spPr>
          <a:xfrm>
            <a:off x="4495800" y="2606040"/>
            <a:ext cx="3200400" cy="274320"/>
          </a:xfrm>
          <a:prstGeom prst="rect">
            <a:avLst/>
          </a:prstGeom>
          <a:noFill/>
        </p:spPr>
        <p:txBody>
          <a:bodyPr wrap="square" anchor="t"/>
          <a:lstStyle/>
          <a:p>
            <a:pPr algn="l"/>
            <a:r>
              <a:rPr sz="1600" b="1" i="0">
                <a:solidFill>
                  <a:srgbClr val="AAAAAA"/>
                </a:solidFill>
                <a:latin typeface="Calibri"/>
              </a:rPr>
              <a:t>Reference:</a:t>
            </a:r>
          </a:p>
        </p:txBody>
      </p:sp>
      <p:sp>
        <p:nvSpPr>
          <p:cNvPr id="18" name="TextBox 17"/>
          <p:cNvSpPr txBox="1"/>
          <p:nvPr/>
        </p:nvSpPr>
        <p:spPr>
          <a:xfrm>
            <a:off x="4495800" y="2880360"/>
            <a:ext cx="3200400" cy="1005840"/>
          </a:xfrm>
          <a:prstGeom prst="rect">
            <a:avLst/>
          </a:prstGeom>
          <a:noFill/>
        </p:spPr>
        <p:txBody>
          <a:bodyPr wrap="square" anchor="t"/>
          <a:lstStyle/>
          <a:p>
            <a:pPr algn="l"/>
            <a:r>
              <a:rPr sz="1600" b="0" i="1">
                <a:solidFill>
                  <a:srgbClr val="FFFFFF"/>
                </a:solidFill>
                <a:latin typeface="Calibri"/>
              </a:rPr>
              <a:t>“india china afghanistan all</a:t>
            </a:r>
            <a:br/>
            <a:r>
              <a:rPr sz="1600" b="0" i="1">
                <a:solidFill>
                  <a:srgbClr val="FFFFFF"/>
                </a:solidFill>
                <a:latin typeface="Calibri"/>
              </a:rPr>
              <a:t>these different places … so</a:t>
            </a:r>
            <a:br/>
            <a:r>
              <a:rPr sz="1600" b="0" i="1">
                <a:solidFill>
                  <a:srgbClr val="FFFFFF"/>
                </a:solidFill>
                <a:latin typeface="Calibri"/>
              </a:rPr>
              <a:t>both sides would benefit”</a:t>
            </a:r>
          </a:p>
        </p:txBody>
      </p:sp>
      <p:sp>
        <p:nvSpPr>
          <p:cNvPr id="19" name="TextBox 18"/>
          <p:cNvSpPr txBox="1"/>
          <p:nvPr/>
        </p:nvSpPr>
        <p:spPr>
          <a:xfrm>
            <a:off x="4495800" y="3931920"/>
            <a:ext cx="3200400" cy="274320"/>
          </a:xfrm>
          <a:prstGeom prst="rect">
            <a:avLst/>
          </a:prstGeom>
          <a:noFill/>
        </p:spPr>
        <p:txBody>
          <a:bodyPr wrap="square" anchor="t"/>
          <a:lstStyle/>
          <a:p>
            <a:pPr algn="l"/>
            <a:r>
              <a:rPr sz="1600" b="1" i="0">
                <a:solidFill>
                  <a:srgbClr val="AAAAAA"/>
                </a:solidFill>
                <a:latin typeface="Calibri"/>
              </a:rPr>
              <a:t>Prediction:</a:t>
            </a:r>
          </a:p>
        </p:txBody>
      </p:sp>
      <p:sp>
        <p:nvSpPr>
          <p:cNvPr id="20" name="TextBox 19"/>
          <p:cNvSpPr txBox="1"/>
          <p:nvPr/>
        </p:nvSpPr>
        <p:spPr>
          <a:xfrm>
            <a:off x="4495800" y="4206240"/>
            <a:ext cx="3200400" cy="1005840"/>
          </a:xfrm>
          <a:prstGeom prst="rect">
            <a:avLst/>
          </a:prstGeom>
          <a:noFill/>
        </p:spPr>
        <p:txBody>
          <a:bodyPr wrap="square" anchor="t"/>
          <a:lstStyle/>
          <a:p>
            <a:pPr algn="l"/>
            <a:r>
              <a:rPr sz="1600" b="0" i="1">
                <a:solidFill>
                  <a:srgbClr val="00B4D8"/>
                </a:solidFill>
                <a:latin typeface="Calibri"/>
              </a:rPr>
              <a:t>“middle east and afghanistan</a:t>
            </a:r>
            <a:br/>
            <a:r>
              <a:rPr sz="1600" b="0" i="1">
                <a:solidFill>
                  <a:srgbClr val="00B4D8"/>
                </a:solidFill>
                <a:latin typeface="Calibri"/>
              </a:rPr>
              <a:t>all these different warring</a:t>
            </a:r>
            <a:br/>
            <a:r>
              <a:rPr sz="1600" b="0" i="1">
                <a:solidFill>
                  <a:srgbClr val="00B4D8"/>
                </a:solidFill>
                <a:latin typeface="Calibri"/>
              </a:rPr>
              <a:t>places … both sides will benefit”</a:t>
            </a:r>
          </a:p>
        </p:txBody>
      </p:sp>
      <p:sp>
        <p:nvSpPr>
          <p:cNvPr id="21" name="TextBox 20"/>
          <p:cNvSpPr txBox="1"/>
          <p:nvPr/>
        </p:nvSpPr>
        <p:spPr>
          <a:xfrm>
            <a:off x="4495800" y="4983480"/>
            <a:ext cx="3200400" cy="365760"/>
          </a:xfrm>
          <a:prstGeom prst="rect">
            <a:avLst/>
          </a:prstGeom>
          <a:noFill/>
        </p:spPr>
        <p:txBody>
          <a:bodyPr wrap="square" anchor="t"/>
          <a:lstStyle/>
          <a:p>
            <a:pPr algn="l"/>
            <a:r>
              <a:rPr sz="1600" b="1" i="0">
                <a:solidFill>
                  <a:srgbClr val="00B4D8"/>
                </a:solidFill>
                <a:latin typeface="Calibri"/>
              </a:rPr>
              <a:t>How a wise viewer recovers this:</a:t>
            </a:r>
          </a:p>
        </p:txBody>
      </p:sp>
      <p:sp>
        <p:nvSpPr>
          <p:cNvPr id="22" name="TextBox 21"/>
          <p:cNvSpPr txBox="1"/>
          <p:nvPr/>
        </p:nvSpPr>
        <p:spPr>
          <a:xfrm>
            <a:off x="4495800" y="5349240"/>
            <a:ext cx="3200400" cy="1005840"/>
          </a:xfrm>
          <a:prstGeom prst="rect">
            <a:avLst/>
          </a:prstGeom>
          <a:noFill/>
        </p:spPr>
        <p:txBody>
          <a:bodyPr wrap="square" anchor="t"/>
          <a:lstStyle/>
          <a:p>
            <a:pPr algn="l"/>
            <a:r>
              <a:rPr sz="1600" b="0" i="0">
                <a:solidFill>
                  <a:srgbClr val="FFFFFF"/>
                </a:solidFill>
                <a:latin typeface="Calibri"/>
              </a:rPr>
              <a:t>Country names swap; argument identical. Domain swap, not meaning loss.</a:t>
            </a:r>
          </a:p>
        </p:txBody>
      </p:sp>
      <p:sp>
        <p:nvSpPr>
          <p:cNvPr id="23" name="Rounded Rectangle 22"/>
          <p:cNvSpPr/>
          <p:nvPr/>
        </p:nvSpPr>
        <p:spPr>
          <a:xfrm>
            <a:off x="8080248" y="1737360"/>
            <a:ext cx="3474720" cy="493776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17408" y="1783080"/>
            <a:ext cx="3200400" cy="411480"/>
          </a:xfrm>
          <a:prstGeom prst="rect">
            <a:avLst/>
          </a:prstGeom>
          <a:noFill/>
        </p:spPr>
        <p:txBody>
          <a:bodyPr wrap="square" anchor="t"/>
          <a:lstStyle/>
          <a:p>
            <a:pPr algn="ctr"/>
            <a:r>
              <a:rPr sz="2000" b="1" i="0">
                <a:solidFill>
                  <a:srgbClr val="4CAF50"/>
                </a:solidFill>
                <a:latin typeface="Calibri"/>
              </a:rPr>
              <a:t>Cooking Context</a:t>
            </a:r>
          </a:p>
        </p:txBody>
      </p:sp>
      <p:sp>
        <p:nvSpPr>
          <p:cNvPr id="25" name="TextBox 24"/>
          <p:cNvSpPr txBox="1"/>
          <p:nvPr/>
        </p:nvSpPr>
        <p:spPr>
          <a:xfrm>
            <a:off x="8217408" y="2194560"/>
            <a:ext cx="3200400" cy="365760"/>
          </a:xfrm>
          <a:prstGeom prst="rect">
            <a:avLst/>
          </a:prstGeom>
          <a:noFill/>
        </p:spPr>
        <p:txBody>
          <a:bodyPr wrap="square" anchor="t"/>
          <a:lstStyle/>
          <a:p>
            <a:pPr algn="ctr"/>
            <a:r>
              <a:rPr sz="1800" b="0" i="0">
                <a:solidFill>
                  <a:srgbClr val="AAAAAA"/>
                </a:solidFill>
                <a:latin typeface="Calibri"/>
              </a:rPr>
              <a:t>IS 2.07  |  Prob 0.80</a:t>
            </a:r>
          </a:p>
        </p:txBody>
      </p:sp>
      <p:sp>
        <p:nvSpPr>
          <p:cNvPr id="26" name="TextBox 25"/>
          <p:cNvSpPr txBox="1"/>
          <p:nvPr/>
        </p:nvSpPr>
        <p:spPr>
          <a:xfrm>
            <a:off x="8217408" y="2606040"/>
            <a:ext cx="3200400" cy="274320"/>
          </a:xfrm>
          <a:prstGeom prst="rect">
            <a:avLst/>
          </a:prstGeom>
          <a:noFill/>
        </p:spPr>
        <p:txBody>
          <a:bodyPr wrap="square" anchor="t"/>
          <a:lstStyle/>
          <a:p>
            <a:pPr algn="l"/>
            <a:r>
              <a:rPr sz="1600" b="1" i="0">
                <a:solidFill>
                  <a:srgbClr val="AAAAAA"/>
                </a:solidFill>
                <a:latin typeface="Calibri"/>
              </a:rPr>
              <a:t>Reference:</a:t>
            </a:r>
          </a:p>
        </p:txBody>
      </p:sp>
      <p:sp>
        <p:nvSpPr>
          <p:cNvPr id="27" name="TextBox 26"/>
          <p:cNvSpPr txBox="1"/>
          <p:nvPr/>
        </p:nvSpPr>
        <p:spPr>
          <a:xfrm>
            <a:off x="8217408" y="2880360"/>
            <a:ext cx="3200400" cy="1005840"/>
          </a:xfrm>
          <a:prstGeom prst="rect">
            <a:avLst/>
          </a:prstGeom>
          <a:noFill/>
        </p:spPr>
        <p:txBody>
          <a:bodyPr wrap="square" anchor="t"/>
          <a:lstStyle/>
          <a:p>
            <a:pPr algn="l"/>
            <a:r>
              <a:rPr sz="1600" b="0" i="1">
                <a:solidFill>
                  <a:srgbClr val="FFFFFF"/>
                </a:solidFill>
                <a:latin typeface="Calibri"/>
              </a:rPr>
              <a:t>“i have a tablespoon of</a:t>
            </a:r>
            <a:br/>
            <a:r>
              <a:rPr sz="1600" b="0" i="1">
                <a:solidFill>
                  <a:srgbClr val="FFFFFF"/>
                </a:solidFill>
                <a:latin typeface="Calibri"/>
              </a:rPr>
              <a:t>jalapeno fresh jalapeno”</a:t>
            </a:r>
          </a:p>
        </p:txBody>
      </p:sp>
      <p:sp>
        <p:nvSpPr>
          <p:cNvPr id="28" name="TextBox 27"/>
          <p:cNvSpPr txBox="1"/>
          <p:nvPr/>
        </p:nvSpPr>
        <p:spPr>
          <a:xfrm>
            <a:off x="8217408" y="3931920"/>
            <a:ext cx="3200400" cy="274320"/>
          </a:xfrm>
          <a:prstGeom prst="rect">
            <a:avLst/>
          </a:prstGeom>
          <a:noFill/>
        </p:spPr>
        <p:txBody>
          <a:bodyPr wrap="square" anchor="t"/>
          <a:lstStyle/>
          <a:p>
            <a:pPr algn="l"/>
            <a:r>
              <a:rPr sz="1600" b="1" i="0">
                <a:solidFill>
                  <a:srgbClr val="AAAAAA"/>
                </a:solidFill>
                <a:latin typeface="Calibri"/>
              </a:rPr>
              <a:t>Prediction:</a:t>
            </a:r>
          </a:p>
        </p:txBody>
      </p:sp>
      <p:sp>
        <p:nvSpPr>
          <p:cNvPr id="29" name="TextBox 28"/>
          <p:cNvSpPr txBox="1"/>
          <p:nvPr/>
        </p:nvSpPr>
        <p:spPr>
          <a:xfrm>
            <a:off x="8217408" y="4206240"/>
            <a:ext cx="3200400" cy="1005840"/>
          </a:xfrm>
          <a:prstGeom prst="rect">
            <a:avLst/>
          </a:prstGeom>
          <a:noFill/>
        </p:spPr>
        <p:txBody>
          <a:bodyPr wrap="square" anchor="t"/>
          <a:lstStyle/>
          <a:p>
            <a:pPr algn="l"/>
            <a:r>
              <a:rPr sz="1600" b="0" i="1">
                <a:solidFill>
                  <a:srgbClr val="4CAF50"/>
                </a:solidFill>
                <a:latin typeface="Calibri"/>
              </a:rPr>
              <a:t>“i have a dietary smoothie</a:t>
            </a:r>
            <a:br/>
            <a:r>
              <a:rPr sz="1600" b="0" i="1">
                <a:solidFill>
                  <a:srgbClr val="4CAF50"/>
                </a:solidFill>
                <a:latin typeface="Calibri"/>
              </a:rPr>
              <a:t>i’ve got the banana called</a:t>
            </a:r>
            <a:br/>
            <a:r>
              <a:rPr sz="1600" b="0" i="1">
                <a:solidFill>
                  <a:srgbClr val="4CAF50"/>
                </a:solidFill>
                <a:latin typeface="Calibri"/>
              </a:rPr>
              <a:t>fresh banana”</a:t>
            </a:r>
          </a:p>
        </p:txBody>
      </p:sp>
      <p:sp>
        <p:nvSpPr>
          <p:cNvPr id="30" name="TextBox 29"/>
          <p:cNvSpPr txBox="1"/>
          <p:nvPr/>
        </p:nvSpPr>
        <p:spPr>
          <a:xfrm>
            <a:off x="8217408" y="4983480"/>
            <a:ext cx="3200400" cy="365760"/>
          </a:xfrm>
          <a:prstGeom prst="rect">
            <a:avLst/>
          </a:prstGeom>
          <a:noFill/>
        </p:spPr>
        <p:txBody>
          <a:bodyPr wrap="square" anchor="t"/>
          <a:lstStyle/>
          <a:p>
            <a:pPr algn="l"/>
            <a:r>
              <a:rPr sz="1600" b="1" i="0">
                <a:solidFill>
                  <a:srgbClr val="00B4D8"/>
                </a:solidFill>
                <a:latin typeface="Calibri"/>
              </a:rPr>
              <a:t>How a wise viewer recovers this:</a:t>
            </a:r>
          </a:p>
        </p:txBody>
      </p:sp>
      <p:sp>
        <p:nvSpPr>
          <p:cNvPr id="31" name="TextBox 30"/>
          <p:cNvSpPr txBox="1"/>
          <p:nvPr/>
        </p:nvSpPr>
        <p:spPr>
          <a:xfrm>
            <a:off x="8217408" y="5349240"/>
            <a:ext cx="3200400" cy="1005840"/>
          </a:xfrm>
          <a:prstGeom prst="rect">
            <a:avLst/>
          </a:prstGeom>
          <a:noFill/>
        </p:spPr>
        <p:txBody>
          <a:bodyPr wrap="square" anchor="t"/>
          <a:lstStyle/>
          <a:p>
            <a:pPr algn="l"/>
            <a:r>
              <a:rPr sz="1600" b="0" i="0">
                <a:solidFill>
                  <a:srgbClr val="FFFFFF"/>
                </a:solidFill>
                <a:latin typeface="Calibri"/>
              </a:rPr>
              <a:t>Viewer sees a pepper, overrides “banana.” Visual context fixes WER.</a:t>
            </a:r>
          </a:p>
        </p:txBody>
      </p:sp>
      <p:pic>
        <p:nvPicPr>
          <p:cNvPr id="32" name="Picture 3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33" name="TextBox 3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Curated Examples — Video Gallery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92608"/>
          </a:xfrm>
          <a:prstGeom prst="rect">
            <a:avLst/>
          </a:prstGeom>
          <a:noFill/>
        </p:spPr>
        <p:txBody>
          <a:bodyPr wrap="square" anchor="t"/>
          <a:lstStyle/>
          <a:p>
            <a:pPr algn="l"/>
            <a:r>
              <a:rPr sz="1600" b="0" i="1">
                <a:solidFill>
                  <a:srgbClr val="AAAAAA"/>
                </a:solidFill>
                <a:latin typeface="Calibri"/>
              </a:rPr>
              <a:t>★ = video embedded on a slide   ─ = available in burned_videos/ only</a:t>
            </a:r>
          </a:p>
        </p:txBody>
      </p:sp>
      <p:graphicFrame>
        <p:nvGraphicFramePr>
          <p:cNvPr id="5" name="Table 4"/>
          <p:cNvGraphicFramePr>
            <a:graphicFrameLocks noGrp="1"/>
          </p:cNvGraphicFramePr>
          <p:nvPr/>
        </p:nvGraphicFramePr>
        <p:xfrm>
          <a:off x="548640" y="1673352"/>
          <a:ext cx="4663440" cy="5266944"/>
        </p:xfrm>
        <a:graphic>
          <a:graphicData uri="http://schemas.openxmlformats.org/drawingml/2006/table">
            <a:tbl>
              <a:tblPr firstRow="0" bandRow="0" lastRow="0" bandCol="0">
                <a:tableStyleId>{5C22544A-7EE6-4342-B048-85BDC9FD1C3A}</a:tableStyleId>
              </a:tblPr>
              <a:tblGrid>
                <a:gridCol w="1691640"/>
                <a:gridCol w="1371600"/>
                <a:gridCol w="640080"/>
                <a:gridCol w="548640"/>
                <a:gridCol w="411480"/>
              </a:tblGrid>
              <a:tr h="292608">
                <a:tc>
                  <a:txBody>
                    <a:bodyPr/>
                    <a:lstStyle/>
                    <a:p>
                      <a:pPr algn="ctr"/>
                      <a:r>
                        <a:rPr sz="2400" b="1" i="0">
                          <a:solidFill>
                            <a:srgbClr val="FFFFFF"/>
                          </a:solidFill>
                          <a:latin typeface="Calibri"/>
                        </a:rPr>
                        <a:t>Segment ID</a:t>
                      </a:r>
                    </a:p>
                  </a:txBody>
                  <a:tcPr>
                    <a:solidFill>
                      <a:srgbClr val="00b4d8"/>
                    </a:solidFill>
                  </a:tcPr>
                </a:tc>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Slide</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defRPr sz="2400" b="1" i="0">
                          <a:solidFill>
                            <a:srgbClr val="FFFFFF"/>
                          </a:solidFill>
                          <a:latin typeface="Calibri"/>
                        </a:defRPr>
                      </a:pPr>
                    </a:p>
                  </a:txBody>
                  <a:tcPr>
                    <a:solidFill>
                      <a:srgbClr val="00b4d8"/>
                    </a:solidFill>
                  </a:tcPr>
                </a:tc>
              </a:tr>
              <a:tr h="292608">
                <a:tc>
                  <a:txBody>
                    <a:bodyPr/>
                    <a:lstStyle/>
                    <a:p>
                      <a:pPr algn="l"/>
                      <a:r>
                        <a:rPr sz="2400" b="0" i="0">
                          <a:solidFill>
                            <a:srgbClr val="FFFFFF"/>
                          </a:solidFill>
                          <a:latin typeface="Calibri"/>
                        </a:rPr>
                        <a:t>IEa7qEkMvfQ_3</a:t>
                      </a:r>
                    </a:p>
                  </a:txBody>
                  <a:tcPr>
                    <a:solidFill>
                      <a:srgbClr val="0d1b2a"/>
                    </a:solidFill>
                  </a:tcPr>
                </a:tc>
                <a:tc>
                  <a:txBody>
                    <a:bodyPr/>
                    <a:lstStyle/>
                    <a:p>
                      <a:pPr algn="l"/>
                      <a:r>
                        <a:rPr sz="2400" b="0" i="0">
                          <a:solidFill>
                            <a:srgbClr val="FFFFFF"/>
                          </a:solidFill>
                          <a:latin typeface="Calibri"/>
                        </a:rPr>
                        <a:t>Perfect</a:t>
                      </a:r>
                    </a:p>
                  </a:txBody>
                  <a:tcPr>
                    <a:solidFill>
                      <a:srgbClr val="0d1b2a"/>
                    </a:solidFill>
                  </a:tcPr>
                </a:tc>
                <a:tc>
                  <a:txBody>
                    <a:bodyPr/>
                    <a:lstStyle/>
                    <a:p>
                      <a:pPr algn="l"/>
                      <a:r>
                        <a:rPr sz="2400" b="0" i="0">
                          <a:solidFill>
                            <a:srgbClr val="FFFFFF"/>
                          </a:solidFill>
                          <a:latin typeface="Calibri"/>
                        </a:rPr>
                        <a:t>14</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-WQZsfHcPDM_7</a:t>
                      </a:r>
                    </a:p>
                  </a:txBody>
                  <a:tcPr>
                    <a:solidFill>
                      <a:srgbClr val="152a40"/>
                    </a:solidFill>
                  </a:tcPr>
                </a:tc>
                <a:tc>
                  <a:txBody>
                    <a:bodyPr/>
                    <a:lstStyle/>
                    <a:p>
                      <a:pPr algn="l"/>
                      <a:r>
                        <a:rPr sz="2400" b="0" i="0">
                          <a:solidFill>
                            <a:srgbClr val="FFFFFF"/>
                          </a:solidFill>
                          <a:latin typeface="Calibri"/>
                        </a:rPr>
                        <a:t>Near-Miss</a:t>
                      </a:r>
                    </a:p>
                  </a:txBody>
                  <a:tcPr>
                    <a:solidFill>
                      <a:srgbClr val="152a40"/>
                    </a:solidFill>
                  </a:tcPr>
                </a:tc>
                <a:tc>
                  <a:txBody>
                    <a:bodyPr/>
                    <a:lstStyle/>
                    <a:p>
                      <a:pPr algn="l"/>
                      <a:r>
                        <a:rPr sz="2400" b="0" i="0">
                          <a:solidFill>
                            <a:srgbClr val="FFFFFF"/>
                          </a:solidFill>
                          <a:latin typeface="Calibri"/>
                        </a:rPr>
                        <a:t>14</a:t>
                      </a:r>
                    </a:p>
                  </a:txBody>
                  <a:tcPr>
                    <a:solidFill>
                      <a:srgbClr val="152a40"/>
                    </a:solidFill>
                  </a:tcPr>
                </a:tc>
                <a:tc>
                  <a:txBody>
                    <a:bodyPr/>
                    <a:lstStyle/>
                    <a:p>
                      <a:pPr algn="l"/>
                      <a:r>
                        <a:rPr sz="2400" b="0" i="0">
                          <a:solidFill>
                            <a:srgbClr val="FFFFFF"/>
                          </a:solidFill>
                          <a:latin typeface="Calibri"/>
                        </a:rPr>
                        <a:t>58%</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00MUdHQ7GGY_8</a:t>
                      </a:r>
                    </a:p>
                  </a:txBody>
                  <a:tcPr>
                    <a:solidFill>
                      <a:srgbClr val="0d1b2a"/>
                    </a:solidFill>
                  </a:tcPr>
                </a:tc>
                <a:tc>
                  <a:txBody>
                    <a:bodyPr/>
                    <a:lstStyle/>
                    <a:p>
                      <a:pPr algn="l"/>
                      <a:r>
                        <a:rPr sz="2400" b="0" i="0">
                          <a:solidFill>
                            <a:srgbClr val="FFFFFF"/>
                          </a:solidFill>
                          <a:latin typeface="Calibri"/>
                        </a:rPr>
                        <a:t>Hallucination</a:t>
                      </a:r>
                    </a:p>
                  </a:txBody>
                  <a:tcPr>
                    <a:solidFill>
                      <a:srgbClr val="0d1b2a"/>
                    </a:solidFill>
                  </a:tcPr>
                </a:tc>
                <a:tc>
                  <a:txBody>
                    <a:bodyPr/>
                    <a:lstStyle/>
                    <a:p>
                      <a:pPr algn="l"/>
                      <a:r>
                        <a:rPr sz="2400" b="0" i="0">
                          <a:solidFill>
                            <a:srgbClr val="FFFFFF"/>
                          </a:solidFill>
                          <a:latin typeface="Calibri"/>
                        </a:rPr>
                        <a:t>14</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DBhaa45mAro_2</a:t>
                      </a:r>
                    </a:p>
                  </a:txBody>
                  <a:tcPr>
                    <a:solidFill>
                      <a:srgbClr val="152a40"/>
                    </a:solidFill>
                  </a:tcPr>
                </a:tc>
                <a:tc>
                  <a:txBody>
                    <a:bodyPr/>
                    <a:lstStyle/>
                    <a:p>
                      <a:pPr algn="l"/>
                      <a:r>
                        <a:rPr sz="2400" b="0" i="0">
                          <a:solidFill>
                            <a:srgbClr val="FFFFFF"/>
                          </a:solidFill>
                          <a:latin typeface="Calibri"/>
                        </a:rPr>
                        <a:t>Tuning Fix</a:t>
                      </a:r>
                    </a:p>
                  </a:txBody>
                  <a:tcPr>
                    <a:solidFill>
                      <a:srgbClr val="152a40"/>
                    </a:solidFill>
                  </a:tcPr>
                </a:tc>
                <a:tc>
                  <a:txBody>
                    <a:bodyPr/>
                    <a:lstStyle/>
                    <a:p>
                      <a:pPr algn="l"/>
                      <a:r>
                        <a:rPr sz="2400" b="0" i="0">
                          <a:solidFill>
                            <a:srgbClr val="FFFFFF"/>
                          </a:solidFill>
                          <a:latin typeface="Calibri"/>
                        </a:rPr>
                        <a:t>14</a:t>
                      </a:r>
                    </a:p>
                  </a:txBody>
                  <a:tcPr>
                    <a:solidFill>
                      <a:srgbClr val="152a40"/>
                    </a:solidFill>
                  </a:tcPr>
                </a:tc>
                <a:tc>
                  <a:txBody>
                    <a:bodyPr/>
                    <a:lstStyle/>
                    <a:p>
                      <a:pPr algn="l"/>
                      <a:r>
                        <a:rPr sz="2400" b="0" i="0">
                          <a:solidFill>
                            <a:srgbClr val="FFFFFF"/>
                          </a:solidFill>
                          <a:latin typeface="Calibri"/>
                        </a:rPr>
                        <a:t>73%</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vBCnI4kf3-E_0</a:t>
                      </a:r>
                    </a:p>
                  </a:txBody>
                  <a:tcPr>
                    <a:solidFill>
                      <a:srgbClr val="0d1b2a"/>
                    </a:solidFill>
                  </a:tcPr>
                </a:tc>
                <a:tc>
                  <a:txBody>
                    <a:bodyPr/>
                    <a:lstStyle/>
                    <a:p>
                      <a:pPr algn="l"/>
                      <a:r>
                        <a:rPr sz="2400" b="0" i="0">
                          <a:solidFill>
                            <a:srgbClr val="FFFFFF"/>
                          </a:solidFill>
                          <a:latin typeface="Calibri"/>
                        </a:rPr>
                        <a:t>Topic Drift</a:t>
                      </a:r>
                    </a:p>
                  </a:txBody>
                  <a:tcPr>
                    <a:solidFill>
                      <a:srgbClr val="0d1b2a"/>
                    </a:solidFill>
                  </a:tcPr>
                </a:tc>
                <a:tc>
                  <a:txBody>
                    <a:bodyPr/>
                    <a:lstStyle/>
                    <a:p>
                      <a:pPr algn="l"/>
                      <a:r>
                        <a:rPr sz="2400" b="0" i="0">
                          <a:solidFill>
                            <a:srgbClr val="FFFFFF"/>
                          </a:solidFill>
                          <a:latin typeface="Calibri"/>
                        </a:rPr>
                        <a:t>14/A6</a:t>
                      </a:r>
                    </a:p>
                  </a:txBody>
                  <a:tcPr>
                    <a:solidFill>
                      <a:srgbClr val="0d1b2a"/>
                    </a:solidFill>
                  </a:tcPr>
                </a:tc>
                <a:tc>
                  <a:txBody>
                    <a:bodyPr/>
                    <a:lstStyle/>
                    <a:p>
                      <a:pPr algn="l"/>
                      <a:r>
                        <a:rPr sz="2400" b="0" i="0">
                          <a:solidFill>
                            <a:srgbClr val="FFFFFF"/>
                          </a:solidFill>
                          <a:latin typeface="Calibri"/>
                        </a:rPr>
                        <a:t>97%</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Q8aPjew1aUU_5</a:t>
                      </a:r>
                    </a:p>
                  </a:txBody>
                  <a:tcPr>
                    <a:solidFill>
                      <a:srgbClr val="152a40"/>
                    </a:solidFill>
                  </a:tcPr>
                </a:tc>
                <a:tc>
                  <a:txBody>
                    <a:bodyPr/>
                    <a:lstStyle/>
                    <a:p>
                      <a:pPr algn="l"/>
                      <a:r>
                        <a:rPr sz="2400" b="0" i="0">
                          <a:solidFill>
                            <a:srgbClr val="FFFFFF"/>
                          </a:solidFill>
                          <a:latin typeface="Calibri"/>
                        </a:rPr>
                        <a:t>Salvage</a:t>
                      </a:r>
                    </a:p>
                  </a:txBody>
                  <a:tcPr>
                    <a:solidFill>
                      <a:srgbClr val="152a40"/>
                    </a:solidFill>
                  </a:tcPr>
                </a:tc>
                <a:tc>
                  <a:txBody>
                    <a:bodyPr/>
                    <a:lstStyle/>
                    <a:p>
                      <a:pPr algn="l"/>
                      <a:r>
                        <a:rPr sz="2400" b="0" i="0">
                          <a:solidFill>
                            <a:srgbClr val="FFFFFF"/>
                          </a:solidFill>
                          <a:latin typeface="Calibri"/>
                        </a:rPr>
                        <a:t>14/A5</a:t>
                      </a:r>
                    </a:p>
                  </a:txBody>
                  <a:tcPr>
                    <a:solidFill>
                      <a:srgbClr val="152a40"/>
                    </a:solidFill>
                  </a:tcPr>
                </a:tc>
                <a:tc>
                  <a:txBody>
                    <a:bodyPr/>
                    <a:lstStyle/>
                    <a:p>
                      <a:pPr algn="l"/>
                      <a:r>
                        <a:rPr sz="2400" b="0" i="0">
                          <a:solidFill>
                            <a:srgbClr val="FFFFFF"/>
                          </a:solidFill>
                          <a:latin typeface="Calibri"/>
                        </a:rPr>
                        <a:t>74%</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d8BR6hsvzoY_31</a:t>
                      </a:r>
                    </a:p>
                  </a:txBody>
                  <a:tcPr>
                    <a:solidFill>
                      <a:srgbClr val="0d1b2a"/>
                    </a:solidFill>
                  </a:tcPr>
                </a:tc>
                <a:tc>
                  <a:txBody>
                    <a:bodyPr/>
                    <a:lstStyle/>
                    <a:p>
                      <a:pPr algn="l"/>
                      <a:r>
                        <a:rPr sz="2400" b="0" i="0">
                          <a:solidFill>
                            <a:srgbClr val="FFFFFF"/>
                          </a:solidFill>
                          <a:latin typeface="Calibri"/>
                        </a:rPr>
                        <a:t>Perfect Short</a:t>
                      </a:r>
                    </a:p>
                  </a:txBody>
                  <a:tcPr>
                    <a:solidFill>
                      <a:srgbClr val="0d1b2a"/>
                    </a:solidFill>
                  </a:tcPr>
                </a:tc>
                <a:tc>
                  <a:txBody>
                    <a:bodyPr/>
                    <a:lstStyle/>
                    <a:p>
                      <a:pPr algn="l"/>
                      <a:r>
                        <a:rPr sz="2400" b="0" i="0">
                          <a:solidFill>
                            <a:srgbClr val="FFFFFF"/>
                          </a:solidFill>
                          <a:latin typeface="Calibri"/>
                        </a:rPr>
                        <a:t>15</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WTSIAfzvYUU_0</a:t>
                      </a:r>
                    </a:p>
                  </a:txBody>
                  <a:tcPr>
                    <a:solidFill>
                      <a:srgbClr val="152a40"/>
                    </a:solidFill>
                  </a:tcPr>
                </a:tc>
                <a:tc>
                  <a:txBody>
                    <a:bodyPr/>
                    <a:lstStyle/>
                    <a:p>
                      <a:pPr algn="l"/>
                      <a:r>
                        <a:rPr sz="2400" b="0" i="0">
                          <a:solidFill>
                            <a:srgbClr val="FFFFFF"/>
                          </a:solidFill>
                          <a:latin typeface="Calibri"/>
                        </a:rPr>
                        <a:t>Semantic Pres.</a:t>
                      </a:r>
                    </a:p>
                  </a:txBody>
                  <a:tcPr>
                    <a:solidFill>
                      <a:srgbClr val="152a40"/>
                    </a:solidFill>
                  </a:tcPr>
                </a:tc>
                <a:tc>
                  <a:txBody>
                    <a:bodyPr/>
                    <a:lstStyle/>
                    <a:p>
                      <a:pPr algn="l"/>
                      <a:r>
                        <a:rPr sz="2400" b="0" i="0">
                          <a:solidFill>
                            <a:srgbClr val="FFFFFF"/>
                          </a:solidFill>
                          <a:latin typeface="Calibri"/>
                        </a:rPr>
                        <a:t>A5</a:t>
                      </a:r>
                    </a:p>
                  </a:txBody>
                  <a:tcPr>
                    <a:solidFill>
                      <a:srgbClr val="152a40"/>
                    </a:solidFill>
                  </a:tcPr>
                </a:tc>
                <a:tc>
                  <a:txBody>
                    <a:bodyPr/>
                    <a:lstStyle/>
                    <a:p>
                      <a:pPr algn="l"/>
                      <a:r>
                        <a:rPr sz="2400" b="0" i="0">
                          <a:solidFill>
                            <a:srgbClr val="FFFFFF"/>
                          </a:solidFill>
                          <a:latin typeface="Calibri"/>
                        </a:rPr>
                        <a:t>72%</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cT6aHJmM4cA_2</a:t>
                      </a:r>
                    </a:p>
                  </a:txBody>
                  <a:tcPr>
                    <a:solidFill>
                      <a:srgbClr val="0d1b2a"/>
                    </a:solidFill>
                  </a:tcPr>
                </a:tc>
                <a:tc>
                  <a:txBody>
                    <a:bodyPr/>
                    <a:lstStyle/>
                    <a:p>
                      <a:pPr algn="l"/>
                      <a:r>
                        <a:rPr sz="2400" b="0" i="0">
                          <a:solidFill>
                            <a:srgbClr val="FFFFFF"/>
                          </a:solidFill>
                          <a:latin typeface="Calibri"/>
                        </a:rPr>
                        <a:t>Phonetic Bridge</a:t>
                      </a:r>
                    </a:p>
                  </a:txBody>
                  <a:tcPr>
                    <a:solidFill>
                      <a:srgbClr val="0d1b2a"/>
                    </a:solidFill>
                  </a:tcPr>
                </a:tc>
                <a:tc>
                  <a:txBody>
                    <a:bodyPr/>
                    <a:lstStyle/>
                    <a:p>
                      <a:pPr algn="l"/>
                      <a:r>
                        <a:rPr sz="2400" b="0" i="0">
                          <a:solidFill>
                            <a:srgbClr val="FFFFFF"/>
                          </a:solidFill>
                          <a:latin typeface="Calibri"/>
                        </a:rPr>
                        <a:t>A5</a:t>
                      </a:r>
                    </a:p>
                  </a:txBody>
                  <a:tcPr>
                    <a:solidFill>
                      <a:srgbClr val="0d1b2a"/>
                    </a:solidFill>
                  </a:tcPr>
                </a:tc>
                <a:tc>
                  <a:txBody>
                    <a:bodyPr/>
                    <a:lstStyle/>
                    <a:p>
                      <a:pPr algn="l"/>
                      <a:r>
                        <a:rPr sz="2400" b="0" i="0">
                          <a:solidFill>
                            <a:srgbClr val="FFFFFF"/>
                          </a:solidFill>
                          <a:latin typeface="Calibri"/>
                        </a:rPr>
                        <a:t>89%</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cECxDMkqVcs_0</a:t>
                      </a:r>
                    </a:p>
                  </a:txBody>
                  <a:tcPr>
                    <a:solidFill>
                      <a:srgbClr val="152a40"/>
                    </a:solidFill>
                  </a:tcPr>
                </a:tc>
                <a:tc>
                  <a:txBody>
                    <a:bodyPr/>
                    <a:lstStyle/>
                    <a:p>
                      <a:pPr algn="l"/>
                      <a:r>
                        <a:rPr sz="2400" b="0" i="0">
                          <a:solidFill>
                            <a:srgbClr val="FFFFFF"/>
                          </a:solidFill>
                          <a:latin typeface="Calibri"/>
                        </a:rPr>
                        <a:t>Entity-Pres.</a:t>
                      </a:r>
                    </a:p>
                  </a:txBody>
                  <a:tcPr>
                    <a:solidFill>
                      <a:srgbClr val="152a40"/>
                    </a:solidFill>
                  </a:tcPr>
                </a:tc>
                <a:tc>
                  <a:txBody>
                    <a:bodyPr/>
                    <a:lstStyle/>
                    <a:p>
                      <a:pPr algn="l"/>
                      <a:r>
                        <a:rPr sz="2400" b="0" i="0">
                          <a:solidFill>
                            <a:srgbClr val="FFFFFF"/>
                          </a:solidFill>
                          <a:latin typeface="Calibri"/>
                        </a:rPr>
                        <a:t>A5</a:t>
                      </a:r>
                    </a:p>
                  </a:txBody>
                  <a:tcPr>
                    <a:solidFill>
                      <a:srgbClr val="152a40"/>
                    </a:solidFill>
                  </a:tcPr>
                </a:tc>
                <a:tc>
                  <a:txBody>
                    <a:bodyPr/>
                    <a:lstStyle/>
                    <a:p>
                      <a:pPr algn="l"/>
                      <a:r>
                        <a:rPr sz="2400" b="0" i="0">
                          <a:solidFill>
                            <a:srgbClr val="FFFFFF"/>
                          </a:solidFill>
                          <a:latin typeface="Calibri"/>
                        </a:rPr>
                        <a:t>57%</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IZcKDz911X8_0</a:t>
                      </a:r>
                    </a:p>
                  </a:txBody>
                  <a:tcPr>
                    <a:solidFill>
                      <a:srgbClr val="0d1b2a"/>
                    </a:solidFill>
                  </a:tcPr>
                </a:tc>
                <a:tc>
                  <a:txBody>
                    <a:bodyPr/>
                    <a:lstStyle/>
                    <a:p>
                      <a:pPr algn="l"/>
                      <a:r>
                        <a:rPr sz="2400" b="0" i="0">
                          <a:solidFill>
                            <a:srgbClr val="FFFFFF"/>
                          </a:solidFill>
                          <a:latin typeface="Calibri"/>
                        </a:rPr>
                        <a:t>Structure Match</a:t>
                      </a:r>
                    </a:p>
                  </a:txBody>
                  <a:tcPr>
                    <a:solidFill>
                      <a:srgbClr val="0d1b2a"/>
                    </a:solidFill>
                  </a:tcPr>
                </a:tc>
                <a:tc>
                  <a:txBody>
                    <a:bodyPr/>
                    <a:lstStyle/>
                    <a:p>
                      <a:pPr algn="l"/>
                      <a:r>
                        <a:rPr sz="2400" b="0" i="0">
                          <a:solidFill>
                            <a:srgbClr val="FFFFFF"/>
                          </a:solidFill>
                          <a:latin typeface="Calibri"/>
                        </a:rPr>
                        <a:t>A5</a:t>
                      </a:r>
                    </a:p>
                  </a:txBody>
                  <a:tcPr>
                    <a:solidFill>
                      <a:srgbClr val="0d1b2a"/>
                    </a:solidFill>
                  </a:tcPr>
                </a:tc>
                <a:tc>
                  <a:txBody>
                    <a:bodyPr/>
                    <a:lstStyle/>
                    <a:p>
                      <a:pPr algn="l"/>
                      <a:r>
                        <a:rPr sz="2400" b="0" i="0">
                          <a:solidFill>
                            <a:srgbClr val="FFFFFF"/>
                          </a:solidFill>
                          <a:latin typeface="Calibri"/>
                        </a:rPr>
                        <a:t>39%</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0FUlRjBcGGE_21</a:t>
                      </a:r>
                    </a:p>
                  </a:txBody>
                  <a:tcPr>
                    <a:solidFill>
                      <a:srgbClr val="152a40"/>
                    </a:solidFill>
                  </a:tcPr>
                </a:tc>
                <a:tc>
                  <a:txBody>
                    <a:bodyPr/>
                    <a:lstStyle/>
                    <a:p>
                      <a:pPr algn="l"/>
                      <a:r>
                        <a:rPr sz="2400" b="0" i="0">
                          <a:solidFill>
                            <a:srgbClr val="FFFFFF"/>
                          </a:solidFill>
                          <a:latin typeface="Calibri"/>
                        </a:rPr>
                        <a:t>WER Over-Pun.</a:t>
                      </a:r>
                    </a:p>
                  </a:txBody>
                  <a:tcPr>
                    <a:solidFill>
                      <a:srgbClr val="152a40"/>
                    </a:solidFill>
                  </a:tcPr>
                </a:tc>
                <a:tc>
                  <a:txBody>
                    <a:bodyPr/>
                    <a:lstStyle/>
                    <a:p>
                      <a:pPr algn="l"/>
                      <a:r>
                        <a:rPr sz="2400" b="0" i="0">
                          <a:solidFill>
                            <a:srgbClr val="FFFFFF"/>
                          </a:solidFill>
                          <a:latin typeface="Calibri"/>
                        </a:rPr>
                        <a:t>A5</a:t>
                      </a:r>
                    </a:p>
                  </a:txBody>
                  <a:tcPr>
                    <a:solidFill>
                      <a:srgbClr val="152a40"/>
                    </a:solidFill>
                  </a:tcPr>
                </a:tc>
                <a:tc>
                  <a:txBody>
                    <a:bodyPr/>
                    <a:lstStyle/>
                    <a:p>
                      <a:pPr algn="l"/>
                      <a:r>
                        <a:rPr sz="2400" b="0" i="0">
                          <a:solidFill>
                            <a:srgbClr val="FFFFFF"/>
                          </a:solidFill>
                          <a:latin typeface="Calibri"/>
                        </a:rPr>
                        <a:t>150%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FLRU5qzb6hc_9</a:t>
                      </a:r>
                    </a:p>
                  </a:txBody>
                  <a:tcPr>
                    <a:solidFill>
                      <a:srgbClr val="0d1b2a"/>
                    </a:solidFill>
                  </a:tcPr>
                </a:tc>
                <a:tc>
                  <a:txBody>
                    <a:bodyPr/>
                    <a:lstStyle/>
                    <a:p>
                      <a:pPr algn="l"/>
                      <a:r>
                        <a:rPr sz="2400" b="0" i="0">
                          <a:solidFill>
                            <a:srgbClr val="FFFFFF"/>
                          </a:solidFill>
                          <a:latin typeface="Calibri"/>
                        </a:rPr>
                        <a:t>Near-Perfect</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BVynmQr3cf8_0</a:t>
                      </a:r>
                    </a:p>
                  </a:txBody>
                  <a:tcPr>
                    <a:solidFill>
                      <a:srgbClr val="152a40"/>
                    </a:solidFill>
                  </a:tcPr>
                </a:tc>
                <a:tc>
                  <a:txBody>
                    <a:bodyPr/>
                    <a:lstStyle/>
                    <a:p>
                      <a:pPr algn="l"/>
                      <a:r>
                        <a:rPr sz="2400" b="0" i="0">
                          <a:solidFill>
                            <a:srgbClr val="FFFFFF"/>
                          </a:solidFill>
                          <a:latin typeface="Calibri"/>
                        </a:rPr>
                        <a:t>Minor Errors</a:t>
                      </a:r>
                    </a:p>
                  </a:txBody>
                  <a:tcPr>
                    <a:solidFill>
                      <a:srgbClr val="152a40"/>
                    </a:solidFill>
                  </a:tcPr>
                </a:tc>
                <a:tc>
                  <a:txBody>
                    <a:bodyPr/>
                    <a:lstStyle/>
                    <a:p>
                      <a:pPr algn="l"/>
                      <a:r>
                        <a:rPr sz="2400" b="0" i="0">
                          <a:solidFill>
                            <a:srgbClr val="FFFFFF"/>
                          </a:solidFill>
                          <a:latin typeface="Calibri"/>
                        </a:rPr>
                        <a:t>A12</a:t>
                      </a:r>
                    </a:p>
                  </a:txBody>
                  <a:tcPr>
                    <a:solidFill>
                      <a:srgbClr val="152a40"/>
                    </a:solidFill>
                  </a:tcPr>
                </a:tc>
                <a:tc>
                  <a:txBody>
                    <a:bodyPr/>
                    <a:lstStyle/>
                    <a:p>
                      <a:pPr algn="l"/>
                      <a:r>
                        <a:rPr sz="2400" b="0" i="0">
                          <a:solidFill>
                            <a:srgbClr val="FFFFFF"/>
                          </a:solidFill>
                          <a:latin typeface="Calibri"/>
                        </a:rPr>
                        <a:t>11%</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LiYzBldkxMc_2</a:t>
                      </a:r>
                    </a:p>
                  </a:txBody>
                  <a:tcPr>
                    <a:solidFill>
                      <a:srgbClr val="0d1b2a"/>
                    </a:solidFill>
                  </a:tcPr>
                </a:tc>
                <a:tc>
                  <a:txBody>
                    <a:bodyPr/>
                    <a:lstStyle/>
                    <a:p>
                      <a:pPr algn="l"/>
                      <a:r>
                        <a:rPr sz="2400" b="0" i="0">
                          <a:solidFill>
                            <a:srgbClr val="FFFFFF"/>
                          </a:solidFill>
                          <a:latin typeface="Calibri"/>
                        </a:rPr>
                        <a:t>Phonetic Pres.</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27%</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epuNSCr7qpA_16</a:t>
                      </a:r>
                    </a:p>
                  </a:txBody>
                  <a:tcPr>
                    <a:solidFill>
                      <a:srgbClr val="152a40"/>
                    </a:solidFill>
                  </a:tcPr>
                </a:tc>
                <a:tc>
                  <a:txBody>
                    <a:bodyPr/>
                    <a:lstStyle/>
                    <a:p>
                      <a:pPr algn="l"/>
                      <a:r>
                        <a:rPr sz="2400" b="0" i="0">
                          <a:solidFill>
                            <a:srgbClr val="FFFFFF"/>
                          </a:solidFill>
                          <a:latin typeface="Calibri"/>
                        </a:rPr>
                        <a:t>Good Sem+Len</a:t>
                      </a:r>
                    </a:p>
                  </a:txBody>
                  <a:tcPr>
                    <a:solidFill>
                      <a:srgbClr val="152a40"/>
                    </a:solidFill>
                  </a:tcPr>
                </a:tc>
                <a:tc>
                  <a:txBody>
                    <a:bodyPr/>
                    <a:lstStyle/>
                    <a:p>
                      <a:pPr algn="l"/>
                      <a:r>
                        <a:rPr sz="2400" b="0" i="0">
                          <a:solidFill>
                            <a:srgbClr val="FFFFFF"/>
                          </a:solidFill>
                          <a:latin typeface="Calibri"/>
                        </a:rPr>
                        <a:t>A12</a:t>
                      </a:r>
                    </a:p>
                  </a:txBody>
                  <a:tcPr>
                    <a:solidFill>
                      <a:srgbClr val="152a40"/>
                    </a:solidFill>
                  </a:tcPr>
                </a:tc>
                <a:tc>
                  <a:txBody>
                    <a:bodyPr/>
                    <a:lstStyle/>
                    <a:p>
                      <a:pPr algn="l"/>
                      <a:r>
                        <a:rPr sz="2400" b="0" i="0">
                          <a:solidFill>
                            <a:srgbClr val="FFFFFF"/>
                          </a:solidFill>
                          <a:latin typeface="Calibri"/>
                        </a:rPr>
                        <a:t>15%</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BS4kTgaiydQ_0</a:t>
                      </a:r>
                    </a:p>
                  </a:txBody>
                  <a:tcPr>
                    <a:solidFill>
                      <a:srgbClr val="0d1b2a"/>
                    </a:solidFill>
                  </a:tcPr>
                </a:tc>
                <a:tc>
                  <a:txBody>
                    <a:bodyPr/>
                    <a:lstStyle/>
                    <a:p>
                      <a:pPr algn="l"/>
                      <a:r>
                        <a:rPr sz="2400" b="0" i="0">
                          <a:solidFill>
                            <a:srgbClr val="FFFFFF"/>
                          </a:solidFill>
                          <a:latin typeface="Calibri"/>
                        </a:rPr>
                        <a:t>Entity Preserved</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31%</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bl>
          </a:graphicData>
        </a:graphic>
      </p:graphicFrame>
      <p:graphicFrame>
        <p:nvGraphicFramePr>
          <p:cNvPr id="6" name="Table 5"/>
          <p:cNvGraphicFramePr>
            <a:graphicFrameLocks noGrp="1"/>
          </p:cNvGraphicFramePr>
          <p:nvPr/>
        </p:nvGraphicFramePr>
        <p:xfrm>
          <a:off x="6245352" y="1673352"/>
          <a:ext cx="4663440" cy="5266944"/>
        </p:xfrm>
        <a:graphic>
          <a:graphicData uri="http://schemas.openxmlformats.org/drawingml/2006/table">
            <a:tbl>
              <a:tblPr firstRow="0" bandRow="0" lastRow="0" bandCol="0">
                <a:tableStyleId>{5C22544A-7EE6-4342-B048-85BDC9FD1C3A}</a:tableStyleId>
              </a:tblPr>
              <a:tblGrid>
                <a:gridCol w="1691640"/>
                <a:gridCol w="1371600"/>
                <a:gridCol w="640080"/>
                <a:gridCol w="548640"/>
                <a:gridCol w="411480"/>
              </a:tblGrid>
              <a:tr h="292608">
                <a:tc>
                  <a:txBody>
                    <a:bodyPr/>
                    <a:lstStyle/>
                    <a:p>
                      <a:pPr algn="ctr"/>
                      <a:r>
                        <a:rPr sz="2400" b="1" i="0">
                          <a:solidFill>
                            <a:srgbClr val="FFFFFF"/>
                          </a:solidFill>
                          <a:latin typeface="Calibri"/>
                        </a:rPr>
                        <a:t>Segment ID</a:t>
                      </a:r>
                    </a:p>
                  </a:txBody>
                  <a:tcPr>
                    <a:solidFill>
                      <a:srgbClr val="00b4d8"/>
                    </a:solidFill>
                  </a:tcPr>
                </a:tc>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Slide</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defRPr sz="2400" b="1" i="0">
                          <a:solidFill>
                            <a:srgbClr val="FFFFFF"/>
                          </a:solidFill>
                          <a:latin typeface="Calibri"/>
                        </a:defRPr>
                      </a:pPr>
                    </a:p>
                  </a:txBody>
                  <a:tcPr>
                    <a:solidFill>
                      <a:srgbClr val="00b4d8"/>
                    </a:solidFill>
                  </a:tcPr>
                </a:tc>
              </a:tr>
              <a:tr h="292608">
                <a:tc>
                  <a:txBody>
                    <a:bodyPr/>
                    <a:lstStyle/>
                    <a:p>
                      <a:pPr algn="l"/>
                      <a:r>
                        <a:rPr sz="2400" b="0" i="0">
                          <a:solidFill>
                            <a:srgbClr val="FFFFFF"/>
                          </a:solidFill>
                          <a:latin typeface="Calibri"/>
                        </a:rPr>
                        <a:t>HecEY5bF-xs_5</a:t>
                      </a:r>
                    </a:p>
                  </a:txBody>
                  <a:tcPr>
                    <a:solidFill>
                      <a:srgbClr val="0d1b2a"/>
                    </a:solidFill>
                  </a:tcPr>
                </a:tc>
                <a:tc>
                  <a:txBody>
                    <a:bodyPr/>
                    <a:lstStyle/>
                    <a:p>
                      <a:pPr algn="l"/>
                      <a:r>
                        <a:rPr sz="2400" b="0" i="0">
                          <a:solidFill>
                            <a:srgbClr val="FFFFFF"/>
                          </a:solidFill>
                          <a:latin typeface="Calibri"/>
                        </a:rPr>
                        <a:t>Low-Mod WER</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15%</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c6eBrYor21I_10</a:t>
                      </a:r>
                    </a:p>
                  </a:txBody>
                  <a:tcPr>
                    <a:solidFill>
                      <a:srgbClr val="152a40"/>
                    </a:solidFill>
                  </a:tcPr>
                </a:tc>
                <a:tc>
                  <a:txBody>
                    <a:bodyPr/>
                    <a:lstStyle/>
                    <a:p>
                      <a:pPr algn="l"/>
                      <a:r>
                        <a:rPr sz="2400" b="0" i="0">
                          <a:solidFill>
                            <a:srgbClr val="FFFFFF"/>
                          </a:solidFill>
                          <a:latin typeface="Calibri"/>
                        </a:rPr>
                        <a:t>Sem+Phonetic</a:t>
                      </a:r>
                    </a:p>
                  </a:txBody>
                  <a:tcPr>
                    <a:solidFill>
                      <a:srgbClr val="152a40"/>
                    </a:solidFill>
                  </a:tcPr>
                </a:tc>
                <a:tc>
                  <a:txBody>
                    <a:bodyPr/>
                    <a:lstStyle/>
                    <a:p>
                      <a:pPr algn="l"/>
                      <a:r>
                        <a:rPr sz="2400" b="0" i="0">
                          <a:solidFill>
                            <a:srgbClr val="FFFFFF"/>
                          </a:solidFill>
                          <a:latin typeface="Calibri"/>
                        </a:rPr>
                        <a:t>A12</a:t>
                      </a:r>
                    </a:p>
                  </a:txBody>
                  <a:tcPr>
                    <a:solidFill>
                      <a:srgbClr val="152a40"/>
                    </a:solidFill>
                  </a:tcPr>
                </a:tc>
                <a:tc>
                  <a:txBody>
                    <a:bodyPr/>
                    <a:lstStyle/>
                    <a:p>
                      <a:pPr algn="l"/>
                      <a:r>
                        <a:rPr sz="2400" b="0" i="0">
                          <a:solidFill>
                            <a:srgbClr val="FFFFFF"/>
                          </a:solidFill>
                          <a:latin typeface="Calibri"/>
                        </a:rPr>
                        <a:t>52%</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1RkFwRhhcWQ_0</a:t>
                      </a:r>
                    </a:p>
                  </a:txBody>
                  <a:tcPr>
                    <a:solidFill>
                      <a:srgbClr val="0d1b2a"/>
                    </a:solidFill>
                  </a:tcPr>
                </a:tc>
                <a:tc>
                  <a:txBody>
                    <a:bodyPr/>
                    <a:lstStyle/>
                    <a:p>
                      <a:pPr algn="l"/>
                      <a:r>
                        <a:rPr sz="2400" b="0" i="0">
                          <a:solidFill>
                            <a:srgbClr val="FFFFFF"/>
                          </a:solidFill>
                          <a:latin typeface="Calibri"/>
                        </a:rPr>
                        <a:t>Empty Output</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BmmJujNQvXw_0</a:t>
                      </a:r>
                    </a:p>
                  </a:txBody>
                  <a:tcPr>
                    <a:solidFill>
                      <a:srgbClr val="152a40"/>
                    </a:solidFill>
                  </a:tcPr>
                </a:tc>
                <a:tc>
                  <a:txBody>
                    <a:bodyPr/>
                    <a:lstStyle/>
                    <a:p>
                      <a:pPr algn="l"/>
                      <a:r>
                        <a:rPr sz="2400" b="0" i="0">
                          <a:solidFill>
                            <a:srgbClr val="FFFFFF"/>
                          </a:solidFill>
                          <a:latin typeface="Calibri"/>
                        </a:rPr>
                        <a:t>Extreme Halluc.</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200%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0fmc81KXbB0_0</a:t>
                      </a:r>
                    </a:p>
                  </a:txBody>
                  <a:tcPr>
                    <a:solidFill>
                      <a:srgbClr val="0d1b2a"/>
                    </a:solidFill>
                  </a:tcPr>
                </a:tc>
                <a:tc>
                  <a:txBody>
                    <a:bodyPr/>
                    <a:lstStyle/>
                    <a:p>
                      <a:pPr algn="l"/>
                      <a:r>
                        <a:rPr sz="2400" b="0" i="0">
                          <a:solidFill>
                            <a:srgbClr val="FFFFFF"/>
                          </a:solidFill>
                          <a:latin typeface="Calibri"/>
                        </a:rPr>
                        <a:t>Truncation</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69%</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EMfcKvHA5Uc_0</a:t>
                      </a:r>
                    </a:p>
                  </a:txBody>
                  <a:tcPr>
                    <a:solidFill>
                      <a:srgbClr val="152a40"/>
                    </a:solidFill>
                  </a:tcPr>
                </a:tc>
                <a:tc>
                  <a:txBody>
                    <a:bodyPr/>
                    <a:lstStyle/>
                    <a:p>
                      <a:pPr algn="l"/>
                      <a:r>
                        <a:rPr sz="2400" b="0" i="0">
                          <a:solidFill>
                            <a:srgbClr val="FFFFFF"/>
                          </a:solidFill>
                          <a:latin typeface="Calibri"/>
                        </a:rPr>
                        <a:t>Entity Destruct.</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100%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2JuBrr6TW8o_14</a:t>
                      </a:r>
                    </a:p>
                  </a:txBody>
                  <a:tcPr>
                    <a:solidFill>
                      <a:srgbClr val="0d1b2a"/>
                    </a:solidFill>
                  </a:tcPr>
                </a:tc>
                <a:tc>
                  <a:txBody>
                    <a:bodyPr/>
                    <a:lstStyle/>
                    <a:p>
                      <a:pPr algn="l"/>
                      <a:r>
                        <a:rPr sz="2400" b="0" i="0">
                          <a:solidFill>
                            <a:srgbClr val="FFFFFF"/>
                          </a:solidFill>
                          <a:latin typeface="Calibri"/>
                        </a:rPr>
                        <a:t>Phonetic Wrong</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ZnoJxsXKULY_0</a:t>
                      </a:r>
                    </a:p>
                  </a:txBody>
                  <a:tcPr>
                    <a:solidFill>
                      <a:srgbClr val="152a40"/>
                    </a:solidFill>
                  </a:tcPr>
                </a:tc>
                <a:tc>
                  <a:txBody>
                    <a:bodyPr/>
                    <a:lstStyle/>
                    <a:p>
                      <a:pPr algn="l"/>
                      <a:r>
                        <a:rPr sz="2400" b="0" i="0">
                          <a:solidFill>
                            <a:srgbClr val="FFFFFF"/>
                          </a:solidFill>
                          <a:latin typeface="Calibri"/>
                        </a:rPr>
                        <a:t>High Error Rate</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100%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49qxSMt4Xe0_0</a:t>
                      </a:r>
                    </a:p>
                  </a:txBody>
                  <a:tcPr>
                    <a:solidFill>
                      <a:srgbClr val="0d1b2a"/>
                    </a:solidFill>
                  </a:tcPr>
                </a:tc>
                <a:tc>
                  <a:txBody>
                    <a:bodyPr/>
                    <a:lstStyle/>
                    <a:p>
                      <a:pPr algn="l"/>
                      <a:r>
                        <a:rPr sz="2400" b="0" i="0">
                          <a:solidFill>
                            <a:srgbClr val="FFFFFF"/>
                          </a:solidFill>
                          <a:latin typeface="Calibri"/>
                        </a:rPr>
                        <a:t>Accum. Errors</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68%</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xITCbZxwLn4_0</a:t>
                      </a:r>
                    </a:p>
                  </a:txBody>
                  <a:tcPr>
                    <a:solidFill>
                      <a:srgbClr val="152a40"/>
                    </a:solidFill>
                  </a:tcPr>
                </a:tc>
                <a:tc>
                  <a:txBody>
                    <a:bodyPr/>
                    <a:lstStyle/>
                    <a:p>
                      <a:pPr algn="l"/>
                      <a:r>
                        <a:rPr sz="2400" b="0" i="0">
                          <a:solidFill>
                            <a:srgbClr val="FFFFFF"/>
                          </a:solidFill>
                          <a:latin typeface="Calibri"/>
                        </a:rPr>
                        <a:t>Content Errors</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60%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KcDqXon7I3c_0</a:t>
                      </a:r>
                    </a:p>
                  </a:txBody>
                  <a:tcPr>
                    <a:solidFill>
                      <a:srgbClr val="0d1b2a"/>
                    </a:solidFill>
                  </a:tcPr>
                </a:tc>
                <a:tc>
                  <a:txBody>
                    <a:bodyPr/>
                    <a:lstStyle/>
                    <a:p>
                      <a:pPr algn="l"/>
                      <a:r>
                        <a:rPr sz="2400" b="0" i="0">
                          <a:solidFill>
                            <a:srgbClr val="FFFFFF"/>
                          </a:solidFill>
                          <a:latin typeface="Calibri"/>
                        </a:rPr>
                        <a:t>Over-generation</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10xhJGx6-kc_0</a:t>
                      </a:r>
                    </a:p>
                  </a:txBody>
                  <a:tcPr>
                    <a:solidFill>
                      <a:srgbClr val="152a40"/>
                    </a:solidFill>
                  </a:tcPr>
                </a:tc>
                <a:tc>
                  <a:txBody>
                    <a:bodyPr/>
                    <a:lstStyle/>
                    <a:p>
                      <a:pPr algn="l"/>
                      <a:r>
                        <a:rPr sz="2400" b="0" i="0">
                          <a:solidFill>
                            <a:srgbClr val="FFFFFF"/>
                          </a:solidFill>
                          <a:latin typeface="Calibri"/>
                        </a:rPr>
                        <a:t>WER&gt;&gt;WWER</a:t>
                      </a:r>
                    </a:p>
                  </a:txBody>
                  <a:tcPr>
                    <a:solidFill>
                      <a:srgbClr val="152a40"/>
                    </a:solidFill>
                  </a:tcPr>
                </a:tc>
                <a:tc>
                  <a:txBody>
                    <a:bodyPr/>
                    <a:lstStyle/>
                    <a:p>
                      <a:pPr algn="l"/>
                      <a:r>
                        <a:rPr sz="2400" b="0" i="0">
                          <a:solidFill>
                            <a:srgbClr val="FFFFFF"/>
                          </a:solidFill>
                          <a:latin typeface="Calibri"/>
                        </a:rPr>
                        <a:t>A14b</a:t>
                      </a:r>
                    </a:p>
                  </a:txBody>
                  <a:tcPr>
                    <a:solidFill>
                      <a:srgbClr val="152a40"/>
                    </a:solidFill>
                  </a:tcPr>
                </a:tc>
                <a:tc>
                  <a:txBody>
                    <a:bodyPr/>
                    <a:lstStyle/>
                    <a:p>
                      <a:pPr algn="l"/>
                      <a:r>
                        <a:rPr sz="2400" b="0" i="0">
                          <a:solidFill>
                            <a:srgbClr val="FFFFFF"/>
                          </a:solidFill>
                          <a:latin typeface="Calibri"/>
                        </a:rPr>
                        <a:t>71%</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-WqvFSuRYo0_12</a:t>
                      </a:r>
                    </a:p>
                  </a:txBody>
                  <a:tcPr>
                    <a:solidFill>
                      <a:srgbClr val="0d1b2a"/>
                    </a:solidFill>
                  </a:tcPr>
                </a:tc>
                <a:tc>
                  <a:txBody>
                    <a:bodyPr/>
                    <a:lstStyle/>
                    <a:p>
                      <a:pPr algn="l"/>
                      <a:r>
                        <a:rPr sz="2400" b="0" i="0">
                          <a:solidFill>
                            <a:srgbClr val="FFFFFF"/>
                          </a:solidFill>
                          <a:latin typeface="Calibri"/>
                        </a:rPr>
                        <a:t>WWER&gt;&gt;WER</a:t>
                      </a:r>
                    </a:p>
                  </a:txBody>
                  <a:tcPr>
                    <a:solidFill>
                      <a:srgbClr val="0d1b2a"/>
                    </a:solidFill>
                  </a:tcPr>
                </a:tc>
                <a:tc>
                  <a:txBody>
                    <a:bodyPr/>
                    <a:lstStyle/>
                    <a:p>
                      <a:pPr algn="l"/>
                      <a:r>
                        <a:rPr sz="2400" b="0" i="0">
                          <a:solidFill>
                            <a:srgbClr val="FFFFFF"/>
                          </a:solidFill>
                          <a:latin typeface="Calibri"/>
                        </a:rPr>
                        <a:t>A14b</a:t>
                      </a:r>
                    </a:p>
                  </a:txBody>
                  <a:tcPr>
                    <a:solidFill>
                      <a:srgbClr val="0d1b2a"/>
                    </a:solidFill>
                  </a:tcPr>
                </a:tc>
                <a:tc>
                  <a:txBody>
                    <a:bodyPr/>
                    <a:lstStyle/>
                    <a:p>
                      <a:pPr algn="l"/>
                      <a:r>
                        <a:rPr sz="2400" b="0" i="0">
                          <a:solidFill>
                            <a:srgbClr val="FFFFFF"/>
                          </a:solidFill>
                          <a:latin typeface="Calibri"/>
                        </a:rPr>
                        <a:t>27%</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1whXJLCrTjY_0</a:t>
                      </a:r>
                    </a:p>
                  </a:txBody>
                  <a:tcPr>
                    <a:solidFill>
                      <a:srgbClr val="152a40"/>
                    </a:solidFill>
                  </a:tcPr>
                </a:tc>
                <a:tc>
                  <a:txBody>
                    <a:bodyPr/>
                    <a:lstStyle/>
                    <a:p>
                      <a:pPr algn="l"/>
                      <a:r>
                        <a:rPr sz="2400" b="0" i="0">
                          <a:solidFill>
                            <a:srgbClr val="FFFFFF"/>
                          </a:solidFill>
                          <a:latin typeface="Calibri"/>
                        </a:rPr>
                        <a:t>Hi Sem+Hi WER</a:t>
                      </a:r>
                    </a:p>
                  </a:txBody>
                  <a:tcPr>
                    <a:solidFill>
                      <a:srgbClr val="152a40"/>
                    </a:solidFill>
                  </a:tcPr>
                </a:tc>
                <a:tc>
                  <a:txBody>
                    <a:bodyPr/>
                    <a:lstStyle/>
                    <a:p>
                      <a:pPr algn="l"/>
                      <a:r>
                        <a:rPr sz="2400" b="0" i="0">
                          <a:solidFill>
                            <a:srgbClr val="FFFFFF"/>
                          </a:solidFill>
                          <a:latin typeface="Calibri"/>
                        </a:rPr>
                        <a:t>A14b</a:t>
                      </a:r>
                    </a:p>
                  </a:txBody>
                  <a:tcPr>
                    <a:solidFill>
                      <a:srgbClr val="152a40"/>
                    </a:solidFill>
                  </a:tcPr>
                </a:tc>
                <a:tc>
                  <a:txBody>
                    <a:bodyPr/>
                    <a:lstStyle/>
                    <a:p>
                      <a:pPr algn="l"/>
                      <a:r>
                        <a:rPr sz="2400" b="0" i="0">
                          <a:solidFill>
                            <a:srgbClr val="FFFFFF"/>
                          </a:solidFill>
                          <a:latin typeface="Calibri"/>
                        </a:rPr>
                        <a:t>67%</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ZB21bsGO0KA_7</a:t>
                      </a:r>
                    </a:p>
                  </a:txBody>
                  <a:tcPr>
                    <a:solidFill>
                      <a:srgbClr val="0d1b2a"/>
                    </a:solidFill>
                  </a:tcPr>
                </a:tc>
                <a:tc>
                  <a:txBody>
                    <a:bodyPr/>
                    <a:lstStyle/>
                    <a:p>
                      <a:pPr algn="l"/>
                      <a:r>
                        <a:rPr sz="2400" b="0" i="0">
                          <a:solidFill>
                            <a:srgbClr val="FFFFFF"/>
                          </a:solidFill>
                          <a:latin typeface="Calibri"/>
                        </a:rPr>
                        <a:t>Lo Sem+Lo WER</a:t>
                      </a:r>
                    </a:p>
                  </a:txBody>
                  <a:tcPr>
                    <a:solidFill>
                      <a:srgbClr val="0d1b2a"/>
                    </a:solidFill>
                  </a:tcPr>
                </a:tc>
                <a:tc>
                  <a:txBody>
                    <a:bodyPr/>
                    <a:lstStyle/>
                    <a:p>
                      <a:pPr algn="l"/>
                      <a:r>
                        <a:rPr sz="2400" b="0" i="0">
                          <a:solidFill>
                            <a:srgbClr val="FFFFFF"/>
                          </a:solidFill>
                          <a:latin typeface="Calibri"/>
                        </a:rPr>
                        <a:t>A14b</a:t>
                      </a:r>
                    </a:p>
                  </a:txBody>
                  <a:tcPr>
                    <a:solidFill>
                      <a:srgbClr val="0d1b2a"/>
                    </a:solidFill>
                  </a:tcPr>
                </a:tc>
                <a:tc>
                  <a:txBody>
                    <a:bodyPr/>
                    <a:lstStyle/>
                    <a:p>
                      <a:pPr algn="l"/>
                      <a:r>
                        <a:rPr sz="2400" b="0" i="0">
                          <a:solidFill>
                            <a:srgbClr val="FFFFFF"/>
                          </a:solidFill>
                          <a:latin typeface="Calibri"/>
                        </a:rPr>
                        <a:t>40%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2T-C7vQJBis_0</a:t>
                      </a:r>
                    </a:p>
                  </a:txBody>
                  <a:tcPr>
                    <a:solidFill>
                      <a:srgbClr val="152a40"/>
                    </a:solidFill>
                  </a:tcPr>
                </a:tc>
                <a:tc>
                  <a:txBody>
                    <a:bodyPr/>
                    <a:lstStyle/>
                    <a:p>
                      <a:pPr algn="l"/>
                      <a:r>
                        <a:rPr sz="2400" b="0" i="0">
                          <a:solidFill>
                            <a:srgbClr val="FFFFFF"/>
                          </a:solidFill>
                          <a:latin typeface="Calibri"/>
                        </a:rPr>
                        <a:t>Hi NEA+WWER</a:t>
                      </a:r>
                    </a:p>
                  </a:txBody>
                  <a:tcPr>
                    <a:solidFill>
                      <a:srgbClr val="152a40"/>
                    </a:solidFill>
                  </a:tcPr>
                </a:tc>
                <a:tc>
                  <a:txBody>
                    <a:bodyPr/>
                    <a:lstStyle/>
                    <a:p>
                      <a:pPr algn="l"/>
                      <a:r>
                        <a:rPr sz="2400" b="0" i="0">
                          <a:solidFill>
                            <a:srgbClr val="FFFFFF"/>
                          </a:solidFill>
                          <a:latin typeface="Calibri"/>
                        </a:rPr>
                        <a:t>A14b</a:t>
                      </a:r>
                    </a:p>
                  </a:txBody>
                  <a:tcPr>
                    <a:solidFill>
                      <a:srgbClr val="152a40"/>
                    </a:solidFill>
                  </a:tcPr>
                </a:tc>
                <a:tc>
                  <a:txBody>
                    <a:bodyPr/>
                    <a:lstStyle/>
                    <a:p>
                      <a:pPr algn="l"/>
                      <a:r>
                        <a:rPr sz="2400" b="0" i="0">
                          <a:solidFill>
                            <a:srgbClr val="FFFFFF"/>
                          </a:solidFill>
                          <a:latin typeface="Calibri"/>
                        </a:rPr>
                        <a:t>42%</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0PQonSiGkVE_0</a:t>
                      </a:r>
                    </a:p>
                  </a:txBody>
                  <a:tcPr>
                    <a:solidFill>
                      <a:srgbClr val="0d1b2a"/>
                    </a:solidFill>
                  </a:tcPr>
                </a:tc>
                <a:tc>
                  <a:txBody>
                    <a:bodyPr/>
                    <a:lstStyle/>
                    <a:p>
                      <a:pPr algn="l"/>
                      <a:r>
                        <a:rPr sz="2400" b="0" i="0">
                          <a:solidFill>
                            <a:srgbClr val="FFFFFF"/>
                          </a:solidFill>
                          <a:latin typeface="Calibri"/>
                        </a:rPr>
                        <a:t>LR&gt;1.5+WER</a:t>
                      </a:r>
                    </a:p>
                  </a:txBody>
                  <a:tcPr>
                    <a:solidFill>
                      <a:srgbClr val="0d1b2a"/>
                    </a:solidFill>
                  </a:tcPr>
                </a:tc>
                <a:tc>
                  <a:txBody>
                    <a:bodyPr/>
                    <a:lstStyle/>
                    <a:p>
                      <a:pPr algn="l"/>
                      <a:r>
                        <a:rPr sz="2400" b="0" i="0">
                          <a:solidFill>
                            <a:srgbClr val="FFFFFF"/>
                          </a:solidFill>
                          <a:latin typeface="Calibri"/>
                        </a:rPr>
                        <a:t>A14b</a:t>
                      </a:r>
                    </a:p>
                  </a:txBody>
                  <a:tcPr>
                    <a:solidFill>
                      <a:srgbClr val="0d1b2a"/>
                    </a:solidFill>
                  </a:tcPr>
                </a:tc>
                <a:tc>
                  <a:txBody>
                    <a:bodyPr/>
                    <a:lstStyle/>
                    <a:p>
                      <a:pPr algn="l"/>
                      <a:r>
                        <a:rPr sz="2400" b="0" i="0">
                          <a:solidFill>
                            <a:srgbClr val="FFFFFF"/>
                          </a:solidFill>
                          <a:latin typeface="Calibri"/>
                        </a:rPr>
                        <a:t>140%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bl>
          </a:graphicData>
        </a:graphic>
      </p:graphicFrame>
      <p:pic>
        <p:nvPicPr>
          <p:cNvPr id="7" name="Picture 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A7</a:t>
            </a:r>
          </a:p>
        </p:txBody>
      </p:sp>
    </p:spTree>
  </p:cSld>
  <p:clrMapOvr>
    <a:masterClrMapping/>
  </p:clrMapOvr>
  <p:transition spd="med" advClick="1">
    <p:fade/>
  </p:transition>
</p:sld>
</file>

<file path=ppt/slides/slide59.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Demo — TRUST: AI talk, Indian-accent speaker (IS=5.00)</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8714232" cy="365760"/>
          </a:xfrm>
          <a:prstGeom prst="rect">
            <a:avLst/>
          </a:prstGeom>
          <a:noFill/>
        </p:spPr>
        <p:txBody>
          <a:bodyPr wrap="square" anchor="t"/>
          <a:lstStyle/>
          <a:p>
            <a:pPr algn="l"/>
            <a:r>
              <a:rPr sz="1800" b="0" i="1">
                <a:solidFill>
                  <a:srgbClr val="AAAAAA"/>
                </a:solidFill>
                <a:latin typeface="Calibri"/>
              </a:rPr>
              <a:t>WER 0%   /   IS 5.00   /   mean_prob = 0.988   (VSP_NBEST=1, joint band rule)</a:t>
            </a:r>
          </a:p>
        </p:txBody>
      </p:sp>
      <p:sp>
        <p:nvSpPr>
          <p:cNvPr id="5" name="Rectangle 4"/>
          <p:cNvSpPr/>
          <p:nvPr/>
        </p:nvSpPr>
        <p:spPr>
          <a:xfrm>
            <a:off x="9445752" y="1371600"/>
            <a:ext cx="2194560" cy="365760"/>
          </a:xfrm>
          <a:prstGeom prst="rect">
            <a:avLst/>
          </a:prstGeom>
          <a:solidFill>
            <a:srgbClr val="1A3550"/>
          </a:solidFill>
          <a:ln w="12700">
            <a:solidFill>
              <a:srgbClr val="4F8F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45752" y="1371600"/>
            <a:ext cx="2194560" cy="411480"/>
          </a:xfrm>
          <a:prstGeom prst="rect">
            <a:avLst/>
          </a:prstGeom>
          <a:noFill/>
        </p:spPr>
        <p:txBody>
          <a:bodyPr wrap="square" anchor="t"/>
          <a:lstStyle/>
          <a:p>
            <a:pPr algn="ctr"/>
            <a:r>
              <a:rPr sz="2000" b="1" i="0">
                <a:solidFill>
                  <a:srgbClr val="4F8FF7"/>
                </a:solidFill>
                <a:latin typeface="Calibri"/>
              </a:rPr>
              <a:t>TIER: TRUST</a:t>
            </a:r>
          </a:p>
        </p:txBody>
      </p:sp>
      <mc:AlternateContent>
        <mc:Choice Requires="p14">
          <p:pic>
            <p:nvPicPr>
              <p:cNvPr id="7" name="K0h33Ps7vz4_11__e66d3063_with_hyp.mp4"/>
              <p:cNvPicPr>
                <a:picLocks noChangeAspect="1"/>
              </p:cNvPicPr>
              <p:nvPr>
                <a:videoFile r:link="rId3"/>
                <p:extLst>
                  <p:ext uri="{DAA4B4D4-6D71-4841-9C94-3DE7FCFB9230}">
                    <p14:media r:embed="rId2"/>
                  </p:ext>
                </p:extLst>
              </p:nvPr>
            </p:nvPicPr>
            <p:blipFill>
              <a:blip r:embed="rId4"/>
              <a:stretch>
                <a:fillRect/>
              </a:stretch>
            </p:blipFill>
            <p:spPr>
              <a:xfrm>
                <a:off x="3627120" y="1828800"/>
                <a:ext cx="4937760" cy="2377440"/>
              </a:xfrm>
              <a:prstGeom prst="rect">
                <a:avLst/>
              </a:prstGeom>
            </p:spPr>
          </p:pic>
        </mc:Choice>
        <mc:Fallback>
          <p:pic>
            <p:nvPicPr>
              <p:cNvPr id="7" name="K0h33Ps7vz4_11__e66d3063_with_hyp.mp4"/>
              <p:cNvPicPr>
                <a:picLocks noChangeAspect="1"/>
              </p:cNvPicPr>
              <p:nvPr/>
            </p:nvPicPr>
            <p:blipFill>
              <a:blip r:embed="rId4"/>
              <a:stretch>
                <a:fillRect/>
              </a:stretch>
            </p:blipFill>
            <p:spPr>
              <a:xfrm>
                <a:off x="3627120" y="1828800"/>
                <a:ext cx="4937760" cy="2377440"/>
              </a:xfrm>
              <a:prstGeom prst="rect">
                <a:avLst/>
              </a:prstGeom>
            </p:spPr>
          </p:pic>
        </mc:Fallback>
      </mc:AlternateContent>
      <p:sp>
        <p:nvSpPr>
          <p:cNvPr id="8" name="TextBox 7"/>
          <p:cNvSpPr txBox="1"/>
          <p:nvPr/>
        </p:nvSpPr>
        <p:spPr>
          <a:xfrm>
            <a:off x="548640" y="4279392"/>
            <a:ext cx="11091672" cy="256032"/>
          </a:xfrm>
          <a:prstGeom prst="rect">
            <a:avLst/>
          </a:prstGeom>
          <a:noFill/>
        </p:spPr>
        <p:txBody>
          <a:bodyPr wrap="square" anchor="t"/>
          <a:lstStyle/>
          <a:p>
            <a:pPr algn="l"/>
            <a:r>
              <a:rPr sz="2200" b="1" i="0">
                <a:solidFill>
                  <a:srgbClr val="AAAAAA"/>
                </a:solidFill>
                <a:latin typeface="Calibri"/>
              </a:rPr>
              <a:t>REFERENCE</a:t>
            </a:r>
          </a:p>
        </p:txBody>
      </p:sp>
      <p:sp>
        <p:nvSpPr>
          <p:cNvPr id="9" name="TextBox 8"/>
          <p:cNvSpPr txBox="1"/>
          <p:nvPr/>
        </p:nvSpPr>
        <p:spPr>
          <a:xfrm>
            <a:off x="548640" y="4535424"/>
            <a:ext cx="11091672" cy="438912"/>
          </a:xfrm>
          <a:prstGeom prst="rect">
            <a:avLst/>
          </a:prstGeom>
          <a:noFill/>
        </p:spPr>
        <p:txBody>
          <a:bodyPr wrap="square" anchor="t"/>
          <a:lstStyle/>
          <a:p>
            <a:pPr algn="l"/>
            <a:r>
              <a:rPr sz="1800" b="0" i="1">
                <a:solidFill>
                  <a:srgbClr val="AAAAAA"/>
                </a:solidFill>
                <a:latin typeface="Calibri"/>
              </a:rPr>
              <a:t>to this wave of artificial intelligence that is slowly taking place</a:t>
            </a:r>
          </a:p>
        </p:txBody>
      </p:sp>
      <p:sp>
        <p:nvSpPr>
          <p:cNvPr id="10" name="TextBox 9"/>
          <p:cNvSpPr txBox="1"/>
          <p:nvPr/>
        </p:nvSpPr>
        <p:spPr>
          <a:xfrm>
            <a:off x="548640" y="5047488"/>
            <a:ext cx="11091672" cy="256032"/>
          </a:xfrm>
          <a:prstGeom prst="rect">
            <a:avLst/>
          </a:prstGeom>
          <a:noFill/>
        </p:spPr>
        <p:txBody>
          <a:bodyPr wrap="square" anchor="t"/>
          <a:lstStyle/>
          <a:p>
            <a:pPr algn="l"/>
            <a:r>
              <a:rPr sz="2000" b="1" i="0">
                <a:solidFill>
                  <a:srgbClr val="FFFFFF"/>
                </a:solidFill>
                <a:latin typeface="Calibri"/>
              </a:rPr>
              <a:t>HYPOTHESIS  (per-word confidence)</a:t>
            </a:r>
          </a:p>
        </p:txBody>
      </p:sp>
      <p:sp>
        <p:nvSpPr>
          <p:cNvPr id="11" name="TextBox 10"/>
          <p:cNvSpPr txBox="1"/>
          <p:nvPr/>
        </p:nvSpPr>
        <p:spPr>
          <a:xfrm>
            <a:off x="548640" y="5303520"/>
            <a:ext cx="11091672" cy="868680"/>
          </a:xfrm>
          <a:prstGeom prst="rect">
            <a:avLst/>
          </a:prstGeom>
          <a:noFill/>
        </p:spPr>
        <p:txBody>
          <a:bodyPr wrap="square">
            <a:spAutoFit/>
          </a:bodyPr>
          <a:lstStyle/>
          <a:p>
            <a:pPr algn="l">
              <a:spcAft>
                <a:spcPts val="600"/>
              </a:spcAft>
            </a:pPr>
            <a:r>
              <a:rPr sz="2200" b="0" i="0">
                <a:solidFill>
                  <a:srgbClr val="4F8FF7"/>
                </a:solidFill>
                <a:latin typeface="Calibri"/>
              </a:rPr>
              <a:t>to this wave of </a:t>
            </a:r>
            <a:r>
              <a:rPr sz="2200" b="1" i="0">
                <a:solidFill>
                  <a:srgbClr val="4F8FF7"/>
                </a:solidFill>
                <a:latin typeface="Calibri"/>
              </a:rPr>
              <a:t>artificial intelligence </a:t>
            </a:r>
            <a:r>
              <a:rPr sz="2200" b="0" i="0">
                <a:solidFill>
                  <a:srgbClr val="4F8FF7"/>
                </a:solidFill>
                <a:latin typeface="Calibri"/>
              </a:rPr>
              <a:t>that is slowly taking place</a:t>
            </a:r>
          </a:p>
        </p:txBody>
      </p:sp>
      <p:sp>
        <p:nvSpPr>
          <p:cNvPr id="12" name="TextBox 11"/>
          <p:cNvSpPr txBox="1"/>
          <p:nvPr/>
        </p:nvSpPr>
        <p:spPr>
          <a:xfrm>
            <a:off x="548640" y="6199632"/>
            <a:ext cx="11091672" cy="246888"/>
          </a:xfrm>
          <a:prstGeom prst="rect">
            <a:avLst/>
          </a:prstGeom>
          <a:noFill/>
        </p:spPr>
        <p:txBody>
          <a:bodyPr wrap="square" anchor="t"/>
          <a:lstStyle/>
          <a:p>
            <a:pPr algn="ctr"/>
            <a:r>
              <a:rPr sz="1800" b="0" i="1">
                <a:solidFill>
                  <a:srgbClr val="AAAAAA"/>
                </a:solidFill>
                <a:latin typeface="Calibri"/>
              </a:rPr>
              <a:t>Every word GREEN under the joint rule. Diverse speaker, Indian-English accent, perfect transcription.</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
</file>

<file path=ppt/slides/slide60.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Demo — SALVAGE: structure preserved, vocabulary lost</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8714232" cy="365760"/>
          </a:xfrm>
          <a:prstGeom prst="rect">
            <a:avLst/>
          </a:prstGeom>
          <a:noFill/>
        </p:spPr>
        <p:txBody>
          <a:bodyPr wrap="square" anchor="t"/>
          <a:lstStyle/>
          <a:p>
            <a:pPr algn="l"/>
            <a:r>
              <a:rPr sz="1800" b="0" i="1">
                <a:solidFill>
                  <a:srgbClr val="AAAAAA"/>
                </a:solidFill>
                <a:latin typeface="Calibri"/>
              </a:rPr>
              <a:t>WER 43%  /  IS 2.66 (Salvage)  /  mean_prob 0.739  /  joint rule</a:t>
            </a:r>
          </a:p>
        </p:txBody>
      </p:sp>
      <p:sp>
        <p:nvSpPr>
          <p:cNvPr id="5" name="Rectangle 4"/>
          <p:cNvSpPr/>
          <p:nvPr/>
        </p:nvSpPr>
        <p:spPr>
          <a:xfrm>
            <a:off x="9445752" y="1371600"/>
            <a:ext cx="2194560" cy="365760"/>
          </a:xfrm>
          <a:prstGeom prst="rect">
            <a:avLst/>
          </a:prstGeom>
          <a:solidFill>
            <a:srgbClr val="1A3550"/>
          </a:solidFill>
          <a:ln w="127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45752" y="1371600"/>
            <a:ext cx="2194560" cy="411480"/>
          </a:xfrm>
          <a:prstGeom prst="rect">
            <a:avLst/>
          </a:prstGeom>
          <a:noFill/>
        </p:spPr>
        <p:txBody>
          <a:bodyPr wrap="square" anchor="t"/>
          <a:lstStyle/>
          <a:p>
            <a:pPr algn="ctr"/>
            <a:r>
              <a:rPr sz="2000" b="1" i="0">
                <a:solidFill>
                  <a:srgbClr val="FF9800"/>
                </a:solidFill>
                <a:latin typeface="Calibri"/>
              </a:rPr>
              <a:t>TIER: INSPECT</a:t>
            </a:r>
          </a:p>
        </p:txBody>
      </p:sp>
      <mc:AlternateContent>
        <mc:Choice Requires="p14">
          <p:pic>
            <p:nvPicPr>
              <p:cNvPr id="7" name="9HanJOCw2Sc_11__19c7ec4e_with_hyp.mp4"/>
              <p:cNvPicPr>
                <a:picLocks noChangeAspect="1"/>
              </p:cNvPicPr>
              <p:nvPr>
                <a:videoFile r:link="rId3"/>
                <p:extLst>
                  <p:ext uri="{DAA4B4D4-6D71-4841-9C94-3DE7FCFB9230}">
                    <p14:media r:embed="rId2"/>
                  </p:ext>
                </p:extLst>
              </p:nvPr>
            </p:nvPicPr>
            <p:blipFill>
              <a:blip r:embed="rId4"/>
              <a:stretch>
                <a:fillRect/>
              </a:stretch>
            </p:blipFill>
            <p:spPr>
              <a:xfrm>
                <a:off x="3627120" y="1828800"/>
                <a:ext cx="4937760" cy="2377440"/>
              </a:xfrm>
              <a:prstGeom prst="rect">
                <a:avLst/>
              </a:prstGeom>
            </p:spPr>
          </p:pic>
        </mc:Choice>
        <mc:Fallback>
          <p:pic>
            <p:nvPicPr>
              <p:cNvPr id="7" name="9HanJOCw2Sc_11__19c7ec4e_with_hyp.mp4"/>
              <p:cNvPicPr>
                <a:picLocks noChangeAspect="1"/>
              </p:cNvPicPr>
              <p:nvPr/>
            </p:nvPicPr>
            <p:blipFill>
              <a:blip r:embed="rId4"/>
              <a:stretch>
                <a:fillRect/>
              </a:stretch>
            </p:blipFill>
            <p:spPr>
              <a:xfrm>
                <a:off x="3627120" y="1828800"/>
                <a:ext cx="4937760" cy="2377440"/>
              </a:xfrm>
              <a:prstGeom prst="rect">
                <a:avLst/>
              </a:prstGeom>
            </p:spPr>
          </p:pic>
        </mc:Fallback>
      </mc:AlternateContent>
      <p:sp>
        <p:nvSpPr>
          <p:cNvPr id="8" name="TextBox 7"/>
          <p:cNvSpPr txBox="1"/>
          <p:nvPr/>
        </p:nvSpPr>
        <p:spPr>
          <a:xfrm>
            <a:off x="548640" y="4279392"/>
            <a:ext cx="11091672" cy="256032"/>
          </a:xfrm>
          <a:prstGeom prst="rect">
            <a:avLst/>
          </a:prstGeom>
          <a:noFill/>
        </p:spPr>
        <p:txBody>
          <a:bodyPr wrap="square" anchor="t"/>
          <a:lstStyle/>
          <a:p>
            <a:pPr algn="l"/>
            <a:r>
              <a:rPr sz="2200" b="1" i="0">
                <a:solidFill>
                  <a:srgbClr val="AAAAAA"/>
                </a:solidFill>
                <a:latin typeface="Calibri"/>
              </a:rPr>
              <a:t>REFERENCE</a:t>
            </a:r>
          </a:p>
        </p:txBody>
      </p:sp>
      <p:sp>
        <p:nvSpPr>
          <p:cNvPr id="9" name="TextBox 8"/>
          <p:cNvSpPr txBox="1"/>
          <p:nvPr/>
        </p:nvSpPr>
        <p:spPr>
          <a:xfrm>
            <a:off x="548640" y="4535424"/>
            <a:ext cx="11091672" cy="438912"/>
          </a:xfrm>
          <a:prstGeom prst="rect">
            <a:avLst/>
          </a:prstGeom>
          <a:noFill/>
        </p:spPr>
        <p:txBody>
          <a:bodyPr wrap="square" anchor="t"/>
          <a:lstStyle/>
          <a:p>
            <a:pPr algn="l"/>
            <a:r>
              <a:rPr sz="1800" b="0" i="1">
                <a:solidFill>
                  <a:srgbClr val="AAAAAA"/>
                </a:solidFill>
                <a:latin typeface="Calibri"/>
              </a:rPr>
              <a:t>couples us to light cycles in our environment tells us when to sleep tells us when to make cortisol tells us when to make testosterone basically switches on</a:t>
            </a:r>
          </a:p>
        </p:txBody>
      </p:sp>
      <p:sp>
        <p:nvSpPr>
          <p:cNvPr id="10" name="TextBox 9"/>
          <p:cNvSpPr txBox="1"/>
          <p:nvPr/>
        </p:nvSpPr>
        <p:spPr>
          <a:xfrm>
            <a:off x="548640" y="5047488"/>
            <a:ext cx="11091672" cy="256032"/>
          </a:xfrm>
          <a:prstGeom prst="rect">
            <a:avLst/>
          </a:prstGeom>
          <a:noFill/>
        </p:spPr>
        <p:txBody>
          <a:bodyPr wrap="square" anchor="t"/>
          <a:lstStyle/>
          <a:p>
            <a:pPr algn="l"/>
            <a:r>
              <a:rPr sz="2000" b="1" i="0">
                <a:solidFill>
                  <a:srgbClr val="FFFFFF"/>
                </a:solidFill>
                <a:latin typeface="Calibri"/>
              </a:rPr>
              <a:t>HYPOTHESIS  (per-word confidence)</a:t>
            </a:r>
          </a:p>
        </p:txBody>
      </p:sp>
      <p:sp>
        <p:nvSpPr>
          <p:cNvPr id="11" name="TextBox 10"/>
          <p:cNvSpPr txBox="1"/>
          <p:nvPr/>
        </p:nvSpPr>
        <p:spPr>
          <a:xfrm>
            <a:off x="548640" y="5303520"/>
            <a:ext cx="11091672" cy="868680"/>
          </a:xfrm>
          <a:prstGeom prst="rect">
            <a:avLst/>
          </a:prstGeom>
          <a:noFill/>
        </p:spPr>
        <p:txBody>
          <a:bodyPr wrap="square">
            <a:spAutoFit/>
          </a:bodyPr>
          <a:lstStyle/>
          <a:p>
            <a:pPr algn="l">
              <a:spcAft>
                <a:spcPts val="600"/>
              </a:spcAft>
            </a:pPr>
            <a:r>
              <a:rPr sz="2200" b="0" i="0">
                <a:solidFill>
                  <a:srgbClr val="4F8FF7"/>
                </a:solidFill>
                <a:latin typeface="Calibri"/>
              </a:rPr>
              <a:t>tells us when to make </a:t>
            </a:r>
            <a:r>
              <a:rPr sz="2200" b="1" i="0">
                <a:solidFill>
                  <a:srgbClr val="B066D9"/>
                </a:solidFill>
                <a:latin typeface="Calibri"/>
              </a:rPr>
              <a:t>stops</a:t>
            </a:r>
            <a:r>
              <a:rPr sz="2200" b="0" i="0">
                <a:solidFill>
                  <a:srgbClr val="AAAAAA"/>
                </a:solidFill>
                <a:latin typeface="Calibri"/>
              </a:rPr>
              <a:t> — vs ref's </a:t>
            </a:r>
            <a:r>
              <a:rPr sz="2200" b="0" i="1">
                <a:solidFill>
                  <a:srgbClr val="FF9800"/>
                </a:solidFill>
                <a:latin typeface="Calibri"/>
              </a:rPr>
              <a:t>cortisol/testosterone</a:t>
            </a:r>
          </a:p>
        </p:txBody>
      </p:sp>
      <p:sp>
        <p:nvSpPr>
          <p:cNvPr id="12" name="TextBox 11"/>
          <p:cNvSpPr txBox="1"/>
          <p:nvPr/>
        </p:nvSpPr>
        <p:spPr>
          <a:xfrm>
            <a:off x="548640" y="6199632"/>
            <a:ext cx="11091672" cy="246888"/>
          </a:xfrm>
          <a:prstGeom prst="rect">
            <a:avLst/>
          </a:prstGeom>
          <a:noFill/>
        </p:spPr>
        <p:txBody>
          <a:bodyPr wrap="square" anchor="t"/>
          <a:lstStyle/>
          <a:p>
            <a:pPr algn="ctr"/>
            <a:r>
              <a:rPr sz="1800" b="0" i="1">
                <a:solidFill>
                  <a:srgbClr val="AAAAAA"/>
                </a:solidFill>
                <a:latin typeface="Calibri"/>
              </a:rPr>
              <a:t>Repeating 'tells us when to X' structure preserved, but domain vocabulary (cortisol, testosterone) replaced.</a:t>
            </a:r>
          </a:p>
        </p:txBody>
      </p:sp>
      <p:pic>
        <p:nvPicPr>
          <p:cNvPr id="13" name="Picture 12" descr="WhiteLogo.jpeg"/>
          <p:cNvPicPr>
            <a:picLocks noChangeAspect="1"/>
          </p:cNvPicPr>
          <p:nvPr/>
        </p:nvPicPr>
        <p:blipFill>
          <a:blip r:embed="rId5"/>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Lst>
  </p:timing>
</p:sld>
</file>

<file path=ppt/slides/slide61.xml><?xml version="1.0" encoding="utf-8"?>
<p:sld xmlns:a="http://schemas.openxmlformats.org/drawingml/2006/main" xmlns:p="http://schemas.openxmlformats.org/presentationml/2006/main" xmlns:r="http://schemas.openxmlformats.org/officeDocument/2006/relationships" xmlns:mc="http://schemas.openxmlformats.org/markup-compatibility/2006" xmlns:p14="http://schemas.microsoft.com/office/powerpoint/2010/main" mc:Ignorable="p14">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Demo: Where Word Accuracy and Meaning Diverge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mc:Choice Requires="p14">
          <p:pic>
            <p:nvPicPr>
              <p:cNvPr id="4" name="2HddWQse8Mw_0__8ecb0409_with_hyp.mp4"/>
              <p:cNvPicPr>
                <a:picLocks noChangeAspect="1"/>
              </p:cNvPicPr>
              <p:nvPr>
                <a:videoFile r:link="rId3"/>
                <p:extLst>
                  <p:ext uri="{DAA4B4D4-6D71-4841-9C94-3DE7FCFB9230}">
                    <p14:media r:embed="rId2"/>
                  </p:ext>
                </p:extLst>
              </p:nvPr>
            </p:nvPicPr>
            <p:blipFill>
              <a:blip r:embed="rId4"/>
              <a:stretch>
                <a:fillRect/>
              </a:stretch>
            </p:blipFill>
            <p:spPr>
              <a:xfrm>
                <a:off x="548640" y="1371600"/>
                <a:ext cx="5349240" cy="2423160"/>
              </a:xfrm>
              <a:prstGeom prst="rect">
                <a:avLst/>
              </a:prstGeom>
            </p:spPr>
          </p:pic>
        </mc:Choice>
        <mc:Fallback>
          <p:pic>
            <p:nvPicPr>
              <p:cNvPr id="4" name="2HddWQse8Mw_0__8ecb0409_with_hyp.mp4"/>
              <p:cNvPicPr>
                <a:picLocks noChangeAspect="1"/>
              </p:cNvPicPr>
              <p:nvPr/>
            </p:nvPicPr>
            <p:blipFill>
              <a:blip r:embed="rId4"/>
              <a:stretch>
                <a:fillRect/>
              </a:stretch>
            </p:blipFill>
            <p:spPr>
              <a:xfrm>
                <a:off x="548640" y="1371600"/>
                <a:ext cx="5349240" cy="2423160"/>
              </a:xfrm>
              <a:prstGeom prst="rect">
                <a:avLst/>
              </a:prstGeom>
            </p:spPr>
          </p:pic>
        </mc:Fallback>
      </mc:AlternateContent>
      <p:sp>
        <p:nvSpPr>
          <p:cNvPr id="5" name="TextBox 4"/>
          <p:cNvSpPr txBox="1"/>
          <p:nvPr/>
        </p:nvSpPr>
        <p:spPr>
          <a:xfrm>
            <a:off x="548640" y="3858768"/>
            <a:ext cx="5349240" cy="457200"/>
          </a:xfrm>
          <a:prstGeom prst="rect">
            <a:avLst/>
          </a:prstGeom>
          <a:noFill/>
        </p:spPr>
        <p:txBody>
          <a:bodyPr wrap="square" anchor="t"/>
          <a:lstStyle/>
          <a:p>
            <a:pPr algn="ctr"/>
            <a:r>
              <a:rPr sz="2400" b="1" i="0">
                <a:solidFill>
                  <a:srgbClr val="FF9800"/>
                </a:solidFill>
                <a:latin typeface="Calibri"/>
              </a:rPr>
              <a:t>Right Topic, Names Lost</a:t>
            </a:r>
          </a:p>
        </p:txBody>
      </p:sp>
      <p:sp>
        <p:nvSpPr>
          <p:cNvPr id="6" name="TextBox 5"/>
          <p:cNvSpPr txBox="1"/>
          <p:nvPr/>
        </p:nvSpPr>
        <p:spPr>
          <a:xfrm>
            <a:off x="548640" y="4361688"/>
            <a:ext cx="5349240" cy="329184"/>
          </a:xfrm>
          <a:prstGeom prst="rect">
            <a:avLst/>
          </a:prstGeom>
          <a:noFill/>
        </p:spPr>
        <p:txBody>
          <a:bodyPr wrap="square" anchor="t"/>
          <a:lstStyle/>
          <a:p>
            <a:pPr algn="ctr"/>
            <a:r>
              <a:rPr sz="1800" b="1" i="0">
                <a:solidFill>
                  <a:srgbClr val="FFFFFF"/>
                </a:solidFill>
                <a:latin typeface="Calibri"/>
              </a:rPr>
              <a:t>WER 56%  ·  IS 2.91 (Fair)  ·  INSPECT</a:t>
            </a:r>
          </a:p>
        </p:txBody>
      </p:sp>
      <p:sp>
        <p:nvSpPr>
          <p:cNvPr id="7" name="TextBox 6"/>
          <p:cNvSpPr txBox="1"/>
          <p:nvPr/>
        </p:nvSpPr>
        <p:spPr>
          <a:xfrm>
            <a:off x="548640" y="4736592"/>
            <a:ext cx="5349240" cy="256032"/>
          </a:xfrm>
          <a:prstGeom prst="rect">
            <a:avLst/>
          </a:prstGeom>
          <a:noFill/>
        </p:spPr>
        <p:txBody>
          <a:bodyPr wrap="square" anchor="t"/>
          <a:lstStyle/>
          <a:p>
            <a:pPr algn="l"/>
            <a:r>
              <a:rPr sz="1800" b="1" i="0">
                <a:solidFill>
                  <a:srgbClr val="AAAAAA"/>
                </a:solidFill>
                <a:latin typeface="Calibri"/>
              </a:rPr>
              <a:t>REFERENCE</a:t>
            </a:r>
          </a:p>
        </p:txBody>
      </p:sp>
      <p:sp>
        <p:nvSpPr>
          <p:cNvPr id="8" name="TextBox 7"/>
          <p:cNvSpPr txBox="1"/>
          <p:nvPr/>
        </p:nvSpPr>
        <p:spPr>
          <a:xfrm>
            <a:off x="548640" y="5020056"/>
            <a:ext cx="5349240" cy="502920"/>
          </a:xfrm>
          <a:prstGeom prst="rect">
            <a:avLst/>
          </a:prstGeom>
          <a:noFill/>
        </p:spPr>
        <p:txBody>
          <a:bodyPr wrap="square" anchor="t"/>
          <a:lstStyle/>
          <a:p>
            <a:pPr algn="l"/>
            <a:r>
              <a:rPr sz="1800" b="0" i="1">
                <a:solidFill>
                  <a:srgbClr val="AAAAAA"/>
                </a:solidFill>
                <a:latin typeface="Calibri"/>
              </a:rPr>
              <a:t>“james and will talk about street photography”</a:t>
            </a:r>
          </a:p>
        </p:txBody>
      </p:sp>
      <p:sp>
        <p:nvSpPr>
          <p:cNvPr id="9" name="TextBox 8"/>
          <p:cNvSpPr txBox="1"/>
          <p:nvPr/>
        </p:nvSpPr>
        <p:spPr>
          <a:xfrm>
            <a:off x="548640" y="5568696"/>
            <a:ext cx="5349240" cy="256032"/>
          </a:xfrm>
          <a:prstGeom prst="rect">
            <a:avLst/>
          </a:prstGeom>
          <a:noFill/>
        </p:spPr>
        <p:txBody>
          <a:bodyPr wrap="square" anchor="t"/>
          <a:lstStyle/>
          <a:p>
            <a:pPr algn="l"/>
            <a:r>
              <a:rPr sz="1800" b="1" i="0">
                <a:solidFill>
                  <a:srgbClr val="FFFFFF"/>
                </a:solidFill>
                <a:latin typeface="Calibri"/>
              </a:rPr>
              <a:t>HYPOTHESIS</a:t>
            </a:r>
          </a:p>
        </p:txBody>
      </p:sp>
      <p:sp>
        <p:nvSpPr>
          <p:cNvPr id="10" name="TextBox 9"/>
          <p:cNvSpPr txBox="1"/>
          <p:nvPr/>
        </p:nvSpPr>
        <p:spPr>
          <a:xfrm>
            <a:off x="548640" y="5852160"/>
            <a:ext cx="5349240" cy="548640"/>
          </a:xfrm>
          <a:prstGeom prst="rect">
            <a:avLst/>
          </a:prstGeom>
          <a:noFill/>
        </p:spPr>
        <p:txBody>
          <a:bodyPr wrap="square" anchor="t"/>
          <a:lstStyle/>
          <a:p>
            <a:pPr algn="l"/>
            <a:r>
              <a:rPr sz="1800" b="0" i="1">
                <a:solidFill>
                  <a:srgbClr val="FF9800"/>
                </a:solidFill>
                <a:latin typeface="Calibri"/>
              </a:rPr>
              <a:t>“i'm here to talk about street photography”</a:t>
            </a:r>
          </a:p>
        </p:txBody>
      </p:sp>
      <mc:AlternateContent>
        <mc:Choice Requires="p14">
          <p:pic>
            <p:nvPicPr>
              <p:cNvPr id="11" name="00MUdHQ7GGY_8__b1480c7a_with_hyp.mp4"/>
              <p:cNvPicPr>
                <a:picLocks noChangeAspect="1"/>
              </p:cNvPicPr>
              <p:nvPr>
                <a:videoFile r:link="rId6"/>
                <p:extLst>
                  <p:ext uri="{DAA4B4D4-6D71-4841-9C94-3DE7FCFB9230}">
                    <p14:media r:embed="rId5"/>
                  </p:ext>
                </p:extLst>
              </p:nvPr>
            </p:nvPicPr>
            <p:blipFill>
              <a:blip r:embed="rId7"/>
              <a:stretch>
                <a:fillRect/>
              </a:stretch>
            </p:blipFill>
            <p:spPr>
              <a:xfrm>
                <a:off x="6291072" y="1371600"/>
                <a:ext cx="5349240" cy="2423160"/>
              </a:xfrm>
              <a:prstGeom prst="rect">
                <a:avLst/>
              </a:prstGeom>
            </p:spPr>
          </p:pic>
        </mc:Choice>
        <mc:Fallback>
          <p:pic>
            <p:nvPicPr>
              <p:cNvPr id="11" name="00MUdHQ7GGY_8__b1480c7a_with_hyp.mp4"/>
              <p:cNvPicPr>
                <a:picLocks noChangeAspect="1"/>
              </p:cNvPicPr>
              <p:nvPr/>
            </p:nvPicPr>
            <p:blipFill>
              <a:blip r:embed="rId7"/>
              <a:stretch>
                <a:fillRect/>
              </a:stretch>
            </p:blipFill>
            <p:spPr>
              <a:xfrm>
                <a:off x="6291072" y="1371600"/>
                <a:ext cx="5349240" cy="2423160"/>
              </a:xfrm>
              <a:prstGeom prst="rect">
                <a:avLst/>
              </a:prstGeom>
            </p:spPr>
          </p:pic>
        </mc:Fallback>
      </mc:AlternateContent>
      <p:sp>
        <p:nvSpPr>
          <p:cNvPr id="12" name="TextBox 11"/>
          <p:cNvSpPr txBox="1"/>
          <p:nvPr/>
        </p:nvSpPr>
        <p:spPr>
          <a:xfrm>
            <a:off x="6291072" y="3858768"/>
            <a:ext cx="5349240" cy="457200"/>
          </a:xfrm>
          <a:prstGeom prst="rect">
            <a:avLst/>
          </a:prstGeom>
          <a:noFill/>
        </p:spPr>
        <p:txBody>
          <a:bodyPr wrap="square" anchor="t"/>
          <a:lstStyle/>
          <a:p>
            <a:pPr algn="ctr"/>
            <a:r>
              <a:rPr sz="2400" b="1" i="0">
                <a:solidFill>
                  <a:srgbClr val="F44336"/>
                </a:solidFill>
                <a:latin typeface="Calibri"/>
              </a:rPr>
              <a:t>Hallucination</a:t>
            </a:r>
          </a:p>
        </p:txBody>
      </p:sp>
      <p:sp>
        <p:nvSpPr>
          <p:cNvPr id="13" name="TextBox 12"/>
          <p:cNvSpPr txBox="1"/>
          <p:nvPr/>
        </p:nvSpPr>
        <p:spPr>
          <a:xfrm>
            <a:off x="6291072" y="4361688"/>
            <a:ext cx="5349240" cy="329184"/>
          </a:xfrm>
          <a:prstGeom prst="rect">
            <a:avLst/>
          </a:prstGeom>
          <a:noFill/>
        </p:spPr>
        <p:txBody>
          <a:bodyPr wrap="square" anchor="t"/>
          <a:lstStyle/>
          <a:p>
            <a:pPr algn="ctr"/>
            <a:r>
              <a:rPr sz="1800" b="1" i="0">
                <a:solidFill>
                  <a:srgbClr val="FFFFFF"/>
                </a:solidFill>
                <a:latin typeface="Calibri"/>
              </a:rPr>
              <a:t>WER 100%  ·  IS 0.81 (Failed)  ·  STRIP</a:t>
            </a:r>
          </a:p>
        </p:txBody>
      </p:sp>
      <p:sp>
        <p:nvSpPr>
          <p:cNvPr id="14" name="TextBox 13"/>
          <p:cNvSpPr txBox="1"/>
          <p:nvPr/>
        </p:nvSpPr>
        <p:spPr>
          <a:xfrm>
            <a:off x="6291072" y="4736592"/>
            <a:ext cx="5349240" cy="256032"/>
          </a:xfrm>
          <a:prstGeom prst="rect">
            <a:avLst/>
          </a:prstGeom>
          <a:noFill/>
        </p:spPr>
        <p:txBody>
          <a:bodyPr wrap="square" anchor="t"/>
          <a:lstStyle/>
          <a:p>
            <a:pPr algn="l"/>
            <a:r>
              <a:rPr sz="1800" b="1" i="0">
                <a:solidFill>
                  <a:srgbClr val="AAAAAA"/>
                </a:solidFill>
                <a:latin typeface="Calibri"/>
              </a:rPr>
              <a:t>REFERENCE</a:t>
            </a:r>
          </a:p>
        </p:txBody>
      </p:sp>
      <p:sp>
        <p:nvSpPr>
          <p:cNvPr id="15" name="TextBox 14"/>
          <p:cNvSpPr txBox="1"/>
          <p:nvPr/>
        </p:nvSpPr>
        <p:spPr>
          <a:xfrm>
            <a:off x="6291072" y="5020056"/>
            <a:ext cx="5349240" cy="502920"/>
          </a:xfrm>
          <a:prstGeom prst="rect">
            <a:avLst/>
          </a:prstGeom>
          <a:noFill/>
        </p:spPr>
        <p:txBody>
          <a:bodyPr wrap="square" anchor="t"/>
          <a:lstStyle/>
          <a:p>
            <a:pPr algn="l"/>
            <a:r>
              <a:rPr sz="1800" b="0" i="1">
                <a:solidFill>
                  <a:srgbClr val="AAAAAA"/>
                </a:solidFill>
                <a:latin typeface="Calibri"/>
              </a:rPr>
              <a:t>“…it doesn't have a carry strap”</a:t>
            </a:r>
          </a:p>
        </p:txBody>
      </p:sp>
      <p:sp>
        <p:nvSpPr>
          <p:cNvPr id="16" name="TextBox 15"/>
          <p:cNvSpPr txBox="1"/>
          <p:nvPr/>
        </p:nvSpPr>
        <p:spPr>
          <a:xfrm>
            <a:off x="6291072" y="5568696"/>
            <a:ext cx="5349240" cy="256032"/>
          </a:xfrm>
          <a:prstGeom prst="rect">
            <a:avLst/>
          </a:prstGeom>
          <a:noFill/>
        </p:spPr>
        <p:txBody>
          <a:bodyPr wrap="square" anchor="t"/>
          <a:lstStyle/>
          <a:p>
            <a:pPr algn="l"/>
            <a:r>
              <a:rPr sz="1800" b="1" i="0">
                <a:solidFill>
                  <a:srgbClr val="FFFFFF"/>
                </a:solidFill>
                <a:latin typeface="Calibri"/>
              </a:rPr>
              <a:t>HYPOTHESIS</a:t>
            </a:r>
          </a:p>
        </p:txBody>
      </p:sp>
      <p:sp>
        <p:nvSpPr>
          <p:cNvPr id="17" name="TextBox 16"/>
          <p:cNvSpPr txBox="1"/>
          <p:nvPr/>
        </p:nvSpPr>
        <p:spPr>
          <a:xfrm>
            <a:off x="6291072" y="5852160"/>
            <a:ext cx="5349240" cy="548640"/>
          </a:xfrm>
          <a:prstGeom prst="rect">
            <a:avLst/>
          </a:prstGeom>
          <a:noFill/>
        </p:spPr>
        <p:txBody>
          <a:bodyPr wrap="square" anchor="t"/>
          <a:lstStyle/>
          <a:p>
            <a:pPr algn="l"/>
            <a:r>
              <a:rPr sz="1800" b="0" i="1">
                <a:solidFill>
                  <a:srgbClr val="F44336"/>
                </a:solidFill>
                <a:latin typeface="Calibri"/>
              </a:rPr>
              <a:t>“this is david irving he's a holocaust denier and a computer hacker”</a:t>
            </a:r>
          </a:p>
        </p:txBody>
      </p:sp>
      <p:pic>
        <p:nvPicPr>
          <p:cNvPr id="18" name="Picture 17" descr="WhiteLogo.jpeg"/>
          <p:cNvPicPr>
            <a:picLocks noChangeAspect="1"/>
          </p:cNvPicPr>
          <p:nvPr/>
        </p:nvPicPr>
        <p:blipFill>
          <a:blip r:embed="rId8"/>
          <a:stretch>
            <a:fillRect/>
          </a:stretch>
        </p:blipFill>
        <p:spPr>
          <a:xfrm>
            <a:off x="11323320" y="6428232"/>
            <a:ext cx="269634" cy="320040"/>
          </a:xfrm>
          <a:prstGeom prst="rect">
            <a:avLst/>
          </a:prstGeom>
        </p:spPr>
      </p:pic>
      <p:sp>
        <p:nvSpPr>
          <p:cNvPr id="19" name="TextBox 1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59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011680"/>
            <a:ext cx="11091672" cy="1097280"/>
          </a:xfrm>
          <a:prstGeom prst="rect">
            <a:avLst/>
          </a:prstGeom>
          <a:noFill/>
        </p:spPr>
        <p:txBody>
          <a:bodyPr wrap="square" anchor="t"/>
          <a:lstStyle/>
          <a:p>
            <a:pPr algn="ctr"/>
            <a:r>
              <a:rPr sz="4800" b="1" i="0">
                <a:solidFill>
                  <a:srgbClr val="E06C75"/>
                </a:solidFill>
                <a:latin typeface="Calibri"/>
              </a:rPr>
              <a:t>RESEARCH FINDINGS</a:t>
            </a:r>
          </a:p>
        </p:txBody>
      </p:sp>
      <p:sp>
        <p:nvSpPr>
          <p:cNvPr id="3" name="TextBox 2"/>
          <p:cNvSpPr txBox="1"/>
          <p:nvPr/>
        </p:nvSpPr>
        <p:spPr>
          <a:xfrm>
            <a:off x="548640" y="3200400"/>
            <a:ext cx="11091672" cy="1097280"/>
          </a:xfrm>
          <a:prstGeom prst="rect">
            <a:avLst/>
          </a:prstGeom>
          <a:noFill/>
        </p:spPr>
        <p:txBody>
          <a:bodyPr wrap="square" anchor="t"/>
          <a:lstStyle/>
          <a:p>
            <a:pPr algn="ctr"/>
            <a:r>
              <a:rPr sz="3000" b="0" i="0">
                <a:solidFill>
                  <a:srgbClr val="AAAAAA"/>
                </a:solidFill>
                <a:latin typeface="Calibri"/>
              </a:rPr>
              <a:t>Understanding What does “Working” mean, What Works, and Why</a:t>
            </a:r>
          </a:p>
        </p:txBody>
      </p:sp>
      <p:sp>
        <p:nvSpPr>
          <p:cNvPr id="4" name="Rectangle 3"/>
          <p:cNvSpPr/>
          <p:nvPr/>
        </p:nvSpPr>
        <p:spPr>
          <a:xfrm>
            <a:off x="4114800" y="3931920"/>
            <a:ext cx="3959352" cy="36576"/>
          </a:xfrm>
          <a:prstGeom prst="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60</a:t>
            </a:r>
          </a:p>
        </p:txBody>
      </p:sp>
    </p:spTree>
  </p:cSld>
  <p:clrMapOvr>
    <a:masterClrMapping/>
  </p:clrMapOvr>
  <p:transition spd="med"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Starting Point: Three Research Codebases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1040" y="1508760"/>
            <a:ext cx="3291840" cy="2560320"/>
          </a:xfrm>
          <a:prstGeom prst="roundRect">
            <a:avLst/>
          </a:prstGeom>
          <a:solidFill>
            <a:srgbClr val="152A40"/>
          </a:solidFill>
          <a:ln w="317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3920" y="1691640"/>
            <a:ext cx="2926080" cy="411480"/>
          </a:xfrm>
          <a:prstGeom prst="rect">
            <a:avLst/>
          </a:prstGeom>
          <a:noFill/>
        </p:spPr>
        <p:txBody>
          <a:bodyPr wrap="square" anchor="t"/>
          <a:lstStyle/>
          <a:p>
            <a:pPr algn="ctr"/>
            <a:r>
              <a:rPr sz="2800" b="1" i="0">
                <a:solidFill>
                  <a:srgbClr val="00B4D8"/>
                </a:solidFill>
                <a:latin typeface="Calibri"/>
              </a:rPr>
              <a:t>auto_avsr</a:t>
            </a:r>
          </a:p>
        </p:txBody>
      </p:sp>
      <p:sp>
        <p:nvSpPr>
          <p:cNvPr id="6" name="TextBox 5"/>
          <p:cNvSpPr txBox="1"/>
          <p:nvPr/>
        </p:nvSpPr>
        <p:spPr>
          <a:xfrm>
            <a:off x="883920" y="2148840"/>
            <a:ext cx="2926080" cy="320040"/>
          </a:xfrm>
          <a:prstGeom prst="rect">
            <a:avLst/>
          </a:prstGeom>
          <a:noFill/>
        </p:spPr>
        <p:txBody>
          <a:bodyPr wrap="square" anchor="t"/>
          <a:lstStyle/>
          <a:p>
            <a:pPr algn="ctr"/>
            <a:r>
              <a:rPr sz="2400" b="0" i="0">
                <a:solidFill>
                  <a:srgbClr val="FFFFFF"/>
                </a:solidFill>
                <a:latin typeface="Calibri"/>
              </a:rPr>
              <a:t>Preprocessing</a:t>
            </a:r>
          </a:p>
        </p:txBody>
      </p:sp>
      <p:sp>
        <p:nvSpPr>
          <p:cNvPr id="7" name="TextBox 6"/>
          <p:cNvSpPr txBox="1"/>
          <p:nvPr/>
        </p:nvSpPr>
        <p:spPr>
          <a:xfrm>
            <a:off x="883920" y="2697480"/>
            <a:ext cx="2926080" cy="1097280"/>
          </a:xfrm>
          <a:prstGeom prst="rect">
            <a:avLst/>
          </a:prstGeom>
          <a:noFill/>
        </p:spPr>
        <p:txBody>
          <a:bodyPr wrap="square" anchor="t"/>
          <a:lstStyle/>
          <a:p>
            <a:pPr algn="ctr"/>
            <a:r>
              <a:rPr sz="2400" b="0" i="0">
                <a:solidFill>
                  <a:srgbClr val="AAAAAA"/>
                </a:solidFill>
                <a:latin typeface="Calibri"/>
              </a:rPr>
              <a:t>Face detection, mouth cropping,</a:t>
            </a:r>
            <a:br/>
            <a:r>
              <a:rPr sz="2400" b="0" i="0">
                <a:solidFill>
                  <a:srgbClr val="AAAAAA"/>
                </a:solidFill>
                <a:latin typeface="Calibri"/>
              </a:rPr>
              <a:t>video normalization</a:t>
            </a:r>
          </a:p>
        </p:txBody>
      </p:sp>
      <p:sp>
        <p:nvSpPr>
          <p:cNvPr id="8" name="Rounded Rectangle 7"/>
          <p:cNvSpPr/>
          <p:nvPr/>
        </p:nvSpPr>
        <p:spPr>
          <a:xfrm>
            <a:off x="4450080" y="1508760"/>
            <a:ext cx="3291840" cy="2560320"/>
          </a:xfrm>
          <a:prstGeom prst="roundRect">
            <a:avLst/>
          </a:prstGeom>
          <a:solidFill>
            <a:srgbClr val="152A40"/>
          </a:solidFill>
          <a:ln w="317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960" y="1691640"/>
            <a:ext cx="2926080" cy="411480"/>
          </a:xfrm>
          <a:prstGeom prst="rect">
            <a:avLst/>
          </a:prstGeom>
          <a:noFill/>
        </p:spPr>
        <p:txBody>
          <a:bodyPr wrap="square" anchor="t"/>
          <a:lstStyle/>
          <a:p>
            <a:pPr algn="ctr"/>
            <a:r>
              <a:rPr sz="2800" b="1" i="0">
                <a:solidFill>
                  <a:srgbClr val="E06C75"/>
                </a:solidFill>
                <a:latin typeface="Calibri"/>
              </a:rPr>
              <a:t>av_hubert</a:t>
            </a:r>
          </a:p>
        </p:txBody>
      </p:sp>
      <p:sp>
        <p:nvSpPr>
          <p:cNvPr id="10" name="TextBox 9"/>
          <p:cNvSpPr txBox="1"/>
          <p:nvPr/>
        </p:nvSpPr>
        <p:spPr>
          <a:xfrm>
            <a:off x="4632960" y="2148840"/>
            <a:ext cx="2926080" cy="320040"/>
          </a:xfrm>
          <a:prstGeom prst="rect">
            <a:avLst/>
          </a:prstGeom>
          <a:noFill/>
        </p:spPr>
        <p:txBody>
          <a:bodyPr wrap="square" anchor="t"/>
          <a:lstStyle/>
          <a:p>
            <a:pPr algn="ctr"/>
            <a:r>
              <a:rPr sz="2400" b="0" i="0">
                <a:solidFill>
                  <a:srgbClr val="FFFFFF"/>
                </a:solidFill>
                <a:latin typeface="Calibri"/>
              </a:rPr>
              <a:t>Feature Extraction</a:t>
            </a:r>
          </a:p>
        </p:txBody>
      </p:sp>
      <p:sp>
        <p:nvSpPr>
          <p:cNvPr id="11" name="TextBox 10"/>
          <p:cNvSpPr txBox="1"/>
          <p:nvPr/>
        </p:nvSpPr>
        <p:spPr>
          <a:xfrm>
            <a:off x="4632960" y="2697480"/>
            <a:ext cx="2926080" cy="1097280"/>
          </a:xfrm>
          <a:prstGeom prst="rect">
            <a:avLst/>
          </a:prstGeom>
          <a:noFill/>
        </p:spPr>
        <p:txBody>
          <a:bodyPr wrap="square" anchor="t"/>
          <a:lstStyle/>
          <a:p>
            <a:pPr algn="ctr"/>
            <a:r>
              <a:rPr sz="2400" b="0" i="0">
                <a:solidFill>
                  <a:srgbClr val="AAAAAA"/>
                </a:solidFill>
                <a:latin typeface="Calibri"/>
              </a:rPr>
              <a:t>AV-HuBERT encoder,</a:t>
            </a:r>
            <a:br/>
            <a:r>
              <a:rPr sz="2400" b="0" i="0">
                <a:solidFill>
                  <a:srgbClr val="AAAAAA"/>
                </a:solidFill>
                <a:latin typeface="Calibri"/>
              </a:rPr>
              <a:t>K-means clustering</a:t>
            </a:r>
          </a:p>
        </p:txBody>
      </p:sp>
      <p:sp>
        <p:nvSpPr>
          <p:cNvPr id="12" name="Rounded Rectangle 11"/>
          <p:cNvSpPr/>
          <p:nvPr/>
        </p:nvSpPr>
        <p:spPr>
          <a:xfrm>
            <a:off x="8199120" y="1508760"/>
            <a:ext cx="3291840" cy="256032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1691640"/>
            <a:ext cx="2926080" cy="411480"/>
          </a:xfrm>
          <a:prstGeom prst="rect">
            <a:avLst/>
          </a:prstGeom>
          <a:noFill/>
        </p:spPr>
        <p:txBody>
          <a:bodyPr wrap="square" anchor="t"/>
          <a:lstStyle/>
          <a:p>
            <a:pPr algn="ctr"/>
            <a:r>
              <a:rPr sz="2800" b="1" i="0">
                <a:solidFill>
                  <a:srgbClr val="4CAF50"/>
                </a:solidFill>
                <a:latin typeface="Calibri"/>
              </a:rPr>
              <a:t>VSP-LLM</a:t>
            </a:r>
          </a:p>
        </p:txBody>
      </p:sp>
      <p:sp>
        <p:nvSpPr>
          <p:cNvPr id="14" name="TextBox 13"/>
          <p:cNvSpPr txBox="1"/>
          <p:nvPr/>
        </p:nvSpPr>
        <p:spPr>
          <a:xfrm>
            <a:off x="8382000" y="2148840"/>
            <a:ext cx="2926080" cy="320040"/>
          </a:xfrm>
          <a:prstGeom prst="rect">
            <a:avLst/>
          </a:prstGeom>
          <a:noFill/>
        </p:spPr>
        <p:txBody>
          <a:bodyPr wrap="square" anchor="t"/>
          <a:lstStyle/>
          <a:p>
            <a:pPr algn="ctr"/>
            <a:r>
              <a:rPr sz="2400" b="0" i="0">
                <a:solidFill>
                  <a:srgbClr val="FFFFFF"/>
                </a:solidFill>
                <a:latin typeface="Calibri"/>
              </a:rPr>
              <a:t>Inference</a:t>
            </a:r>
          </a:p>
        </p:txBody>
      </p:sp>
      <p:sp>
        <p:nvSpPr>
          <p:cNvPr id="15" name="TextBox 14"/>
          <p:cNvSpPr txBox="1"/>
          <p:nvPr/>
        </p:nvSpPr>
        <p:spPr>
          <a:xfrm>
            <a:off x="8382000" y="2697480"/>
            <a:ext cx="2926080" cy="1097280"/>
          </a:xfrm>
          <a:prstGeom prst="rect">
            <a:avLst/>
          </a:prstGeom>
          <a:noFill/>
        </p:spPr>
        <p:txBody>
          <a:bodyPr wrap="square" anchor="t"/>
          <a:lstStyle/>
          <a:p>
            <a:pPr algn="ctr"/>
            <a:r>
              <a:rPr sz="2400" b="0" i="0">
                <a:solidFill>
                  <a:srgbClr val="AAAAAA"/>
                </a:solidFill>
                <a:latin typeface="Calibri"/>
              </a:rPr>
              <a:t>LLaMA-2 integration,</a:t>
            </a:r>
            <a:br/>
            <a:r>
              <a:rPr sz="2400" b="0" i="0">
                <a:solidFill>
                  <a:srgbClr val="AAAAAA"/>
                </a:solidFill>
                <a:latin typeface="Calibri"/>
              </a:rPr>
              <a:t>decode &amp; generation</a:t>
            </a:r>
          </a:p>
        </p:txBody>
      </p:sp>
      <p:sp>
        <p:nvSpPr>
          <p:cNvPr id="16" name="TextBox 15"/>
          <p:cNvSpPr txBox="1"/>
          <p:nvPr/>
        </p:nvSpPr>
        <p:spPr>
          <a:xfrm>
            <a:off x="548640" y="4343400"/>
            <a:ext cx="11091672" cy="182880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No documentation, no tests, no integration</a:t>
            </a:r>
          </a:p>
          <a:p>
            <a:pPr algn="l">
              <a:spcAft>
                <a:spcPts val="600"/>
              </a:spcAft>
            </a:pPr>
            <a:r>
              <a:rPr sz="2400" b="1">
                <a:solidFill>
                  <a:srgbClr val="00B4D8"/>
                </a:solidFill>
                <a:latin typeface="Calibri"/>
              </a:rPr>
              <a:t>• </a:t>
            </a:r>
            <a:r>
              <a:rPr sz="2400" b="0">
                <a:solidFill>
                  <a:srgbClr val="FFFFFF"/>
                </a:solidFill>
                <a:latin typeface="Calibri"/>
              </a:rPr>
              <a:t>Research-grade code: hardcoded paths, no error handling</a:t>
            </a:r>
          </a:p>
          <a:p>
            <a:pPr algn="l">
              <a:spcAft>
                <a:spcPts val="600"/>
              </a:spcAft>
            </a:pPr>
            <a:r>
              <a:rPr sz="2400" b="1">
                <a:solidFill>
                  <a:srgbClr val="00B4D8"/>
                </a:solidFill>
                <a:latin typeface="Calibri"/>
              </a:rPr>
              <a:t>• </a:t>
            </a:r>
            <a:r>
              <a:rPr sz="2400" b="1">
                <a:solidFill>
                  <a:srgbClr val="FFFFFF"/>
                </a:solidFill>
                <a:latin typeface="Calibri"/>
              </a:rPr>
              <a:t>Each runs independently — no orchestration between them</a:t>
            </a:r>
          </a:p>
          <a:p>
            <a:pPr algn="l">
              <a:spcAft>
                <a:spcPts val="600"/>
              </a:spcAft>
            </a:pPr>
            <a:r>
              <a:rPr sz="2400" b="1">
                <a:solidFill>
                  <a:srgbClr val="00B4D8"/>
                </a:solidFill>
                <a:latin typeface="Calibri"/>
              </a:rPr>
              <a:t>• </a:t>
            </a:r>
            <a:r>
              <a:rPr sz="2400" b="0">
                <a:solidFill>
                  <a:srgbClr val="FFFFFF"/>
                </a:solidFill>
                <a:latin typeface="Calibri"/>
              </a:rPr>
              <a:t>Required 37 bug fixes to reach production quality</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12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24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36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10-Stage Pipeline: 8 Decode Stages + Trust Layer</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ctr"/>
            <a:r>
              <a:rPr sz="2000" b="0" i="1">
                <a:solidFill>
                  <a:srgbClr val="AAAAAA"/>
                </a:solidFill>
                <a:latin typeface="Calibri"/>
              </a:rPr>
              <a:t>8 decode stages produce the hypothesis. 2 trust-layer stages decide what to show.</a:t>
            </a:r>
          </a:p>
        </p:txBody>
      </p:sp>
      <p:sp>
        <p:nvSpPr>
          <p:cNvPr id="5" name="Rounded Rectangle 4"/>
          <p:cNvSpPr/>
          <p:nvPr/>
        </p:nvSpPr>
        <p:spPr>
          <a:xfrm>
            <a:off x="655320" y="1920240"/>
            <a:ext cx="2103120" cy="1417320"/>
          </a:xfrm>
          <a:prstGeom prst="roundRect">
            <a:avLst/>
          </a:prstGeom>
          <a:solidFill>
            <a:srgbClr val="4F8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8472" y="2011680"/>
            <a:ext cx="1956816" cy="411480"/>
          </a:xfrm>
          <a:prstGeom prst="rect">
            <a:avLst/>
          </a:prstGeom>
          <a:noFill/>
        </p:spPr>
        <p:txBody>
          <a:bodyPr wrap="square" anchor="t"/>
          <a:lstStyle/>
          <a:p>
            <a:pPr algn="ctr"/>
            <a:r>
              <a:rPr sz="1800" b="1" i="0">
                <a:solidFill>
                  <a:srgbClr val="0D1B2A"/>
                </a:solidFill>
                <a:latin typeface="Calibri"/>
              </a:rPr>
              <a:t>1. Normalize</a:t>
            </a:r>
          </a:p>
        </p:txBody>
      </p:sp>
      <p:sp>
        <p:nvSpPr>
          <p:cNvPr id="7" name="TextBox 6"/>
          <p:cNvSpPr txBox="1"/>
          <p:nvPr/>
        </p:nvSpPr>
        <p:spPr>
          <a:xfrm>
            <a:off x="728472" y="2423160"/>
            <a:ext cx="1956816" cy="868680"/>
          </a:xfrm>
          <a:prstGeom prst="rect">
            <a:avLst/>
          </a:prstGeom>
          <a:noFill/>
        </p:spPr>
        <p:txBody>
          <a:bodyPr wrap="square" anchor="t"/>
          <a:lstStyle/>
          <a:p>
            <a:pPr algn="ctr"/>
            <a:r>
              <a:rPr sz="1600" b="0" i="0">
                <a:solidFill>
                  <a:srgbClr val="0D1B2A"/>
                </a:solidFill>
                <a:latin typeface="Calibri"/>
              </a:rPr>
              <a:t>HDR/10-bit</a:t>
            </a:r>
            <a:br/>
            <a:r>
              <a:rPr sz="1600" b="0" i="0">
                <a:solidFill>
                  <a:srgbClr val="0D1B2A"/>
                </a:solidFill>
                <a:latin typeface="Calibri"/>
              </a:rPr>
              <a:t>conversion</a:t>
            </a:r>
          </a:p>
        </p:txBody>
      </p:sp>
      <p:sp>
        <p:nvSpPr>
          <p:cNvPr id="8" name="Rounded Rectangle 7"/>
          <p:cNvSpPr/>
          <p:nvPr/>
        </p:nvSpPr>
        <p:spPr>
          <a:xfrm>
            <a:off x="2849880" y="1920240"/>
            <a:ext cx="2103120" cy="1417320"/>
          </a:xfrm>
          <a:prstGeom prst="roundRect">
            <a:avLst/>
          </a:prstGeom>
          <a:solidFill>
            <a:srgbClr val="4F8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3032" y="2011680"/>
            <a:ext cx="1956816" cy="411480"/>
          </a:xfrm>
          <a:prstGeom prst="rect">
            <a:avLst/>
          </a:prstGeom>
          <a:noFill/>
        </p:spPr>
        <p:txBody>
          <a:bodyPr wrap="square" anchor="t"/>
          <a:lstStyle/>
          <a:p>
            <a:pPr algn="ctr"/>
            <a:r>
              <a:rPr sz="1800" b="1" i="0">
                <a:solidFill>
                  <a:srgbClr val="0D1B2A"/>
                </a:solidFill>
                <a:latin typeface="Calibri"/>
              </a:rPr>
              <a:t>2. Mouth Crop</a:t>
            </a:r>
          </a:p>
        </p:txBody>
      </p:sp>
      <p:sp>
        <p:nvSpPr>
          <p:cNvPr id="10" name="TextBox 9"/>
          <p:cNvSpPr txBox="1"/>
          <p:nvPr/>
        </p:nvSpPr>
        <p:spPr>
          <a:xfrm>
            <a:off x="2923032" y="2423160"/>
            <a:ext cx="1956816" cy="868680"/>
          </a:xfrm>
          <a:prstGeom prst="rect">
            <a:avLst/>
          </a:prstGeom>
          <a:noFill/>
        </p:spPr>
        <p:txBody>
          <a:bodyPr wrap="square" anchor="t"/>
          <a:lstStyle/>
          <a:p>
            <a:pPr algn="ctr"/>
            <a:r>
              <a:rPr sz="1600" b="0" i="0">
                <a:solidFill>
                  <a:srgbClr val="0D1B2A"/>
                </a:solidFill>
                <a:latin typeface="Calibri"/>
              </a:rPr>
              <a:t>Face detect</a:t>
            </a:r>
            <a:br/>
            <a:r>
              <a:rPr sz="1600" b="0" i="0">
                <a:solidFill>
                  <a:srgbClr val="0D1B2A"/>
                </a:solidFill>
                <a:latin typeface="Calibri"/>
              </a:rPr>
              <a:t>&amp; ROI</a:t>
            </a:r>
          </a:p>
        </p:txBody>
      </p:sp>
      <p:sp>
        <p:nvSpPr>
          <p:cNvPr id="11" name="Rounded Rectangle 10"/>
          <p:cNvSpPr/>
          <p:nvPr/>
        </p:nvSpPr>
        <p:spPr>
          <a:xfrm>
            <a:off x="5044440" y="1920240"/>
            <a:ext cx="2103120" cy="1417320"/>
          </a:xfrm>
          <a:prstGeom prst="roundRect">
            <a:avLst/>
          </a:prstGeom>
          <a:solidFill>
            <a:srgbClr val="E06C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7592" y="2011680"/>
            <a:ext cx="1956816" cy="411480"/>
          </a:xfrm>
          <a:prstGeom prst="rect">
            <a:avLst/>
          </a:prstGeom>
          <a:noFill/>
        </p:spPr>
        <p:txBody>
          <a:bodyPr wrap="square" anchor="t"/>
          <a:lstStyle/>
          <a:p>
            <a:pPr algn="ctr"/>
            <a:r>
              <a:rPr sz="1800" b="1" i="0">
                <a:solidFill>
                  <a:srgbClr val="0D1B2A"/>
                </a:solidFill>
                <a:latin typeface="Calibri"/>
              </a:rPr>
              <a:t>3. ASR</a:t>
            </a:r>
          </a:p>
        </p:txBody>
      </p:sp>
      <p:sp>
        <p:nvSpPr>
          <p:cNvPr id="13" name="TextBox 12"/>
          <p:cNvSpPr txBox="1"/>
          <p:nvPr/>
        </p:nvSpPr>
        <p:spPr>
          <a:xfrm>
            <a:off x="5117592" y="2423160"/>
            <a:ext cx="1956816" cy="868680"/>
          </a:xfrm>
          <a:prstGeom prst="rect">
            <a:avLst/>
          </a:prstGeom>
          <a:noFill/>
        </p:spPr>
        <p:txBody>
          <a:bodyPr wrap="square" anchor="t"/>
          <a:lstStyle/>
          <a:p>
            <a:pPr algn="ctr"/>
            <a:r>
              <a:rPr sz="1600" b="0" i="0">
                <a:solidFill>
                  <a:srgbClr val="0D1B2A"/>
                </a:solidFill>
                <a:latin typeface="Calibri"/>
              </a:rPr>
              <a:t>Whisper</a:t>
            </a:r>
            <a:br/>
            <a:r>
              <a:rPr sz="1600" b="0" i="0">
                <a:solidFill>
                  <a:srgbClr val="0D1B2A"/>
                </a:solidFill>
                <a:latin typeface="Calibri"/>
              </a:rPr>
              <a:t>(eval only)</a:t>
            </a:r>
          </a:p>
        </p:txBody>
      </p:sp>
      <p:sp>
        <p:nvSpPr>
          <p:cNvPr id="14" name="Rounded Rectangle 13"/>
          <p:cNvSpPr/>
          <p:nvPr/>
        </p:nvSpPr>
        <p:spPr>
          <a:xfrm>
            <a:off x="7239000" y="1920240"/>
            <a:ext cx="2103120" cy="1417320"/>
          </a:xfrm>
          <a:prstGeom prst="roundRect">
            <a:avLst/>
          </a:prstGeom>
          <a:solidFill>
            <a:srgbClr val="4F8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2152" y="2011680"/>
            <a:ext cx="1956816" cy="411480"/>
          </a:xfrm>
          <a:prstGeom prst="rect">
            <a:avLst/>
          </a:prstGeom>
          <a:noFill/>
        </p:spPr>
        <p:txBody>
          <a:bodyPr wrap="square" anchor="t"/>
          <a:lstStyle/>
          <a:p>
            <a:pPr algn="ctr"/>
            <a:r>
              <a:rPr sz="1800" b="1" i="0">
                <a:solidFill>
                  <a:srgbClr val="0D1B2A"/>
                </a:solidFill>
                <a:latin typeface="Calibri"/>
              </a:rPr>
              <a:t>4. LRS3 Convert</a:t>
            </a:r>
          </a:p>
        </p:txBody>
      </p:sp>
      <p:sp>
        <p:nvSpPr>
          <p:cNvPr id="16" name="TextBox 15"/>
          <p:cNvSpPr txBox="1"/>
          <p:nvPr/>
        </p:nvSpPr>
        <p:spPr>
          <a:xfrm>
            <a:off x="7312152" y="2423160"/>
            <a:ext cx="1956816" cy="868680"/>
          </a:xfrm>
          <a:prstGeom prst="rect">
            <a:avLst/>
          </a:prstGeom>
          <a:noFill/>
        </p:spPr>
        <p:txBody>
          <a:bodyPr wrap="square" anchor="t"/>
          <a:lstStyle/>
          <a:p>
            <a:pPr algn="ctr"/>
            <a:r>
              <a:rPr sz="1600" b="0" i="0">
                <a:solidFill>
                  <a:srgbClr val="0D1B2A"/>
                </a:solidFill>
                <a:latin typeface="Calibri"/>
              </a:rPr>
              <a:t>Flat → LRS3</a:t>
            </a:r>
          </a:p>
        </p:txBody>
      </p:sp>
      <p:sp>
        <p:nvSpPr>
          <p:cNvPr id="17" name="Rounded Rectangle 16"/>
          <p:cNvSpPr/>
          <p:nvPr/>
        </p:nvSpPr>
        <p:spPr>
          <a:xfrm>
            <a:off x="9433560" y="1920240"/>
            <a:ext cx="2103120" cy="141732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6712" y="2011680"/>
            <a:ext cx="1956816" cy="411480"/>
          </a:xfrm>
          <a:prstGeom prst="rect">
            <a:avLst/>
          </a:prstGeom>
          <a:noFill/>
        </p:spPr>
        <p:txBody>
          <a:bodyPr wrap="square" anchor="t"/>
          <a:lstStyle/>
          <a:p>
            <a:pPr algn="ctr"/>
            <a:r>
              <a:rPr sz="1800" b="1" i="0">
                <a:solidFill>
                  <a:srgbClr val="0D1B2A"/>
                </a:solidFill>
                <a:latin typeface="Calibri"/>
              </a:rPr>
              <a:t>5. Manifests</a:t>
            </a:r>
          </a:p>
        </p:txBody>
      </p:sp>
      <p:sp>
        <p:nvSpPr>
          <p:cNvPr id="19" name="TextBox 18"/>
          <p:cNvSpPr txBox="1"/>
          <p:nvPr/>
        </p:nvSpPr>
        <p:spPr>
          <a:xfrm>
            <a:off x="9506712" y="2423160"/>
            <a:ext cx="1956816" cy="868680"/>
          </a:xfrm>
          <a:prstGeom prst="rect">
            <a:avLst/>
          </a:prstGeom>
          <a:noFill/>
        </p:spPr>
        <p:txBody>
          <a:bodyPr wrap="square" anchor="t"/>
          <a:lstStyle/>
          <a:p>
            <a:pPr algn="ctr"/>
            <a:r>
              <a:rPr sz="1600" b="0" i="0">
                <a:solidFill>
                  <a:srgbClr val="0D1B2A"/>
                </a:solidFill>
                <a:latin typeface="Calibri"/>
              </a:rPr>
              <a:t>TSV + splits</a:t>
            </a:r>
          </a:p>
        </p:txBody>
      </p:sp>
      <p:sp>
        <p:nvSpPr>
          <p:cNvPr id="20" name="Rounded Rectangle 19"/>
          <p:cNvSpPr/>
          <p:nvPr/>
        </p:nvSpPr>
        <p:spPr>
          <a:xfrm>
            <a:off x="655320" y="3611880"/>
            <a:ext cx="2103120" cy="1417320"/>
          </a:xfrm>
          <a:prstGeom prst="round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8472" y="3703320"/>
            <a:ext cx="1956816" cy="411480"/>
          </a:xfrm>
          <a:prstGeom prst="rect">
            <a:avLst/>
          </a:prstGeom>
          <a:noFill/>
        </p:spPr>
        <p:txBody>
          <a:bodyPr wrap="square" anchor="t"/>
          <a:lstStyle/>
          <a:p>
            <a:pPr algn="ctr"/>
            <a:r>
              <a:rPr sz="1800" b="1" i="0">
                <a:solidFill>
                  <a:srgbClr val="0D1B2A"/>
                </a:solidFill>
                <a:latin typeface="Calibri"/>
              </a:rPr>
              <a:t>6. K-means</a:t>
            </a:r>
          </a:p>
        </p:txBody>
      </p:sp>
      <p:sp>
        <p:nvSpPr>
          <p:cNvPr id="22" name="TextBox 21"/>
          <p:cNvSpPr txBox="1"/>
          <p:nvPr/>
        </p:nvSpPr>
        <p:spPr>
          <a:xfrm>
            <a:off x="728472" y="4114800"/>
            <a:ext cx="1956816" cy="868680"/>
          </a:xfrm>
          <a:prstGeom prst="rect">
            <a:avLst/>
          </a:prstGeom>
          <a:noFill/>
        </p:spPr>
        <p:txBody>
          <a:bodyPr wrap="square" anchor="t"/>
          <a:lstStyle/>
          <a:p>
            <a:pPr algn="ctr"/>
            <a:r>
              <a:rPr sz="1600" b="0" i="0">
                <a:solidFill>
                  <a:srgbClr val="0D1B2A"/>
                </a:solidFill>
                <a:latin typeface="Calibri"/>
              </a:rPr>
              <a:t>Feature</a:t>
            </a:r>
            <a:br/>
            <a:r>
              <a:rPr sz="1600" b="0" i="0">
                <a:solidFill>
                  <a:srgbClr val="0D1B2A"/>
                </a:solidFill>
                <a:latin typeface="Calibri"/>
              </a:rPr>
              <a:t>clustering</a:t>
            </a:r>
          </a:p>
        </p:txBody>
      </p:sp>
      <p:sp>
        <p:nvSpPr>
          <p:cNvPr id="23" name="Rounded Rectangle 22"/>
          <p:cNvSpPr/>
          <p:nvPr/>
        </p:nvSpPr>
        <p:spPr>
          <a:xfrm>
            <a:off x="2849880" y="3611880"/>
            <a:ext cx="2103120" cy="1417320"/>
          </a:xfrm>
          <a:prstGeom prst="roundRect">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3032" y="3703320"/>
            <a:ext cx="1956816" cy="411480"/>
          </a:xfrm>
          <a:prstGeom prst="rect">
            <a:avLst/>
          </a:prstGeom>
          <a:noFill/>
        </p:spPr>
        <p:txBody>
          <a:bodyPr wrap="square" anchor="t"/>
          <a:lstStyle/>
          <a:p>
            <a:pPr algn="ctr"/>
            <a:r>
              <a:rPr sz="1800" b="1" i="0">
                <a:solidFill>
                  <a:srgbClr val="0D1B2A"/>
                </a:solidFill>
                <a:latin typeface="Calibri"/>
              </a:rPr>
              <a:t>7. LLM Decode</a:t>
            </a:r>
          </a:p>
        </p:txBody>
      </p:sp>
      <p:sp>
        <p:nvSpPr>
          <p:cNvPr id="25" name="TextBox 24"/>
          <p:cNvSpPr txBox="1"/>
          <p:nvPr/>
        </p:nvSpPr>
        <p:spPr>
          <a:xfrm>
            <a:off x="2923032" y="4114800"/>
            <a:ext cx="1956816" cy="868680"/>
          </a:xfrm>
          <a:prstGeom prst="rect">
            <a:avLst/>
          </a:prstGeom>
          <a:noFill/>
        </p:spPr>
        <p:txBody>
          <a:bodyPr wrap="square" anchor="t"/>
          <a:lstStyle/>
          <a:p>
            <a:pPr algn="ctr"/>
            <a:r>
              <a:rPr sz="1600" b="0" i="0">
                <a:solidFill>
                  <a:srgbClr val="0D1B2A"/>
                </a:solidFill>
                <a:latin typeface="Calibri"/>
              </a:rPr>
              <a:t>AV-HuBERT +</a:t>
            </a:r>
            <a:br/>
            <a:r>
              <a:rPr sz="1600" b="0" i="0">
                <a:solidFill>
                  <a:srgbClr val="0D1B2A"/>
                </a:solidFill>
                <a:latin typeface="Calibri"/>
              </a:rPr>
              <a:t>LLaMA-2</a:t>
            </a:r>
          </a:p>
        </p:txBody>
      </p:sp>
      <p:sp>
        <p:nvSpPr>
          <p:cNvPr id="26" name="Rounded Rectangle 25"/>
          <p:cNvSpPr/>
          <p:nvPr/>
        </p:nvSpPr>
        <p:spPr>
          <a:xfrm>
            <a:off x="5044440" y="3611880"/>
            <a:ext cx="2103120" cy="141732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17592" y="3703320"/>
            <a:ext cx="1956816" cy="411480"/>
          </a:xfrm>
          <a:prstGeom prst="rect">
            <a:avLst/>
          </a:prstGeom>
          <a:noFill/>
        </p:spPr>
        <p:txBody>
          <a:bodyPr wrap="square" anchor="t"/>
          <a:lstStyle/>
          <a:p>
            <a:pPr algn="ctr"/>
            <a:r>
              <a:rPr sz="1800" b="1" i="0">
                <a:solidFill>
                  <a:srgbClr val="0D1B2A"/>
                </a:solidFill>
                <a:latin typeface="Calibri"/>
              </a:rPr>
              <a:t>8. Outputs</a:t>
            </a:r>
          </a:p>
        </p:txBody>
      </p:sp>
      <p:sp>
        <p:nvSpPr>
          <p:cNvPr id="28" name="TextBox 27"/>
          <p:cNvSpPr txBox="1"/>
          <p:nvPr/>
        </p:nvSpPr>
        <p:spPr>
          <a:xfrm>
            <a:off x="5117592" y="4114800"/>
            <a:ext cx="1956816" cy="868680"/>
          </a:xfrm>
          <a:prstGeom prst="rect">
            <a:avLst/>
          </a:prstGeom>
          <a:noFill/>
        </p:spPr>
        <p:txBody>
          <a:bodyPr wrap="square" anchor="t"/>
          <a:lstStyle/>
          <a:p>
            <a:pPr algn="ctr"/>
            <a:r>
              <a:rPr sz="1600" b="0" i="0">
                <a:solidFill>
                  <a:srgbClr val="0D1B2A"/>
                </a:solidFill>
                <a:latin typeface="Calibri"/>
              </a:rPr>
              <a:t>Reports +</a:t>
            </a:r>
            <a:br/>
            <a:r>
              <a:rPr sz="1600" b="0" i="0">
                <a:solidFill>
                  <a:srgbClr val="0D1B2A"/>
                </a:solidFill>
                <a:latin typeface="Calibri"/>
              </a:rPr>
              <a:t>burned video</a:t>
            </a:r>
          </a:p>
        </p:txBody>
      </p:sp>
      <p:sp>
        <p:nvSpPr>
          <p:cNvPr id="29" name="Rounded Rectangle 28"/>
          <p:cNvSpPr/>
          <p:nvPr/>
        </p:nvSpPr>
        <p:spPr>
          <a:xfrm>
            <a:off x="7239000" y="3611880"/>
            <a:ext cx="2103120" cy="14173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2152" y="3703320"/>
            <a:ext cx="1956816" cy="411480"/>
          </a:xfrm>
          <a:prstGeom prst="rect">
            <a:avLst/>
          </a:prstGeom>
          <a:noFill/>
        </p:spPr>
        <p:txBody>
          <a:bodyPr wrap="square" anchor="t"/>
          <a:lstStyle/>
          <a:p>
            <a:pPr algn="ctr"/>
            <a:r>
              <a:rPr sz="1800" b="1" i="0">
                <a:solidFill>
                  <a:srgbClr val="0D1B2A"/>
                </a:solidFill>
                <a:latin typeface="Calibri"/>
              </a:rPr>
              <a:t>9. Aggregate</a:t>
            </a:r>
          </a:p>
        </p:txBody>
      </p:sp>
      <p:sp>
        <p:nvSpPr>
          <p:cNvPr id="31" name="TextBox 30"/>
          <p:cNvSpPr txBox="1"/>
          <p:nvPr/>
        </p:nvSpPr>
        <p:spPr>
          <a:xfrm>
            <a:off x="7312152" y="4114800"/>
            <a:ext cx="1956816" cy="868680"/>
          </a:xfrm>
          <a:prstGeom prst="rect">
            <a:avLst/>
          </a:prstGeom>
          <a:noFill/>
        </p:spPr>
        <p:txBody>
          <a:bodyPr wrap="square" anchor="t"/>
          <a:lstStyle/>
          <a:p>
            <a:pPr algn="ctr"/>
            <a:r>
              <a:rPr sz="1600" b="0" i="0">
                <a:solidFill>
                  <a:srgbClr val="0D1B2A"/>
                </a:solidFill>
                <a:latin typeface="Calibri"/>
              </a:rPr>
              <a:t>MBR over 20</a:t>
            </a:r>
            <a:br/>
            <a:r>
              <a:rPr sz="1600" b="0" i="0">
                <a:solidFill>
                  <a:srgbClr val="0D1B2A"/>
                </a:solidFill>
                <a:latin typeface="Calibri"/>
              </a:rPr>
              <a:t>n-best</a:t>
            </a:r>
          </a:p>
        </p:txBody>
      </p:sp>
      <p:sp>
        <p:nvSpPr>
          <p:cNvPr id="32" name="Rounded Rectangle 31"/>
          <p:cNvSpPr/>
          <p:nvPr/>
        </p:nvSpPr>
        <p:spPr>
          <a:xfrm>
            <a:off x="9433560" y="3611880"/>
            <a:ext cx="2103120" cy="141732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06712" y="3703320"/>
            <a:ext cx="1956816" cy="411480"/>
          </a:xfrm>
          <a:prstGeom prst="rect">
            <a:avLst/>
          </a:prstGeom>
          <a:noFill/>
        </p:spPr>
        <p:txBody>
          <a:bodyPr wrap="square" anchor="t"/>
          <a:lstStyle/>
          <a:p>
            <a:pPr algn="ctr"/>
            <a:r>
              <a:rPr sz="1800" b="1" i="0">
                <a:solidFill>
                  <a:srgbClr val="0D1B2A"/>
                </a:solidFill>
                <a:latin typeface="Calibri"/>
              </a:rPr>
              <a:t>10. Confidence</a:t>
            </a:r>
          </a:p>
        </p:txBody>
      </p:sp>
      <p:sp>
        <p:nvSpPr>
          <p:cNvPr id="34" name="TextBox 33"/>
          <p:cNvSpPr txBox="1"/>
          <p:nvPr/>
        </p:nvSpPr>
        <p:spPr>
          <a:xfrm>
            <a:off x="9506712" y="4114800"/>
            <a:ext cx="1956816" cy="868680"/>
          </a:xfrm>
          <a:prstGeom prst="rect">
            <a:avLst/>
          </a:prstGeom>
          <a:noFill/>
        </p:spPr>
        <p:txBody>
          <a:bodyPr wrap="square" anchor="t"/>
          <a:lstStyle/>
          <a:p>
            <a:pPr algn="ctr"/>
            <a:r>
              <a:rPr sz="1600" b="0" i="0">
                <a:solidFill>
                  <a:srgbClr val="0D1B2A"/>
                </a:solidFill>
                <a:latin typeface="Calibri"/>
              </a:rPr>
              <a:t>Per-word</a:t>
            </a:r>
            <a:br/>
            <a:r>
              <a:rPr sz="1600" b="0" i="0">
                <a:solidFill>
                  <a:srgbClr val="0D1B2A"/>
                </a:solidFill>
                <a:latin typeface="Calibri"/>
              </a:rPr>
              <a:t>p₁ + α bands</a:t>
            </a:r>
          </a:p>
        </p:txBody>
      </p:sp>
      <p:sp>
        <p:nvSpPr>
          <p:cNvPr id="35" name="Rounded Rectangle 34"/>
          <p:cNvSpPr/>
          <p:nvPr/>
        </p:nvSpPr>
        <p:spPr>
          <a:xfrm>
            <a:off x="7147560" y="3520440"/>
            <a:ext cx="4480560" cy="1600200"/>
          </a:xfrm>
          <a:prstGeom prst="roundRect">
            <a:avLst/>
          </a:prstGeom>
          <a:noFill/>
          <a:ln w="317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239000" y="5029200"/>
            <a:ext cx="4297680" cy="274320"/>
          </a:xfrm>
          <a:prstGeom prst="rect">
            <a:avLst/>
          </a:prstGeom>
          <a:noFill/>
        </p:spPr>
        <p:txBody>
          <a:bodyPr wrap="square" anchor="t"/>
          <a:lstStyle/>
          <a:p>
            <a:pPr algn="ctr"/>
            <a:r>
              <a:rPr sz="1800" b="1" i="0">
                <a:solidFill>
                  <a:srgbClr val="00B4D8"/>
                </a:solidFill>
                <a:latin typeface="Calibri"/>
              </a:rPr>
              <a:t>TRUST LAYER</a:t>
            </a:r>
          </a:p>
        </p:txBody>
      </p:sp>
      <p:sp>
        <p:nvSpPr>
          <p:cNvPr id="37" name="TextBox 36"/>
          <p:cNvSpPr txBox="1"/>
          <p:nvPr/>
        </p:nvSpPr>
        <p:spPr>
          <a:xfrm>
            <a:off x="548640" y="5852160"/>
            <a:ext cx="11091672" cy="502920"/>
          </a:xfrm>
          <a:prstGeom prst="rect">
            <a:avLst/>
          </a:prstGeom>
          <a:noFill/>
        </p:spPr>
        <p:txBody>
          <a:bodyPr wrap="square" anchor="t"/>
          <a:lstStyle/>
          <a:p>
            <a:pPr algn="ctr"/>
            <a:r>
              <a:rPr sz="1800" b="0" i="1">
                <a:solidFill>
                  <a:srgbClr val="AAAAAA"/>
                </a:solidFill>
                <a:latin typeface="Calibri"/>
              </a:rPr>
              <a:t>Decode stages 1–8 produce the candidate. Trust stages 9–10 mark uncertainty so reviewers know where to look.</a:t>
            </a:r>
          </a:p>
        </p:txBody>
      </p:sp>
      <p:pic>
        <p:nvPicPr>
          <p:cNvPr id="38" name="Picture 3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39" name="TextBox 3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8-Stage Automated Pipeline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ipeline_detailed.png"/>
          <p:cNvPicPr>
            <a:picLocks noChangeAspect="1"/>
          </p:cNvPicPr>
          <p:nvPr/>
        </p:nvPicPr>
        <p:blipFill>
          <a:blip r:embed="rId2"/>
          <a:stretch>
            <a:fillRect/>
          </a:stretch>
        </p:blipFill>
        <p:spPr>
          <a:xfrm>
            <a:off x="548640" y="1325880"/>
            <a:ext cx="11091672" cy="7118127"/>
          </a:xfrm>
          <a:prstGeom prst="rect">
            <a:avLst/>
          </a:prstGeom>
        </p:spPr>
      </p:pic>
      <p:pic>
        <p:nvPicPr>
          <p:cNvPr id="5" name="Picture 4" descr="WhiteLogo.jpeg"/>
          <p:cNvPicPr>
            <a:picLocks noChangeAspect="1"/>
          </p:cNvPicPr>
          <p:nvPr/>
        </p:nvPicPr>
        <p:blipFill>
          <a:blip r:embed="rId3"/>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63</a:t>
            </a:r>
          </a:p>
        </p:txBody>
      </p:sp>
    </p:spTree>
  </p:cSld>
  <p:clrMapOvr>
    <a:masterClrMapping/>
  </p:clrMapOvr>
  <p:transition spd="med"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What it actually took — four passes, six months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91672" cy="411480"/>
          </a:xfrm>
          <a:prstGeom prst="rect">
            <a:avLst/>
          </a:prstGeom>
          <a:noFill/>
        </p:spPr>
        <p:txBody>
          <a:bodyPr wrap="square" anchor="t"/>
          <a:lstStyle/>
          <a:p>
            <a:pPr algn="ctr"/>
            <a:r>
              <a:rPr sz="1400" b="0" i="1">
                <a:solidFill>
                  <a:srgbClr val="AAAAAA"/>
                </a:solidFill>
                <a:latin typeface="Calibri"/>
              </a:rPr>
              <a:t>Concrete engineering, not vague claims. Every pass shipped.</a:t>
            </a:r>
          </a:p>
        </p:txBody>
      </p:sp>
      <p:sp>
        <p:nvSpPr>
          <p:cNvPr id="5" name="Rectangle 4"/>
          <p:cNvSpPr/>
          <p:nvPr/>
        </p:nvSpPr>
        <p:spPr>
          <a:xfrm>
            <a:off x="548640" y="1920240"/>
            <a:ext cx="1371600" cy="960120"/>
          </a:xfrm>
          <a:prstGeom prst="rect">
            <a:avLst/>
          </a:prstGeom>
          <a:solidFill>
            <a:srgbClr val="1A355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240280"/>
            <a:ext cx="1371600" cy="411480"/>
          </a:xfrm>
          <a:prstGeom prst="rect">
            <a:avLst/>
          </a:prstGeom>
          <a:noFill/>
        </p:spPr>
        <p:txBody>
          <a:bodyPr wrap="square" anchor="t"/>
          <a:lstStyle/>
          <a:p>
            <a:pPr algn="ctr"/>
            <a:r>
              <a:rPr sz="1300" b="1" i="0">
                <a:solidFill>
                  <a:srgbClr val="00B4D8"/>
                </a:solidFill>
                <a:latin typeface="Calibri"/>
              </a:rPr>
              <a:t>Months 1–2</a:t>
            </a:r>
          </a:p>
        </p:txBody>
      </p:sp>
      <p:sp>
        <p:nvSpPr>
          <p:cNvPr id="7" name="Rectangle 6"/>
          <p:cNvSpPr/>
          <p:nvPr/>
        </p:nvSpPr>
        <p:spPr>
          <a:xfrm>
            <a:off x="2057400" y="1920240"/>
            <a:ext cx="9582912" cy="96012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31720" y="2029968"/>
            <a:ext cx="9217152" cy="365760"/>
          </a:xfrm>
          <a:prstGeom prst="rect">
            <a:avLst/>
          </a:prstGeom>
          <a:noFill/>
        </p:spPr>
        <p:txBody>
          <a:bodyPr wrap="square" anchor="t"/>
          <a:lstStyle/>
          <a:p>
            <a:pPr algn="l"/>
            <a:r>
              <a:rPr sz="1500" b="1" i="0">
                <a:solidFill>
                  <a:srgbClr val="FFFFFF"/>
                </a:solidFill>
                <a:latin typeface="Calibri"/>
              </a:rPr>
              <a:t>Research integration — three open-source codebases adopted.</a:t>
            </a:r>
          </a:p>
        </p:txBody>
      </p:sp>
      <p:sp>
        <p:nvSpPr>
          <p:cNvPr id="9" name="TextBox 8"/>
          <p:cNvSpPr txBox="1"/>
          <p:nvPr/>
        </p:nvSpPr>
        <p:spPr>
          <a:xfrm>
            <a:off x="2331720" y="2377440"/>
            <a:ext cx="9217152" cy="457200"/>
          </a:xfrm>
          <a:prstGeom prst="rect">
            <a:avLst/>
          </a:prstGeom>
          <a:noFill/>
        </p:spPr>
        <p:txBody>
          <a:bodyPr wrap="square" anchor="t"/>
          <a:lstStyle/>
          <a:p>
            <a:pPr algn="l"/>
            <a:r>
              <a:rPr sz="1200" b="0" i="1">
                <a:solidFill>
                  <a:srgbClr val="AAAAAA"/>
                </a:solidFill>
                <a:latin typeface="Calibri"/>
              </a:rPr>
              <a:t>auto_avsr + av_hubert + VSP-LLM wired into one pipeline. 37 bugs fixed across them to make the stack production-runnable.</a:t>
            </a:r>
          </a:p>
        </p:txBody>
      </p:sp>
      <p:sp>
        <p:nvSpPr>
          <p:cNvPr id="10" name="Rectangle 9"/>
          <p:cNvSpPr/>
          <p:nvPr/>
        </p:nvSpPr>
        <p:spPr>
          <a:xfrm>
            <a:off x="548640" y="2999232"/>
            <a:ext cx="1371600" cy="960120"/>
          </a:xfrm>
          <a:prstGeom prst="rect">
            <a:avLst/>
          </a:prstGeom>
          <a:solidFill>
            <a:srgbClr val="1A3550"/>
          </a:solidFill>
          <a:ln w="127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319272"/>
            <a:ext cx="1371600" cy="411480"/>
          </a:xfrm>
          <a:prstGeom prst="rect">
            <a:avLst/>
          </a:prstGeom>
          <a:noFill/>
        </p:spPr>
        <p:txBody>
          <a:bodyPr wrap="square" anchor="t"/>
          <a:lstStyle/>
          <a:p>
            <a:pPr algn="ctr"/>
            <a:r>
              <a:rPr sz="1300" b="1" i="0">
                <a:solidFill>
                  <a:srgbClr val="FFD54F"/>
                </a:solidFill>
                <a:latin typeface="Calibri"/>
              </a:rPr>
              <a:t>Months 2–4</a:t>
            </a:r>
          </a:p>
        </p:txBody>
      </p:sp>
      <p:sp>
        <p:nvSpPr>
          <p:cNvPr id="12" name="Rectangle 11"/>
          <p:cNvSpPr/>
          <p:nvPr/>
        </p:nvSpPr>
        <p:spPr>
          <a:xfrm>
            <a:off x="2057400" y="2999232"/>
            <a:ext cx="9582912" cy="96012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31720" y="3108960"/>
            <a:ext cx="9217152" cy="365760"/>
          </a:xfrm>
          <a:prstGeom prst="rect">
            <a:avLst/>
          </a:prstGeom>
          <a:noFill/>
        </p:spPr>
        <p:txBody>
          <a:bodyPr wrap="square" anchor="t"/>
          <a:lstStyle/>
          <a:p>
            <a:pPr algn="l"/>
            <a:r>
              <a:rPr sz="1500" b="1" i="0">
                <a:solidFill>
                  <a:srgbClr val="FFFFFF"/>
                </a:solidFill>
                <a:latin typeface="Calibri"/>
              </a:rPr>
              <a:t>Production refactor — monolith broken into 11 reusable modules.</a:t>
            </a:r>
          </a:p>
        </p:txBody>
      </p:sp>
      <p:sp>
        <p:nvSpPr>
          <p:cNvPr id="14" name="TextBox 13"/>
          <p:cNvSpPr txBox="1"/>
          <p:nvPr/>
        </p:nvSpPr>
        <p:spPr>
          <a:xfrm>
            <a:off x="2331720" y="3456432"/>
            <a:ext cx="9217152" cy="457200"/>
          </a:xfrm>
          <a:prstGeom prst="rect">
            <a:avLst/>
          </a:prstGeom>
          <a:noFill/>
        </p:spPr>
        <p:txBody>
          <a:bodyPr wrap="square" anchor="t"/>
          <a:lstStyle/>
          <a:p>
            <a:pPr algn="l"/>
            <a:r>
              <a:rPr sz="1200" b="0" i="1">
                <a:solidFill>
                  <a:srgbClr val="AAAAAA"/>
                </a:solidFill>
                <a:latin typeface="Calibri"/>
              </a:rPr>
              <a:t>823-line script → 11 modules + 37 automated tests. Dual-environment shipping (AWS dev + on-prem container) developed in parallel.</a:t>
            </a:r>
          </a:p>
        </p:txBody>
      </p:sp>
      <p:sp>
        <p:nvSpPr>
          <p:cNvPr id="15" name="Rectangle 14"/>
          <p:cNvSpPr/>
          <p:nvPr/>
        </p:nvSpPr>
        <p:spPr>
          <a:xfrm>
            <a:off x="548640" y="4078224"/>
            <a:ext cx="1371600" cy="960120"/>
          </a:xfrm>
          <a:prstGeom prst="rect">
            <a:avLst/>
          </a:prstGeom>
          <a:solidFill>
            <a:srgbClr val="1A3550"/>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398264"/>
            <a:ext cx="1371600" cy="411480"/>
          </a:xfrm>
          <a:prstGeom prst="rect">
            <a:avLst/>
          </a:prstGeom>
          <a:noFill/>
        </p:spPr>
        <p:txBody>
          <a:bodyPr wrap="square" anchor="t"/>
          <a:lstStyle/>
          <a:p>
            <a:pPr algn="ctr"/>
            <a:r>
              <a:rPr sz="1300" b="1" i="0">
                <a:solidFill>
                  <a:srgbClr val="4CAF50"/>
                </a:solidFill>
                <a:latin typeface="Calibri"/>
              </a:rPr>
              <a:t>Months 4–5</a:t>
            </a:r>
          </a:p>
        </p:txBody>
      </p:sp>
      <p:sp>
        <p:nvSpPr>
          <p:cNvPr id="17" name="Rectangle 16"/>
          <p:cNvSpPr/>
          <p:nvPr/>
        </p:nvSpPr>
        <p:spPr>
          <a:xfrm>
            <a:off x="2057400" y="4078224"/>
            <a:ext cx="9582912" cy="96012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31720" y="4187952"/>
            <a:ext cx="9217152" cy="365760"/>
          </a:xfrm>
          <a:prstGeom prst="rect">
            <a:avLst/>
          </a:prstGeom>
          <a:noFill/>
        </p:spPr>
        <p:txBody>
          <a:bodyPr wrap="square" anchor="t"/>
          <a:lstStyle/>
          <a:p>
            <a:pPr algn="l"/>
            <a:r>
              <a:rPr sz="1500" b="1" i="0">
                <a:solidFill>
                  <a:srgbClr val="FFFFFF"/>
                </a:solidFill>
                <a:latin typeface="Calibri"/>
              </a:rPr>
              <a:t>Confidence layer — per-word and per-segment, both calibrated.</a:t>
            </a:r>
          </a:p>
        </p:txBody>
      </p:sp>
      <p:sp>
        <p:nvSpPr>
          <p:cNvPr id="19" name="TextBox 18"/>
          <p:cNvSpPr txBox="1"/>
          <p:nvPr/>
        </p:nvSpPr>
        <p:spPr>
          <a:xfrm>
            <a:off x="2331720" y="4535424"/>
            <a:ext cx="9217152" cy="457200"/>
          </a:xfrm>
          <a:prstGeom prst="rect">
            <a:avLst/>
          </a:prstGeom>
          <a:noFill/>
        </p:spPr>
        <p:txBody>
          <a:bodyPr wrap="square" anchor="t"/>
          <a:lstStyle/>
          <a:p>
            <a:pPr algn="l"/>
            <a:r>
              <a:rPr sz="1200" b="0" i="1">
                <a:solidFill>
                  <a:srgbClr val="AAAAAA"/>
                </a:solidFill>
                <a:latin typeface="Calibri"/>
              </a:rPr>
              <a:t>Token-level softmax extracted from the LLaMA decoder; per-word and per-segment confidence shipped; thresholds calibrated against 1,497 expert-reviewed segments.</a:t>
            </a:r>
          </a:p>
        </p:txBody>
      </p:sp>
      <p:sp>
        <p:nvSpPr>
          <p:cNvPr id="20" name="Rectangle 19"/>
          <p:cNvSpPr/>
          <p:nvPr/>
        </p:nvSpPr>
        <p:spPr>
          <a:xfrm>
            <a:off x="548640" y="5157216"/>
            <a:ext cx="1371600" cy="960120"/>
          </a:xfrm>
          <a:prstGeom prst="rect">
            <a:avLst/>
          </a:prstGeom>
          <a:solidFill>
            <a:srgbClr val="1A3550"/>
          </a:solidFill>
          <a:ln w="127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477256"/>
            <a:ext cx="1371600" cy="411480"/>
          </a:xfrm>
          <a:prstGeom prst="rect">
            <a:avLst/>
          </a:prstGeom>
          <a:noFill/>
        </p:spPr>
        <p:txBody>
          <a:bodyPr wrap="square" anchor="t"/>
          <a:lstStyle/>
          <a:p>
            <a:pPr algn="ctr"/>
            <a:r>
              <a:rPr sz="1300" b="1" i="0">
                <a:solidFill>
                  <a:srgbClr val="E06C75"/>
                </a:solidFill>
                <a:latin typeface="Calibri"/>
              </a:rPr>
              <a:t>Months 5–6</a:t>
            </a:r>
          </a:p>
        </p:txBody>
      </p:sp>
      <p:sp>
        <p:nvSpPr>
          <p:cNvPr id="22" name="Rectangle 21"/>
          <p:cNvSpPr/>
          <p:nvPr/>
        </p:nvSpPr>
        <p:spPr>
          <a:xfrm>
            <a:off x="2057400" y="5157216"/>
            <a:ext cx="9582912" cy="960120"/>
          </a:xfrm>
          <a:prstGeom prst="rect">
            <a:avLst/>
          </a:prstGeom>
          <a:solidFill>
            <a:srgbClr val="15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31720" y="5266944"/>
            <a:ext cx="9217152" cy="365760"/>
          </a:xfrm>
          <a:prstGeom prst="rect">
            <a:avLst/>
          </a:prstGeom>
          <a:noFill/>
        </p:spPr>
        <p:txBody>
          <a:bodyPr wrap="square" anchor="t"/>
          <a:lstStyle/>
          <a:p>
            <a:pPr algn="l"/>
            <a:r>
              <a:rPr sz="1500" b="1" i="0">
                <a:solidFill>
                  <a:srgbClr val="FFFFFF"/>
                </a:solidFill>
                <a:latin typeface="Calibri"/>
              </a:rPr>
              <a:t>Beam-aggregation pipeline built; consensus output shipped as default.</a:t>
            </a:r>
          </a:p>
        </p:txBody>
      </p:sp>
      <p:sp>
        <p:nvSpPr>
          <p:cNvPr id="24" name="TextBox 23"/>
          <p:cNvSpPr txBox="1"/>
          <p:nvPr/>
        </p:nvSpPr>
        <p:spPr>
          <a:xfrm>
            <a:off x="2331720" y="5614416"/>
            <a:ext cx="9217152" cy="457200"/>
          </a:xfrm>
          <a:prstGeom prst="rect">
            <a:avLst/>
          </a:prstGeom>
          <a:noFill/>
        </p:spPr>
        <p:txBody>
          <a:bodyPr wrap="square" anchor="t"/>
          <a:lstStyle/>
          <a:p>
            <a:pPr algn="l"/>
            <a:r>
              <a:rPr sz="1200" b="0" i="1">
                <a:solidFill>
                  <a:srgbClr val="AAAAAA"/>
                </a:solidFill>
                <a:latin typeface="Calibri"/>
              </a:rPr>
              <a:t>Beam-aggregation pipeline built; consensus output shipped as default. Validated against an independent blind evaluator with a measurable improvement on the meaning-preservation judgment.</a:t>
            </a:r>
          </a:p>
        </p:txBody>
      </p:sp>
      <p:sp>
        <p:nvSpPr>
          <p:cNvPr id="25" name="TextBox 24"/>
          <p:cNvSpPr txBox="1"/>
          <p:nvPr/>
        </p:nvSpPr>
        <p:spPr>
          <a:xfrm>
            <a:off x="548640" y="6263640"/>
            <a:ext cx="11091672" cy="365760"/>
          </a:xfrm>
          <a:prstGeom prst="rect">
            <a:avLst/>
          </a:prstGeom>
          <a:noFill/>
        </p:spPr>
        <p:txBody>
          <a:bodyPr wrap="square" anchor="t"/>
          <a:lstStyle/>
          <a:p>
            <a:pPr algn="ctr"/>
            <a:r>
              <a:rPr sz="1100" b="0" i="1">
                <a:solidFill>
                  <a:srgbClr val="00B4D8"/>
                </a:solidFill>
                <a:latin typeface="Calibri"/>
              </a:rPr>
              <a:t>Every problem solved is documented. Every change is replicated between AWS and the production container.</a:t>
            </a:r>
          </a:p>
        </p:txBody>
      </p:sp>
      <p:pic>
        <p:nvPicPr>
          <p:cNvPr id="26" name="Picture 2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7" name="TextBox 2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12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24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36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48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12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24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36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48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12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24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36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48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7.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Building the Pipeline: The Engineering Journey</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1040" y="1417320"/>
            <a:ext cx="3291840" cy="4114800"/>
          </a:xfrm>
          <a:prstGeom prst="roundRect">
            <a:avLst/>
          </a:prstGeom>
          <a:solidFill>
            <a:srgbClr val="152A40"/>
          </a:solidFill>
          <a:ln w="317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3920" y="1554480"/>
            <a:ext cx="2926080" cy="502920"/>
          </a:xfrm>
          <a:prstGeom prst="rect">
            <a:avLst/>
          </a:prstGeom>
          <a:noFill/>
        </p:spPr>
        <p:txBody>
          <a:bodyPr wrap="square" anchor="t"/>
          <a:lstStyle/>
          <a:p>
            <a:pPr algn="ctr"/>
            <a:r>
              <a:rPr sz="2400" b="1" i="0">
                <a:solidFill>
                  <a:srgbClr val="00B4D8"/>
                </a:solidFill>
                <a:latin typeface="Calibri"/>
              </a:rPr>
              <a:t>Pipeline Build</a:t>
            </a:r>
          </a:p>
        </p:txBody>
      </p:sp>
      <p:sp>
        <p:nvSpPr>
          <p:cNvPr id="6" name="TextBox 5"/>
          <p:cNvSpPr txBox="1"/>
          <p:nvPr/>
        </p:nvSpPr>
        <p:spPr>
          <a:xfrm>
            <a:off x="883920" y="2057400"/>
            <a:ext cx="2926080" cy="274320"/>
          </a:xfrm>
          <a:prstGeom prst="rect">
            <a:avLst/>
          </a:prstGeom>
          <a:noFill/>
        </p:spPr>
        <p:txBody>
          <a:bodyPr wrap="square" anchor="t"/>
          <a:lstStyle/>
          <a:p>
            <a:pPr algn="ctr"/>
            <a:r>
              <a:rPr sz="1800" b="0" i="1">
                <a:solidFill>
                  <a:srgbClr val="AAAAAA"/>
                </a:solidFill>
                <a:latin typeface="Calibri"/>
              </a:rPr>
              <a:t>~2–3 weeks</a:t>
            </a:r>
          </a:p>
        </p:txBody>
      </p:sp>
      <p:sp>
        <p:nvSpPr>
          <p:cNvPr id="7" name="TextBox 6"/>
          <p:cNvSpPr txBox="1"/>
          <p:nvPr/>
        </p:nvSpPr>
        <p:spPr>
          <a:xfrm>
            <a:off x="838200" y="2423160"/>
            <a:ext cx="3017520" cy="29260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3 independent repos with no docs</a:t>
            </a:r>
          </a:p>
          <a:p>
            <a:pPr algn="l">
              <a:spcAft>
                <a:spcPts val="600"/>
              </a:spcAft>
            </a:pPr>
            <a:r>
              <a:rPr sz="2400" b="1">
                <a:solidFill>
                  <a:srgbClr val="00B4D8"/>
                </a:solidFill>
                <a:latin typeface="Calibri"/>
              </a:rPr>
              <a:t>• </a:t>
            </a:r>
            <a:r>
              <a:rPr sz="2400" b="0">
                <a:solidFill>
                  <a:srgbClr val="FFFFFF"/>
                </a:solidFill>
                <a:latin typeface="Calibri"/>
              </a:rPr>
              <a:t>Hardcoded paths everywhere</a:t>
            </a:r>
          </a:p>
          <a:p>
            <a:pPr algn="l">
              <a:spcAft>
                <a:spcPts val="600"/>
              </a:spcAft>
            </a:pPr>
            <a:r>
              <a:rPr sz="2400" b="1">
                <a:solidFill>
                  <a:srgbClr val="00B4D8"/>
                </a:solidFill>
                <a:latin typeface="Calibri"/>
              </a:rPr>
              <a:t>• </a:t>
            </a:r>
            <a:r>
              <a:rPr sz="2400" b="0">
                <a:solidFill>
                  <a:srgbClr val="FFFFFF"/>
                </a:solidFill>
                <a:latin typeface="Calibri"/>
              </a:rPr>
              <a:t>No error handling or logging</a:t>
            </a:r>
          </a:p>
          <a:p>
            <a:pPr algn="l">
              <a:spcAft>
                <a:spcPts val="600"/>
              </a:spcAft>
            </a:pPr>
            <a:r>
              <a:rPr sz="2400" b="1">
                <a:solidFill>
                  <a:srgbClr val="00B4D8"/>
                </a:solidFill>
                <a:latin typeface="Calibri"/>
              </a:rPr>
              <a:t>• </a:t>
            </a:r>
            <a:r>
              <a:rPr sz="2400" b="0">
                <a:solidFill>
                  <a:srgbClr val="FFFFFF"/>
                </a:solidFill>
                <a:latin typeface="Calibri"/>
              </a:rPr>
              <a:t>Built 8-stage orchestration
pipeline from scratch</a:t>
            </a:r>
          </a:p>
          <a:p>
            <a:pPr algn="l">
              <a:spcAft>
                <a:spcPts val="600"/>
              </a:spcAft>
            </a:pPr>
            <a:r>
              <a:rPr sz="2400" b="1">
                <a:solidFill>
                  <a:srgbClr val="00B4D8"/>
                </a:solidFill>
                <a:latin typeface="Calibri"/>
              </a:rPr>
              <a:t>• </a:t>
            </a:r>
            <a:r>
              <a:rPr sz="2400" b="0">
                <a:solidFill>
                  <a:srgbClr val="FFFFFF"/>
                </a:solidFill>
                <a:latin typeface="Calibri"/>
              </a:rPr>
              <a:t>Added venv management,
GPU detection, logging</a:t>
            </a:r>
          </a:p>
        </p:txBody>
      </p:sp>
      <p:sp>
        <p:nvSpPr>
          <p:cNvPr id="8" name="Rounded Rectangle 7"/>
          <p:cNvSpPr/>
          <p:nvPr/>
        </p:nvSpPr>
        <p:spPr>
          <a:xfrm>
            <a:off x="4450080" y="1417320"/>
            <a:ext cx="3291840" cy="4114800"/>
          </a:xfrm>
          <a:prstGeom prst="roundRect">
            <a:avLst/>
          </a:prstGeom>
          <a:solidFill>
            <a:srgbClr val="152A40"/>
          </a:solidFill>
          <a:ln w="317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2960" y="1554480"/>
            <a:ext cx="2926080" cy="502920"/>
          </a:xfrm>
          <a:prstGeom prst="rect">
            <a:avLst/>
          </a:prstGeom>
          <a:noFill/>
        </p:spPr>
        <p:txBody>
          <a:bodyPr wrap="square" anchor="t"/>
          <a:lstStyle/>
          <a:p>
            <a:pPr algn="ctr"/>
            <a:r>
              <a:rPr sz="2400" b="1" i="0">
                <a:solidFill>
                  <a:srgbClr val="E06C75"/>
                </a:solidFill>
                <a:latin typeface="Calibri"/>
              </a:rPr>
              <a:t>Migration</a:t>
            </a:r>
          </a:p>
        </p:txBody>
      </p:sp>
      <p:sp>
        <p:nvSpPr>
          <p:cNvPr id="10" name="TextBox 9"/>
          <p:cNvSpPr txBox="1"/>
          <p:nvPr/>
        </p:nvSpPr>
        <p:spPr>
          <a:xfrm>
            <a:off x="4632960" y="2057400"/>
            <a:ext cx="2926080" cy="274320"/>
          </a:xfrm>
          <a:prstGeom prst="rect">
            <a:avLst/>
          </a:prstGeom>
          <a:noFill/>
        </p:spPr>
        <p:txBody>
          <a:bodyPr wrap="square" anchor="t"/>
          <a:lstStyle/>
          <a:p>
            <a:pPr algn="ctr"/>
            <a:r>
              <a:rPr sz="1800" b="0" i="1">
                <a:solidFill>
                  <a:srgbClr val="AAAAAA"/>
                </a:solidFill>
                <a:latin typeface="Calibri"/>
              </a:rPr>
              <a:t>~4–5 weeks</a:t>
            </a:r>
          </a:p>
        </p:txBody>
      </p:sp>
      <p:sp>
        <p:nvSpPr>
          <p:cNvPr id="11" name="TextBox 10"/>
          <p:cNvSpPr txBox="1"/>
          <p:nvPr/>
        </p:nvSpPr>
        <p:spPr>
          <a:xfrm>
            <a:off x="4587240" y="2423160"/>
            <a:ext cx="3017520" cy="29260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EC2 → Docker container</a:t>
            </a:r>
          </a:p>
          <a:p>
            <a:pPr algn="l">
              <a:spcAft>
                <a:spcPts val="600"/>
              </a:spcAft>
            </a:pPr>
            <a:r>
              <a:rPr sz="2400" b="1">
                <a:solidFill>
                  <a:srgbClr val="00B4D8"/>
                </a:solidFill>
                <a:latin typeface="Calibri"/>
              </a:rPr>
              <a:t>• </a:t>
            </a:r>
            <a:r>
              <a:rPr sz="2400" b="0">
                <a:solidFill>
                  <a:srgbClr val="FFFFFF"/>
                </a:solidFill>
                <a:latin typeface="Calibri"/>
              </a:rPr>
              <a:t>Missing NVIDIA GPU drivers</a:t>
            </a:r>
          </a:p>
          <a:p>
            <a:pPr algn="l">
              <a:spcAft>
                <a:spcPts val="600"/>
              </a:spcAft>
            </a:pPr>
            <a:r>
              <a:rPr sz="2400" b="1">
                <a:solidFill>
                  <a:srgbClr val="00B4D8"/>
                </a:solidFill>
                <a:latin typeface="Calibri"/>
              </a:rPr>
              <a:t>• </a:t>
            </a:r>
            <a:r>
              <a:rPr sz="2400" b="0">
                <a:solidFill>
                  <a:srgbClr val="FFFFFF"/>
                </a:solidFill>
                <a:latin typeface="Calibri"/>
              </a:rPr>
              <a:t>Python version conflicts</a:t>
            </a:r>
          </a:p>
          <a:p>
            <a:pPr algn="l">
              <a:spcAft>
                <a:spcPts val="600"/>
              </a:spcAft>
            </a:pPr>
            <a:r>
              <a:rPr sz="2400" b="1">
                <a:solidFill>
                  <a:srgbClr val="00B4D8"/>
                </a:solidFill>
                <a:latin typeface="Calibri"/>
              </a:rPr>
              <a:t>• </a:t>
            </a:r>
            <a:r>
              <a:rPr sz="2400" b="0">
                <a:solidFill>
                  <a:srgbClr val="FFFFFF"/>
                </a:solidFill>
                <a:latin typeface="Calibri"/>
              </a:rPr>
              <a:t>Offline dependency packaging
(no internet in container)</a:t>
            </a:r>
          </a:p>
          <a:p>
            <a:pPr algn="l">
              <a:spcAft>
                <a:spcPts val="600"/>
              </a:spcAft>
            </a:pPr>
            <a:r>
              <a:rPr sz="2400" b="1">
                <a:solidFill>
                  <a:srgbClr val="00B4D8"/>
                </a:solidFill>
                <a:latin typeface="Calibri"/>
              </a:rPr>
              <a:t>• </a:t>
            </a:r>
            <a:r>
              <a:rPr sz="2400" b="0">
                <a:solidFill>
                  <a:srgbClr val="FFFFFF"/>
                </a:solidFill>
                <a:latin typeface="Calibri"/>
              </a:rPr>
              <a:t>spaCy wheels, fairseq patches,
Cython compilation</a:t>
            </a:r>
          </a:p>
          <a:p>
            <a:pPr algn="l">
              <a:spcAft>
                <a:spcPts val="600"/>
              </a:spcAft>
            </a:pPr>
            <a:r>
              <a:rPr sz="2400" b="1">
                <a:solidFill>
                  <a:srgbClr val="00B4D8"/>
                </a:solidFill>
                <a:latin typeface="Calibri"/>
              </a:rPr>
              <a:t>• </a:t>
            </a:r>
            <a:r>
              <a:rPr sz="2400" b="0">
                <a:solidFill>
                  <a:srgbClr val="FFFFFF"/>
                </a:solidFill>
                <a:latin typeface="Calibri"/>
              </a:rPr>
              <a:t>Web UI migration (1–2 weeks
within this phase)</a:t>
            </a:r>
          </a:p>
        </p:txBody>
      </p:sp>
      <p:sp>
        <p:nvSpPr>
          <p:cNvPr id="12" name="Rounded Rectangle 11"/>
          <p:cNvSpPr/>
          <p:nvPr/>
        </p:nvSpPr>
        <p:spPr>
          <a:xfrm>
            <a:off x="8199120" y="1417320"/>
            <a:ext cx="3291840" cy="4114800"/>
          </a:xfrm>
          <a:prstGeom prst="roundRect">
            <a:avLst/>
          </a:prstGeom>
          <a:solidFill>
            <a:srgbClr val="152A40"/>
          </a:solidFill>
          <a:ln w="317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2000" y="1554480"/>
            <a:ext cx="2926080" cy="502920"/>
          </a:xfrm>
          <a:prstGeom prst="rect">
            <a:avLst/>
          </a:prstGeom>
          <a:noFill/>
        </p:spPr>
        <p:txBody>
          <a:bodyPr wrap="square" anchor="t"/>
          <a:lstStyle/>
          <a:p>
            <a:pPr algn="ctr"/>
            <a:r>
              <a:rPr sz="2400" b="1" i="0">
                <a:solidFill>
                  <a:srgbClr val="4CAF50"/>
                </a:solidFill>
                <a:latin typeface="Calibri"/>
              </a:rPr>
              <a:t>Bug Fixing &amp;</a:t>
            </a:r>
            <a:br/>
            <a:r>
              <a:rPr sz="2400" b="1" i="0">
                <a:solidFill>
                  <a:srgbClr val="4CAF50"/>
                </a:solidFill>
                <a:latin typeface="Calibri"/>
              </a:rPr>
              <a:t>Refactoring</a:t>
            </a:r>
          </a:p>
        </p:txBody>
      </p:sp>
      <p:sp>
        <p:nvSpPr>
          <p:cNvPr id="14" name="TextBox 13"/>
          <p:cNvSpPr txBox="1"/>
          <p:nvPr/>
        </p:nvSpPr>
        <p:spPr>
          <a:xfrm>
            <a:off x="8382000" y="2057400"/>
            <a:ext cx="2926080" cy="274320"/>
          </a:xfrm>
          <a:prstGeom prst="rect">
            <a:avLst/>
          </a:prstGeom>
          <a:noFill/>
        </p:spPr>
        <p:txBody>
          <a:bodyPr wrap="square" anchor="t"/>
          <a:lstStyle/>
          <a:p>
            <a:pPr algn="ctr"/>
            <a:r>
              <a:rPr sz="1800" b="0" i="1">
                <a:solidFill>
                  <a:srgbClr val="AAAAAA"/>
                </a:solidFill>
                <a:latin typeface="Calibri"/>
              </a:rPr>
              <a:t>Ongoing</a:t>
            </a:r>
          </a:p>
        </p:txBody>
      </p:sp>
      <p:sp>
        <p:nvSpPr>
          <p:cNvPr id="15" name="TextBox 14"/>
          <p:cNvSpPr txBox="1"/>
          <p:nvPr/>
        </p:nvSpPr>
        <p:spPr>
          <a:xfrm>
            <a:off x="8336280" y="2423160"/>
            <a:ext cx="3017520" cy="29260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37+ bugs found and fixed</a:t>
            </a:r>
          </a:p>
          <a:p>
            <a:pPr algn="l">
              <a:spcAft>
                <a:spcPts val="600"/>
              </a:spcAft>
            </a:pPr>
            <a:r>
              <a:rPr sz="2400" b="1">
                <a:solidFill>
                  <a:srgbClr val="00B4D8"/>
                </a:solidFill>
                <a:latin typeface="Calibri"/>
              </a:rPr>
              <a:t>• </a:t>
            </a:r>
            <a:r>
              <a:rPr sz="2400" b="0">
                <a:solidFill>
                  <a:srgbClr val="FFFFFF"/>
                </a:solidFill>
                <a:latin typeface="Calibri"/>
              </a:rPr>
              <a:t>NVENC silent corruption
(destroyed 43% of videos)</a:t>
            </a:r>
          </a:p>
          <a:p>
            <a:pPr algn="l">
              <a:spcAft>
                <a:spcPts val="600"/>
              </a:spcAft>
            </a:pPr>
            <a:r>
              <a:rPr sz="2400" b="1">
                <a:solidFill>
                  <a:srgbClr val="00B4D8"/>
                </a:solidFill>
                <a:latin typeface="Calibri"/>
              </a:rPr>
              <a:t>• </a:t>
            </a:r>
            <a:r>
              <a:rPr sz="2400" b="0">
                <a:solidFill>
                  <a:srgbClr val="FFFFFF"/>
                </a:solidFill>
                <a:latin typeface="Calibri"/>
              </a:rPr>
              <a:t>HDR/10-bit tone mapping</a:t>
            </a:r>
          </a:p>
          <a:p>
            <a:pPr algn="l">
              <a:spcAft>
                <a:spcPts val="600"/>
              </a:spcAft>
            </a:pPr>
            <a:r>
              <a:rPr sz="2400" b="1">
                <a:solidFill>
                  <a:srgbClr val="00B4D8"/>
                </a:solidFill>
                <a:latin typeface="Calibri"/>
              </a:rPr>
              <a:t>• </a:t>
            </a:r>
            <a:r>
              <a:rPr sz="2400" b="0">
                <a:solidFill>
                  <a:srgbClr val="FFFFFF"/>
                </a:solidFill>
                <a:latin typeface="Calibri"/>
              </a:rPr>
              <a:t>823-line monolith → 11 modules
(52% reduction)</a:t>
            </a:r>
          </a:p>
          <a:p>
            <a:pPr algn="l">
              <a:spcAft>
                <a:spcPts val="600"/>
              </a:spcAft>
            </a:pPr>
            <a:r>
              <a:rPr sz="2400" b="1">
                <a:solidFill>
                  <a:srgbClr val="00B4D8"/>
                </a:solidFill>
                <a:latin typeface="Calibri"/>
              </a:rPr>
              <a:t>• </a:t>
            </a:r>
            <a:r>
              <a:rPr sz="2400" b="0">
                <a:solidFill>
                  <a:srgbClr val="FFFFFF"/>
                </a:solidFill>
                <a:latin typeface="Calibri"/>
              </a:rPr>
              <a:t>37 automated tests added</a:t>
            </a:r>
          </a:p>
        </p:txBody>
      </p:sp>
      <p:sp>
        <p:nvSpPr>
          <p:cNvPr id="16" name="TextBox 15"/>
          <p:cNvSpPr txBox="1"/>
          <p:nvPr/>
        </p:nvSpPr>
        <p:spPr>
          <a:xfrm>
            <a:off x="548640" y="5760720"/>
            <a:ext cx="11091672" cy="365760"/>
          </a:xfrm>
          <a:prstGeom prst="rect">
            <a:avLst/>
          </a:prstGeom>
          <a:noFill/>
        </p:spPr>
        <p:txBody>
          <a:bodyPr wrap="square" anchor="t"/>
          <a:lstStyle/>
          <a:p>
            <a:pPr algn="ctr"/>
            <a:r>
              <a:rPr sz="2400" b="0" i="1">
                <a:solidFill>
                  <a:srgbClr val="FFFFFF"/>
                </a:solidFill>
                <a:latin typeface="Calibri"/>
              </a:rPr>
              <a:t>Every bug documented with root cause. Every change synced between EC2 and production container.</a:t>
            </a:r>
          </a:p>
        </p:txBody>
      </p:sp>
      <p:pic>
        <p:nvPicPr>
          <p:cNvPr id="17" name="Picture 1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8" name="TextBox 1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12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24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36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Standalone Container — No Cloud Required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5074920"/>
          </a:xfrm>
          <a:prstGeom prst="rect">
            <a:avLst/>
          </a:prstGeom>
          <a:noFill/>
        </p:spPr>
        <p:txBody>
          <a:bodyPr wrap="square">
            <a:spAutoFit/>
          </a:bodyPr>
          <a:lstStyle/>
          <a:p>
            <a:pPr algn="l">
              <a:spcAft>
                <a:spcPts val="600"/>
              </a:spcAft>
            </a:pPr>
            <a:r>
              <a:rPr sz="1500" b="1">
                <a:solidFill>
                  <a:srgbClr val="00B4D8"/>
                </a:solidFill>
                <a:latin typeface="Calibri"/>
              </a:rPr>
              <a:t>• </a:t>
            </a:r>
            <a:r>
              <a:rPr sz="1500" b="0">
                <a:solidFill>
                  <a:srgbClr val="FFFFFF"/>
                </a:solidFill>
                <a:latin typeface="Calibri"/>
              </a:rPr>
              <a:t>Docker container with web UI on Linux machine</a:t>
            </a:r>
          </a:p>
          <a:p>
            <a:pPr algn="l">
              <a:spcAft>
                <a:spcPts val="600"/>
              </a:spcAft>
            </a:pPr>
            <a:r>
              <a:rPr sz="1500" b="1">
                <a:solidFill>
                  <a:srgbClr val="00B4D8"/>
                </a:solidFill>
                <a:latin typeface="Calibri"/>
              </a:rPr>
              <a:t>• </a:t>
            </a:r>
            <a:r>
              <a:rPr sz="1500" b="0">
                <a:solidFill>
                  <a:srgbClr val="FFFFFF"/>
                </a:solidFill>
                <a:latin typeface="Calibri"/>
              </a:rPr>
              <a:t>Drag-and-drop video upload</a:t>
            </a:r>
          </a:p>
          <a:p>
            <a:pPr algn="l">
              <a:spcAft>
                <a:spcPts val="600"/>
              </a:spcAft>
            </a:pPr>
            <a:r>
              <a:rPr sz="1500" b="1">
                <a:solidFill>
                  <a:srgbClr val="00B4D8"/>
                </a:solidFill>
                <a:latin typeface="Calibri"/>
              </a:rPr>
              <a:t>• </a:t>
            </a:r>
            <a:r>
              <a:rPr sz="1500" b="0">
                <a:solidFill>
                  <a:srgbClr val="FFFFFF"/>
                </a:solidFill>
                <a:latin typeface="Calibri"/>
              </a:rPr>
              <a:t>Automatic end-to-end processing</a:t>
            </a:r>
          </a:p>
          <a:p>
            <a:pPr algn="l">
              <a:spcAft>
                <a:spcPts val="600"/>
              </a:spcAft>
            </a:pPr>
            <a:r>
              <a:rPr sz="1500" b="1">
                <a:solidFill>
                  <a:srgbClr val="00B4D8"/>
                </a:solidFill>
                <a:latin typeface="Calibri"/>
              </a:rPr>
              <a:t>• </a:t>
            </a:r>
            <a:r>
              <a:rPr sz="1500" b="0">
                <a:solidFill>
                  <a:srgbClr val="FFFFFF"/>
                </a:solidFill>
                <a:latin typeface="Calibri"/>
              </a:rPr>
              <a:t>INSTALL.sh overlay with backup and verification</a:t>
            </a:r>
          </a:p>
          <a:p>
            <a:pPr algn="l">
              <a:spcAft>
                <a:spcPts val="600"/>
              </a:spcAft>
            </a:pPr>
            <a:r>
              <a:rPr sz="1500" b="1">
                <a:solidFill>
                  <a:srgbClr val="00B4D8"/>
                </a:solidFill>
                <a:latin typeface="Calibri"/>
              </a:rPr>
              <a:t>• </a:t>
            </a:r>
            <a:r>
              <a:rPr sz="1500" b="1">
                <a:solidFill>
                  <a:srgbClr val="00B4D8"/>
                </a:solidFill>
                <a:latin typeface="Calibri"/>
              </a:rPr>
              <a:t>Currently deployed at client site</a:t>
            </a:r>
          </a:p>
        </p:txBody>
      </p:sp>
      <p:pic>
        <p:nvPicPr>
          <p:cNvPr id="5" name="Picture 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6" name="TextBox 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66</a:t>
            </a:r>
          </a:p>
        </p:txBody>
      </p:sp>
    </p:spTree>
  </p:cSld>
  <p:clrMapOvr>
    <a:masterClrMapping/>
  </p:clrMapOvr>
  <p:transition spd="med" advClick="1">
    <p:fade/>
  </p:transition>
</p:sld>
</file>

<file path=ppt/slides/slide69.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Live Demo</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00200"/>
            <a:ext cx="11091672" cy="1371600"/>
          </a:xfrm>
          <a:prstGeom prst="rect">
            <a:avLst/>
          </a:prstGeom>
          <a:noFill/>
        </p:spPr>
        <p:txBody>
          <a:bodyPr wrap="square" anchor="t"/>
          <a:lstStyle/>
          <a:p>
            <a:pPr algn="ctr"/>
            <a:r>
              <a:rPr sz="9600" b="1" i="0">
                <a:solidFill>
                  <a:srgbClr val="00B4D8"/>
                </a:solidFill>
                <a:latin typeface="Calibri"/>
              </a:rPr>
              <a:t>▶</a:t>
            </a:r>
          </a:p>
        </p:txBody>
      </p:sp>
      <p:sp>
        <p:nvSpPr>
          <p:cNvPr id="5" name="TextBox 4"/>
          <p:cNvSpPr txBox="1"/>
          <p:nvPr/>
        </p:nvSpPr>
        <p:spPr>
          <a:xfrm>
            <a:off x="548640" y="3154680"/>
            <a:ext cx="11091672" cy="548640"/>
          </a:xfrm>
          <a:prstGeom prst="rect">
            <a:avLst/>
          </a:prstGeom>
          <a:noFill/>
        </p:spPr>
        <p:txBody>
          <a:bodyPr wrap="square" anchor="t"/>
          <a:lstStyle/>
          <a:p>
            <a:pPr algn="ctr"/>
            <a:r>
              <a:rPr sz="3600" b="1" i="0">
                <a:solidFill>
                  <a:srgbClr val="FFFFFF"/>
                </a:solidFill>
                <a:latin typeface="Calibri"/>
              </a:rPr>
              <a:t>We will now run the full pipeline live</a:t>
            </a:r>
          </a:p>
        </p:txBody>
      </p:sp>
      <p:sp>
        <p:nvSpPr>
          <p:cNvPr id="6" name="TextBox 5"/>
          <p:cNvSpPr txBox="1"/>
          <p:nvPr/>
        </p:nvSpPr>
        <p:spPr>
          <a:xfrm>
            <a:off x="548640" y="3886200"/>
            <a:ext cx="11091672" cy="457200"/>
          </a:xfrm>
          <a:prstGeom prst="rect">
            <a:avLst/>
          </a:prstGeom>
          <a:noFill/>
        </p:spPr>
        <p:txBody>
          <a:bodyPr wrap="square" anchor="t"/>
          <a:lstStyle/>
          <a:p>
            <a:pPr algn="ctr"/>
            <a:r>
              <a:rPr sz="2400" b="0" i="0">
                <a:solidFill>
                  <a:srgbClr val="AAAAAA"/>
                </a:solidFill>
                <a:latin typeface="Calibri"/>
              </a:rPr>
              <a:t>Upload a video  →  8-stage processing  →  Per-segment results with IS scores</a:t>
            </a:r>
          </a:p>
        </p:txBody>
      </p:sp>
      <p:sp>
        <p:nvSpPr>
          <p:cNvPr id="7" name="Rounded Rectangle 6"/>
          <p:cNvSpPr/>
          <p:nvPr/>
        </p:nvSpPr>
        <p:spPr>
          <a:xfrm>
            <a:off x="975360" y="4800600"/>
            <a:ext cx="2926080" cy="10972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360" y="4846320"/>
            <a:ext cx="2926080" cy="365760"/>
          </a:xfrm>
          <a:prstGeom prst="rect">
            <a:avLst/>
          </a:prstGeom>
          <a:noFill/>
        </p:spPr>
        <p:txBody>
          <a:bodyPr wrap="square" anchor="t"/>
          <a:lstStyle/>
          <a:p>
            <a:pPr algn="ctr"/>
            <a:r>
              <a:rPr sz="3200" b="0" i="0">
                <a:solidFill>
                  <a:srgbClr val="00B4D8"/>
                </a:solidFill>
                <a:latin typeface="Calibri"/>
              </a:rPr>
              <a:t>☁</a:t>
            </a:r>
          </a:p>
        </p:txBody>
      </p:sp>
      <p:sp>
        <p:nvSpPr>
          <p:cNvPr id="9" name="TextBox 8"/>
          <p:cNvSpPr txBox="1"/>
          <p:nvPr/>
        </p:nvSpPr>
        <p:spPr>
          <a:xfrm>
            <a:off x="975360" y="5212080"/>
            <a:ext cx="2926080" cy="274320"/>
          </a:xfrm>
          <a:prstGeom prst="rect">
            <a:avLst/>
          </a:prstGeom>
          <a:noFill/>
        </p:spPr>
        <p:txBody>
          <a:bodyPr wrap="square" anchor="t"/>
          <a:lstStyle/>
          <a:p>
            <a:pPr algn="ctr"/>
            <a:r>
              <a:rPr sz="2400" b="1" i="0">
                <a:solidFill>
                  <a:srgbClr val="FFFFFF"/>
                </a:solidFill>
                <a:latin typeface="Calibri"/>
              </a:rPr>
              <a:t>Drag &amp; Drop</a:t>
            </a:r>
          </a:p>
        </p:txBody>
      </p:sp>
      <p:sp>
        <p:nvSpPr>
          <p:cNvPr id="10" name="TextBox 9"/>
          <p:cNvSpPr txBox="1"/>
          <p:nvPr/>
        </p:nvSpPr>
        <p:spPr>
          <a:xfrm>
            <a:off x="975360" y="5532120"/>
            <a:ext cx="2926080" cy="274320"/>
          </a:xfrm>
          <a:prstGeom prst="rect">
            <a:avLst/>
          </a:prstGeom>
          <a:noFill/>
        </p:spPr>
        <p:txBody>
          <a:bodyPr wrap="square" anchor="t"/>
          <a:lstStyle/>
          <a:p>
            <a:pPr algn="ctr"/>
            <a:r>
              <a:rPr sz="2400" b="0" i="0">
                <a:solidFill>
                  <a:srgbClr val="AAAAAA"/>
                </a:solidFill>
                <a:latin typeface="Calibri"/>
              </a:rPr>
              <a:t>No command line</a:t>
            </a:r>
          </a:p>
        </p:txBody>
      </p:sp>
      <p:sp>
        <p:nvSpPr>
          <p:cNvPr id="11" name="Rounded Rectangle 10"/>
          <p:cNvSpPr/>
          <p:nvPr/>
        </p:nvSpPr>
        <p:spPr>
          <a:xfrm>
            <a:off x="4632960" y="4800600"/>
            <a:ext cx="2926080" cy="10972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2960" y="4846320"/>
            <a:ext cx="2926080" cy="365760"/>
          </a:xfrm>
          <a:prstGeom prst="rect">
            <a:avLst/>
          </a:prstGeom>
          <a:noFill/>
        </p:spPr>
        <p:txBody>
          <a:bodyPr wrap="square" anchor="t"/>
          <a:lstStyle/>
          <a:p>
            <a:pPr algn="ctr"/>
            <a:r>
              <a:rPr sz="3200" b="0" i="0">
                <a:solidFill>
                  <a:srgbClr val="00B4D8"/>
                </a:solidFill>
                <a:latin typeface="Calibri"/>
              </a:rPr>
              <a:t>⚙</a:t>
            </a:r>
          </a:p>
        </p:txBody>
      </p:sp>
      <p:sp>
        <p:nvSpPr>
          <p:cNvPr id="13" name="TextBox 12"/>
          <p:cNvSpPr txBox="1"/>
          <p:nvPr/>
        </p:nvSpPr>
        <p:spPr>
          <a:xfrm>
            <a:off x="4632960" y="5212080"/>
            <a:ext cx="2926080" cy="274320"/>
          </a:xfrm>
          <a:prstGeom prst="rect">
            <a:avLst/>
          </a:prstGeom>
          <a:noFill/>
        </p:spPr>
        <p:txBody>
          <a:bodyPr wrap="square" anchor="t"/>
          <a:lstStyle/>
          <a:p>
            <a:pPr algn="ctr"/>
            <a:r>
              <a:rPr sz="2400" b="1" i="0">
                <a:solidFill>
                  <a:srgbClr val="FFFFFF"/>
                </a:solidFill>
                <a:latin typeface="Calibri"/>
              </a:rPr>
              <a:t>8 Stages</a:t>
            </a:r>
          </a:p>
        </p:txBody>
      </p:sp>
      <p:sp>
        <p:nvSpPr>
          <p:cNvPr id="14" name="TextBox 13"/>
          <p:cNvSpPr txBox="1"/>
          <p:nvPr/>
        </p:nvSpPr>
        <p:spPr>
          <a:xfrm>
            <a:off x="4632960" y="5532120"/>
            <a:ext cx="2926080" cy="274320"/>
          </a:xfrm>
          <a:prstGeom prst="rect">
            <a:avLst/>
          </a:prstGeom>
          <a:noFill/>
        </p:spPr>
        <p:txBody>
          <a:bodyPr wrap="square" anchor="t"/>
          <a:lstStyle/>
          <a:p>
            <a:pPr algn="ctr"/>
            <a:r>
              <a:rPr sz="2400" b="0" i="0">
                <a:solidFill>
                  <a:srgbClr val="AAAAAA"/>
                </a:solidFill>
                <a:latin typeface="Calibri"/>
              </a:rPr>
              <a:t>Fully automatic</a:t>
            </a:r>
          </a:p>
        </p:txBody>
      </p:sp>
      <p:sp>
        <p:nvSpPr>
          <p:cNvPr id="15" name="Rounded Rectangle 14"/>
          <p:cNvSpPr/>
          <p:nvPr/>
        </p:nvSpPr>
        <p:spPr>
          <a:xfrm>
            <a:off x="8290560" y="4800600"/>
            <a:ext cx="2926080" cy="109728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560" y="4846320"/>
            <a:ext cx="2926080" cy="365760"/>
          </a:xfrm>
          <a:prstGeom prst="rect">
            <a:avLst/>
          </a:prstGeom>
          <a:noFill/>
        </p:spPr>
        <p:txBody>
          <a:bodyPr wrap="square" anchor="t"/>
          <a:lstStyle/>
          <a:p>
            <a:pPr algn="ctr"/>
            <a:r>
              <a:rPr sz="3200" b="0" i="0">
                <a:solidFill>
                  <a:srgbClr val="00B4D8"/>
                </a:solidFill>
                <a:latin typeface="Calibri"/>
              </a:rPr>
              <a:t>✔</a:t>
            </a:r>
          </a:p>
        </p:txBody>
      </p:sp>
      <p:sp>
        <p:nvSpPr>
          <p:cNvPr id="17" name="TextBox 16"/>
          <p:cNvSpPr txBox="1"/>
          <p:nvPr/>
        </p:nvSpPr>
        <p:spPr>
          <a:xfrm>
            <a:off x="8290560" y="5212080"/>
            <a:ext cx="2926080" cy="274320"/>
          </a:xfrm>
          <a:prstGeom prst="rect">
            <a:avLst/>
          </a:prstGeom>
          <a:noFill/>
        </p:spPr>
        <p:txBody>
          <a:bodyPr wrap="square" anchor="t"/>
          <a:lstStyle/>
          <a:p>
            <a:pPr algn="ctr"/>
            <a:r>
              <a:rPr sz="2400" b="1" i="0">
                <a:solidFill>
                  <a:srgbClr val="FFFFFF"/>
                </a:solidFill>
                <a:latin typeface="Calibri"/>
              </a:rPr>
              <a:t>IS Scoring</a:t>
            </a:r>
          </a:p>
        </p:txBody>
      </p:sp>
      <p:sp>
        <p:nvSpPr>
          <p:cNvPr id="18" name="TextBox 17"/>
          <p:cNvSpPr txBox="1"/>
          <p:nvPr/>
        </p:nvSpPr>
        <p:spPr>
          <a:xfrm>
            <a:off x="8290560" y="5532120"/>
            <a:ext cx="2926080" cy="274320"/>
          </a:xfrm>
          <a:prstGeom prst="rect">
            <a:avLst/>
          </a:prstGeom>
          <a:noFill/>
        </p:spPr>
        <p:txBody>
          <a:bodyPr wrap="square" anchor="t"/>
          <a:lstStyle/>
          <a:p>
            <a:pPr algn="ctr"/>
            <a:r>
              <a:rPr sz="2400" b="0" i="0">
                <a:solidFill>
                  <a:srgbClr val="AAAAAA"/>
                </a:solidFill>
                <a:latin typeface="Calibri"/>
              </a:rPr>
              <a:t>Per-segment quality</a:t>
            </a:r>
          </a:p>
        </p:txBody>
      </p:sp>
      <p:pic>
        <p:nvPicPr>
          <p:cNvPr id="19" name="Picture 1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0" name="TextBox 1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67</a:t>
            </a:r>
          </a:p>
        </p:txBody>
      </p:sp>
    </p:spTree>
  </p:cSld>
  <p:clrMapOvr>
    <a:masterClrMapping/>
  </p:clrMapOvr>
  <p:transition spd="med"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Pipeline Intelligence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78180" y="1508760"/>
            <a:ext cx="2468880" cy="36576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5340" y="1783080"/>
            <a:ext cx="2194560" cy="914400"/>
          </a:xfrm>
          <a:prstGeom prst="rect">
            <a:avLst/>
          </a:prstGeom>
          <a:noFill/>
        </p:spPr>
        <p:txBody>
          <a:bodyPr wrap="square" anchor="t"/>
          <a:lstStyle/>
          <a:p>
            <a:pPr algn="ctr"/>
            <a:r>
              <a:rPr sz="2400" b="1" i="0">
                <a:solidFill>
                  <a:srgbClr val="00B4D8"/>
                </a:solidFill>
                <a:latin typeface="Calibri"/>
              </a:rPr>
              <a:t>Transcription Reuse</a:t>
            </a:r>
          </a:p>
        </p:txBody>
      </p:sp>
      <p:sp>
        <p:nvSpPr>
          <p:cNvPr id="6" name="TextBox 5"/>
          <p:cNvSpPr txBox="1"/>
          <p:nvPr/>
        </p:nvSpPr>
        <p:spPr>
          <a:xfrm>
            <a:off x="815340" y="2377440"/>
            <a:ext cx="2194560" cy="2468880"/>
          </a:xfrm>
          <a:prstGeom prst="rect">
            <a:avLst/>
          </a:prstGeom>
          <a:noFill/>
        </p:spPr>
        <p:txBody>
          <a:bodyPr wrap="square" anchor="t"/>
          <a:lstStyle/>
          <a:p>
            <a:pPr algn="l"/>
            <a:r>
              <a:rPr sz="2400" b="0" i="0">
                <a:solidFill>
                  <a:srgbClr val="FFFFFF"/>
                </a:solidFill>
                <a:latin typeface="Calibri"/>
              </a:rPr>
              <a:t>Manual corrections persist across runs. Whisper skips matched segments, saving hours.</a:t>
            </a:r>
          </a:p>
        </p:txBody>
      </p:sp>
      <p:sp>
        <p:nvSpPr>
          <p:cNvPr id="7" name="Rounded Rectangle 6"/>
          <p:cNvSpPr/>
          <p:nvPr/>
        </p:nvSpPr>
        <p:spPr>
          <a:xfrm>
            <a:off x="3467100" y="1508760"/>
            <a:ext cx="2468880" cy="36576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4260" y="1783080"/>
            <a:ext cx="2194560" cy="914400"/>
          </a:xfrm>
          <a:prstGeom prst="rect">
            <a:avLst/>
          </a:prstGeom>
          <a:noFill/>
        </p:spPr>
        <p:txBody>
          <a:bodyPr wrap="square" anchor="t"/>
          <a:lstStyle/>
          <a:p>
            <a:pPr algn="ctr"/>
            <a:r>
              <a:rPr sz="2400" b="1" i="0">
                <a:solidFill>
                  <a:srgbClr val="E06C75"/>
                </a:solidFill>
                <a:latin typeface="Calibri"/>
              </a:rPr>
              <a:t>Golden K-means</a:t>
            </a:r>
          </a:p>
        </p:txBody>
      </p:sp>
      <p:sp>
        <p:nvSpPr>
          <p:cNvPr id="9" name="TextBox 8"/>
          <p:cNvSpPr txBox="1"/>
          <p:nvPr/>
        </p:nvSpPr>
        <p:spPr>
          <a:xfrm>
            <a:off x="3604260" y="2377440"/>
            <a:ext cx="2194560" cy="2468880"/>
          </a:xfrm>
          <a:prstGeom prst="rect">
            <a:avLst/>
          </a:prstGeom>
          <a:noFill/>
        </p:spPr>
        <p:txBody>
          <a:bodyPr wrap="square" anchor="t"/>
          <a:lstStyle/>
          <a:p>
            <a:pPr algn="l"/>
            <a:r>
              <a:rPr sz="2400" b="0" i="0">
                <a:solidFill>
                  <a:srgbClr val="FFFFFF"/>
                </a:solidFill>
                <a:latin typeface="Calibri"/>
              </a:rPr>
              <a:t>1,396-video baseline clustering model for consistent feature extraction.</a:t>
            </a:r>
          </a:p>
        </p:txBody>
      </p:sp>
      <p:sp>
        <p:nvSpPr>
          <p:cNvPr id="10" name="Rounded Rectangle 9"/>
          <p:cNvSpPr/>
          <p:nvPr/>
        </p:nvSpPr>
        <p:spPr>
          <a:xfrm>
            <a:off x="6256020" y="1508760"/>
            <a:ext cx="2468880" cy="3657600"/>
          </a:xfrm>
          <a:prstGeom prst="roundRect">
            <a:avLst/>
          </a:prstGeom>
          <a:solidFill>
            <a:srgbClr val="152A40"/>
          </a:solidFill>
          <a:ln w="2540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180" y="1783080"/>
            <a:ext cx="2194560" cy="914400"/>
          </a:xfrm>
          <a:prstGeom prst="rect">
            <a:avLst/>
          </a:prstGeom>
          <a:noFill/>
        </p:spPr>
        <p:txBody>
          <a:bodyPr wrap="square" anchor="t"/>
          <a:lstStyle/>
          <a:p>
            <a:pPr algn="ctr"/>
            <a:r>
              <a:rPr sz="2400" b="1" i="0">
                <a:solidFill>
                  <a:srgbClr val="AAAAAA"/>
                </a:solidFill>
                <a:latin typeface="Calibri"/>
              </a:rPr>
              <a:t>Smart Segmentation</a:t>
            </a:r>
          </a:p>
        </p:txBody>
      </p:sp>
      <p:sp>
        <p:nvSpPr>
          <p:cNvPr id="12" name="TextBox 11"/>
          <p:cNvSpPr txBox="1"/>
          <p:nvPr/>
        </p:nvSpPr>
        <p:spPr>
          <a:xfrm>
            <a:off x="6393180" y="2377440"/>
            <a:ext cx="2194560" cy="2468880"/>
          </a:xfrm>
          <a:prstGeom prst="rect">
            <a:avLst/>
          </a:prstGeom>
          <a:noFill/>
        </p:spPr>
        <p:txBody>
          <a:bodyPr wrap="square" anchor="t"/>
          <a:lstStyle/>
          <a:p>
            <a:pPr algn="l"/>
            <a:r>
              <a:rPr sz="2400" b="0" i="0">
                <a:solidFill>
                  <a:srgbClr val="FFFFFF"/>
                </a:solidFill>
                <a:latin typeface="Calibri"/>
              </a:rPr>
              <a:t>Configurable overlap for context preservation across segment boundaries.</a:t>
            </a:r>
          </a:p>
        </p:txBody>
      </p:sp>
      <p:sp>
        <p:nvSpPr>
          <p:cNvPr id="13" name="Rounded Rectangle 12"/>
          <p:cNvSpPr/>
          <p:nvPr/>
        </p:nvSpPr>
        <p:spPr>
          <a:xfrm>
            <a:off x="9044940" y="1508760"/>
            <a:ext cx="2468880" cy="36576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2100" y="1783080"/>
            <a:ext cx="2194560" cy="914400"/>
          </a:xfrm>
          <a:prstGeom prst="rect">
            <a:avLst/>
          </a:prstGeom>
          <a:noFill/>
        </p:spPr>
        <p:txBody>
          <a:bodyPr wrap="square" anchor="t"/>
          <a:lstStyle/>
          <a:p>
            <a:pPr algn="ctr"/>
            <a:r>
              <a:rPr sz="2400" b="1" i="0">
                <a:solidFill>
                  <a:srgbClr val="4CAF50"/>
                </a:solidFill>
                <a:latin typeface="Calibri"/>
              </a:rPr>
              <a:t>Intelligibility Score (IS)</a:t>
            </a:r>
          </a:p>
        </p:txBody>
      </p:sp>
      <p:sp>
        <p:nvSpPr>
          <p:cNvPr id="15" name="TextBox 14"/>
          <p:cNvSpPr txBox="1"/>
          <p:nvPr/>
        </p:nvSpPr>
        <p:spPr>
          <a:xfrm>
            <a:off x="9182100" y="2377440"/>
            <a:ext cx="2194560" cy="2468880"/>
          </a:xfrm>
          <a:prstGeom prst="rect">
            <a:avLst/>
          </a:prstGeom>
          <a:noFill/>
        </p:spPr>
        <p:txBody>
          <a:bodyPr wrap="square" anchor="t"/>
          <a:lstStyle/>
          <a:p>
            <a:pPr algn="l"/>
            <a:r>
              <a:rPr sz="2400" b="0" i="0">
                <a:solidFill>
                  <a:srgbClr val="FFFFFF"/>
                </a:solidFill>
                <a:latin typeface="Calibri"/>
              </a:rPr>
              <a:t>0–5 composite of 6 signals. Rubric and weights designed once, distilled into deterministic code (no LLM calls at runtime). Validated: r=0.93, κ=0.77 across 16 configs.</a:t>
            </a:r>
          </a:p>
        </p:txBody>
      </p:sp>
      <p:pic>
        <p:nvPicPr>
          <p:cNvPr id="16" name="Picture 1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24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Two Environments: Development and Production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400" b="1" i="0">
                <a:solidFill>
                  <a:srgbClr val="00B4D8"/>
                </a:solidFill>
                <a:latin typeface="Calibri"/>
              </a:rPr>
              <a:t>EC2 (Development)</a:t>
            </a:r>
          </a:p>
        </p:txBody>
      </p:sp>
      <p:sp>
        <p:nvSpPr>
          <p:cNvPr id="5" name="Rounded Rectangle 4"/>
          <p:cNvSpPr/>
          <p:nvPr/>
        </p:nvSpPr>
        <p:spPr>
          <a:xfrm>
            <a:off x="548640" y="1783080"/>
            <a:ext cx="5029200" cy="13716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74520"/>
            <a:ext cx="4663440" cy="20116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Full research environment</a:t>
            </a:r>
          </a:p>
          <a:p>
            <a:pPr algn="l">
              <a:spcAft>
                <a:spcPts val="600"/>
              </a:spcAft>
            </a:pPr>
            <a:r>
              <a:rPr sz="2400" b="1">
                <a:solidFill>
                  <a:srgbClr val="00B4D8"/>
                </a:solidFill>
                <a:latin typeface="Calibri"/>
              </a:rPr>
              <a:t>• </a:t>
            </a:r>
            <a:r>
              <a:rPr sz="2400" b="0">
                <a:solidFill>
                  <a:srgbClr val="FFFFFF"/>
                </a:solidFill>
                <a:latin typeface="Calibri"/>
              </a:rPr>
              <a:t>GPU: Tesla T4 (16GB)</a:t>
            </a:r>
          </a:p>
          <a:p>
            <a:pPr algn="l">
              <a:spcAft>
                <a:spcPts val="600"/>
              </a:spcAft>
            </a:pPr>
            <a:r>
              <a:rPr sz="2400" b="1">
                <a:solidFill>
                  <a:srgbClr val="00B4D8"/>
                </a:solidFill>
                <a:latin typeface="Calibri"/>
              </a:rPr>
              <a:t>• </a:t>
            </a:r>
            <a:r>
              <a:rPr sz="2400" b="0">
                <a:solidFill>
                  <a:srgbClr val="FFFFFF"/>
                </a:solidFill>
                <a:latin typeface="Calibri"/>
              </a:rPr>
              <a:t>Path: /home/ubuntu/</a:t>
            </a:r>
          </a:p>
          <a:p>
            <a:pPr algn="l">
              <a:spcAft>
                <a:spcPts val="600"/>
              </a:spcAft>
            </a:pPr>
            <a:r>
              <a:rPr sz="2400" b="1">
                <a:solidFill>
                  <a:srgbClr val="00B4D8"/>
                </a:solidFill>
                <a:latin typeface="Calibri"/>
              </a:rPr>
              <a:t>• </a:t>
            </a:r>
            <a:r>
              <a:rPr sz="2400" b="0">
                <a:solidFill>
                  <a:srgbClr val="FFFFFF"/>
                </a:solidFill>
                <a:latin typeface="Calibri"/>
              </a:rPr>
              <a:t>All datasets and evaluation tools</a:t>
            </a:r>
          </a:p>
        </p:txBody>
      </p:sp>
      <p:sp>
        <p:nvSpPr>
          <p:cNvPr id="7" name="TextBox 6"/>
          <p:cNvSpPr txBox="1"/>
          <p:nvPr/>
        </p:nvSpPr>
        <p:spPr>
          <a:xfrm>
            <a:off x="548640" y="3429000"/>
            <a:ext cx="5029200" cy="365760"/>
          </a:xfrm>
          <a:prstGeom prst="rect">
            <a:avLst/>
          </a:prstGeom>
          <a:noFill/>
        </p:spPr>
        <p:txBody>
          <a:bodyPr wrap="square" anchor="t"/>
          <a:lstStyle/>
          <a:p>
            <a:pPr algn="l"/>
            <a:r>
              <a:rPr sz="2400" b="1" i="0">
                <a:solidFill>
                  <a:srgbClr val="E06C75"/>
                </a:solidFill>
                <a:latin typeface="Calibri"/>
              </a:rPr>
              <a:t>Container (Production)</a:t>
            </a:r>
          </a:p>
        </p:txBody>
      </p:sp>
      <p:sp>
        <p:nvSpPr>
          <p:cNvPr id="8" name="Rounded Rectangle 7"/>
          <p:cNvSpPr/>
          <p:nvPr/>
        </p:nvSpPr>
        <p:spPr>
          <a:xfrm>
            <a:off x="548640" y="3886200"/>
            <a:ext cx="5029200" cy="13716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977640"/>
            <a:ext cx="4663440" cy="20116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Docker container, no internet</a:t>
            </a:r>
          </a:p>
          <a:p>
            <a:pPr algn="l">
              <a:spcAft>
                <a:spcPts val="600"/>
              </a:spcAft>
            </a:pPr>
            <a:r>
              <a:rPr sz="2400" b="1">
                <a:solidFill>
                  <a:srgbClr val="00B4D8"/>
                </a:solidFill>
                <a:latin typeface="Calibri"/>
              </a:rPr>
              <a:t>• </a:t>
            </a:r>
            <a:r>
              <a:rPr sz="2400" b="0">
                <a:solidFill>
                  <a:srgbClr val="FFFFFF"/>
                </a:solidFill>
                <a:latin typeface="Calibri"/>
              </a:rPr>
              <a:t>GPU: client hardware</a:t>
            </a:r>
          </a:p>
          <a:p>
            <a:pPr algn="l">
              <a:spcAft>
                <a:spcPts val="600"/>
              </a:spcAft>
            </a:pPr>
            <a:r>
              <a:rPr sz="2400" b="1">
                <a:solidFill>
                  <a:srgbClr val="00B4D8"/>
                </a:solidFill>
                <a:latin typeface="Calibri"/>
              </a:rPr>
              <a:t>• </a:t>
            </a:r>
            <a:r>
              <a:rPr sz="2400" b="0">
                <a:solidFill>
                  <a:srgbClr val="FFFFFF"/>
                </a:solidFill>
                <a:latin typeface="Calibri"/>
              </a:rPr>
              <a:t>Path: /workspace/</a:t>
            </a:r>
          </a:p>
          <a:p>
            <a:pPr algn="l">
              <a:spcAft>
                <a:spcPts val="600"/>
              </a:spcAft>
            </a:pPr>
            <a:r>
              <a:rPr sz="2400" b="1">
                <a:solidFill>
                  <a:srgbClr val="00B4D8"/>
                </a:solidFill>
                <a:latin typeface="Calibri"/>
              </a:rPr>
              <a:t>• </a:t>
            </a:r>
            <a:r>
              <a:rPr sz="2400" b="0">
                <a:solidFill>
                  <a:srgbClr val="FFFFFF"/>
                </a:solidFill>
                <a:latin typeface="Calibri"/>
              </a:rPr>
              <a:t>Pipeline + web UI only</a:t>
            </a:r>
          </a:p>
        </p:txBody>
      </p:sp>
      <p:sp>
        <p:nvSpPr>
          <p:cNvPr id="10" name="TextBox 9"/>
          <p:cNvSpPr txBox="1"/>
          <p:nvPr/>
        </p:nvSpPr>
        <p:spPr>
          <a:xfrm>
            <a:off x="6611111" y="1325880"/>
            <a:ext cx="5029200" cy="365760"/>
          </a:xfrm>
          <a:prstGeom prst="rect">
            <a:avLst/>
          </a:prstGeom>
          <a:noFill/>
        </p:spPr>
        <p:txBody>
          <a:bodyPr wrap="square" anchor="t"/>
          <a:lstStyle/>
          <a:p>
            <a:pPr algn="l"/>
            <a:r>
              <a:rPr sz="2400" b="1" i="0">
                <a:solidFill>
                  <a:srgbClr val="E06C75"/>
                </a:solidFill>
                <a:latin typeface="Calibri"/>
              </a:rPr>
              <a:t>Synchronization Challenge</a:t>
            </a:r>
          </a:p>
        </p:txBody>
      </p:sp>
      <p:sp>
        <p:nvSpPr>
          <p:cNvPr id="11" name="TextBox 10"/>
          <p:cNvSpPr txBox="1"/>
          <p:nvPr/>
        </p:nvSpPr>
        <p:spPr>
          <a:xfrm>
            <a:off x="6611111" y="1874520"/>
            <a:ext cx="5029200" cy="384048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Every EC2 change must be replicated to container</a:t>
            </a:r>
          </a:p>
          <a:p>
            <a:pPr algn="l">
              <a:spcAft>
                <a:spcPts val="600"/>
              </a:spcAft>
            </a:pPr>
            <a:r>
              <a:rPr sz="2400" b="1">
                <a:solidFill>
                  <a:srgbClr val="00B4D8"/>
                </a:solidFill>
                <a:latin typeface="Calibri"/>
              </a:rPr>
              <a:t>• </a:t>
            </a:r>
            <a:r>
              <a:rPr sz="2400" b="0">
                <a:solidFill>
                  <a:srgbClr val="FFFFFF"/>
                </a:solidFill>
                <a:latin typeface="Calibri"/>
              </a:rPr>
              <a:t>Path translations (/home/ubuntu/ → /workspace/)</a:t>
            </a:r>
          </a:p>
          <a:p>
            <a:pPr algn="l">
              <a:spcAft>
                <a:spcPts val="600"/>
              </a:spcAft>
            </a:pPr>
            <a:r>
              <a:rPr sz="2400" b="1">
                <a:solidFill>
                  <a:srgbClr val="00B4D8"/>
                </a:solidFill>
                <a:latin typeface="Calibri"/>
              </a:rPr>
              <a:t>• </a:t>
            </a:r>
            <a:r>
              <a:rPr sz="2400" b="0">
                <a:solidFill>
                  <a:srgbClr val="FFFFFF"/>
                </a:solidFill>
                <a:latin typeface="Calibri"/>
              </a:rPr>
              <a:t>Different Python environments and dependencies</a:t>
            </a:r>
          </a:p>
          <a:p>
            <a:pPr algn="l">
              <a:spcAft>
                <a:spcPts val="600"/>
              </a:spcAft>
            </a:pPr>
            <a:r>
              <a:rPr sz="2400" b="1">
                <a:solidFill>
                  <a:srgbClr val="00B4D8"/>
                </a:solidFill>
                <a:latin typeface="Calibri"/>
              </a:rPr>
              <a:t>• </a:t>
            </a:r>
            <a:r>
              <a:rPr sz="2400" b="0">
                <a:solidFill>
                  <a:srgbClr val="00B4D8"/>
                </a:solidFill>
                <a:latin typeface="Calibri"/>
              </a:rPr>
              <a:t>Detailed sync changelog with exact code diffs</a:t>
            </a:r>
          </a:p>
          <a:p>
            <a:pPr algn="l">
              <a:spcAft>
                <a:spcPts val="600"/>
              </a:spcAft>
            </a:pPr>
            <a:r>
              <a:rPr sz="2400" b="1">
                <a:solidFill>
                  <a:srgbClr val="00B4D8"/>
                </a:solidFill>
                <a:latin typeface="Calibri"/>
              </a:rPr>
              <a:t>• </a:t>
            </a:r>
            <a:r>
              <a:rPr sz="2400" b="0">
                <a:solidFill>
                  <a:srgbClr val="FFFFFF"/>
                </a:solidFill>
                <a:latin typeface="Calibri"/>
              </a:rPr>
              <a:t>INSTALL.sh overlay with 13-point verification</a:t>
            </a:r>
          </a:p>
        </p:txBody>
      </p:sp>
      <p:pic>
        <p:nvPicPr>
          <p:cNvPr id="12" name="Picture 11"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69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2011680"/>
            <a:ext cx="11091672" cy="1097280"/>
          </a:xfrm>
          <a:prstGeom prst="rect">
            <a:avLst/>
          </a:prstGeom>
          <a:noFill/>
        </p:spPr>
        <p:txBody>
          <a:bodyPr wrap="square" anchor="t"/>
          <a:lstStyle/>
          <a:p>
            <a:pPr algn="ctr"/>
            <a:r>
              <a:rPr sz="4800" b="1" i="0">
                <a:solidFill>
                  <a:srgbClr val="4CAF50"/>
                </a:solidFill>
                <a:latin typeface="Calibri"/>
              </a:rPr>
              <a:t>FUTURE DIRECTIONS</a:t>
            </a:r>
          </a:p>
        </p:txBody>
      </p:sp>
      <p:sp>
        <p:nvSpPr>
          <p:cNvPr id="3" name="TextBox 2"/>
          <p:cNvSpPr txBox="1"/>
          <p:nvPr/>
        </p:nvSpPr>
        <p:spPr>
          <a:xfrm>
            <a:off x="548640" y="3200400"/>
            <a:ext cx="11091672" cy="548640"/>
          </a:xfrm>
          <a:prstGeom prst="rect">
            <a:avLst/>
          </a:prstGeom>
          <a:noFill/>
        </p:spPr>
        <p:txBody>
          <a:bodyPr wrap="square" anchor="t"/>
          <a:lstStyle/>
          <a:p>
            <a:pPr algn="ctr"/>
            <a:r>
              <a:rPr sz="3000" b="0" i="0">
                <a:solidFill>
                  <a:srgbClr val="AAAAAA"/>
                </a:solidFill>
                <a:latin typeface="Calibri"/>
              </a:rPr>
              <a:t>From Analysis to Action</a:t>
            </a:r>
          </a:p>
        </p:txBody>
      </p:sp>
      <p:sp>
        <p:nvSpPr>
          <p:cNvPr id="4" name="Rectangle 3"/>
          <p:cNvSpPr/>
          <p:nvPr/>
        </p:nvSpPr>
        <p:spPr>
          <a:xfrm>
            <a:off x="4114800" y="3931920"/>
            <a:ext cx="3959352" cy="3657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4389120"/>
            <a:ext cx="11091672" cy="457200"/>
          </a:xfrm>
          <a:prstGeom prst="rect">
            <a:avLst/>
          </a:prstGeom>
          <a:noFill/>
        </p:spPr>
        <p:txBody>
          <a:bodyPr wrap="square" anchor="t"/>
          <a:lstStyle/>
          <a:p>
            <a:pPr algn="ctr"/>
            <a:r>
              <a:rPr sz="2200" b="0" i="0">
                <a:solidFill>
                  <a:srgbClr val="666666"/>
                </a:solidFill>
                <a:latin typeface="Calibri"/>
              </a:rPr>
              <a:t>5 research insights  →  5-phase improvement roadmap</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70</a:t>
            </a:r>
          </a:p>
        </p:txBody>
      </p:sp>
    </p:spTree>
  </p:cSld>
  <p:clrMapOvr>
    <a:masterClrMapping/>
  </p:clrMapOvr>
  <p:transition spd="med"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Starting from 61.6%, Not 25%</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3108960" cy="201168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2743200" cy="320040"/>
          </a:xfrm>
          <a:prstGeom prst="rect">
            <a:avLst/>
          </a:prstGeom>
          <a:noFill/>
        </p:spPr>
        <p:txBody>
          <a:bodyPr wrap="square" anchor="t"/>
          <a:lstStyle/>
          <a:p>
            <a:pPr algn="l"/>
            <a:r>
              <a:rPr sz="2400" b="1" i="0">
                <a:solidFill>
                  <a:srgbClr val="E06C75"/>
                </a:solidFill>
                <a:latin typeface="Calibri"/>
              </a:rPr>
              <a:t>WER Says</a:t>
            </a:r>
          </a:p>
        </p:txBody>
      </p:sp>
      <p:sp>
        <p:nvSpPr>
          <p:cNvPr id="6" name="TextBox 5"/>
          <p:cNvSpPr txBox="1"/>
          <p:nvPr/>
        </p:nvSpPr>
        <p:spPr>
          <a:xfrm>
            <a:off x="731520" y="1828800"/>
            <a:ext cx="2743200" cy="3840480"/>
          </a:xfrm>
          <a:prstGeom prst="rect">
            <a:avLst/>
          </a:prstGeom>
          <a:noFill/>
        </p:spPr>
        <p:txBody>
          <a:bodyPr wrap="square">
            <a:spAutoFit/>
          </a:bodyPr>
          <a:lstStyle/>
          <a:p>
            <a:pPr algn="l">
              <a:spcAft>
                <a:spcPts val="600"/>
              </a:spcAft>
            </a:pPr>
            <a:r>
              <a:rPr sz="1800" b="1">
                <a:solidFill>
                  <a:srgbClr val="E06C75"/>
                </a:solidFill>
                <a:latin typeface="Calibri"/>
              </a:rPr>
              <a:t>• </a:t>
            </a:r>
            <a:r>
              <a:rPr sz="1800" b="0">
                <a:solidFill>
                  <a:srgbClr val="FFFFFF"/>
                </a:solidFill>
                <a:latin typeface="Calibri"/>
              </a:rPr>
              <a:t>26% useful by WER (&lt;30%, uncalibrated)</a:t>
            </a:r>
          </a:p>
          <a:p>
            <a:pPr algn="l">
              <a:spcAft>
                <a:spcPts val="600"/>
              </a:spcAft>
            </a:pPr>
            <a:r>
              <a:rPr sz="1800" b="1">
                <a:solidFill>
                  <a:srgbClr val="E06C75"/>
                </a:solidFill>
                <a:latin typeface="Calibri"/>
              </a:rPr>
              <a:t>• </a:t>
            </a:r>
            <a:r>
              <a:rPr sz="1800" b="0">
                <a:solidFill>
                  <a:srgbClr val="FFFFFF"/>
                </a:solidFill>
                <a:latin typeface="Calibri"/>
              </a:rPr>
              <a:t>~3 in 4 segments fail</a:t>
            </a:r>
          </a:p>
          <a:p>
            <a:pPr algn="l">
              <a:spcAft>
                <a:spcPts val="600"/>
              </a:spcAft>
            </a:pPr>
            <a:r>
              <a:rPr sz="1800" b="1">
                <a:solidFill>
                  <a:srgbClr val="E06C75"/>
                </a:solidFill>
                <a:latin typeface="Calibri"/>
              </a:rPr>
              <a:t>• </a:t>
            </a:r>
            <a:r>
              <a:rPr sz="1800" b="0">
                <a:solidFill>
                  <a:srgbClr val="FFFFFF"/>
                </a:solidFill>
                <a:latin typeface="Calibri"/>
              </a:rPr>
              <a:t>Ignores phonetic preservation (42%)</a:t>
            </a:r>
          </a:p>
        </p:txBody>
      </p:sp>
      <p:sp>
        <p:nvSpPr>
          <p:cNvPr id="7" name="Rounded Rectangle 6"/>
          <p:cNvSpPr/>
          <p:nvPr/>
        </p:nvSpPr>
        <p:spPr>
          <a:xfrm>
            <a:off x="3886200" y="1325880"/>
            <a:ext cx="3108960" cy="201168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69080" y="1417320"/>
            <a:ext cx="2743200" cy="320040"/>
          </a:xfrm>
          <a:prstGeom prst="rect">
            <a:avLst/>
          </a:prstGeom>
          <a:noFill/>
        </p:spPr>
        <p:txBody>
          <a:bodyPr wrap="square" anchor="t"/>
          <a:lstStyle/>
          <a:p>
            <a:pPr algn="l"/>
            <a:r>
              <a:rPr sz="2400" b="1" i="0">
                <a:solidFill>
                  <a:srgbClr val="00B4D8"/>
                </a:solidFill>
                <a:latin typeface="Calibri"/>
              </a:rPr>
              <a:t>IS Says</a:t>
            </a:r>
          </a:p>
        </p:txBody>
      </p:sp>
      <p:sp>
        <p:nvSpPr>
          <p:cNvPr id="9" name="TextBox 8"/>
          <p:cNvSpPr txBox="1"/>
          <p:nvPr/>
        </p:nvSpPr>
        <p:spPr>
          <a:xfrm>
            <a:off x="4069080" y="1828800"/>
            <a:ext cx="2743200" cy="2377440"/>
          </a:xfrm>
          <a:prstGeom prst="rect">
            <a:avLst/>
          </a:prstGeom>
          <a:noFill/>
        </p:spPr>
        <p:txBody>
          <a:bodyPr wrap="square">
            <a:spAutoFit/>
          </a:bodyPr>
          <a:lstStyle/>
          <a:p>
            <a:pPr algn="l">
              <a:spcAft>
                <a:spcPts val="600"/>
              </a:spcAft>
            </a:pPr>
            <a:r>
              <a:rPr sz="1800" b="1">
                <a:solidFill>
                  <a:srgbClr val="00B4D8"/>
                </a:solidFill>
                <a:latin typeface="Calibri"/>
              </a:rPr>
              <a:t>• </a:t>
            </a:r>
            <a:r>
              <a:rPr sz="1800" b="1">
                <a:solidFill>
                  <a:srgbClr val="FFFFFF"/>
                </a:solidFill>
                <a:latin typeface="Calibri"/>
              </a:rPr>
              <a:t>62% useful (IS≥2.00, MBR)</a:t>
            </a:r>
          </a:p>
          <a:p>
            <a:pPr algn="l">
              <a:spcAft>
                <a:spcPts val="600"/>
              </a:spcAft>
            </a:pPr>
            <a:r>
              <a:rPr sz="1800" b="1">
                <a:solidFill>
                  <a:srgbClr val="00B4D8"/>
                </a:solidFill>
                <a:latin typeface="Calibri"/>
              </a:rPr>
              <a:t>• </a:t>
            </a:r>
            <a:r>
              <a:rPr sz="1800" b="0">
                <a:solidFill>
                  <a:srgbClr val="4CAF50"/>
                </a:solidFill>
                <a:latin typeface="Calibri"/>
              </a:rPr>
              <a:t>65% by Opus Judge (Y+P 971/1,497)</a:t>
            </a:r>
          </a:p>
          <a:p>
            <a:pPr algn="l">
              <a:spcAft>
                <a:spcPts val="600"/>
              </a:spcAft>
            </a:pPr>
            <a:r>
              <a:rPr sz="1800" b="1">
                <a:solidFill>
                  <a:srgbClr val="00B4D8"/>
                </a:solidFill>
                <a:latin typeface="Calibri"/>
              </a:rPr>
              <a:t>• </a:t>
            </a:r>
            <a:r>
              <a:rPr sz="1800" b="0">
                <a:solidFill>
                  <a:srgbClr val="FFFFFF"/>
                </a:solidFill>
                <a:latin typeface="Calibri"/>
              </a:rPr>
              <a:t>16 configs validated (r=0.925)</a:t>
            </a:r>
          </a:p>
        </p:txBody>
      </p:sp>
      <p:pic>
        <p:nvPicPr>
          <p:cNvPr id="10" name="Picture 9" descr="P1_quality_tiers.png"/>
          <p:cNvPicPr>
            <a:picLocks noChangeAspect="1"/>
          </p:cNvPicPr>
          <p:nvPr/>
        </p:nvPicPr>
        <p:blipFill>
          <a:blip r:embed="rId2"/>
          <a:stretch>
            <a:fillRect/>
          </a:stretch>
        </p:blipFill>
        <p:spPr>
          <a:xfrm>
            <a:off x="7223760" y="1234440"/>
            <a:ext cx="4754880" cy="2038058"/>
          </a:xfrm>
          <a:prstGeom prst="rect">
            <a:avLst/>
          </a:prstGeom>
        </p:spPr>
      </p:pic>
      <p:sp>
        <p:nvSpPr>
          <p:cNvPr id="11" name="TextBox 10"/>
          <p:cNvSpPr txBox="1"/>
          <p:nvPr/>
        </p:nvSpPr>
        <p:spPr>
          <a:xfrm>
            <a:off x="548640" y="5669280"/>
            <a:ext cx="11091672" cy="502920"/>
          </a:xfrm>
          <a:prstGeom prst="rect">
            <a:avLst/>
          </a:prstGeom>
          <a:noFill/>
        </p:spPr>
        <p:txBody>
          <a:bodyPr wrap="square" anchor="t"/>
          <a:lstStyle/>
          <a:p>
            <a:pPr algn="ctr"/>
            <a:r>
              <a:rPr sz="2000" b="0" i="1">
                <a:solidFill>
                  <a:srgbClr val="AAAAAA"/>
                </a:solidFill>
                <a:latin typeface="Calibri"/>
              </a:rPr>
              <a:t>The gap is real — but WER dramatically overstates failure. 62% useful by IS (Y+P, MBR), 65% confirmed by v1 blind Opus-as-a-Judge.</a:t>
            </a:r>
          </a:p>
        </p:txBody>
      </p:sp>
      <p:pic>
        <p:nvPicPr>
          <p:cNvPr id="12" name="Picture 11"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3" name="TextBox 12"/>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Five Phases — From IS 2.5 to Target IS 3.3–3.7</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234440"/>
            <a:ext cx="5303520"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4937760" cy="640080"/>
          </a:xfrm>
          <a:prstGeom prst="rect">
            <a:avLst/>
          </a:prstGeom>
          <a:noFill/>
        </p:spPr>
        <p:txBody>
          <a:bodyPr wrap="square">
            <a:spAutoFit/>
          </a:bodyPr>
          <a:lstStyle/>
          <a:p>
            <a:pPr algn="l">
              <a:spcAft>
                <a:spcPts val="600"/>
              </a:spcAft>
            </a:pPr>
            <a:r>
              <a:rPr sz="1800" b="1" i="0">
                <a:solidFill>
                  <a:srgbClr val="00B4D8"/>
                </a:solidFill>
                <a:latin typeface="Calibri"/>
              </a:rPr>
              <a:t>Phase 1 (shipped)</a:t>
            </a:r>
            <a:r>
              <a:rPr sz="1800" b="0" i="0">
                <a:solidFill>
                  <a:srgbClr val="FFFFFF"/>
                </a:solidFill>
                <a:latin typeface="Calibri"/>
              </a:rPr>
              <a:t>  Surface the good 62%</a:t>
            </a:r>
            <a:r>
              <a:rPr sz="1600" b="0" i="0">
                <a:solidFill>
                  <a:srgbClr val="FFD54F"/>
                </a:solidFill>
                <a:latin typeface="Calibri"/>
              </a:rPr>
              <a:t>   Filter only — IS unchanged</a:t>
            </a:r>
          </a:p>
        </p:txBody>
      </p:sp>
      <p:sp>
        <p:nvSpPr>
          <p:cNvPr id="6" name="Rounded Rectangle 5"/>
          <p:cNvSpPr/>
          <p:nvPr/>
        </p:nvSpPr>
        <p:spPr>
          <a:xfrm>
            <a:off x="822960" y="2148840"/>
            <a:ext cx="5029200" cy="91440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4663440" cy="640080"/>
          </a:xfrm>
          <a:prstGeom prst="rect">
            <a:avLst/>
          </a:prstGeom>
          <a:noFill/>
        </p:spPr>
        <p:txBody>
          <a:bodyPr wrap="square">
            <a:spAutoFit/>
          </a:bodyPr>
          <a:lstStyle/>
          <a:p>
            <a:pPr algn="l">
              <a:spcAft>
                <a:spcPts val="600"/>
              </a:spcAft>
            </a:pPr>
            <a:r>
              <a:rPr sz="1800" b="1" i="0">
                <a:solidFill>
                  <a:srgbClr val="00B4D8"/>
                </a:solidFill>
                <a:latin typeface="Calibri"/>
              </a:rPr>
              <a:t>Phase 2 (shipped)</a:t>
            </a:r>
            <a:r>
              <a:rPr sz="1800" b="0" i="0">
                <a:solidFill>
                  <a:srgbClr val="FFFFFF"/>
                </a:solidFill>
                <a:latin typeface="Calibri"/>
              </a:rPr>
              <a:t>  Fix small &amp; content errors</a:t>
            </a:r>
            <a:r>
              <a:rPr sz="1600" b="0" i="0">
                <a:solidFill>
                  <a:srgbClr val="FFD54F"/>
                </a:solidFill>
                <a:latin typeface="Calibri"/>
              </a:rPr>
              <a:t>   IS +0.13 (∼35 segs)</a:t>
            </a:r>
          </a:p>
        </p:txBody>
      </p:sp>
      <p:sp>
        <p:nvSpPr>
          <p:cNvPr id="8" name="Rounded Rectangle 7"/>
          <p:cNvSpPr/>
          <p:nvPr/>
        </p:nvSpPr>
        <p:spPr>
          <a:xfrm>
            <a:off x="1097280" y="3063240"/>
            <a:ext cx="4754880" cy="91440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3246120"/>
            <a:ext cx="4389120" cy="640080"/>
          </a:xfrm>
          <a:prstGeom prst="rect">
            <a:avLst/>
          </a:prstGeom>
          <a:noFill/>
        </p:spPr>
        <p:txBody>
          <a:bodyPr wrap="square">
            <a:spAutoFit/>
          </a:bodyPr>
          <a:lstStyle/>
          <a:p>
            <a:pPr algn="l">
              <a:spcAft>
                <a:spcPts val="600"/>
              </a:spcAft>
            </a:pPr>
            <a:r>
              <a:rPr sz="1800" b="1" i="0">
                <a:solidFill>
                  <a:srgbClr val="4CAF50"/>
                </a:solidFill>
                <a:latin typeface="Calibri"/>
              </a:rPr>
              <a:t>Phase 3</a:t>
            </a:r>
            <a:r>
              <a:rPr sz="1800" b="0" i="0">
                <a:solidFill>
                  <a:srgbClr val="FFFFFF"/>
                </a:solidFill>
                <a:latin typeface="Calibri"/>
              </a:rPr>
              <a:t>  Better world knowledge</a:t>
            </a:r>
            <a:r>
              <a:rPr sz="1600" b="0" i="0">
                <a:solidFill>
                  <a:srgbClr val="FFD54F"/>
                </a:solidFill>
                <a:latin typeface="Calibri"/>
              </a:rPr>
              <a:t>   IS +0.40 (∼98 segs)</a:t>
            </a:r>
          </a:p>
        </p:txBody>
      </p:sp>
      <p:sp>
        <p:nvSpPr>
          <p:cNvPr id="10" name="Rounded Rectangle 9"/>
          <p:cNvSpPr/>
          <p:nvPr/>
        </p:nvSpPr>
        <p:spPr>
          <a:xfrm>
            <a:off x="1371600" y="3977640"/>
            <a:ext cx="4480560" cy="91440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4160520"/>
            <a:ext cx="4114800" cy="640080"/>
          </a:xfrm>
          <a:prstGeom prst="rect">
            <a:avLst/>
          </a:prstGeom>
          <a:noFill/>
        </p:spPr>
        <p:txBody>
          <a:bodyPr wrap="square">
            <a:spAutoFit/>
          </a:bodyPr>
          <a:lstStyle/>
          <a:p>
            <a:pPr algn="l">
              <a:spcAft>
                <a:spcPts val="600"/>
              </a:spcAft>
            </a:pPr>
            <a:r>
              <a:rPr sz="1800" b="1" i="0">
                <a:solidFill>
                  <a:srgbClr val="4CAF50"/>
                </a:solidFill>
                <a:latin typeface="Calibri"/>
              </a:rPr>
              <a:t>Phase 4</a:t>
            </a:r>
            <a:r>
              <a:rPr sz="1800" b="0" i="0">
                <a:solidFill>
                  <a:srgbClr val="FFFFFF"/>
                </a:solidFill>
                <a:latin typeface="Calibri"/>
              </a:rPr>
              <a:t>  Scale data 20K–50K</a:t>
            </a:r>
            <a:r>
              <a:rPr sz="1600" b="0" i="0">
                <a:solidFill>
                  <a:srgbClr val="FFD54F"/>
                </a:solidFill>
                <a:latin typeface="Calibri"/>
              </a:rPr>
              <a:t>   IS +0.35 (all 574)</a:t>
            </a:r>
          </a:p>
        </p:txBody>
      </p:sp>
      <p:sp>
        <p:nvSpPr>
          <p:cNvPr id="12" name="Rounded Rectangle 11"/>
          <p:cNvSpPr/>
          <p:nvPr/>
        </p:nvSpPr>
        <p:spPr>
          <a:xfrm>
            <a:off x="1645920" y="4892040"/>
            <a:ext cx="4206240" cy="914400"/>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28800" y="5074920"/>
            <a:ext cx="3840480" cy="640080"/>
          </a:xfrm>
          <a:prstGeom prst="rect">
            <a:avLst/>
          </a:prstGeom>
          <a:noFill/>
        </p:spPr>
        <p:txBody>
          <a:bodyPr wrap="square">
            <a:spAutoFit/>
          </a:bodyPr>
          <a:lstStyle/>
          <a:p>
            <a:pPr algn="l">
              <a:spcAft>
                <a:spcPts val="600"/>
              </a:spcAft>
            </a:pPr>
            <a:r>
              <a:rPr sz="1800" b="1" i="0">
                <a:solidFill>
                  <a:srgbClr val="AAAAAA"/>
                </a:solidFill>
                <a:latin typeface="Calibri"/>
              </a:rPr>
              <a:t>Phase 5</a:t>
            </a:r>
            <a:r>
              <a:rPr sz="1800" b="0" i="0">
                <a:solidFill>
                  <a:srgbClr val="FFFFFF"/>
                </a:solidFill>
                <a:latin typeface="Calibri"/>
              </a:rPr>
              <a:t>  Error Correction (GER)</a:t>
            </a:r>
            <a:r>
              <a:rPr sz="1600" b="0" i="0">
                <a:solidFill>
                  <a:srgbClr val="FFD54F"/>
                </a:solidFill>
                <a:latin typeface="Calibri"/>
              </a:rPr>
              <a:t>   IS +0.10</a:t>
            </a:r>
          </a:p>
        </p:txBody>
      </p:sp>
      <p:pic>
        <p:nvPicPr>
          <p:cNvPr id="14" name="Picture 13" descr="P3_wer_trajectory.png"/>
          <p:cNvPicPr>
            <a:picLocks noChangeAspect="1"/>
          </p:cNvPicPr>
          <p:nvPr/>
        </p:nvPicPr>
        <p:blipFill>
          <a:blip r:embed="rId2"/>
          <a:stretch>
            <a:fillRect/>
          </a:stretch>
        </p:blipFill>
        <p:spPr>
          <a:xfrm>
            <a:off x="5760720" y="1325880"/>
            <a:ext cx="5605272" cy="3373992"/>
          </a:xfrm>
          <a:prstGeom prst="rect">
            <a:avLst/>
          </a:prstGeom>
        </p:spPr>
      </p:pic>
      <p:sp>
        <p:nvSpPr>
          <p:cNvPr id="15" name="TextBox 14"/>
          <p:cNvSpPr txBox="1"/>
          <p:nvPr/>
        </p:nvSpPr>
        <p:spPr>
          <a:xfrm>
            <a:off x="548640" y="5989320"/>
            <a:ext cx="11091672" cy="365760"/>
          </a:xfrm>
          <a:prstGeom prst="rect">
            <a:avLst/>
          </a:prstGeom>
          <a:noFill/>
        </p:spPr>
        <p:txBody>
          <a:bodyPr wrap="square" anchor="t"/>
          <a:lstStyle/>
          <a:p>
            <a:pPr algn="ctr"/>
            <a:r>
              <a:rPr sz="2000" b="0" i="1">
                <a:solidFill>
                  <a:srgbClr val="AAAAAA"/>
                </a:solidFill>
                <a:latin typeface="Calibri"/>
              </a:rPr>
              <a:t>Target: IS 3.3-3.7 (~80-85% Y+P). Phase deltas sum to +0.98.</a:t>
            </a:r>
          </a:p>
        </p:txBody>
      </p:sp>
      <p:pic>
        <p:nvPicPr>
          <p:cNvPr id="16" name="Picture 15" descr="WhiteLogo.jpeg"/>
          <p:cNvPicPr>
            <a:picLocks noChangeAspect="1"/>
          </p:cNvPicPr>
          <p:nvPr/>
        </p:nvPicPr>
        <p:blipFill>
          <a:blip r:embed="rId3"/>
          <a:stretch>
            <a:fillRect/>
          </a:stretch>
        </p:blipFill>
        <p:spPr>
          <a:xfrm>
            <a:off x="11323320" y="6428232"/>
            <a:ext cx="269634" cy="320040"/>
          </a:xfrm>
          <a:prstGeom prst="rect">
            <a:avLst/>
          </a:prstGeom>
        </p:spPr>
      </p:pic>
      <p:sp>
        <p:nvSpPr>
          <p:cNvPr id="17" name="TextBox 1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Failure Modes: Impact &amp; What Fixes Them</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74320"/>
          </a:xfrm>
          <a:prstGeom prst="rect">
            <a:avLst/>
          </a:prstGeom>
          <a:noFill/>
        </p:spPr>
        <p:txBody>
          <a:bodyPr wrap="square" anchor="t"/>
          <a:lstStyle/>
          <a:p>
            <a:pPr algn="l"/>
            <a:r>
              <a:rPr sz="1800" b="0" i="1">
                <a:solidFill>
                  <a:srgbClr val="AAAAAA"/>
                </a:solidFill>
                <a:latin typeface="Calibri"/>
              </a:rPr>
              <a:t>Each category maps to a specific remedy — no single fix addresses all failure types.</a:t>
            </a:r>
          </a:p>
        </p:txBody>
      </p:sp>
      <p:graphicFrame>
        <p:nvGraphicFramePr>
          <p:cNvPr id="5" name="Table 4"/>
          <p:cNvGraphicFramePr>
            <a:graphicFrameLocks noGrp="1"/>
          </p:cNvGraphicFramePr>
          <p:nvPr/>
        </p:nvGraphicFramePr>
        <p:xfrm>
          <a:off x="548640" y="1737360"/>
          <a:ext cx="11091672" cy="3017520"/>
        </p:xfrm>
        <a:graphic>
          <a:graphicData uri="http://schemas.openxmlformats.org/drawingml/2006/table">
            <a:tbl>
              <a:tblPr firstRow="0" bandRow="0" lastRow="0" bandCol="0">
                <a:tableStyleId>{5C22544A-7EE6-4342-B048-85BDC9FD1C3A}</a:tableStyleId>
              </a:tblPr>
              <a:tblGrid>
                <a:gridCol w="3657600"/>
                <a:gridCol w="3474720"/>
                <a:gridCol w="3959352"/>
              </a:tblGrid>
              <a:tr h="502920">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Impact</a:t>
                      </a:r>
                    </a:p>
                  </a:txBody>
                  <a:tcPr>
                    <a:solidFill>
                      <a:srgbClr val="00b4d8"/>
                    </a:solidFill>
                  </a:tcPr>
                </a:tc>
                <a:tc>
                  <a:txBody>
                    <a:bodyPr/>
                    <a:lstStyle/>
                    <a:p>
                      <a:pPr algn="ctr"/>
                      <a:r>
                        <a:rPr sz="2400" b="1" i="0">
                          <a:solidFill>
                            <a:srgbClr val="FFFFFF"/>
                          </a:solidFill>
                          <a:latin typeface="Calibri"/>
                        </a:rPr>
                        <a:t>Fix</a:t>
                      </a:r>
                    </a:p>
                  </a:txBody>
                  <a:tcPr>
                    <a:solidFill>
                      <a:srgbClr val="00b4d8"/>
                    </a:solidFill>
                  </a:tcPr>
                </a:tc>
              </a:tr>
              <a:tr h="502920">
                <a:tc>
                  <a:txBody>
                    <a:bodyPr/>
                    <a:lstStyle/>
                    <a:p>
                      <a:pPr algn="l"/>
                      <a:r>
                        <a:rPr sz="2400" b="0" i="0">
                          <a:solidFill>
                            <a:srgbClr val="FF9800"/>
                          </a:solidFill>
                          <a:latin typeface="Calibri"/>
                        </a:rPr>
                        <a:t>Wrong Topic (44%)</a:t>
                      </a:r>
                    </a:p>
                  </a:txBody>
                  <a:tcPr>
                    <a:solidFill>
                      <a:srgbClr val="0d1b2a"/>
                    </a:solidFill>
                  </a:tcPr>
                </a:tc>
                <a:tc>
                  <a:txBody>
                    <a:bodyPr/>
                    <a:lstStyle/>
                    <a:p>
                      <a:pPr algn="l"/>
                      <a:r>
                        <a:rPr sz="2400" b="0" i="0">
                          <a:solidFill>
                            <a:srgbClr val="FF9800"/>
                          </a:solidFill>
                          <a:latin typeface="Calibri"/>
                        </a:rPr>
                        <a:t>Very High — largest category</a:t>
                      </a:r>
                    </a:p>
                  </a:txBody>
                  <a:tcPr>
                    <a:solidFill>
                      <a:srgbClr val="0d1b2a"/>
                    </a:solidFill>
                  </a:tcPr>
                </a:tc>
                <a:tc>
                  <a:txBody>
                    <a:bodyPr/>
                    <a:lstStyle/>
                    <a:p>
                      <a:pPr algn="l"/>
                      <a:r>
                        <a:rPr sz="2400" b="0" i="0">
                          <a:solidFill>
                            <a:srgbClr val="FFFFFF"/>
                          </a:solidFill>
                          <a:latin typeface="Calibri"/>
                        </a:rPr>
                        <a:t>LLM swap + data</a:t>
                      </a:r>
                    </a:p>
                  </a:txBody>
                  <a:tcPr>
                    <a:solidFill>
                      <a:srgbClr val="0d1b2a"/>
                    </a:solidFill>
                  </a:tcPr>
                </a:tc>
              </a:tr>
              <a:tr h="502920">
                <a:tc>
                  <a:txBody>
                    <a:bodyPr/>
                    <a:lstStyle/>
                    <a:p>
                      <a:pPr algn="l"/>
                      <a:r>
                        <a:rPr sz="2400" b="0" i="0">
                          <a:solidFill>
                            <a:srgbClr val="F44336"/>
                          </a:solidFill>
                          <a:latin typeface="Calibri"/>
                        </a:rPr>
                        <a:t>Hallucination (19%)</a:t>
                      </a:r>
                    </a:p>
                  </a:txBody>
                  <a:tcPr>
                    <a:solidFill>
                      <a:srgbClr val="152a40"/>
                    </a:solidFill>
                  </a:tcPr>
                </a:tc>
                <a:tc>
                  <a:txBody>
                    <a:bodyPr/>
                    <a:lstStyle/>
                    <a:p>
                      <a:pPr algn="l"/>
                      <a:r>
                        <a:rPr sz="2400" b="0" i="0">
                          <a:solidFill>
                            <a:srgbClr val="F44336"/>
                          </a:solidFill>
                          <a:latin typeface="Calibri"/>
                        </a:rPr>
                        <a:t>High — deceptive but identifiable</a:t>
                      </a:r>
                    </a:p>
                  </a:txBody>
                  <a:tcPr>
                    <a:solidFill>
                      <a:srgbClr val="152a40"/>
                    </a:solidFill>
                  </a:tcPr>
                </a:tc>
                <a:tc>
                  <a:txBody>
                    <a:bodyPr/>
                    <a:lstStyle/>
                    <a:p>
                      <a:pPr algn="l"/>
                      <a:r>
                        <a:rPr sz="2400" b="0" i="0">
                          <a:solidFill>
                            <a:srgbClr val="FFFFFF"/>
                          </a:solidFill>
                          <a:latin typeface="Calibri"/>
                        </a:rPr>
                        <a:t>Confidence scoring</a:t>
                      </a:r>
                    </a:p>
                  </a:txBody>
                  <a:tcPr>
                    <a:solidFill>
                      <a:srgbClr val="152a40"/>
                    </a:solidFill>
                  </a:tcPr>
                </a:tc>
              </a:tr>
              <a:tr h="502920">
                <a:tc>
                  <a:txBody>
                    <a:bodyPr/>
                    <a:lstStyle/>
                    <a:p>
                      <a:pPr algn="l"/>
                      <a:r>
                        <a:rPr sz="2400" b="0" i="0">
                          <a:solidFill>
                            <a:srgbClr val="AAAAAA"/>
                          </a:solidFill>
                          <a:latin typeface="Calibri"/>
                        </a:rPr>
                        <a:t>Signal Loss (14%)</a:t>
                      </a:r>
                    </a:p>
                  </a:txBody>
                  <a:tcPr>
                    <a:solidFill>
                      <a:srgbClr val="0d1b2a"/>
                    </a:solidFill>
                  </a:tcPr>
                </a:tc>
                <a:tc>
                  <a:txBody>
                    <a:bodyPr/>
                    <a:lstStyle/>
                    <a:p>
                      <a:pPr algn="l"/>
                      <a:r>
                        <a:rPr sz="2400" b="0" i="0">
                          <a:solidFill>
                            <a:srgbClr val="AAAAAA"/>
                          </a:solidFill>
                          <a:latin typeface="Calibri"/>
                        </a:rPr>
                        <a:t>Medium — detectable, filterable</a:t>
                      </a:r>
                    </a:p>
                  </a:txBody>
                  <a:tcPr>
                    <a:solidFill>
                      <a:srgbClr val="0d1b2a"/>
                    </a:solidFill>
                  </a:tcPr>
                </a:tc>
                <a:tc>
                  <a:txBody>
                    <a:bodyPr/>
                    <a:lstStyle/>
                    <a:p>
                      <a:pPr algn="l"/>
                      <a:r>
                        <a:rPr sz="2400" b="0" i="0">
                          <a:solidFill>
                            <a:srgbClr val="FFFFFF"/>
                          </a:solidFill>
                          <a:latin typeface="Calibri"/>
                        </a:rPr>
                        <a:t>Quality filtering</a:t>
                      </a:r>
                    </a:p>
                  </a:txBody>
                  <a:tcPr>
                    <a:solidFill>
                      <a:srgbClr val="0d1b2a"/>
                    </a:solidFill>
                  </a:tcPr>
                </a:tc>
              </a:tr>
              <a:tr h="502920">
                <a:tc>
                  <a:txBody>
                    <a:bodyPr/>
                    <a:lstStyle/>
                    <a:p>
                      <a:pPr algn="l"/>
                      <a:r>
                        <a:rPr sz="2400" b="0" i="0">
                          <a:solidFill>
                            <a:srgbClr val="FFC107"/>
                          </a:solidFill>
                          <a:latin typeface="Calibri"/>
                        </a:rPr>
                        <a:t>Right Topic, Wrong Details (14%)</a:t>
                      </a:r>
                    </a:p>
                  </a:txBody>
                  <a:tcPr>
                    <a:solidFill>
                      <a:srgbClr val="152a40"/>
                    </a:solidFill>
                  </a:tcPr>
                </a:tc>
                <a:tc>
                  <a:txBody>
                    <a:bodyPr/>
                    <a:lstStyle/>
                    <a:p>
                      <a:pPr algn="l"/>
                      <a:r>
                        <a:rPr sz="2400" b="0" i="0">
                          <a:solidFill>
                            <a:srgbClr val="FFC107"/>
                          </a:solidFill>
                          <a:latin typeface="Calibri"/>
                        </a:rPr>
                        <a:t>Medium — clients lose trust</a:t>
                      </a:r>
                    </a:p>
                  </a:txBody>
                  <a:tcPr>
                    <a:solidFill>
                      <a:srgbClr val="152a40"/>
                    </a:solidFill>
                  </a:tcPr>
                </a:tc>
                <a:tc>
                  <a:txBody>
                    <a:bodyPr/>
                    <a:lstStyle/>
                    <a:p>
                      <a:pPr algn="l"/>
                      <a:r>
                        <a:rPr sz="2400" b="0" i="0">
                          <a:solidFill>
                            <a:srgbClr val="FFFFFF"/>
                          </a:solidFill>
                          <a:latin typeface="Calibri"/>
                        </a:rPr>
                        <a:t>Domain fine-tuning</a:t>
                      </a:r>
                    </a:p>
                  </a:txBody>
                  <a:tcPr>
                    <a:solidFill>
                      <a:srgbClr val="152a40"/>
                    </a:solidFill>
                  </a:tcPr>
                </a:tc>
              </a:tr>
              <a:tr h="502920">
                <a:tc>
                  <a:txBody>
                    <a:bodyPr/>
                    <a:lstStyle/>
                    <a:p>
                      <a:pPr algn="l"/>
                      <a:r>
                        <a:rPr sz="2400" b="0" i="0">
                          <a:solidFill>
                            <a:srgbClr val="FFC107"/>
                          </a:solidFill>
                          <a:latin typeface="Calibri"/>
                        </a:rPr>
                        <a:t>Accumulated Errors (9%)</a:t>
                      </a:r>
                    </a:p>
                  </a:txBody>
                  <a:tcPr>
                    <a:solidFill>
                      <a:srgbClr val="0d1b2a"/>
                    </a:solidFill>
                  </a:tcPr>
                </a:tc>
                <a:tc>
                  <a:txBody>
                    <a:bodyPr/>
                    <a:lstStyle/>
                    <a:p>
                      <a:pPr algn="l"/>
                      <a:r>
                        <a:rPr sz="2400" b="0" i="0">
                          <a:solidFill>
                            <a:srgbClr val="FFC107"/>
                          </a:solidFill>
                          <a:latin typeface="Calibri"/>
                        </a:rPr>
                        <a:t>Lower — death by 1000 cuts</a:t>
                      </a:r>
                    </a:p>
                  </a:txBody>
                  <a:tcPr>
                    <a:solidFill>
                      <a:srgbClr val="0d1b2a"/>
                    </a:solidFill>
                  </a:tcPr>
                </a:tc>
                <a:tc>
                  <a:txBody>
                    <a:bodyPr/>
                    <a:lstStyle/>
                    <a:p>
                      <a:pPr algn="l"/>
                      <a:r>
                        <a:rPr sz="2400" b="0" i="0">
                          <a:solidFill>
                            <a:srgbClr val="FFFFFF"/>
                          </a:solidFill>
                          <a:latin typeface="Calibri"/>
                        </a:rPr>
                        <a:t>N-best aggregation</a:t>
                      </a:r>
                    </a:p>
                  </a:txBody>
                  <a:tcPr>
                    <a:solidFill>
                      <a:srgbClr val="0d1b2a"/>
                    </a:solidFill>
                  </a:tcPr>
                </a:tc>
              </a:tr>
            </a:tbl>
          </a:graphicData>
        </a:graphic>
      </p:graphicFrame>
      <p:sp>
        <p:nvSpPr>
          <p:cNvPr id="6" name="Rounded Rectangle 5"/>
          <p:cNvSpPr/>
          <p:nvPr/>
        </p:nvSpPr>
        <p:spPr>
          <a:xfrm>
            <a:off x="548640" y="4754880"/>
            <a:ext cx="11091672" cy="50292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800600"/>
            <a:ext cx="10725912" cy="411480"/>
          </a:xfrm>
          <a:prstGeom prst="rect">
            <a:avLst/>
          </a:prstGeom>
          <a:noFill/>
        </p:spPr>
        <p:txBody>
          <a:bodyPr wrap="square" anchor="t"/>
          <a:lstStyle/>
          <a:p>
            <a:pPr algn="ctr"/>
            <a:r>
              <a:rPr sz="2400" b="1" i="0">
                <a:solidFill>
                  <a:srgbClr val="FFFFFF"/>
                </a:solidFill>
                <a:latin typeface="Calibri"/>
              </a:rPr>
              <a:t>Each roadmap phase targets a different failure category.</a:t>
            </a:r>
          </a:p>
        </p:txBody>
      </p:sp>
      <p:pic>
        <p:nvPicPr>
          <p:cNvPr id="8" name="Picture 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6.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IS Improvement Roadmap — From 2.5 to 3.5</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2200" b="0" i="1">
                <a:solidFill>
                  <a:srgbClr val="AAAAAA"/>
                </a:solidFill>
                <a:latin typeface="Calibri"/>
              </a:rPr>
              <a:t>Projected Intelligibility Score improvement per phase</a:t>
            </a:r>
          </a:p>
        </p:txBody>
      </p:sp>
      <p:pic>
        <p:nvPicPr>
          <p:cNvPr id="5" name="Picture 4" descr="P3b_is_trajectory.png"/>
          <p:cNvPicPr>
            <a:picLocks noChangeAspect="1"/>
          </p:cNvPicPr>
          <p:nvPr/>
        </p:nvPicPr>
        <p:blipFill>
          <a:blip r:embed="rId2"/>
          <a:stretch>
            <a:fillRect/>
          </a:stretch>
        </p:blipFill>
        <p:spPr>
          <a:xfrm>
            <a:off x="548640" y="1691640"/>
            <a:ext cx="6949440" cy="3757231"/>
          </a:xfrm>
          <a:prstGeom prst="rect">
            <a:avLst/>
          </a:prstGeom>
        </p:spPr>
      </p:pic>
      <p:sp>
        <p:nvSpPr>
          <p:cNvPr id="6" name="Rounded Rectangle 5"/>
          <p:cNvSpPr/>
          <p:nvPr/>
        </p:nvSpPr>
        <p:spPr>
          <a:xfrm>
            <a:off x="8138160" y="1737360"/>
            <a:ext cx="3474720" cy="868680"/>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75320" y="1783080"/>
            <a:ext cx="3200400" cy="320040"/>
          </a:xfrm>
          <a:prstGeom prst="rect">
            <a:avLst/>
          </a:prstGeom>
          <a:noFill/>
        </p:spPr>
        <p:txBody>
          <a:bodyPr wrap="square" anchor="t"/>
          <a:lstStyle/>
          <a:p>
            <a:pPr algn="l"/>
            <a:r>
              <a:rPr sz="2400" b="1" i="0">
                <a:solidFill>
                  <a:srgbClr val="E06C75"/>
                </a:solidFill>
                <a:latin typeface="Calibri"/>
              </a:rPr>
              <a:t>Current</a:t>
            </a:r>
          </a:p>
        </p:txBody>
      </p:sp>
      <p:sp>
        <p:nvSpPr>
          <p:cNvPr id="8" name="TextBox 7"/>
          <p:cNvSpPr txBox="1"/>
          <p:nvPr/>
        </p:nvSpPr>
        <p:spPr>
          <a:xfrm>
            <a:off x="8275320" y="2084832"/>
            <a:ext cx="3200400" cy="365760"/>
          </a:xfrm>
          <a:prstGeom prst="rect">
            <a:avLst/>
          </a:prstGeom>
          <a:noFill/>
        </p:spPr>
        <p:txBody>
          <a:bodyPr wrap="square" anchor="t"/>
          <a:lstStyle/>
          <a:p>
            <a:pPr algn="l"/>
            <a:r>
              <a:rPr sz="1800" b="1" i="0">
                <a:solidFill>
                  <a:srgbClr val="FFFFFF"/>
                </a:solidFill>
                <a:latin typeface="Calibri"/>
              </a:rPr>
              <a:t>IS 2.547  •  62% useful</a:t>
            </a:r>
          </a:p>
        </p:txBody>
      </p:sp>
      <p:sp>
        <p:nvSpPr>
          <p:cNvPr id="9" name="Rounded Rectangle 8"/>
          <p:cNvSpPr/>
          <p:nvPr/>
        </p:nvSpPr>
        <p:spPr>
          <a:xfrm>
            <a:off x="8138160" y="2926080"/>
            <a:ext cx="3474720" cy="1097280"/>
          </a:xfrm>
          <a:prstGeom prst="roundRect">
            <a:avLst/>
          </a:prstGeom>
          <a:solidFill>
            <a:srgbClr val="152A40"/>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971800"/>
            <a:ext cx="3200400" cy="320040"/>
          </a:xfrm>
          <a:prstGeom prst="rect">
            <a:avLst/>
          </a:prstGeom>
          <a:noFill/>
        </p:spPr>
        <p:txBody>
          <a:bodyPr wrap="square" anchor="t"/>
          <a:lstStyle/>
          <a:p>
            <a:pPr algn="l"/>
            <a:r>
              <a:rPr sz="2400" b="1" i="0">
                <a:solidFill>
                  <a:srgbClr val="00B4D8"/>
                </a:solidFill>
                <a:latin typeface="Calibri"/>
              </a:rPr>
              <a:t>Phase 1–2</a:t>
            </a:r>
          </a:p>
        </p:txBody>
      </p:sp>
      <p:sp>
        <p:nvSpPr>
          <p:cNvPr id="11" name="TextBox 10"/>
          <p:cNvSpPr txBox="1"/>
          <p:nvPr/>
        </p:nvSpPr>
        <p:spPr>
          <a:xfrm>
            <a:off x="8275320" y="3273552"/>
            <a:ext cx="3200400" cy="365760"/>
          </a:xfrm>
          <a:prstGeom prst="rect">
            <a:avLst/>
          </a:prstGeom>
          <a:noFill/>
        </p:spPr>
        <p:txBody>
          <a:bodyPr wrap="square" anchor="t"/>
          <a:lstStyle/>
          <a:p>
            <a:pPr algn="l"/>
            <a:r>
              <a:rPr sz="1800" b="1" i="0">
                <a:solidFill>
                  <a:srgbClr val="FFFFFF"/>
                </a:solidFill>
                <a:latin typeface="Calibri"/>
              </a:rPr>
              <a:t>IS ~2.65  •  ~65% useful</a:t>
            </a:r>
          </a:p>
        </p:txBody>
      </p:sp>
      <p:sp>
        <p:nvSpPr>
          <p:cNvPr id="12" name="TextBox 11"/>
          <p:cNvSpPr txBox="1"/>
          <p:nvPr/>
        </p:nvSpPr>
        <p:spPr>
          <a:xfrm>
            <a:off x="8275320" y="3639312"/>
            <a:ext cx="3200400" cy="384048"/>
          </a:xfrm>
          <a:prstGeom prst="rect">
            <a:avLst/>
          </a:prstGeom>
          <a:noFill/>
        </p:spPr>
        <p:txBody>
          <a:bodyPr wrap="square" anchor="t"/>
          <a:lstStyle/>
          <a:p>
            <a:pPr algn="l"/>
            <a:r>
              <a:rPr sz="1400" b="0" i="1">
                <a:solidFill>
                  <a:srgbClr val="FFFFFF"/>
                </a:solidFill>
                <a:latin typeface="Calibri"/>
              </a:rPr>
              <a:t>+0.10  |  131/574 — Accum + Details</a:t>
            </a:r>
          </a:p>
        </p:txBody>
      </p:sp>
      <p:sp>
        <p:nvSpPr>
          <p:cNvPr id="13" name="Rounded Rectangle 12"/>
          <p:cNvSpPr/>
          <p:nvPr/>
        </p:nvSpPr>
        <p:spPr>
          <a:xfrm>
            <a:off x="8138160" y="4114800"/>
            <a:ext cx="3474720" cy="109728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4160520"/>
            <a:ext cx="3200400" cy="320040"/>
          </a:xfrm>
          <a:prstGeom prst="rect">
            <a:avLst/>
          </a:prstGeom>
          <a:noFill/>
        </p:spPr>
        <p:txBody>
          <a:bodyPr wrap="square" anchor="t"/>
          <a:lstStyle/>
          <a:p>
            <a:pPr algn="l"/>
            <a:r>
              <a:rPr sz="2400" b="1" i="0">
                <a:solidFill>
                  <a:srgbClr val="4CAF50"/>
                </a:solidFill>
                <a:latin typeface="Calibri"/>
              </a:rPr>
              <a:t>+ Phase 3</a:t>
            </a:r>
          </a:p>
        </p:txBody>
      </p:sp>
      <p:sp>
        <p:nvSpPr>
          <p:cNvPr id="15" name="TextBox 14"/>
          <p:cNvSpPr txBox="1"/>
          <p:nvPr/>
        </p:nvSpPr>
        <p:spPr>
          <a:xfrm>
            <a:off x="8275320" y="4462272"/>
            <a:ext cx="3200400" cy="365760"/>
          </a:xfrm>
          <a:prstGeom prst="rect">
            <a:avLst/>
          </a:prstGeom>
          <a:noFill/>
        </p:spPr>
        <p:txBody>
          <a:bodyPr wrap="square" anchor="t"/>
          <a:lstStyle/>
          <a:p>
            <a:pPr algn="l"/>
            <a:r>
              <a:rPr sz="1800" b="1" i="0">
                <a:solidFill>
                  <a:srgbClr val="FFFFFF"/>
                </a:solidFill>
                <a:latin typeface="Calibri"/>
              </a:rPr>
              <a:t>IS ~3.05  •  ~73% useful</a:t>
            </a:r>
          </a:p>
        </p:txBody>
      </p:sp>
      <p:sp>
        <p:nvSpPr>
          <p:cNvPr id="16" name="TextBox 15"/>
          <p:cNvSpPr txBox="1"/>
          <p:nvPr/>
        </p:nvSpPr>
        <p:spPr>
          <a:xfrm>
            <a:off x="8275320" y="4828032"/>
            <a:ext cx="3200400" cy="384048"/>
          </a:xfrm>
          <a:prstGeom prst="rect">
            <a:avLst/>
          </a:prstGeom>
          <a:noFill/>
        </p:spPr>
        <p:txBody>
          <a:bodyPr wrap="square" anchor="t"/>
          <a:lstStyle/>
          <a:p>
            <a:pPr algn="l"/>
            <a:r>
              <a:rPr sz="1400" b="0" i="1">
                <a:solidFill>
                  <a:srgbClr val="FFFFFF"/>
                </a:solidFill>
                <a:latin typeface="Calibri"/>
              </a:rPr>
              <a:t>+0.50  |  363/574 — Halluc + Wrong Topic</a:t>
            </a:r>
          </a:p>
        </p:txBody>
      </p:sp>
      <p:sp>
        <p:nvSpPr>
          <p:cNvPr id="17" name="Rounded Rectangle 16"/>
          <p:cNvSpPr/>
          <p:nvPr/>
        </p:nvSpPr>
        <p:spPr>
          <a:xfrm>
            <a:off x="8138160" y="5303520"/>
            <a:ext cx="3474720" cy="1097280"/>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5349240"/>
            <a:ext cx="3200400" cy="320040"/>
          </a:xfrm>
          <a:prstGeom prst="rect">
            <a:avLst/>
          </a:prstGeom>
          <a:noFill/>
        </p:spPr>
        <p:txBody>
          <a:bodyPr wrap="square" anchor="t"/>
          <a:lstStyle/>
          <a:p>
            <a:pPr algn="l"/>
            <a:r>
              <a:rPr sz="2400" b="1" i="0">
                <a:solidFill>
                  <a:srgbClr val="4CAF50"/>
                </a:solidFill>
                <a:latin typeface="Calibri"/>
              </a:rPr>
              <a:t>+ Phase 4–5</a:t>
            </a:r>
          </a:p>
        </p:txBody>
      </p:sp>
      <p:sp>
        <p:nvSpPr>
          <p:cNvPr id="19" name="TextBox 18"/>
          <p:cNvSpPr txBox="1"/>
          <p:nvPr/>
        </p:nvSpPr>
        <p:spPr>
          <a:xfrm>
            <a:off x="8275320" y="5650992"/>
            <a:ext cx="3200400" cy="365760"/>
          </a:xfrm>
          <a:prstGeom prst="rect">
            <a:avLst/>
          </a:prstGeom>
          <a:noFill/>
        </p:spPr>
        <p:txBody>
          <a:bodyPr wrap="square" anchor="t"/>
          <a:lstStyle/>
          <a:p>
            <a:pPr algn="l"/>
            <a:r>
              <a:rPr sz="1800" b="1" i="0">
                <a:solidFill>
                  <a:srgbClr val="FFFFFF"/>
                </a:solidFill>
                <a:latin typeface="Calibri"/>
              </a:rPr>
              <a:t>IS ~3.50  •  ~82% useful</a:t>
            </a:r>
          </a:p>
        </p:txBody>
      </p:sp>
      <p:sp>
        <p:nvSpPr>
          <p:cNvPr id="20" name="TextBox 19"/>
          <p:cNvSpPr txBox="1"/>
          <p:nvPr/>
        </p:nvSpPr>
        <p:spPr>
          <a:xfrm>
            <a:off x="8275320" y="6016752"/>
            <a:ext cx="3200400" cy="384048"/>
          </a:xfrm>
          <a:prstGeom prst="rect">
            <a:avLst/>
          </a:prstGeom>
          <a:noFill/>
        </p:spPr>
        <p:txBody>
          <a:bodyPr wrap="square" anchor="t"/>
          <a:lstStyle/>
          <a:p>
            <a:pPr algn="l"/>
            <a:r>
              <a:rPr sz="1400" b="0" i="1">
                <a:solidFill>
                  <a:srgbClr val="FFFFFF"/>
                </a:solidFill>
                <a:latin typeface="Calibri"/>
              </a:rPr>
              <a:t>+0.95  |  data + GER</a:t>
            </a:r>
          </a:p>
        </p:txBody>
      </p:sp>
      <p:pic>
        <p:nvPicPr>
          <p:cNvPr id="21" name="Picture 20" descr="WhiteLogo.jpeg"/>
          <p:cNvPicPr>
            <a:picLocks noChangeAspect="1"/>
          </p:cNvPicPr>
          <p:nvPr/>
        </p:nvPicPr>
        <p:blipFill>
          <a:blip r:embed="rId3"/>
          <a:stretch>
            <a:fillRect/>
          </a:stretch>
        </p:blipFill>
        <p:spPr>
          <a:xfrm>
            <a:off x="11323320" y="6428232"/>
            <a:ext cx="269634" cy="320040"/>
          </a:xfrm>
          <a:prstGeom prst="rect">
            <a:avLst/>
          </a:prstGeom>
        </p:spPr>
      </p:pic>
      <p:sp>
        <p:nvSpPr>
          <p:cNvPr id="22" name="TextBox 2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48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60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72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84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96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108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120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132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144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156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168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Aggregating 20 Hypotheses: Majority's Favorite Sentence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777240"/>
          </a:xfrm>
          <a:prstGeom prst="rect">
            <a:avLst/>
          </a:prstGeom>
          <a:noFill/>
        </p:spPr>
        <p:txBody>
          <a:bodyPr wrap="square" anchor="t"/>
          <a:lstStyle/>
          <a:p>
            <a:pPr algn="l"/>
            <a:r>
              <a:rPr sz="2200" b="1" i="0">
                <a:solidFill>
                  <a:srgbClr val="FFFFFF"/>
                </a:solidFill>
                <a:latin typeface="Calibri"/>
              </a:rPr>
              <a:t>Multi-hypothesis decoding now ships as production default (20 hypotheses → MBR consensus).</a:t>
            </a:r>
          </a:p>
        </p:txBody>
      </p:sp>
      <p:sp>
        <p:nvSpPr>
          <p:cNvPr id="5" name="Rounded Rectangle 4"/>
          <p:cNvSpPr/>
          <p:nvPr/>
        </p:nvSpPr>
        <p:spPr>
          <a:xfrm>
            <a:off x="548640" y="2194560"/>
            <a:ext cx="5029200" cy="18288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286000"/>
            <a:ext cx="4663440" cy="274320"/>
          </a:xfrm>
          <a:prstGeom prst="rect">
            <a:avLst/>
          </a:prstGeom>
          <a:noFill/>
        </p:spPr>
        <p:txBody>
          <a:bodyPr wrap="square" anchor="t"/>
          <a:lstStyle/>
          <a:p>
            <a:pPr algn="l"/>
            <a:r>
              <a:rPr sz="2200" b="1" i="0">
                <a:solidFill>
                  <a:srgbClr val="00B4D8"/>
                </a:solidFill>
                <a:latin typeface="Calibri"/>
              </a:rPr>
              <a:t>ROVER (alternative)</a:t>
            </a:r>
          </a:p>
        </p:txBody>
      </p:sp>
      <p:sp>
        <p:nvSpPr>
          <p:cNvPr id="7" name="TextBox 6"/>
          <p:cNvSpPr txBox="1"/>
          <p:nvPr/>
        </p:nvSpPr>
        <p:spPr>
          <a:xfrm>
            <a:off x="731520" y="2560320"/>
            <a:ext cx="4663440" cy="274320"/>
          </a:xfrm>
          <a:prstGeom prst="rect">
            <a:avLst/>
          </a:prstGeom>
          <a:noFill/>
        </p:spPr>
        <p:txBody>
          <a:bodyPr wrap="square" anchor="t"/>
          <a:lstStyle/>
          <a:p>
            <a:pPr algn="l"/>
            <a:r>
              <a:rPr sz="1400" b="0" i="1">
                <a:solidFill>
                  <a:srgbClr val="AAAAAA"/>
                </a:solidFill>
                <a:latin typeface="Calibri"/>
              </a:rPr>
              <a:t>Recognizer Output Voting Error Reduction</a:t>
            </a:r>
          </a:p>
        </p:txBody>
      </p:sp>
      <p:sp>
        <p:nvSpPr>
          <p:cNvPr id="8" name="TextBox 7"/>
          <p:cNvSpPr txBox="1"/>
          <p:nvPr/>
        </p:nvSpPr>
        <p:spPr>
          <a:xfrm>
            <a:off x="731520" y="2834640"/>
            <a:ext cx="4663440" cy="1097280"/>
          </a:xfrm>
          <a:prstGeom prst="rect">
            <a:avLst/>
          </a:prstGeom>
          <a:noFill/>
        </p:spPr>
        <p:txBody>
          <a:bodyPr wrap="square">
            <a:spAutoFit/>
          </a:bodyPr>
          <a:lstStyle/>
          <a:p>
            <a:pPr algn="l">
              <a:spcAft>
                <a:spcPts val="600"/>
              </a:spcAft>
            </a:pPr>
            <a:r>
              <a:rPr sz="1800" b="1">
                <a:solidFill>
                  <a:srgbClr val="00B4D8"/>
                </a:solidFill>
                <a:latin typeface="Calibri"/>
              </a:rPr>
              <a:t>• </a:t>
            </a:r>
            <a:r>
              <a:rPr sz="1800" b="0">
                <a:solidFill>
                  <a:srgbClr val="FFFFFF"/>
                </a:solidFill>
                <a:latin typeface="Calibri"/>
              </a:rPr>
              <a:t>Align 20 hypotheses word-by-word</a:t>
            </a:r>
          </a:p>
          <a:p>
            <a:pPr algn="l">
              <a:spcAft>
                <a:spcPts val="600"/>
              </a:spcAft>
            </a:pPr>
            <a:r>
              <a:rPr sz="1800" b="1">
                <a:solidFill>
                  <a:srgbClr val="00B4D8"/>
                </a:solidFill>
                <a:latin typeface="Calibri"/>
              </a:rPr>
              <a:t>• </a:t>
            </a:r>
            <a:r>
              <a:rPr sz="1800" b="0">
                <a:solidFill>
                  <a:srgbClr val="FFFFFF"/>
                </a:solidFill>
                <a:latin typeface="Calibri"/>
              </a:rPr>
              <a:t>Vote at each position — most common</a:t>
            </a:r>
          </a:p>
          <a:p>
            <a:pPr algn="l">
              <a:spcAft>
                <a:spcPts val="600"/>
              </a:spcAft>
            </a:pPr>
            <a:r>
              <a:rPr sz="1800" b="1">
                <a:solidFill>
                  <a:srgbClr val="00B4D8"/>
                </a:solidFill>
                <a:latin typeface="Calibri"/>
              </a:rPr>
              <a:t>• </a:t>
            </a:r>
            <a:r>
              <a:rPr sz="1800" b="0">
                <a:solidFill>
                  <a:srgbClr val="FFFFFF"/>
                </a:solidFill>
                <a:latin typeface="Calibri"/>
              </a:rPr>
              <a:t>Reduces random substitution errors</a:t>
            </a:r>
          </a:p>
        </p:txBody>
      </p:sp>
      <p:sp>
        <p:nvSpPr>
          <p:cNvPr id="9" name="Rounded Rectangle 8"/>
          <p:cNvSpPr/>
          <p:nvPr/>
        </p:nvSpPr>
        <p:spPr>
          <a:xfrm>
            <a:off x="6611111" y="2194560"/>
            <a:ext cx="5029200" cy="18288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93991" y="2286000"/>
            <a:ext cx="4663440" cy="274320"/>
          </a:xfrm>
          <a:prstGeom prst="rect">
            <a:avLst/>
          </a:prstGeom>
          <a:noFill/>
        </p:spPr>
        <p:txBody>
          <a:bodyPr wrap="square" anchor="t"/>
          <a:lstStyle/>
          <a:p>
            <a:pPr algn="l"/>
            <a:r>
              <a:rPr sz="2200" b="1" i="0">
                <a:solidFill>
                  <a:srgbClr val="4CAF50"/>
                </a:solidFill>
                <a:latin typeface="Calibri"/>
              </a:rPr>
              <a:t>MBR (shipped, default)</a:t>
            </a:r>
          </a:p>
        </p:txBody>
      </p:sp>
      <p:sp>
        <p:nvSpPr>
          <p:cNvPr id="11" name="TextBox 10"/>
          <p:cNvSpPr txBox="1"/>
          <p:nvPr/>
        </p:nvSpPr>
        <p:spPr>
          <a:xfrm>
            <a:off x="6793991" y="2560320"/>
            <a:ext cx="4663440" cy="274320"/>
          </a:xfrm>
          <a:prstGeom prst="rect">
            <a:avLst/>
          </a:prstGeom>
          <a:noFill/>
        </p:spPr>
        <p:txBody>
          <a:bodyPr wrap="square" anchor="t"/>
          <a:lstStyle/>
          <a:p>
            <a:pPr algn="l"/>
            <a:r>
              <a:rPr sz="1400" b="0" i="1">
                <a:solidFill>
                  <a:srgbClr val="AAAAAA"/>
                </a:solidFill>
                <a:latin typeface="Calibri"/>
              </a:rPr>
              <a:t>Minimum Bayes Risk Decoding</a:t>
            </a:r>
          </a:p>
        </p:txBody>
      </p:sp>
      <p:sp>
        <p:nvSpPr>
          <p:cNvPr id="12" name="TextBox 11"/>
          <p:cNvSpPr txBox="1"/>
          <p:nvPr/>
        </p:nvSpPr>
        <p:spPr>
          <a:xfrm>
            <a:off x="6793991" y="2834640"/>
            <a:ext cx="4663440" cy="1097280"/>
          </a:xfrm>
          <a:prstGeom prst="rect">
            <a:avLst/>
          </a:prstGeom>
          <a:noFill/>
        </p:spPr>
        <p:txBody>
          <a:bodyPr wrap="square">
            <a:spAutoFit/>
          </a:bodyPr>
          <a:lstStyle/>
          <a:p>
            <a:pPr algn="l">
              <a:spcAft>
                <a:spcPts val="600"/>
              </a:spcAft>
            </a:pPr>
            <a:r>
              <a:rPr sz="1800" b="1">
                <a:solidFill>
                  <a:srgbClr val="00B4D8"/>
                </a:solidFill>
                <a:latin typeface="Calibri"/>
              </a:rPr>
              <a:t>• </a:t>
            </a:r>
            <a:r>
              <a:rPr sz="1800" b="0">
                <a:solidFill>
                  <a:srgbClr val="FFFFFF"/>
                </a:solidFill>
                <a:latin typeface="Calibri"/>
              </a:rPr>
              <a:t>Score each hypothesis against ALL others</a:t>
            </a:r>
          </a:p>
          <a:p>
            <a:pPr algn="l">
              <a:spcAft>
                <a:spcPts val="600"/>
              </a:spcAft>
            </a:pPr>
            <a:r>
              <a:rPr sz="1800" b="1">
                <a:solidFill>
                  <a:srgbClr val="00B4D8"/>
                </a:solidFill>
                <a:latin typeface="Calibri"/>
              </a:rPr>
              <a:t>• </a:t>
            </a:r>
            <a:r>
              <a:rPr sz="1800" b="0">
                <a:solidFill>
                  <a:srgbClr val="FFFFFF"/>
                </a:solidFill>
                <a:latin typeface="Calibri"/>
              </a:rPr>
              <a:t>Pick the one most similar to consensus</a:t>
            </a:r>
          </a:p>
          <a:p>
            <a:pPr algn="l">
              <a:spcAft>
                <a:spcPts val="600"/>
              </a:spcAft>
            </a:pPr>
            <a:r>
              <a:rPr sz="1800" b="1">
                <a:solidFill>
                  <a:srgbClr val="00B4D8"/>
                </a:solidFill>
                <a:latin typeface="Calibri"/>
              </a:rPr>
              <a:t>• </a:t>
            </a:r>
            <a:r>
              <a:rPr sz="1800" b="0">
                <a:solidFill>
                  <a:srgbClr val="FFFFFF"/>
                </a:solidFill>
                <a:latin typeface="Calibri"/>
              </a:rPr>
              <a:t>Best single hypothesis, no alignment</a:t>
            </a:r>
          </a:p>
        </p:txBody>
      </p:sp>
      <p:sp>
        <p:nvSpPr>
          <p:cNvPr id="13" name="TextBox 12"/>
          <p:cNvSpPr txBox="1"/>
          <p:nvPr/>
        </p:nvSpPr>
        <p:spPr>
          <a:xfrm>
            <a:off x="548640" y="4297680"/>
            <a:ext cx="11091672" cy="128016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4CAF50"/>
                </a:solidFill>
                <a:latin typeface="Calibri"/>
              </a:rPr>
              <a:t>v3 Judge: MBR Y+P 71% vs 68% (p=0.00017)</a:t>
            </a:r>
          </a:p>
          <a:p>
            <a:pPr algn="l">
              <a:spcAft>
                <a:spcPts val="600"/>
              </a:spcAft>
            </a:pPr>
            <a:r>
              <a:rPr sz="2000" b="1">
                <a:solidFill>
                  <a:srgbClr val="00B4D8"/>
                </a:solidFill>
                <a:latin typeface="Calibri"/>
              </a:rPr>
              <a:t>• </a:t>
            </a:r>
            <a:r>
              <a:rPr sz="2000" b="0">
                <a:solidFill>
                  <a:srgbClr val="FFFFFF"/>
                </a:solidFill>
                <a:latin typeface="Calibri"/>
              </a:rPr>
              <a:t>Targets Accumulated Errors (9% of failures)</a:t>
            </a:r>
          </a:p>
          <a:p>
            <a:pPr algn="l">
              <a:spcAft>
                <a:spcPts val="600"/>
              </a:spcAft>
            </a:pPr>
            <a:r>
              <a:rPr sz="2000" b="1">
                <a:solidFill>
                  <a:srgbClr val="00B4D8"/>
                </a:solidFill>
                <a:latin typeface="Calibri"/>
              </a:rPr>
              <a:t>• </a:t>
            </a:r>
            <a:r>
              <a:rPr sz="2000" b="0">
                <a:solidFill>
                  <a:srgbClr val="FFFFFF"/>
                </a:solidFill>
                <a:latin typeface="Calibri"/>
              </a:rPr>
              <a:t>WER -1.56 pp on hyp_vote_conf; MBR calibrated</a:t>
            </a:r>
          </a:p>
        </p:txBody>
      </p:sp>
      <p:sp>
        <p:nvSpPr>
          <p:cNvPr id="14" name="TextBox 13"/>
          <p:cNvSpPr txBox="1"/>
          <p:nvPr/>
        </p:nvSpPr>
        <p:spPr>
          <a:xfrm>
            <a:off x="548640" y="5989320"/>
            <a:ext cx="11091672" cy="292608"/>
          </a:xfrm>
          <a:prstGeom prst="rect">
            <a:avLst/>
          </a:prstGeom>
          <a:noFill/>
        </p:spPr>
        <p:txBody>
          <a:bodyPr wrap="square" anchor="t"/>
          <a:lstStyle/>
          <a:p>
            <a:pPr algn="l"/>
            <a:r>
              <a:rPr sz="1800" b="0" i="1">
                <a:solidFill>
                  <a:srgbClr val="666666"/>
                </a:solidFill>
                <a:latin typeface="Calibri"/>
              </a:rPr>
              <a:t>ROVER: Fiscus 1997  |  MBR: Kumar &amp; Byrne 2004</a:t>
            </a:r>
          </a:p>
        </p:txBody>
      </p:sp>
      <p:pic>
        <p:nvPicPr>
          <p:cNvPr id="15" name="Picture 1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78.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N-best Aggregation: McNemar Paired Tests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57200"/>
          </a:xfrm>
          <a:prstGeom prst="rect">
            <a:avLst/>
          </a:prstGeom>
          <a:noFill/>
        </p:spPr>
        <p:txBody>
          <a:bodyPr wrap="square" anchor="t"/>
          <a:lstStyle/>
          <a:p>
            <a:pPr algn="l"/>
            <a:r>
              <a:rPr sz="1800" b="0" i="1">
                <a:solidFill>
                  <a:srgbClr val="AAAAAA"/>
                </a:solidFill>
                <a:latin typeface="Calibri"/>
              </a:rPr>
              <a:t>Opus 4.7 dual-conf prompt, blind, 5,988 verdicts (1,497 segments x 4 methods). McNemar paired vs baseline (top-1).</a:t>
            </a:r>
          </a:p>
        </p:txBody>
      </p:sp>
      <p:pic>
        <p:nvPicPr>
          <p:cNvPr id="5" name="Picture 4" descr="P_v3_judge_paired.png"/>
          <p:cNvPicPr>
            <a:picLocks noChangeAspect="1"/>
          </p:cNvPicPr>
          <p:nvPr/>
        </p:nvPicPr>
        <p:blipFill>
          <a:blip r:embed="rId2"/>
          <a:stretch>
            <a:fillRect/>
          </a:stretch>
        </p:blipFill>
        <p:spPr>
          <a:xfrm>
            <a:off x="548640" y="1874520"/>
            <a:ext cx="5943600" cy="2103120"/>
          </a:xfrm>
          <a:prstGeom prst="rect">
            <a:avLst/>
          </a:prstGeom>
        </p:spPr>
      </p:pic>
      <p:pic>
        <p:nvPicPr>
          <p:cNvPr id="6" name="Picture 5" descr="P_method_comparison.png"/>
          <p:cNvPicPr>
            <a:picLocks noChangeAspect="1"/>
          </p:cNvPicPr>
          <p:nvPr/>
        </p:nvPicPr>
        <p:blipFill>
          <a:blip r:embed="rId3"/>
          <a:stretch>
            <a:fillRect/>
          </a:stretch>
        </p:blipFill>
        <p:spPr>
          <a:xfrm>
            <a:off x="548640" y="4069080"/>
            <a:ext cx="5943600" cy="1554480"/>
          </a:xfrm>
          <a:prstGeom prst="rect">
            <a:avLst/>
          </a:prstGeom>
        </p:spPr>
      </p:pic>
      <p:sp>
        <p:nvSpPr>
          <p:cNvPr id="7" name="TextBox 6"/>
          <p:cNvSpPr txBox="1"/>
          <p:nvPr/>
        </p:nvSpPr>
        <p:spPr>
          <a:xfrm>
            <a:off x="548640" y="5669280"/>
            <a:ext cx="5943600" cy="274320"/>
          </a:xfrm>
          <a:prstGeom prst="rect">
            <a:avLst/>
          </a:prstGeom>
          <a:noFill/>
        </p:spPr>
        <p:txBody>
          <a:bodyPr wrap="square" anchor="t"/>
          <a:lstStyle/>
          <a:p>
            <a:pPr algn="ctr"/>
            <a:r>
              <a:rPr sz="1800" b="0" i="1">
                <a:solidFill>
                  <a:srgbClr val="AAAAAA"/>
                </a:solidFill>
                <a:latin typeface="Calibri"/>
              </a:rPr>
              <a:t>Below: IS distribution per method (top1 / MBR / vote_score / vote_conf).</a:t>
            </a:r>
          </a:p>
        </p:txBody>
      </p:sp>
      <p:graphicFrame>
        <p:nvGraphicFramePr>
          <p:cNvPr id="8" name="Table 7"/>
          <p:cNvGraphicFramePr>
            <a:graphicFrameLocks noGrp="1"/>
          </p:cNvGraphicFramePr>
          <p:nvPr/>
        </p:nvGraphicFramePr>
        <p:xfrm>
          <a:off x="6675120" y="1874520"/>
          <a:ext cx="4965192" cy="2286000"/>
        </p:xfrm>
        <a:graphic>
          <a:graphicData uri="http://schemas.openxmlformats.org/drawingml/2006/table">
            <a:tbl>
              <a:tblPr firstRow="0" bandRow="0" lastRow="0" bandCol="0">
                <a:tableStyleId>{5C22544A-7EE6-4342-B048-85BDC9FD1C3A}</a:tableStyleId>
              </a:tblPr>
              <a:tblGrid>
                <a:gridCol w="1673352"/>
                <a:gridCol w="777240"/>
                <a:gridCol w="777240"/>
                <a:gridCol w="1737360"/>
              </a:tblGrid>
              <a:tr h="457200">
                <a:tc>
                  <a:txBody>
                    <a:bodyPr/>
                    <a:lstStyle/>
                    <a:p>
                      <a:pPr algn="ctr"/>
                      <a:r>
                        <a:rPr sz="2400" b="1" i="0">
                          <a:solidFill>
                            <a:srgbClr val="FFFFFF"/>
                          </a:solidFill>
                          <a:latin typeface="Calibri"/>
                        </a:rPr>
                        <a:t>Method</a:t>
                      </a:r>
                    </a:p>
                  </a:txBody>
                  <a:tcPr>
                    <a:solidFill>
                      <a:srgbClr val="00b4d8"/>
                    </a:solidFill>
                  </a:tcPr>
                </a:tc>
                <a:tc>
                  <a:txBody>
                    <a:bodyPr/>
                    <a:lstStyle/>
                    <a:p>
                      <a:pPr algn="ctr"/>
                      <a:r>
                        <a:rPr sz="2400" b="1" i="0">
                          <a:solidFill>
                            <a:srgbClr val="FFFFFF"/>
                          </a:solidFill>
                          <a:latin typeface="Calibri"/>
                        </a:rPr>
                        <a:t>Y%</a:t>
                      </a:r>
                    </a:p>
                  </a:txBody>
                  <a:tcPr>
                    <a:solidFill>
                      <a:srgbClr val="00b4d8"/>
                    </a:solidFill>
                  </a:tcPr>
                </a:tc>
                <a:tc>
                  <a:txBody>
                    <a:bodyPr/>
                    <a:lstStyle/>
                    <a:p>
                      <a:pPr algn="ctr"/>
                      <a:r>
                        <a:rPr sz="2400" b="1" i="0">
                          <a:solidFill>
                            <a:srgbClr val="FFFFFF"/>
                          </a:solidFill>
                          <a:latin typeface="Calibri"/>
                        </a:rPr>
                        <a:t>YP%</a:t>
                      </a:r>
                    </a:p>
                  </a:txBody>
                  <a:tcPr>
                    <a:solidFill>
                      <a:srgbClr val="00b4d8"/>
                    </a:solidFill>
                  </a:tcPr>
                </a:tc>
                <a:tc>
                  <a:txBody>
                    <a:bodyPr/>
                    <a:lstStyle/>
                    <a:p>
                      <a:pPr algn="ctr"/>
                      <a:r>
                        <a:rPr sz="2400" b="1" i="0">
                          <a:solidFill>
                            <a:srgbClr val="FFFFFF"/>
                          </a:solidFill>
                          <a:latin typeface="Calibri"/>
                        </a:rPr>
                        <a:t>McNemar-p</a:t>
                      </a:r>
                    </a:p>
                  </a:txBody>
                  <a:tcPr>
                    <a:solidFill>
                      <a:srgbClr val="00b4d8"/>
                    </a:solidFill>
                  </a:tcPr>
                </a:tc>
              </a:tr>
              <a:tr h="457200">
                <a:tc>
                  <a:txBody>
                    <a:bodyPr/>
                    <a:lstStyle/>
                    <a:p>
                      <a:pPr algn="l"/>
                      <a:r>
                        <a:rPr sz="2400" b="0" i="0">
                          <a:solidFill>
                            <a:srgbClr val="FFFFFF"/>
                          </a:solidFill>
                          <a:latin typeface="Calibri"/>
                        </a:rPr>
                        <a:t>baseline</a:t>
                      </a:r>
                    </a:p>
                  </a:txBody>
                  <a:tcPr>
                    <a:solidFill>
                      <a:srgbClr val="0d1b2a"/>
                    </a:solidFill>
                  </a:tcPr>
                </a:tc>
                <a:tc>
                  <a:txBody>
                    <a:bodyPr/>
                    <a:lstStyle/>
                    <a:p>
                      <a:pPr algn="l"/>
                      <a:r>
                        <a:rPr sz="2400" b="0" i="0">
                          <a:solidFill>
                            <a:srgbClr val="FFFFFF"/>
                          </a:solidFill>
                          <a:latin typeface="Calibri"/>
                        </a:rPr>
                        <a:t>13%</a:t>
                      </a:r>
                    </a:p>
                  </a:txBody>
                  <a:tcPr>
                    <a:solidFill>
                      <a:srgbClr val="0d1b2a"/>
                    </a:solidFill>
                  </a:tcPr>
                </a:tc>
                <a:tc>
                  <a:txBody>
                    <a:bodyPr/>
                    <a:lstStyle/>
                    <a:p>
                      <a:pPr algn="l"/>
                      <a:r>
                        <a:rPr sz="2400" b="0" i="0">
                          <a:solidFill>
                            <a:srgbClr val="FFFFFF"/>
                          </a:solidFill>
                          <a:latin typeface="Calibri"/>
                        </a:rPr>
                        <a:t>68%</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457200">
                <a:tc>
                  <a:txBody>
                    <a:bodyPr/>
                    <a:lstStyle/>
                    <a:p>
                      <a:pPr algn="l"/>
                      <a:r>
                        <a:rPr sz="2400" b="0" i="0">
                          <a:solidFill>
                            <a:srgbClr val="FFFFFF"/>
                          </a:solidFill>
                          <a:latin typeface="Calibri"/>
                        </a:rPr>
                        <a:t>hyp_mbr</a:t>
                      </a:r>
                    </a:p>
                  </a:txBody>
                  <a:tcPr>
                    <a:solidFill>
                      <a:srgbClr val="152a40"/>
                    </a:solidFill>
                  </a:tcPr>
                </a:tc>
                <a:tc>
                  <a:txBody>
                    <a:bodyPr/>
                    <a:lstStyle/>
                    <a:p>
                      <a:pPr algn="l"/>
                      <a:r>
                        <a:rPr sz="2400" b="0" i="0">
                          <a:solidFill>
                            <a:srgbClr val="FFFFFF"/>
                          </a:solidFill>
                          <a:latin typeface="Calibri"/>
                        </a:rPr>
                        <a:t>14%</a:t>
                      </a:r>
                    </a:p>
                  </a:txBody>
                  <a:tcPr>
                    <a:solidFill>
                      <a:srgbClr val="152a40"/>
                    </a:solidFill>
                  </a:tcPr>
                </a:tc>
                <a:tc>
                  <a:txBody>
                    <a:bodyPr/>
                    <a:lstStyle/>
                    <a:p>
                      <a:pPr algn="l"/>
                      <a:r>
                        <a:rPr sz="2400" b="0" i="0">
                          <a:solidFill>
                            <a:srgbClr val="4CAF50"/>
                          </a:solidFill>
                          <a:latin typeface="Calibri"/>
                        </a:rPr>
                        <a:t>71%</a:t>
                      </a:r>
                    </a:p>
                  </a:txBody>
                  <a:tcPr>
                    <a:solidFill>
                      <a:srgbClr val="152a40"/>
                    </a:solidFill>
                  </a:tcPr>
                </a:tc>
                <a:tc>
                  <a:txBody>
                    <a:bodyPr/>
                    <a:lstStyle/>
                    <a:p>
                      <a:pPr algn="l"/>
                      <a:r>
                        <a:rPr sz="2400" b="0" i="0">
                          <a:solidFill>
                            <a:srgbClr val="4CAF50"/>
                          </a:solidFill>
                          <a:latin typeface="Calibri"/>
                        </a:rPr>
                        <a:t>0.00017***</a:t>
                      </a:r>
                    </a:p>
                  </a:txBody>
                  <a:tcPr>
                    <a:solidFill>
                      <a:srgbClr val="152a40"/>
                    </a:solidFill>
                  </a:tcPr>
                </a:tc>
              </a:tr>
              <a:tr h="457200">
                <a:tc>
                  <a:txBody>
                    <a:bodyPr/>
                    <a:lstStyle/>
                    <a:p>
                      <a:pPr algn="l"/>
                      <a:r>
                        <a:rPr sz="2400" b="0" i="0">
                          <a:solidFill>
                            <a:srgbClr val="FFFFFF"/>
                          </a:solidFill>
                          <a:latin typeface="Calibri"/>
                        </a:rPr>
                        <a:t>vote_score</a:t>
                      </a:r>
                    </a:p>
                  </a:txBody>
                  <a:tcPr>
                    <a:solidFill>
                      <a:srgbClr val="0d1b2a"/>
                    </a:solidFill>
                  </a:tcPr>
                </a:tc>
                <a:tc>
                  <a:txBody>
                    <a:bodyPr/>
                    <a:lstStyle/>
                    <a:p>
                      <a:pPr algn="l"/>
                      <a:r>
                        <a:rPr sz="2400" b="0" i="0">
                          <a:solidFill>
                            <a:srgbClr val="FFFFFF"/>
                          </a:solidFill>
                          <a:latin typeface="Calibri"/>
                        </a:rPr>
                        <a:t>14%</a:t>
                      </a:r>
                    </a:p>
                  </a:txBody>
                  <a:tcPr>
                    <a:solidFill>
                      <a:srgbClr val="0d1b2a"/>
                    </a:solidFill>
                  </a:tcPr>
                </a:tc>
                <a:tc>
                  <a:txBody>
                    <a:bodyPr/>
                    <a:lstStyle/>
                    <a:p>
                      <a:pPr algn="l"/>
                      <a:r>
                        <a:rPr sz="2400" b="0" i="0">
                          <a:solidFill>
                            <a:srgbClr val="FFD54F"/>
                          </a:solidFill>
                          <a:latin typeface="Calibri"/>
                        </a:rPr>
                        <a:t>69%</a:t>
                      </a:r>
                    </a:p>
                  </a:txBody>
                  <a:tcPr>
                    <a:solidFill>
                      <a:srgbClr val="0d1b2a"/>
                    </a:solidFill>
                  </a:tcPr>
                </a:tc>
                <a:tc>
                  <a:txBody>
                    <a:bodyPr/>
                    <a:lstStyle/>
                    <a:p>
                      <a:pPr algn="l"/>
                      <a:r>
                        <a:rPr sz="2400" b="0" i="0">
                          <a:solidFill>
                            <a:srgbClr val="AAAAAA"/>
                          </a:solidFill>
                          <a:latin typeface="Calibri"/>
                        </a:rPr>
                        <a:t>0.149(ns)</a:t>
                      </a:r>
                    </a:p>
                  </a:txBody>
                  <a:tcPr>
                    <a:solidFill>
                      <a:srgbClr val="0d1b2a"/>
                    </a:solidFill>
                  </a:tcPr>
                </a:tc>
              </a:tr>
              <a:tr h="457200">
                <a:tc>
                  <a:txBody>
                    <a:bodyPr/>
                    <a:lstStyle/>
                    <a:p>
                      <a:pPr algn="l"/>
                      <a:r>
                        <a:rPr sz="2400" b="0" i="0">
                          <a:solidFill>
                            <a:srgbClr val="FFFFFF"/>
                          </a:solidFill>
                          <a:latin typeface="Calibri"/>
                        </a:rPr>
                        <a:t>vote_conf</a:t>
                      </a:r>
                    </a:p>
                  </a:txBody>
                  <a:tcPr>
                    <a:solidFill>
                      <a:srgbClr val="152a40"/>
                    </a:solidFill>
                  </a:tcPr>
                </a:tc>
                <a:tc>
                  <a:txBody>
                    <a:bodyPr/>
                    <a:lstStyle/>
                    <a:p>
                      <a:pPr algn="l"/>
                      <a:r>
                        <a:rPr sz="2400" b="0" i="0">
                          <a:solidFill>
                            <a:srgbClr val="FFFFFF"/>
                          </a:solidFill>
                          <a:latin typeface="Calibri"/>
                        </a:rPr>
                        <a:t>12%</a:t>
                      </a:r>
                    </a:p>
                  </a:txBody>
                  <a:tcPr>
                    <a:solidFill>
                      <a:srgbClr val="152a40"/>
                    </a:solidFill>
                  </a:tcPr>
                </a:tc>
                <a:tc>
                  <a:txBody>
                    <a:bodyPr/>
                    <a:lstStyle/>
                    <a:p>
                      <a:pPr algn="l"/>
                      <a:r>
                        <a:rPr sz="2400" b="0" i="0">
                          <a:solidFill>
                            <a:srgbClr val="4CAF50"/>
                          </a:solidFill>
                          <a:latin typeface="Calibri"/>
                        </a:rPr>
                        <a:t>70%</a:t>
                      </a:r>
                    </a:p>
                  </a:txBody>
                  <a:tcPr>
                    <a:solidFill>
                      <a:srgbClr val="152a40"/>
                    </a:solidFill>
                  </a:tcPr>
                </a:tc>
                <a:tc>
                  <a:txBody>
                    <a:bodyPr/>
                    <a:lstStyle/>
                    <a:p>
                      <a:pPr algn="l"/>
                      <a:r>
                        <a:rPr sz="2400" b="0" i="0">
                          <a:solidFill>
                            <a:srgbClr val="4CAF50"/>
                          </a:solidFill>
                          <a:latin typeface="Calibri"/>
                        </a:rPr>
                        <a:t>0.00257**</a:t>
                      </a:r>
                    </a:p>
                  </a:txBody>
                  <a:tcPr>
                    <a:solidFill>
                      <a:srgbClr val="152a40"/>
                    </a:solidFill>
                  </a:tcPr>
                </a:tc>
              </a:tr>
            </a:tbl>
          </a:graphicData>
        </a:graphic>
      </p:graphicFrame>
      <p:sp>
        <p:nvSpPr>
          <p:cNvPr id="9" name="TextBox 8"/>
          <p:cNvSpPr txBox="1"/>
          <p:nvPr/>
        </p:nvSpPr>
        <p:spPr>
          <a:xfrm>
            <a:off x="6675120" y="4434840"/>
            <a:ext cx="4965192" cy="146304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4CAF50"/>
                </a:solidFill>
                <a:latin typeface="Calibri"/>
              </a:rPr>
              <a:t>Beam aggregation: +40 useful wins, p=0.00017</a:t>
            </a:r>
          </a:p>
          <a:p>
            <a:pPr algn="l">
              <a:spcAft>
                <a:spcPts val="600"/>
              </a:spcAft>
            </a:pPr>
            <a:r>
              <a:rPr sz="2400" b="1">
                <a:solidFill>
                  <a:srgbClr val="00B4D8"/>
                </a:solidFill>
                <a:latin typeface="Calibri"/>
              </a:rPr>
              <a:t>• </a:t>
            </a:r>
            <a:r>
              <a:rPr sz="2400" b="0">
                <a:solidFill>
                  <a:srgbClr val="4CAF50"/>
                </a:solidFill>
                <a:latin typeface="Calibri"/>
              </a:rPr>
              <a:t>vote_conf +31 Y+P wins, p=0.00257</a:t>
            </a:r>
          </a:p>
          <a:p>
            <a:pPr algn="l">
              <a:spcAft>
                <a:spcPts val="600"/>
              </a:spcAft>
            </a:pPr>
            <a:r>
              <a:rPr sz="2400" b="1">
                <a:solidFill>
                  <a:srgbClr val="00B4D8"/>
                </a:solidFill>
                <a:latin typeface="Calibri"/>
              </a:rPr>
              <a:t>• </a:t>
            </a:r>
            <a:r>
              <a:rPr sz="2400" b="0">
                <a:solidFill>
                  <a:srgbClr val="00B4D8"/>
                </a:solidFill>
                <a:latin typeface="Calibri"/>
              </a:rPr>
              <a:t>v3 drift 12-14% (v1: 27%)</a:t>
            </a:r>
          </a:p>
        </p:txBody>
      </p:sp>
      <p:sp>
        <p:nvSpPr>
          <p:cNvPr id="10" name="TextBox 9"/>
          <p:cNvSpPr txBox="1"/>
          <p:nvPr/>
        </p:nvSpPr>
        <p:spPr>
          <a:xfrm>
            <a:off x="548640" y="5989320"/>
            <a:ext cx="11091672" cy="320040"/>
          </a:xfrm>
          <a:prstGeom prst="rect">
            <a:avLst/>
          </a:prstGeom>
          <a:noFill/>
        </p:spPr>
        <p:txBody>
          <a:bodyPr wrap="square" anchor="t"/>
          <a:lstStyle/>
          <a:p>
            <a:pPr algn="ctr"/>
            <a:r>
              <a:rPr sz="1800" b="0" i="1">
                <a:solidFill>
                  <a:srgbClr val="666666"/>
                </a:solidFill>
                <a:latin typeface="Calibri"/>
              </a:rPr>
              <a:t>v3 dual-conf judge  /  Opus 4.7  /  5,988 verdicts on n-best methods</a:t>
            </a:r>
          </a:p>
        </p:txBody>
      </p:sp>
      <p:pic>
        <p:nvPicPr>
          <p:cNvPr id="11" name="Picture 10" descr="WhiteLogo.jpeg"/>
          <p:cNvPicPr>
            <a:picLocks noChangeAspect="1"/>
          </p:cNvPicPr>
          <p:nvPr/>
        </p:nvPicPr>
        <p:blipFill>
          <a:blip r:embed="rId4"/>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Optional add-on — pre-filter low-quality clips before decode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365760"/>
          </a:xfrm>
          <a:prstGeom prst="rect">
            <a:avLst/>
          </a:prstGeom>
          <a:noFill/>
        </p:spPr>
        <p:txBody>
          <a:bodyPr wrap="square" anchor="t"/>
          <a:lstStyle/>
          <a:p>
            <a:pPr algn="ctr"/>
            <a:r>
              <a:rPr sz="1600" b="0" i="1">
                <a:solidFill>
                  <a:srgbClr val="AAAAAA"/>
                </a:solidFill>
                <a:latin typeface="Calibri"/>
              </a:rPr>
              <a:t>Available if you want it. Saves compute and improves apparent accuracy on real client data.</a:t>
            </a:r>
          </a:p>
        </p:txBody>
      </p:sp>
      <p:sp>
        <p:nvSpPr>
          <p:cNvPr id="5" name="TextBox 4"/>
          <p:cNvSpPr txBox="1"/>
          <p:nvPr/>
        </p:nvSpPr>
        <p:spPr>
          <a:xfrm>
            <a:off x="548640" y="1737360"/>
            <a:ext cx="11091672" cy="365760"/>
          </a:xfrm>
          <a:prstGeom prst="rect">
            <a:avLst/>
          </a:prstGeom>
          <a:noFill/>
        </p:spPr>
        <p:txBody>
          <a:bodyPr wrap="square" anchor="t"/>
          <a:lstStyle/>
          <a:p>
            <a:pPr algn="ctr"/>
            <a:r>
              <a:rPr sz="1100" b="0" i="1">
                <a:solidFill>
                  <a:srgbClr val="666666"/>
                </a:solidFill>
                <a:latin typeface="Calibri"/>
              </a:rPr>
              <a:t>Each row = clips remaining after that gate. Out of 100 uploaded clips, 75 reach the model.</a:t>
            </a:r>
          </a:p>
        </p:txBody>
      </p:sp>
      <p:sp>
        <p:nvSpPr>
          <p:cNvPr id="6" name="TextBox 5"/>
          <p:cNvSpPr txBox="1"/>
          <p:nvPr/>
        </p:nvSpPr>
        <p:spPr>
          <a:xfrm>
            <a:off x="548640" y="2304288"/>
            <a:ext cx="2651760" cy="365760"/>
          </a:xfrm>
          <a:prstGeom prst="rect">
            <a:avLst/>
          </a:prstGeom>
          <a:noFill/>
        </p:spPr>
        <p:txBody>
          <a:bodyPr wrap="square" anchor="t"/>
          <a:lstStyle/>
          <a:p>
            <a:pPr algn="r"/>
            <a:r>
              <a:rPr sz="1300" b="1" i="0">
                <a:solidFill>
                  <a:srgbClr val="FFFFFF"/>
                </a:solidFill>
                <a:latin typeface="Calibri"/>
              </a:rPr>
              <a:t>All uploaded clips</a:t>
            </a:r>
          </a:p>
        </p:txBody>
      </p:sp>
      <p:sp>
        <p:nvSpPr>
          <p:cNvPr id="7" name="Rectangle 6"/>
          <p:cNvSpPr/>
          <p:nvPr/>
        </p:nvSpPr>
        <p:spPr>
          <a:xfrm>
            <a:off x="3474720" y="2194560"/>
            <a:ext cx="4572000" cy="5943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2304288"/>
            <a:ext cx="4572000" cy="365760"/>
          </a:xfrm>
          <a:prstGeom prst="rect">
            <a:avLst/>
          </a:prstGeom>
          <a:noFill/>
        </p:spPr>
        <p:txBody>
          <a:bodyPr wrap="square" anchor="t"/>
          <a:lstStyle/>
          <a:p>
            <a:pPr algn="ctr"/>
            <a:r>
              <a:rPr sz="1500" b="1" i="0">
                <a:solidFill>
                  <a:srgbClr val="0D1B2A"/>
                </a:solidFill>
                <a:latin typeface="Calibri"/>
              </a:rPr>
              <a:t>100%</a:t>
            </a:r>
          </a:p>
        </p:txBody>
      </p:sp>
      <p:sp>
        <p:nvSpPr>
          <p:cNvPr id="9" name="TextBox 8"/>
          <p:cNvSpPr txBox="1"/>
          <p:nvPr/>
        </p:nvSpPr>
        <p:spPr>
          <a:xfrm>
            <a:off x="548640" y="3099816"/>
            <a:ext cx="2651760" cy="365760"/>
          </a:xfrm>
          <a:prstGeom prst="rect">
            <a:avLst/>
          </a:prstGeom>
          <a:noFill/>
        </p:spPr>
        <p:txBody>
          <a:bodyPr wrap="square" anchor="t"/>
          <a:lstStyle/>
          <a:p>
            <a:pPr algn="r"/>
            <a:r>
              <a:rPr sz="1300" b="1" i="0">
                <a:solidFill>
                  <a:srgbClr val="FFFFFF"/>
                </a:solidFill>
                <a:latin typeface="Calibri"/>
              </a:rPr>
              <a:t>Head angle ≤ 30°</a:t>
            </a:r>
          </a:p>
        </p:txBody>
      </p:sp>
      <p:sp>
        <p:nvSpPr>
          <p:cNvPr id="10" name="Rectangle 9"/>
          <p:cNvSpPr/>
          <p:nvPr/>
        </p:nvSpPr>
        <p:spPr>
          <a:xfrm>
            <a:off x="3703320" y="2990088"/>
            <a:ext cx="411480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3099816"/>
            <a:ext cx="4114800" cy="365760"/>
          </a:xfrm>
          <a:prstGeom prst="rect">
            <a:avLst/>
          </a:prstGeom>
          <a:noFill/>
        </p:spPr>
        <p:txBody>
          <a:bodyPr wrap="square" anchor="t"/>
          <a:lstStyle/>
          <a:p>
            <a:pPr algn="ctr"/>
            <a:r>
              <a:rPr sz="1500" b="1" i="0">
                <a:solidFill>
                  <a:srgbClr val="0D1B2A"/>
                </a:solidFill>
                <a:latin typeface="Calibri"/>
              </a:rPr>
              <a:t>90%</a:t>
            </a:r>
          </a:p>
        </p:txBody>
      </p:sp>
      <p:sp>
        <p:nvSpPr>
          <p:cNvPr id="12" name="TextBox 11"/>
          <p:cNvSpPr txBox="1"/>
          <p:nvPr/>
        </p:nvSpPr>
        <p:spPr>
          <a:xfrm>
            <a:off x="8321040" y="3035808"/>
            <a:ext cx="3291840" cy="274320"/>
          </a:xfrm>
          <a:prstGeom prst="rect">
            <a:avLst/>
          </a:prstGeom>
          <a:noFill/>
        </p:spPr>
        <p:txBody>
          <a:bodyPr wrap="square" anchor="t"/>
          <a:lstStyle/>
          <a:p>
            <a:pPr algn="l"/>
            <a:r>
              <a:rPr sz="1000" b="0" i="1">
                <a:solidFill>
                  <a:srgbClr val="AAAAAA"/>
                </a:solidFill>
                <a:latin typeface="Calibri"/>
              </a:rPr>
              <a:t>10 of 100 rejected — face too profile</a:t>
            </a:r>
          </a:p>
        </p:txBody>
      </p:sp>
      <p:sp>
        <p:nvSpPr>
          <p:cNvPr id="13" name="TextBox 12"/>
          <p:cNvSpPr txBox="1"/>
          <p:nvPr/>
        </p:nvSpPr>
        <p:spPr>
          <a:xfrm>
            <a:off x="8321040" y="3282696"/>
            <a:ext cx="3291840" cy="274320"/>
          </a:xfrm>
          <a:prstGeom prst="rect">
            <a:avLst/>
          </a:prstGeom>
          <a:noFill/>
        </p:spPr>
        <p:txBody>
          <a:bodyPr wrap="square" anchor="t"/>
          <a:lstStyle/>
          <a:p>
            <a:pPr algn="l"/>
            <a:r>
              <a:rPr sz="900" b="0" i="1">
                <a:solidFill>
                  <a:srgbClr val="666666"/>
                </a:solidFill>
                <a:latin typeface="Calibri"/>
              </a:rPr>
              <a:t>viseme accuracy drops past 30°</a:t>
            </a:r>
          </a:p>
        </p:txBody>
      </p:sp>
      <p:sp>
        <p:nvSpPr>
          <p:cNvPr id="14" name="TextBox 13"/>
          <p:cNvSpPr txBox="1"/>
          <p:nvPr/>
        </p:nvSpPr>
        <p:spPr>
          <a:xfrm>
            <a:off x="548640" y="3895344"/>
            <a:ext cx="2651760" cy="365760"/>
          </a:xfrm>
          <a:prstGeom prst="rect">
            <a:avLst/>
          </a:prstGeom>
          <a:noFill/>
        </p:spPr>
        <p:txBody>
          <a:bodyPr wrap="square" anchor="t"/>
          <a:lstStyle/>
          <a:p>
            <a:pPr algn="r"/>
            <a:r>
              <a:rPr sz="1300" b="1" i="0">
                <a:solidFill>
                  <a:srgbClr val="FFFFFF"/>
                </a:solidFill>
                <a:latin typeface="Calibri"/>
              </a:rPr>
              <a:t>Mouth visibility</a:t>
            </a:r>
          </a:p>
        </p:txBody>
      </p:sp>
      <p:sp>
        <p:nvSpPr>
          <p:cNvPr id="15" name="Rectangle 14"/>
          <p:cNvSpPr/>
          <p:nvPr/>
        </p:nvSpPr>
        <p:spPr>
          <a:xfrm>
            <a:off x="3886200" y="3785616"/>
            <a:ext cx="3749040" cy="5943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3895344"/>
            <a:ext cx="3749040" cy="365760"/>
          </a:xfrm>
          <a:prstGeom prst="rect">
            <a:avLst/>
          </a:prstGeom>
          <a:noFill/>
        </p:spPr>
        <p:txBody>
          <a:bodyPr wrap="square" anchor="t"/>
          <a:lstStyle/>
          <a:p>
            <a:pPr algn="ctr"/>
            <a:r>
              <a:rPr sz="1500" b="1" i="0">
                <a:solidFill>
                  <a:srgbClr val="0D1B2A"/>
                </a:solidFill>
                <a:latin typeface="Calibri"/>
              </a:rPr>
              <a:t>82%</a:t>
            </a:r>
          </a:p>
        </p:txBody>
      </p:sp>
      <p:sp>
        <p:nvSpPr>
          <p:cNvPr id="17" name="TextBox 16"/>
          <p:cNvSpPr txBox="1"/>
          <p:nvPr/>
        </p:nvSpPr>
        <p:spPr>
          <a:xfrm>
            <a:off x="8321040" y="3831336"/>
            <a:ext cx="3291840" cy="274320"/>
          </a:xfrm>
          <a:prstGeom prst="rect">
            <a:avLst/>
          </a:prstGeom>
          <a:noFill/>
        </p:spPr>
        <p:txBody>
          <a:bodyPr wrap="square" anchor="t"/>
          <a:lstStyle/>
          <a:p>
            <a:pPr algn="l"/>
            <a:r>
              <a:rPr sz="1000" b="0" i="1">
                <a:solidFill>
                  <a:srgbClr val="AAAAAA"/>
                </a:solidFill>
                <a:latin typeface="Calibri"/>
              </a:rPr>
              <a:t>8 of 100 rejected — mouth occluded</a:t>
            </a:r>
          </a:p>
        </p:txBody>
      </p:sp>
      <p:sp>
        <p:nvSpPr>
          <p:cNvPr id="18" name="TextBox 17"/>
          <p:cNvSpPr txBox="1"/>
          <p:nvPr/>
        </p:nvSpPr>
        <p:spPr>
          <a:xfrm>
            <a:off x="8321040" y="4078224"/>
            <a:ext cx="3291840" cy="274320"/>
          </a:xfrm>
          <a:prstGeom prst="rect">
            <a:avLst/>
          </a:prstGeom>
          <a:noFill/>
        </p:spPr>
        <p:txBody>
          <a:bodyPr wrap="square" anchor="t"/>
          <a:lstStyle/>
          <a:p>
            <a:pPr algn="l"/>
            <a:r>
              <a:rPr sz="900" b="0" i="1">
                <a:solidFill>
                  <a:srgbClr val="666666"/>
                </a:solidFill>
                <a:latin typeface="Calibri"/>
              </a:rPr>
              <a:t>lower face must be unoccluded</a:t>
            </a:r>
          </a:p>
        </p:txBody>
      </p:sp>
      <p:sp>
        <p:nvSpPr>
          <p:cNvPr id="19" name="TextBox 18"/>
          <p:cNvSpPr txBox="1"/>
          <p:nvPr/>
        </p:nvSpPr>
        <p:spPr>
          <a:xfrm>
            <a:off x="548640" y="4690872"/>
            <a:ext cx="2651760" cy="365760"/>
          </a:xfrm>
          <a:prstGeom prst="rect">
            <a:avLst/>
          </a:prstGeom>
          <a:noFill/>
        </p:spPr>
        <p:txBody>
          <a:bodyPr wrap="square" anchor="t"/>
          <a:lstStyle/>
          <a:p>
            <a:pPr algn="r"/>
            <a:r>
              <a:rPr sz="1300" b="1" i="0">
                <a:solidFill>
                  <a:srgbClr val="FFFFFF"/>
                </a:solidFill>
                <a:latin typeface="Calibri"/>
              </a:rPr>
              <a:t>Lighting / contrast</a:t>
            </a:r>
          </a:p>
        </p:txBody>
      </p:sp>
      <p:sp>
        <p:nvSpPr>
          <p:cNvPr id="20" name="Rectangle 19"/>
          <p:cNvSpPr/>
          <p:nvPr/>
        </p:nvSpPr>
        <p:spPr>
          <a:xfrm>
            <a:off x="4046220" y="4581144"/>
            <a:ext cx="3429000" cy="5943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46220" y="4690872"/>
            <a:ext cx="3429000" cy="365760"/>
          </a:xfrm>
          <a:prstGeom prst="rect">
            <a:avLst/>
          </a:prstGeom>
          <a:noFill/>
        </p:spPr>
        <p:txBody>
          <a:bodyPr wrap="square" anchor="t"/>
          <a:lstStyle/>
          <a:p>
            <a:pPr algn="ctr"/>
            <a:r>
              <a:rPr sz="1500" b="1" i="0">
                <a:solidFill>
                  <a:srgbClr val="0D1B2A"/>
                </a:solidFill>
                <a:latin typeface="Calibri"/>
              </a:rPr>
              <a:t>75%</a:t>
            </a:r>
          </a:p>
        </p:txBody>
      </p:sp>
      <p:sp>
        <p:nvSpPr>
          <p:cNvPr id="22" name="TextBox 21"/>
          <p:cNvSpPr txBox="1"/>
          <p:nvPr/>
        </p:nvSpPr>
        <p:spPr>
          <a:xfrm>
            <a:off x="8321040" y="4626864"/>
            <a:ext cx="3291840" cy="274320"/>
          </a:xfrm>
          <a:prstGeom prst="rect">
            <a:avLst/>
          </a:prstGeom>
          <a:noFill/>
        </p:spPr>
        <p:txBody>
          <a:bodyPr wrap="square" anchor="t"/>
          <a:lstStyle/>
          <a:p>
            <a:pPr algn="l"/>
            <a:r>
              <a:rPr sz="1000" b="0" i="1">
                <a:solidFill>
                  <a:srgbClr val="AAAAAA"/>
                </a:solidFill>
                <a:latin typeface="Calibri"/>
              </a:rPr>
              <a:t>7 of 100 rejected — too dark / washed out</a:t>
            </a:r>
          </a:p>
        </p:txBody>
      </p:sp>
      <p:sp>
        <p:nvSpPr>
          <p:cNvPr id="23" name="TextBox 22"/>
          <p:cNvSpPr txBox="1"/>
          <p:nvPr/>
        </p:nvSpPr>
        <p:spPr>
          <a:xfrm>
            <a:off x="8321040" y="4873752"/>
            <a:ext cx="3291840" cy="274320"/>
          </a:xfrm>
          <a:prstGeom prst="rect">
            <a:avLst/>
          </a:prstGeom>
          <a:noFill/>
        </p:spPr>
        <p:txBody>
          <a:bodyPr wrap="square" anchor="t"/>
          <a:lstStyle/>
          <a:p>
            <a:pPr algn="l"/>
            <a:r>
              <a:rPr sz="900" b="0" i="1">
                <a:solidFill>
                  <a:srgbClr val="666666"/>
                </a:solidFill>
                <a:latin typeface="Calibri"/>
              </a:rPr>
              <a:t>lip-region contrast within range  →  REACHES THE MODEL</a:t>
            </a:r>
          </a:p>
        </p:txBody>
      </p:sp>
      <p:sp>
        <p:nvSpPr>
          <p:cNvPr id="24" name="TextBox 23"/>
          <p:cNvSpPr txBox="1"/>
          <p:nvPr/>
        </p:nvSpPr>
        <p:spPr>
          <a:xfrm>
            <a:off x="548640" y="5806440"/>
            <a:ext cx="11091672" cy="320040"/>
          </a:xfrm>
          <a:prstGeom prst="rect">
            <a:avLst/>
          </a:prstGeom>
          <a:noFill/>
        </p:spPr>
        <p:txBody>
          <a:bodyPr wrap="square" anchor="t"/>
          <a:lstStyle/>
          <a:p>
            <a:pPr algn="ctr"/>
            <a:r>
              <a:rPr sz="1300" b="1" i="1">
                <a:solidFill>
                  <a:srgbClr val="00B4D8"/>
                </a:solidFill>
                <a:latin typeface="Calibri"/>
              </a:rPr>
              <a:t>A credible system must know when NOT to decode.</a:t>
            </a:r>
          </a:p>
        </p:txBody>
      </p:sp>
      <p:sp>
        <p:nvSpPr>
          <p:cNvPr id="25" name="TextBox 24"/>
          <p:cNvSpPr txBox="1"/>
          <p:nvPr/>
        </p:nvSpPr>
        <p:spPr>
          <a:xfrm>
            <a:off x="548640" y="6126480"/>
            <a:ext cx="11091672" cy="365760"/>
          </a:xfrm>
          <a:prstGeom prst="rect">
            <a:avLst/>
          </a:prstGeom>
          <a:noFill/>
        </p:spPr>
        <p:txBody>
          <a:bodyPr wrap="square" anchor="t"/>
          <a:lstStyle/>
          <a:p>
            <a:pPr algn="ctr"/>
            <a:r>
              <a:rPr sz="1000" b="0" i="1">
                <a:solidFill>
                  <a:srgbClr val="AAAAAA"/>
                </a:solidFill>
                <a:latin typeface="Calibri"/>
              </a:rPr>
              <a:t>Three frame-level CV checks, all running locally. Status: planned ablation. Percentages illustrative — actual rejection rates depend on your video conditions.</a:t>
            </a:r>
          </a:p>
        </p:txBody>
      </p:sp>
      <p:pic>
        <p:nvPicPr>
          <p:cNvPr id="26" name="Picture 2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7" name="TextBox 2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36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48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12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24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36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48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12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24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36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48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Data Scaling: The Path to IS 3.5–4.0</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400" b="1" i="0">
                <a:solidFill>
                  <a:srgbClr val="E06C75"/>
                </a:solidFill>
                <a:latin typeface="Calibri"/>
              </a:rPr>
              <a:t>Why More Data Is the Answer</a:t>
            </a:r>
          </a:p>
        </p:txBody>
      </p:sp>
      <p:sp>
        <p:nvSpPr>
          <p:cNvPr id="5" name="TextBox 4"/>
          <p:cNvSpPr txBox="1"/>
          <p:nvPr/>
        </p:nvSpPr>
        <p:spPr>
          <a:xfrm>
            <a:off x="548640" y="1783080"/>
            <a:ext cx="5029200" cy="274320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Current: 1,273 English segments — far below LoRA minimum</a:t>
            </a:r>
          </a:p>
          <a:p>
            <a:pPr algn="l">
              <a:spcAft>
                <a:spcPts val="600"/>
              </a:spcAft>
            </a:pPr>
            <a:r>
              <a:rPr sz="2400" b="1">
                <a:solidFill>
                  <a:srgbClr val="00B4D8"/>
                </a:solidFill>
                <a:latin typeface="Calibri"/>
              </a:rPr>
              <a:t>• </a:t>
            </a:r>
            <a:r>
              <a:rPr sz="2400" b="0">
                <a:solidFill>
                  <a:srgbClr val="FFFFFF"/>
                </a:solidFill>
                <a:latin typeface="Calibri"/>
              </a:rPr>
              <a:t>Scaling law (ICLR 2024): data × LLM quality = multiplicative gains</a:t>
            </a:r>
          </a:p>
          <a:p>
            <a:pPr algn="l">
              <a:spcAft>
                <a:spcPts val="600"/>
              </a:spcAft>
            </a:pPr>
            <a:r>
              <a:rPr sz="2400" b="1">
                <a:solidFill>
                  <a:srgbClr val="00B4D8"/>
                </a:solidFill>
                <a:latin typeface="Calibri"/>
              </a:rPr>
              <a:t>• </a:t>
            </a:r>
            <a:r>
              <a:rPr sz="2400" b="0">
                <a:solidFill>
                  <a:srgbClr val="00B4D8"/>
                </a:solidFill>
                <a:latin typeface="Calibri"/>
              </a:rPr>
              <a:t>AVSpeech: 290K English videos available for curation</a:t>
            </a:r>
          </a:p>
          <a:p>
            <a:pPr algn="l">
              <a:spcAft>
                <a:spcPts val="600"/>
              </a:spcAft>
            </a:pPr>
            <a:r>
              <a:rPr sz="2400" b="1">
                <a:solidFill>
                  <a:srgbClr val="00B4D8"/>
                </a:solidFill>
                <a:latin typeface="Calibri"/>
              </a:rPr>
              <a:t>• </a:t>
            </a:r>
            <a:r>
              <a:rPr sz="2400" b="1">
                <a:solidFill>
                  <a:srgbClr val="4CAF50"/>
                </a:solidFill>
                <a:latin typeface="Calibri"/>
              </a:rPr>
              <a:t>Next step: curate 20K–50K diverse English segments</a:t>
            </a:r>
          </a:p>
        </p:txBody>
      </p:sp>
      <p:sp>
        <p:nvSpPr>
          <p:cNvPr id="6" name="TextBox 5"/>
          <p:cNvSpPr txBox="1"/>
          <p:nvPr/>
        </p:nvSpPr>
        <p:spPr>
          <a:xfrm>
            <a:off x="6611111" y="1325880"/>
            <a:ext cx="5029200" cy="365760"/>
          </a:xfrm>
          <a:prstGeom prst="rect">
            <a:avLst/>
          </a:prstGeom>
          <a:noFill/>
        </p:spPr>
        <p:txBody>
          <a:bodyPr wrap="square" anchor="t"/>
          <a:lstStyle/>
          <a:p>
            <a:pPr algn="l"/>
            <a:r>
              <a:rPr sz="2400" b="1" i="0">
                <a:solidFill>
                  <a:srgbClr val="00B4D8"/>
                </a:solidFill>
                <a:latin typeface="Calibri"/>
              </a:rPr>
              <a:t>Projected Impact on IS</a:t>
            </a:r>
          </a:p>
        </p:txBody>
      </p:sp>
      <p:graphicFrame>
        <p:nvGraphicFramePr>
          <p:cNvPr id="7" name="Table 6"/>
          <p:cNvGraphicFramePr>
            <a:graphicFrameLocks noGrp="1"/>
          </p:cNvGraphicFramePr>
          <p:nvPr/>
        </p:nvGraphicFramePr>
        <p:xfrm>
          <a:off x="6611111" y="1783080"/>
          <a:ext cx="4846320" cy="2084832"/>
        </p:xfrm>
        <a:graphic>
          <a:graphicData uri="http://schemas.openxmlformats.org/drawingml/2006/table">
            <a:tbl>
              <a:tblPr firstRow="0" bandRow="0" lastRow="0" bandCol="0">
                <a:tableStyleId>{5C22544A-7EE6-4342-B048-85BDC9FD1C3A}</a:tableStyleId>
              </a:tblPr>
              <a:tblGrid>
                <a:gridCol w="914400"/>
                <a:gridCol w="1005840"/>
                <a:gridCol w="1005840"/>
                <a:gridCol w="914400"/>
                <a:gridCol w="1005840"/>
              </a:tblGrid>
              <a:tr h="347472">
                <a:tc>
                  <a:txBody>
                    <a:bodyPr/>
                    <a:lstStyle/>
                    <a:p>
                      <a:pPr algn="ctr"/>
                      <a:r>
                        <a:rPr sz="2400" b="1" i="0">
                          <a:solidFill>
                            <a:srgbClr val="FFFFFF"/>
                          </a:solidFill>
                          <a:latin typeface="Calibri"/>
                        </a:rPr>
                        <a:t>Phase</a:t>
                      </a:r>
                    </a:p>
                  </a:txBody>
                  <a:tcPr>
                    <a:solidFill>
                      <a:srgbClr val="00b4d8"/>
                    </a:solidFill>
                  </a:tcPr>
                </a:tc>
                <a:tc>
                  <a:txBody>
                    <a:bodyPr/>
                    <a:lstStyle/>
                    <a:p>
                      <a:pPr algn="ctr"/>
                      <a:r>
                        <a:rPr sz="2400" b="1" i="0">
                          <a:solidFill>
                            <a:srgbClr val="FFFFFF"/>
                          </a:solidFill>
                          <a:latin typeface="Calibri"/>
                        </a:rPr>
                        <a:t>Data</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r>
                        <a:rPr sz="2400" b="1" i="0">
                          <a:solidFill>
                            <a:srgbClr val="FFFFFF"/>
                          </a:solidFill>
                          <a:latin typeface="Calibri"/>
                        </a:rPr>
                        <a:t>IS Target</a:t>
                      </a:r>
                    </a:p>
                  </a:txBody>
                  <a:tcPr>
                    <a:solidFill>
                      <a:srgbClr val="00b4d8"/>
                    </a:solidFill>
                  </a:tcPr>
                </a:tc>
                <a:tc>
                  <a:txBody>
                    <a:bodyPr/>
                    <a:lstStyle/>
                    <a:p>
                      <a:pPr algn="ctr"/>
                      <a:r>
                        <a:rPr sz="2400" b="1" i="0">
                          <a:solidFill>
                            <a:srgbClr val="FFFFFF"/>
                          </a:solidFill>
                          <a:latin typeface="Calibri"/>
                        </a:rPr>
                        <a:t>Timeline</a:t>
                      </a:r>
                    </a:p>
                  </a:txBody>
                  <a:tcPr>
                    <a:solidFill>
                      <a:srgbClr val="00b4d8"/>
                    </a:solidFill>
                  </a:tcPr>
                </a:tc>
              </a:tr>
              <a:tr h="347472">
                <a:tc>
                  <a:txBody>
                    <a:bodyPr/>
                    <a:lstStyle/>
                    <a:p>
                      <a:pPr algn="l"/>
                      <a:r>
                        <a:rPr sz="2400" b="0" i="0">
                          <a:solidFill>
                            <a:srgbClr val="FFFFFF"/>
                          </a:solidFill>
                          <a:latin typeface="Calibri"/>
                        </a:rPr>
                        <a:t>Current</a:t>
                      </a:r>
                    </a:p>
                  </a:txBody>
                  <a:tcPr>
                    <a:solidFill>
                      <a:srgbClr val="0d1b2a"/>
                    </a:solidFill>
                  </a:tcPr>
                </a:tc>
                <a:tc>
                  <a:txBody>
                    <a:bodyPr/>
                    <a:lstStyle/>
                    <a:p>
                      <a:pPr algn="l"/>
                      <a:r>
                        <a:rPr sz="2400" b="0" i="0">
                          <a:solidFill>
                            <a:srgbClr val="FFFFFF"/>
                          </a:solidFill>
                          <a:latin typeface="Calibri"/>
                        </a:rPr>
                        <a:t>1.3K segs</a:t>
                      </a:r>
                    </a:p>
                  </a:txBody>
                  <a:tcPr>
                    <a:solidFill>
                      <a:srgbClr val="0d1b2a"/>
                    </a:solidFill>
                  </a:tcPr>
                </a:tc>
                <a:tc>
                  <a:txBody>
                    <a:bodyPr/>
                    <a:lstStyle/>
                    <a:p>
                      <a:pPr algn="l"/>
                      <a:r>
                        <a:rPr sz="2400" b="0" i="0">
                          <a:solidFill>
                            <a:srgbClr val="E06C75"/>
                          </a:solidFill>
                          <a:latin typeface="Calibri"/>
                        </a:rPr>
                        <a:t>64%</a:t>
                      </a:r>
                    </a:p>
                  </a:txBody>
                  <a:tcPr>
                    <a:solidFill>
                      <a:srgbClr val="0d1b2a"/>
                    </a:solidFill>
                  </a:tcPr>
                </a:tc>
                <a:tc>
                  <a:txBody>
                    <a:bodyPr/>
                    <a:lstStyle/>
                    <a:p>
                      <a:pPr algn="l"/>
                      <a:r>
                        <a:rPr sz="2400" b="0" i="0">
                          <a:solidFill>
                            <a:srgbClr val="FFFFFF"/>
                          </a:solidFill>
                          <a:latin typeface="Calibri"/>
                        </a:rPr>
                        <a:t>2.52</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347472">
                <a:tc>
                  <a:txBody>
                    <a:bodyPr/>
                    <a:lstStyle/>
                    <a:p>
                      <a:pPr algn="l"/>
                      <a:r>
                        <a:rPr sz="2400" b="0" i="0">
                          <a:solidFill>
                            <a:srgbClr val="FFFFFF"/>
                          </a:solidFill>
                          <a:latin typeface="Calibri"/>
                        </a:rPr>
                        <a:t>Phase 1</a:t>
                      </a:r>
                    </a:p>
                  </a:txBody>
                  <a:tcPr>
                    <a:solidFill>
                      <a:srgbClr val="152a40"/>
                    </a:solidFill>
                  </a:tcPr>
                </a:tc>
                <a:tc>
                  <a:txBody>
                    <a:bodyPr/>
                    <a:lstStyle/>
                    <a:p>
                      <a:pPr algn="l"/>
                      <a:r>
                        <a:rPr sz="2400" b="0" i="0">
                          <a:solidFill>
                            <a:srgbClr val="FFFFFF"/>
                          </a:solidFill>
                          <a:latin typeface="Calibri"/>
                        </a:rPr>
                        <a:t>5K hrs</a:t>
                      </a:r>
                    </a:p>
                  </a:txBody>
                  <a:tcPr>
                    <a:solidFill>
                      <a:srgbClr val="152a40"/>
                    </a:solidFill>
                  </a:tcPr>
                </a:tc>
                <a:tc>
                  <a:txBody>
                    <a:bodyPr/>
                    <a:lstStyle/>
                    <a:p>
                      <a:pPr algn="l"/>
                      <a:r>
                        <a:rPr sz="2400" b="0" i="0">
                          <a:solidFill>
                            <a:srgbClr val="FFFFFF"/>
                          </a:solidFill>
                          <a:latin typeface="Calibri"/>
                        </a:rPr>
                        <a:t>55–58%</a:t>
                      </a:r>
                    </a:p>
                  </a:txBody>
                  <a:tcPr>
                    <a:solidFill>
                      <a:srgbClr val="152a40"/>
                    </a:solidFill>
                  </a:tcPr>
                </a:tc>
                <a:tc>
                  <a:txBody>
                    <a:bodyPr/>
                    <a:lstStyle/>
                    <a:p>
                      <a:pPr algn="l"/>
                      <a:r>
                        <a:rPr sz="2400" b="0" i="0">
                          <a:solidFill>
                            <a:srgbClr val="FFFFFF"/>
                          </a:solidFill>
                          <a:latin typeface="Calibri"/>
                        </a:rPr>
                        <a:t>~2.9</a:t>
                      </a:r>
                    </a:p>
                  </a:txBody>
                  <a:tcPr>
                    <a:solidFill>
                      <a:srgbClr val="152a40"/>
                    </a:solidFill>
                  </a:tcPr>
                </a:tc>
                <a:tc>
                  <a:txBody>
                    <a:bodyPr/>
                    <a:lstStyle/>
                    <a:p>
                      <a:pPr algn="l"/>
                      <a:r>
                        <a:rPr sz="2400" b="0" i="0">
                          <a:solidFill>
                            <a:srgbClr val="FFFFFF"/>
                          </a:solidFill>
                          <a:latin typeface="Calibri"/>
                        </a:rPr>
                        <a:t>2–4 wks</a:t>
                      </a:r>
                    </a:p>
                  </a:txBody>
                  <a:tcPr>
                    <a:solidFill>
                      <a:srgbClr val="152a40"/>
                    </a:solidFill>
                  </a:tcPr>
                </a:tc>
              </a:tr>
              <a:tr h="347472">
                <a:tc>
                  <a:txBody>
                    <a:bodyPr/>
                    <a:lstStyle/>
                    <a:p>
                      <a:pPr algn="l"/>
                      <a:r>
                        <a:rPr sz="2400" b="0" i="0">
                          <a:solidFill>
                            <a:srgbClr val="FFFFFF"/>
                          </a:solidFill>
                          <a:latin typeface="Calibri"/>
                        </a:rPr>
                        <a:t>Phase 2</a:t>
                      </a:r>
                    </a:p>
                  </a:txBody>
                  <a:tcPr>
                    <a:solidFill>
                      <a:srgbClr val="0d1b2a"/>
                    </a:solidFill>
                  </a:tcPr>
                </a:tc>
                <a:tc>
                  <a:txBody>
                    <a:bodyPr/>
                    <a:lstStyle/>
                    <a:p>
                      <a:pPr algn="l"/>
                      <a:r>
                        <a:rPr sz="2400" b="0" i="0">
                          <a:solidFill>
                            <a:srgbClr val="FFFFFF"/>
                          </a:solidFill>
                          <a:latin typeface="Calibri"/>
                        </a:rPr>
                        <a:t>10K hrs</a:t>
                      </a:r>
                    </a:p>
                  </a:txBody>
                  <a:tcPr>
                    <a:solidFill>
                      <a:srgbClr val="0d1b2a"/>
                    </a:solidFill>
                  </a:tcPr>
                </a:tc>
                <a:tc>
                  <a:txBody>
                    <a:bodyPr/>
                    <a:lstStyle/>
                    <a:p>
                      <a:pPr algn="l"/>
                      <a:r>
                        <a:rPr sz="2400" b="0" i="0">
                          <a:solidFill>
                            <a:srgbClr val="FFFFFF"/>
                          </a:solidFill>
                          <a:latin typeface="Calibri"/>
                        </a:rPr>
                        <a:t>48–52%</a:t>
                      </a:r>
                    </a:p>
                  </a:txBody>
                  <a:tcPr>
                    <a:solidFill>
                      <a:srgbClr val="0d1b2a"/>
                    </a:solidFill>
                  </a:tcPr>
                </a:tc>
                <a:tc>
                  <a:txBody>
                    <a:bodyPr/>
                    <a:lstStyle/>
                    <a:p>
                      <a:pPr algn="l"/>
                      <a:r>
                        <a:rPr sz="2400" b="0" i="0">
                          <a:solidFill>
                            <a:srgbClr val="FFFFFF"/>
                          </a:solidFill>
                          <a:latin typeface="Calibri"/>
                        </a:rPr>
                        <a:t>~3.3</a:t>
                      </a:r>
                    </a:p>
                  </a:txBody>
                  <a:tcPr>
                    <a:solidFill>
                      <a:srgbClr val="0d1b2a"/>
                    </a:solidFill>
                  </a:tcPr>
                </a:tc>
                <a:tc>
                  <a:txBody>
                    <a:bodyPr/>
                    <a:lstStyle/>
                    <a:p>
                      <a:pPr algn="l"/>
                      <a:r>
                        <a:rPr sz="2400" b="0" i="0">
                          <a:solidFill>
                            <a:srgbClr val="FFFFFF"/>
                          </a:solidFill>
                          <a:latin typeface="Calibri"/>
                        </a:rPr>
                        <a:t>4–6 wks</a:t>
                      </a:r>
                    </a:p>
                  </a:txBody>
                  <a:tcPr>
                    <a:solidFill>
                      <a:srgbClr val="0d1b2a"/>
                    </a:solidFill>
                  </a:tcPr>
                </a:tc>
              </a:tr>
              <a:tr h="347472">
                <a:tc>
                  <a:txBody>
                    <a:bodyPr/>
                    <a:lstStyle/>
                    <a:p>
                      <a:pPr algn="l"/>
                      <a:r>
                        <a:rPr sz="2400" b="0" i="0">
                          <a:solidFill>
                            <a:srgbClr val="FFFFFF"/>
                          </a:solidFill>
                          <a:latin typeface="Calibri"/>
                        </a:rPr>
                        <a:t>Phase 3</a:t>
                      </a:r>
                    </a:p>
                  </a:txBody>
                  <a:tcPr>
                    <a:solidFill>
                      <a:srgbClr val="152a40"/>
                    </a:solidFill>
                  </a:tcPr>
                </a:tc>
                <a:tc>
                  <a:txBody>
                    <a:bodyPr/>
                    <a:lstStyle/>
                    <a:p>
                      <a:pPr algn="l"/>
                      <a:r>
                        <a:rPr sz="2400" b="0" i="0">
                          <a:solidFill>
                            <a:srgbClr val="FFFFFF"/>
                          </a:solidFill>
                          <a:latin typeface="Calibri"/>
                        </a:rPr>
                        <a:t>20K hrs</a:t>
                      </a:r>
                    </a:p>
                  </a:txBody>
                  <a:tcPr>
                    <a:solidFill>
                      <a:srgbClr val="152a40"/>
                    </a:solidFill>
                  </a:tcPr>
                </a:tc>
                <a:tc>
                  <a:txBody>
                    <a:bodyPr/>
                    <a:lstStyle/>
                    <a:p>
                      <a:pPr algn="l"/>
                      <a:r>
                        <a:rPr sz="2400" b="0" i="0">
                          <a:solidFill>
                            <a:srgbClr val="FFFFFF"/>
                          </a:solidFill>
                          <a:latin typeface="Calibri"/>
                        </a:rPr>
                        <a:t>42–46%</a:t>
                      </a:r>
                    </a:p>
                  </a:txBody>
                  <a:tcPr>
                    <a:solidFill>
                      <a:srgbClr val="152a40"/>
                    </a:solidFill>
                  </a:tcPr>
                </a:tc>
                <a:tc>
                  <a:txBody>
                    <a:bodyPr/>
                    <a:lstStyle/>
                    <a:p>
                      <a:pPr algn="l"/>
                      <a:r>
                        <a:rPr sz="2400" b="0" i="0">
                          <a:solidFill>
                            <a:srgbClr val="4CAF50"/>
                          </a:solidFill>
                          <a:latin typeface="Calibri"/>
                        </a:rPr>
                        <a:t>~3.7</a:t>
                      </a:r>
                    </a:p>
                  </a:txBody>
                  <a:tcPr>
                    <a:solidFill>
                      <a:srgbClr val="152a40"/>
                    </a:solidFill>
                  </a:tcPr>
                </a:tc>
                <a:tc>
                  <a:txBody>
                    <a:bodyPr/>
                    <a:lstStyle/>
                    <a:p>
                      <a:pPr algn="l"/>
                      <a:r>
                        <a:rPr sz="2400" b="0" i="0">
                          <a:solidFill>
                            <a:srgbClr val="FFFFFF"/>
                          </a:solidFill>
                          <a:latin typeface="Calibri"/>
                        </a:rPr>
                        <a:t>6–8 wks</a:t>
                      </a:r>
                    </a:p>
                  </a:txBody>
                  <a:tcPr>
                    <a:solidFill>
                      <a:srgbClr val="152a40"/>
                    </a:solidFill>
                  </a:tcPr>
                </a:tc>
              </a:tr>
              <a:tr h="347472">
                <a:tc>
                  <a:txBody>
                    <a:bodyPr/>
                    <a:lstStyle/>
                    <a:p>
                      <a:pPr algn="l"/>
                      <a:r>
                        <a:rPr sz="2400" b="0" i="0">
                          <a:solidFill>
                            <a:srgbClr val="FFFFFF"/>
                          </a:solidFill>
                          <a:latin typeface="Calibri"/>
                        </a:rPr>
                        <a:t>Phase 4</a:t>
                      </a:r>
                    </a:p>
                  </a:txBody>
                  <a:tcPr>
                    <a:solidFill>
                      <a:srgbClr val="0d1b2a"/>
                    </a:solidFill>
                  </a:tcPr>
                </a:tc>
                <a:tc>
                  <a:txBody>
                    <a:bodyPr/>
                    <a:lstStyle/>
                    <a:p>
                      <a:pPr algn="l"/>
                      <a:r>
                        <a:rPr sz="2400" b="0" i="0">
                          <a:solidFill>
                            <a:srgbClr val="FFFFFF"/>
                          </a:solidFill>
                          <a:latin typeface="Calibri"/>
                        </a:rPr>
                        <a:t>50K+ hrs</a:t>
                      </a:r>
                    </a:p>
                  </a:txBody>
                  <a:tcPr>
                    <a:solidFill>
                      <a:srgbClr val="0d1b2a"/>
                    </a:solidFill>
                  </a:tcPr>
                </a:tc>
                <a:tc>
                  <a:txBody>
                    <a:bodyPr/>
                    <a:lstStyle/>
                    <a:p>
                      <a:pPr algn="l"/>
                      <a:r>
                        <a:rPr sz="2400" b="0" i="0">
                          <a:solidFill>
                            <a:srgbClr val="FFFFFF"/>
                          </a:solidFill>
                          <a:latin typeface="Calibri"/>
                        </a:rPr>
                        <a:t>38–42%</a:t>
                      </a:r>
                    </a:p>
                  </a:txBody>
                  <a:tcPr>
                    <a:solidFill>
                      <a:srgbClr val="0d1b2a"/>
                    </a:solidFill>
                  </a:tcPr>
                </a:tc>
                <a:tc>
                  <a:txBody>
                    <a:bodyPr/>
                    <a:lstStyle/>
                    <a:p>
                      <a:pPr algn="l"/>
                      <a:r>
                        <a:rPr sz="2400" b="0" i="0">
                          <a:solidFill>
                            <a:srgbClr val="4CAF50"/>
                          </a:solidFill>
                          <a:latin typeface="Calibri"/>
                        </a:rPr>
                        <a:t>~4.0+</a:t>
                      </a:r>
                    </a:p>
                  </a:txBody>
                  <a:tcPr>
                    <a:solidFill>
                      <a:srgbClr val="0d1b2a"/>
                    </a:solidFill>
                  </a:tcPr>
                </a:tc>
                <a:tc>
                  <a:txBody>
                    <a:bodyPr/>
                    <a:lstStyle/>
                    <a:p>
                      <a:pPr algn="l"/>
                      <a:r>
                        <a:rPr sz="2400" b="0" i="0">
                          <a:solidFill>
                            <a:srgbClr val="FFFFFF"/>
                          </a:solidFill>
                          <a:latin typeface="Calibri"/>
                        </a:rPr>
                        <a:t>3–4 mo</a:t>
                      </a:r>
                    </a:p>
                  </a:txBody>
                  <a:tcPr>
                    <a:solidFill>
                      <a:srgbClr val="0d1b2a"/>
                    </a:solidFill>
                  </a:tcPr>
                </a:tc>
              </a:tr>
            </a:tbl>
          </a:graphicData>
        </a:graphic>
      </p:graphicFrame>
      <p:sp>
        <p:nvSpPr>
          <p:cNvPr id="8" name="Rounded Rectangle 7"/>
          <p:cNvSpPr/>
          <p:nvPr/>
        </p:nvSpPr>
        <p:spPr>
          <a:xfrm>
            <a:off x="6611111" y="4069080"/>
            <a:ext cx="5029200" cy="9144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93991" y="4160520"/>
            <a:ext cx="1097280" cy="365760"/>
          </a:xfrm>
          <a:prstGeom prst="rect">
            <a:avLst/>
          </a:prstGeom>
          <a:noFill/>
        </p:spPr>
        <p:txBody>
          <a:bodyPr wrap="square" anchor="t"/>
          <a:lstStyle/>
          <a:p>
            <a:pPr algn="l"/>
            <a:r>
              <a:rPr sz="3600" b="1" i="0">
                <a:solidFill>
                  <a:srgbClr val="00B4D8"/>
                </a:solidFill>
                <a:latin typeface="Calibri"/>
              </a:rPr>
              <a:t>290K</a:t>
            </a:r>
          </a:p>
        </p:txBody>
      </p:sp>
      <p:sp>
        <p:nvSpPr>
          <p:cNvPr id="10" name="TextBox 9"/>
          <p:cNvSpPr txBox="1"/>
          <p:nvPr/>
        </p:nvSpPr>
        <p:spPr>
          <a:xfrm>
            <a:off x="7982711" y="4160520"/>
            <a:ext cx="3474720" cy="640080"/>
          </a:xfrm>
          <a:prstGeom prst="rect">
            <a:avLst/>
          </a:prstGeom>
          <a:noFill/>
        </p:spPr>
        <p:txBody>
          <a:bodyPr wrap="square" anchor="t"/>
          <a:lstStyle/>
          <a:p>
            <a:pPr algn="l"/>
            <a:r>
              <a:rPr sz="2400" b="0" i="0">
                <a:solidFill>
                  <a:srgbClr val="FFFFFF"/>
                </a:solidFill>
                <a:latin typeface="Calibri"/>
              </a:rPr>
              <a:t>AVSpeech English videos available</a:t>
            </a:r>
            <a:br/>
            <a:r>
              <a:rPr sz="2400" b="0" i="0">
                <a:solidFill>
                  <a:srgbClr val="FFFFFF"/>
                </a:solidFill>
                <a:latin typeface="Calibri"/>
              </a:rPr>
              <a:t>for training data curation</a:t>
            </a:r>
          </a:p>
        </p:txBody>
      </p:sp>
      <p:sp>
        <p:nvSpPr>
          <p:cNvPr id="11" name="TextBox 10"/>
          <p:cNvSpPr txBox="1"/>
          <p:nvPr/>
        </p:nvSpPr>
        <p:spPr>
          <a:xfrm>
            <a:off x="6611111" y="5074919"/>
            <a:ext cx="5029200" cy="320040"/>
          </a:xfrm>
          <a:prstGeom prst="rect">
            <a:avLst/>
          </a:prstGeom>
          <a:noFill/>
        </p:spPr>
        <p:txBody>
          <a:bodyPr wrap="square" anchor="t"/>
          <a:lstStyle/>
          <a:p>
            <a:pPr algn="l"/>
            <a:r>
              <a:rPr sz="1500" b="0" i="1">
                <a:solidFill>
                  <a:srgbClr val="AAAAAA"/>
                </a:solidFill>
                <a:latin typeface="Calibri"/>
              </a:rPr>
              <a:t>Timelines assume realistic training: bugs, bad epochs, debugging overhead — not ideal paper conditions.</a:t>
            </a:r>
          </a:p>
        </p:txBody>
      </p:sp>
      <p:sp>
        <p:nvSpPr>
          <p:cNvPr id="12" name="TextBox 11"/>
          <p:cNvSpPr txBox="1"/>
          <p:nvPr/>
        </p:nvSpPr>
        <p:spPr>
          <a:xfrm>
            <a:off x="548640" y="5989320"/>
            <a:ext cx="11091672" cy="274320"/>
          </a:xfrm>
          <a:prstGeom prst="rect">
            <a:avLst/>
          </a:prstGeom>
          <a:noFill/>
        </p:spPr>
        <p:txBody>
          <a:bodyPr wrap="square" anchor="t"/>
          <a:lstStyle/>
          <a:p>
            <a:pPr algn="l"/>
            <a:r>
              <a:rPr sz="1400" b="0" i="1">
                <a:solidFill>
                  <a:srgbClr val="666666"/>
                </a:solidFill>
                <a:latin typeface="Calibri"/>
              </a:rPr>
              <a:t>LoRA Scaling: Biderman et al. (2024), ICLR  |  AVSpeech: Ephrat et al. (2018), ACM TOG — 290K video dataset</a:t>
            </a:r>
          </a:p>
        </p:txBody>
      </p:sp>
      <p:pic>
        <p:nvPicPr>
          <p:cNvPr id="13" name="Picture 1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78</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Lst>
  </p:timing>
</p:sld>
</file>

<file path=ppt/slides/slide81.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 Price Tag: What It Costs to Improve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20040"/>
          </a:xfrm>
          <a:prstGeom prst="rect">
            <a:avLst/>
          </a:prstGeom>
          <a:noFill/>
        </p:spPr>
        <p:txBody>
          <a:bodyPr wrap="square" anchor="t"/>
          <a:lstStyle/>
          <a:p>
            <a:pPr algn="l"/>
            <a:r>
              <a:rPr sz="2000" b="0" i="1">
                <a:solidFill>
                  <a:srgbClr val="AAAAAA"/>
                </a:solidFill>
                <a:latin typeface="Calibri"/>
              </a:rPr>
              <a:t>The paper’s training recipe already works (25% WER on LRS3). The only variable is data scale.</a:t>
            </a:r>
          </a:p>
        </p:txBody>
      </p:sp>
      <p:graphicFrame>
        <p:nvGraphicFramePr>
          <p:cNvPr id="5" name="Table 4"/>
          <p:cNvGraphicFramePr>
            <a:graphicFrameLocks noGrp="1"/>
          </p:cNvGraphicFramePr>
          <p:nvPr/>
        </p:nvGraphicFramePr>
        <p:xfrm>
          <a:off x="1981200.0" y="1828800"/>
          <a:ext cx="8229600" cy="1828800"/>
        </p:xfrm>
        <a:graphic>
          <a:graphicData uri="http://schemas.openxmlformats.org/drawingml/2006/table">
            <a:tbl>
              <a:tblPr firstRow="0" bandRow="0" lastRow="0" bandCol="0">
                <a:tableStyleId>{5C22544A-7EE6-4342-B048-85BDC9FD1C3A}</a:tableStyleId>
              </a:tblPr>
              <a:tblGrid>
                <a:gridCol w="3474720"/>
                <a:gridCol w="2194560"/>
                <a:gridCol w="2560320"/>
              </a:tblGrid>
              <a:tr h="457200">
                <a:tc>
                  <a:txBody>
                    <a:bodyPr/>
                    <a:lstStyle/>
                    <a:p>
                      <a:pPr algn="ctr"/>
                      <a:r>
                        <a:rPr sz="2400" b="1" i="0">
                          <a:solidFill>
                            <a:srgbClr val="FFFFFF"/>
                          </a:solidFill>
                          <a:latin typeface="Calibri"/>
                        </a:rPr>
                        <a:t>Training Data</a:t>
                      </a:r>
                    </a:p>
                  </a:txBody>
                  <a:tcPr>
                    <a:solidFill>
                      <a:srgbClr val="00b4d8"/>
                    </a:solidFill>
                  </a:tcPr>
                </a:tc>
                <a:tc>
                  <a:txBody>
                    <a:bodyPr/>
                    <a:lstStyle/>
                    <a:p>
                      <a:pPr algn="ctr"/>
                      <a:r>
                        <a:rPr sz="2400" b="1" i="0">
                          <a:solidFill>
                            <a:srgbClr val="FFFFFF"/>
                          </a:solidFill>
                          <a:latin typeface="Calibri"/>
                        </a:rPr>
                        <a:t>Cost (AWS spot)</a:t>
                      </a:r>
                    </a:p>
                  </a:txBody>
                  <a:tcPr>
                    <a:solidFill>
                      <a:srgbClr val="00b4d8"/>
                    </a:solidFill>
                  </a:tcPr>
                </a:tc>
                <a:tc>
                  <a:txBody>
                    <a:bodyPr/>
                    <a:lstStyle/>
                    <a:p>
                      <a:pPr algn="ctr"/>
                      <a:r>
                        <a:rPr sz="2400" b="1" i="0">
                          <a:solidFill>
                            <a:srgbClr val="FFFFFF"/>
                          </a:solidFill>
                          <a:latin typeface="Calibri"/>
                        </a:rPr>
                        <a:t>Expected IS</a:t>
                      </a:r>
                    </a:p>
                  </a:txBody>
                  <a:tcPr>
                    <a:solidFill>
                      <a:srgbClr val="00b4d8"/>
                    </a:solidFill>
                  </a:tcPr>
                </a:tc>
              </a:tr>
              <a:tr h="457200">
                <a:tc>
                  <a:txBody>
                    <a:bodyPr/>
                    <a:lstStyle/>
                    <a:p>
                      <a:pPr algn="l"/>
                      <a:r>
                        <a:rPr sz="2400" b="0" i="0">
                          <a:solidFill>
                            <a:srgbClr val="FFFFFF"/>
                          </a:solidFill>
                          <a:latin typeface="Calibri"/>
                        </a:rPr>
                        <a:t>5–10K hrs  (10–20× paper)</a:t>
                      </a:r>
                    </a:p>
                  </a:txBody>
                  <a:tcPr>
                    <a:solidFill>
                      <a:srgbClr val="0d1b2a"/>
                    </a:solidFill>
                  </a:tcPr>
                </a:tc>
                <a:tc>
                  <a:txBody>
                    <a:bodyPr/>
                    <a:lstStyle/>
                    <a:p>
                      <a:pPr algn="l"/>
                      <a:r>
                        <a:rPr sz="2400" b="0" i="0">
                          <a:solidFill>
                            <a:srgbClr val="FFFFFF"/>
                          </a:solidFill>
                          <a:latin typeface="Calibri"/>
                        </a:rPr>
                        <a:t>~$10–20K</a:t>
                      </a:r>
                    </a:p>
                  </a:txBody>
                  <a:tcPr>
                    <a:solidFill>
                      <a:srgbClr val="0d1b2a"/>
                    </a:solidFill>
                  </a:tcPr>
                </a:tc>
                <a:tc>
                  <a:txBody>
                    <a:bodyPr/>
                    <a:lstStyle/>
                    <a:p>
                      <a:pPr algn="l"/>
                      <a:r>
                        <a:rPr sz="2400" b="0" i="0">
                          <a:solidFill>
                            <a:srgbClr val="FFFFFF"/>
                          </a:solidFill>
                          <a:latin typeface="Calibri"/>
                        </a:rPr>
                        <a:t>~3.0–3.5</a:t>
                      </a:r>
                    </a:p>
                  </a:txBody>
                  <a:tcPr>
                    <a:solidFill>
                      <a:srgbClr val="0d1b2a"/>
                    </a:solidFill>
                  </a:tcPr>
                </a:tc>
              </a:tr>
              <a:tr h="457200">
                <a:tc>
                  <a:txBody>
                    <a:bodyPr/>
                    <a:lstStyle/>
                    <a:p>
                      <a:pPr algn="l"/>
                      <a:r>
                        <a:rPr sz="2400" b="0" i="0">
                          <a:solidFill>
                            <a:srgbClr val="FFFFFF"/>
                          </a:solidFill>
                          <a:latin typeface="Calibri"/>
                        </a:rPr>
                        <a:t>20K hrs  (46× paper)</a:t>
                      </a:r>
                    </a:p>
                  </a:txBody>
                  <a:tcPr>
                    <a:solidFill>
                      <a:srgbClr val="152a40"/>
                    </a:solidFill>
                  </a:tcPr>
                </a:tc>
                <a:tc>
                  <a:txBody>
                    <a:bodyPr/>
                    <a:lstStyle/>
                    <a:p>
                      <a:pPr algn="l"/>
                      <a:r>
                        <a:rPr sz="2400" b="0" i="0">
                          <a:solidFill>
                            <a:srgbClr val="4CAF50"/>
                          </a:solidFill>
                          <a:latin typeface="Calibri"/>
                        </a:rPr>
                        <a:t>~$30–40K</a:t>
                      </a:r>
                    </a:p>
                  </a:txBody>
                  <a:tcPr>
                    <a:solidFill>
                      <a:srgbClr val="152a40"/>
                    </a:solidFill>
                  </a:tcPr>
                </a:tc>
                <a:tc>
                  <a:txBody>
                    <a:bodyPr/>
                    <a:lstStyle/>
                    <a:p>
                      <a:pPr algn="l"/>
                      <a:r>
                        <a:rPr sz="2400" b="0" i="0">
                          <a:solidFill>
                            <a:srgbClr val="4CAF50"/>
                          </a:solidFill>
                          <a:latin typeface="Calibri"/>
                        </a:rPr>
                        <a:t>~3.5–3.8</a:t>
                      </a:r>
                    </a:p>
                  </a:txBody>
                  <a:tcPr>
                    <a:solidFill>
                      <a:srgbClr val="152a40"/>
                    </a:solidFill>
                  </a:tcPr>
                </a:tc>
              </a:tr>
              <a:tr h="457200">
                <a:tc>
                  <a:txBody>
                    <a:bodyPr/>
                    <a:lstStyle/>
                    <a:p>
                      <a:pPr algn="l"/>
                      <a:r>
                        <a:rPr sz="2400" b="0" i="0">
                          <a:solidFill>
                            <a:srgbClr val="FFFFFF"/>
                          </a:solidFill>
                          <a:latin typeface="Calibri"/>
                        </a:rPr>
                        <a:t>50K hrs  (115× paper)</a:t>
                      </a:r>
                    </a:p>
                  </a:txBody>
                  <a:tcPr>
                    <a:solidFill>
                      <a:srgbClr val="0d1b2a"/>
                    </a:solidFill>
                  </a:tcPr>
                </a:tc>
                <a:tc>
                  <a:txBody>
                    <a:bodyPr/>
                    <a:lstStyle/>
                    <a:p>
                      <a:pPr algn="l"/>
                      <a:r>
                        <a:rPr sz="2400" b="0" i="0">
                          <a:solidFill>
                            <a:srgbClr val="FFFFFF"/>
                          </a:solidFill>
                          <a:latin typeface="Calibri"/>
                        </a:rPr>
                        <a:t>~$70–100K</a:t>
                      </a:r>
                    </a:p>
                  </a:txBody>
                  <a:tcPr>
                    <a:solidFill>
                      <a:srgbClr val="0d1b2a"/>
                    </a:solidFill>
                  </a:tcPr>
                </a:tc>
                <a:tc>
                  <a:txBody>
                    <a:bodyPr/>
                    <a:lstStyle/>
                    <a:p>
                      <a:pPr algn="l"/>
                      <a:r>
                        <a:rPr sz="2400" b="0" i="0">
                          <a:solidFill>
                            <a:srgbClr val="FFFFFF"/>
                          </a:solidFill>
                          <a:latin typeface="Calibri"/>
                        </a:rPr>
                        <a:t>~3.8–4.2</a:t>
                      </a:r>
                    </a:p>
                  </a:txBody>
                  <a:tcPr>
                    <a:solidFill>
                      <a:srgbClr val="0d1b2a"/>
                    </a:solidFill>
                  </a:tcPr>
                </a:tc>
              </a:tr>
            </a:tbl>
          </a:graphicData>
        </a:graphic>
      </p:graphicFrame>
      <p:sp>
        <p:nvSpPr>
          <p:cNvPr id="6" name="Rounded Rectangle 5"/>
          <p:cNvSpPr/>
          <p:nvPr/>
        </p:nvSpPr>
        <p:spPr>
          <a:xfrm>
            <a:off x="548640" y="3749040"/>
            <a:ext cx="11091672" cy="150876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822192"/>
            <a:ext cx="2743200" cy="320040"/>
          </a:xfrm>
          <a:prstGeom prst="rect">
            <a:avLst/>
          </a:prstGeom>
          <a:noFill/>
        </p:spPr>
        <p:txBody>
          <a:bodyPr wrap="square" anchor="t"/>
          <a:lstStyle/>
          <a:p>
            <a:pPr algn="l"/>
            <a:r>
              <a:rPr sz="2400" b="1" i="0">
                <a:solidFill>
                  <a:srgbClr val="FFD54F"/>
                </a:solidFill>
                <a:latin typeface="Calibri"/>
              </a:rPr>
              <a:t>Key insight</a:t>
            </a:r>
          </a:p>
        </p:txBody>
      </p:sp>
      <p:sp>
        <p:nvSpPr>
          <p:cNvPr id="8" name="TextBox 7"/>
          <p:cNvSpPr txBox="1"/>
          <p:nvPr/>
        </p:nvSpPr>
        <p:spPr>
          <a:xfrm>
            <a:off x="731520" y="4160520"/>
            <a:ext cx="10725912" cy="105156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Paper: 433 hrs LRS3 — we need 20–50K hrs diverse data</a:t>
            </a:r>
          </a:p>
          <a:p>
            <a:pPr algn="l">
              <a:spcAft>
                <a:spcPts val="600"/>
              </a:spcAft>
            </a:pPr>
            <a:r>
              <a:rPr sz="2400" b="1">
                <a:solidFill>
                  <a:srgbClr val="00B4D8"/>
                </a:solidFill>
                <a:latin typeface="Calibri"/>
              </a:rPr>
              <a:t>• </a:t>
            </a:r>
            <a:r>
              <a:rPr sz="2400" b="0">
                <a:solidFill>
                  <a:srgbClr val="00B4D8"/>
                </a:solidFill>
                <a:latin typeface="Calibri"/>
              </a:rPr>
              <a:t>Same recipe — just more data</a:t>
            </a:r>
          </a:p>
          <a:p>
            <a:pPr algn="l">
              <a:spcAft>
                <a:spcPts val="600"/>
              </a:spcAft>
            </a:pPr>
            <a:r>
              <a:rPr sz="2400" b="1">
                <a:solidFill>
                  <a:srgbClr val="00B4D8"/>
                </a:solidFill>
                <a:latin typeface="Calibri"/>
              </a:rPr>
              <a:t>• </a:t>
            </a:r>
            <a:r>
              <a:rPr sz="2400" b="0">
                <a:solidFill>
                  <a:srgbClr val="FFFFFF"/>
                </a:solidFill>
                <a:latin typeface="Calibri"/>
              </a:rPr>
              <a:t>IS 2.52 → 3.5–4.0 = ~46–115× scale-up</a:t>
            </a:r>
          </a:p>
        </p:txBody>
      </p:sp>
      <p:sp>
        <p:nvSpPr>
          <p:cNvPr id="9" name="Rounded Rectangle 8"/>
          <p:cNvSpPr/>
          <p:nvPr/>
        </p:nvSpPr>
        <p:spPr>
          <a:xfrm>
            <a:off x="548640" y="5440680"/>
            <a:ext cx="11091672" cy="777240"/>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623560"/>
            <a:ext cx="10634472" cy="457200"/>
          </a:xfrm>
          <a:prstGeom prst="rect">
            <a:avLst/>
          </a:prstGeom>
          <a:noFill/>
        </p:spPr>
        <p:txBody>
          <a:bodyPr wrap="square" anchor="t"/>
          <a:lstStyle/>
          <a:p>
            <a:pPr algn="l"/>
            <a:r>
              <a:rPr sz="2400" b="0" i="0">
                <a:solidFill>
                  <a:srgbClr val="00B4D8"/>
                </a:solidFill>
                <a:latin typeface="Calibri"/>
              </a:rPr>
              <a:t>LLM upgrade: Llama-2 → Llama 3.1 8B  (+0.3–0.5 IS, adapter retraining required)</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79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82.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Fine-Tuning: Limited Data, Limited Gains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8452" y="1325880"/>
            <a:ext cx="3520440" cy="43891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05612" y="1463040"/>
            <a:ext cx="3246120" cy="457200"/>
          </a:xfrm>
          <a:prstGeom prst="rect">
            <a:avLst/>
          </a:prstGeom>
          <a:noFill/>
        </p:spPr>
        <p:txBody>
          <a:bodyPr wrap="square" anchor="t"/>
          <a:lstStyle/>
          <a:p>
            <a:pPr algn="ctr"/>
            <a:r>
              <a:rPr sz="2400" b="1" i="0">
                <a:solidFill>
                  <a:srgbClr val="E06C75"/>
                </a:solidFill>
                <a:latin typeface="Calibri"/>
              </a:rPr>
              <a:t>Today: 1.3K Floor</a:t>
            </a:r>
          </a:p>
        </p:txBody>
      </p:sp>
      <p:sp>
        <p:nvSpPr>
          <p:cNvPr id="6" name="TextBox 5"/>
          <p:cNvSpPr txBox="1"/>
          <p:nvPr/>
        </p:nvSpPr>
        <p:spPr>
          <a:xfrm>
            <a:off x="751332" y="2011680"/>
            <a:ext cx="3154680" cy="356616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E06C75"/>
                </a:solidFill>
                <a:latin typeface="Calibri"/>
              </a:rPr>
              <a:t>LoRA on 1,273 AVSpeech segs</a:t>
            </a:r>
          </a:p>
          <a:p>
            <a:pPr algn="l">
              <a:spcAft>
                <a:spcPts val="600"/>
              </a:spcAft>
            </a:pPr>
            <a:r>
              <a:rPr sz="2000" b="1">
                <a:solidFill>
                  <a:srgbClr val="00B4D8"/>
                </a:solidFill>
                <a:latin typeface="Calibri"/>
              </a:rPr>
              <a:t>• </a:t>
            </a:r>
            <a:r>
              <a:rPr sz="2000" b="0">
                <a:solidFill>
                  <a:srgbClr val="FFFFFF"/>
                </a:solidFill>
                <a:latin typeface="Calibri"/>
              </a:rPr>
              <a:t>Train ~95%, val ~60% (overfit)</a:t>
            </a:r>
          </a:p>
          <a:p>
            <a:pPr algn="l">
              <a:spcAft>
                <a:spcPts val="600"/>
              </a:spcAft>
            </a:pPr>
            <a:r>
              <a:rPr sz="2000" b="1">
                <a:solidFill>
                  <a:srgbClr val="00B4D8"/>
                </a:solidFill>
                <a:latin typeface="Calibri"/>
              </a:rPr>
              <a:t>• </a:t>
            </a:r>
            <a:r>
              <a:rPr sz="2000" b="0">
                <a:solidFill>
                  <a:srgbClr val="AAAAAA"/>
                </a:solidFill>
                <a:latin typeface="Calibri"/>
              </a:rPr>
              <a:t>r=16 IS 2.31; r=64 IS 2.02</a:t>
            </a:r>
          </a:p>
          <a:p>
            <a:pPr algn="l">
              <a:spcAft>
                <a:spcPts val="600"/>
              </a:spcAft>
            </a:pPr>
            <a:r>
              <a:rPr sz="2000" b="1">
                <a:solidFill>
                  <a:srgbClr val="00B4D8"/>
                </a:solidFill>
                <a:latin typeface="Calibri"/>
              </a:rPr>
              <a:t>• </a:t>
            </a:r>
            <a:r>
              <a:rPr sz="2000" b="0">
                <a:solidFill>
                  <a:srgbClr val="FFFFFF"/>
                </a:solidFill>
                <a:latin typeface="Calibri"/>
              </a:rPr>
              <a:t>Empty rate rose 7% to 27%</a:t>
            </a:r>
          </a:p>
        </p:txBody>
      </p:sp>
      <p:sp>
        <p:nvSpPr>
          <p:cNvPr id="7" name="Rounded Rectangle 6"/>
          <p:cNvSpPr/>
          <p:nvPr/>
        </p:nvSpPr>
        <p:spPr>
          <a:xfrm>
            <a:off x="4335780" y="1325880"/>
            <a:ext cx="3520440" cy="4389120"/>
          </a:xfrm>
          <a:prstGeom prst="roundRect">
            <a:avLst/>
          </a:prstGeom>
          <a:solidFill>
            <a:srgbClr val="152A40"/>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72940" y="1463040"/>
            <a:ext cx="3246120" cy="457200"/>
          </a:xfrm>
          <a:prstGeom prst="rect">
            <a:avLst/>
          </a:prstGeom>
          <a:noFill/>
        </p:spPr>
        <p:txBody>
          <a:bodyPr wrap="square" anchor="t"/>
          <a:lstStyle/>
          <a:p>
            <a:pPr algn="ctr"/>
            <a:r>
              <a:rPr sz="2400" b="1" i="0">
                <a:solidFill>
                  <a:srgbClr val="FFD54F"/>
                </a:solidFill>
                <a:latin typeface="Calibri"/>
              </a:rPr>
              <a:t>Target: 20K+ Segments</a:t>
            </a:r>
          </a:p>
        </p:txBody>
      </p:sp>
      <p:sp>
        <p:nvSpPr>
          <p:cNvPr id="9" name="TextBox 8"/>
          <p:cNvSpPr txBox="1"/>
          <p:nvPr/>
        </p:nvSpPr>
        <p:spPr>
          <a:xfrm>
            <a:off x="4518660" y="2011680"/>
            <a:ext cx="3154680" cy="356616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FFD54F"/>
                </a:solidFill>
                <a:latin typeface="Calibri"/>
              </a:rPr>
              <a:t>Need 15-40x more data</a:t>
            </a:r>
          </a:p>
          <a:p>
            <a:pPr algn="l">
              <a:spcAft>
                <a:spcPts val="600"/>
              </a:spcAft>
            </a:pPr>
            <a:r>
              <a:rPr sz="2000" b="1">
                <a:solidFill>
                  <a:srgbClr val="00B4D8"/>
                </a:solidFill>
                <a:latin typeface="Calibri"/>
              </a:rPr>
              <a:t>• </a:t>
            </a:r>
            <a:r>
              <a:rPr sz="2000" b="0">
                <a:solidFill>
                  <a:srgbClr val="FFFFFF"/>
                </a:solidFill>
                <a:latin typeface="Calibri"/>
              </a:rPr>
              <a:t>AVSpeech curation: 50K reachable</a:t>
            </a:r>
          </a:p>
          <a:p>
            <a:pPr algn="l">
              <a:spcAft>
                <a:spcPts val="600"/>
              </a:spcAft>
            </a:pPr>
            <a:r>
              <a:rPr sz="2000" b="1">
                <a:solidFill>
                  <a:srgbClr val="00B4D8"/>
                </a:solidFill>
                <a:latin typeface="Calibri"/>
              </a:rPr>
              <a:t>• </a:t>
            </a:r>
            <a:r>
              <a:rPr sz="2000" b="0">
                <a:solidFill>
                  <a:srgbClr val="AAAAAA"/>
                </a:solidFill>
                <a:latin typeface="Calibri"/>
              </a:rPr>
              <a:t>Above LoRA generalization floor</a:t>
            </a:r>
          </a:p>
          <a:p>
            <a:pPr algn="l">
              <a:spcAft>
                <a:spcPts val="600"/>
              </a:spcAft>
            </a:pPr>
            <a:r>
              <a:rPr sz="2000" b="1">
                <a:solidFill>
                  <a:srgbClr val="00B4D8"/>
                </a:solidFill>
                <a:latin typeface="Calibri"/>
              </a:rPr>
              <a:t>• </a:t>
            </a:r>
            <a:r>
              <a:rPr sz="2000" b="0">
                <a:solidFill>
                  <a:srgbClr val="FFFFFF"/>
                </a:solidFill>
                <a:latin typeface="Calibri"/>
              </a:rPr>
              <a:t>Pair with stronger LLM backbone</a:t>
            </a:r>
          </a:p>
        </p:txBody>
      </p:sp>
      <p:sp>
        <p:nvSpPr>
          <p:cNvPr id="10" name="Rounded Rectangle 9"/>
          <p:cNvSpPr/>
          <p:nvPr/>
        </p:nvSpPr>
        <p:spPr>
          <a:xfrm>
            <a:off x="8103108" y="1325880"/>
            <a:ext cx="3520440" cy="438912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40268" y="1463040"/>
            <a:ext cx="3246120" cy="457200"/>
          </a:xfrm>
          <a:prstGeom prst="rect">
            <a:avLst/>
          </a:prstGeom>
          <a:noFill/>
        </p:spPr>
        <p:txBody>
          <a:bodyPr wrap="square" anchor="t"/>
          <a:lstStyle/>
          <a:p>
            <a:pPr algn="ctr"/>
            <a:r>
              <a:rPr sz="2400" b="1" i="0">
                <a:solidFill>
                  <a:srgbClr val="4CAF50"/>
                </a:solidFill>
                <a:latin typeface="Calibri"/>
              </a:rPr>
              <a:t>Expected Lift</a:t>
            </a:r>
          </a:p>
        </p:txBody>
      </p:sp>
      <p:sp>
        <p:nvSpPr>
          <p:cNvPr id="12" name="TextBox 11"/>
          <p:cNvSpPr txBox="1"/>
          <p:nvPr/>
        </p:nvSpPr>
        <p:spPr>
          <a:xfrm>
            <a:off x="8285988" y="2011680"/>
            <a:ext cx="3154680" cy="356616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4CAF50"/>
                </a:solidFill>
                <a:latin typeface="Calibri"/>
              </a:rPr>
              <a:t>Visual encoder + LLM swap</a:t>
            </a:r>
          </a:p>
          <a:p>
            <a:pPr algn="l">
              <a:spcAft>
                <a:spcPts val="600"/>
              </a:spcAft>
            </a:pPr>
            <a:r>
              <a:rPr sz="2000" b="1">
                <a:solidFill>
                  <a:srgbClr val="00B4D8"/>
                </a:solidFill>
                <a:latin typeface="Calibri"/>
              </a:rPr>
              <a:t>• </a:t>
            </a:r>
            <a:r>
              <a:rPr sz="2000" b="0">
                <a:solidFill>
                  <a:srgbClr val="FFFFFF"/>
                </a:solidFill>
                <a:latin typeface="Calibri"/>
              </a:rPr>
              <a:t>Llama 3.1 8B: -3 to -8pp WER</a:t>
            </a:r>
          </a:p>
          <a:p>
            <a:pPr algn="l">
              <a:spcAft>
                <a:spcPts val="600"/>
              </a:spcAft>
            </a:pPr>
            <a:r>
              <a:rPr sz="2000" b="1">
                <a:solidFill>
                  <a:srgbClr val="00B4D8"/>
                </a:solidFill>
                <a:latin typeface="Calibri"/>
              </a:rPr>
              <a:t>• </a:t>
            </a:r>
            <a:r>
              <a:rPr sz="2000" b="0">
                <a:solidFill>
                  <a:srgbClr val="AAAAAA"/>
                </a:solidFill>
                <a:latin typeface="Calibri"/>
              </a:rPr>
              <a:t>Smart prompts: +5 to 20pp</a:t>
            </a:r>
          </a:p>
          <a:p>
            <a:pPr algn="l">
              <a:spcAft>
                <a:spcPts val="600"/>
              </a:spcAft>
            </a:pPr>
            <a:r>
              <a:rPr sz="2000" b="1">
                <a:solidFill>
                  <a:srgbClr val="00B4D8"/>
                </a:solidFill>
                <a:latin typeface="Calibri"/>
              </a:rPr>
              <a:t>• </a:t>
            </a:r>
            <a:r>
              <a:rPr sz="2000" b="0">
                <a:solidFill>
                  <a:srgbClr val="FFFFFF"/>
                </a:solidFill>
                <a:latin typeface="Calibri"/>
              </a:rPr>
              <a:t>Bottleneck: DATA, not arch.</a:t>
            </a:r>
          </a:p>
        </p:txBody>
      </p:sp>
      <p:sp>
        <p:nvSpPr>
          <p:cNvPr id="13" name="TextBox 12"/>
          <p:cNvSpPr txBox="1"/>
          <p:nvPr/>
        </p:nvSpPr>
        <p:spPr>
          <a:xfrm>
            <a:off x="548640" y="5897880"/>
            <a:ext cx="11091672" cy="411480"/>
          </a:xfrm>
          <a:prstGeom prst="rect">
            <a:avLst/>
          </a:prstGeom>
          <a:noFill/>
        </p:spPr>
        <p:txBody>
          <a:bodyPr wrap="square" anchor="t"/>
          <a:lstStyle/>
          <a:p>
            <a:pPr algn="ctr"/>
            <a:r>
              <a:rPr sz="2200" b="1" i="1">
                <a:solidFill>
                  <a:srgbClr val="4CAF50"/>
                </a:solidFill>
                <a:latin typeface="Calibri"/>
              </a:rPr>
              <a:t>Bottleneck is DATA QUANTITY (need 20K+), not parameter tuning.</a:t>
            </a:r>
          </a:p>
        </p:txBody>
      </p:sp>
      <p:pic>
        <p:nvPicPr>
          <p:cNvPr id="14" name="Picture 1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80</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Stronger LLM + Smart Prompts = Force Multiplier</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92480" y="1325880"/>
            <a:ext cx="5029200" cy="438912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5360" y="1463040"/>
            <a:ext cx="4663440" cy="411480"/>
          </a:xfrm>
          <a:prstGeom prst="rect">
            <a:avLst/>
          </a:prstGeom>
          <a:noFill/>
        </p:spPr>
        <p:txBody>
          <a:bodyPr wrap="square" anchor="t"/>
          <a:lstStyle/>
          <a:p>
            <a:pPr algn="ctr"/>
            <a:r>
              <a:rPr sz="2400" b="1" i="0">
                <a:solidFill>
                  <a:srgbClr val="00B4D8"/>
                </a:solidFill>
                <a:latin typeface="Calibri"/>
              </a:rPr>
              <a:t>LLM Upgrade (needs training)</a:t>
            </a:r>
          </a:p>
        </p:txBody>
      </p:sp>
      <p:sp>
        <p:nvSpPr>
          <p:cNvPr id="6" name="TextBox 5"/>
          <p:cNvSpPr txBox="1"/>
          <p:nvPr/>
        </p:nvSpPr>
        <p:spPr>
          <a:xfrm>
            <a:off x="975360" y="1965960"/>
            <a:ext cx="4663440" cy="3200400"/>
          </a:xfrm>
          <a:prstGeom prst="rect">
            <a:avLst/>
          </a:prstGeom>
          <a:noFill/>
        </p:spPr>
        <p:txBody>
          <a:bodyPr wrap="square">
            <a:spAutoFit/>
          </a:bodyPr>
          <a:lstStyle/>
          <a:p>
            <a:pPr algn="l">
              <a:spcAft>
                <a:spcPts val="600"/>
              </a:spcAft>
            </a:pPr>
            <a:r>
              <a:rPr sz="2200" b="1">
                <a:solidFill>
                  <a:srgbClr val="00B4D8"/>
                </a:solidFill>
                <a:latin typeface="Calibri"/>
              </a:rPr>
              <a:t>• </a:t>
            </a:r>
            <a:r>
              <a:rPr sz="2200" b="0">
                <a:solidFill>
                  <a:srgbClr val="FFFFFF"/>
                </a:solidFill>
                <a:latin typeface="Calibri"/>
              </a:rPr>
              <a:t>Llama 3.1 8B: drop-in (hidden dim 4096)</a:t>
            </a:r>
          </a:p>
          <a:p>
            <a:pPr algn="l">
              <a:spcAft>
                <a:spcPts val="600"/>
              </a:spcAft>
            </a:pPr>
            <a:r>
              <a:rPr sz="2200" b="1">
                <a:solidFill>
                  <a:srgbClr val="00B4D8"/>
                </a:solidFill>
                <a:latin typeface="Calibri"/>
              </a:rPr>
              <a:t>• </a:t>
            </a:r>
            <a:r>
              <a:rPr sz="2200" b="0">
                <a:solidFill>
                  <a:srgbClr val="FFFFFF"/>
                </a:solidFill>
                <a:latin typeface="Calibri"/>
              </a:rPr>
              <a:t>≈ Llama-2 70B, 128K vocab / context</a:t>
            </a:r>
          </a:p>
          <a:p>
            <a:pPr algn="l">
              <a:spcAft>
                <a:spcPts val="600"/>
              </a:spcAft>
            </a:pPr>
            <a:r>
              <a:rPr sz="2200" b="1">
                <a:solidFill>
                  <a:srgbClr val="00B4D8"/>
                </a:solidFill>
                <a:latin typeface="Calibri"/>
              </a:rPr>
              <a:t>• </a:t>
            </a:r>
            <a:r>
              <a:rPr sz="2200" b="1">
                <a:solidFill>
                  <a:srgbClr val="FFFFFF"/>
                </a:solidFill>
                <a:latin typeface="Calibri"/>
              </a:rPr>
              <a:t>Training: ~2–4 weeks, 5K+ segments</a:t>
            </a:r>
          </a:p>
          <a:p>
            <a:pPr algn="l">
              <a:spcAft>
                <a:spcPts val="600"/>
              </a:spcAft>
            </a:pPr>
            <a:r>
              <a:rPr sz="2200" b="1">
                <a:solidFill>
                  <a:srgbClr val="00B4D8"/>
                </a:solidFill>
                <a:latin typeface="Calibri"/>
              </a:rPr>
              <a:t>• </a:t>
            </a:r>
            <a:r>
              <a:rPr sz="2200" b="0">
                <a:solidFill>
                  <a:srgbClr val="FFFFFF"/>
                </a:solidFill>
                <a:latin typeface="Calibri"/>
              </a:rPr>
              <a:t>Alone: −3 to −8 pp WER (projection)</a:t>
            </a:r>
          </a:p>
        </p:txBody>
      </p:sp>
      <p:sp>
        <p:nvSpPr>
          <p:cNvPr id="7" name="Rounded Rectangle 6"/>
          <p:cNvSpPr/>
          <p:nvPr/>
        </p:nvSpPr>
        <p:spPr>
          <a:xfrm>
            <a:off x="6370320" y="1325880"/>
            <a:ext cx="5029200" cy="43891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53200" y="1463040"/>
            <a:ext cx="4663440" cy="411480"/>
          </a:xfrm>
          <a:prstGeom prst="rect">
            <a:avLst/>
          </a:prstGeom>
          <a:noFill/>
        </p:spPr>
        <p:txBody>
          <a:bodyPr wrap="square" anchor="t"/>
          <a:lstStyle/>
          <a:p>
            <a:pPr algn="ctr"/>
            <a:r>
              <a:rPr sz="2400" b="1" i="0">
                <a:solidFill>
                  <a:srgbClr val="E06C75"/>
                </a:solidFill>
                <a:latin typeface="Calibri"/>
              </a:rPr>
              <a:t>Smart Prompts (multiplier)</a:t>
            </a:r>
          </a:p>
        </p:txBody>
      </p:sp>
      <p:sp>
        <p:nvSpPr>
          <p:cNvPr id="9" name="TextBox 8"/>
          <p:cNvSpPr txBox="1"/>
          <p:nvPr/>
        </p:nvSpPr>
        <p:spPr>
          <a:xfrm>
            <a:off x="6553200" y="1965960"/>
            <a:ext cx="4663440" cy="3200400"/>
          </a:xfrm>
          <a:prstGeom prst="rect">
            <a:avLst/>
          </a:prstGeom>
          <a:noFill/>
        </p:spPr>
        <p:txBody>
          <a:bodyPr wrap="square">
            <a:spAutoFit/>
          </a:bodyPr>
          <a:lstStyle/>
          <a:p>
            <a:pPr algn="l">
              <a:spcAft>
                <a:spcPts val="600"/>
              </a:spcAft>
            </a:pPr>
            <a:r>
              <a:rPr sz="2200" b="1">
                <a:solidFill>
                  <a:srgbClr val="00B4D8"/>
                </a:solidFill>
                <a:latin typeface="Calibri"/>
              </a:rPr>
              <a:t>• </a:t>
            </a:r>
            <a:r>
              <a:rPr sz="2200" b="0">
                <a:solidFill>
                  <a:srgbClr val="FFFFFF"/>
                </a:solidFill>
                <a:latin typeface="Calibri"/>
              </a:rPr>
              <a:t>7 strategies: topic, count, anti-halluc, GER</a:t>
            </a:r>
          </a:p>
          <a:p>
            <a:pPr algn="l">
              <a:spcAft>
                <a:spcPts val="600"/>
              </a:spcAft>
            </a:pPr>
            <a:r>
              <a:rPr sz="2200" b="1">
                <a:solidFill>
                  <a:srgbClr val="00B4D8"/>
                </a:solidFill>
                <a:latin typeface="Calibri"/>
              </a:rPr>
              <a:t>• </a:t>
            </a:r>
            <a:r>
              <a:rPr sz="2200" b="0">
                <a:solidFill>
                  <a:srgbClr val="FFFFFF"/>
                </a:solidFill>
                <a:latin typeface="Calibri"/>
              </a:rPr>
              <a:t>Llama-2: +5–10pp  |  Llama 3.1: +12–20pp</a:t>
            </a:r>
          </a:p>
          <a:p>
            <a:pPr algn="l">
              <a:spcAft>
                <a:spcPts val="600"/>
              </a:spcAft>
            </a:pPr>
            <a:r>
              <a:rPr sz="2200" b="1">
                <a:solidFill>
                  <a:srgbClr val="00B4D8"/>
                </a:solidFill>
                <a:latin typeface="Calibri"/>
              </a:rPr>
              <a:t>• </a:t>
            </a:r>
            <a:r>
              <a:rPr sz="2200" b="0">
                <a:solidFill>
                  <a:srgbClr val="AAAAAA"/>
                </a:solidFill>
                <a:latin typeface="Calibri"/>
              </a:rPr>
              <a:t>GER = feed N-best → correction LLM</a:t>
            </a:r>
          </a:p>
          <a:p>
            <a:pPr algn="l">
              <a:spcAft>
                <a:spcPts val="600"/>
              </a:spcAft>
            </a:pPr>
            <a:r>
              <a:rPr sz="2200" b="1">
                <a:solidFill>
                  <a:srgbClr val="00B4D8"/>
                </a:solidFill>
                <a:latin typeface="Calibri"/>
              </a:rPr>
              <a:t>• </a:t>
            </a:r>
            <a:r>
              <a:rPr sz="2200" b="0">
                <a:solidFill>
                  <a:srgbClr val="4CAF50"/>
                </a:solidFill>
                <a:latin typeface="Calibri"/>
              </a:rPr>
              <a:t>GER alone: +8–15pp WER, no retrain</a:t>
            </a:r>
          </a:p>
        </p:txBody>
      </p:sp>
      <p:sp>
        <p:nvSpPr>
          <p:cNvPr id="10" name="TextBox 9"/>
          <p:cNvSpPr txBox="1"/>
          <p:nvPr/>
        </p:nvSpPr>
        <p:spPr>
          <a:xfrm>
            <a:off x="548640" y="5943600"/>
            <a:ext cx="11091672" cy="310896"/>
          </a:xfrm>
          <a:prstGeom prst="rect">
            <a:avLst/>
          </a:prstGeom>
          <a:noFill/>
        </p:spPr>
        <p:txBody>
          <a:bodyPr wrap="square" anchor="t"/>
          <a:lstStyle/>
          <a:p>
            <a:pPr algn="l"/>
            <a:r>
              <a:rPr sz="1800" b="0" i="1">
                <a:solidFill>
                  <a:srgbClr val="666666"/>
                </a:solidFill>
                <a:latin typeface="Calibri"/>
              </a:rPr>
              <a:t>GER: Chen et al. 2024  |  Scaling Laws: Hoffmann et al. 2022</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The LLM Is a Context Engine</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400" b="1" i="0">
                <a:solidFill>
                  <a:srgbClr val="00B4D8"/>
                </a:solidFill>
                <a:latin typeface="Calibri"/>
              </a:rPr>
              <a:t>What the LLM Does</a:t>
            </a:r>
          </a:p>
        </p:txBody>
      </p:sp>
      <p:sp>
        <p:nvSpPr>
          <p:cNvPr id="5" name="TextBox 4"/>
          <p:cNvSpPr txBox="1"/>
          <p:nvPr/>
        </p:nvSpPr>
        <p:spPr>
          <a:xfrm>
            <a:off x="548640" y="1874520"/>
            <a:ext cx="5029200" cy="274320"/>
          </a:xfrm>
          <a:prstGeom prst="rect">
            <a:avLst/>
          </a:prstGeom>
          <a:noFill/>
        </p:spPr>
        <p:txBody>
          <a:bodyPr wrap="square" anchor="t"/>
          <a:lstStyle/>
          <a:p>
            <a:pPr algn="l"/>
            <a:r>
              <a:rPr sz="2400" b="0" i="0">
                <a:solidFill>
                  <a:srgbClr val="FFFFFF"/>
                </a:solidFill>
                <a:latin typeface="Calibri"/>
              </a:rPr>
              <a:t>The visual encoder sees mouth shapes.</a:t>
            </a:r>
          </a:p>
        </p:txBody>
      </p:sp>
      <p:sp>
        <p:nvSpPr>
          <p:cNvPr id="6" name="TextBox 5"/>
          <p:cNvSpPr txBox="1"/>
          <p:nvPr/>
        </p:nvSpPr>
        <p:spPr>
          <a:xfrm>
            <a:off x="548640" y="2240280"/>
            <a:ext cx="5029200" cy="274320"/>
          </a:xfrm>
          <a:prstGeom prst="rect">
            <a:avLst/>
          </a:prstGeom>
          <a:noFill/>
        </p:spPr>
        <p:txBody>
          <a:bodyPr wrap="square" anchor="t"/>
          <a:lstStyle/>
          <a:p>
            <a:pPr algn="l"/>
            <a:r>
              <a:rPr sz="2400" b="1" i="0">
                <a:solidFill>
                  <a:srgbClr val="00B4D8"/>
                </a:solidFill>
                <a:latin typeface="Calibri"/>
              </a:rPr>
              <a:t>The LLM resolves ambiguity using language context.</a:t>
            </a:r>
          </a:p>
        </p:txBody>
      </p:sp>
      <p:sp>
        <p:nvSpPr>
          <p:cNvPr id="7" name="TextBox 6"/>
          <p:cNvSpPr txBox="1"/>
          <p:nvPr/>
        </p:nvSpPr>
        <p:spPr>
          <a:xfrm>
            <a:off x="548640" y="2788920"/>
            <a:ext cx="5029200" cy="1828800"/>
          </a:xfrm>
          <a:prstGeom prst="rect">
            <a:avLst/>
          </a:prstGeom>
          <a:noFill/>
        </p:spPr>
        <p:txBody>
          <a:bodyPr wrap="square">
            <a:spAutoFit/>
          </a:bodyPr>
          <a:lstStyle/>
          <a:p>
            <a:pPr algn="l">
              <a:spcAft>
                <a:spcPts val="600"/>
              </a:spcAft>
            </a:pPr>
            <a:r>
              <a:rPr sz="2400" b="1">
                <a:solidFill>
                  <a:srgbClr val="00B4D8"/>
                </a:solidFill>
                <a:latin typeface="Calibri"/>
              </a:rPr>
              <a:t>• </a:t>
            </a:r>
            <a:r>
              <a:rPr sz="2400" b="0">
                <a:solidFill>
                  <a:srgbClr val="FFFFFF"/>
                </a:solidFill>
                <a:latin typeface="Calibri"/>
              </a:rPr>
              <a:t>"p/b/m" → Is it "pat," "bat," or "mat"?</a:t>
            </a:r>
          </a:p>
          <a:p>
            <a:pPr algn="l">
              <a:spcAft>
                <a:spcPts val="600"/>
              </a:spcAft>
            </a:pPr>
            <a:r>
              <a:rPr sz="2400" b="1">
                <a:solidFill>
                  <a:srgbClr val="00B4D8"/>
                </a:solidFill>
                <a:latin typeface="Calibri"/>
              </a:rPr>
              <a:t>• </a:t>
            </a:r>
            <a:r>
              <a:rPr sz="2400" b="0">
                <a:solidFill>
                  <a:srgbClr val="FFFFFF"/>
                </a:solidFill>
                <a:latin typeface="Calibri"/>
              </a:rPr>
              <a:t>LLM uses surrounding words to disambiguate</a:t>
            </a:r>
          </a:p>
          <a:p>
            <a:pPr algn="l">
              <a:spcAft>
                <a:spcPts val="600"/>
              </a:spcAft>
            </a:pPr>
            <a:r>
              <a:rPr sz="2400" b="1">
                <a:solidFill>
                  <a:srgbClr val="00B4D8"/>
                </a:solidFill>
                <a:latin typeface="Calibri"/>
              </a:rPr>
              <a:t>• </a:t>
            </a:r>
            <a:r>
              <a:rPr sz="2400" b="0">
                <a:solidFill>
                  <a:srgbClr val="FFFFFF"/>
                </a:solidFill>
                <a:latin typeface="Calibri"/>
              </a:rPr>
              <a:t>Stronger LLM = better disambiguation</a:t>
            </a:r>
          </a:p>
          <a:p>
            <a:pPr algn="l">
              <a:spcAft>
                <a:spcPts val="600"/>
              </a:spcAft>
            </a:pPr>
            <a:r>
              <a:rPr sz="2400" b="1">
                <a:solidFill>
                  <a:srgbClr val="00B4D8"/>
                </a:solidFill>
                <a:latin typeface="Calibri"/>
              </a:rPr>
              <a:t>• </a:t>
            </a:r>
            <a:r>
              <a:rPr sz="2400" b="1">
                <a:solidFill>
                  <a:srgbClr val="FFFFFF"/>
                </a:solidFill>
                <a:latin typeface="Calibri"/>
              </a:rPr>
              <a:t>This is why LLM quality matters more than size</a:t>
            </a:r>
          </a:p>
        </p:txBody>
      </p:sp>
      <p:sp>
        <p:nvSpPr>
          <p:cNvPr id="8" name="TextBox 7"/>
          <p:cNvSpPr txBox="1"/>
          <p:nvPr/>
        </p:nvSpPr>
        <p:spPr>
          <a:xfrm>
            <a:off x="6611111" y="1325880"/>
            <a:ext cx="5029200" cy="365760"/>
          </a:xfrm>
          <a:prstGeom prst="rect">
            <a:avLst/>
          </a:prstGeom>
          <a:noFill/>
        </p:spPr>
        <p:txBody>
          <a:bodyPr wrap="square" anchor="t"/>
          <a:lstStyle/>
          <a:p>
            <a:pPr algn="l"/>
            <a:r>
              <a:rPr sz="2400" b="1" i="0">
                <a:solidFill>
                  <a:srgbClr val="E06C75"/>
                </a:solidFill>
                <a:latin typeface="Calibri"/>
              </a:rPr>
              <a:t>Current vs Upgrade</a:t>
            </a:r>
          </a:p>
        </p:txBody>
      </p:sp>
      <p:sp>
        <p:nvSpPr>
          <p:cNvPr id="9" name="Rounded Rectangle 8"/>
          <p:cNvSpPr/>
          <p:nvPr/>
        </p:nvSpPr>
        <p:spPr>
          <a:xfrm>
            <a:off x="6611111" y="1783080"/>
            <a:ext cx="5029200" cy="164592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93991" y="1874520"/>
            <a:ext cx="4663440" cy="274320"/>
          </a:xfrm>
          <a:prstGeom prst="rect">
            <a:avLst/>
          </a:prstGeom>
          <a:noFill/>
        </p:spPr>
        <p:txBody>
          <a:bodyPr wrap="square" anchor="t"/>
          <a:lstStyle/>
          <a:p>
            <a:pPr algn="l"/>
            <a:r>
              <a:rPr sz="2400" b="1" i="0">
                <a:solidFill>
                  <a:srgbClr val="E06C75"/>
                </a:solidFill>
                <a:latin typeface="Calibri"/>
              </a:rPr>
              <a:t>Current: LLaMA-2 7B</a:t>
            </a:r>
          </a:p>
        </p:txBody>
      </p:sp>
      <p:sp>
        <p:nvSpPr>
          <p:cNvPr id="11" name="TextBox 10"/>
          <p:cNvSpPr txBox="1"/>
          <p:nvPr/>
        </p:nvSpPr>
        <p:spPr>
          <a:xfrm>
            <a:off x="6793991" y="2240280"/>
            <a:ext cx="4663440" cy="731520"/>
          </a:xfrm>
          <a:prstGeom prst="rect">
            <a:avLst/>
          </a:prstGeom>
          <a:noFill/>
        </p:spPr>
        <p:txBody>
          <a:bodyPr wrap="square">
            <a:spAutoFit/>
          </a:bodyPr>
          <a:lstStyle/>
          <a:p>
            <a:pPr algn="l">
              <a:spcAft>
                <a:spcPts val="600"/>
              </a:spcAft>
            </a:pPr>
            <a:r>
              <a:rPr sz="2400" b="1">
                <a:solidFill>
                  <a:srgbClr val="E06C75"/>
                </a:solidFill>
                <a:latin typeface="Calibri"/>
              </a:rPr>
              <a:t>• </a:t>
            </a:r>
            <a:r>
              <a:rPr sz="2400" b="0">
                <a:solidFill>
                  <a:srgbClr val="FFFFFF"/>
                </a:solidFill>
                <a:latin typeface="Calibri"/>
              </a:rPr>
              <a:t>32K vocab, 4K context</a:t>
            </a:r>
          </a:p>
          <a:p>
            <a:pPr algn="l">
              <a:spcAft>
                <a:spcPts val="600"/>
              </a:spcAft>
            </a:pPr>
            <a:r>
              <a:rPr sz="2400" b="1">
                <a:solidFill>
                  <a:srgbClr val="E06C75"/>
                </a:solidFill>
                <a:latin typeface="Calibri"/>
              </a:rPr>
              <a:t>• </a:t>
            </a:r>
            <a:r>
              <a:rPr sz="2400" b="0">
                <a:solidFill>
                  <a:srgbClr val="FFFFFF"/>
                </a:solidFill>
                <a:latin typeface="Calibri"/>
              </a:rPr>
              <a:t>2023 model, limited reasoning</a:t>
            </a:r>
          </a:p>
        </p:txBody>
      </p:sp>
      <p:sp>
        <p:nvSpPr>
          <p:cNvPr id="12" name="Rounded Rectangle 11"/>
          <p:cNvSpPr/>
          <p:nvPr/>
        </p:nvSpPr>
        <p:spPr>
          <a:xfrm>
            <a:off x="6611111" y="3611880"/>
            <a:ext cx="5029200" cy="18288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93991" y="3703320"/>
            <a:ext cx="4663440" cy="274320"/>
          </a:xfrm>
          <a:prstGeom prst="rect">
            <a:avLst/>
          </a:prstGeom>
          <a:noFill/>
        </p:spPr>
        <p:txBody>
          <a:bodyPr wrap="square" anchor="t"/>
          <a:lstStyle/>
          <a:p>
            <a:pPr algn="l"/>
            <a:r>
              <a:rPr sz="2400" b="1" i="0">
                <a:solidFill>
                  <a:srgbClr val="4CAF50"/>
                </a:solidFill>
                <a:latin typeface="Calibri"/>
              </a:rPr>
              <a:t>Upgrade: Llama 3.1 8B</a:t>
            </a:r>
          </a:p>
        </p:txBody>
      </p:sp>
      <p:sp>
        <p:nvSpPr>
          <p:cNvPr id="14" name="TextBox 13"/>
          <p:cNvSpPr txBox="1"/>
          <p:nvPr/>
        </p:nvSpPr>
        <p:spPr>
          <a:xfrm>
            <a:off x="6793991" y="4069080"/>
            <a:ext cx="4663440" cy="1097280"/>
          </a:xfrm>
          <a:prstGeom prst="rect">
            <a:avLst/>
          </a:prstGeom>
          <a:noFill/>
        </p:spPr>
        <p:txBody>
          <a:bodyPr wrap="square">
            <a:spAutoFit/>
          </a:bodyPr>
          <a:lstStyle/>
          <a:p>
            <a:pPr algn="l">
              <a:spcAft>
                <a:spcPts val="600"/>
              </a:spcAft>
            </a:pPr>
            <a:r>
              <a:rPr sz="2400" b="1">
                <a:solidFill>
                  <a:srgbClr val="4CAF50"/>
                </a:solidFill>
                <a:latin typeface="Calibri"/>
              </a:rPr>
              <a:t>• </a:t>
            </a:r>
            <a:r>
              <a:rPr sz="2400" b="0">
                <a:solidFill>
                  <a:srgbClr val="FFFFFF"/>
                </a:solidFill>
                <a:latin typeface="Calibri"/>
              </a:rPr>
              <a:t>128K vocab, 128K context</a:t>
            </a:r>
          </a:p>
          <a:p>
            <a:pPr algn="l">
              <a:spcAft>
                <a:spcPts val="600"/>
              </a:spcAft>
            </a:pPr>
            <a:r>
              <a:rPr sz="2400" b="1">
                <a:solidFill>
                  <a:srgbClr val="4CAF50"/>
                </a:solidFill>
                <a:latin typeface="Calibri"/>
              </a:rPr>
              <a:t>• </a:t>
            </a:r>
            <a:r>
              <a:rPr sz="2400" b="0">
                <a:solidFill>
                  <a:srgbClr val="FFFFFF"/>
                </a:solidFill>
                <a:latin typeface="Calibri"/>
              </a:rPr>
              <a:t>Quality ≈ LLaMA-2 70B</a:t>
            </a:r>
          </a:p>
          <a:p>
            <a:pPr algn="l">
              <a:spcAft>
                <a:spcPts val="600"/>
              </a:spcAft>
            </a:pPr>
            <a:r>
              <a:rPr sz="2400" b="1">
                <a:solidFill>
                  <a:srgbClr val="4CAF50"/>
                </a:solidFill>
                <a:latin typeface="Calibri"/>
              </a:rPr>
              <a:t>• </a:t>
            </a:r>
            <a:r>
              <a:rPr sz="2400" b="0">
                <a:solidFill>
                  <a:srgbClr val="4CAF50"/>
                </a:solidFill>
                <a:latin typeface="Calibri"/>
              </a:rPr>
              <a:t>Same hidden_size (4096) = architecture-compatible upgrade</a:t>
            </a:r>
          </a:p>
          <a:p>
            <a:pPr algn="l">
              <a:spcAft>
                <a:spcPts val="600"/>
              </a:spcAft>
            </a:pPr>
            <a:r>
              <a:rPr sz="2400" b="1">
                <a:solidFill>
                  <a:srgbClr val="4CAF50"/>
                </a:solidFill>
                <a:latin typeface="Calibri"/>
              </a:rPr>
              <a:t>• </a:t>
            </a:r>
            <a:r>
              <a:rPr sz="2400" b="1">
                <a:solidFill>
                  <a:srgbClr val="FFFFFF"/>
                </a:solidFill>
                <a:latin typeface="Calibri"/>
              </a:rPr>
              <a:t>Setup: 2–4 weeks + retraining</a:t>
            </a:r>
          </a:p>
        </p:txBody>
      </p:sp>
      <p:pic>
        <p:nvPicPr>
          <p:cNvPr id="15" name="Picture 14"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6" name="TextBox 15"/>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82</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Lst>
  </p:timing>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LLM Upgrade: Why It Matters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212080" cy="320040"/>
          </a:xfrm>
          <a:prstGeom prst="rect">
            <a:avLst/>
          </a:prstGeom>
          <a:noFill/>
        </p:spPr>
        <p:txBody>
          <a:bodyPr wrap="square" anchor="t"/>
          <a:lstStyle/>
          <a:p>
            <a:pPr algn="l"/>
            <a:r>
              <a:rPr sz="2400" b="1" i="0">
                <a:solidFill>
                  <a:srgbClr val="00B4D8"/>
                </a:solidFill>
                <a:latin typeface="Calibri"/>
              </a:rPr>
              <a:t>Llama-2 7B → Llama 3.1 8B</a:t>
            </a:r>
          </a:p>
        </p:txBody>
      </p:sp>
      <p:graphicFrame>
        <p:nvGraphicFramePr>
          <p:cNvPr id="5" name="Table 4"/>
          <p:cNvGraphicFramePr>
            <a:graphicFrameLocks noGrp="1"/>
          </p:cNvGraphicFramePr>
          <p:nvPr/>
        </p:nvGraphicFramePr>
        <p:xfrm>
          <a:off x="548640" y="1783080"/>
          <a:ext cx="5212080" cy="1920240"/>
        </p:xfrm>
        <a:graphic>
          <a:graphicData uri="http://schemas.openxmlformats.org/drawingml/2006/table">
            <a:tbl>
              <a:tblPr firstRow="0" bandRow="0" lastRow="0" bandCol="0">
                <a:tableStyleId>{5C22544A-7EE6-4342-B048-85BDC9FD1C3A}</a:tableStyleId>
              </a:tblPr>
              <a:tblGrid>
                <a:gridCol w="1188720"/>
                <a:gridCol w="1097280"/>
                <a:gridCol w="1280160"/>
                <a:gridCol w="1645920"/>
              </a:tblGrid>
              <a:tr h="384048">
                <a:tc>
                  <a:txBody>
                    <a:bodyPr/>
                    <a:lstStyle/>
                    <a:p>
                      <a:pPr algn="ctr">
                        <a:defRPr sz="2400" b="1" i="0">
                          <a:solidFill>
                            <a:srgbClr val="FFFFFF"/>
                          </a:solidFill>
                          <a:latin typeface="Calibri"/>
                        </a:defRPr>
                      </a:pPr>
                    </a:p>
                  </a:txBody>
                  <a:tcPr>
                    <a:solidFill>
                      <a:srgbClr val="00b4d8"/>
                    </a:solidFill>
                  </a:tcPr>
                </a:tc>
                <a:tc>
                  <a:txBody>
                    <a:bodyPr/>
                    <a:lstStyle/>
                    <a:p>
                      <a:pPr algn="ctr"/>
                      <a:r>
                        <a:rPr sz="2400" b="1" i="0">
                          <a:solidFill>
                            <a:srgbClr val="FFFFFF"/>
                          </a:solidFill>
                          <a:latin typeface="Calibri"/>
                        </a:rPr>
                        <a:t>Current</a:t>
                      </a:r>
                    </a:p>
                  </a:txBody>
                  <a:tcPr>
                    <a:solidFill>
                      <a:srgbClr val="00b4d8"/>
                    </a:solidFill>
                  </a:tcPr>
                </a:tc>
                <a:tc>
                  <a:txBody>
                    <a:bodyPr/>
                    <a:lstStyle/>
                    <a:p>
                      <a:pPr algn="ctr"/>
                      <a:r>
                        <a:rPr sz="2400" b="1" i="0">
                          <a:solidFill>
                            <a:srgbClr val="FFFFFF"/>
                          </a:solidFill>
                          <a:latin typeface="Calibri"/>
                        </a:rPr>
                        <a:t>Upgrade</a:t>
                      </a:r>
                    </a:p>
                  </a:txBody>
                  <a:tcPr>
                    <a:solidFill>
                      <a:srgbClr val="00b4d8"/>
                    </a:solidFill>
                  </a:tcPr>
                </a:tc>
                <a:tc>
                  <a:txBody>
                    <a:bodyPr/>
                    <a:lstStyle/>
                    <a:p>
                      <a:pPr algn="ctr">
                        <a:defRPr sz="2400" b="1" i="0">
                          <a:solidFill>
                            <a:srgbClr val="FFFFFF"/>
                          </a:solidFill>
                          <a:latin typeface="Calibri"/>
                        </a:defRPr>
                      </a:pPr>
                    </a:p>
                  </a:txBody>
                  <a:tcPr>
                    <a:solidFill>
                      <a:srgbClr val="00b4d8"/>
                    </a:solidFill>
                  </a:tcPr>
                </a:tc>
              </a:tr>
              <a:tr h="384048">
                <a:tc>
                  <a:txBody>
                    <a:bodyPr/>
                    <a:lstStyle/>
                    <a:p>
                      <a:pPr algn="l"/>
                      <a:r>
                        <a:rPr sz="2400" b="0" i="0">
                          <a:solidFill>
                            <a:srgbClr val="FFFFFF"/>
                          </a:solidFill>
                          <a:latin typeface="Calibri"/>
                        </a:rPr>
                        <a:t>MMLU</a:t>
                      </a:r>
                    </a:p>
                  </a:txBody>
                  <a:tcPr>
                    <a:solidFill>
                      <a:srgbClr val="0d1b2a"/>
                    </a:solidFill>
                  </a:tcPr>
                </a:tc>
                <a:tc>
                  <a:txBody>
                    <a:bodyPr/>
                    <a:lstStyle/>
                    <a:p>
                      <a:pPr algn="l"/>
                      <a:r>
                        <a:rPr sz="2400" b="0" i="0">
                          <a:solidFill>
                            <a:srgbClr val="FFFFFF"/>
                          </a:solidFill>
                          <a:latin typeface="Calibri"/>
                        </a:rPr>
                        <a:t>45%</a:t>
                      </a:r>
                    </a:p>
                  </a:txBody>
                  <a:tcPr>
                    <a:solidFill>
                      <a:srgbClr val="0d1b2a"/>
                    </a:solidFill>
                  </a:tcPr>
                </a:tc>
                <a:tc>
                  <a:txBody>
                    <a:bodyPr/>
                    <a:lstStyle/>
                    <a:p>
                      <a:pPr algn="l"/>
                      <a:r>
                        <a:rPr sz="2400" b="0" i="0">
                          <a:solidFill>
                            <a:srgbClr val="FFFFFF"/>
                          </a:solidFill>
                          <a:latin typeface="Calibri"/>
                        </a:rPr>
                        <a:t>73%</a:t>
                      </a:r>
                    </a:p>
                  </a:txBody>
                  <a:tcPr>
                    <a:solidFill>
                      <a:srgbClr val="0d1b2a"/>
                    </a:solidFill>
                  </a:tcPr>
                </a:tc>
                <a:tc>
                  <a:txBody>
                    <a:bodyPr/>
                    <a:lstStyle/>
                    <a:p>
                      <a:pPr algn="l"/>
                      <a:r>
                        <a:rPr sz="2400" b="0" i="0">
                          <a:solidFill>
                            <a:srgbClr val="FFFFFF"/>
                          </a:solidFill>
                          <a:latin typeface="Calibri"/>
                        </a:rPr>
                        <a:t>+61%</a:t>
                      </a:r>
                    </a:p>
                  </a:txBody>
                  <a:tcPr>
                    <a:solidFill>
                      <a:srgbClr val="0d1b2a"/>
                    </a:solidFill>
                  </a:tcPr>
                </a:tc>
              </a:tr>
              <a:tr h="384048">
                <a:tc>
                  <a:txBody>
                    <a:bodyPr/>
                    <a:lstStyle/>
                    <a:p>
                      <a:pPr algn="l"/>
                      <a:r>
                        <a:rPr sz="2400" b="0" i="0">
                          <a:solidFill>
                            <a:srgbClr val="FFFFFF"/>
                          </a:solidFill>
                          <a:latin typeface="Calibri"/>
                        </a:rPr>
                        <a:t>Vocabulary</a:t>
                      </a:r>
                    </a:p>
                  </a:txBody>
                  <a:tcPr>
                    <a:solidFill>
                      <a:srgbClr val="152a40"/>
                    </a:solidFill>
                  </a:tcPr>
                </a:tc>
                <a:tc>
                  <a:txBody>
                    <a:bodyPr/>
                    <a:lstStyle/>
                    <a:p>
                      <a:pPr algn="l"/>
                      <a:r>
                        <a:rPr sz="2400" b="0" i="0">
                          <a:solidFill>
                            <a:srgbClr val="FFFFFF"/>
                          </a:solidFill>
                          <a:latin typeface="Calibri"/>
                        </a:rPr>
                        <a:t>32K</a:t>
                      </a:r>
                    </a:p>
                  </a:txBody>
                  <a:tcPr>
                    <a:solidFill>
                      <a:srgbClr val="152a40"/>
                    </a:solidFill>
                  </a:tcPr>
                </a:tc>
                <a:tc>
                  <a:txBody>
                    <a:bodyPr/>
                    <a:lstStyle/>
                    <a:p>
                      <a:pPr algn="l"/>
                      <a:r>
                        <a:rPr sz="2400" b="0" i="0">
                          <a:solidFill>
                            <a:srgbClr val="FFFFFF"/>
                          </a:solidFill>
                          <a:latin typeface="Calibri"/>
                        </a:rPr>
                        <a:t>128K</a:t>
                      </a:r>
                    </a:p>
                  </a:txBody>
                  <a:tcPr>
                    <a:solidFill>
                      <a:srgbClr val="152a40"/>
                    </a:solidFill>
                  </a:tcPr>
                </a:tc>
                <a:tc>
                  <a:txBody>
                    <a:bodyPr/>
                    <a:lstStyle/>
                    <a:p>
                      <a:pPr algn="l"/>
                      <a:r>
                        <a:rPr sz="2400" b="0" i="0">
                          <a:solidFill>
                            <a:srgbClr val="FFFFFF"/>
                          </a:solidFill>
                          <a:latin typeface="Calibri"/>
                        </a:rPr>
                        <a:t>4×</a:t>
                      </a:r>
                    </a:p>
                  </a:txBody>
                  <a:tcPr>
                    <a:solidFill>
                      <a:srgbClr val="152a40"/>
                    </a:solidFill>
                  </a:tcPr>
                </a:tc>
              </a:tr>
              <a:tr h="384048">
                <a:tc>
                  <a:txBody>
                    <a:bodyPr/>
                    <a:lstStyle/>
                    <a:p>
                      <a:pPr algn="l"/>
                      <a:r>
                        <a:rPr sz="2400" b="0" i="0">
                          <a:solidFill>
                            <a:srgbClr val="FFFFFF"/>
                          </a:solidFill>
                          <a:latin typeface="Calibri"/>
                        </a:rPr>
                        <a:t>Context</a:t>
                      </a:r>
                    </a:p>
                  </a:txBody>
                  <a:tcPr>
                    <a:solidFill>
                      <a:srgbClr val="0d1b2a"/>
                    </a:solidFill>
                  </a:tcPr>
                </a:tc>
                <a:tc>
                  <a:txBody>
                    <a:bodyPr/>
                    <a:lstStyle/>
                    <a:p>
                      <a:pPr algn="l"/>
                      <a:r>
                        <a:rPr sz="2400" b="0" i="0">
                          <a:solidFill>
                            <a:srgbClr val="FFFFFF"/>
                          </a:solidFill>
                          <a:latin typeface="Calibri"/>
                        </a:rPr>
                        <a:t>4K</a:t>
                      </a:r>
                    </a:p>
                  </a:txBody>
                  <a:tcPr>
                    <a:solidFill>
                      <a:srgbClr val="0d1b2a"/>
                    </a:solidFill>
                  </a:tcPr>
                </a:tc>
                <a:tc>
                  <a:txBody>
                    <a:bodyPr/>
                    <a:lstStyle/>
                    <a:p>
                      <a:pPr algn="l"/>
                      <a:r>
                        <a:rPr sz="2400" b="0" i="0">
                          <a:solidFill>
                            <a:srgbClr val="FFFFFF"/>
                          </a:solidFill>
                          <a:latin typeface="Calibri"/>
                        </a:rPr>
                        <a:t>128K</a:t>
                      </a:r>
                    </a:p>
                  </a:txBody>
                  <a:tcPr>
                    <a:solidFill>
                      <a:srgbClr val="0d1b2a"/>
                    </a:solidFill>
                  </a:tcPr>
                </a:tc>
                <a:tc>
                  <a:txBody>
                    <a:bodyPr/>
                    <a:lstStyle/>
                    <a:p>
                      <a:pPr algn="l"/>
                      <a:r>
                        <a:rPr sz="2400" b="0" i="0">
                          <a:solidFill>
                            <a:srgbClr val="FFFFFF"/>
                          </a:solidFill>
                          <a:latin typeface="Calibri"/>
                        </a:rPr>
                        <a:t>32×</a:t>
                      </a:r>
                    </a:p>
                  </a:txBody>
                  <a:tcPr>
                    <a:solidFill>
                      <a:srgbClr val="0d1b2a"/>
                    </a:solidFill>
                  </a:tcPr>
                </a:tc>
              </a:tr>
              <a:tr h="384048">
                <a:tc>
                  <a:txBody>
                    <a:bodyPr/>
                    <a:lstStyle/>
                    <a:p>
                      <a:pPr algn="l"/>
                      <a:r>
                        <a:rPr sz="2400" b="0" i="0">
                          <a:solidFill>
                            <a:srgbClr val="FFFFFF"/>
                          </a:solidFill>
                          <a:latin typeface="Calibri"/>
                        </a:rPr>
                        <a:t>Training</a:t>
                      </a:r>
                    </a:p>
                  </a:txBody>
                  <a:tcPr>
                    <a:solidFill>
                      <a:srgbClr val="152a40"/>
                    </a:solidFill>
                  </a:tcPr>
                </a:tc>
                <a:tc>
                  <a:txBody>
                    <a:bodyPr/>
                    <a:lstStyle/>
                    <a:p>
                      <a:pPr algn="l"/>
                      <a:r>
                        <a:rPr sz="2400" b="0" i="0">
                          <a:solidFill>
                            <a:srgbClr val="FFFFFF"/>
                          </a:solidFill>
                          <a:latin typeface="Calibri"/>
                        </a:rPr>
                        <a:t>2T tok</a:t>
                      </a:r>
                    </a:p>
                  </a:txBody>
                  <a:tcPr>
                    <a:solidFill>
                      <a:srgbClr val="152a40"/>
                    </a:solidFill>
                  </a:tcPr>
                </a:tc>
                <a:tc>
                  <a:txBody>
                    <a:bodyPr/>
                    <a:lstStyle/>
                    <a:p>
                      <a:pPr algn="l"/>
                      <a:r>
                        <a:rPr sz="2400" b="0" i="0">
                          <a:solidFill>
                            <a:srgbClr val="FFFFFF"/>
                          </a:solidFill>
                          <a:latin typeface="Calibri"/>
                        </a:rPr>
                        <a:t>15T tok</a:t>
                      </a:r>
                    </a:p>
                  </a:txBody>
                  <a:tcPr>
                    <a:solidFill>
                      <a:srgbClr val="152a40"/>
                    </a:solidFill>
                  </a:tcPr>
                </a:tc>
                <a:tc>
                  <a:txBody>
                    <a:bodyPr/>
                    <a:lstStyle/>
                    <a:p>
                      <a:pPr algn="l"/>
                      <a:r>
                        <a:rPr sz="2400" b="0" i="0">
                          <a:solidFill>
                            <a:srgbClr val="FFFFFF"/>
                          </a:solidFill>
                          <a:latin typeface="Calibri"/>
                        </a:rPr>
                        <a:t>7.5×</a:t>
                      </a:r>
                    </a:p>
                  </a:txBody>
                  <a:tcPr>
                    <a:solidFill>
                      <a:srgbClr val="152a40"/>
                    </a:solidFill>
                  </a:tcPr>
                </a:tc>
              </a:tr>
            </a:tbl>
          </a:graphicData>
        </a:graphic>
      </p:graphicFrame>
      <p:sp>
        <p:nvSpPr>
          <p:cNvPr id="6" name="Rounded Rectangle 5"/>
          <p:cNvSpPr/>
          <p:nvPr/>
        </p:nvSpPr>
        <p:spPr>
          <a:xfrm>
            <a:off x="548640" y="3840480"/>
            <a:ext cx="5212080" cy="77724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950208"/>
            <a:ext cx="4754880" cy="1005840"/>
          </a:xfrm>
          <a:prstGeom prst="rect">
            <a:avLst/>
          </a:prstGeom>
          <a:noFill/>
        </p:spPr>
        <p:txBody>
          <a:bodyPr wrap="square" anchor="t"/>
          <a:lstStyle/>
          <a:p>
            <a:pPr algn="l"/>
            <a:r>
              <a:rPr sz="2400" b="0" i="0">
                <a:solidFill>
                  <a:srgbClr val="FFFFFF"/>
                </a:solidFill>
                <a:latin typeface="Calibri"/>
              </a:rPr>
              <a:t>VALLR (ICCV 2025): Llama 3.2-3B achieved 19% WER</a:t>
            </a:r>
            <a:br/>
            <a:r>
              <a:rPr sz="2400" b="0" i="0">
                <a:solidFill>
                  <a:srgbClr val="FFFFFF"/>
                </a:solidFill>
                <a:latin typeface="Calibri"/>
              </a:rPr>
              <a:t>on LRS3 — beats our 7B Llama-2 (25%) with half the params</a:t>
            </a:r>
          </a:p>
        </p:txBody>
      </p:sp>
      <p:sp>
        <p:nvSpPr>
          <p:cNvPr id="8" name="TextBox 7"/>
          <p:cNvSpPr txBox="1"/>
          <p:nvPr/>
        </p:nvSpPr>
        <p:spPr>
          <a:xfrm>
            <a:off x="548640" y="5074919"/>
            <a:ext cx="5212080" cy="795528"/>
          </a:xfrm>
          <a:prstGeom prst="rect">
            <a:avLst/>
          </a:prstGeom>
          <a:noFill/>
        </p:spPr>
        <p:txBody>
          <a:bodyPr wrap="square" anchor="t"/>
          <a:lstStyle/>
          <a:p>
            <a:pPr algn="l"/>
            <a:r>
              <a:rPr sz="2000" b="0" i="1">
                <a:solidFill>
                  <a:srgbClr val="AAAAAA"/>
                </a:solidFill>
                <a:latin typeface="Calibri"/>
              </a:rPr>
              <a:t>Same hidden dim (4096) — adapter retraining required</a:t>
            </a:r>
          </a:p>
        </p:txBody>
      </p:sp>
      <p:sp>
        <p:nvSpPr>
          <p:cNvPr id="9" name="TextBox 8"/>
          <p:cNvSpPr txBox="1"/>
          <p:nvPr/>
        </p:nvSpPr>
        <p:spPr>
          <a:xfrm>
            <a:off x="6309360" y="1325880"/>
            <a:ext cx="5330952" cy="320040"/>
          </a:xfrm>
          <a:prstGeom prst="rect">
            <a:avLst/>
          </a:prstGeom>
          <a:noFill/>
        </p:spPr>
        <p:txBody>
          <a:bodyPr wrap="square" anchor="t"/>
          <a:lstStyle/>
          <a:p>
            <a:pPr algn="l"/>
            <a:r>
              <a:rPr sz="2400" b="1" i="0">
                <a:solidFill>
                  <a:srgbClr val="E06C75"/>
                </a:solidFill>
                <a:latin typeface="Calibri"/>
              </a:rPr>
              <a:t>Projected Impact</a:t>
            </a:r>
          </a:p>
        </p:txBody>
      </p:sp>
      <p:sp>
        <p:nvSpPr>
          <p:cNvPr id="10" name="Rounded Rectangle 9"/>
          <p:cNvSpPr/>
          <p:nvPr/>
        </p:nvSpPr>
        <p:spPr>
          <a:xfrm>
            <a:off x="6309360" y="1828800"/>
            <a:ext cx="5330952" cy="521208"/>
          </a:xfrm>
          <a:prstGeom prst="roundRect">
            <a:avLst/>
          </a:prstGeom>
          <a:solidFill>
            <a:srgbClr val="152A40"/>
          </a:solidFill>
          <a:ln w="1905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20240"/>
            <a:ext cx="3685032" cy="320040"/>
          </a:xfrm>
          <a:prstGeom prst="rect">
            <a:avLst/>
          </a:prstGeom>
          <a:noFill/>
        </p:spPr>
        <p:txBody>
          <a:bodyPr wrap="square" anchor="t"/>
          <a:lstStyle/>
          <a:p>
            <a:pPr algn="l"/>
            <a:r>
              <a:rPr sz="2400" b="0" i="0">
                <a:solidFill>
                  <a:srgbClr val="FFFFFF"/>
                </a:solidFill>
                <a:latin typeface="Calibri"/>
              </a:rPr>
              <a:t>Current WER</a:t>
            </a:r>
          </a:p>
        </p:txBody>
      </p:sp>
      <p:sp>
        <p:nvSpPr>
          <p:cNvPr id="12" name="TextBox 11"/>
          <p:cNvSpPr txBox="1"/>
          <p:nvPr/>
        </p:nvSpPr>
        <p:spPr>
          <a:xfrm>
            <a:off x="10268712" y="1920240"/>
            <a:ext cx="1188720" cy="914400"/>
          </a:xfrm>
          <a:prstGeom prst="rect">
            <a:avLst/>
          </a:prstGeom>
          <a:noFill/>
        </p:spPr>
        <p:txBody>
          <a:bodyPr wrap="square" anchor="t"/>
          <a:lstStyle/>
          <a:p>
            <a:pPr algn="r"/>
            <a:r>
              <a:rPr sz="2400" b="1" i="0">
                <a:solidFill>
                  <a:srgbClr val="E06C75"/>
                </a:solidFill>
                <a:latin typeface="Calibri"/>
              </a:rPr>
              <a:t>64%</a:t>
            </a:r>
          </a:p>
        </p:txBody>
      </p:sp>
      <p:sp>
        <p:nvSpPr>
          <p:cNvPr id="13" name="Rounded Rectangle 12"/>
          <p:cNvSpPr/>
          <p:nvPr/>
        </p:nvSpPr>
        <p:spPr>
          <a:xfrm>
            <a:off x="6309360" y="2423160"/>
            <a:ext cx="5330952" cy="521208"/>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514600"/>
            <a:ext cx="3685032" cy="320040"/>
          </a:xfrm>
          <a:prstGeom prst="rect">
            <a:avLst/>
          </a:prstGeom>
          <a:noFill/>
        </p:spPr>
        <p:txBody>
          <a:bodyPr wrap="square" anchor="t"/>
          <a:lstStyle/>
          <a:p>
            <a:pPr algn="l"/>
            <a:r>
              <a:rPr sz="2400" b="0" i="0">
                <a:solidFill>
                  <a:srgbClr val="FFFFFF"/>
                </a:solidFill>
                <a:latin typeface="Calibri"/>
              </a:rPr>
              <a:t>LLM swap alone</a:t>
            </a:r>
          </a:p>
        </p:txBody>
      </p:sp>
      <p:sp>
        <p:nvSpPr>
          <p:cNvPr id="15" name="TextBox 14"/>
          <p:cNvSpPr txBox="1"/>
          <p:nvPr/>
        </p:nvSpPr>
        <p:spPr>
          <a:xfrm>
            <a:off x="10268712" y="2514600"/>
            <a:ext cx="1188720" cy="914400"/>
          </a:xfrm>
          <a:prstGeom prst="rect">
            <a:avLst/>
          </a:prstGeom>
          <a:noFill/>
        </p:spPr>
        <p:txBody>
          <a:bodyPr wrap="square" anchor="t"/>
          <a:lstStyle/>
          <a:p>
            <a:pPr algn="r"/>
            <a:r>
              <a:rPr sz="2400" b="1" i="0">
                <a:solidFill>
                  <a:srgbClr val="AAAAAA"/>
                </a:solidFill>
                <a:latin typeface="Calibri"/>
              </a:rPr>
              <a:t>−3–8 pp</a:t>
            </a:r>
          </a:p>
        </p:txBody>
      </p:sp>
      <p:sp>
        <p:nvSpPr>
          <p:cNvPr id="16" name="Rounded Rectangle 15"/>
          <p:cNvSpPr/>
          <p:nvPr/>
        </p:nvSpPr>
        <p:spPr>
          <a:xfrm>
            <a:off x="6309360" y="3017520"/>
            <a:ext cx="5330952" cy="521208"/>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3108960"/>
            <a:ext cx="3685032" cy="320040"/>
          </a:xfrm>
          <a:prstGeom prst="rect">
            <a:avLst/>
          </a:prstGeom>
          <a:noFill/>
        </p:spPr>
        <p:txBody>
          <a:bodyPr wrap="square" anchor="t"/>
          <a:lstStyle/>
          <a:p>
            <a:pPr algn="l"/>
            <a:r>
              <a:rPr sz="2400" b="0" i="0">
                <a:solidFill>
                  <a:srgbClr val="FFFFFF"/>
                </a:solidFill>
                <a:latin typeface="Calibri"/>
              </a:rPr>
              <a:t>+ Smart prompts</a:t>
            </a:r>
          </a:p>
        </p:txBody>
      </p:sp>
      <p:sp>
        <p:nvSpPr>
          <p:cNvPr id="18" name="TextBox 17"/>
          <p:cNvSpPr txBox="1"/>
          <p:nvPr/>
        </p:nvSpPr>
        <p:spPr>
          <a:xfrm>
            <a:off x="10268712" y="3108960"/>
            <a:ext cx="1188720" cy="914400"/>
          </a:xfrm>
          <a:prstGeom prst="rect">
            <a:avLst/>
          </a:prstGeom>
          <a:noFill/>
        </p:spPr>
        <p:txBody>
          <a:bodyPr wrap="square" anchor="t"/>
          <a:lstStyle/>
          <a:p>
            <a:pPr algn="r"/>
            <a:r>
              <a:rPr sz="2400" b="1" i="0">
                <a:solidFill>
                  <a:srgbClr val="AAAAAA"/>
                </a:solidFill>
                <a:latin typeface="Calibri"/>
              </a:rPr>
              <a:t>−5–10 pp</a:t>
            </a:r>
          </a:p>
        </p:txBody>
      </p:sp>
      <p:sp>
        <p:nvSpPr>
          <p:cNvPr id="19" name="Rounded Rectangle 18"/>
          <p:cNvSpPr/>
          <p:nvPr/>
        </p:nvSpPr>
        <p:spPr>
          <a:xfrm>
            <a:off x="6309360" y="3611880"/>
            <a:ext cx="5330952" cy="521208"/>
          </a:xfrm>
          <a:prstGeom prst="roundRect">
            <a:avLst/>
          </a:prstGeom>
          <a:solidFill>
            <a:srgbClr val="152A40"/>
          </a:solidFill>
          <a:ln w="1905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703320"/>
            <a:ext cx="3685032" cy="320040"/>
          </a:xfrm>
          <a:prstGeom prst="rect">
            <a:avLst/>
          </a:prstGeom>
          <a:noFill/>
        </p:spPr>
        <p:txBody>
          <a:bodyPr wrap="square" anchor="t"/>
          <a:lstStyle/>
          <a:p>
            <a:pPr algn="l"/>
            <a:r>
              <a:rPr sz="2400" b="0" i="0">
                <a:solidFill>
                  <a:srgbClr val="FFFFFF"/>
                </a:solidFill>
                <a:latin typeface="Calibri"/>
              </a:rPr>
              <a:t>+ 20K segments</a:t>
            </a:r>
          </a:p>
        </p:txBody>
      </p:sp>
      <p:sp>
        <p:nvSpPr>
          <p:cNvPr id="21" name="TextBox 20"/>
          <p:cNvSpPr txBox="1"/>
          <p:nvPr/>
        </p:nvSpPr>
        <p:spPr>
          <a:xfrm>
            <a:off x="10268712" y="3703320"/>
            <a:ext cx="1188720" cy="914400"/>
          </a:xfrm>
          <a:prstGeom prst="rect">
            <a:avLst/>
          </a:prstGeom>
          <a:noFill/>
        </p:spPr>
        <p:txBody>
          <a:bodyPr wrap="square" anchor="t"/>
          <a:lstStyle/>
          <a:p>
            <a:pPr algn="r"/>
            <a:r>
              <a:rPr sz="2400" b="1" i="0">
                <a:solidFill>
                  <a:srgbClr val="AAAAAA"/>
                </a:solidFill>
                <a:latin typeface="Calibri"/>
              </a:rPr>
              <a:t>−10–15 pp</a:t>
            </a:r>
          </a:p>
        </p:txBody>
      </p:sp>
      <p:sp>
        <p:nvSpPr>
          <p:cNvPr id="22" name="Rounded Rectangle 21"/>
          <p:cNvSpPr/>
          <p:nvPr/>
        </p:nvSpPr>
        <p:spPr>
          <a:xfrm>
            <a:off x="6309360" y="4206240"/>
            <a:ext cx="5330952" cy="521208"/>
          </a:xfrm>
          <a:prstGeom prst="roundRect">
            <a:avLst/>
          </a:prstGeom>
          <a:solidFill>
            <a:srgbClr val="152A40"/>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297680"/>
            <a:ext cx="3685032" cy="320040"/>
          </a:xfrm>
          <a:prstGeom prst="rect">
            <a:avLst/>
          </a:prstGeom>
          <a:noFill/>
        </p:spPr>
        <p:txBody>
          <a:bodyPr wrap="square" anchor="t"/>
          <a:lstStyle/>
          <a:p>
            <a:pPr algn="l"/>
            <a:r>
              <a:rPr sz="2400" b="0" i="0">
                <a:solidFill>
                  <a:srgbClr val="FFFFFF"/>
                </a:solidFill>
                <a:latin typeface="Calibri"/>
              </a:rPr>
              <a:t>Target WER</a:t>
            </a:r>
          </a:p>
        </p:txBody>
      </p:sp>
      <p:sp>
        <p:nvSpPr>
          <p:cNvPr id="24" name="TextBox 23"/>
          <p:cNvSpPr txBox="1"/>
          <p:nvPr/>
        </p:nvSpPr>
        <p:spPr>
          <a:xfrm>
            <a:off x="10268712" y="4297680"/>
            <a:ext cx="1188720" cy="914400"/>
          </a:xfrm>
          <a:prstGeom prst="rect">
            <a:avLst/>
          </a:prstGeom>
          <a:noFill/>
        </p:spPr>
        <p:txBody>
          <a:bodyPr wrap="square" anchor="t"/>
          <a:lstStyle/>
          <a:p>
            <a:pPr algn="r"/>
            <a:r>
              <a:rPr sz="2400" b="1" i="0">
                <a:solidFill>
                  <a:srgbClr val="4CAF50"/>
                </a:solidFill>
                <a:latin typeface="Calibri"/>
              </a:rPr>
              <a:t>35–40%</a:t>
            </a:r>
          </a:p>
        </p:txBody>
      </p:sp>
      <p:sp>
        <p:nvSpPr>
          <p:cNvPr id="25" name="Rounded Rectangle 24"/>
          <p:cNvSpPr/>
          <p:nvPr/>
        </p:nvSpPr>
        <p:spPr>
          <a:xfrm>
            <a:off x="6309360" y="4937760"/>
            <a:ext cx="5330952" cy="914400"/>
          </a:xfrm>
          <a:prstGeom prst="roundRect">
            <a:avLst/>
          </a:prstGeom>
          <a:solidFill>
            <a:srgbClr val="152A40"/>
          </a:solidFill>
          <a:ln w="254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5029200"/>
            <a:ext cx="4965192" cy="1280160"/>
          </a:xfrm>
          <a:prstGeom prst="rect">
            <a:avLst/>
          </a:prstGeom>
          <a:noFill/>
        </p:spPr>
        <p:txBody>
          <a:bodyPr wrap="square" anchor="t"/>
          <a:lstStyle/>
          <a:p>
            <a:pPr algn="l"/>
            <a:r>
              <a:rPr sz="2400" b="0" i="0">
                <a:solidFill>
                  <a:srgbClr val="FFFFFF"/>
                </a:solidFill>
                <a:latin typeface="Calibri"/>
              </a:rPr>
              <a:t>Strongest LLM lift: entity disambiguation (79 segs) and accumulated errors (52 segs)</a:t>
            </a:r>
          </a:p>
        </p:txBody>
      </p:sp>
      <p:pic>
        <p:nvPicPr>
          <p:cNvPr id="27" name="Picture 2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8" name="TextBox 2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83</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12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24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36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12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24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12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24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12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24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12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240"/>
                                  </p:stCondLst>
                                  <p:childTnLst>
                                    <p:set>
                                      <p:cBhvr>
                                        <p:cTn id="54" dur="1" fill="hold">
                                          <p:stCondLst>
                                            <p:cond delay="0"/>
                                          </p:stCondLst>
                                        </p:cTn>
                                        <p:tgtEl>
                                          <p:spTgt spid="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12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Arabic Pipeline: Replication Roadmap</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914400"/>
          </a:xfrm>
          <a:prstGeom prst="rect">
            <a:avLst/>
          </a:prstGeom>
          <a:noFill/>
        </p:spPr>
        <p:txBody>
          <a:bodyPr wrap="square" anchor="t"/>
          <a:lstStyle/>
          <a:p>
            <a:pPr algn="l"/>
            <a:r>
              <a:rPr sz="2400" b="1" i="0">
                <a:solidFill>
                  <a:srgbClr val="00B4D8"/>
                </a:solidFill>
                <a:latin typeface="Calibri"/>
              </a:rPr>
              <a:t>What’s Needed &amp; How We’ll Do It</a:t>
            </a:r>
          </a:p>
        </p:txBody>
      </p:sp>
      <p:sp>
        <p:nvSpPr>
          <p:cNvPr id="5" name="TextBox 4"/>
          <p:cNvSpPr txBox="1"/>
          <p:nvPr/>
        </p:nvSpPr>
        <p:spPr>
          <a:xfrm>
            <a:off x="548640" y="1737360"/>
            <a:ext cx="5029200" cy="91440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00B4D8"/>
                </a:solidFill>
                <a:latin typeface="Calibri"/>
              </a:rPr>
              <a:t>AV-HuBERT (BOTTLENECK)</a:t>
            </a:r>
          </a:p>
          <a:p>
            <a:pPr algn="l">
              <a:spcAft>
                <a:spcPts val="600"/>
              </a:spcAft>
            </a:pPr>
            <a:r>
              <a:rPr sz="2000" b="1">
                <a:solidFill>
                  <a:srgbClr val="00B4D8"/>
                </a:solidFill>
                <a:latin typeface="Calibri"/>
              </a:rPr>
              <a:t>• </a:t>
            </a:r>
            <a:r>
              <a:rPr sz="2000" b="0">
                <a:solidFill>
                  <a:srgbClr val="FFFFFF"/>
                </a:solidFill>
                <a:latin typeface="Calibri"/>
              </a:rPr>
              <a:t>Arabic phonemes — fine-tune on AWS GPU</a:t>
            </a:r>
          </a:p>
        </p:txBody>
      </p:sp>
      <p:sp>
        <p:nvSpPr>
          <p:cNvPr id="6" name="TextBox 5"/>
          <p:cNvSpPr txBox="1"/>
          <p:nvPr/>
        </p:nvSpPr>
        <p:spPr>
          <a:xfrm>
            <a:off x="548640" y="2697480"/>
            <a:ext cx="5029200" cy="91440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00B4D8"/>
                </a:solidFill>
                <a:latin typeface="Calibri"/>
              </a:rPr>
              <a:t>Arabic LLM backend</a:t>
            </a:r>
          </a:p>
          <a:p>
            <a:pPr algn="l">
              <a:spcAft>
                <a:spcPts val="600"/>
              </a:spcAft>
            </a:pPr>
            <a:r>
              <a:rPr sz="2000" b="1">
                <a:solidFill>
                  <a:srgbClr val="00B4D8"/>
                </a:solidFill>
                <a:latin typeface="Calibri"/>
              </a:rPr>
              <a:t>• </a:t>
            </a:r>
            <a:r>
              <a:rPr sz="2000" b="0">
                <a:solidFill>
                  <a:srgbClr val="FFFFFF"/>
                </a:solidFill>
                <a:latin typeface="Calibri"/>
              </a:rPr>
              <a:t>Swap Llama-2 for Jais / AceGPT / Llama 3</a:t>
            </a:r>
          </a:p>
        </p:txBody>
      </p:sp>
      <p:sp>
        <p:nvSpPr>
          <p:cNvPr id="7" name="TextBox 6"/>
          <p:cNvSpPr txBox="1"/>
          <p:nvPr/>
        </p:nvSpPr>
        <p:spPr>
          <a:xfrm>
            <a:off x="548640" y="3657600"/>
            <a:ext cx="5029200" cy="91440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E06C75"/>
                </a:solidFill>
                <a:latin typeface="Calibri"/>
              </a:rPr>
              <a:t>Eval dataset (UNKNOWN)</a:t>
            </a:r>
          </a:p>
          <a:p>
            <a:pPr algn="l">
              <a:spcAft>
                <a:spcPts val="600"/>
              </a:spcAft>
            </a:pPr>
            <a:r>
              <a:rPr sz="2000" b="1">
                <a:solidFill>
                  <a:srgbClr val="00B4D8"/>
                </a:solidFill>
                <a:latin typeface="Calibri"/>
              </a:rPr>
              <a:t>• </a:t>
            </a:r>
            <a:r>
              <a:rPr sz="2000" b="0">
                <a:solidFill>
                  <a:srgbClr val="FFFFFF"/>
                </a:solidFill>
                <a:latin typeface="Calibri"/>
              </a:rPr>
              <a:t>No benchmark — need native speakers</a:t>
            </a:r>
          </a:p>
        </p:txBody>
      </p:sp>
      <p:sp>
        <p:nvSpPr>
          <p:cNvPr id="8" name="TextBox 7"/>
          <p:cNvSpPr txBox="1"/>
          <p:nvPr/>
        </p:nvSpPr>
        <p:spPr>
          <a:xfrm>
            <a:off x="548640" y="4617720"/>
            <a:ext cx="5029200" cy="914400"/>
          </a:xfrm>
          <a:prstGeom prst="rect">
            <a:avLst/>
          </a:prstGeom>
          <a:noFill/>
        </p:spPr>
        <p:txBody>
          <a:bodyPr wrap="square">
            <a:spAutoFit/>
          </a:bodyPr>
          <a:lstStyle/>
          <a:p>
            <a:pPr algn="l">
              <a:spcAft>
                <a:spcPts val="600"/>
              </a:spcAft>
            </a:pPr>
            <a:r>
              <a:rPr sz="2000" b="1">
                <a:solidFill>
                  <a:srgbClr val="00B4D8"/>
                </a:solidFill>
                <a:latin typeface="Calibri"/>
              </a:rPr>
              <a:t>• </a:t>
            </a:r>
            <a:r>
              <a:rPr sz="2000" b="1">
                <a:solidFill>
                  <a:srgbClr val="E06C75"/>
                </a:solidFill>
                <a:latin typeface="Calibri"/>
              </a:rPr>
              <a:t>RTL text &amp; normalization</a:t>
            </a:r>
          </a:p>
          <a:p>
            <a:pPr algn="l">
              <a:spcAft>
                <a:spcPts val="600"/>
              </a:spcAft>
            </a:pPr>
            <a:r>
              <a:rPr sz="2000" b="1">
                <a:solidFill>
                  <a:srgbClr val="00B4D8"/>
                </a:solidFill>
                <a:latin typeface="Calibri"/>
              </a:rPr>
              <a:t>• </a:t>
            </a:r>
            <a:r>
              <a:rPr sz="2000" b="0">
                <a:solidFill>
                  <a:srgbClr val="FFFFFF"/>
                </a:solidFill>
                <a:latin typeface="Calibri"/>
              </a:rPr>
              <a:t>spaCy Arabic, diacritics, NER unknown</a:t>
            </a:r>
          </a:p>
        </p:txBody>
      </p:sp>
      <p:sp>
        <p:nvSpPr>
          <p:cNvPr id="9" name="TextBox 8"/>
          <p:cNvSpPr txBox="1"/>
          <p:nvPr/>
        </p:nvSpPr>
        <p:spPr>
          <a:xfrm>
            <a:off x="6611111" y="1325880"/>
            <a:ext cx="5029200" cy="320040"/>
          </a:xfrm>
          <a:prstGeom prst="rect">
            <a:avLst/>
          </a:prstGeom>
          <a:noFill/>
        </p:spPr>
        <p:txBody>
          <a:bodyPr wrap="square" anchor="t"/>
          <a:lstStyle/>
          <a:p>
            <a:pPr algn="l"/>
            <a:r>
              <a:rPr sz="2400" b="1" i="0">
                <a:solidFill>
                  <a:srgbClr val="4CAF50"/>
                </a:solidFill>
                <a:latin typeface="Calibri"/>
              </a:rPr>
              <a:t>Practical Timeline</a:t>
            </a:r>
          </a:p>
        </p:txBody>
      </p:sp>
      <p:graphicFrame>
        <p:nvGraphicFramePr>
          <p:cNvPr id="10" name="Table 9"/>
          <p:cNvGraphicFramePr>
            <a:graphicFrameLocks noGrp="1"/>
          </p:cNvGraphicFramePr>
          <p:nvPr/>
        </p:nvGraphicFramePr>
        <p:xfrm>
          <a:off x="6611111" y="1737360"/>
          <a:ext cx="5029200" cy="2286000"/>
        </p:xfrm>
        <a:graphic>
          <a:graphicData uri="http://schemas.openxmlformats.org/drawingml/2006/table">
            <a:tbl>
              <a:tblPr firstRow="0" bandRow="0" lastRow="0" bandCol="0">
                <a:tableStyleId>{5C22544A-7EE6-4342-B048-85BDC9FD1C3A}</a:tableStyleId>
              </a:tblPr>
              <a:tblGrid>
                <a:gridCol w="1554480"/>
                <a:gridCol w="1005840"/>
                <a:gridCol w="2468880"/>
              </a:tblGrid>
              <a:tr h="457200">
                <a:tc>
                  <a:txBody>
                    <a:bodyPr/>
                    <a:lstStyle/>
                    <a:p>
                      <a:pPr algn="ctr"/>
                      <a:r>
                        <a:rPr sz="1800" b="1" i="0">
                          <a:solidFill>
                            <a:srgbClr val="FFFFFF"/>
                          </a:solidFill>
                          <a:latin typeface="Calibri"/>
                        </a:rPr>
                        <a:t>Step</a:t>
                      </a:r>
                    </a:p>
                  </a:txBody>
                  <a:tcPr>
                    <a:solidFill>
                      <a:srgbClr val="00b4d8"/>
                    </a:solidFill>
                  </a:tcPr>
                </a:tc>
                <a:tc>
                  <a:txBody>
                    <a:bodyPr/>
                    <a:lstStyle/>
                    <a:p>
                      <a:pPr algn="ctr"/>
                      <a:r>
                        <a:rPr sz="1800" b="1" i="0">
                          <a:solidFill>
                            <a:srgbClr val="FFFFFF"/>
                          </a:solidFill>
                          <a:latin typeface="Calibri"/>
                        </a:rPr>
                        <a:t>Effort</a:t>
                      </a:r>
                    </a:p>
                  </a:txBody>
                  <a:tcPr>
                    <a:solidFill>
                      <a:srgbClr val="00b4d8"/>
                    </a:solidFill>
                  </a:tcPr>
                </a:tc>
                <a:tc>
                  <a:txBody>
                    <a:bodyPr/>
                    <a:lstStyle/>
                    <a:p>
                      <a:pPr algn="ctr"/>
                      <a:r>
                        <a:rPr sz="1800" b="1" i="0">
                          <a:solidFill>
                            <a:srgbClr val="FFFFFF"/>
                          </a:solidFill>
                          <a:latin typeface="Calibri"/>
                        </a:rPr>
                        <a:t>Risks / Unknowns</a:t>
                      </a:r>
                    </a:p>
                  </a:txBody>
                  <a:tcPr>
                    <a:solidFill>
                      <a:srgbClr val="00b4d8"/>
                    </a:solidFill>
                  </a:tcPr>
                </a:tc>
              </a:tr>
              <a:tr h="457200">
                <a:tc>
                  <a:txBody>
                    <a:bodyPr/>
                    <a:lstStyle/>
                    <a:p>
                      <a:pPr algn="l"/>
                      <a:r>
                        <a:rPr sz="1800" b="0" i="0">
                          <a:solidFill>
                            <a:srgbClr val="FFFFFF"/>
                          </a:solidFill>
                          <a:latin typeface="Calibri"/>
                        </a:rPr>
                        <a:t>AV-HuBERT FT</a:t>
                      </a:r>
                    </a:p>
                  </a:txBody>
                  <a:tcPr>
                    <a:solidFill>
                      <a:srgbClr val="0d1b2a"/>
                    </a:solidFill>
                  </a:tcPr>
                </a:tc>
                <a:tc>
                  <a:txBody>
                    <a:bodyPr/>
                    <a:lstStyle/>
                    <a:p>
                      <a:pPr algn="l"/>
                      <a:r>
                        <a:rPr sz="1800" b="0" i="0">
                          <a:solidFill>
                            <a:srgbClr val="FFFFFF"/>
                          </a:solidFill>
                          <a:latin typeface="Calibri"/>
                        </a:rPr>
                        <a:t>5–10 wk</a:t>
                      </a:r>
                    </a:p>
                  </a:txBody>
                  <a:tcPr>
                    <a:solidFill>
                      <a:srgbClr val="0d1b2a"/>
                    </a:solidFill>
                  </a:tcPr>
                </a:tc>
                <a:tc>
                  <a:txBody>
                    <a:bodyPr/>
                    <a:lstStyle/>
                    <a:p>
                      <a:pPr algn="l"/>
                      <a:r>
                        <a:rPr sz="1800" b="0" i="0">
                          <a:solidFill>
                            <a:srgbClr val="FFFFFF"/>
                          </a:solidFill>
                          <a:latin typeface="Calibri"/>
                        </a:rPr>
                        <a:t>Visual data quality unknown</a:t>
                      </a:r>
                    </a:p>
                  </a:txBody>
                  <a:tcPr>
                    <a:solidFill>
                      <a:srgbClr val="0d1b2a"/>
                    </a:solidFill>
                  </a:tcPr>
                </a:tc>
              </a:tr>
              <a:tr h="457200">
                <a:tc>
                  <a:txBody>
                    <a:bodyPr/>
                    <a:lstStyle/>
                    <a:p>
                      <a:pPr algn="l"/>
                      <a:r>
                        <a:rPr sz="1800" b="0" i="0">
                          <a:solidFill>
                            <a:srgbClr val="FFFFFF"/>
                          </a:solidFill>
                          <a:latin typeface="Calibri"/>
                        </a:rPr>
                        <a:t>Arabic LLM swap</a:t>
                      </a:r>
                    </a:p>
                  </a:txBody>
                  <a:tcPr>
                    <a:solidFill>
                      <a:srgbClr val="152a40"/>
                    </a:solidFill>
                  </a:tcPr>
                </a:tc>
                <a:tc>
                  <a:txBody>
                    <a:bodyPr/>
                    <a:lstStyle/>
                    <a:p>
                      <a:pPr algn="l"/>
                      <a:r>
                        <a:rPr sz="1800" b="0" i="0">
                          <a:solidFill>
                            <a:srgbClr val="FFFFFF"/>
                          </a:solidFill>
                          <a:latin typeface="Calibri"/>
                        </a:rPr>
                        <a:t>1–2 wk</a:t>
                      </a:r>
                    </a:p>
                  </a:txBody>
                  <a:tcPr>
                    <a:solidFill>
                      <a:srgbClr val="152a40"/>
                    </a:solidFill>
                  </a:tcPr>
                </a:tc>
                <a:tc>
                  <a:txBody>
                    <a:bodyPr/>
                    <a:lstStyle/>
                    <a:p>
                      <a:pPr algn="l"/>
                      <a:r>
                        <a:rPr sz="1800" b="0" i="0">
                          <a:solidFill>
                            <a:srgbClr val="FFFFFF"/>
                          </a:solidFill>
                          <a:latin typeface="Calibri"/>
                        </a:rPr>
                        <a:t>Tokenizer quality varies</a:t>
                      </a:r>
                    </a:p>
                  </a:txBody>
                  <a:tcPr>
                    <a:solidFill>
                      <a:srgbClr val="152a40"/>
                    </a:solidFill>
                  </a:tcPr>
                </a:tc>
              </a:tr>
              <a:tr h="457200">
                <a:tc>
                  <a:txBody>
                    <a:bodyPr/>
                    <a:lstStyle/>
                    <a:p>
                      <a:pPr algn="l"/>
                      <a:r>
                        <a:rPr sz="1800" b="0" i="0">
                          <a:solidFill>
                            <a:srgbClr val="FFFFFF"/>
                          </a:solidFill>
                          <a:latin typeface="Calibri"/>
                        </a:rPr>
                        <a:t>Eval dataset</a:t>
                      </a:r>
                    </a:p>
                  </a:txBody>
                  <a:tcPr>
                    <a:solidFill>
                      <a:srgbClr val="0d1b2a"/>
                    </a:solidFill>
                  </a:tcPr>
                </a:tc>
                <a:tc>
                  <a:txBody>
                    <a:bodyPr/>
                    <a:lstStyle/>
                    <a:p>
                      <a:pPr algn="l"/>
                      <a:r>
                        <a:rPr sz="1800" b="0" i="0">
                          <a:solidFill>
                            <a:srgbClr val="FFFFFF"/>
                          </a:solidFill>
                          <a:latin typeface="Calibri"/>
                        </a:rPr>
                        <a:t>4–8 wk</a:t>
                      </a:r>
                    </a:p>
                  </a:txBody>
                  <a:tcPr>
                    <a:solidFill>
                      <a:srgbClr val="0d1b2a"/>
                    </a:solidFill>
                  </a:tcPr>
                </a:tc>
                <a:tc>
                  <a:txBody>
                    <a:bodyPr/>
                    <a:lstStyle/>
                    <a:p>
                      <a:pPr algn="l"/>
                      <a:r>
                        <a:rPr sz="1800" b="0" i="0">
                          <a:solidFill>
                            <a:srgbClr val="FFFFFF"/>
                          </a:solidFill>
                          <a:latin typeface="Calibri"/>
                        </a:rPr>
                        <a:t>No benchmark; native speakers</a:t>
                      </a:r>
                    </a:p>
                  </a:txBody>
                  <a:tcPr>
                    <a:solidFill>
                      <a:srgbClr val="0d1b2a"/>
                    </a:solidFill>
                  </a:tcPr>
                </a:tc>
              </a:tr>
              <a:tr h="457200">
                <a:tc>
                  <a:txBody>
                    <a:bodyPr/>
                    <a:lstStyle/>
                    <a:p>
                      <a:pPr algn="l"/>
                      <a:r>
                        <a:rPr sz="1800" b="0" i="0">
                          <a:solidFill>
                            <a:srgbClr val="FFFFFF"/>
                          </a:solidFill>
                          <a:latin typeface="Calibri"/>
                        </a:rPr>
                        <a:t>RTL normalization</a:t>
                      </a:r>
                    </a:p>
                  </a:txBody>
                  <a:tcPr>
                    <a:solidFill>
                      <a:srgbClr val="152a40"/>
                    </a:solidFill>
                  </a:tcPr>
                </a:tc>
                <a:tc>
                  <a:txBody>
                    <a:bodyPr/>
                    <a:lstStyle/>
                    <a:p>
                      <a:pPr algn="l"/>
                      <a:r>
                        <a:rPr sz="1800" b="0" i="0">
                          <a:solidFill>
                            <a:srgbClr val="FFFFFF"/>
                          </a:solidFill>
                          <a:latin typeface="Calibri"/>
                        </a:rPr>
                        <a:t>3–6 wk</a:t>
                      </a:r>
                    </a:p>
                  </a:txBody>
                  <a:tcPr>
                    <a:solidFill>
                      <a:srgbClr val="152a40"/>
                    </a:solidFill>
                  </a:tcPr>
                </a:tc>
                <a:tc>
                  <a:txBody>
                    <a:bodyPr/>
                    <a:lstStyle/>
                    <a:p>
                      <a:pPr algn="l"/>
                      <a:r>
                        <a:rPr sz="1800" b="0" i="0">
                          <a:solidFill>
                            <a:srgbClr val="FFFFFF"/>
                          </a:solidFill>
                          <a:latin typeface="Calibri"/>
                        </a:rPr>
                        <a:t>RTL + E2E validation</a:t>
                      </a:r>
                    </a:p>
                  </a:txBody>
                  <a:tcPr>
                    <a:solidFill>
                      <a:srgbClr val="152a40"/>
                    </a:solidFill>
                  </a:tcPr>
                </a:tc>
              </a:tr>
            </a:tbl>
          </a:graphicData>
        </a:graphic>
      </p:graphicFrame>
      <p:sp>
        <p:nvSpPr>
          <p:cNvPr id="11" name="Rounded Rectangle 10"/>
          <p:cNvSpPr/>
          <p:nvPr/>
        </p:nvSpPr>
        <p:spPr>
          <a:xfrm>
            <a:off x="548640" y="5669280"/>
            <a:ext cx="11091672" cy="41148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696712"/>
            <a:ext cx="10543032" cy="365760"/>
          </a:xfrm>
          <a:prstGeom prst="rect">
            <a:avLst/>
          </a:prstGeom>
          <a:noFill/>
        </p:spPr>
        <p:txBody>
          <a:bodyPr wrap="square" anchor="t"/>
          <a:lstStyle/>
          <a:p>
            <a:pPr algn="ctr"/>
            <a:r>
              <a:rPr sz="2200" b="1" i="0">
                <a:solidFill>
                  <a:srgbClr val="E06C75"/>
                </a:solidFill>
                <a:latin typeface="Calibri"/>
              </a:rPr>
              <a:t>Realistic estimate: 2–3 months (encoder pre-training is the bottleneck)</a:t>
            </a:r>
          </a:p>
        </p:txBody>
      </p:sp>
      <p:sp>
        <p:nvSpPr>
          <p:cNvPr id="13" name="TextBox 12"/>
          <p:cNvSpPr txBox="1"/>
          <p:nvPr/>
        </p:nvSpPr>
        <p:spPr>
          <a:xfrm>
            <a:off x="548640" y="6126480"/>
            <a:ext cx="11091672" cy="320040"/>
          </a:xfrm>
          <a:prstGeom prst="rect">
            <a:avLst/>
          </a:prstGeom>
          <a:noFill/>
        </p:spPr>
        <p:txBody>
          <a:bodyPr wrap="square" anchor="t"/>
          <a:lstStyle/>
          <a:p>
            <a:pPr algn="ctr"/>
            <a:r>
              <a:rPr sz="1400" b="0" i="1">
                <a:solidFill>
                  <a:srgbClr val="AAAAAA"/>
                </a:solidFill>
                <a:latin typeface="Calibri"/>
              </a:rPr>
              <a:t>Pipeline code is language-agnostic; bottleneck: encoder pre-training and eval data.</a:t>
            </a:r>
          </a:p>
        </p:txBody>
      </p:sp>
      <p:pic>
        <p:nvPicPr>
          <p:cNvPr id="14" name="Picture 13"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5" name="TextBox 14"/>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84</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12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24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AV-HuBERT: Why It’s Not Language-Locked</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11091672" cy="685800"/>
          </a:xfrm>
          <a:prstGeom prst="rect">
            <a:avLst/>
          </a:prstGeom>
          <a:noFill/>
        </p:spPr>
        <p:txBody>
          <a:bodyPr wrap="square" anchor="t"/>
          <a:lstStyle/>
          <a:p>
            <a:pPr algn="l"/>
            <a:r>
              <a:rPr sz="2400" b="0" i="0">
                <a:solidFill>
                  <a:srgbClr val="FFFFFF"/>
                </a:solidFill>
                <a:latin typeface="Calibri"/>
              </a:rPr>
              <a:t>▸  AV-HuBERT is self-supervised on visual features — not language tokens</a:t>
            </a:r>
          </a:p>
        </p:txBody>
      </p:sp>
      <p:sp>
        <p:nvSpPr>
          <p:cNvPr id="5" name="TextBox 4"/>
          <p:cNvSpPr txBox="1"/>
          <p:nvPr/>
        </p:nvSpPr>
        <p:spPr>
          <a:xfrm>
            <a:off x="548640" y="2057400"/>
            <a:ext cx="11091672" cy="685800"/>
          </a:xfrm>
          <a:prstGeom prst="rect">
            <a:avLst/>
          </a:prstGeom>
          <a:noFill/>
        </p:spPr>
        <p:txBody>
          <a:bodyPr wrap="square" anchor="t"/>
          <a:lstStyle/>
          <a:p>
            <a:pPr algn="l"/>
            <a:r>
              <a:rPr sz="2400" b="0" i="0">
                <a:solidFill>
                  <a:srgbClr val="FFFFFF"/>
                </a:solidFill>
                <a:latin typeface="Calibri"/>
              </a:rPr>
              <a:t>▸  Training loop: MFCC → K-means → pseudo-labels → masked prediction → iterate</a:t>
            </a:r>
          </a:p>
        </p:txBody>
      </p:sp>
      <p:sp>
        <p:nvSpPr>
          <p:cNvPr id="6" name="TextBox 5"/>
          <p:cNvSpPr txBox="1"/>
          <p:nvPr/>
        </p:nvSpPr>
        <p:spPr>
          <a:xfrm>
            <a:off x="548640" y="2743200"/>
            <a:ext cx="11091672" cy="685800"/>
          </a:xfrm>
          <a:prstGeom prst="rect">
            <a:avLst/>
          </a:prstGeom>
          <a:noFill/>
        </p:spPr>
        <p:txBody>
          <a:bodyPr wrap="square" anchor="t"/>
          <a:lstStyle/>
          <a:p>
            <a:pPr algn="l"/>
            <a:r>
              <a:rPr sz="2400" b="0" i="0">
                <a:solidFill>
                  <a:srgbClr val="FFFFFF"/>
                </a:solidFill>
                <a:latin typeface="Calibri"/>
              </a:rPr>
              <a:t>▸  Low-level features are mostly universal: lip shape, mouth opening, jaw movement</a:t>
            </a:r>
          </a:p>
        </p:txBody>
      </p:sp>
      <p:sp>
        <p:nvSpPr>
          <p:cNvPr id="7" name="TextBox 6"/>
          <p:cNvSpPr txBox="1"/>
          <p:nvPr/>
        </p:nvSpPr>
        <p:spPr>
          <a:xfrm>
            <a:off x="548640" y="3429000"/>
            <a:ext cx="11091672" cy="685800"/>
          </a:xfrm>
          <a:prstGeom prst="rect">
            <a:avLst/>
          </a:prstGeom>
          <a:noFill/>
        </p:spPr>
        <p:txBody>
          <a:bodyPr wrap="square" anchor="t"/>
          <a:lstStyle/>
          <a:p>
            <a:pPr algn="l"/>
            <a:r>
              <a:rPr sz="2400" b="0" i="0">
                <a:solidFill>
                  <a:srgbClr val="FFFFFF"/>
                </a:solidFill>
                <a:latin typeface="Calibri"/>
              </a:rPr>
              <a:t>▸  Language specificity lives in downstream components, not the visual encoder</a:t>
            </a:r>
          </a:p>
        </p:txBody>
      </p:sp>
      <p:pic>
        <p:nvPicPr>
          <p:cNvPr id="8" name="Picture 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85</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Arabic Adaptation: What Changes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11091672" cy="868680"/>
          </a:xfrm>
          <a:prstGeom prst="rect">
            <a:avLst/>
          </a:prstGeom>
          <a:noFill/>
        </p:spPr>
        <p:txBody>
          <a:bodyPr wrap="square" anchor="t"/>
          <a:lstStyle/>
          <a:p>
            <a:pPr algn="l"/>
            <a:r>
              <a:rPr sz="2400" b="0" i="0">
                <a:solidFill>
                  <a:srgbClr val="FFFFFF"/>
                </a:solidFill>
                <a:latin typeface="Calibri"/>
              </a:rPr>
              <a:t>▸  K-means: retrain on Arabic audio features (pipeline already supports this)</a:t>
            </a:r>
          </a:p>
        </p:txBody>
      </p:sp>
      <p:sp>
        <p:nvSpPr>
          <p:cNvPr id="5" name="TextBox 4"/>
          <p:cNvSpPr txBox="1"/>
          <p:nvPr/>
        </p:nvSpPr>
        <p:spPr>
          <a:xfrm>
            <a:off x="548640" y="2286000"/>
            <a:ext cx="11091672" cy="868680"/>
          </a:xfrm>
          <a:prstGeom prst="rect">
            <a:avLst/>
          </a:prstGeom>
          <a:noFill/>
        </p:spPr>
        <p:txBody>
          <a:bodyPr wrap="square" anchor="t"/>
          <a:lstStyle/>
          <a:p>
            <a:pPr algn="l"/>
            <a:r>
              <a:rPr sz="2400" b="0" i="0">
                <a:solidFill>
                  <a:srgbClr val="FFFFFF"/>
                </a:solidFill>
                <a:latin typeface="Calibri"/>
              </a:rPr>
              <a:t>▸  LLM backbone: swap to Arabic-capable model (Jais, AceGPT, Llama 3)</a:t>
            </a:r>
          </a:p>
        </p:txBody>
      </p:sp>
      <p:sp>
        <p:nvSpPr>
          <p:cNvPr id="6" name="TextBox 5"/>
          <p:cNvSpPr txBox="1"/>
          <p:nvPr/>
        </p:nvSpPr>
        <p:spPr>
          <a:xfrm>
            <a:off x="548640" y="3154680"/>
            <a:ext cx="11091672" cy="868680"/>
          </a:xfrm>
          <a:prstGeom prst="rect">
            <a:avLst/>
          </a:prstGeom>
          <a:noFill/>
        </p:spPr>
        <p:txBody>
          <a:bodyPr wrap="square" anchor="t"/>
          <a:lstStyle/>
          <a:p>
            <a:pPr algn="l"/>
            <a:r>
              <a:rPr sz="2400" b="0" i="0">
                <a:solidFill>
                  <a:srgbClr val="FFFFFF"/>
                </a:solidFill>
                <a:latin typeface="Calibri"/>
              </a:rPr>
              <a:t>▸  Q-Former + LoRA adapters — retrain on Arabic video-transcript pairs</a:t>
            </a:r>
          </a:p>
        </p:txBody>
      </p:sp>
      <p:sp>
        <p:nvSpPr>
          <p:cNvPr id="7" name="TextBox 6"/>
          <p:cNvSpPr txBox="1"/>
          <p:nvPr/>
        </p:nvSpPr>
        <p:spPr>
          <a:xfrm>
            <a:off x="548640" y="4023360"/>
            <a:ext cx="11091672" cy="868680"/>
          </a:xfrm>
          <a:prstGeom prst="rect">
            <a:avLst/>
          </a:prstGeom>
          <a:noFill/>
        </p:spPr>
        <p:txBody>
          <a:bodyPr wrap="square" anchor="t"/>
          <a:lstStyle/>
          <a:p>
            <a:pPr algn="l"/>
            <a:r>
              <a:rPr sz="2400" b="0" i="0">
                <a:solidFill>
                  <a:srgbClr val="FFFFFF"/>
                </a:solidFill>
                <a:latin typeface="Calibri"/>
              </a:rPr>
              <a:t>▸  Biggest bottleneck: training data (no Arabic LRS3 equivalent at scale)</a:t>
            </a:r>
          </a:p>
        </p:txBody>
      </p:sp>
      <p:pic>
        <p:nvPicPr>
          <p:cNvPr id="8" name="Picture 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86</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Key Takeaways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325880"/>
            <a:ext cx="11091672" cy="804672"/>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476756"/>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76756"/>
            <a:ext cx="502920" cy="502920"/>
          </a:xfrm>
          <a:prstGeom prst="rect">
            <a:avLst/>
          </a:prstGeom>
          <a:noFill/>
        </p:spPr>
        <p:txBody>
          <a:bodyPr wrap="square" anchor="t"/>
          <a:lstStyle/>
          <a:p>
            <a:pPr algn="ctr"/>
            <a:r>
              <a:rPr sz="2400" b="1" i="0">
                <a:solidFill>
                  <a:srgbClr val="FFFFFF"/>
                </a:solidFill>
                <a:latin typeface="Calibri"/>
              </a:rPr>
              <a:t>1</a:t>
            </a:r>
          </a:p>
        </p:txBody>
      </p:sp>
      <p:sp>
        <p:nvSpPr>
          <p:cNvPr id="7" name="TextBox 6"/>
          <p:cNvSpPr txBox="1"/>
          <p:nvPr/>
        </p:nvSpPr>
        <p:spPr>
          <a:xfrm>
            <a:off x="1463040" y="1399032"/>
            <a:ext cx="9994392" cy="658368"/>
          </a:xfrm>
          <a:prstGeom prst="rect">
            <a:avLst/>
          </a:prstGeom>
          <a:noFill/>
        </p:spPr>
        <p:txBody>
          <a:bodyPr wrap="square" anchor="t"/>
          <a:lstStyle/>
          <a:p>
            <a:pPr algn="l"/>
            <a:r>
              <a:rPr sz="2000" b="0" i="0">
                <a:solidFill>
                  <a:srgbClr val="FFFFFF"/>
                </a:solidFill>
                <a:latin typeface="Calibri"/>
              </a:rPr>
              <a:t>Novel IS metric — first AVSR intelligibility decomposition. 1,497 segs: 62% useful (NIV Y+P, MBR).</a:t>
            </a:r>
          </a:p>
        </p:txBody>
      </p:sp>
      <p:sp>
        <p:nvSpPr>
          <p:cNvPr id="8" name="Rounded Rectangle 7"/>
          <p:cNvSpPr/>
          <p:nvPr/>
        </p:nvSpPr>
        <p:spPr>
          <a:xfrm>
            <a:off x="548640" y="2167128"/>
            <a:ext cx="11091672" cy="804672"/>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2318004"/>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18004"/>
            <a:ext cx="502920" cy="502920"/>
          </a:xfrm>
          <a:prstGeom prst="rect">
            <a:avLst/>
          </a:prstGeom>
          <a:noFill/>
        </p:spPr>
        <p:txBody>
          <a:bodyPr wrap="square" anchor="t"/>
          <a:lstStyle/>
          <a:p>
            <a:pPr algn="ctr"/>
            <a:r>
              <a:rPr sz="2400" b="1" i="0">
                <a:solidFill>
                  <a:srgbClr val="FFFFFF"/>
                </a:solidFill>
                <a:latin typeface="Calibri"/>
              </a:rPr>
              <a:t>2</a:t>
            </a:r>
          </a:p>
        </p:txBody>
      </p:sp>
      <p:sp>
        <p:nvSpPr>
          <p:cNvPr id="11" name="TextBox 10"/>
          <p:cNvSpPr txBox="1"/>
          <p:nvPr/>
        </p:nvSpPr>
        <p:spPr>
          <a:xfrm>
            <a:off x="1463040" y="2240280"/>
            <a:ext cx="9994392" cy="658368"/>
          </a:xfrm>
          <a:prstGeom prst="rect">
            <a:avLst/>
          </a:prstGeom>
          <a:noFill/>
        </p:spPr>
        <p:txBody>
          <a:bodyPr wrap="square" anchor="t"/>
          <a:lstStyle/>
          <a:p>
            <a:pPr algn="l"/>
            <a:r>
              <a:rPr sz="2000" b="0" i="0">
                <a:solidFill>
                  <a:srgbClr val="FFFFFF"/>
                </a:solidFill>
                <a:latin typeface="Calibri"/>
              </a:rPr>
              <a:t>Production system shipped: standalone container, UI, 37 bugs fixed, 8-stage pipeline, 37 tests, 8 reports.</a:t>
            </a:r>
          </a:p>
        </p:txBody>
      </p:sp>
      <p:sp>
        <p:nvSpPr>
          <p:cNvPr id="12" name="Rounded Rectangle 11"/>
          <p:cNvSpPr/>
          <p:nvPr/>
        </p:nvSpPr>
        <p:spPr>
          <a:xfrm>
            <a:off x="548640" y="3008376"/>
            <a:ext cx="11091672" cy="804672"/>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31520" y="3159252"/>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159252"/>
            <a:ext cx="502920" cy="502920"/>
          </a:xfrm>
          <a:prstGeom prst="rect">
            <a:avLst/>
          </a:prstGeom>
          <a:noFill/>
        </p:spPr>
        <p:txBody>
          <a:bodyPr wrap="square" anchor="t"/>
          <a:lstStyle/>
          <a:p>
            <a:pPr algn="ctr"/>
            <a:r>
              <a:rPr sz="2400" b="1" i="0">
                <a:solidFill>
                  <a:srgbClr val="FFFFFF"/>
                </a:solidFill>
                <a:latin typeface="Calibri"/>
              </a:rPr>
              <a:t>3</a:t>
            </a:r>
          </a:p>
        </p:txBody>
      </p:sp>
      <p:sp>
        <p:nvSpPr>
          <p:cNvPr id="15" name="TextBox 14"/>
          <p:cNvSpPr txBox="1"/>
          <p:nvPr/>
        </p:nvSpPr>
        <p:spPr>
          <a:xfrm>
            <a:off x="1463040" y="3081528"/>
            <a:ext cx="9994392" cy="658368"/>
          </a:xfrm>
          <a:prstGeom prst="rect">
            <a:avLst/>
          </a:prstGeom>
          <a:noFill/>
        </p:spPr>
        <p:txBody>
          <a:bodyPr wrap="square" anchor="t"/>
          <a:lstStyle/>
          <a:p>
            <a:pPr algn="l"/>
            <a:r>
              <a:rPr sz="2000" b="0" i="0">
                <a:solidFill>
                  <a:srgbClr val="FFFFFF"/>
                </a:solidFill>
                <a:latin typeface="Calibri"/>
              </a:rPr>
              <a:t>Model strong after MBR: 71% useful per Judge v3 (paired). IS—judge κ=0.816 at NIV-Y+P; runs on-prem, no cloud.</a:t>
            </a:r>
          </a:p>
        </p:txBody>
      </p:sp>
      <p:sp>
        <p:nvSpPr>
          <p:cNvPr id="16" name="Rounded Rectangle 15"/>
          <p:cNvSpPr/>
          <p:nvPr/>
        </p:nvSpPr>
        <p:spPr>
          <a:xfrm>
            <a:off x="548640" y="3849624"/>
            <a:ext cx="11091672" cy="804672"/>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400050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00500"/>
            <a:ext cx="502920" cy="502920"/>
          </a:xfrm>
          <a:prstGeom prst="rect">
            <a:avLst/>
          </a:prstGeom>
          <a:noFill/>
        </p:spPr>
        <p:txBody>
          <a:bodyPr wrap="square" anchor="t"/>
          <a:lstStyle/>
          <a:p>
            <a:pPr algn="ctr"/>
            <a:r>
              <a:rPr sz="2400" b="1" i="0">
                <a:solidFill>
                  <a:srgbClr val="FFFFFF"/>
                </a:solidFill>
                <a:latin typeface="Calibri"/>
              </a:rPr>
              <a:t>4</a:t>
            </a:r>
          </a:p>
        </p:txBody>
      </p:sp>
      <p:sp>
        <p:nvSpPr>
          <p:cNvPr id="19" name="TextBox 18"/>
          <p:cNvSpPr txBox="1"/>
          <p:nvPr/>
        </p:nvSpPr>
        <p:spPr>
          <a:xfrm>
            <a:off x="1463040" y="3922776"/>
            <a:ext cx="9994392" cy="658368"/>
          </a:xfrm>
          <a:prstGeom prst="rect">
            <a:avLst/>
          </a:prstGeom>
          <a:noFill/>
        </p:spPr>
        <p:txBody>
          <a:bodyPr wrap="square" anchor="t"/>
          <a:lstStyle/>
          <a:p>
            <a:pPr algn="l"/>
            <a:r>
              <a:rPr sz="2000" b="0" i="0">
                <a:solidFill>
                  <a:srgbClr val="FFFFFF"/>
                </a:solidFill>
                <a:latin typeface="Calibri"/>
              </a:rPr>
              <a:t>MBR shipped as production default (Mission 6): Judge v3 Y+P 71% vs 68% baseline, p = 0.00017 paired McNemar.</a:t>
            </a:r>
          </a:p>
        </p:txBody>
      </p:sp>
      <p:sp>
        <p:nvSpPr>
          <p:cNvPr id="20" name="Rounded Rectangle 19"/>
          <p:cNvSpPr/>
          <p:nvPr/>
        </p:nvSpPr>
        <p:spPr>
          <a:xfrm>
            <a:off x="548640" y="4690872"/>
            <a:ext cx="11091672" cy="804672"/>
          </a:xfrm>
          <a:prstGeom prst="roundRect">
            <a:avLst/>
          </a:prstGeom>
          <a:solidFill>
            <a:srgbClr val="152A40"/>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1520" y="4841748"/>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4841748"/>
            <a:ext cx="502920" cy="502920"/>
          </a:xfrm>
          <a:prstGeom prst="rect">
            <a:avLst/>
          </a:prstGeom>
          <a:noFill/>
        </p:spPr>
        <p:txBody>
          <a:bodyPr wrap="square" anchor="t"/>
          <a:lstStyle/>
          <a:p>
            <a:pPr algn="ctr"/>
            <a:r>
              <a:rPr sz="2400" b="1" i="0">
                <a:solidFill>
                  <a:srgbClr val="FFFFFF"/>
                </a:solidFill>
                <a:latin typeface="Calibri"/>
              </a:rPr>
              <a:t>5</a:t>
            </a:r>
          </a:p>
        </p:txBody>
      </p:sp>
      <p:sp>
        <p:nvSpPr>
          <p:cNvPr id="23" name="TextBox 22"/>
          <p:cNvSpPr txBox="1"/>
          <p:nvPr/>
        </p:nvSpPr>
        <p:spPr>
          <a:xfrm>
            <a:off x="1463040" y="4764024"/>
            <a:ext cx="9994392" cy="658368"/>
          </a:xfrm>
          <a:prstGeom prst="rect">
            <a:avLst/>
          </a:prstGeom>
          <a:noFill/>
        </p:spPr>
        <p:txBody>
          <a:bodyPr wrap="square" anchor="t"/>
          <a:lstStyle/>
          <a:p>
            <a:pPr algn="l"/>
            <a:r>
              <a:rPr sz="2000" b="0" i="0">
                <a:solidFill>
                  <a:srgbClr val="FFFFFF"/>
                </a:solidFill>
                <a:latin typeface="Calibri"/>
              </a:rPr>
              <a:t>Clear path forward: stronger LLM + prompts + 20K+ data. Arabic replication plan: 2–3 months.</a:t>
            </a:r>
          </a:p>
        </p:txBody>
      </p:sp>
      <p:sp>
        <p:nvSpPr>
          <p:cNvPr id="24" name="Rounded Rectangle 23"/>
          <p:cNvSpPr/>
          <p:nvPr/>
        </p:nvSpPr>
        <p:spPr>
          <a:xfrm>
            <a:off x="548640" y="5532120"/>
            <a:ext cx="11091672" cy="804672"/>
          </a:xfrm>
          <a:prstGeom prst="roundRect">
            <a:avLst/>
          </a:prstGeom>
          <a:solidFill>
            <a:srgbClr val="152A40"/>
          </a:solidFill>
          <a:ln w="1270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31520" y="5682996"/>
            <a:ext cx="502920" cy="502920"/>
          </a:xfrm>
          <a:prstGeom prst="ellipse">
            <a:avLst/>
          </a:prstGeom>
          <a:solidFill>
            <a:srgbClr val="FFD5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682996"/>
            <a:ext cx="502920" cy="502920"/>
          </a:xfrm>
          <a:prstGeom prst="rect">
            <a:avLst/>
          </a:prstGeom>
          <a:noFill/>
        </p:spPr>
        <p:txBody>
          <a:bodyPr wrap="square" anchor="t"/>
          <a:lstStyle/>
          <a:p>
            <a:pPr algn="ctr"/>
            <a:r>
              <a:rPr sz="2400" b="1" i="0">
                <a:solidFill>
                  <a:srgbClr val="FFFFFF"/>
                </a:solidFill>
                <a:latin typeface="Calibri"/>
              </a:rPr>
              <a:t>!</a:t>
            </a:r>
          </a:p>
        </p:txBody>
      </p:sp>
      <p:sp>
        <p:nvSpPr>
          <p:cNvPr id="27" name="TextBox 26"/>
          <p:cNvSpPr txBox="1"/>
          <p:nvPr/>
        </p:nvSpPr>
        <p:spPr>
          <a:xfrm>
            <a:off x="1463040" y="5605272"/>
            <a:ext cx="9994392" cy="658368"/>
          </a:xfrm>
          <a:prstGeom prst="rect">
            <a:avLst/>
          </a:prstGeom>
          <a:noFill/>
        </p:spPr>
        <p:txBody>
          <a:bodyPr wrap="square" anchor="t"/>
          <a:lstStyle/>
          <a:p>
            <a:pPr algn="l"/>
            <a:r>
              <a:rPr sz="2000" b="0" i="0">
                <a:solidFill>
                  <a:srgbClr val="FFFFFF"/>
                </a:solidFill>
                <a:latin typeface="Calibri"/>
              </a:rPr>
              <a:t>Limitations: thresholds Llama-2-7b-specific; single-rater LLM judge; fine-tuning data-limited at 1.3K segs.</a:t>
            </a:r>
          </a:p>
        </p:txBody>
      </p:sp>
      <p:pic>
        <p:nvPicPr>
          <p:cNvPr id="28" name="Picture 2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29" name="TextBox 2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87</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36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12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24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36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12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24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36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12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24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36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12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24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grpId="0" nodeType="withEffect">
                                  <p:stCondLst>
                                    <p:cond delay="36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1828800"/>
            <a:ext cx="11091672" cy="1097280"/>
          </a:xfrm>
          <a:prstGeom prst="rect">
            <a:avLst/>
          </a:prstGeom>
          <a:noFill/>
        </p:spPr>
        <p:txBody>
          <a:bodyPr wrap="square" anchor="t"/>
          <a:lstStyle/>
          <a:p>
            <a:pPr algn="ctr"/>
            <a:r>
              <a:rPr sz="5600" b="1" i="0">
                <a:solidFill>
                  <a:srgbClr val="FFFFFF"/>
                </a:solidFill>
                <a:latin typeface="Calibri"/>
              </a:rPr>
              <a:t>Thank You</a:t>
            </a:r>
          </a:p>
        </p:txBody>
      </p:sp>
      <p:sp>
        <p:nvSpPr>
          <p:cNvPr id="3" name="Rectangle 2"/>
          <p:cNvSpPr/>
          <p:nvPr/>
        </p:nvSpPr>
        <p:spPr>
          <a:xfrm>
            <a:off x="4114800" y="3108960"/>
            <a:ext cx="3959352"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474720"/>
            <a:ext cx="11091672" cy="548640"/>
          </a:xfrm>
          <a:prstGeom prst="rect">
            <a:avLst/>
          </a:prstGeom>
          <a:noFill/>
        </p:spPr>
        <p:txBody>
          <a:bodyPr wrap="square" anchor="t"/>
          <a:lstStyle/>
          <a:p>
            <a:pPr algn="ctr"/>
            <a:r>
              <a:rPr sz="3200" b="0" i="0">
                <a:solidFill>
                  <a:srgbClr val="00B4D8"/>
                </a:solidFill>
                <a:latin typeface="Calibri"/>
              </a:rPr>
              <a:t>Questions &amp; Discussion</a:t>
            </a:r>
          </a:p>
        </p:txBody>
      </p:sp>
      <p:sp>
        <p:nvSpPr>
          <p:cNvPr id="5" name="TextBox 4"/>
          <p:cNvSpPr txBox="1"/>
          <p:nvPr/>
        </p:nvSpPr>
        <p:spPr>
          <a:xfrm>
            <a:off x="548640" y="4389120"/>
            <a:ext cx="11091672" cy="731520"/>
          </a:xfrm>
          <a:prstGeom prst="rect">
            <a:avLst/>
          </a:prstGeom>
          <a:noFill/>
        </p:spPr>
        <p:txBody>
          <a:bodyPr wrap="square" anchor="t"/>
          <a:lstStyle/>
          <a:p>
            <a:pPr algn="ctr"/>
            <a:r>
              <a:rPr sz="2400" b="0" i="0">
                <a:solidFill>
                  <a:srgbClr val="AAAAAA"/>
                </a:solidFill>
                <a:latin typeface="Calibri"/>
              </a:rPr>
              <a:t>1,497 segments  •  Trust / Salvage / Strip three-tier UI  •  8-stage pipeline  •  cloud or on-prem deployment</a:t>
            </a:r>
          </a:p>
        </p:txBody>
      </p:sp>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88</a:t>
            </a:r>
          </a:p>
        </p:txBody>
      </p:sp>
    </p:spTree>
  </p:cSld>
  <p:clrMapOvr>
    <a:masterClrMapping/>
  </p:clrMapOvr>
  <p:transition spd="med"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A1: Homophenes — The Lip-Reading Problem</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777240"/>
          </a:xfrm>
          <a:prstGeom prst="rect">
            <a:avLst/>
          </a:prstGeom>
          <a:noFill/>
        </p:spPr>
        <p:txBody>
          <a:bodyPr wrap="square" anchor="t"/>
          <a:lstStyle/>
          <a:p>
            <a:pPr algn="l"/>
            <a:r>
              <a:rPr sz="2400" b="0" i="0">
                <a:solidFill>
                  <a:srgbClr val="AAAAAA"/>
                </a:solidFill>
                <a:latin typeface="Calibri"/>
              </a:rPr>
              <a:t>50–70% of English sounds are invisible on lips.</a:t>
            </a:r>
            <a:br/>
            <a:r>
              <a:rPr sz="2400" b="0" i="0">
                <a:solidFill>
                  <a:srgbClr val="AAAAAA"/>
                </a:solidFill>
                <a:latin typeface="Calibri"/>
              </a:rPr>
              <a:t>Multiple sounds produce identical mouth shapes:</a:t>
            </a:r>
          </a:p>
        </p:txBody>
      </p:sp>
      <p:graphicFrame>
        <p:nvGraphicFramePr>
          <p:cNvPr id="5" name="Table 4"/>
          <p:cNvGraphicFramePr>
            <a:graphicFrameLocks noGrp="1"/>
          </p:cNvGraphicFramePr>
          <p:nvPr/>
        </p:nvGraphicFramePr>
        <p:xfrm>
          <a:off x="548640" y="2148840"/>
          <a:ext cx="5120640" cy="1737360"/>
        </p:xfrm>
        <a:graphic>
          <a:graphicData uri="http://schemas.openxmlformats.org/drawingml/2006/table">
            <a:tbl>
              <a:tblPr firstRow="0" bandRow="0" lastRow="0" bandCol="0">
                <a:tableStyleId>{5C22544A-7EE6-4342-B048-85BDC9FD1C3A}</a:tableStyleId>
              </a:tblPr>
              <a:tblGrid>
                <a:gridCol w="2560320"/>
                <a:gridCol w="2560320"/>
              </a:tblGrid>
              <a:tr h="347472">
                <a:tc>
                  <a:txBody>
                    <a:bodyPr/>
                    <a:lstStyle/>
                    <a:p>
                      <a:pPr algn="ctr"/>
                      <a:r>
                        <a:rPr sz="2400" b="1" i="0">
                          <a:solidFill>
                            <a:srgbClr val="FFFFFF"/>
                          </a:solidFill>
                          <a:latin typeface="Calibri"/>
                        </a:rPr>
                        <a:t>Viseme Group</a:t>
                      </a:r>
                    </a:p>
                  </a:txBody>
                  <a:tcPr>
                    <a:solidFill>
                      <a:srgbClr val="00b4d8"/>
                    </a:solidFill>
                  </a:tcPr>
                </a:tc>
                <a:tc>
                  <a:txBody>
                    <a:bodyPr/>
                    <a:lstStyle/>
                    <a:p>
                      <a:pPr algn="ctr"/>
                      <a:r>
                        <a:rPr sz="2400" b="1" i="0">
                          <a:solidFill>
                            <a:srgbClr val="FFFFFF"/>
                          </a:solidFill>
                          <a:latin typeface="Calibri"/>
                        </a:rPr>
                        <a:t>Sounds</a:t>
                      </a:r>
                    </a:p>
                  </a:txBody>
                  <a:tcPr>
                    <a:solidFill>
                      <a:srgbClr val="00b4d8"/>
                    </a:solidFill>
                  </a:tcPr>
                </a:tc>
              </a:tr>
              <a:tr h="347472">
                <a:tc>
                  <a:txBody>
                    <a:bodyPr/>
                    <a:lstStyle/>
                    <a:p>
                      <a:pPr algn="l"/>
                      <a:r>
                        <a:rPr sz="2400" b="0" i="0">
                          <a:solidFill>
                            <a:srgbClr val="FFFFFF"/>
                          </a:solidFill>
                          <a:latin typeface="Calibri"/>
                        </a:rPr>
                        <a:t>Bilabial</a:t>
                      </a:r>
                    </a:p>
                  </a:txBody>
                  <a:tcPr>
                    <a:solidFill>
                      <a:srgbClr val="0d1b2a"/>
                    </a:solidFill>
                  </a:tcPr>
                </a:tc>
                <a:tc>
                  <a:txBody>
                    <a:bodyPr/>
                    <a:lstStyle/>
                    <a:p>
                      <a:pPr algn="l"/>
                      <a:r>
                        <a:rPr sz="2400" b="0" i="0">
                          <a:solidFill>
                            <a:srgbClr val="FFFFFF"/>
                          </a:solidFill>
                          <a:latin typeface="Calibri"/>
                        </a:rPr>
                        <a:t>p, b, m</a:t>
                      </a:r>
                    </a:p>
                  </a:txBody>
                  <a:tcPr>
                    <a:solidFill>
                      <a:srgbClr val="0d1b2a"/>
                    </a:solidFill>
                  </a:tcPr>
                </a:tc>
              </a:tr>
              <a:tr h="347472">
                <a:tc>
                  <a:txBody>
                    <a:bodyPr/>
                    <a:lstStyle/>
                    <a:p>
                      <a:pPr algn="l"/>
                      <a:r>
                        <a:rPr sz="2400" b="0" i="0">
                          <a:solidFill>
                            <a:srgbClr val="FFFFFF"/>
                          </a:solidFill>
                          <a:latin typeface="Calibri"/>
                        </a:rPr>
                        <a:t>Alveolar</a:t>
                      </a:r>
                    </a:p>
                  </a:txBody>
                  <a:tcPr>
                    <a:solidFill>
                      <a:srgbClr val="152a40"/>
                    </a:solidFill>
                  </a:tcPr>
                </a:tc>
                <a:tc>
                  <a:txBody>
                    <a:bodyPr/>
                    <a:lstStyle/>
                    <a:p>
                      <a:pPr algn="l"/>
                      <a:r>
                        <a:rPr sz="2400" b="0" i="0">
                          <a:solidFill>
                            <a:srgbClr val="FFFFFF"/>
                          </a:solidFill>
                          <a:latin typeface="Calibri"/>
                        </a:rPr>
                        <a:t>t, d, n, s, z, l</a:t>
                      </a:r>
                    </a:p>
                  </a:txBody>
                  <a:tcPr>
                    <a:solidFill>
                      <a:srgbClr val="152a40"/>
                    </a:solidFill>
                  </a:tcPr>
                </a:tc>
              </a:tr>
              <a:tr h="347472">
                <a:tc>
                  <a:txBody>
                    <a:bodyPr/>
                    <a:lstStyle/>
                    <a:p>
                      <a:pPr algn="l"/>
                      <a:r>
                        <a:rPr sz="2400" b="0" i="0">
                          <a:solidFill>
                            <a:srgbClr val="FFFFFF"/>
                          </a:solidFill>
                          <a:latin typeface="Calibri"/>
                        </a:rPr>
                        <a:t>Velar</a:t>
                      </a:r>
                    </a:p>
                  </a:txBody>
                  <a:tcPr>
                    <a:solidFill>
                      <a:srgbClr val="0d1b2a"/>
                    </a:solidFill>
                  </a:tcPr>
                </a:tc>
                <a:tc>
                  <a:txBody>
                    <a:bodyPr/>
                    <a:lstStyle/>
                    <a:p>
                      <a:pPr algn="l"/>
                      <a:r>
                        <a:rPr sz="2400" b="0" i="0">
                          <a:solidFill>
                            <a:srgbClr val="FFFFFF"/>
                          </a:solidFill>
                          <a:latin typeface="Calibri"/>
                        </a:rPr>
                        <a:t>k, g, ng</a:t>
                      </a:r>
                    </a:p>
                  </a:txBody>
                  <a:tcPr>
                    <a:solidFill>
                      <a:srgbClr val="0d1b2a"/>
                    </a:solidFill>
                  </a:tcPr>
                </a:tc>
              </a:tr>
              <a:tr h="347472">
                <a:tc>
                  <a:txBody>
                    <a:bodyPr/>
                    <a:lstStyle/>
                    <a:p>
                      <a:pPr algn="l"/>
                      <a:r>
                        <a:rPr sz="2400" b="0" i="0">
                          <a:solidFill>
                            <a:srgbClr val="FFFFFF"/>
                          </a:solidFill>
                          <a:latin typeface="Calibri"/>
                        </a:rPr>
                        <a:t>Labiodental</a:t>
                      </a:r>
                    </a:p>
                  </a:txBody>
                  <a:tcPr>
                    <a:solidFill>
                      <a:srgbClr val="152a40"/>
                    </a:solidFill>
                  </a:tcPr>
                </a:tc>
                <a:tc>
                  <a:txBody>
                    <a:bodyPr/>
                    <a:lstStyle/>
                    <a:p>
                      <a:pPr algn="l"/>
                      <a:r>
                        <a:rPr sz="2400" b="0" i="0">
                          <a:solidFill>
                            <a:srgbClr val="FFFFFF"/>
                          </a:solidFill>
                          <a:latin typeface="Calibri"/>
                        </a:rPr>
                        <a:t>f, v</a:t>
                      </a:r>
                    </a:p>
                  </a:txBody>
                  <a:tcPr>
                    <a:solidFill>
                      <a:srgbClr val="152a40"/>
                    </a:solidFill>
                  </a:tcPr>
                </a:tc>
              </a:tr>
            </a:tbl>
          </a:graphicData>
        </a:graphic>
      </p:graphicFrame>
      <p:sp>
        <p:nvSpPr>
          <p:cNvPr id="6" name="TextBox 5"/>
          <p:cNvSpPr txBox="1"/>
          <p:nvPr/>
        </p:nvSpPr>
        <p:spPr>
          <a:xfrm>
            <a:off x="5943600" y="1325880"/>
            <a:ext cx="5422392" cy="502920"/>
          </a:xfrm>
          <a:prstGeom prst="rect">
            <a:avLst/>
          </a:prstGeom>
          <a:noFill/>
        </p:spPr>
        <p:txBody>
          <a:bodyPr wrap="square" anchor="t"/>
          <a:lstStyle/>
          <a:p>
            <a:pPr algn="l"/>
            <a:r>
              <a:rPr sz="2400" b="0" i="0">
                <a:solidFill>
                  <a:srgbClr val="AAAAAA"/>
                </a:solidFill>
                <a:latin typeface="Calibri"/>
              </a:rPr>
              <a:t>Confusable word pairs (identical on lips):</a:t>
            </a:r>
          </a:p>
        </p:txBody>
      </p:sp>
      <p:graphicFrame>
        <p:nvGraphicFramePr>
          <p:cNvPr id="7" name="Table 6"/>
          <p:cNvGraphicFramePr>
            <a:graphicFrameLocks noGrp="1"/>
          </p:cNvGraphicFramePr>
          <p:nvPr/>
        </p:nvGraphicFramePr>
        <p:xfrm>
          <a:off x="5943600" y="1874520"/>
          <a:ext cx="5422392" cy="2560320"/>
        </p:xfrm>
        <a:graphic>
          <a:graphicData uri="http://schemas.openxmlformats.org/drawingml/2006/table">
            <a:tbl>
              <a:tblPr firstRow="0" bandRow="0" lastRow="0" bandCol="0">
                <a:tableStyleId>{5C22544A-7EE6-4342-B048-85BDC9FD1C3A}</a:tableStyleId>
              </a:tblPr>
              <a:tblGrid>
                <a:gridCol w="2711196"/>
                <a:gridCol w="2711196"/>
              </a:tblGrid>
              <a:tr h="365760">
                <a:tc>
                  <a:txBody>
                    <a:bodyPr/>
                    <a:lstStyle/>
                    <a:p>
                      <a:pPr algn="ctr"/>
                      <a:r>
                        <a:rPr sz="2400" b="1" i="0">
                          <a:solidFill>
                            <a:srgbClr val="FFFFFF"/>
                          </a:solidFill>
                          <a:latin typeface="Calibri"/>
                        </a:rPr>
                        <a:t>Word A</a:t>
                      </a:r>
                    </a:p>
                  </a:txBody>
                  <a:tcPr>
                    <a:solidFill>
                      <a:srgbClr val="00b4d8"/>
                    </a:solidFill>
                  </a:tcPr>
                </a:tc>
                <a:tc>
                  <a:txBody>
                    <a:bodyPr/>
                    <a:lstStyle/>
                    <a:p>
                      <a:pPr algn="ctr"/>
                      <a:r>
                        <a:rPr sz="2400" b="1" i="0">
                          <a:solidFill>
                            <a:srgbClr val="FFFFFF"/>
                          </a:solidFill>
                          <a:latin typeface="Calibri"/>
                        </a:rPr>
                        <a:t>Word B</a:t>
                      </a:r>
                    </a:p>
                  </a:txBody>
                  <a:tcPr>
                    <a:solidFill>
                      <a:srgbClr val="00b4d8"/>
                    </a:solidFill>
                  </a:tcPr>
                </a:tc>
              </a:tr>
              <a:tr h="365760">
                <a:tc>
                  <a:txBody>
                    <a:bodyPr/>
                    <a:lstStyle/>
                    <a:p>
                      <a:pPr algn="l"/>
                      <a:r>
                        <a:rPr sz="2400" b="0" i="0">
                          <a:solidFill>
                            <a:srgbClr val="FFFFFF"/>
                          </a:solidFill>
                          <a:latin typeface="Calibri"/>
                        </a:rPr>
                        <a:t>mom</a:t>
                      </a:r>
                    </a:p>
                  </a:txBody>
                  <a:tcPr>
                    <a:solidFill>
                      <a:srgbClr val="0d1b2a"/>
                    </a:solidFill>
                  </a:tcPr>
                </a:tc>
                <a:tc>
                  <a:txBody>
                    <a:bodyPr/>
                    <a:lstStyle/>
                    <a:p>
                      <a:pPr algn="l"/>
                      <a:r>
                        <a:rPr sz="2400" b="0" i="0">
                          <a:solidFill>
                            <a:srgbClr val="FFFFFF"/>
                          </a:solidFill>
                          <a:latin typeface="Calibri"/>
                        </a:rPr>
                        <a:t>bomb</a:t>
                      </a:r>
                    </a:p>
                  </a:txBody>
                  <a:tcPr>
                    <a:solidFill>
                      <a:srgbClr val="0d1b2a"/>
                    </a:solidFill>
                  </a:tcPr>
                </a:tc>
              </a:tr>
              <a:tr h="365760">
                <a:tc>
                  <a:txBody>
                    <a:bodyPr/>
                    <a:lstStyle/>
                    <a:p>
                      <a:pPr algn="l"/>
                      <a:r>
                        <a:rPr sz="2400" b="0" i="0">
                          <a:solidFill>
                            <a:srgbClr val="FFFFFF"/>
                          </a:solidFill>
                          <a:latin typeface="Calibri"/>
                        </a:rPr>
                        <a:t>pat</a:t>
                      </a:r>
                    </a:p>
                  </a:txBody>
                  <a:tcPr>
                    <a:solidFill>
                      <a:srgbClr val="152a40"/>
                    </a:solidFill>
                  </a:tcPr>
                </a:tc>
                <a:tc>
                  <a:txBody>
                    <a:bodyPr/>
                    <a:lstStyle/>
                    <a:p>
                      <a:pPr algn="l"/>
                      <a:r>
                        <a:rPr sz="2400" b="0" i="0">
                          <a:solidFill>
                            <a:srgbClr val="FFFFFF"/>
                          </a:solidFill>
                          <a:latin typeface="Calibri"/>
                        </a:rPr>
                        <a:t>bat</a:t>
                      </a:r>
                    </a:p>
                  </a:txBody>
                  <a:tcPr>
                    <a:solidFill>
                      <a:srgbClr val="152a40"/>
                    </a:solidFill>
                  </a:tcPr>
                </a:tc>
              </a:tr>
              <a:tr h="365760">
                <a:tc>
                  <a:txBody>
                    <a:bodyPr/>
                    <a:lstStyle/>
                    <a:p>
                      <a:pPr algn="l"/>
                      <a:r>
                        <a:rPr sz="2400" b="0" i="0">
                          <a:solidFill>
                            <a:srgbClr val="FFFFFF"/>
                          </a:solidFill>
                          <a:latin typeface="Calibri"/>
                        </a:rPr>
                        <a:t>collar</a:t>
                      </a:r>
                    </a:p>
                  </a:txBody>
                  <a:tcPr>
                    <a:solidFill>
                      <a:srgbClr val="0d1b2a"/>
                    </a:solidFill>
                  </a:tcPr>
                </a:tc>
                <a:tc>
                  <a:txBody>
                    <a:bodyPr/>
                    <a:lstStyle/>
                    <a:p>
                      <a:pPr algn="l"/>
                      <a:r>
                        <a:rPr sz="2400" b="0" i="0">
                          <a:solidFill>
                            <a:srgbClr val="FFFFFF"/>
                          </a:solidFill>
                          <a:latin typeface="Calibri"/>
                        </a:rPr>
                        <a:t>color</a:t>
                      </a:r>
                    </a:p>
                  </a:txBody>
                  <a:tcPr>
                    <a:solidFill>
                      <a:srgbClr val="0d1b2a"/>
                    </a:solidFill>
                  </a:tcPr>
                </a:tc>
              </a:tr>
              <a:tr h="365760">
                <a:tc>
                  <a:txBody>
                    <a:bodyPr/>
                    <a:lstStyle/>
                    <a:p>
                      <a:pPr algn="l"/>
                      <a:r>
                        <a:rPr sz="2400" b="0" i="0">
                          <a:solidFill>
                            <a:srgbClr val="FFFFFF"/>
                          </a:solidFill>
                          <a:latin typeface="Calibri"/>
                        </a:rPr>
                        <a:t>pads</a:t>
                      </a:r>
                    </a:p>
                  </a:txBody>
                  <a:tcPr>
                    <a:solidFill>
                      <a:srgbClr val="152a40"/>
                    </a:solidFill>
                  </a:tcPr>
                </a:tc>
                <a:tc>
                  <a:txBody>
                    <a:bodyPr/>
                    <a:lstStyle/>
                    <a:p>
                      <a:pPr algn="l"/>
                      <a:r>
                        <a:rPr sz="2400" b="0" i="0">
                          <a:solidFill>
                            <a:srgbClr val="FFFFFF"/>
                          </a:solidFill>
                          <a:latin typeface="Calibri"/>
                        </a:rPr>
                        <a:t>pants</a:t>
                      </a:r>
                    </a:p>
                  </a:txBody>
                  <a:tcPr>
                    <a:solidFill>
                      <a:srgbClr val="152a40"/>
                    </a:solidFill>
                  </a:tcPr>
                </a:tc>
              </a:tr>
              <a:tr h="365760">
                <a:tc>
                  <a:txBody>
                    <a:bodyPr/>
                    <a:lstStyle/>
                    <a:p>
                      <a:pPr algn="l"/>
                      <a:r>
                        <a:rPr sz="2400" b="0" i="0">
                          <a:solidFill>
                            <a:srgbClr val="FFFFFF"/>
                          </a:solidFill>
                          <a:latin typeface="Calibri"/>
                        </a:rPr>
                        <a:t>admiral</a:t>
                      </a:r>
                    </a:p>
                  </a:txBody>
                  <a:tcPr>
                    <a:solidFill>
                      <a:srgbClr val="0d1b2a"/>
                    </a:solidFill>
                  </a:tcPr>
                </a:tc>
                <a:tc>
                  <a:txBody>
                    <a:bodyPr/>
                    <a:lstStyle/>
                    <a:p>
                      <a:pPr algn="l"/>
                      <a:r>
                        <a:rPr sz="2400" b="0" i="0">
                          <a:solidFill>
                            <a:srgbClr val="FFFFFF"/>
                          </a:solidFill>
                          <a:latin typeface="Calibri"/>
                        </a:rPr>
                        <a:t>animal</a:t>
                      </a:r>
                    </a:p>
                  </a:txBody>
                  <a:tcPr>
                    <a:solidFill>
                      <a:srgbClr val="0d1b2a"/>
                    </a:solidFill>
                  </a:tcPr>
                </a:tc>
              </a:tr>
              <a:tr h="365760">
                <a:tc>
                  <a:txBody>
                    <a:bodyPr/>
                    <a:lstStyle/>
                    <a:p>
                      <a:pPr algn="l"/>
                      <a:r>
                        <a:rPr sz="2400" b="0" i="0">
                          <a:solidFill>
                            <a:srgbClr val="FFFFFF"/>
                          </a:solidFill>
                          <a:latin typeface="Calibri"/>
                        </a:rPr>
                        <a:t>probiotics</a:t>
                      </a:r>
                    </a:p>
                  </a:txBody>
                  <a:tcPr>
                    <a:solidFill>
                      <a:srgbClr val="152a40"/>
                    </a:solidFill>
                  </a:tcPr>
                </a:tc>
                <a:tc>
                  <a:txBody>
                    <a:bodyPr/>
                    <a:lstStyle/>
                    <a:p>
                      <a:pPr algn="l"/>
                      <a:r>
                        <a:rPr sz="2400" b="0" i="0">
                          <a:solidFill>
                            <a:srgbClr val="FFFFFF"/>
                          </a:solidFill>
                          <a:latin typeface="Calibri"/>
                        </a:rPr>
                        <a:t>permafrost</a:t>
                      </a:r>
                    </a:p>
                  </a:txBody>
                  <a:tcPr>
                    <a:solidFill>
                      <a:srgbClr val="152a40"/>
                    </a:solidFill>
                  </a:tcPr>
                </a:tc>
              </a:tr>
            </a:tbl>
          </a:graphicData>
        </a:graphic>
      </p:graphicFrame>
      <p:sp>
        <p:nvSpPr>
          <p:cNvPr id="8" name="TextBox 7"/>
          <p:cNvSpPr txBox="1"/>
          <p:nvPr/>
        </p:nvSpPr>
        <p:spPr>
          <a:xfrm>
            <a:off x="5943600" y="4663440"/>
            <a:ext cx="5422392" cy="1280160"/>
          </a:xfrm>
          <a:prstGeom prst="rect">
            <a:avLst/>
          </a:prstGeom>
          <a:noFill/>
        </p:spPr>
        <p:txBody>
          <a:bodyPr wrap="square" anchor="t"/>
          <a:lstStyle/>
          <a:p>
            <a:pPr algn="l"/>
            <a:r>
              <a:rPr sz="2400" b="0" i="1">
                <a:solidFill>
                  <a:srgbClr val="00B4D8"/>
                </a:solidFill>
                <a:latin typeface="Calibri"/>
              </a:rPr>
              <a:t>Context is the ONLY disambiguation signal.</a:t>
            </a:r>
            <a:br/>
            <a:r>
              <a:rPr sz="2400" b="0" i="1">
                <a:solidFill>
                  <a:srgbClr val="00B4D8"/>
                </a:solidFill>
                <a:latin typeface="Calibri"/>
              </a:rPr>
              <a:t>This is why the LLM matters.</a:t>
            </a:r>
          </a:p>
        </p:txBody>
      </p:sp>
      <p:pic>
        <p:nvPicPr>
          <p:cNvPr id="9" name="Picture 8"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0" name="TextBox 9"/>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A1</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A2: IS Component Correlation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303520" cy="594360"/>
          </a:xfrm>
          <a:prstGeom prst="rect">
            <a:avLst/>
          </a:prstGeom>
          <a:noFill/>
        </p:spPr>
        <p:txBody>
          <a:bodyPr wrap="square" anchor="t"/>
          <a:lstStyle/>
          <a:p>
            <a:pPr algn="l"/>
            <a:r>
              <a:rPr sz="2400" b="0" i="0">
                <a:solidFill>
                  <a:srgbClr val="FFFFFF"/>
                </a:solidFill>
                <a:latin typeface="Calibri"/>
              </a:rPr>
              <a:t>PCA: 6 IS signals collapse into 2 principal components:</a:t>
            </a:r>
          </a:p>
        </p:txBody>
      </p:sp>
      <p:graphicFrame>
        <p:nvGraphicFramePr>
          <p:cNvPr id="5" name="Table 4"/>
          <p:cNvGraphicFramePr>
            <a:graphicFrameLocks noGrp="1"/>
          </p:cNvGraphicFramePr>
          <p:nvPr/>
        </p:nvGraphicFramePr>
        <p:xfrm>
          <a:off x="548640" y="2103120"/>
          <a:ext cx="5303520" cy="2194560"/>
        </p:xfrm>
        <a:graphic>
          <a:graphicData uri="http://schemas.openxmlformats.org/drawingml/2006/table">
            <a:tbl>
              <a:tblPr firstRow="0" bandRow="0" lastRow="0" bandCol="0">
                <a:tableStyleId>{5C22544A-7EE6-4342-B048-85BDC9FD1C3A}</a:tableStyleId>
              </a:tblPr>
              <a:tblGrid>
                <a:gridCol w="1463040"/>
                <a:gridCol w="1645920"/>
                <a:gridCol w="1005840"/>
                <a:gridCol w="1188720"/>
              </a:tblGrid>
              <a:tr h="731520">
                <a:tc>
                  <a:txBody>
                    <a:bodyPr/>
                    <a:lstStyle/>
                    <a:p>
                      <a:pPr algn="ctr"/>
                      <a:r>
                        <a:rPr sz="2400" b="1" i="0">
                          <a:solidFill>
                            <a:srgbClr val="FFFFFF"/>
                          </a:solidFill>
                          <a:latin typeface="Calibri"/>
                        </a:rPr>
                        <a:t>Component</a:t>
                      </a:r>
                    </a:p>
                  </a:txBody>
                  <a:tcPr>
                    <a:solidFill>
                      <a:srgbClr val="00b4d8"/>
                    </a:solidFill>
                  </a:tcPr>
                </a:tc>
                <a:tc>
                  <a:txBody>
                    <a:bodyPr/>
                    <a:lstStyle/>
                    <a:p>
                      <a:pPr algn="ctr"/>
                      <a:r>
                        <a:rPr sz="2400" b="1" i="0">
                          <a:solidFill>
                            <a:srgbClr val="FFFFFF"/>
                          </a:solidFill>
                          <a:latin typeface="Calibri"/>
                        </a:rPr>
                        <a:t>Signals</a:t>
                      </a:r>
                    </a:p>
                  </a:txBody>
                  <a:tcPr>
                    <a:solidFill>
                      <a:srgbClr val="00b4d8"/>
                    </a:solidFill>
                  </a:tcPr>
                </a:tc>
                <a:tc>
                  <a:txBody>
                    <a:bodyPr/>
                    <a:lstStyle/>
                    <a:p>
                      <a:pPr algn="ctr"/>
                      <a:r>
                        <a:rPr sz="2400" b="1" i="0">
                          <a:solidFill>
                            <a:srgbClr val="FFFFFF"/>
                          </a:solidFill>
                          <a:latin typeface="Calibri"/>
                        </a:rPr>
                        <a:t>Var.</a:t>
                      </a:r>
                    </a:p>
                  </a:txBody>
                  <a:tcPr>
                    <a:solidFill>
                      <a:srgbClr val="00b4d8"/>
                    </a:solidFill>
                  </a:tcPr>
                </a:tc>
                <a:tc>
                  <a:txBody>
                    <a:bodyPr/>
                    <a:lstStyle/>
                    <a:p>
                      <a:pPr algn="ctr"/>
                      <a:r>
                        <a:rPr sz="2400" b="1" i="0">
                          <a:solidFill>
                            <a:srgbClr val="FFFFFF"/>
                          </a:solidFill>
                          <a:latin typeface="Calibri"/>
                        </a:rPr>
                        <a:t>Load.</a:t>
                      </a:r>
                    </a:p>
                  </a:txBody>
                  <a:tcPr>
                    <a:solidFill>
                      <a:srgbClr val="00b4d8"/>
                    </a:solidFill>
                  </a:tcPr>
                </a:tc>
              </a:tr>
              <a:tr h="731520">
                <a:tc>
                  <a:txBody>
                    <a:bodyPr/>
                    <a:lstStyle/>
                    <a:p>
                      <a:pPr algn="l"/>
                      <a:r>
                        <a:rPr sz="2400" b="0" i="0">
                          <a:solidFill>
                            <a:srgbClr val="FFFFFF"/>
                          </a:solidFill>
                          <a:latin typeface="Calibri"/>
                        </a:rPr>
                        <a:t>PC1: Signal Quality</a:t>
                      </a:r>
                    </a:p>
                  </a:txBody>
                  <a:tcPr>
                    <a:solidFill>
                      <a:srgbClr val="0d1b2a"/>
                    </a:solidFill>
                  </a:tcPr>
                </a:tc>
                <a:tc>
                  <a:txBody>
                    <a:bodyPr/>
                    <a:lstStyle/>
                    <a:p>
                      <a:pPr algn="l"/>
                      <a:r>
                        <a:rPr sz="2400" b="0" i="0">
                          <a:solidFill>
                            <a:srgbClr val="FFFFFF"/>
                          </a:solidFill>
                          <a:latin typeface="Calibri"/>
                        </a:rPr>
                        <a:t>All 5 content signals</a:t>
                      </a:r>
                    </a:p>
                  </a:txBody>
                  <a:tcPr>
                    <a:solidFill>
                      <a:srgbClr val="0d1b2a"/>
                    </a:solidFill>
                  </a:tcPr>
                </a:tc>
                <a:tc>
                  <a:txBody>
                    <a:bodyPr/>
                    <a:lstStyle/>
                    <a:p>
                      <a:pPr algn="l"/>
                      <a:r>
                        <a:rPr sz="2400" b="0" i="0">
                          <a:solidFill>
                            <a:srgbClr val="FFFFFF"/>
                          </a:solidFill>
                          <a:latin typeface="Calibri"/>
                        </a:rPr>
                        <a:t>68%</a:t>
                      </a:r>
                    </a:p>
                  </a:txBody>
                  <a:tcPr>
                    <a:solidFill>
                      <a:srgbClr val="0d1b2a"/>
                    </a:solidFill>
                  </a:tcPr>
                </a:tc>
                <a:tc>
                  <a:txBody>
                    <a:bodyPr/>
                    <a:lstStyle/>
                    <a:p>
                      <a:pPr algn="l"/>
                      <a:r>
                        <a:rPr sz="2400" b="0" i="0">
                          <a:solidFill>
                            <a:srgbClr val="FFFFFF"/>
                          </a:solidFill>
                          <a:latin typeface="Calibri"/>
                        </a:rPr>
                        <a:t>0.43–0.47 each</a:t>
                      </a:r>
                    </a:p>
                  </a:txBody>
                  <a:tcPr>
                    <a:solidFill>
                      <a:srgbClr val="0d1b2a"/>
                    </a:solidFill>
                  </a:tcPr>
                </a:tc>
              </a:tr>
              <a:tr h="731520">
                <a:tc>
                  <a:txBody>
                    <a:bodyPr/>
                    <a:lstStyle/>
                    <a:p>
                      <a:pPr algn="l"/>
                      <a:r>
                        <a:rPr sz="2400" b="0" i="0">
                          <a:solidFill>
                            <a:srgbClr val="FFFFFF"/>
                          </a:solidFill>
                          <a:latin typeface="Calibri"/>
                        </a:rPr>
                        <a:t>PC2: Output Length</a:t>
                      </a:r>
                    </a:p>
                  </a:txBody>
                  <a:tcPr>
                    <a:solidFill>
                      <a:srgbClr val="152a40"/>
                    </a:solidFill>
                  </a:tcPr>
                </a:tc>
                <a:tc>
                  <a:txBody>
                    <a:bodyPr/>
                    <a:lstStyle/>
                    <a:p>
                      <a:pPr algn="l"/>
                      <a:r>
                        <a:rPr sz="2400" b="0" i="0">
                          <a:solidFill>
                            <a:srgbClr val="FFFFFF"/>
                          </a:solidFill>
                          <a:latin typeface="Calibri"/>
                        </a:rPr>
                        <a:t>Length Ratio</a:t>
                      </a:r>
                    </a:p>
                  </a:txBody>
                  <a:tcPr>
                    <a:solidFill>
                      <a:srgbClr val="152a40"/>
                    </a:solidFill>
                  </a:tcPr>
                </a:tc>
                <a:tc>
                  <a:txBody>
                    <a:bodyPr/>
                    <a:lstStyle/>
                    <a:p>
                      <a:pPr algn="l"/>
                      <a:r>
                        <a:rPr sz="2400" b="0" i="0">
                          <a:solidFill>
                            <a:srgbClr val="FFFFFF"/>
                          </a:solidFill>
                          <a:latin typeface="Calibri"/>
                        </a:rPr>
                        <a:t>20%</a:t>
                      </a:r>
                    </a:p>
                  </a:txBody>
                  <a:tcPr>
                    <a:solidFill>
                      <a:srgbClr val="152a40"/>
                    </a:solidFill>
                  </a:tcPr>
                </a:tc>
                <a:tc>
                  <a:txBody>
                    <a:bodyPr/>
                    <a:lstStyle/>
                    <a:p>
                      <a:pPr algn="l"/>
                      <a:r>
                        <a:rPr sz="2400" b="0" i="0">
                          <a:solidFill>
                            <a:srgbClr val="FFFFFF"/>
                          </a:solidFill>
                          <a:latin typeface="Calibri"/>
                        </a:rPr>
                        <a:t>0.91</a:t>
                      </a:r>
                    </a:p>
                  </a:txBody>
                  <a:tcPr>
                    <a:solidFill>
                      <a:srgbClr val="152a40"/>
                    </a:solidFill>
                  </a:tcPr>
                </a:tc>
              </a:tr>
            </a:tbl>
          </a:graphicData>
        </a:graphic>
      </p:graphicFrame>
      <p:sp>
        <p:nvSpPr>
          <p:cNvPr id="6" name="TextBox 5"/>
          <p:cNvSpPr txBox="1"/>
          <p:nvPr/>
        </p:nvSpPr>
        <p:spPr>
          <a:xfrm>
            <a:off x="5943600" y="1325880"/>
            <a:ext cx="5422392" cy="365760"/>
          </a:xfrm>
          <a:prstGeom prst="rect">
            <a:avLst/>
          </a:prstGeom>
          <a:noFill/>
        </p:spPr>
        <p:txBody>
          <a:bodyPr wrap="square" anchor="t"/>
          <a:lstStyle/>
          <a:p>
            <a:pPr algn="l"/>
            <a:r>
              <a:rPr sz="2400" b="1" i="0">
                <a:solidFill>
                  <a:srgbClr val="00B4D8"/>
                </a:solidFill>
                <a:latin typeface="Calibri"/>
              </a:rPr>
              <a:t>Cross-Config Stability (16 configs)</a:t>
            </a:r>
          </a:p>
        </p:txBody>
      </p:sp>
      <p:graphicFrame>
        <p:nvGraphicFramePr>
          <p:cNvPr id="7" name="Table 6"/>
          <p:cNvGraphicFramePr>
            <a:graphicFrameLocks noGrp="1"/>
          </p:cNvGraphicFramePr>
          <p:nvPr/>
        </p:nvGraphicFramePr>
        <p:xfrm>
          <a:off x="5943600" y="1691640"/>
          <a:ext cx="5422392" cy="2084832"/>
        </p:xfrm>
        <a:graphic>
          <a:graphicData uri="http://schemas.openxmlformats.org/drawingml/2006/table">
            <a:tbl>
              <a:tblPr firstRow="0" bandRow="0" lastRow="0" bandCol="0">
                <a:tableStyleId>{5C22544A-7EE6-4342-B048-85BDC9FD1C3A}</a:tableStyleId>
              </a:tblPr>
              <a:tblGrid>
                <a:gridCol w="1807464"/>
                <a:gridCol w="1807464"/>
                <a:gridCol w="1807464"/>
              </a:tblGrid>
              <a:tr h="347472">
                <a:tc>
                  <a:txBody>
                    <a:bodyPr/>
                    <a:lstStyle/>
                    <a:p>
                      <a:pPr algn="ctr"/>
                      <a:r>
                        <a:rPr sz="2400" b="1" i="0">
                          <a:solidFill>
                            <a:srgbClr val="FFFFFF"/>
                          </a:solidFill>
                          <a:latin typeface="Calibri"/>
                        </a:rPr>
                        <a:t>Signal</a:t>
                      </a:r>
                    </a:p>
                  </a:txBody>
                  <a:tcPr>
                    <a:solidFill>
                      <a:srgbClr val="00b4d8"/>
                    </a:solidFill>
                  </a:tcPr>
                </a:tc>
                <a:tc>
                  <a:txBody>
                    <a:bodyPr/>
                    <a:lstStyle/>
                    <a:p>
                      <a:pPr algn="ctr"/>
                      <a:r>
                        <a:rPr sz="2400" b="1" i="0">
                          <a:solidFill>
                            <a:srgbClr val="FFFFFF"/>
                          </a:solidFill>
                          <a:latin typeface="Calibri"/>
                        </a:rPr>
                        <a:t>Stability</a:t>
                      </a:r>
                    </a:p>
                  </a:txBody>
                  <a:tcPr>
                    <a:solidFill>
                      <a:srgbClr val="00b4d8"/>
                    </a:solidFill>
                  </a:tcPr>
                </a:tc>
                <a:tc>
                  <a:txBody>
                    <a:bodyPr/>
                    <a:lstStyle/>
                    <a:p>
                      <a:pPr algn="ctr"/>
                      <a:r>
                        <a:rPr sz="2400" b="1" i="0">
                          <a:solidFill>
                            <a:srgbClr val="FFFFFF"/>
                          </a:solidFill>
                          <a:latin typeface="Calibri"/>
                        </a:rPr>
                        <a:t>Std</a:t>
                      </a:r>
                    </a:p>
                  </a:txBody>
                  <a:tcPr>
                    <a:solidFill>
                      <a:srgbClr val="00b4d8"/>
                    </a:solidFill>
                  </a:tcPr>
                </a:tc>
              </a:tr>
              <a:tr h="347472">
                <a:tc>
                  <a:txBody>
                    <a:bodyPr/>
                    <a:lstStyle/>
                    <a:p>
                      <a:pPr algn="l"/>
                      <a:r>
                        <a:rPr sz="2400" b="0" i="0">
                          <a:solidFill>
                            <a:srgbClr val="FFFFFF"/>
                          </a:solidFill>
                          <a:latin typeface="Calibri"/>
                        </a:rPr>
                        <a:t>Semantic</a:t>
                      </a:r>
                    </a:p>
                  </a:txBody>
                  <a:tcPr>
                    <a:solidFill>
                      <a:srgbClr val="0d1b2a"/>
                    </a:solidFill>
                  </a:tcPr>
                </a:tc>
                <a:tc>
                  <a:txBody>
                    <a:bodyPr/>
                    <a:lstStyle/>
                    <a:p>
                      <a:pPr algn="l"/>
                      <a:r>
                        <a:rPr sz="2400" b="0" i="0">
                          <a:solidFill>
                            <a:srgbClr val="4CAF50"/>
                          </a:solidFill>
                          <a:latin typeface="Calibri"/>
                        </a:rPr>
                        <a:t>Stable</a:t>
                      </a:r>
                    </a:p>
                  </a:txBody>
                  <a:tcPr>
                    <a:solidFill>
                      <a:srgbClr val="0d1b2a"/>
                    </a:solidFill>
                  </a:tcPr>
                </a:tc>
                <a:tc>
                  <a:txBody>
                    <a:bodyPr/>
                    <a:lstStyle/>
                    <a:p>
                      <a:pPr algn="l"/>
                      <a:r>
                        <a:rPr sz="2400" b="0" i="0">
                          <a:solidFill>
                            <a:srgbClr val="FFFFFF"/>
                          </a:solidFill>
                          <a:latin typeface="Calibri"/>
                        </a:rPr>
                        <a:t>0.017</a:t>
                      </a:r>
                    </a:p>
                  </a:txBody>
                  <a:tcPr>
                    <a:solidFill>
                      <a:srgbClr val="0d1b2a"/>
                    </a:solidFill>
                  </a:tcPr>
                </a:tc>
              </a:tr>
              <a:tr h="347472">
                <a:tc>
                  <a:txBody>
                    <a:bodyPr/>
                    <a:lstStyle/>
                    <a:p>
                      <a:pPr algn="l"/>
                      <a:r>
                        <a:rPr sz="2400" b="0" i="0">
                          <a:solidFill>
                            <a:srgbClr val="FFFFFF"/>
                          </a:solidFill>
                          <a:latin typeface="Calibri"/>
                        </a:rPr>
                        <a:t>Phonetic</a:t>
                      </a:r>
                    </a:p>
                  </a:txBody>
                  <a:tcPr>
                    <a:solidFill>
                      <a:srgbClr val="152a40"/>
                    </a:solidFill>
                  </a:tcPr>
                </a:tc>
                <a:tc>
                  <a:txBody>
                    <a:bodyPr/>
                    <a:lstStyle/>
                    <a:p>
                      <a:pPr algn="l"/>
                      <a:r>
                        <a:rPr sz="2400" b="0" i="0">
                          <a:solidFill>
                            <a:srgbClr val="4CAF50"/>
                          </a:solidFill>
                          <a:latin typeface="Calibri"/>
                        </a:rPr>
                        <a:t>Stable</a:t>
                      </a:r>
                    </a:p>
                  </a:txBody>
                  <a:tcPr>
                    <a:solidFill>
                      <a:srgbClr val="152a40"/>
                    </a:solidFill>
                  </a:tcPr>
                </a:tc>
                <a:tc>
                  <a:txBody>
                    <a:bodyPr/>
                    <a:lstStyle/>
                    <a:p>
                      <a:pPr algn="l"/>
                      <a:r>
                        <a:rPr sz="2400" b="0" i="0">
                          <a:solidFill>
                            <a:srgbClr val="FFFFFF"/>
                          </a:solidFill>
                          <a:latin typeface="Calibri"/>
                        </a:rPr>
                        <a:t>0.059</a:t>
                      </a:r>
                    </a:p>
                  </a:txBody>
                  <a:tcPr>
                    <a:solidFill>
                      <a:srgbClr val="152a40"/>
                    </a:solidFill>
                  </a:tcPr>
                </a:tc>
              </a:tr>
              <a:tr h="347472">
                <a:tc>
                  <a:txBody>
                    <a:bodyPr/>
                    <a:lstStyle/>
                    <a:p>
                      <a:pPr algn="l"/>
                      <a:r>
                        <a:rPr sz="2400" b="0" i="0">
                          <a:solidFill>
                            <a:srgbClr val="FFFFFF"/>
                          </a:solidFill>
                          <a:latin typeface="Calibri"/>
                        </a:rPr>
                        <a:t>NEA</a:t>
                      </a:r>
                    </a:p>
                  </a:txBody>
                  <a:tcPr>
                    <a:solidFill>
                      <a:srgbClr val="0d1b2a"/>
                    </a:solidFill>
                  </a:tcPr>
                </a:tc>
                <a:tc>
                  <a:txBody>
                    <a:bodyPr/>
                    <a:lstStyle/>
                    <a:p>
                      <a:pPr algn="l"/>
                      <a:r>
                        <a:rPr sz="2400" b="0" i="0">
                          <a:solidFill>
                            <a:srgbClr val="4CAF50"/>
                          </a:solidFill>
                          <a:latin typeface="Calibri"/>
                        </a:rPr>
                        <a:t>Stable</a:t>
                      </a:r>
                    </a:p>
                  </a:txBody>
                  <a:tcPr>
                    <a:solidFill>
                      <a:srgbClr val="0d1b2a"/>
                    </a:solidFill>
                  </a:tcPr>
                </a:tc>
                <a:tc>
                  <a:txBody>
                    <a:bodyPr/>
                    <a:lstStyle/>
                    <a:p>
                      <a:pPr algn="l"/>
                      <a:r>
                        <a:rPr sz="2400" b="0" i="0">
                          <a:solidFill>
                            <a:srgbClr val="FFFFFF"/>
                          </a:solidFill>
                          <a:latin typeface="Calibri"/>
                        </a:rPr>
                        <a:t>0.023</a:t>
                      </a:r>
                    </a:p>
                  </a:txBody>
                  <a:tcPr>
                    <a:solidFill>
                      <a:srgbClr val="0d1b2a"/>
                    </a:solidFill>
                  </a:tcPr>
                </a:tc>
              </a:tr>
              <a:tr h="347472">
                <a:tc>
                  <a:txBody>
                    <a:bodyPr/>
                    <a:lstStyle/>
                    <a:p>
                      <a:pPr algn="l"/>
                      <a:r>
                        <a:rPr sz="2400" b="0" i="0">
                          <a:solidFill>
                            <a:srgbClr val="FFFFFF"/>
                          </a:solidFill>
                          <a:latin typeface="Calibri"/>
                        </a:rPr>
                        <a:t>WER</a:t>
                      </a:r>
                    </a:p>
                  </a:txBody>
                  <a:tcPr>
                    <a:solidFill>
                      <a:srgbClr val="152a40"/>
                    </a:solidFill>
                  </a:tcPr>
                </a:tc>
                <a:tc>
                  <a:txBody>
                    <a:bodyPr/>
                    <a:lstStyle/>
                    <a:p>
                      <a:pPr algn="l"/>
                      <a:r>
                        <a:rPr sz="2400" b="0" i="0">
                          <a:solidFill>
                            <a:srgbClr val="E06C75"/>
                          </a:solidFill>
                          <a:latin typeface="Calibri"/>
                        </a:rPr>
                        <a:t>Volatile</a:t>
                      </a:r>
                    </a:p>
                  </a:txBody>
                  <a:tcPr>
                    <a:solidFill>
                      <a:srgbClr val="152a40"/>
                    </a:solidFill>
                  </a:tcPr>
                </a:tc>
                <a:tc>
                  <a:txBody>
                    <a:bodyPr/>
                    <a:lstStyle/>
                    <a:p>
                      <a:pPr algn="l"/>
                      <a:r>
                        <a:rPr sz="2400" b="0" i="0">
                          <a:solidFill>
                            <a:srgbClr val="FFFFFF"/>
                          </a:solidFill>
                          <a:latin typeface="Calibri"/>
                        </a:rPr>
                        <a:t>0.165</a:t>
                      </a:r>
                    </a:p>
                  </a:txBody>
                  <a:tcPr>
                    <a:solidFill>
                      <a:srgbClr val="152a40"/>
                    </a:solidFill>
                  </a:tcPr>
                </a:tc>
              </a:tr>
              <a:tr h="347472">
                <a:tc>
                  <a:txBody>
                    <a:bodyPr/>
                    <a:lstStyle/>
                    <a:p>
                      <a:pPr algn="l"/>
                      <a:r>
                        <a:rPr sz="2400" b="0" i="0">
                          <a:solidFill>
                            <a:srgbClr val="FFFFFF"/>
                          </a:solidFill>
                          <a:latin typeface="Calibri"/>
                        </a:rPr>
                        <a:t>Length</a:t>
                      </a:r>
                    </a:p>
                  </a:txBody>
                  <a:tcPr>
                    <a:solidFill>
                      <a:srgbClr val="0d1b2a"/>
                    </a:solidFill>
                  </a:tcPr>
                </a:tc>
                <a:tc>
                  <a:txBody>
                    <a:bodyPr/>
                    <a:lstStyle/>
                    <a:p>
                      <a:pPr algn="l"/>
                      <a:r>
                        <a:rPr sz="2400" b="0" i="0">
                          <a:solidFill>
                            <a:srgbClr val="E06C75"/>
                          </a:solidFill>
                          <a:latin typeface="Calibri"/>
                        </a:rPr>
                        <a:t>Volatile</a:t>
                      </a:r>
                    </a:p>
                  </a:txBody>
                  <a:tcPr>
                    <a:solidFill>
                      <a:srgbClr val="0d1b2a"/>
                    </a:solidFill>
                  </a:tcPr>
                </a:tc>
                <a:tc>
                  <a:txBody>
                    <a:bodyPr/>
                    <a:lstStyle/>
                    <a:p>
                      <a:pPr algn="l"/>
                      <a:r>
                        <a:rPr sz="2400" b="0" i="0">
                          <a:solidFill>
                            <a:srgbClr val="FFFFFF"/>
                          </a:solidFill>
                          <a:latin typeface="Calibri"/>
                        </a:rPr>
                        <a:t>0.142</a:t>
                      </a:r>
                    </a:p>
                  </a:txBody>
                  <a:tcPr>
                    <a:solidFill>
                      <a:srgbClr val="0d1b2a"/>
                    </a:solidFill>
                  </a:tcPr>
                </a:tc>
              </a:tr>
            </a:tbl>
          </a:graphicData>
        </a:graphic>
      </p:graphicFrame>
      <p:sp>
        <p:nvSpPr>
          <p:cNvPr id="8" name="TextBox 7"/>
          <p:cNvSpPr txBox="1"/>
          <p:nvPr/>
        </p:nvSpPr>
        <p:spPr>
          <a:xfrm>
            <a:off x="5943600" y="4114800"/>
            <a:ext cx="5422392" cy="365760"/>
          </a:xfrm>
          <a:prstGeom prst="rect">
            <a:avLst/>
          </a:prstGeom>
          <a:noFill/>
        </p:spPr>
        <p:txBody>
          <a:bodyPr wrap="square" anchor="t"/>
          <a:lstStyle/>
          <a:p>
            <a:pPr algn="l"/>
            <a:r>
              <a:rPr sz="2400" b="1" i="0">
                <a:solidFill>
                  <a:srgbClr val="00B4D8"/>
                </a:solidFill>
                <a:latin typeface="Calibri"/>
              </a:rPr>
              <a:t>Heuristic Validation (no runtime LLM)</a:t>
            </a:r>
          </a:p>
        </p:txBody>
      </p:sp>
      <p:graphicFrame>
        <p:nvGraphicFramePr>
          <p:cNvPr id="9" name="Table 8"/>
          <p:cNvGraphicFramePr>
            <a:graphicFrameLocks noGrp="1"/>
          </p:cNvGraphicFramePr>
          <p:nvPr/>
        </p:nvGraphicFramePr>
        <p:xfrm>
          <a:off x="5943600" y="4526280"/>
          <a:ext cx="5422392" cy="1828800"/>
        </p:xfrm>
        <a:graphic>
          <a:graphicData uri="http://schemas.openxmlformats.org/drawingml/2006/table">
            <a:tbl>
              <a:tblPr firstRow="0" bandRow="0" lastRow="0" bandCol="0">
                <a:tableStyleId>{5C22544A-7EE6-4342-B048-85BDC9FD1C3A}</a:tableStyleId>
              </a:tblPr>
              <a:tblGrid>
                <a:gridCol w="2834640"/>
                <a:gridCol w="2587752"/>
              </a:tblGrid>
              <a:tr h="365760">
                <a:tc>
                  <a:txBody>
                    <a:bodyPr/>
                    <a:lstStyle/>
                    <a:p>
                      <a:pPr algn="ctr"/>
                      <a:r>
                        <a:rPr sz="2400" b="1" i="0">
                          <a:solidFill>
                            <a:srgbClr val="FFFFFF"/>
                          </a:solidFill>
                          <a:latin typeface="Calibri"/>
                        </a:rPr>
                        <a:t>Metric</a:t>
                      </a:r>
                    </a:p>
                  </a:txBody>
                  <a:tcPr>
                    <a:solidFill>
                      <a:srgbClr val="00b4d8"/>
                    </a:solidFill>
                  </a:tcPr>
                </a:tc>
                <a:tc>
                  <a:txBody>
                    <a:bodyPr/>
                    <a:lstStyle/>
                    <a:p>
                      <a:pPr algn="ctr"/>
                      <a:r>
                        <a:rPr sz="2400" b="1" i="0">
                          <a:solidFill>
                            <a:srgbClr val="FFFFFF"/>
                          </a:solidFill>
                          <a:latin typeface="Calibri"/>
                        </a:rPr>
                        <a:t>Value</a:t>
                      </a:r>
                    </a:p>
                  </a:txBody>
                  <a:tcPr>
                    <a:solidFill>
                      <a:srgbClr val="00b4d8"/>
                    </a:solidFill>
                  </a:tcPr>
                </a:tc>
              </a:tr>
              <a:tr h="365760">
                <a:tc>
                  <a:txBody>
                    <a:bodyPr/>
                    <a:lstStyle/>
                    <a:p>
                      <a:pPr algn="l"/>
                      <a:r>
                        <a:rPr sz="2400" b="0" i="0">
                          <a:solidFill>
                            <a:srgbClr val="FFFFFF"/>
                          </a:solidFill>
                          <a:latin typeface="Calibri"/>
                        </a:rPr>
                        <a:t>Mean r</a:t>
                      </a:r>
                    </a:p>
                  </a:txBody>
                  <a:tcPr>
                    <a:solidFill>
                      <a:srgbClr val="0d1b2a"/>
                    </a:solidFill>
                  </a:tcPr>
                </a:tc>
                <a:tc>
                  <a:txBody>
                    <a:bodyPr/>
                    <a:lstStyle/>
                    <a:p>
                      <a:pPr algn="l"/>
                      <a:r>
                        <a:rPr sz="2400" b="0" i="0">
                          <a:solidFill>
                            <a:srgbClr val="FFFFFF"/>
                          </a:solidFill>
                          <a:latin typeface="Calibri"/>
                        </a:rPr>
                        <a:t>0.925 (std 0.015)</a:t>
                      </a:r>
                    </a:p>
                  </a:txBody>
                  <a:tcPr>
                    <a:solidFill>
                      <a:srgbClr val="0d1b2a"/>
                    </a:solidFill>
                  </a:tcPr>
                </a:tc>
              </a:tr>
              <a:tr h="365760">
                <a:tc>
                  <a:txBody>
                    <a:bodyPr/>
                    <a:lstStyle/>
                    <a:p>
                      <a:pPr algn="l"/>
                      <a:r>
                        <a:rPr sz="2400" b="0" i="0">
                          <a:solidFill>
                            <a:srgbClr val="FFFFFF"/>
                          </a:solidFill>
                          <a:latin typeface="Calibri"/>
                        </a:rPr>
                        <a:t>Agreement (IS ≥ 2.00)</a:t>
                      </a:r>
                    </a:p>
                  </a:txBody>
                  <a:tcPr>
                    <a:solidFill>
                      <a:srgbClr val="152a40"/>
                    </a:solidFill>
                  </a:tcPr>
                </a:tc>
                <a:tc>
                  <a:txBody>
                    <a:bodyPr/>
                    <a:lstStyle/>
                    <a:p>
                      <a:pPr algn="l"/>
                      <a:r>
                        <a:rPr sz="2400" b="0" i="0">
                          <a:solidFill>
                            <a:srgbClr val="FFFFFF"/>
                          </a:solidFill>
                          <a:latin typeface="Calibri"/>
                        </a:rPr>
                        <a:t>κ = 0.818</a:t>
                      </a:r>
                    </a:p>
                  </a:txBody>
                  <a:tcPr>
                    <a:solidFill>
                      <a:srgbClr val="152a40"/>
                    </a:solidFill>
                  </a:tcPr>
                </a:tc>
              </a:tr>
              <a:tr h="365760">
                <a:tc>
                  <a:txBody>
                    <a:bodyPr/>
                    <a:lstStyle/>
                    <a:p>
                      <a:pPr algn="l"/>
                      <a:r>
                        <a:rPr sz="2400" b="0" i="0">
                          <a:solidFill>
                            <a:srgbClr val="FFFFFF"/>
                          </a:solidFill>
                          <a:latin typeface="Calibri"/>
                        </a:rPr>
                        <a:t>Agreement (IS ≥ 3.80)</a:t>
                      </a:r>
                    </a:p>
                  </a:txBody>
                  <a:tcPr>
                    <a:solidFill>
                      <a:srgbClr val="0d1b2a"/>
                    </a:solidFill>
                  </a:tcPr>
                </a:tc>
                <a:tc>
                  <a:txBody>
                    <a:bodyPr/>
                    <a:lstStyle/>
                    <a:p>
                      <a:pPr algn="l"/>
                      <a:r>
                        <a:rPr sz="2400" b="0" i="0">
                          <a:solidFill>
                            <a:srgbClr val="FFFFFF"/>
                          </a:solidFill>
                          <a:latin typeface="Calibri"/>
                        </a:rPr>
                        <a:t>κ = 0.690</a:t>
                      </a:r>
                    </a:p>
                  </a:txBody>
                  <a:tcPr>
                    <a:solidFill>
                      <a:srgbClr val="0d1b2a"/>
                    </a:solidFill>
                  </a:tcPr>
                </a:tc>
              </a:tr>
              <a:tr h="365760">
                <a:tc>
                  <a:txBody>
                    <a:bodyPr/>
                    <a:lstStyle/>
                    <a:p>
                      <a:pPr algn="l"/>
                      <a:r>
                        <a:rPr sz="2400" b="0" i="0">
                          <a:solidFill>
                            <a:srgbClr val="FFFFFF"/>
                          </a:solidFill>
                          <a:latin typeface="Calibri"/>
                        </a:rPr>
                        <a:t>Recall (IS ≥ 2.00)</a:t>
                      </a:r>
                    </a:p>
                  </a:txBody>
                  <a:tcPr>
                    <a:solidFill>
                      <a:srgbClr val="152a40"/>
                    </a:solidFill>
                  </a:tcPr>
                </a:tc>
                <a:tc>
                  <a:txBody>
                    <a:bodyPr/>
                    <a:lstStyle/>
                    <a:p>
                      <a:pPr algn="l"/>
                      <a:r>
                        <a:rPr sz="2400" b="0" i="0">
                          <a:solidFill>
                            <a:srgbClr val="FFFFFF"/>
                          </a:solidFill>
                          <a:latin typeface="Calibri"/>
                        </a:rPr>
                        <a:t>97.6–100%</a:t>
                      </a:r>
                    </a:p>
                  </a:txBody>
                  <a:tcPr>
                    <a:solidFill>
                      <a:srgbClr val="152a40"/>
                    </a:solidFill>
                  </a:tcPr>
                </a:tc>
              </a:tr>
            </a:tbl>
          </a:graphicData>
        </a:graphic>
      </p:graphicFrame>
      <p:pic>
        <p:nvPicPr>
          <p:cNvPr id="10" name="Picture 9"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A3</a:t>
            </a:r>
          </a:p>
        </p:txBody>
      </p:sp>
    </p:spTree>
  </p:cSld>
  <p:clrMapOvr>
    <a:masterClrMapping/>
  </p:clrMapOvr>
  <p:transition spd="med"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A3: LLM Salvage — Recoverable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120640" cy="274320"/>
          </a:xfrm>
          <a:prstGeom prst="rect">
            <a:avLst/>
          </a:prstGeom>
          <a:noFill/>
        </p:spPr>
        <p:txBody>
          <a:bodyPr wrap="square" anchor="t"/>
          <a:lstStyle/>
          <a:p>
            <a:pPr algn="l"/>
            <a:r>
              <a:rPr sz="2400" b="1" i="0">
                <a:solidFill>
                  <a:srgbClr val="00B4D8"/>
                </a:solidFill>
                <a:latin typeface="Calibri"/>
              </a:rPr>
              <a:t>Key Numbers</a:t>
            </a:r>
          </a:p>
        </p:txBody>
      </p:sp>
      <p:graphicFrame>
        <p:nvGraphicFramePr>
          <p:cNvPr id="5" name="Table 4"/>
          <p:cNvGraphicFramePr>
            <a:graphicFrameLocks noGrp="1"/>
          </p:cNvGraphicFramePr>
          <p:nvPr/>
        </p:nvGraphicFramePr>
        <p:xfrm>
          <a:off x="548640" y="1691640"/>
          <a:ext cx="5120640" cy="2304288"/>
        </p:xfrm>
        <a:graphic>
          <a:graphicData uri="http://schemas.openxmlformats.org/drawingml/2006/table">
            <a:tbl>
              <a:tblPr firstRow="0" bandRow="0" lastRow="0" bandCol="0">
                <a:tableStyleId>{5C22544A-7EE6-4342-B048-85BDC9FD1C3A}</a:tableStyleId>
              </a:tblPr>
              <a:tblGrid>
                <a:gridCol w="3200400"/>
                <a:gridCol w="1920240"/>
              </a:tblGrid>
              <a:tr h="384048">
                <a:tc>
                  <a:txBody>
                    <a:bodyPr/>
                    <a:lstStyle/>
                    <a:p>
                      <a:pPr algn="ctr"/>
                      <a:r>
                        <a:rPr sz="2400" b="1" i="0">
                          <a:solidFill>
                            <a:srgbClr val="FFFFFF"/>
                          </a:solidFill>
                          <a:latin typeface="Calibri"/>
                        </a:rPr>
                        <a:t>Metric</a:t>
                      </a:r>
                    </a:p>
                  </a:txBody>
                  <a:tcPr>
                    <a:solidFill>
                      <a:srgbClr val="00b4d8"/>
                    </a:solidFill>
                  </a:tcPr>
                </a:tc>
                <a:tc>
                  <a:txBody>
                    <a:bodyPr/>
                    <a:lstStyle/>
                    <a:p>
                      <a:pPr algn="ctr"/>
                      <a:r>
                        <a:rPr sz="2400" b="1" i="0">
                          <a:solidFill>
                            <a:srgbClr val="FFFFFF"/>
                          </a:solidFill>
                          <a:latin typeface="Calibri"/>
                        </a:rPr>
                        <a:t>Value</a:t>
                      </a:r>
                    </a:p>
                  </a:txBody>
                  <a:tcPr>
                    <a:solidFill>
                      <a:srgbClr val="00b4d8"/>
                    </a:solidFill>
                  </a:tcPr>
                </a:tc>
              </a:tr>
              <a:tr h="384048">
                <a:tc>
                  <a:txBody>
                    <a:bodyPr/>
                    <a:lstStyle/>
                    <a:p>
                      <a:pPr algn="l"/>
                      <a:r>
                        <a:rPr sz="2400" b="0" i="0">
                          <a:solidFill>
                            <a:srgbClr val="FFFFFF"/>
                          </a:solidFill>
                          <a:latin typeface="Calibri"/>
                        </a:rPr>
                        <a:t>Metric-failed segs</a:t>
                      </a:r>
                    </a:p>
                  </a:txBody>
                  <a:tcPr>
                    <a:solidFill>
                      <a:srgbClr val="0d1b2a"/>
                    </a:solidFill>
                  </a:tcPr>
                </a:tc>
                <a:tc>
                  <a:txBody>
                    <a:bodyPr/>
                    <a:lstStyle/>
                    <a:p>
                      <a:pPr algn="l"/>
                      <a:r>
                        <a:rPr sz="2400" b="0" i="0">
                          <a:solidFill>
                            <a:srgbClr val="FFFFFF"/>
                          </a:solidFill>
                          <a:latin typeface="Calibri"/>
                        </a:rPr>
                        <a:t>900</a:t>
                      </a:r>
                    </a:p>
                  </a:txBody>
                  <a:tcPr>
                    <a:solidFill>
                      <a:srgbClr val="0d1b2a"/>
                    </a:solidFill>
                  </a:tcPr>
                </a:tc>
              </a:tr>
              <a:tr h="384048">
                <a:tc>
                  <a:txBody>
                    <a:bodyPr/>
                    <a:lstStyle/>
                    <a:p>
                      <a:pPr algn="l"/>
                      <a:r>
                        <a:rPr sz="2400" b="0" i="0">
                          <a:solidFill>
                            <a:srgbClr val="FFFFFF"/>
                          </a:solidFill>
                          <a:latin typeface="Calibri"/>
                        </a:rPr>
                        <a:t>LLM-recoverable</a:t>
                      </a:r>
                    </a:p>
                  </a:txBody>
                  <a:tcPr>
                    <a:solidFill>
                      <a:srgbClr val="152a40"/>
                    </a:solidFill>
                  </a:tcPr>
                </a:tc>
                <a:tc>
                  <a:txBody>
                    <a:bodyPr/>
                    <a:lstStyle/>
                    <a:p>
                      <a:pPr algn="l"/>
                      <a:r>
                        <a:rPr sz="2400" b="0" i="0">
                          <a:solidFill>
                            <a:srgbClr val="00B4D8"/>
                          </a:solidFill>
                          <a:latin typeface="Calibri"/>
                        </a:rPr>
                        <a:t>165 (18%)</a:t>
                      </a:r>
                    </a:p>
                  </a:txBody>
                  <a:tcPr>
                    <a:solidFill>
                      <a:srgbClr val="152a40"/>
                    </a:solidFill>
                  </a:tcPr>
                </a:tc>
              </a:tr>
              <a:tr h="384048">
                <a:tc>
                  <a:txBody>
                    <a:bodyPr/>
                    <a:lstStyle/>
                    <a:p>
                      <a:pPr algn="l"/>
                      <a:r>
                        <a:rPr sz="2400" b="0" i="0">
                          <a:solidFill>
                            <a:srgbClr val="FFFFFF"/>
                          </a:solidFill>
                          <a:latin typeface="Calibri"/>
                        </a:rPr>
                        <a:t>Useful (IS ≥ 2.00, top-1)</a:t>
                      </a:r>
                    </a:p>
                  </a:txBody>
                  <a:tcPr>
                    <a:solidFill>
                      <a:srgbClr val="0d1b2a"/>
                    </a:solidFill>
                  </a:tcPr>
                </a:tc>
                <a:tc>
                  <a:txBody>
                    <a:bodyPr/>
                    <a:lstStyle/>
                    <a:p>
                      <a:pPr algn="l"/>
                      <a:r>
                        <a:rPr sz="2400" b="0" i="0">
                          <a:solidFill>
                            <a:srgbClr val="FFFFFF"/>
                          </a:solidFill>
                          <a:latin typeface="Calibri"/>
                        </a:rPr>
                        <a:t>62%</a:t>
                      </a:r>
                    </a:p>
                  </a:txBody>
                  <a:tcPr>
                    <a:solidFill>
                      <a:srgbClr val="0d1b2a"/>
                    </a:solidFill>
                  </a:tcPr>
                </a:tc>
              </a:tr>
              <a:tr h="384048">
                <a:tc>
                  <a:txBody>
                    <a:bodyPr/>
                    <a:lstStyle/>
                    <a:p>
                      <a:pPr algn="l"/>
                      <a:r>
                        <a:rPr sz="2400" b="0" i="0">
                          <a:solidFill>
                            <a:srgbClr val="FFFFFF"/>
                          </a:solidFill>
                          <a:latin typeface="Calibri"/>
                        </a:rPr>
                        <a:t>Judge v1 blind (Y+P)</a:t>
                      </a:r>
                    </a:p>
                  </a:txBody>
                  <a:tcPr>
                    <a:solidFill>
                      <a:srgbClr val="152a40"/>
                    </a:solidFill>
                  </a:tcPr>
                </a:tc>
                <a:tc>
                  <a:txBody>
                    <a:bodyPr/>
                    <a:lstStyle/>
                    <a:p>
                      <a:pPr algn="l"/>
                      <a:r>
                        <a:rPr sz="2400" b="0" i="0">
                          <a:solidFill>
                            <a:srgbClr val="00B4D8"/>
                          </a:solidFill>
                          <a:latin typeface="Calibri"/>
                        </a:rPr>
                        <a:t>65%</a:t>
                      </a:r>
                    </a:p>
                  </a:txBody>
                  <a:tcPr>
                    <a:solidFill>
                      <a:srgbClr val="152a40"/>
                    </a:solidFill>
                  </a:tcPr>
                </a:tc>
              </a:tr>
              <a:tr h="384048">
                <a:tc>
                  <a:txBody>
                    <a:bodyPr/>
                    <a:lstStyle/>
                    <a:p>
                      <a:pPr algn="l"/>
                      <a:r>
                        <a:rPr sz="2400" b="0" i="0">
                          <a:solidFill>
                            <a:srgbClr val="FFFFFF"/>
                          </a:solidFill>
                          <a:latin typeface="Calibri"/>
                        </a:rPr>
                        <a:t>IS vs Judge κ</a:t>
                      </a:r>
                    </a:p>
                  </a:txBody>
                  <a:tcPr>
                    <a:solidFill>
                      <a:srgbClr val="0d1b2a"/>
                    </a:solidFill>
                  </a:tcPr>
                </a:tc>
                <a:tc>
                  <a:txBody>
                    <a:bodyPr/>
                    <a:lstStyle/>
                    <a:p>
                      <a:pPr algn="l"/>
                      <a:r>
                        <a:rPr sz="2400" b="0" i="0">
                          <a:solidFill>
                            <a:srgbClr val="FFFFFF"/>
                          </a:solidFill>
                          <a:latin typeface="Calibri"/>
                        </a:rPr>
                        <a:t>0.818</a:t>
                      </a:r>
                    </a:p>
                  </a:txBody>
                  <a:tcPr>
                    <a:solidFill>
                      <a:srgbClr val="0d1b2a"/>
                    </a:solidFill>
                  </a:tcPr>
                </a:tc>
              </a:tr>
            </a:tbl>
          </a:graphicData>
        </a:graphic>
      </p:graphicFrame>
      <p:sp>
        <p:nvSpPr>
          <p:cNvPr id="6" name="TextBox 5"/>
          <p:cNvSpPr txBox="1"/>
          <p:nvPr/>
        </p:nvSpPr>
        <p:spPr>
          <a:xfrm>
            <a:off x="548640" y="4251960"/>
            <a:ext cx="5120640" cy="1280160"/>
          </a:xfrm>
          <a:prstGeom prst="rect">
            <a:avLst/>
          </a:prstGeom>
          <a:noFill/>
        </p:spPr>
        <p:txBody>
          <a:bodyPr wrap="square" anchor="t"/>
          <a:lstStyle/>
          <a:p>
            <a:pPr algn="l"/>
            <a:r>
              <a:rPr sz="2400" b="0" i="0">
                <a:solidFill>
                  <a:srgbClr val="AAAAAA"/>
                </a:solidFill>
                <a:latin typeface="Calibri"/>
              </a:rPr>
              <a:t>58% salvageable have WER 50–70%.</a:t>
            </a:r>
            <a:br/>
            <a:r>
              <a:rPr sz="2400" b="0" i="0">
                <a:solidFill>
                  <a:srgbClr val="AAAAAA"/>
                </a:solidFill>
                <a:latin typeface="Calibri"/>
              </a:rPr>
              <a:t>Decision tree: 15 rules, r=0.934 with IS.</a:t>
            </a:r>
          </a:p>
        </p:txBody>
      </p:sp>
      <p:sp>
        <p:nvSpPr>
          <p:cNvPr id="7" name="TextBox 6"/>
          <p:cNvSpPr txBox="1"/>
          <p:nvPr/>
        </p:nvSpPr>
        <p:spPr>
          <a:xfrm>
            <a:off x="5943600" y="1325880"/>
            <a:ext cx="5422392" cy="320040"/>
          </a:xfrm>
          <a:prstGeom prst="rect">
            <a:avLst/>
          </a:prstGeom>
          <a:noFill/>
        </p:spPr>
        <p:txBody>
          <a:bodyPr wrap="square" anchor="t"/>
          <a:lstStyle/>
          <a:p>
            <a:pPr algn="l"/>
            <a:r>
              <a:rPr sz="2400" b="1" i="0">
                <a:solidFill>
                  <a:srgbClr val="00B4D8"/>
                </a:solidFill>
                <a:latin typeface="Calibri"/>
              </a:rPr>
              <a:t>6 Recovery Categories</a:t>
            </a:r>
          </a:p>
        </p:txBody>
      </p:sp>
      <p:graphicFrame>
        <p:nvGraphicFramePr>
          <p:cNvPr id="8" name="Table 7"/>
          <p:cNvGraphicFramePr>
            <a:graphicFrameLocks noGrp="1"/>
          </p:cNvGraphicFramePr>
          <p:nvPr/>
        </p:nvGraphicFramePr>
        <p:xfrm>
          <a:off x="5943600" y="1691640"/>
          <a:ext cx="5422392" cy="2688336"/>
        </p:xfrm>
        <a:graphic>
          <a:graphicData uri="http://schemas.openxmlformats.org/drawingml/2006/table">
            <a:tbl>
              <a:tblPr firstRow="0" bandRow="0" lastRow="0" bandCol="0">
                <a:tableStyleId>{5C22544A-7EE6-4342-B048-85BDC9FD1C3A}</a:tableStyleId>
              </a:tblPr>
              <a:tblGrid>
                <a:gridCol w="2377440"/>
                <a:gridCol w="640080"/>
                <a:gridCol w="2404872"/>
              </a:tblGrid>
              <a:tr h="384048">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N</a:t>
                      </a:r>
                    </a:p>
                  </a:txBody>
                  <a:tcPr>
                    <a:solidFill>
                      <a:srgbClr val="00b4d8"/>
                    </a:solidFill>
                  </a:tcPr>
                </a:tc>
                <a:tc>
                  <a:txBody>
                    <a:bodyPr/>
                    <a:lstStyle/>
                    <a:p>
                      <a:pPr algn="ctr"/>
                      <a:r>
                        <a:rPr sz="2400" b="1" i="0">
                          <a:solidFill>
                            <a:srgbClr val="FFFFFF"/>
                          </a:solidFill>
                          <a:latin typeface="Calibri"/>
                        </a:rPr>
                        <a:t>Key Signal</a:t>
                      </a:r>
                    </a:p>
                  </a:txBody>
                  <a:tcPr>
                    <a:solidFill>
                      <a:srgbClr val="00b4d8"/>
                    </a:solidFill>
                  </a:tcPr>
                </a:tc>
              </a:tr>
              <a:tr h="384048">
                <a:tc>
                  <a:txBody>
                    <a:bodyPr/>
                    <a:lstStyle/>
                    <a:p>
                      <a:pPr algn="l"/>
                      <a:r>
                        <a:rPr sz="2400" b="0" i="0">
                          <a:solidFill>
                            <a:srgbClr val="FFFFFF"/>
                          </a:solidFill>
                          <a:latin typeface="Calibri"/>
                        </a:rPr>
                        <a:t>Hidden Gems</a:t>
                      </a:r>
                    </a:p>
                  </a:txBody>
                  <a:tcPr>
                    <a:solidFill>
                      <a:srgbClr val="0d1b2a"/>
                    </a:solidFill>
                  </a:tcPr>
                </a:tc>
                <a:tc>
                  <a:txBody>
                    <a:bodyPr/>
                    <a:lstStyle/>
                    <a:p>
                      <a:pPr algn="l"/>
                      <a:r>
                        <a:rPr sz="2400" b="0" i="0">
                          <a:solidFill>
                            <a:srgbClr val="FFFFFF"/>
                          </a:solidFill>
                          <a:latin typeface="Calibri"/>
                        </a:rPr>
                        <a:t>54</a:t>
                      </a:r>
                    </a:p>
                  </a:txBody>
                  <a:tcPr>
                    <a:solidFill>
                      <a:srgbClr val="0d1b2a"/>
                    </a:solidFill>
                  </a:tcPr>
                </a:tc>
                <a:tc>
                  <a:txBody>
                    <a:bodyPr/>
                    <a:lstStyle/>
                    <a:p>
                      <a:pPr algn="l"/>
                      <a:r>
                        <a:rPr sz="2400" b="0" i="0">
                          <a:solidFill>
                            <a:srgbClr val="FFFFFF"/>
                          </a:solidFill>
                          <a:latin typeface="Calibri"/>
                        </a:rPr>
                        <a:t>LLM prob ≥ 0.8</a:t>
                      </a:r>
                    </a:p>
                  </a:txBody>
                  <a:tcPr>
                    <a:solidFill>
                      <a:srgbClr val="0d1b2a"/>
                    </a:solidFill>
                  </a:tcPr>
                </a:tc>
              </a:tr>
              <a:tr h="384048">
                <a:tc>
                  <a:txBody>
                    <a:bodyPr/>
                    <a:lstStyle/>
                    <a:p>
                      <a:pPr algn="l"/>
                      <a:r>
                        <a:rPr sz="2400" b="0" i="0">
                          <a:solidFill>
                            <a:srgbClr val="FFFFFF"/>
                          </a:solidFill>
                          <a:latin typeface="Calibri"/>
                        </a:rPr>
                        <a:t>Semantic Pres.</a:t>
                      </a:r>
                    </a:p>
                  </a:txBody>
                  <a:tcPr>
                    <a:solidFill>
                      <a:srgbClr val="152a40"/>
                    </a:solidFill>
                  </a:tcPr>
                </a:tc>
                <a:tc>
                  <a:txBody>
                    <a:bodyPr/>
                    <a:lstStyle/>
                    <a:p>
                      <a:pPr algn="l"/>
                      <a:r>
                        <a:rPr sz="2400" b="0" i="0">
                          <a:solidFill>
                            <a:srgbClr val="FFFFFF"/>
                          </a:solidFill>
                          <a:latin typeface="Calibri"/>
                        </a:rPr>
                        <a:t>57</a:t>
                      </a:r>
                    </a:p>
                  </a:txBody>
                  <a:tcPr>
                    <a:solidFill>
                      <a:srgbClr val="152a40"/>
                    </a:solidFill>
                  </a:tcPr>
                </a:tc>
                <a:tc>
                  <a:txBody>
                    <a:bodyPr/>
                    <a:lstStyle/>
                    <a:p>
                      <a:pPr algn="l"/>
                      <a:r>
                        <a:rPr sz="2400" b="0" i="0">
                          <a:solidFill>
                            <a:srgbClr val="FFFFFF"/>
                          </a:solidFill>
                          <a:latin typeface="Calibri"/>
                        </a:rPr>
                        <a:t>Semantic ≥ 0.5</a:t>
                      </a:r>
                    </a:p>
                  </a:txBody>
                  <a:tcPr>
                    <a:solidFill>
                      <a:srgbClr val="152a40"/>
                    </a:solidFill>
                  </a:tcPr>
                </a:tc>
              </a:tr>
              <a:tr h="384048">
                <a:tc>
                  <a:txBody>
                    <a:bodyPr/>
                    <a:lstStyle/>
                    <a:p>
                      <a:pPr algn="l"/>
                      <a:r>
                        <a:rPr sz="2400" b="0" i="0">
                          <a:solidFill>
                            <a:srgbClr val="FFFFFF"/>
                          </a:solidFill>
                          <a:latin typeface="Calibri"/>
                        </a:rPr>
                        <a:t>Phonetic Bridge</a:t>
                      </a:r>
                    </a:p>
                  </a:txBody>
                  <a:tcPr>
                    <a:solidFill>
                      <a:srgbClr val="0d1b2a"/>
                    </a:solidFill>
                  </a:tcPr>
                </a:tc>
                <a:tc>
                  <a:txBody>
                    <a:bodyPr/>
                    <a:lstStyle/>
                    <a:p>
                      <a:pPr algn="l"/>
                      <a:r>
                        <a:rPr sz="2400" b="0" i="0">
                          <a:solidFill>
                            <a:srgbClr val="FFFFFF"/>
                          </a:solidFill>
                          <a:latin typeface="Calibri"/>
                        </a:rPr>
                        <a:t>93</a:t>
                      </a:r>
                    </a:p>
                  </a:txBody>
                  <a:tcPr>
                    <a:solidFill>
                      <a:srgbClr val="0d1b2a"/>
                    </a:solidFill>
                  </a:tcPr>
                </a:tc>
                <a:tc>
                  <a:txBody>
                    <a:bodyPr/>
                    <a:lstStyle/>
                    <a:p>
                      <a:pPr algn="l"/>
                      <a:r>
                        <a:rPr sz="2400" b="0" i="0">
                          <a:solidFill>
                            <a:srgbClr val="FFFFFF"/>
                          </a:solidFill>
                          <a:latin typeface="Calibri"/>
                        </a:rPr>
                        <a:t>Phonetic ≥ 0.6</a:t>
                      </a:r>
                    </a:p>
                  </a:txBody>
                  <a:tcPr>
                    <a:solidFill>
                      <a:srgbClr val="0d1b2a"/>
                    </a:solidFill>
                  </a:tcPr>
                </a:tc>
              </a:tr>
              <a:tr h="384048">
                <a:tc>
                  <a:txBody>
                    <a:bodyPr/>
                    <a:lstStyle/>
                    <a:p>
                      <a:pPr algn="l"/>
                      <a:r>
                        <a:rPr sz="2400" b="0" i="0">
                          <a:solidFill>
                            <a:srgbClr val="FFFFFF"/>
                          </a:solidFill>
                          <a:latin typeface="Calibri"/>
                        </a:rPr>
                        <a:t>Entity-Preserved</a:t>
                      </a:r>
                    </a:p>
                  </a:txBody>
                  <a:tcPr>
                    <a:solidFill>
                      <a:srgbClr val="152a40"/>
                    </a:solidFill>
                  </a:tcPr>
                </a:tc>
                <a:tc>
                  <a:txBody>
                    <a:bodyPr/>
                    <a:lstStyle/>
                    <a:p>
                      <a:pPr algn="l"/>
                      <a:r>
                        <a:rPr sz="2400" b="0" i="0">
                          <a:solidFill>
                            <a:srgbClr val="FFFFFF"/>
                          </a:solidFill>
                          <a:latin typeface="Calibri"/>
                        </a:rPr>
                        <a:t>44</a:t>
                      </a:r>
                    </a:p>
                  </a:txBody>
                  <a:tcPr>
                    <a:solidFill>
                      <a:srgbClr val="152a40"/>
                    </a:solidFill>
                  </a:tcPr>
                </a:tc>
                <a:tc>
                  <a:txBody>
                    <a:bodyPr/>
                    <a:lstStyle/>
                    <a:p>
                      <a:pPr algn="l"/>
                      <a:r>
                        <a:rPr sz="2400" b="0" i="0">
                          <a:solidFill>
                            <a:srgbClr val="FFFFFF"/>
                          </a:solidFill>
                          <a:latin typeface="Calibri"/>
                        </a:rPr>
                        <a:t>NEA F1 ≥ 50%</a:t>
                      </a:r>
                    </a:p>
                  </a:txBody>
                  <a:tcPr>
                    <a:solidFill>
                      <a:srgbClr val="152a40"/>
                    </a:solidFill>
                  </a:tcPr>
                </a:tc>
              </a:tr>
              <a:tr h="384048">
                <a:tc>
                  <a:txBody>
                    <a:bodyPr/>
                    <a:lstStyle/>
                    <a:p>
                      <a:pPr algn="l"/>
                      <a:r>
                        <a:rPr sz="2400" b="0" i="0">
                          <a:solidFill>
                            <a:srgbClr val="FFFFFF"/>
                          </a:solidFill>
                          <a:latin typeface="Calibri"/>
                        </a:rPr>
                        <a:t>Structure Match</a:t>
                      </a:r>
                    </a:p>
                  </a:txBody>
                  <a:tcPr>
                    <a:solidFill>
                      <a:srgbClr val="0d1b2a"/>
                    </a:solidFill>
                  </a:tcPr>
                </a:tc>
                <a:tc>
                  <a:txBody>
                    <a:bodyPr/>
                    <a:lstStyle/>
                    <a:p>
                      <a:pPr algn="l"/>
                      <a:r>
                        <a:rPr sz="2400" b="0" i="0">
                          <a:solidFill>
                            <a:srgbClr val="FFFFFF"/>
                          </a:solidFill>
                          <a:latin typeface="Calibri"/>
                        </a:rPr>
                        <a:t>74</a:t>
                      </a:r>
                    </a:p>
                  </a:txBody>
                  <a:tcPr>
                    <a:solidFill>
                      <a:srgbClr val="0d1b2a"/>
                    </a:solidFill>
                  </a:tcPr>
                </a:tc>
                <a:tc>
                  <a:txBody>
                    <a:bodyPr/>
                    <a:lstStyle/>
                    <a:p>
                      <a:pPr algn="l"/>
                      <a:r>
                        <a:rPr sz="2400" b="0" i="0">
                          <a:solidFill>
                            <a:srgbClr val="FFFFFF"/>
                          </a:solidFill>
                          <a:latin typeface="Calibri"/>
                        </a:rPr>
                        <a:t>Word order intact</a:t>
                      </a:r>
                    </a:p>
                  </a:txBody>
                  <a:tcPr>
                    <a:solidFill>
                      <a:srgbClr val="0d1b2a"/>
                    </a:solidFill>
                  </a:tcPr>
                </a:tc>
              </a:tr>
              <a:tr h="384048">
                <a:tc>
                  <a:txBody>
                    <a:bodyPr/>
                    <a:lstStyle/>
                    <a:p>
                      <a:pPr algn="l"/>
                      <a:r>
                        <a:rPr sz="2400" b="0" i="0">
                          <a:solidFill>
                            <a:srgbClr val="FFFFFF"/>
                          </a:solidFill>
                          <a:latin typeface="Calibri"/>
                        </a:rPr>
                        <a:t>WER Over‑Punish.</a:t>
                      </a:r>
                    </a:p>
                  </a:txBody>
                  <a:tcPr>
                    <a:solidFill>
                      <a:srgbClr val="152a40"/>
                    </a:solidFill>
                  </a:tcPr>
                </a:tc>
                <a:tc>
                  <a:txBody>
                    <a:bodyPr/>
                    <a:lstStyle/>
                    <a:p>
                      <a:pPr algn="l"/>
                      <a:r>
                        <a:rPr sz="2400" b="0" i="0">
                          <a:solidFill>
                            <a:srgbClr val="FFFFFF"/>
                          </a:solidFill>
                          <a:latin typeface="Calibri"/>
                        </a:rPr>
                        <a:t>27</a:t>
                      </a:r>
                    </a:p>
                  </a:txBody>
                  <a:tcPr>
                    <a:solidFill>
                      <a:srgbClr val="152a40"/>
                    </a:solidFill>
                  </a:tcPr>
                </a:tc>
                <a:tc>
                  <a:txBody>
                    <a:bodyPr/>
                    <a:lstStyle/>
                    <a:p>
                      <a:pPr algn="l"/>
                      <a:r>
                        <a:rPr sz="2400" b="0" i="0">
                          <a:solidFill>
                            <a:srgbClr val="FFFFFF"/>
                          </a:solidFill>
                          <a:latin typeface="Calibri"/>
                        </a:rPr>
                        <a:t>WER−WWER ≥ 10pp</a:t>
                      </a:r>
                    </a:p>
                  </a:txBody>
                  <a:tcPr>
                    <a:solidFill>
                      <a:srgbClr val="152a40"/>
                    </a:solidFill>
                  </a:tcPr>
                </a:tc>
              </a:tr>
            </a:tbl>
          </a:graphicData>
        </a:graphic>
      </p:graphicFrame>
      <p:sp>
        <p:nvSpPr>
          <p:cNvPr id="9" name="TextBox 8"/>
          <p:cNvSpPr txBox="1"/>
          <p:nvPr/>
        </p:nvSpPr>
        <p:spPr>
          <a:xfrm>
            <a:off x="5943600" y="4617720"/>
            <a:ext cx="5422392" cy="502920"/>
          </a:xfrm>
          <a:prstGeom prst="rect">
            <a:avLst/>
          </a:prstGeom>
          <a:noFill/>
        </p:spPr>
        <p:txBody>
          <a:bodyPr wrap="square" anchor="t"/>
          <a:lstStyle/>
          <a:p>
            <a:pPr algn="l"/>
            <a:r>
              <a:rPr sz="1800" b="0" i="1">
                <a:solidFill>
                  <a:srgbClr val="AAAAAA"/>
                </a:solidFill>
                <a:latin typeface="Calibri"/>
              </a:rPr>
              <a:t>Categories overlap — system delivers useful output for 1 in 2 segments.</a:t>
            </a:r>
          </a:p>
        </p:txBody>
      </p:sp>
      <p:pic>
        <p:nvPicPr>
          <p:cNvPr id="10" name="Picture 9"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1" name="TextBox 10"/>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A4</a:t>
            </a:r>
          </a:p>
        </p:txBody>
      </p:sp>
    </p:spTree>
  </p:cSld>
  <p:clrMapOvr>
    <a:masterClrMapping/>
  </p:clrMapOvr>
  <p:transition spd="med" advClick="1">
    <p:fade/>
  </p:transition>
</p:sld>
</file>

<file path=ppt/slides/slide94.xml><?xml version="1.0" encoding="utf-8"?>
<p:sld xmlns:a="http://schemas.openxmlformats.org/drawingml/2006/main" xmlns:p="http://schemas.openxmlformats.org/presentationml/2006/main" xmlns:r="http://schemas.openxmlformats.org/officeDocument/2006/relationships" show="0">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A5: LLM Salvage — Curated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411480"/>
          </a:xfrm>
          <a:prstGeom prst="rect">
            <a:avLst/>
          </a:prstGeom>
          <a:noFill/>
        </p:spPr>
        <p:txBody>
          <a:bodyPr wrap="square" anchor="t"/>
          <a:lstStyle/>
          <a:p>
            <a:pPr algn="l"/>
            <a:r>
              <a:rPr sz="2400" b="0" i="0">
                <a:solidFill>
                  <a:srgbClr val="AAAAAA"/>
                </a:solidFill>
                <a:latin typeface="Calibri"/>
              </a:rPr>
              <a:t>One real example per recovery category — all IS &lt; 2.0 (metrics say "failed") but heuristic says recoverable:</a:t>
            </a:r>
          </a:p>
        </p:txBody>
      </p:sp>
      <p:graphicFrame>
        <p:nvGraphicFramePr>
          <p:cNvPr id="5" name="Table 4"/>
          <p:cNvGraphicFramePr>
            <a:graphicFrameLocks noGrp="1"/>
          </p:cNvGraphicFramePr>
          <p:nvPr/>
        </p:nvGraphicFramePr>
        <p:xfrm>
          <a:off x="548640" y="1737360"/>
          <a:ext cx="11091672" cy="4608576"/>
        </p:xfrm>
        <a:graphic>
          <a:graphicData uri="http://schemas.openxmlformats.org/drawingml/2006/table">
            <a:tbl>
              <a:tblPr firstRow="0" bandRow="0" lastRow="0" bandCol="0">
                <a:tableStyleId>{5C22544A-7EE6-4342-B048-85BDC9FD1C3A}</a:tableStyleId>
              </a:tblPr>
              <a:tblGrid>
                <a:gridCol w="1848612"/>
                <a:gridCol w="1848612"/>
                <a:gridCol w="1848612"/>
                <a:gridCol w="1848612"/>
                <a:gridCol w="1848612"/>
                <a:gridCol w="1848612"/>
              </a:tblGrid>
              <a:tr h="658368">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Reference (excerpt)</a:t>
                      </a:r>
                    </a:p>
                  </a:txBody>
                  <a:tcPr>
                    <a:solidFill>
                      <a:srgbClr val="00b4d8"/>
                    </a:solidFill>
                  </a:tcPr>
                </a:tc>
                <a:tc>
                  <a:txBody>
                    <a:bodyPr/>
                    <a:lstStyle/>
                    <a:p>
                      <a:pPr algn="ctr"/>
                      <a:r>
                        <a:rPr sz="2400" b="1" i="0">
                          <a:solidFill>
                            <a:srgbClr val="FFFFFF"/>
                          </a:solidFill>
                          <a:latin typeface="Calibri"/>
                        </a:rPr>
                        <a:t>Hypothesis (excerpt)</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r>
                        <a:rPr sz="2400" b="1" i="0">
                          <a:solidFill>
                            <a:srgbClr val="FFFFFF"/>
                          </a:solidFill>
                          <a:latin typeface="Calibri"/>
                        </a:rPr>
                        <a:t>IS</a:t>
                      </a:r>
                    </a:p>
                  </a:txBody>
                  <a:tcPr>
                    <a:solidFill>
                      <a:srgbClr val="00b4d8"/>
                    </a:solidFill>
                  </a:tcPr>
                </a:tc>
                <a:tc>
                  <a:txBody>
                    <a:bodyPr/>
                    <a:lstStyle/>
                    <a:p>
                      <a:pPr algn="ctr"/>
                      <a:r>
                        <a:rPr sz="2400" b="1" i="0">
                          <a:solidFill>
                            <a:srgbClr val="FFFFFF"/>
                          </a:solidFill>
                          <a:latin typeface="Calibri"/>
                        </a:rPr>
                        <a:t>LLM</a:t>
                      </a:r>
                    </a:p>
                  </a:txBody>
                  <a:tcPr>
                    <a:solidFill>
                      <a:srgbClr val="00b4d8"/>
                    </a:solidFill>
                  </a:tcPr>
                </a:tc>
              </a:tr>
              <a:tr h="658368">
                <a:tc>
                  <a:txBody>
                    <a:bodyPr/>
                    <a:lstStyle/>
                    <a:p>
                      <a:pPr algn="l"/>
                      <a:r>
                        <a:rPr sz="2400" b="0" i="0">
                          <a:solidFill>
                            <a:srgbClr val="FFFFFF"/>
                          </a:solidFill>
                          <a:latin typeface="Calibri"/>
                        </a:rPr>
                        <a:t>Hidden Gem</a:t>
                      </a:r>
                    </a:p>
                  </a:txBody>
                  <a:tcPr>
                    <a:solidFill>
                      <a:srgbClr val="0d1b2a"/>
                    </a:solidFill>
                  </a:tcPr>
                </a:tc>
                <a:tc>
                  <a:txBody>
                    <a:bodyPr/>
                    <a:lstStyle/>
                    <a:p>
                      <a:pPr algn="l"/>
                      <a:r>
                        <a:rPr sz="2400" b="0" i="0">
                          <a:solidFill>
                            <a:srgbClr val="FFFFFF"/>
                          </a:solidFill>
                          <a:latin typeface="Calibri"/>
                        </a:rPr>
                        <a:t>...opinions about reason and logic and all these other concepts...</a:t>
                      </a:r>
                    </a:p>
                  </a:txBody>
                  <a:tcPr>
                    <a:solidFill>
                      <a:srgbClr val="0d1b2a"/>
                    </a:solidFill>
                  </a:tcPr>
                </a:tc>
                <a:tc>
                  <a:txBody>
                    <a:bodyPr/>
                    <a:lstStyle/>
                    <a:p>
                      <a:pPr algn="l"/>
                      <a:r>
                        <a:rPr sz="2400" b="0" i="0">
                          <a:solidFill>
                            <a:srgbClr val="FFFFFF"/>
                          </a:solidFill>
                          <a:latin typeface="Calibri"/>
                        </a:rPr>
                        <a:t>...our opinion is about reasoning and logic and all these...</a:t>
                      </a:r>
                    </a:p>
                  </a:txBody>
                  <a:tcPr>
                    <a:solidFill>
                      <a:srgbClr val="0d1b2a"/>
                    </a:solidFill>
                  </a:tcPr>
                </a:tc>
                <a:tc>
                  <a:txBody>
                    <a:bodyPr/>
                    <a:lstStyle/>
                    <a:p>
                      <a:pPr algn="l"/>
                      <a:r>
                        <a:rPr sz="2400" b="0" i="0">
                          <a:solidFill>
                            <a:srgbClr val="FFFFFF"/>
                          </a:solidFill>
                          <a:latin typeface="Calibri"/>
                        </a:rPr>
                        <a:t>74%</a:t>
                      </a:r>
                    </a:p>
                  </a:txBody>
                  <a:tcPr>
                    <a:solidFill>
                      <a:srgbClr val="0d1b2a"/>
                    </a:solidFill>
                  </a:tcPr>
                </a:tc>
                <a:tc>
                  <a:txBody>
                    <a:bodyPr/>
                    <a:lstStyle/>
                    <a:p>
                      <a:pPr algn="l"/>
                      <a:r>
                        <a:rPr sz="2400" b="0" i="0">
                          <a:solidFill>
                            <a:srgbClr val="FFFFFF"/>
                          </a:solidFill>
                          <a:latin typeface="Calibri"/>
                        </a:rPr>
                        <a:t>2.92</a:t>
                      </a:r>
                    </a:p>
                  </a:txBody>
                  <a:tcPr>
                    <a:solidFill>
                      <a:srgbClr val="0d1b2a"/>
                    </a:solidFill>
                  </a:tcPr>
                </a:tc>
                <a:tc>
                  <a:txBody>
                    <a:bodyPr/>
                    <a:lstStyle/>
                    <a:p>
                      <a:pPr algn="l"/>
                      <a:r>
                        <a:rPr sz="2400" b="0" i="0">
                          <a:solidFill>
                            <a:srgbClr val="FFFFFF"/>
                          </a:solidFill>
                          <a:latin typeface="Calibri"/>
                        </a:rPr>
                        <a:t>0.90</a:t>
                      </a:r>
                    </a:p>
                  </a:txBody>
                  <a:tcPr>
                    <a:solidFill>
                      <a:srgbClr val="0d1b2a"/>
                    </a:solidFill>
                  </a:tcPr>
                </a:tc>
              </a:tr>
              <a:tr h="658368">
                <a:tc>
                  <a:txBody>
                    <a:bodyPr/>
                    <a:lstStyle/>
                    <a:p>
                      <a:pPr algn="l"/>
                      <a:r>
                        <a:rPr sz="2400" b="0" i="0">
                          <a:solidFill>
                            <a:srgbClr val="FFFFFF"/>
                          </a:solidFill>
                          <a:latin typeface="Calibri"/>
                        </a:rPr>
                        <a:t>Semantic Pres.</a:t>
                      </a:r>
                    </a:p>
                  </a:txBody>
                  <a:tcPr>
                    <a:solidFill>
                      <a:srgbClr val="152a40"/>
                    </a:solidFill>
                  </a:tcPr>
                </a:tc>
                <a:tc>
                  <a:txBody>
                    <a:bodyPr/>
                    <a:lstStyle/>
                    <a:p>
                      <a:pPr algn="l"/>
                      <a:r>
                        <a:rPr sz="2400" b="0" i="0">
                          <a:solidFill>
                            <a:srgbClr val="FFFFFF"/>
                          </a:solidFill>
                          <a:latin typeface="Calibri"/>
                        </a:rPr>
                        <a:t>india china afghanistan...both sides would benefit</a:t>
                      </a:r>
                    </a:p>
                  </a:txBody>
                  <a:tcPr>
                    <a:solidFill>
                      <a:srgbClr val="152a40"/>
                    </a:solidFill>
                  </a:tcPr>
                </a:tc>
                <a:tc>
                  <a:txBody>
                    <a:bodyPr/>
                    <a:lstStyle/>
                    <a:p>
                      <a:pPr algn="l"/>
                      <a:r>
                        <a:rPr sz="2400" b="0" i="0">
                          <a:solidFill>
                            <a:srgbClr val="FFFFFF"/>
                          </a:solidFill>
                          <a:latin typeface="Calibri"/>
                        </a:rPr>
                        <a:t>middle east and afghanistan...both sides will benefit</a:t>
                      </a:r>
                    </a:p>
                  </a:txBody>
                  <a:tcPr>
                    <a:solidFill>
                      <a:srgbClr val="152a40"/>
                    </a:solidFill>
                  </a:tcPr>
                </a:tc>
                <a:tc>
                  <a:txBody>
                    <a:bodyPr/>
                    <a:lstStyle/>
                    <a:p>
                      <a:pPr algn="l"/>
                      <a:r>
                        <a:rPr sz="2400" b="0" i="0">
                          <a:solidFill>
                            <a:srgbClr val="FFFFFF"/>
                          </a:solidFill>
                          <a:latin typeface="Calibri"/>
                        </a:rPr>
                        <a:t>72%</a:t>
                      </a:r>
                    </a:p>
                  </a:txBody>
                  <a:tcPr>
                    <a:solidFill>
                      <a:srgbClr val="152a40"/>
                    </a:solidFill>
                  </a:tcPr>
                </a:tc>
                <a:tc>
                  <a:txBody>
                    <a:bodyPr/>
                    <a:lstStyle/>
                    <a:p>
                      <a:pPr algn="l"/>
                      <a:r>
                        <a:rPr sz="2400" b="0" i="0">
                          <a:solidFill>
                            <a:srgbClr val="FFFFFF"/>
                          </a:solidFill>
                          <a:latin typeface="Calibri"/>
                        </a:rPr>
                        <a:t>2.86</a:t>
                      </a:r>
                    </a:p>
                  </a:txBody>
                  <a:tcPr>
                    <a:solidFill>
                      <a:srgbClr val="152a40"/>
                    </a:solidFill>
                  </a:tcPr>
                </a:tc>
                <a:tc>
                  <a:txBody>
                    <a:bodyPr/>
                    <a:lstStyle/>
                    <a:p>
                      <a:pPr algn="l"/>
                      <a:r>
                        <a:rPr sz="2400" b="0" i="0">
                          <a:solidFill>
                            <a:srgbClr val="FFFFFF"/>
                          </a:solidFill>
                          <a:latin typeface="Calibri"/>
                        </a:rPr>
                        <a:t>0.90</a:t>
                      </a:r>
                    </a:p>
                  </a:txBody>
                  <a:tcPr>
                    <a:solidFill>
                      <a:srgbClr val="152a40"/>
                    </a:solidFill>
                  </a:tcPr>
                </a:tc>
              </a:tr>
              <a:tr h="658368">
                <a:tc>
                  <a:txBody>
                    <a:bodyPr/>
                    <a:lstStyle/>
                    <a:p>
                      <a:pPr algn="l"/>
                      <a:r>
                        <a:rPr sz="2400" b="0" i="0">
                          <a:solidFill>
                            <a:srgbClr val="FFFFFF"/>
                          </a:solidFill>
                          <a:latin typeface="Calibri"/>
                        </a:rPr>
                        <a:t>Phonetic Bridge</a:t>
                      </a:r>
                    </a:p>
                  </a:txBody>
                  <a:tcPr>
                    <a:solidFill>
                      <a:srgbClr val="0d1b2a"/>
                    </a:solidFill>
                  </a:tcPr>
                </a:tc>
                <a:tc>
                  <a:txBody>
                    <a:bodyPr/>
                    <a:lstStyle/>
                    <a:p>
                      <a:pPr algn="l"/>
                      <a:r>
                        <a:rPr sz="2400" b="0" i="0">
                          <a:solidFill>
                            <a:srgbClr val="FFFFFF"/>
                          </a:solidFill>
                          <a:latin typeface="Calibri"/>
                        </a:rPr>
                        <a:t>expresses in concrete and symbolic and beautifully real deep</a:t>
                      </a:r>
                    </a:p>
                  </a:txBody>
                  <a:tcPr>
                    <a:solidFill>
                      <a:srgbClr val="0d1b2a"/>
                    </a:solidFill>
                  </a:tcPr>
                </a:tc>
                <a:tc>
                  <a:txBody>
                    <a:bodyPr/>
                    <a:lstStyle/>
                    <a:p>
                      <a:pPr algn="l"/>
                      <a:r>
                        <a:rPr sz="2400" b="0" i="0">
                          <a:solidFill>
                            <a:srgbClr val="FFFFFF"/>
                          </a:solidFill>
                          <a:latin typeface="Calibri"/>
                        </a:rPr>
                        <a:t>suppresses the concrete and the symbolic and the beautiful...</a:t>
                      </a:r>
                    </a:p>
                  </a:txBody>
                  <a:tcPr>
                    <a:solidFill>
                      <a:srgbClr val="0d1b2a"/>
                    </a:solidFill>
                  </a:tcPr>
                </a:tc>
                <a:tc>
                  <a:txBody>
                    <a:bodyPr/>
                    <a:lstStyle/>
                    <a:p>
                      <a:pPr algn="l"/>
                      <a:r>
                        <a:rPr sz="2400" b="0" i="0">
                          <a:solidFill>
                            <a:srgbClr val="FFFFFF"/>
                          </a:solidFill>
                          <a:latin typeface="Calibri"/>
                        </a:rPr>
                        <a:t>89%</a:t>
                      </a:r>
                    </a:p>
                  </a:txBody>
                  <a:tcPr>
                    <a:solidFill>
                      <a:srgbClr val="0d1b2a"/>
                    </a:solidFill>
                  </a:tcPr>
                </a:tc>
                <a:tc>
                  <a:txBody>
                    <a:bodyPr/>
                    <a:lstStyle/>
                    <a:p>
                      <a:pPr algn="l"/>
                      <a:r>
                        <a:rPr sz="2400" b="0" i="0">
                          <a:solidFill>
                            <a:srgbClr val="FFFFFF"/>
                          </a:solidFill>
                          <a:latin typeface="Calibri"/>
                        </a:rPr>
                        <a:t>2.75</a:t>
                      </a:r>
                    </a:p>
                  </a:txBody>
                  <a:tcPr>
                    <a:solidFill>
                      <a:srgbClr val="0d1b2a"/>
                    </a:solidFill>
                  </a:tcPr>
                </a:tc>
                <a:tc>
                  <a:txBody>
                    <a:bodyPr/>
                    <a:lstStyle/>
                    <a:p>
                      <a:pPr algn="l"/>
                      <a:r>
                        <a:rPr sz="2400" b="0" i="0">
                          <a:solidFill>
                            <a:srgbClr val="FFFFFF"/>
                          </a:solidFill>
                          <a:latin typeface="Calibri"/>
                        </a:rPr>
                        <a:t>0.90</a:t>
                      </a:r>
                    </a:p>
                  </a:txBody>
                  <a:tcPr>
                    <a:solidFill>
                      <a:srgbClr val="0d1b2a"/>
                    </a:solidFill>
                  </a:tcPr>
                </a:tc>
              </a:tr>
              <a:tr h="658368">
                <a:tc>
                  <a:txBody>
                    <a:bodyPr/>
                    <a:lstStyle/>
                    <a:p>
                      <a:pPr algn="l"/>
                      <a:r>
                        <a:rPr sz="2400" b="0" i="0">
                          <a:solidFill>
                            <a:srgbClr val="FFFFFF"/>
                          </a:solidFill>
                          <a:latin typeface="Calibri"/>
                        </a:rPr>
                        <a:t>Entity-Preserved</a:t>
                      </a:r>
                    </a:p>
                  </a:txBody>
                  <a:tcPr>
                    <a:solidFill>
                      <a:srgbClr val="152a40"/>
                    </a:solidFill>
                  </a:tcPr>
                </a:tc>
                <a:tc>
                  <a:txBody>
                    <a:bodyPr/>
                    <a:lstStyle/>
                    <a:p>
                      <a:pPr algn="l"/>
                      <a:r>
                        <a:rPr sz="2400" b="0" i="0">
                          <a:solidFill>
                            <a:srgbClr val="FFFFFF"/>
                          </a:solidFill>
                          <a:latin typeface="Calibri"/>
                        </a:rPr>
                        <a:t>how facebook is a media company...what's about twitter</a:t>
                      </a:r>
                    </a:p>
                  </a:txBody>
                  <a:tcPr>
                    <a:solidFill>
                      <a:srgbClr val="152a40"/>
                    </a:solidFill>
                  </a:tcPr>
                </a:tc>
                <a:tc>
                  <a:txBody>
                    <a:bodyPr/>
                    <a:lstStyle/>
                    <a:p>
                      <a:pPr algn="l"/>
                      <a:r>
                        <a:rPr sz="2400" b="0" i="0">
                          <a:solidFill>
                            <a:srgbClr val="FFFFFF"/>
                          </a:solidFill>
                          <a:latin typeface="Calibri"/>
                        </a:rPr>
                        <a:t>how facebook is a media company on switzerland</a:t>
                      </a:r>
                    </a:p>
                  </a:txBody>
                  <a:tcPr>
                    <a:solidFill>
                      <a:srgbClr val="152a40"/>
                    </a:solidFill>
                  </a:tcPr>
                </a:tc>
                <a:tc>
                  <a:txBody>
                    <a:bodyPr/>
                    <a:lstStyle/>
                    <a:p>
                      <a:pPr algn="l"/>
                      <a:r>
                        <a:rPr sz="2400" b="0" i="0">
                          <a:solidFill>
                            <a:srgbClr val="FFFFFF"/>
                          </a:solidFill>
                          <a:latin typeface="Calibri"/>
                        </a:rPr>
                        <a:t>57%</a:t>
                      </a:r>
                    </a:p>
                  </a:txBody>
                  <a:tcPr>
                    <a:solidFill>
                      <a:srgbClr val="152a40"/>
                    </a:solidFill>
                  </a:tcPr>
                </a:tc>
                <a:tc>
                  <a:txBody>
                    <a:bodyPr/>
                    <a:lstStyle/>
                    <a:p>
                      <a:pPr algn="l"/>
                      <a:r>
                        <a:rPr sz="2400" b="0" i="0">
                          <a:solidFill>
                            <a:srgbClr val="FFFFFF"/>
                          </a:solidFill>
                          <a:latin typeface="Calibri"/>
                        </a:rPr>
                        <a:t>2.86</a:t>
                      </a:r>
                    </a:p>
                  </a:txBody>
                  <a:tcPr>
                    <a:solidFill>
                      <a:srgbClr val="152a40"/>
                    </a:solidFill>
                  </a:tcPr>
                </a:tc>
                <a:tc>
                  <a:txBody>
                    <a:bodyPr/>
                    <a:lstStyle/>
                    <a:p>
                      <a:pPr algn="l"/>
                      <a:r>
                        <a:rPr sz="2400" b="0" i="0">
                          <a:solidFill>
                            <a:srgbClr val="FFFFFF"/>
                          </a:solidFill>
                          <a:latin typeface="Calibri"/>
                        </a:rPr>
                        <a:t>0.90</a:t>
                      </a:r>
                    </a:p>
                  </a:txBody>
                  <a:tcPr>
                    <a:solidFill>
                      <a:srgbClr val="152a40"/>
                    </a:solidFill>
                  </a:tcPr>
                </a:tc>
              </a:tr>
              <a:tr h="658368">
                <a:tc>
                  <a:txBody>
                    <a:bodyPr/>
                    <a:lstStyle/>
                    <a:p>
                      <a:pPr algn="l"/>
                      <a:r>
                        <a:rPr sz="2400" b="0" i="0">
                          <a:solidFill>
                            <a:srgbClr val="FFFFFF"/>
                          </a:solidFill>
                          <a:latin typeface="Calibri"/>
                        </a:rPr>
                        <a:t>Structure Match</a:t>
                      </a:r>
                    </a:p>
                  </a:txBody>
                  <a:tcPr>
                    <a:solidFill>
                      <a:srgbClr val="0d1b2a"/>
                    </a:solidFill>
                  </a:tcPr>
                </a:tc>
                <a:tc>
                  <a:txBody>
                    <a:bodyPr/>
                    <a:lstStyle/>
                    <a:p>
                      <a:pPr algn="l"/>
                      <a:r>
                        <a:rPr sz="2400" b="0" i="0">
                          <a:solidFill>
                            <a:srgbClr val="FFFFFF"/>
                          </a:solidFill>
                          <a:latin typeface="Calibri"/>
                        </a:rPr>
                        <a:t>neptune gives us a long time to learn...energies and wisdom...</a:t>
                      </a:r>
                    </a:p>
                  </a:txBody>
                  <a:tcPr>
                    <a:solidFill>
                      <a:srgbClr val="0d1b2a"/>
                    </a:solidFill>
                  </a:tcPr>
                </a:tc>
                <a:tc>
                  <a:txBody>
                    <a:bodyPr/>
                    <a:lstStyle/>
                    <a:p>
                      <a:pPr algn="l"/>
                      <a:r>
                        <a:rPr sz="2400" b="0" i="0">
                          <a:solidFill>
                            <a:srgbClr val="FFFFFF"/>
                          </a:solidFill>
                          <a:latin typeface="Calibri"/>
                        </a:rPr>
                        <a:t>you give it a long time to learn...energies and wisdom...</a:t>
                      </a:r>
                    </a:p>
                  </a:txBody>
                  <a:tcPr>
                    <a:solidFill>
                      <a:srgbClr val="0d1b2a"/>
                    </a:solidFill>
                  </a:tcPr>
                </a:tc>
                <a:tc>
                  <a:txBody>
                    <a:bodyPr/>
                    <a:lstStyle/>
                    <a:p>
                      <a:pPr algn="l"/>
                      <a:r>
                        <a:rPr sz="2400" b="0" i="0">
                          <a:solidFill>
                            <a:srgbClr val="FFFFFF"/>
                          </a:solidFill>
                          <a:latin typeface="Calibri"/>
                        </a:rPr>
                        <a:t>39%</a:t>
                      </a:r>
                    </a:p>
                  </a:txBody>
                  <a:tcPr>
                    <a:solidFill>
                      <a:srgbClr val="0d1b2a"/>
                    </a:solidFill>
                  </a:tcPr>
                </a:tc>
                <a:tc>
                  <a:txBody>
                    <a:bodyPr/>
                    <a:lstStyle/>
                    <a:p>
                      <a:pPr algn="l"/>
                      <a:r>
                        <a:rPr sz="2400" b="0" i="0">
                          <a:solidFill>
                            <a:srgbClr val="FFFFFF"/>
                          </a:solidFill>
                          <a:latin typeface="Calibri"/>
                        </a:rPr>
                        <a:t>2.94</a:t>
                      </a:r>
                    </a:p>
                  </a:txBody>
                  <a:tcPr>
                    <a:solidFill>
                      <a:srgbClr val="0d1b2a"/>
                    </a:solidFill>
                  </a:tcPr>
                </a:tc>
                <a:tc>
                  <a:txBody>
                    <a:bodyPr/>
                    <a:lstStyle/>
                    <a:p>
                      <a:pPr algn="l"/>
                      <a:r>
                        <a:rPr sz="2400" b="0" i="0">
                          <a:solidFill>
                            <a:srgbClr val="FFFFFF"/>
                          </a:solidFill>
                          <a:latin typeface="Calibri"/>
                        </a:rPr>
                        <a:t>0.95</a:t>
                      </a:r>
                    </a:p>
                  </a:txBody>
                  <a:tcPr>
                    <a:solidFill>
                      <a:srgbClr val="0d1b2a"/>
                    </a:solidFill>
                  </a:tcPr>
                </a:tc>
              </a:tr>
              <a:tr h="658368">
                <a:tc>
                  <a:txBody>
                    <a:bodyPr/>
                    <a:lstStyle/>
                    <a:p>
                      <a:pPr algn="l"/>
                      <a:r>
                        <a:rPr sz="2400" b="0" i="0">
                          <a:solidFill>
                            <a:srgbClr val="FFFFFF"/>
                          </a:solidFill>
                          <a:latin typeface="Calibri"/>
                        </a:rPr>
                        <a:t>WER Over-Punish.</a:t>
                      </a:r>
                    </a:p>
                  </a:txBody>
                  <a:tcPr>
                    <a:solidFill>
                      <a:srgbClr val="152a40"/>
                    </a:solidFill>
                  </a:tcPr>
                </a:tc>
                <a:tc>
                  <a:txBody>
                    <a:bodyPr/>
                    <a:lstStyle/>
                    <a:p>
                      <a:pPr algn="l"/>
                      <a:r>
                        <a:rPr sz="2400" b="0" i="0">
                          <a:solidFill>
                            <a:srgbClr val="FFFFFF"/>
                          </a:solidFill>
                          <a:latin typeface="Calibri"/>
                        </a:rPr>
                        <a:t>so um</a:t>
                      </a:r>
                    </a:p>
                  </a:txBody>
                  <a:tcPr>
                    <a:solidFill>
                      <a:srgbClr val="152a40"/>
                    </a:solidFill>
                  </a:tcPr>
                </a:tc>
                <a:tc>
                  <a:txBody>
                    <a:bodyPr/>
                    <a:lstStyle/>
                    <a:p>
                      <a:pPr algn="l"/>
                      <a:r>
                        <a:rPr sz="2400" b="0" i="0">
                          <a:solidFill>
                            <a:srgbClr val="FFFFFF"/>
                          </a:solidFill>
                          <a:latin typeface="Calibri"/>
                        </a:rPr>
                        <a:t>so i kind of</a:t>
                      </a:r>
                    </a:p>
                  </a:txBody>
                  <a:tcPr>
                    <a:solidFill>
                      <a:srgbClr val="152a40"/>
                    </a:solidFill>
                  </a:tcPr>
                </a:tc>
                <a:tc>
                  <a:txBody>
                    <a:bodyPr/>
                    <a:lstStyle/>
                    <a:p>
                      <a:pPr algn="l"/>
                      <a:r>
                        <a:rPr sz="2400" b="0" i="0">
                          <a:solidFill>
                            <a:srgbClr val="FFFFFF"/>
                          </a:solidFill>
                          <a:latin typeface="Calibri"/>
                        </a:rPr>
                        <a:t>150%</a:t>
                      </a:r>
                    </a:p>
                  </a:txBody>
                  <a:tcPr>
                    <a:solidFill>
                      <a:srgbClr val="152a40"/>
                    </a:solidFill>
                  </a:tcPr>
                </a:tc>
                <a:tc>
                  <a:txBody>
                    <a:bodyPr/>
                    <a:lstStyle/>
                    <a:p>
                      <a:pPr algn="l"/>
                      <a:r>
                        <a:rPr sz="2400" b="0" i="0">
                          <a:solidFill>
                            <a:srgbClr val="FFFFFF"/>
                          </a:solidFill>
                          <a:latin typeface="Calibri"/>
                        </a:rPr>
                        <a:t>2.06</a:t>
                      </a:r>
                    </a:p>
                  </a:txBody>
                  <a:tcPr>
                    <a:solidFill>
                      <a:srgbClr val="152a40"/>
                    </a:solidFill>
                  </a:tcPr>
                </a:tc>
                <a:tc>
                  <a:txBody>
                    <a:bodyPr/>
                    <a:lstStyle/>
                    <a:p>
                      <a:pPr algn="l"/>
                      <a:r>
                        <a:rPr sz="2400" b="0" i="0">
                          <a:solidFill>
                            <a:srgbClr val="FFFFFF"/>
                          </a:solidFill>
                          <a:latin typeface="Calibri"/>
                        </a:rPr>
                        <a:t>0.65</a:t>
                      </a:r>
                    </a:p>
                  </a:txBody>
                  <a:tcPr>
                    <a:solidFill>
                      <a:srgbClr val="152a40"/>
                    </a:solidFill>
                  </a:tcPr>
                </a:tc>
              </a:tr>
            </a:tbl>
          </a:graphicData>
        </a:graphic>
      </p:graphicFrame>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A5</a:t>
            </a:r>
          </a:p>
        </p:txBody>
      </p:sp>
    </p:spTree>
  </p:cSld>
  <p:clrMapOvr>
    <a:masterClrMapping/>
  </p:clrMapOvr>
  <p:transition spd="med"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A4: Failure Mode Examples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74320"/>
          </a:xfrm>
          <a:prstGeom prst="rect">
            <a:avLst/>
          </a:prstGeom>
          <a:noFill/>
        </p:spPr>
        <p:txBody>
          <a:bodyPr wrap="square" anchor="t"/>
          <a:lstStyle/>
          <a:p>
            <a:pPr algn="l"/>
            <a:r>
              <a:rPr sz="2400" b="0" i="0">
                <a:solidFill>
                  <a:srgbClr val="AAAAAA"/>
                </a:solidFill>
                <a:latin typeface="Calibri"/>
              </a:rPr>
              <a:t>One real example per failure category (5 categories):</a:t>
            </a:r>
          </a:p>
        </p:txBody>
      </p:sp>
      <p:graphicFrame>
        <p:nvGraphicFramePr>
          <p:cNvPr id="5" name="Table 4"/>
          <p:cNvGraphicFramePr>
            <a:graphicFrameLocks noGrp="1"/>
          </p:cNvGraphicFramePr>
          <p:nvPr/>
        </p:nvGraphicFramePr>
        <p:xfrm>
          <a:off x="548640" y="1691640"/>
          <a:ext cx="8961120" cy="3840480"/>
        </p:xfrm>
        <a:graphic>
          <a:graphicData uri="http://schemas.openxmlformats.org/drawingml/2006/table">
            <a:tbl>
              <a:tblPr firstRow="0" bandRow="0" lastRow="0" bandCol="0">
                <a:tableStyleId>{5C22544A-7EE6-4342-B048-85BDC9FD1C3A}</a:tableStyleId>
              </a:tblPr>
              <a:tblGrid>
                <a:gridCol w="1645920"/>
                <a:gridCol w="914400"/>
                <a:gridCol w="2560320"/>
                <a:gridCol w="2560320"/>
                <a:gridCol w="731520"/>
                <a:gridCol w="548640"/>
              </a:tblGrid>
              <a:tr h="640080">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 of Failures</a:t>
                      </a:r>
                    </a:p>
                  </a:txBody>
                  <a:tcPr>
                    <a:solidFill>
                      <a:srgbClr val="00b4d8"/>
                    </a:solidFill>
                  </a:tcPr>
                </a:tc>
                <a:tc>
                  <a:txBody>
                    <a:bodyPr/>
                    <a:lstStyle/>
                    <a:p>
                      <a:pPr algn="ctr"/>
                      <a:r>
                        <a:rPr sz="2400" b="1" i="0">
                          <a:solidFill>
                            <a:srgbClr val="FFFFFF"/>
                          </a:solidFill>
                          <a:latin typeface="Calibri"/>
                        </a:rPr>
                        <a:t>Reference</a:t>
                      </a:r>
                    </a:p>
                  </a:txBody>
                  <a:tcPr>
                    <a:solidFill>
                      <a:srgbClr val="00b4d8"/>
                    </a:solidFill>
                  </a:tcPr>
                </a:tc>
                <a:tc>
                  <a:txBody>
                    <a:bodyPr/>
                    <a:lstStyle/>
                    <a:p>
                      <a:pPr algn="ctr"/>
                      <a:r>
                        <a:rPr sz="2400" b="1" i="0">
                          <a:solidFill>
                            <a:srgbClr val="FFFFFF"/>
                          </a:solidFill>
                          <a:latin typeface="Calibri"/>
                        </a:rPr>
                        <a:t>Hypothesis</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r>
                        <a:rPr sz="2400" b="1" i="0">
                          <a:solidFill>
                            <a:srgbClr val="FFFFFF"/>
                          </a:solidFill>
                          <a:latin typeface="Calibri"/>
                        </a:rPr>
                        <a:t>IS</a:t>
                      </a:r>
                    </a:p>
                  </a:txBody>
                  <a:tcPr>
                    <a:solidFill>
                      <a:srgbClr val="00b4d8"/>
                    </a:solidFill>
                  </a:tcPr>
                </a:tc>
              </a:tr>
              <a:tr h="640080">
                <a:tc>
                  <a:txBody>
                    <a:bodyPr/>
                    <a:lstStyle/>
                    <a:p>
                      <a:pPr algn="l"/>
                      <a:r>
                        <a:rPr sz="2400" b="0" i="0">
                          <a:solidFill>
                            <a:srgbClr val="FFFFFF"/>
                          </a:solidFill>
                          <a:latin typeface="Calibri"/>
                        </a:rPr>
                        <a:t>Wrong Topic</a:t>
                      </a:r>
                    </a:p>
                    <a:p>
                      <a:pPr algn="l"/>
                      <a:r>
                        <a:rPr sz="2400" b="0" i="0">
                          <a:solidFill>
                            <a:srgbClr val="FFFFFF"/>
                          </a:solidFill>
                          <a:latin typeface="Calibri"/>
                        </a:rPr>
                        <a:t>(255 segs)</a:t>
                      </a:r>
                    </a:p>
                  </a:txBody>
                  <a:tcPr>
                    <a:solidFill>
                      <a:srgbClr val="0d1b2a"/>
                    </a:solidFill>
                  </a:tcPr>
                </a:tc>
                <a:tc>
                  <a:txBody>
                    <a:bodyPr/>
                    <a:lstStyle/>
                    <a:p>
                      <a:pPr algn="l"/>
                      <a:r>
                        <a:rPr sz="2400" b="0" i="0">
                          <a:solidFill>
                            <a:srgbClr val="FFFFFF"/>
                          </a:solidFill>
                          <a:latin typeface="Calibri"/>
                        </a:rPr>
                        <a:t>44%</a:t>
                      </a:r>
                    </a:p>
                  </a:txBody>
                  <a:tcPr>
                    <a:solidFill>
                      <a:srgbClr val="0d1b2a"/>
                    </a:solidFill>
                  </a:tcPr>
                </a:tc>
                <a:tc>
                  <a:txBody>
                    <a:bodyPr/>
                    <a:lstStyle/>
                    <a:p>
                      <a:pPr algn="l"/>
                      <a:r>
                        <a:rPr sz="2400" b="0" i="0">
                          <a:solidFill>
                            <a:srgbClr val="FFFFFF"/>
                          </a:solidFill>
                          <a:latin typeface="Calibri"/>
                        </a:rPr>
                        <a:t>"weight loss and diet..."</a:t>
                      </a:r>
                    </a:p>
                  </a:txBody>
                  <a:tcPr>
                    <a:solidFill>
                      <a:srgbClr val="0d1b2a"/>
                    </a:solidFill>
                  </a:tcPr>
                </a:tc>
                <a:tc>
                  <a:txBody>
                    <a:bodyPr/>
                    <a:lstStyle/>
                    <a:p>
                      <a:pPr algn="l"/>
                      <a:r>
                        <a:rPr sz="2400" b="0" i="0">
                          <a:solidFill>
                            <a:srgbClr val="FFFFFF"/>
                          </a:solidFill>
                          <a:latin typeface="Calibri"/>
                        </a:rPr>
                        <a:t>"wanted to be a princess..."</a:t>
                      </a:r>
                    </a:p>
                  </a:txBody>
                  <a:tcPr>
                    <a:solidFill>
                      <a:srgbClr val="0d1b2a"/>
                    </a:solidFill>
                  </a:tcPr>
                </a:tc>
                <a:tc>
                  <a:txBody>
                    <a:bodyPr/>
                    <a:lstStyle/>
                    <a:p>
                      <a:pPr algn="l"/>
                      <a:r>
                        <a:rPr sz="2400" b="0" i="0">
                          <a:solidFill>
                            <a:srgbClr val="FFFFFF"/>
                          </a:solidFill>
                          <a:latin typeface="Calibri"/>
                        </a:rPr>
                        <a:t>97%</a:t>
                      </a:r>
                    </a:p>
                  </a:txBody>
                  <a:tcPr>
                    <a:solidFill>
                      <a:srgbClr val="0d1b2a"/>
                    </a:solidFill>
                  </a:tcPr>
                </a:tc>
                <a:tc>
                  <a:txBody>
                    <a:bodyPr/>
                    <a:lstStyle/>
                    <a:p>
                      <a:pPr algn="l"/>
                      <a:r>
                        <a:rPr sz="2400" b="0" i="0">
                          <a:solidFill>
                            <a:srgbClr val="E06C75"/>
                          </a:solidFill>
                          <a:latin typeface="Calibri"/>
                        </a:rPr>
                        <a:t>0.38</a:t>
                      </a:r>
                    </a:p>
                  </a:txBody>
                  <a:tcPr>
                    <a:solidFill>
                      <a:srgbClr val="0d1b2a"/>
                    </a:solidFill>
                  </a:tcPr>
                </a:tc>
              </a:tr>
              <a:tr h="640080">
                <a:tc>
                  <a:txBody>
                    <a:bodyPr/>
                    <a:lstStyle/>
                    <a:p>
                      <a:pPr algn="l"/>
                      <a:r>
                        <a:rPr sz="2400" b="0" i="0">
                          <a:solidFill>
                            <a:srgbClr val="FFFFFF"/>
                          </a:solidFill>
                          <a:latin typeface="Calibri"/>
                        </a:rPr>
                        <a:t>Hallucination</a:t>
                      </a:r>
                    </a:p>
                    <a:p>
                      <a:pPr algn="l"/>
                      <a:r>
                        <a:rPr sz="2400" b="0" i="0">
                          <a:solidFill>
                            <a:srgbClr val="FFFFFF"/>
                          </a:solidFill>
                          <a:latin typeface="Calibri"/>
                        </a:rPr>
                        <a:t>(108 segs)</a:t>
                      </a:r>
                    </a:p>
                  </a:txBody>
                  <a:tcPr>
                    <a:solidFill>
                      <a:srgbClr val="152a40"/>
                    </a:solidFill>
                  </a:tcPr>
                </a:tc>
                <a:tc>
                  <a:txBody>
                    <a:bodyPr/>
                    <a:lstStyle/>
                    <a:p>
                      <a:pPr algn="l"/>
                      <a:r>
                        <a:rPr sz="2400" b="0" i="0">
                          <a:solidFill>
                            <a:srgbClr val="FFFFFF"/>
                          </a:solidFill>
                          <a:latin typeface="Calibri"/>
                        </a:rPr>
                        <a:t>19%</a:t>
                      </a:r>
                    </a:p>
                  </a:txBody>
                  <a:tcPr>
                    <a:solidFill>
                      <a:srgbClr val="152a40"/>
                    </a:solidFill>
                  </a:tcPr>
                </a:tc>
                <a:tc>
                  <a:txBody>
                    <a:bodyPr/>
                    <a:lstStyle/>
                    <a:p>
                      <a:pPr algn="l"/>
                      <a:r>
                        <a:rPr sz="2400" b="0" i="0">
                          <a:solidFill>
                            <a:srgbClr val="FFFFFF"/>
                          </a:solidFill>
                          <a:latin typeface="Calibri"/>
                        </a:rPr>
                        <a:t>"and body parts"</a:t>
                      </a:r>
                    </a:p>
                  </a:txBody>
                  <a:tcPr>
                    <a:solidFill>
                      <a:srgbClr val="152a40"/>
                    </a:solidFill>
                  </a:tcPr>
                </a:tc>
                <a:tc>
                  <a:txBody>
                    <a:bodyPr/>
                    <a:lstStyle/>
                    <a:p>
                      <a:pPr algn="l"/>
                      <a:r>
                        <a:rPr sz="2400" b="0" i="0">
                          <a:solidFill>
                            <a:srgbClr val="FFFFFF"/>
                          </a:solidFill>
                          <a:latin typeface="Calibri"/>
                        </a:rPr>
                        <a:t>"20 years ago when i was"</a:t>
                      </a:r>
                    </a:p>
                  </a:txBody>
                  <a:tcPr>
                    <a:solidFill>
                      <a:srgbClr val="152a40"/>
                    </a:solidFill>
                  </a:tcPr>
                </a:tc>
                <a:tc>
                  <a:txBody>
                    <a:bodyPr/>
                    <a:lstStyle/>
                    <a:p>
                      <a:pPr algn="l"/>
                      <a:r>
                        <a:rPr sz="2400" b="0" i="0">
                          <a:solidFill>
                            <a:srgbClr val="FFFFFF"/>
                          </a:solidFill>
                          <a:latin typeface="Calibri"/>
                        </a:rPr>
                        <a:t>200%</a:t>
                      </a:r>
                    </a:p>
                  </a:txBody>
                  <a:tcPr>
                    <a:solidFill>
                      <a:srgbClr val="152a40"/>
                    </a:solidFill>
                  </a:tcPr>
                </a:tc>
                <a:tc>
                  <a:txBody>
                    <a:bodyPr/>
                    <a:lstStyle/>
                    <a:p>
                      <a:pPr algn="l"/>
                      <a:r>
                        <a:rPr sz="2400" b="0" i="0">
                          <a:solidFill>
                            <a:srgbClr val="E06C75"/>
                          </a:solidFill>
                          <a:latin typeface="Calibri"/>
                        </a:rPr>
                        <a:t>0.00</a:t>
                      </a:r>
                    </a:p>
                  </a:txBody>
                  <a:tcPr>
                    <a:solidFill>
                      <a:srgbClr val="152a40"/>
                    </a:solidFill>
                  </a:tcPr>
                </a:tc>
              </a:tr>
              <a:tr h="640080">
                <a:tc>
                  <a:txBody>
                    <a:bodyPr/>
                    <a:lstStyle/>
                    <a:p>
                      <a:pPr algn="l"/>
                      <a:r>
                        <a:rPr sz="2400" b="0" i="0">
                          <a:solidFill>
                            <a:srgbClr val="FFFFFF"/>
                          </a:solidFill>
                          <a:latin typeface="Calibri"/>
                        </a:rPr>
                        <a:t>Signal Loss</a:t>
                      </a:r>
                    </a:p>
                    <a:p>
                      <a:pPr algn="l"/>
                      <a:r>
                        <a:rPr sz="2400" b="0" i="0">
                          <a:solidFill>
                            <a:srgbClr val="FFFFFF"/>
                          </a:solidFill>
                          <a:latin typeface="Calibri"/>
                        </a:rPr>
                        <a:t>(80 segs)</a:t>
                      </a:r>
                    </a:p>
                  </a:txBody>
                  <a:tcPr>
                    <a:solidFill>
                      <a:srgbClr val="0d1b2a"/>
                    </a:solidFill>
                  </a:tcPr>
                </a:tc>
                <a:tc>
                  <a:txBody>
                    <a:bodyPr/>
                    <a:lstStyle/>
                    <a:p>
                      <a:pPr algn="l"/>
                      <a:r>
                        <a:rPr sz="2400" b="0" i="0">
                          <a:solidFill>
                            <a:srgbClr val="FFFFFF"/>
                          </a:solidFill>
                          <a:latin typeface="Calibri"/>
                        </a:rPr>
                        <a:t>14%</a:t>
                      </a:r>
                    </a:p>
                  </a:txBody>
                  <a:tcPr>
                    <a:solidFill>
                      <a:srgbClr val="0d1b2a"/>
                    </a:solidFill>
                  </a:tcPr>
                </a:tc>
                <a:tc>
                  <a:txBody>
                    <a:bodyPr/>
                    <a:lstStyle/>
                    <a:p>
                      <a:pPr algn="l"/>
                      <a:r>
                        <a:rPr sz="2400" b="0" i="0">
                          <a:solidFill>
                            <a:srgbClr val="FFFFFF"/>
                          </a:solidFill>
                          <a:latin typeface="Calibri"/>
                        </a:rPr>
                        <a:t>"do you say i wonder what..."</a:t>
                      </a:r>
                    </a:p>
                  </a:txBody>
                  <a:tcPr>
                    <a:solidFill>
                      <a:srgbClr val="0d1b2a"/>
                    </a:solidFill>
                  </a:tcPr>
                </a:tc>
                <a:tc>
                  <a:txBody>
                    <a:bodyPr/>
                    <a:lstStyle/>
                    <a:p>
                      <a:pPr algn="l"/>
                      <a:r>
                        <a:rPr sz="2400" b="0" i="0">
                          <a:solidFill>
                            <a:srgbClr val="FFFFFF"/>
                          </a:solidFill>
                          <a:latin typeface="Calibri"/>
                        </a:rPr>
                        <a:t>(empty)</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E06C75"/>
                          </a:solidFill>
                          <a:latin typeface="Calibri"/>
                        </a:rPr>
                        <a:t>0.00</a:t>
                      </a:r>
                    </a:p>
                  </a:txBody>
                  <a:tcPr>
                    <a:solidFill>
                      <a:srgbClr val="0d1b2a"/>
                    </a:solidFill>
                  </a:tcPr>
                </a:tc>
              </a:tr>
              <a:tr h="640080">
                <a:tc>
                  <a:txBody>
                    <a:bodyPr/>
                    <a:lstStyle/>
                    <a:p>
                      <a:pPr algn="l"/>
                      <a:r>
                        <a:rPr sz="2400" b="0" i="0">
                          <a:solidFill>
                            <a:srgbClr val="FFFFFF"/>
                          </a:solidFill>
                          <a:latin typeface="Calibri"/>
                        </a:rPr>
                        <a:t>Right Topic,</a:t>
                      </a:r>
                    </a:p>
                    <a:p>
                      <a:pPr algn="l"/>
                      <a:r>
                        <a:rPr sz="2400" b="0" i="0">
                          <a:solidFill>
                            <a:srgbClr val="FFFFFF"/>
                          </a:solidFill>
                          <a:latin typeface="Calibri"/>
                        </a:rPr>
                        <a:t>Wrong Details</a:t>
                      </a:r>
                    </a:p>
                    <a:p>
                      <a:pPr algn="l"/>
                      <a:r>
                        <a:rPr sz="2400" b="0" i="0">
                          <a:solidFill>
                            <a:srgbClr val="FFFFFF"/>
                          </a:solidFill>
                          <a:latin typeface="Calibri"/>
                        </a:rPr>
                        <a:t>(79 segs)</a:t>
                      </a:r>
                    </a:p>
                  </a:txBody>
                  <a:tcPr>
                    <a:solidFill>
                      <a:srgbClr val="152a40"/>
                    </a:solidFill>
                  </a:tcPr>
                </a:tc>
                <a:tc>
                  <a:txBody>
                    <a:bodyPr/>
                    <a:lstStyle/>
                    <a:p>
                      <a:pPr algn="l"/>
                      <a:r>
                        <a:rPr sz="2400" b="0" i="0">
                          <a:solidFill>
                            <a:srgbClr val="FFFFFF"/>
                          </a:solidFill>
                          <a:latin typeface="Calibri"/>
                        </a:rPr>
                        <a:t>14%</a:t>
                      </a:r>
                    </a:p>
                  </a:txBody>
                  <a:tcPr>
                    <a:solidFill>
                      <a:srgbClr val="152a40"/>
                    </a:solidFill>
                  </a:tcPr>
                </a:tc>
                <a:tc>
                  <a:txBody>
                    <a:bodyPr/>
                    <a:lstStyle/>
                    <a:p>
                      <a:pPr algn="l"/>
                      <a:r>
                        <a:rPr sz="2400" b="0" i="0">
                          <a:solidFill>
                            <a:srgbClr val="FFFFFF"/>
                          </a:solidFill>
                          <a:latin typeface="Calibri"/>
                        </a:rPr>
                        <a:t>"13th amendment is going..."</a:t>
                      </a:r>
                    </a:p>
                  </a:txBody>
                  <a:tcPr>
                    <a:solidFill>
                      <a:srgbClr val="152a40"/>
                    </a:solidFill>
                  </a:tcPr>
                </a:tc>
                <a:tc>
                  <a:txBody>
                    <a:bodyPr/>
                    <a:lstStyle/>
                    <a:p>
                      <a:pPr algn="l"/>
                      <a:r>
                        <a:rPr sz="2400" b="0" i="0">
                          <a:solidFill>
                            <a:srgbClr val="FFFFFF"/>
                          </a:solidFill>
                          <a:latin typeface="Calibri"/>
                        </a:rPr>
                        <a:t>"13th may mean something..."</a:t>
                      </a:r>
                    </a:p>
                  </a:txBody>
                  <a:tcPr>
                    <a:solidFill>
                      <a:srgbClr val="152a40"/>
                    </a:solidFill>
                  </a:tcPr>
                </a:tc>
                <a:tc>
                  <a:txBody>
                    <a:bodyPr/>
                    <a:lstStyle/>
                    <a:p>
                      <a:pPr algn="l"/>
                      <a:r>
                        <a:rPr sz="2400" b="0" i="0">
                          <a:solidFill>
                            <a:srgbClr val="FFFFFF"/>
                          </a:solidFill>
                          <a:latin typeface="Calibri"/>
                        </a:rPr>
                        <a:t>60%</a:t>
                      </a:r>
                    </a:p>
                  </a:txBody>
                  <a:tcPr>
                    <a:solidFill>
                      <a:srgbClr val="152a40"/>
                    </a:solidFill>
                  </a:tcPr>
                </a:tc>
                <a:tc>
                  <a:txBody>
                    <a:bodyPr/>
                    <a:lstStyle/>
                    <a:p>
                      <a:pPr algn="l"/>
                      <a:r>
                        <a:rPr sz="2400" b="0" i="0">
                          <a:solidFill>
                            <a:srgbClr val="FFFFFF"/>
                          </a:solidFill>
                          <a:latin typeface="Calibri"/>
                        </a:rPr>
                        <a:t>1.86</a:t>
                      </a:r>
                    </a:p>
                  </a:txBody>
                  <a:tcPr>
                    <a:solidFill>
                      <a:srgbClr val="152a40"/>
                    </a:solidFill>
                  </a:tcPr>
                </a:tc>
              </a:tr>
              <a:tr h="640080">
                <a:tc>
                  <a:txBody>
                    <a:bodyPr/>
                    <a:lstStyle/>
                    <a:p>
                      <a:pPr algn="l"/>
                      <a:r>
                        <a:rPr sz="2400" b="0" i="0">
                          <a:solidFill>
                            <a:srgbClr val="FFFFFF"/>
                          </a:solidFill>
                          <a:latin typeface="Calibri"/>
                        </a:rPr>
                        <a:t>Accumulated</a:t>
                      </a:r>
                    </a:p>
                    <a:p>
                      <a:pPr algn="l"/>
                      <a:r>
                        <a:rPr sz="2400" b="0" i="0">
                          <a:solidFill>
                            <a:srgbClr val="FFFFFF"/>
                          </a:solidFill>
                          <a:latin typeface="Calibri"/>
                        </a:rPr>
                        <a:t>Errors (52 segs)</a:t>
                      </a:r>
                    </a:p>
                  </a:txBody>
                  <a:tcPr>
                    <a:solidFill>
                      <a:srgbClr val="0d1b2a"/>
                    </a:solidFill>
                  </a:tcPr>
                </a:tc>
                <a:tc>
                  <a:txBody>
                    <a:bodyPr/>
                    <a:lstStyle/>
                    <a:p>
                      <a:pPr algn="l"/>
                      <a:r>
                        <a:rPr sz="2400" b="0" i="0">
                          <a:solidFill>
                            <a:srgbClr val="FFFFFF"/>
                          </a:solidFill>
                          <a:latin typeface="Calibri"/>
                        </a:rPr>
                        <a:t>9%</a:t>
                      </a:r>
                    </a:p>
                  </a:txBody>
                  <a:tcPr>
                    <a:solidFill>
                      <a:srgbClr val="0d1b2a"/>
                    </a:solidFill>
                  </a:tcPr>
                </a:tc>
                <a:tc>
                  <a:txBody>
                    <a:bodyPr/>
                    <a:lstStyle/>
                    <a:p>
                      <a:pPr algn="l"/>
                      <a:r>
                        <a:rPr sz="2400" b="0" i="0">
                          <a:solidFill>
                            <a:srgbClr val="FFFFFF"/>
                          </a:solidFill>
                          <a:latin typeface="Calibri"/>
                        </a:rPr>
                        <a:t>"you're rich no no no..."</a:t>
                      </a:r>
                    </a:p>
                  </a:txBody>
                  <a:tcPr>
                    <a:solidFill>
                      <a:srgbClr val="0d1b2a"/>
                    </a:solidFill>
                  </a:tcPr>
                </a:tc>
                <a:tc>
                  <a:txBody>
                    <a:bodyPr/>
                    <a:lstStyle/>
                    <a:p>
                      <a:pPr algn="l"/>
                      <a:r>
                        <a:rPr sz="2400" b="0" i="0">
                          <a:solidFill>
                            <a:srgbClr val="FFFFFF"/>
                          </a:solidFill>
                          <a:latin typeface="Calibri"/>
                        </a:rPr>
                        <a:t>"your ring that's not what..."</a:t>
                      </a:r>
                    </a:p>
                  </a:txBody>
                  <a:tcPr>
                    <a:solidFill>
                      <a:srgbClr val="0d1b2a"/>
                    </a:solidFill>
                  </a:tcPr>
                </a:tc>
                <a:tc>
                  <a:txBody>
                    <a:bodyPr/>
                    <a:lstStyle/>
                    <a:p>
                      <a:pPr algn="l"/>
                      <a:r>
                        <a:rPr sz="2400" b="0" i="0">
                          <a:solidFill>
                            <a:srgbClr val="FFFFFF"/>
                          </a:solidFill>
                          <a:latin typeface="Calibri"/>
                        </a:rPr>
                        <a:t>67%</a:t>
                      </a:r>
                    </a:p>
                  </a:txBody>
                  <a:tcPr>
                    <a:solidFill>
                      <a:srgbClr val="0d1b2a"/>
                    </a:solidFill>
                  </a:tcPr>
                </a:tc>
                <a:tc>
                  <a:txBody>
                    <a:bodyPr/>
                    <a:lstStyle/>
                    <a:p>
                      <a:pPr algn="l"/>
                      <a:r>
                        <a:rPr sz="2400" b="0" i="0">
                          <a:solidFill>
                            <a:srgbClr val="FFFFFF"/>
                          </a:solidFill>
                          <a:latin typeface="Calibri"/>
                        </a:rPr>
                        <a:t>1.64</a:t>
                      </a:r>
                    </a:p>
                  </a:txBody>
                  <a:tcPr>
                    <a:solidFill>
                      <a:srgbClr val="0d1b2a"/>
                    </a:solidFill>
                  </a:tcPr>
                </a:tc>
              </a:tr>
            </a:tbl>
          </a:graphicData>
        </a:graphic>
      </p:graphicFrame>
      <p:pic>
        <p:nvPicPr>
          <p:cNvPr id="6" name="Picture 5" descr="WhiteLogo.jpeg"/>
          <p:cNvPicPr>
            <a:picLocks noChangeAspect="1"/>
          </p:cNvPicPr>
          <p:nvPr/>
        </p:nvPicPr>
        <p:blipFill>
          <a:blip r:embed="rId2"/>
          <a:stretch>
            <a:fillRect/>
          </a:stretch>
        </p:blipFill>
        <p:spPr>
          <a:xfrm>
            <a:off x="11323320" y="6428232"/>
            <a:ext cx="269634" cy="320040"/>
          </a:xfrm>
          <a:prstGeom prst="rect">
            <a:avLst/>
          </a:prstGeom>
        </p:spPr>
      </p:pic>
      <p:sp>
        <p:nvSpPr>
          <p:cNvPr id="7" name="TextBox 6"/>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A6</a:t>
            </a:r>
          </a:p>
        </p:txBody>
      </p:sp>
    </p:spTree>
  </p:cSld>
  <p:clrMapOvr>
    <a:masterClrMapping/>
  </p:clrMapOvr>
  <p:transition spd="med"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A5: Video Gallery — All Example Segments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292608"/>
          </a:xfrm>
          <a:prstGeom prst="rect">
            <a:avLst/>
          </a:prstGeom>
          <a:noFill/>
        </p:spPr>
        <p:txBody>
          <a:bodyPr wrap="square" anchor="t"/>
          <a:lstStyle/>
          <a:p>
            <a:pPr algn="l"/>
            <a:r>
              <a:rPr sz="1600" b="0" i="1">
                <a:solidFill>
                  <a:srgbClr val="AAAAAA"/>
                </a:solidFill>
                <a:latin typeface="Calibri"/>
              </a:rPr>
              <a:t>★ = video embedded on a slide   ─ = available in burned_videos/ only</a:t>
            </a:r>
          </a:p>
        </p:txBody>
      </p:sp>
      <p:graphicFrame>
        <p:nvGraphicFramePr>
          <p:cNvPr id="5" name="Table 4"/>
          <p:cNvGraphicFramePr>
            <a:graphicFrameLocks noGrp="1"/>
          </p:cNvGraphicFramePr>
          <p:nvPr/>
        </p:nvGraphicFramePr>
        <p:xfrm>
          <a:off x="548640" y="1673352"/>
          <a:ext cx="4663440" cy="5266944"/>
        </p:xfrm>
        <a:graphic>
          <a:graphicData uri="http://schemas.openxmlformats.org/drawingml/2006/table">
            <a:tbl>
              <a:tblPr firstRow="0" bandRow="0" lastRow="0" bandCol="0">
                <a:tableStyleId>{5C22544A-7EE6-4342-B048-85BDC9FD1C3A}</a:tableStyleId>
              </a:tblPr>
              <a:tblGrid>
                <a:gridCol w="1691640"/>
                <a:gridCol w="1371600"/>
                <a:gridCol w="640080"/>
                <a:gridCol w="548640"/>
                <a:gridCol w="411480"/>
              </a:tblGrid>
              <a:tr h="292608">
                <a:tc>
                  <a:txBody>
                    <a:bodyPr/>
                    <a:lstStyle/>
                    <a:p>
                      <a:pPr algn="ctr"/>
                      <a:r>
                        <a:rPr sz="2400" b="1" i="0">
                          <a:solidFill>
                            <a:srgbClr val="FFFFFF"/>
                          </a:solidFill>
                          <a:latin typeface="Calibri"/>
                        </a:rPr>
                        <a:t>Segment ID</a:t>
                      </a:r>
                    </a:p>
                  </a:txBody>
                  <a:tcPr>
                    <a:solidFill>
                      <a:srgbClr val="00b4d8"/>
                    </a:solidFill>
                  </a:tcPr>
                </a:tc>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Slide</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defRPr sz="2400" b="1" i="0">
                          <a:solidFill>
                            <a:srgbClr val="FFFFFF"/>
                          </a:solidFill>
                          <a:latin typeface="Calibri"/>
                        </a:defRPr>
                      </a:pPr>
                    </a:p>
                  </a:txBody>
                  <a:tcPr>
                    <a:solidFill>
                      <a:srgbClr val="00b4d8"/>
                    </a:solidFill>
                  </a:tcPr>
                </a:tc>
              </a:tr>
              <a:tr h="292608">
                <a:tc>
                  <a:txBody>
                    <a:bodyPr/>
                    <a:lstStyle/>
                    <a:p>
                      <a:pPr algn="l"/>
                      <a:r>
                        <a:rPr sz="2400" b="0" i="0">
                          <a:solidFill>
                            <a:srgbClr val="FFFFFF"/>
                          </a:solidFill>
                          <a:latin typeface="Calibri"/>
                        </a:rPr>
                        <a:t>IEa7qEkMvfQ_3</a:t>
                      </a:r>
                    </a:p>
                  </a:txBody>
                  <a:tcPr>
                    <a:solidFill>
                      <a:srgbClr val="0d1b2a"/>
                    </a:solidFill>
                  </a:tcPr>
                </a:tc>
                <a:tc>
                  <a:txBody>
                    <a:bodyPr/>
                    <a:lstStyle/>
                    <a:p>
                      <a:pPr algn="l"/>
                      <a:r>
                        <a:rPr sz="2400" b="0" i="0">
                          <a:solidFill>
                            <a:srgbClr val="FFFFFF"/>
                          </a:solidFill>
                          <a:latin typeface="Calibri"/>
                        </a:rPr>
                        <a:t>Perfect</a:t>
                      </a:r>
                    </a:p>
                  </a:txBody>
                  <a:tcPr>
                    <a:solidFill>
                      <a:srgbClr val="0d1b2a"/>
                    </a:solidFill>
                  </a:tcPr>
                </a:tc>
                <a:tc>
                  <a:txBody>
                    <a:bodyPr/>
                    <a:lstStyle/>
                    <a:p>
                      <a:pPr algn="l"/>
                      <a:r>
                        <a:rPr sz="2400" b="0" i="0">
                          <a:solidFill>
                            <a:srgbClr val="FFFFFF"/>
                          </a:solidFill>
                          <a:latin typeface="Calibri"/>
                        </a:rPr>
                        <a:t>14</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-WQZsfHcPDM_7</a:t>
                      </a:r>
                    </a:p>
                  </a:txBody>
                  <a:tcPr>
                    <a:solidFill>
                      <a:srgbClr val="152a40"/>
                    </a:solidFill>
                  </a:tcPr>
                </a:tc>
                <a:tc>
                  <a:txBody>
                    <a:bodyPr/>
                    <a:lstStyle/>
                    <a:p>
                      <a:pPr algn="l"/>
                      <a:r>
                        <a:rPr sz="2400" b="0" i="0">
                          <a:solidFill>
                            <a:srgbClr val="FFFFFF"/>
                          </a:solidFill>
                          <a:latin typeface="Calibri"/>
                        </a:rPr>
                        <a:t>Near-Miss</a:t>
                      </a:r>
                    </a:p>
                  </a:txBody>
                  <a:tcPr>
                    <a:solidFill>
                      <a:srgbClr val="152a40"/>
                    </a:solidFill>
                  </a:tcPr>
                </a:tc>
                <a:tc>
                  <a:txBody>
                    <a:bodyPr/>
                    <a:lstStyle/>
                    <a:p>
                      <a:pPr algn="l"/>
                      <a:r>
                        <a:rPr sz="2400" b="0" i="0">
                          <a:solidFill>
                            <a:srgbClr val="FFFFFF"/>
                          </a:solidFill>
                          <a:latin typeface="Calibri"/>
                        </a:rPr>
                        <a:t>14</a:t>
                      </a:r>
                    </a:p>
                  </a:txBody>
                  <a:tcPr>
                    <a:solidFill>
                      <a:srgbClr val="152a40"/>
                    </a:solidFill>
                  </a:tcPr>
                </a:tc>
                <a:tc>
                  <a:txBody>
                    <a:bodyPr/>
                    <a:lstStyle/>
                    <a:p>
                      <a:pPr algn="l"/>
                      <a:r>
                        <a:rPr sz="2400" b="0" i="0">
                          <a:solidFill>
                            <a:srgbClr val="FFFFFF"/>
                          </a:solidFill>
                          <a:latin typeface="Calibri"/>
                        </a:rPr>
                        <a:t>58%</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00MUdHQ7GGY_8</a:t>
                      </a:r>
                    </a:p>
                  </a:txBody>
                  <a:tcPr>
                    <a:solidFill>
                      <a:srgbClr val="0d1b2a"/>
                    </a:solidFill>
                  </a:tcPr>
                </a:tc>
                <a:tc>
                  <a:txBody>
                    <a:bodyPr/>
                    <a:lstStyle/>
                    <a:p>
                      <a:pPr algn="l"/>
                      <a:r>
                        <a:rPr sz="2400" b="0" i="0">
                          <a:solidFill>
                            <a:srgbClr val="FFFFFF"/>
                          </a:solidFill>
                          <a:latin typeface="Calibri"/>
                        </a:rPr>
                        <a:t>Hallucination</a:t>
                      </a:r>
                    </a:p>
                  </a:txBody>
                  <a:tcPr>
                    <a:solidFill>
                      <a:srgbClr val="0d1b2a"/>
                    </a:solidFill>
                  </a:tcPr>
                </a:tc>
                <a:tc>
                  <a:txBody>
                    <a:bodyPr/>
                    <a:lstStyle/>
                    <a:p>
                      <a:pPr algn="l"/>
                      <a:r>
                        <a:rPr sz="2400" b="0" i="0">
                          <a:solidFill>
                            <a:srgbClr val="FFFFFF"/>
                          </a:solidFill>
                          <a:latin typeface="Calibri"/>
                        </a:rPr>
                        <a:t>14</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DBhaa45mAro_2</a:t>
                      </a:r>
                    </a:p>
                  </a:txBody>
                  <a:tcPr>
                    <a:solidFill>
                      <a:srgbClr val="152a40"/>
                    </a:solidFill>
                  </a:tcPr>
                </a:tc>
                <a:tc>
                  <a:txBody>
                    <a:bodyPr/>
                    <a:lstStyle/>
                    <a:p>
                      <a:pPr algn="l"/>
                      <a:r>
                        <a:rPr sz="2400" b="0" i="0">
                          <a:solidFill>
                            <a:srgbClr val="FFFFFF"/>
                          </a:solidFill>
                          <a:latin typeface="Calibri"/>
                        </a:rPr>
                        <a:t>Tuning Fix</a:t>
                      </a:r>
                    </a:p>
                  </a:txBody>
                  <a:tcPr>
                    <a:solidFill>
                      <a:srgbClr val="152a40"/>
                    </a:solidFill>
                  </a:tcPr>
                </a:tc>
                <a:tc>
                  <a:txBody>
                    <a:bodyPr/>
                    <a:lstStyle/>
                    <a:p>
                      <a:pPr algn="l"/>
                      <a:r>
                        <a:rPr sz="2400" b="0" i="0">
                          <a:solidFill>
                            <a:srgbClr val="FFFFFF"/>
                          </a:solidFill>
                          <a:latin typeface="Calibri"/>
                        </a:rPr>
                        <a:t>14</a:t>
                      </a:r>
                    </a:p>
                  </a:txBody>
                  <a:tcPr>
                    <a:solidFill>
                      <a:srgbClr val="152a40"/>
                    </a:solidFill>
                  </a:tcPr>
                </a:tc>
                <a:tc>
                  <a:txBody>
                    <a:bodyPr/>
                    <a:lstStyle/>
                    <a:p>
                      <a:pPr algn="l"/>
                      <a:r>
                        <a:rPr sz="2400" b="0" i="0">
                          <a:solidFill>
                            <a:srgbClr val="FFFFFF"/>
                          </a:solidFill>
                          <a:latin typeface="Calibri"/>
                        </a:rPr>
                        <a:t>73%</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vBCnI4kf3-E_0</a:t>
                      </a:r>
                    </a:p>
                  </a:txBody>
                  <a:tcPr>
                    <a:solidFill>
                      <a:srgbClr val="0d1b2a"/>
                    </a:solidFill>
                  </a:tcPr>
                </a:tc>
                <a:tc>
                  <a:txBody>
                    <a:bodyPr/>
                    <a:lstStyle/>
                    <a:p>
                      <a:pPr algn="l"/>
                      <a:r>
                        <a:rPr sz="2400" b="0" i="0">
                          <a:solidFill>
                            <a:srgbClr val="FFFFFF"/>
                          </a:solidFill>
                          <a:latin typeface="Calibri"/>
                        </a:rPr>
                        <a:t>Topic Drift</a:t>
                      </a:r>
                    </a:p>
                  </a:txBody>
                  <a:tcPr>
                    <a:solidFill>
                      <a:srgbClr val="0d1b2a"/>
                    </a:solidFill>
                  </a:tcPr>
                </a:tc>
                <a:tc>
                  <a:txBody>
                    <a:bodyPr/>
                    <a:lstStyle/>
                    <a:p>
                      <a:pPr algn="l"/>
                      <a:r>
                        <a:rPr sz="2400" b="0" i="0">
                          <a:solidFill>
                            <a:srgbClr val="FFFFFF"/>
                          </a:solidFill>
                          <a:latin typeface="Calibri"/>
                        </a:rPr>
                        <a:t>14/A6</a:t>
                      </a:r>
                    </a:p>
                  </a:txBody>
                  <a:tcPr>
                    <a:solidFill>
                      <a:srgbClr val="0d1b2a"/>
                    </a:solidFill>
                  </a:tcPr>
                </a:tc>
                <a:tc>
                  <a:txBody>
                    <a:bodyPr/>
                    <a:lstStyle/>
                    <a:p>
                      <a:pPr algn="l"/>
                      <a:r>
                        <a:rPr sz="2400" b="0" i="0">
                          <a:solidFill>
                            <a:srgbClr val="FFFFFF"/>
                          </a:solidFill>
                          <a:latin typeface="Calibri"/>
                        </a:rPr>
                        <a:t>97%</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Q8aPjew1aUU_5</a:t>
                      </a:r>
                    </a:p>
                  </a:txBody>
                  <a:tcPr>
                    <a:solidFill>
                      <a:srgbClr val="152a40"/>
                    </a:solidFill>
                  </a:tcPr>
                </a:tc>
                <a:tc>
                  <a:txBody>
                    <a:bodyPr/>
                    <a:lstStyle/>
                    <a:p>
                      <a:pPr algn="l"/>
                      <a:r>
                        <a:rPr sz="2400" b="0" i="0">
                          <a:solidFill>
                            <a:srgbClr val="FFFFFF"/>
                          </a:solidFill>
                          <a:latin typeface="Calibri"/>
                        </a:rPr>
                        <a:t>Salvage</a:t>
                      </a:r>
                    </a:p>
                  </a:txBody>
                  <a:tcPr>
                    <a:solidFill>
                      <a:srgbClr val="152a40"/>
                    </a:solidFill>
                  </a:tcPr>
                </a:tc>
                <a:tc>
                  <a:txBody>
                    <a:bodyPr/>
                    <a:lstStyle/>
                    <a:p>
                      <a:pPr algn="l"/>
                      <a:r>
                        <a:rPr sz="2400" b="0" i="0">
                          <a:solidFill>
                            <a:srgbClr val="FFFFFF"/>
                          </a:solidFill>
                          <a:latin typeface="Calibri"/>
                        </a:rPr>
                        <a:t>14/A5</a:t>
                      </a:r>
                    </a:p>
                  </a:txBody>
                  <a:tcPr>
                    <a:solidFill>
                      <a:srgbClr val="152a40"/>
                    </a:solidFill>
                  </a:tcPr>
                </a:tc>
                <a:tc>
                  <a:txBody>
                    <a:bodyPr/>
                    <a:lstStyle/>
                    <a:p>
                      <a:pPr algn="l"/>
                      <a:r>
                        <a:rPr sz="2400" b="0" i="0">
                          <a:solidFill>
                            <a:srgbClr val="FFFFFF"/>
                          </a:solidFill>
                          <a:latin typeface="Calibri"/>
                        </a:rPr>
                        <a:t>74%</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d8BR6hsvzoY_31</a:t>
                      </a:r>
                    </a:p>
                  </a:txBody>
                  <a:tcPr>
                    <a:solidFill>
                      <a:srgbClr val="0d1b2a"/>
                    </a:solidFill>
                  </a:tcPr>
                </a:tc>
                <a:tc>
                  <a:txBody>
                    <a:bodyPr/>
                    <a:lstStyle/>
                    <a:p>
                      <a:pPr algn="l"/>
                      <a:r>
                        <a:rPr sz="2400" b="0" i="0">
                          <a:solidFill>
                            <a:srgbClr val="FFFFFF"/>
                          </a:solidFill>
                          <a:latin typeface="Calibri"/>
                        </a:rPr>
                        <a:t>Perfect Short</a:t>
                      </a:r>
                    </a:p>
                  </a:txBody>
                  <a:tcPr>
                    <a:solidFill>
                      <a:srgbClr val="0d1b2a"/>
                    </a:solidFill>
                  </a:tcPr>
                </a:tc>
                <a:tc>
                  <a:txBody>
                    <a:bodyPr/>
                    <a:lstStyle/>
                    <a:p>
                      <a:pPr algn="l"/>
                      <a:r>
                        <a:rPr sz="2400" b="0" i="0">
                          <a:solidFill>
                            <a:srgbClr val="FFFFFF"/>
                          </a:solidFill>
                          <a:latin typeface="Calibri"/>
                        </a:rPr>
                        <a:t>15</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WTSIAfzvYUU_0</a:t>
                      </a:r>
                    </a:p>
                  </a:txBody>
                  <a:tcPr>
                    <a:solidFill>
                      <a:srgbClr val="152a40"/>
                    </a:solidFill>
                  </a:tcPr>
                </a:tc>
                <a:tc>
                  <a:txBody>
                    <a:bodyPr/>
                    <a:lstStyle/>
                    <a:p>
                      <a:pPr algn="l"/>
                      <a:r>
                        <a:rPr sz="2400" b="0" i="0">
                          <a:solidFill>
                            <a:srgbClr val="FFFFFF"/>
                          </a:solidFill>
                          <a:latin typeface="Calibri"/>
                        </a:rPr>
                        <a:t>Semantic Pres.</a:t>
                      </a:r>
                    </a:p>
                  </a:txBody>
                  <a:tcPr>
                    <a:solidFill>
                      <a:srgbClr val="152a40"/>
                    </a:solidFill>
                  </a:tcPr>
                </a:tc>
                <a:tc>
                  <a:txBody>
                    <a:bodyPr/>
                    <a:lstStyle/>
                    <a:p>
                      <a:pPr algn="l"/>
                      <a:r>
                        <a:rPr sz="2400" b="0" i="0">
                          <a:solidFill>
                            <a:srgbClr val="FFFFFF"/>
                          </a:solidFill>
                          <a:latin typeface="Calibri"/>
                        </a:rPr>
                        <a:t>A5</a:t>
                      </a:r>
                    </a:p>
                  </a:txBody>
                  <a:tcPr>
                    <a:solidFill>
                      <a:srgbClr val="152a40"/>
                    </a:solidFill>
                  </a:tcPr>
                </a:tc>
                <a:tc>
                  <a:txBody>
                    <a:bodyPr/>
                    <a:lstStyle/>
                    <a:p>
                      <a:pPr algn="l"/>
                      <a:r>
                        <a:rPr sz="2400" b="0" i="0">
                          <a:solidFill>
                            <a:srgbClr val="FFFFFF"/>
                          </a:solidFill>
                          <a:latin typeface="Calibri"/>
                        </a:rPr>
                        <a:t>72%</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cT6aHJmM4cA_2</a:t>
                      </a:r>
                    </a:p>
                  </a:txBody>
                  <a:tcPr>
                    <a:solidFill>
                      <a:srgbClr val="0d1b2a"/>
                    </a:solidFill>
                  </a:tcPr>
                </a:tc>
                <a:tc>
                  <a:txBody>
                    <a:bodyPr/>
                    <a:lstStyle/>
                    <a:p>
                      <a:pPr algn="l"/>
                      <a:r>
                        <a:rPr sz="2400" b="0" i="0">
                          <a:solidFill>
                            <a:srgbClr val="FFFFFF"/>
                          </a:solidFill>
                          <a:latin typeface="Calibri"/>
                        </a:rPr>
                        <a:t>Phonetic Bridge</a:t>
                      </a:r>
                    </a:p>
                  </a:txBody>
                  <a:tcPr>
                    <a:solidFill>
                      <a:srgbClr val="0d1b2a"/>
                    </a:solidFill>
                  </a:tcPr>
                </a:tc>
                <a:tc>
                  <a:txBody>
                    <a:bodyPr/>
                    <a:lstStyle/>
                    <a:p>
                      <a:pPr algn="l"/>
                      <a:r>
                        <a:rPr sz="2400" b="0" i="0">
                          <a:solidFill>
                            <a:srgbClr val="FFFFFF"/>
                          </a:solidFill>
                          <a:latin typeface="Calibri"/>
                        </a:rPr>
                        <a:t>A5</a:t>
                      </a:r>
                    </a:p>
                  </a:txBody>
                  <a:tcPr>
                    <a:solidFill>
                      <a:srgbClr val="0d1b2a"/>
                    </a:solidFill>
                  </a:tcPr>
                </a:tc>
                <a:tc>
                  <a:txBody>
                    <a:bodyPr/>
                    <a:lstStyle/>
                    <a:p>
                      <a:pPr algn="l"/>
                      <a:r>
                        <a:rPr sz="2400" b="0" i="0">
                          <a:solidFill>
                            <a:srgbClr val="FFFFFF"/>
                          </a:solidFill>
                          <a:latin typeface="Calibri"/>
                        </a:rPr>
                        <a:t>89%</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cECxDMkqVcs_0</a:t>
                      </a:r>
                    </a:p>
                  </a:txBody>
                  <a:tcPr>
                    <a:solidFill>
                      <a:srgbClr val="152a40"/>
                    </a:solidFill>
                  </a:tcPr>
                </a:tc>
                <a:tc>
                  <a:txBody>
                    <a:bodyPr/>
                    <a:lstStyle/>
                    <a:p>
                      <a:pPr algn="l"/>
                      <a:r>
                        <a:rPr sz="2400" b="0" i="0">
                          <a:solidFill>
                            <a:srgbClr val="FFFFFF"/>
                          </a:solidFill>
                          <a:latin typeface="Calibri"/>
                        </a:rPr>
                        <a:t>Entity-Pres.</a:t>
                      </a:r>
                    </a:p>
                  </a:txBody>
                  <a:tcPr>
                    <a:solidFill>
                      <a:srgbClr val="152a40"/>
                    </a:solidFill>
                  </a:tcPr>
                </a:tc>
                <a:tc>
                  <a:txBody>
                    <a:bodyPr/>
                    <a:lstStyle/>
                    <a:p>
                      <a:pPr algn="l"/>
                      <a:r>
                        <a:rPr sz="2400" b="0" i="0">
                          <a:solidFill>
                            <a:srgbClr val="FFFFFF"/>
                          </a:solidFill>
                          <a:latin typeface="Calibri"/>
                        </a:rPr>
                        <a:t>A5</a:t>
                      </a:r>
                    </a:p>
                  </a:txBody>
                  <a:tcPr>
                    <a:solidFill>
                      <a:srgbClr val="152a40"/>
                    </a:solidFill>
                  </a:tcPr>
                </a:tc>
                <a:tc>
                  <a:txBody>
                    <a:bodyPr/>
                    <a:lstStyle/>
                    <a:p>
                      <a:pPr algn="l"/>
                      <a:r>
                        <a:rPr sz="2400" b="0" i="0">
                          <a:solidFill>
                            <a:srgbClr val="FFFFFF"/>
                          </a:solidFill>
                          <a:latin typeface="Calibri"/>
                        </a:rPr>
                        <a:t>57%</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IZcKDz911X8_0</a:t>
                      </a:r>
                    </a:p>
                  </a:txBody>
                  <a:tcPr>
                    <a:solidFill>
                      <a:srgbClr val="0d1b2a"/>
                    </a:solidFill>
                  </a:tcPr>
                </a:tc>
                <a:tc>
                  <a:txBody>
                    <a:bodyPr/>
                    <a:lstStyle/>
                    <a:p>
                      <a:pPr algn="l"/>
                      <a:r>
                        <a:rPr sz="2400" b="0" i="0">
                          <a:solidFill>
                            <a:srgbClr val="FFFFFF"/>
                          </a:solidFill>
                          <a:latin typeface="Calibri"/>
                        </a:rPr>
                        <a:t>Structure Match</a:t>
                      </a:r>
                    </a:p>
                  </a:txBody>
                  <a:tcPr>
                    <a:solidFill>
                      <a:srgbClr val="0d1b2a"/>
                    </a:solidFill>
                  </a:tcPr>
                </a:tc>
                <a:tc>
                  <a:txBody>
                    <a:bodyPr/>
                    <a:lstStyle/>
                    <a:p>
                      <a:pPr algn="l"/>
                      <a:r>
                        <a:rPr sz="2400" b="0" i="0">
                          <a:solidFill>
                            <a:srgbClr val="FFFFFF"/>
                          </a:solidFill>
                          <a:latin typeface="Calibri"/>
                        </a:rPr>
                        <a:t>A5</a:t>
                      </a:r>
                    </a:p>
                  </a:txBody>
                  <a:tcPr>
                    <a:solidFill>
                      <a:srgbClr val="0d1b2a"/>
                    </a:solidFill>
                  </a:tcPr>
                </a:tc>
                <a:tc>
                  <a:txBody>
                    <a:bodyPr/>
                    <a:lstStyle/>
                    <a:p>
                      <a:pPr algn="l"/>
                      <a:r>
                        <a:rPr sz="2400" b="0" i="0">
                          <a:solidFill>
                            <a:srgbClr val="FFFFFF"/>
                          </a:solidFill>
                          <a:latin typeface="Calibri"/>
                        </a:rPr>
                        <a:t>39%</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0FUlRjBcGGE_21</a:t>
                      </a:r>
                    </a:p>
                  </a:txBody>
                  <a:tcPr>
                    <a:solidFill>
                      <a:srgbClr val="152a40"/>
                    </a:solidFill>
                  </a:tcPr>
                </a:tc>
                <a:tc>
                  <a:txBody>
                    <a:bodyPr/>
                    <a:lstStyle/>
                    <a:p>
                      <a:pPr algn="l"/>
                      <a:r>
                        <a:rPr sz="2400" b="0" i="0">
                          <a:solidFill>
                            <a:srgbClr val="FFFFFF"/>
                          </a:solidFill>
                          <a:latin typeface="Calibri"/>
                        </a:rPr>
                        <a:t>WER Over-Pun.</a:t>
                      </a:r>
                    </a:p>
                  </a:txBody>
                  <a:tcPr>
                    <a:solidFill>
                      <a:srgbClr val="152a40"/>
                    </a:solidFill>
                  </a:tcPr>
                </a:tc>
                <a:tc>
                  <a:txBody>
                    <a:bodyPr/>
                    <a:lstStyle/>
                    <a:p>
                      <a:pPr algn="l"/>
                      <a:r>
                        <a:rPr sz="2400" b="0" i="0">
                          <a:solidFill>
                            <a:srgbClr val="FFFFFF"/>
                          </a:solidFill>
                          <a:latin typeface="Calibri"/>
                        </a:rPr>
                        <a:t>A5</a:t>
                      </a:r>
                    </a:p>
                  </a:txBody>
                  <a:tcPr>
                    <a:solidFill>
                      <a:srgbClr val="152a40"/>
                    </a:solidFill>
                  </a:tcPr>
                </a:tc>
                <a:tc>
                  <a:txBody>
                    <a:bodyPr/>
                    <a:lstStyle/>
                    <a:p>
                      <a:pPr algn="l"/>
                      <a:r>
                        <a:rPr sz="2400" b="0" i="0">
                          <a:solidFill>
                            <a:srgbClr val="FFFFFF"/>
                          </a:solidFill>
                          <a:latin typeface="Calibri"/>
                        </a:rPr>
                        <a:t>150%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FLRU5qzb6hc_9</a:t>
                      </a:r>
                    </a:p>
                  </a:txBody>
                  <a:tcPr>
                    <a:solidFill>
                      <a:srgbClr val="0d1b2a"/>
                    </a:solidFill>
                  </a:tcPr>
                </a:tc>
                <a:tc>
                  <a:txBody>
                    <a:bodyPr/>
                    <a:lstStyle/>
                    <a:p>
                      <a:pPr algn="l"/>
                      <a:r>
                        <a:rPr sz="2400" b="0" i="0">
                          <a:solidFill>
                            <a:srgbClr val="FFFFFF"/>
                          </a:solidFill>
                          <a:latin typeface="Calibri"/>
                        </a:rPr>
                        <a:t>Near-Perfect</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BVynmQr3cf8_0</a:t>
                      </a:r>
                    </a:p>
                  </a:txBody>
                  <a:tcPr>
                    <a:solidFill>
                      <a:srgbClr val="152a40"/>
                    </a:solidFill>
                  </a:tcPr>
                </a:tc>
                <a:tc>
                  <a:txBody>
                    <a:bodyPr/>
                    <a:lstStyle/>
                    <a:p>
                      <a:pPr algn="l"/>
                      <a:r>
                        <a:rPr sz="2400" b="0" i="0">
                          <a:solidFill>
                            <a:srgbClr val="FFFFFF"/>
                          </a:solidFill>
                          <a:latin typeface="Calibri"/>
                        </a:rPr>
                        <a:t>Minor Errors</a:t>
                      </a:r>
                    </a:p>
                  </a:txBody>
                  <a:tcPr>
                    <a:solidFill>
                      <a:srgbClr val="152a40"/>
                    </a:solidFill>
                  </a:tcPr>
                </a:tc>
                <a:tc>
                  <a:txBody>
                    <a:bodyPr/>
                    <a:lstStyle/>
                    <a:p>
                      <a:pPr algn="l"/>
                      <a:r>
                        <a:rPr sz="2400" b="0" i="0">
                          <a:solidFill>
                            <a:srgbClr val="FFFFFF"/>
                          </a:solidFill>
                          <a:latin typeface="Calibri"/>
                        </a:rPr>
                        <a:t>A12</a:t>
                      </a:r>
                    </a:p>
                  </a:txBody>
                  <a:tcPr>
                    <a:solidFill>
                      <a:srgbClr val="152a40"/>
                    </a:solidFill>
                  </a:tcPr>
                </a:tc>
                <a:tc>
                  <a:txBody>
                    <a:bodyPr/>
                    <a:lstStyle/>
                    <a:p>
                      <a:pPr algn="l"/>
                      <a:r>
                        <a:rPr sz="2400" b="0" i="0">
                          <a:solidFill>
                            <a:srgbClr val="FFFFFF"/>
                          </a:solidFill>
                          <a:latin typeface="Calibri"/>
                        </a:rPr>
                        <a:t>11%</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LiYzBldkxMc_2</a:t>
                      </a:r>
                    </a:p>
                  </a:txBody>
                  <a:tcPr>
                    <a:solidFill>
                      <a:srgbClr val="0d1b2a"/>
                    </a:solidFill>
                  </a:tcPr>
                </a:tc>
                <a:tc>
                  <a:txBody>
                    <a:bodyPr/>
                    <a:lstStyle/>
                    <a:p>
                      <a:pPr algn="l"/>
                      <a:r>
                        <a:rPr sz="2400" b="0" i="0">
                          <a:solidFill>
                            <a:srgbClr val="FFFFFF"/>
                          </a:solidFill>
                          <a:latin typeface="Calibri"/>
                        </a:rPr>
                        <a:t>Phonetic Pres.</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27%</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epuNSCr7qpA_16</a:t>
                      </a:r>
                    </a:p>
                  </a:txBody>
                  <a:tcPr>
                    <a:solidFill>
                      <a:srgbClr val="152a40"/>
                    </a:solidFill>
                  </a:tcPr>
                </a:tc>
                <a:tc>
                  <a:txBody>
                    <a:bodyPr/>
                    <a:lstStyle/>
                    <a:p>
                      <a:pPr algn="l"/>
                      <a:r>
                        <a:rPr sz="2400" b="0" i="0">
                          <a:solidFill>
                            <a:srgbClr val="FFFFFF"/>
                          </a:solidFill>
                          <a:latin typeface="Calibri"/>
                        </a:rPr>
                        <a:t>Good Sem+Len</a:t>
                      </a:r>
                    </a:p>
                  </a:txBody>
                  <a:tcPr>
                    <a:solidFill>
                      <a:srgbClr val="152a40"/>
                    </a:solidFill>
                  </a:tcPr>
                </a:tc>
                <a:tc>
                  <a:txBody>
                    <a:bodyPr/>
                    <a:lstStyle/>
                    <a:p>
                      <a:pPr algn="l"/>
                      <a:r>
                        <a:rPr sz="2400" b="0" i="0">
                          <a:solidFill>
                            <a:srgbClr val="FFFFFF"/>
                          </a:solidFill>
                          <a:latin typeface="Calibri"/>
                        </a:rPr>
                        <a:t>A12</a:t>
                      </a:r>
                    </a:p>
                  </a:txBody>
                  <a:tcPr>
                    <a:solidFill>
                      <a:srgbClr val="152a40"/>
                    </a:solidFill>
                  </a:tcPr>
                </a:tc>
                <a:tc>
                  <a:txBody>
                    <a:bodyPr/>
                    <a:lstStyle/>
                    <a:p>
                      <a:pPr algn="l"/>
                      <a:r>
                        <a:rPr sz="2400" b="0" i="0">
                          <a:solidFill>
                            <a:srgbClr val="FFFFFF"/>
                          </a:solidFill>
                          <a:latin typeface="Calibri"/>
                        </a:rPr>
                        <a:t>15%</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BS4kTgaiydQ_0</a:t>
                      </a:r>
                    </a:p>
                  </a:txBody>
                  <a:tcPr>
                    <a:solidFill>
                      <a:srgbClr val="0d1b2a"/>
                    </a:solidFill>
                  </a:tcPr>
                </a:tc>
                <a:tc>
                  <a:txBody>
                    <a:bodyPr/>
                    <a:lstStyle/>
                    <a:p>
                      <a:pPr algn="l"/>
                      <a:r>
                        <a:rPr sz="2400" b="0" i="0">
                          <a:solidFill>
                            <a:srgbClr val="FFFFFF"/>
                          </a:solidFill>
                          <a:latin typeface="Calibri"/>
                        </a:rPr>
                        <a:t>Entity Preserved</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31%</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bl>
          </a:graphicData>
        </a:graphic>
      </p:graphicFrame>
      <p:graphicFrame>
        <p:nvGraphicFramePr>
          <p:cNvPr id="6" name="Table 5"/>
          <p:cNvGraphicFramePr>
            <a:graphicFrameLocks noGrp="1"/>
          </p:cNvGraphicFramePr>
          <p:nvPr/>
        </p:nvGraphicFramePr>
        <p:xfrm>
          <a:off x="6245352" y="1673352"/>
          <a:ext cx="4663440" cy="5266944"/>
        </p:xfrm>
        <a:graphic>
          <a:graphicData uri="http://schemas.openxmlformats.org/drawingml/2006/table">
            <a:tbl>
              <a:tblPr firstRow="0" bandRow="0" lastRow="0" bandCol="0">
                <a:tableStyleId>{5C22544A-7EE6-4342-B048-85BDC9FD1C3A}</a:tableStyleId>
              </a:tblPr>
              <a:tblGrid>
                <a:gridCol w="1691640"/>
                <a:gridCol w="1371600"/>
                <a:gridCol w="640080"/>
                <a:gridCol w="548640"/>
                <a:gridCol w="411480"/>
              </a:tblGrid>
              <a:tr h="292608">
                <a:tc>
                  <a:txBody>
                    <a:bodyPr/>
                    <a:lstStyle/>
                    <a:p>
                      <a:pPr algn="ctr"/>
                      <a:r>
                        <a:rPr sz="2400" b="1" i="0">
                          <a:solidFill>
                            <a:srgbClr val="FFFFFF"/>
                          </a:solidFill>
                          <a:latin typeface="Calibri"/>
                        </a:rPr>
                        <a:t>Segment ID</a:t>
                      </a:r>
                    </a:p>
                  </a:txBody>
                  <a:tcPr>
                    <a:solidFill>
                      <a:srgbClr val="00b4d8"/>
                    </a:solidFill>
                  </a:tcPr>
                </a:tc>
                <a:tc>
                  <a:txBody>
                    <a:bodyPr/>
                    <a:lstStyle/>
                    <a:p>
                      <a:pPr algn="ctr"/>
                      <a:r>
                        <a:rPr sz="2400" b="1" i="0">
                          <a:solidFill>
                            <a:srgbClr val="FFFFFF"/>
                          </a:solidFill>
                          <a:latin typeface="Calibri"/>
                        </a:rPr>
                        <a:t>Category</a:t>
                      </a:r>
                    </a:p>
                  </a:txBody>
                  <a:tcPr>
                    <a:solidFill>
                      <a:srgbClr val="00b4d8"/>
                    </a:solidFill>
                  </a:tcPr>
                </a:tc>
                <a:tc>
                  <a:txBody>
                    <a:bodyPr/>
                    <a:lstStyle/>
                    <a:p>
                      <a:pPr algn="ctr"/>
                      <a:r>
                        <a:rPr sz="2400" b="1" i="0">
                          <a:solidFill>
                            <a:srgbClr val="FFFFFF"/>
                          </a:solidFill>
                          <a:latin typeface="Calibri"/>
                        </a:rPr>
                        <a:t>Slide</a:t>
                      </a:r>
                    </a:p>
                  </a:txBody>
                  <a:tcPr>
                    <a:solidFill>
                      <a:srgbClr val="00b4d8"/>
                    </a:solidFill>
                  </a:tcPr>
                </a:tc>
                <a:tc>
                  <a:txBody>
                    <a:bodyPr/>
                    <a:lstStyle/>
                    <a:p>
                      <a:pPr algn="ctr"/>
                      <a:r>
                        <a:rPr sz="2400" b="1" i="0">
                          <a:solidFill>
                            <a:srgbClr val="FFFFFF"/>
                          </a:solidFill>
                          <a:latin typeface="Calibri"/>
                        </a:rPr>
                        <a:t>WER</a:t>
                      </a:r>
                    </a:p>
                  </a:txBody>
                  <a:tcPr>
                    <a:solidFill>
                      <a:srgbClr val="00b4d8"/>
                    </a:solidFill>
                  </a:tcPr>
                </a:tc>
                <a:tc>
                  <a:txBody>
                    <a:bodyPr/>
                    <a:lstStyle/>
                    <a:p>
                      <a:pPr algn="ctr">
                        <a:defRPr sz="2400" b="1" i="0">
                          <a:solidFill>
                            <a:srgbClr val="FFFFFF"/>
                          </a:solidFill>
                          <a:latin typeface="Calibri"/>
                        </a:defRPr>
                      </a:pPr>
                    </a:p>
                  </a:txBody>
                  <a:tcPr>
                    <a:solidFill>
                      <a:srgbClr val="00b4d8"/>
                    </a:solidFill>
                  </a:tcPr>
                </a:tc>
              </a:tr>
              <a:tr h="292608">
                <a:tc>
                  <a:txBody>
                    <a:bodyPr/>
                    <a:lstStyle/>
                    <a:p>
                      <a:pPr algn="l"/>
                      <a:r>
                        <a:rPr sz="2400" b="0" i="0">
                          <a:solidFill>
                            <a:srgbClr val="FFFFFF"/>
                          </a:solidFill>
                          <a:latin typeface="Calibri"/>
                        </a:rPr>
                        <a:t>HecEY5bF-xs_5</a:t>
                      </a:r>
                    </a:p>
                  </a:txBody>
                  <a:tcPr>
                    <a:solidFill>
                      <a:srgbClr val="0d1b2a"/>
                    </a:solidFill>
                  </a:tcPr>
                </a:tc>
                <a:tc>
                  <a:txBody>
                    <a:bodyPr/>
                    <a:lstStyle/>
                    <a:p>
                      <a:pPr algn="l"/>
                      <a:r>
                        <a:rPr sz="2400" b="0" i="0">
                          <a:solidFill>
                            <a:srgbClr val="FFFFFF"/>
                          </a:solidFill>
                          <a:latin typeface="Calibri"/>
                        </a:rPr>
                        <a:t>Low-Mod WER</a:t>
                      </a:r>
                    </a:p>
                  </a:txBody>
                  <a:tcPr>
                    <a:solidFill>
                      <a:srgbClr val="0d1b2a"/>
                    </a:solidFill>
                  </a:tcPr>
                </a:tc>
                <a:tc>
                  <a:txBody>
                    <a:bodyPr/>
                    <a:lstStyle/>
                    <a:p>
                      <a:pPr algn="l"/>
                      <a:r>
                        <a:rPr sz="2400" b="0" i="0">
                          <a:solidFill>
                            <a:srgbClr val="FFFFFF"/>
                          </a:solidFill>
                          <a:latin typeface="Calibri"/>
                        </a:rPr>
                        <a:t>A12</a:t>
                      </a:r>
                    </a:p>
                  </a:txBody>
                  <a:tcPr>
                    <a:solidFill>
                      <a:srgbClr val="0d1b2a"/>
                    </a:solidFill>
                  </a:tcPr>
                </a:tc>
                <a:tc>
                  <a:txBody>
                    <a:bodyPr/>
                    <a:lstStyle/>
                    <a:p>
                      <a:pPr algn="l"/>
                      <a:r>
                        <a:rPr sz="2400" b="0" i="0">
                          <a:solidFill>
                            <a:srgbClr val="FFFFFF"/>
                          </a:solidFill>
                          <a:latin typeface="Calibri"/>
                        </a:rPr>
                        <a:t>15%</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c6eBrYor21I_10</a:t>
                      </a:r>
                    </a:p>
                  </a:txBody>
                  <a:tcPr>
                    <a:solidFill>
                      <a:srgbClr val="152a40"/>
                    </a:solidFill>
                  </a:tcPr>
                </a:tc>
                <a:tc>
                  <a:txBody>
                    <a:bodyPr/>
                    <a:lstStyle/>
                    <a:p>
                      <a:pPr algn="l"/>
                      <a:r>
                        <a:rPr sz="2400" b="0" i="0">
                          <a:solidFill>
                            <a:srgbClr val="FFFFFF"/>
                          </a:solidFill>
                          <a:latin typeface="Calibri"/>
                        </a:rPr>
                        <a:t>Sem+Phonetic</a:t>
                      </a:r>
                    </a:p>
                  </a:txBody>
                  <a:tcPr>
                    <a:solidFill>
                      <a:srgbClr val="152a40"/>
                    </a:solidFill>
                  </a:tcPr>
                </a:tc>
                <a:tc>
                  <a:txBody>
                    <a:bodyPr/>
                    <a:lstStyle/>
                    <a:p>
                      <a:pPr algn="l"/>
                      <a:r>
                        <a:rPr sz="2400" b="0" i="0">
                          <a:solidFill>
                            <a:srgbClr val="FFFFFF"/>
                          </a:solidFill>
                          <a:latin typeface="Calibri"/>
                        </a:rPr>
                        <a:t>A12</a:t>
                      </a:r>
                    </a:p>
                  </a:txBody>
                  <a:tcPr>
                    <a:solidFill>
                      <a:srgbClr val="152a40"/>
                    </a:solidFill>
                  </a:tcPr>
                </a:tc>
                <a:tc>
                  <a:txBody>
                    <a:bodyPr/>
                    <a:lstStyle/>
                    <a:p>
                      <a:pPr algn="l"/>
                      <a:r>
                        <a:rPr sz="2400" b="0" i="0">
                          <a:solidFill>
                            <a:srgbClr val="FFFFFF"/>
                          </a:solidFill>
                          <a:latin typeface="Calibri"/>
                        </a:rPr>
                        <a:t>52%</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1RkFwRhhcWQ_0</a:t>
                      </a:r>
                    </a:p>
                  </a:txBody>
                  <a:tcPr>
                    <a:solidFill>
                      <a:srgbClr val="0d1b2a"/>
                    </a:solidFill>
                  </a:tcPr>
                </a:tc>
                <a:tc>
                  <a:txBody>
                    <a:bodyPr/>
                    <a:lstStyle/>
                    <a:p>
                      <a:pPr algn="l"/>
                      <a:r>
                        <a:rPr sz="2400" b="0" i="0">
                          <a:solidFill>
                            <a:srgbClr val="FFFFFF"/>
                          </a:solidFill>
                          <a:latin typeface="Calibri"/>
                        </a:rPr>
                        <a:t>Empty Output</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BmmJujNQvXw_0</a:t>
                      </a:r>
                    </a:p>
                  </a:txBody>
                  <a:tcPr>
                    <a:solidFill>
                      <a:srgbClr val="152a40"/>
                    </a:solidFill>
                  </a:tcPr>
                </a:tc>
                <a:tc>
                  <a:txBody>
                    <a:bodyPr/>
                    <a:lstStyle/>
                    <a:p>
                      <a:pPr algn="l"/>
                      <a:r>
                        <a:rPr sz="2400" b="0" i="0">
                          <a:solidFill>
                            <a:srgbClr val="FFFFFF"/>
                          </a:solidFill>
                          <a:latin typeface="Calibri"/>
                        </a:rPr>
                        <a:t>Extreme Halluc.</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200%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0fmc81KXbB0_0</a:t>
                      </a:r>
                    </a:p>
                  </a:txBody>
                  <a:tcPr>
                    <a:solidFill>
                      <a:srgbClr val="0d1b2a"/>
                    </a:solidFill>
                  </a:tcPr>
                </a:tc>
                <a:tc>
                  <a:txBody>
                    <a:bodyPr/>
                    <a:lstStyle/>
                    <a:p>
                      <a:pPr algn="l"/>
                      <a:r>
                        <a:rPr sz="2400" b="0" i="0">
                          <a:solidFill>
                            <a:srgbClr val="FFFFFF"/>
                          </a:solidFill>
                          <a:latin typeface="Calibri"/>
                        </a:rPr>
                        <a:t>Truncation</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69%</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EMfcKvHA5Uc_0</a:t>
                      </a:r>
                    </a:p>
                  </a:txBody>
                  <a:tcPr>
                    <a:solidFill>
                      <a:srgbClr val="152a40"/>
                    </a:solidFill>
                  </a:tcPr>
                </a:tc>
                <a:tc>
                  <a:txBody>
                    <a:bodyPr/>
                    <a:lstStyle/>
                    <a:p>
                      <a:pPr algn="l"/>
                      <a:r>
                        <a:rPr sz="2400" b="0" i="0">
                          <a:solidFill>
                            <a:srgbClr val="FFFFFF"/>
                          </a:solidFill>
                          <a:latin typeface="Calibri"/>
                        </a:rPr>
                        <a:t>Entity Destruct.</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100%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2JuBrr6TW8o_14</a:t>
                      </a:r>
                    </a:p>
                  </a:txBody>
                  <a:tcPr>
                    <a:solidFill>
                      <a:srgbClr val="0d1b2a"/>
                    </a:solidFill>
                  </a:tcPr>
                </a:tc>
                <a:tc>
                  <a:txBody>
                    <a:bodyPr/>
                    <a:lstStyle/>
                    <a:p>
                      <a:pPr algn="l"/>
                      <a:r>
                        <a:rPr sz="2400" b="0" i="0">
                          <a:solidFill>
                            <a:srgbClr val="FFFFFF"/>
                          </a:solidFill>
                          <a:latin typeface="Calibri"/>
                        </a:rPr>
                        <a:t>Phonetic Wrong</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ZnoJxsXKULY_0</a:t>
                      </a:r>
                    </a:p>
                  </a:txBody>
                  <a:tcPr>
                    <a:solidFill>
                      <a:srgbClr val="152a40"/>
                    </a:solidFill>
                  </a:tcPr>
                </a:tc>
                <a:tc>
                  <a:txBody>
                    <a:bodyPr/>
                    <a:lstStyle/>
                    <a:p>
                      <a:pPr algn="l"/>
                      <a:r>
                        <a:rPr sz="2400" b="0" i="0">
                          <a:solidFill>
                            <a:srgbClr val="FFFFFF"/>
                          </a:solidFill>
                          <a:latin typeface="Calibri"/>
                        </a:rPr>
                        <a:t>High Error Rate</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100%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49qxSMt4Xe0_0</a:t>
                      </a:r>
                    </a:p>
                  </a:txBody>
                  <a:tcPr>
                    <a:solidFill>
                      <a:srgbClr val="0d1b2a"/>
                    </a:solidFill>
                  </a:tcPr>
                </a:tc>
                <a:tc>
                  <a:txBody>
                    <a:bodyPr/>
                    <a:lstStyle/>
                    <a:p>
                      <a:pPr algn="l"/>
                      <a:r>
                        <a:rPr sz="2400" b="0" i="0">
                          <a:solidFill>
                            <a:srgbClr val="FFFFFF"/>
                          </a:solidFill>
                          <a:latin typeface="Calibri"/>
                        </a:rPr>
                        <a:t>Accum. Errors</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68%</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xITCbZxwLn4_0</a:t>
                      </a:r>
                    </a:p>
                  </a:txBody>
                  <a:tcPr>
                    <a:solidFill>
                      <a:srgbClr val="152a40"/>
                    </a:solidFill>
                  </a:tcPr>
                </a:tc>
                <a:tc>
                  <a:txBody>
                    <a:bodyPr/>
                    <a:lstStyle/>
                    <a:p>
                      <a:pPr algn="l"/>
                      <a:r>
                        <a:rPr sz="2400" b="0" i="0">
                          <a:solidFill>
                            <a:srgbClr val="FFFFFF"/>
                          </a:solidFill>
                          <a:latin typeface="Calibri"/>
                        </a:rPr>
                        <a:t>Content Errors</a:t>
                      </a:r>
                    </a:p>
                  </a:txBody>
                  <a:tcPr>
                    <a:solidFill>
                      <a:srgbClr val="152a40"/>
                    </a:solidFill>
                  </a:tcPr>
                </a:tc>
                <a:tc>
                  <a:txBody>
                    <a:bodyPr/>
                    <a:lstStyle/>
                    <a:p>
                      <a:pPr algn="l"/>
                      <a:r>
                        <a:rPr sz="2400" b="0" i="0">
                          <a:solidFill>
                            <a:srgbClr val="FFFFFF"/>
                          </a:solidFill>
                          <a:latin typeface="Calibri"/>
                        </a:rPr>
                        <a:t>A6</a:t>
                      </a:r>
                    </a:p>
                  </a:txBody>
                  <a:tcPr>
                    <a:solidFill>
                      <a:srgbClr val="152a40"/>
                    </a:solidFill>
                  </a:tcPr>
                </a:tc>
                <a:tc>
                  <a:txBody>
                    <a:bodyPr/>
                    <a:lstStyle/>
                    <a:p>
                      <a:pPr algn="l"/>
                      <a:r>
                        <a:rPr sz="2400" b="0" i="0">
                          <a:solidFill>
                            <a:srgbClr val="FFFFFF"/>
                          </a:solidFill>
                          <a:latin typeface="Calibri"/>
                        </a:rPr>
                        <a:t>60%</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KcDqXon7I3c_0</a:t>
                      </a:r>
                    </a:p>
                  </a:txBody>
                  <a:tcPr>
                    <a:solidFill>
                      <a:srgbClr val="0d1b2a"/>
                    </a:solidFill>
                  </a:tcPr>
                </a:tc>
                <a:tc>
                  <a:txBody>
                    <a:bodyPr/>
                    <a:lstStyle/>
                    <a:p>
                      <a:pPr algn="l"/>
                      <a:r>
                        <a:rPr sz="2400" b="0" i="0">
                          <a:solidFill>
                            <a:srgbClr val="FFFFFF"/>
                          </a:solidFill>
                          <a:latin typeface="Calibri"/>
                        </a:rPr>
                        <a:t>Over-generation</a:t>
                      </a:r>
                    </a:p>
                  </a:txBody>
                  <a:tcPr>
                    <a:solidFill>
                      <a:srgbClr val="0d1b2a"/>
                    </a:solidFill>
                  </a:tcPr>
                </a:tc>
                <a:tc>
                  <a:txBody>
                    <a:bodyPr/>
                    <a:lstStyle/>
                    <a:p>
                      <a:pPr algn="l"/>
                      <a:r>
                        <a:rPr sz="2400" b="0" i="0">
                          <a:solidFill>
                            <a:srgbClr val="FFFFFF"/>
                          </a:solidFill>
                          <a:latin typeface="Calibri"/>
                        </a:rPr>
                        <a:t>A6</a:t>
                      </a:r>
                    </a:p>
                  </a:txBody>
                  <a:tcPr>
                    <a:solidFill>
                      <a:srgbClr val="0d1b2a"/>
                    </a:solidFill>
                  </a:tcPr>
                </a:tc>
                <a:tc>
                  <a:txBody>
                    <a:bodyPr/>
                    <a:lstStyle/>
                    <a:p>
                      <a:pPr algn="l"/>
                      <a:r>
                        <a:rPr sz="2400" b="0" i="0">
                          <a:solidFill>
                            <a:srgbClr val="FFFFFF"/>
                          </a:solidFill>
                          <a:latin typeface="Calibri"/>
                        </a:rPr>
                        <a:t>100%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10xhJGx6-kc_0</a:t>
                      </a:r>
                    </a:p>
                  </a:txBody>
                  <a:tcPr>
                    <a:solidFill>
                      <a:srgbClr val="152a40"/>
                    </a:solidFill>
                  </a:tcPr>
                </a:tc>
                <a:tc>
                  <a:txBody>
                    <a:bodyPr/>
                    <a:lstStyle/>
                    <a:p>
                      <a:pPr algn="l"/>
                      <a:r>
                        <a:rPr sz="2400" b="0" i="0">
                          <a:solidFill>
                            <a:srgbClr val="FFFFFF"/>
                          </a:solidFill>
                          <a:latin typeface="Calibri"/>
                        </a:rPr>
                        <a:t>WER&gt;&gt;WWER</a:t>
                      </a:r>
                    </a:p>
                  </a:txBody>
                  <a:tcPr>
                    <a:solidFill>
                      <a:srgbClr val="152a40"/>
                    </a:solidFill>
                  </a:tcPr>
                </a:tc>
                <a:tc>
                  <a:txBody>
                    <a:bodyPr/>
                    <a:lstStyle/>
                    <a:p>
                      <a:pPr algn="l"/>
                      <a:r>
                        <a:rPr sz="2400" b="0" i="0">
                          <a:solidFill>
                            <a:srgbClr val="FFFFFF"/>
                          </a:solidFill>
                          <a:latin typeface="Calibri"/>
                        </a:rPr>
                        <a:t>A14b</a:t>
                      </a:r>
                    </a:p>
                  </a:txBody>
                  <a:tcPr>
                    <a:solidFill>
                      <a:srgbClr val="152a40"/>
                    </a:solidFill>
                  </a:tcPr>
                </a:tc>
                <a:tc>
                  <a:txBody>
                    <a:bodyPr/>
                    <a:lstStyle/>
                    <a:p>
                      <a:pPr algn="l"/>
                      <a:r>
                        <a:rPr sz="2400" b="0" i="0">
                          <a:solidFill>
                            <a:srgbClr val="FFFFFF"/>
                          </a:solidFill>
                          <a:latin typeface="Calibri"/>
                        </a:rPr>
                        <a:t>71%</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-WqvFSuRYo0_12</a:t>
                      </a:r>
                    </a:p>
                  </a:txBody>
                  <a:tcPr>
                    <a:solidFill>
                      <a:srgbClr val="0d1b2a"/>
                    </a:solidFill>
                  </a:tcPr>
                </a:tc>
                <a:tc>
                  <a:txBody>
                    <a:bodyPr/>
                    <a:lstStyle/>
                    <a:p>
                      <a:pPr algn="l"/>
                      <a:r>
                        <a:rPr sz="2400" b="0" i="0">
                          <a:solidFill>
                            <a:srgbClr val="FFFFFF"/>
                          </a:solidFill>
                          <a:latin typeface="Calibri"/>
                        </a:rPr>
                        <a:t>WWER&gt;&gt;WER</a:t>
                      </a:r>
                    </a:p>
                  </a:txBody>
                  <a:tcPr>
                    <a:solidFill>
                      <a:srgbClr val="0d1b2a"/>
                    </a:solidFill>
                  </a:tcPr>
                </a:tc>
                <a:tc>
                  <a:txBody>
                    <a:bodyPr/>
                    <a:lstStyle/>
                    <a:p>
                      <a:pPr algn="l"/>
                      <a:r>
                        <a:rPr sz="2400" b="0" i="0">
                          <a:solidFill>
                            <a:srgbClr val="FFFFFF"/>
                          </a:solidFill>
                          <a:latin typeface="Calibri"/>
                        </a:rPr>
                        <a:t>A14b</a:t>
                      </a:r>
                    </a:p>
                  </a:txBody>
                  <a:tcPr>
                    <a:solidFill>
                      <a:srgbClr val="0d1b2a"/>
                    </a:solidFill>
                  </a:tcPr>
                </a:tc>
                <a:tc>
                  <a:txBody>
                    <a:bodyPr/>
                    <a:lstStyle/>
                    <a:p>
                      <a:pPr algn="l"/>
                      <a:r>
                        <a:rPr sz="2400" b="0" i="0">
                          <a:solidFill>
                            <a:srgbClr val="FFFFFF"/>
                          </a:solidFill>
                          <a:latin typeface="Calibri"/>
                        </a:rPr>
                        <a:t>27%</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1whXJLCrTjY_0</a:t>
                      </a:r>
                    </a:p>
                  </a:txBody>
                  <a:tcPr>
                    <a:solidFill>
                      <a:srgbClr val="152a40"/>
                    </a:solidFill>
                  </a:tcPr>
                </a:tc>
                <a:tc>
                  <a:txBody>
                    <a:bodyPr/>
                    <a:lstStyle/>
                    <a:p>
                      <a:pPr algn="l"/>
                      <a:r>
                        <a:rPr sz="2400" b="0" i="0">
                          <a:solidFill>
                            <a:srgbClr val="FFFFFF"/>
                          </a:solidFill>
                          <a:latin typeface="Calibri"/>
                        </a:rPr>
                        <a:t>Hi Sem+Hi WER</a:t>
                      </a:r>
                    </a:p>
                  </a:txBody>
                  <a:tcPr>
                    <a:solidFill>
                      <a:srgbClr val="152a40"/>
                    </a:solidFill>
                  </a:tcPr>
                </a:tc>
                <a:tc>
                  <a:txBody>
                    <a:bodyPr/>
                    <a:lstStyle/>
                    <a:p>
                      <a:pPr algn="l"/>
                      <a:r>
                        <a:rPr sz="2400" b="0" i="0">
                          <a:solidFill>
                            <a:srgbClr val="FFFFFF"/>
                          </a:solidFill>
                          <a:latin typeface="Calibri"/>
                        </a:rPr>
                        <a:t>A14b</a:t>
                      </a:r>
                    </a:p>
                  </a:txBody>
                  <a:tcPr>
                    <a:solidFill>
                      <a:srgbClr val="152a40"/>
                    </a:solidFill>
                  </a:tcPr>
                </a:tc>
                <a:tc>
                  <a:txBody>
                    <a:bodyPr/>
                    <a:lstStyle/>
                    <a:p>
                      <a:pPr algn="l"/>
                      <a:r>
                        <a:rPr sz="2400" b="0" i="0">
                          <a:solidFill>
                            <a:srgbClr val="FFFFFF"/>
                          </a:solidFill>
                          <a:latin typeface="Calibri"/>
                        </a:rPr>
                        <a:t>67%</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ZB21bsGO0KA_7</a:t>
                      </a:r>
                    </a:p>
                  </a:txBody>
                  <a:tcPr>
                    <a:solidFill>
                      <a:srgbClr val="0d1b2a"/>
                    </a:solidFill>
                  </a:tcPr>
                </a:tc>
                <a:tc>
                  <a:txBody>
                    <a:bodyPr/>
                    <a:lstStyle/>
                    <a:p>
                      <a:pPr algn="l"/>
                      <a:r>
                        <a:rPr sz="2400" b="0" i="0">
                          <a:solidFill>
                            <a:srgbClr val="FFFFFF"/>
                          </a:solidFill>
                          <a:latin typeface="Calibri"/>
                        </a:rPr>
                        <a:t>Lo Sem+Lo WER</a:t>
                      </a:r>
                    </a:p>
                  </a:txBody>
                  <a:tcPr>
                    <a:solidFill>
                      <a:srgbClr val="0d1b2a"/>
                    </a:solidFill>
                  </a:tcPr>
                </a:tc>
                <a:tc>
                  <a:txBody>
                    <a:bodyPr/>
                    <a:lstStyle/>
                    <a:p>
                      <a:pPr algn="l"/>
                      <a:r>
                        <a:rPr sz="2400" b="0" i="0">
                          <a:solidFill>
                            <a:srgbClr val="FFFFFF"/>
                          </a:solidFill>
                          <a:latin typeface="Calibri"/>
                        </a:rPr>
                        <a:t>A14b</a:t>
                      </a:r>
                    </a:p>
                  </a:txBody>
                  <a:tcPr>
                    <a:solidFill>
                      <a:srgbClr val="0d1b2a"/>
                    </a:solidFill>
                  </a:tcPr>
                </a:tc>
                <a:tc>
                  <a:txBody>
                    <a:bodyPr/>
                    <a:lstStyle/>
                    <a:p>
                      <a:pPr algn="l"/>
                      <a:r>
                        <a:rPr sz="2400" b="0" i="0">
                          <a:solidFill>
                            <a:srgbClr val="FFFFFF"/>
                          </a:solidFill>
                          <a:latin typeface="Calibri"/>
                        </a:rPr>
                        <a:t>40%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r h="292608">
                <a:tc>
                  <a:txBody>
                    <a:bodyPr/>
                    <a:lstStyle/>
                    <a:p>
                      <a:pPr algn="l"/>
                      <a:r>
                        <a:rPr sz="2400" b="0" i="0">
                          <a:solidFill>
                            <a:srgbClr val="FFFFFF"/>
                          </a:solidFill>
                          <a:latin typeface="Calibri"/>
                        </a:rPr>
                        <a:t>2T-C7vQJBis_0</a:t>
                      </a:r>
                    </a:p>
                  </a:txBody>
                  <a:tcPr>
                    <a:solidFill>
                      <a:srgbClr val="152a40"/>
                    </a:solidFill>
                  </a:tcPr>
                </a:tc>
                <a:tc>
                  <a:txBody>
                    <a:bodyPr/>
                    <a:lstStyle/>
                    <a:p>
                      <a:pPr algn="l"/>
                      <a:r>
                        <a:rPr sz="2400" b="0" i="0">
                          <a:solidFill>
                            <a:srgbClr val="FFFFFF"/>
                          </a:solidFill>
                          <a:latin typeface="Calibri"/>
                        </a:rPr>
                        <a:t>Hi NEA+WWER</a:t>
                      </a:r>
                    </a:p>
                  </a:txBody>
                  <a:tcPr>
                    <a:solidFill>
                      <a:srgbClr val="152a40"/>
                    </a:solidFill>
                  </a:tcPr>
                </a:tc>
                <a:tc>
                  <a:txBody>
                    <a:bodyPr/>
                    <a:lstStyle/>
                    <a:p>
                      <a:pPr algn="l"/>
                      <a:r>
                        <a:rPr sz="2400" b="0" i="0">
                          <a:solidFill>
                            <a:srgbClr val="FFFFFF"/>
                          </a:solidFill>
                          <a:latin typeface="Calibri"/>
                        </a:rPr>
                        <a:t>A14b</a:t>
                      </a:r>
                    </a:p>
                  </a:txBody>
                  <a:tcPr>
                    <a:solidFill>
                      <a:srgbClr val="152a40"/>
                    </a:solidFill>
                  </a:tcPr>
                </a:tc>
                <a:tc>
                  <a:txBody>
                    <a:bodyPr/>
                    <a:lstStyle/>
                    <a:p>
                      <a:pPr algn="l"/>
                      <a:r>
                        <a:rPr sz="2400" b="0" i="0">
                          <a:solidFill>
                            <a:srgbClr val="FFFFFF"/>
                          </a:solidFill>
                          <a:latin typeface="Calibri"/>
                        </a:rPr>
                        <a:t>42%</a:t>
                      </a:r>
                    </a:p>
                  </a:txBody>
                  <a:tcPr>
                    <a:solidFill>
                      <a:srgbClr val="152a40"/>
                    </a:solidFill>
                  </a:tcPr>
                </a:tc>
                <a:tc>
                  <a:txBody>
                    <a:bodyPr/>
                    <a:lstStyle/>
                    <a:p>
                      <a:pPr algn="l"/>
                      <a:r>
                        <a:rPr sz="2400" b="0" i="0">
                          <a:solidFill>
                            <a:srgbClr val="FFFFFF"/>
                          </a:solidFill>
                          <a:latin typeface="Calibri"/>
                        </a:rPr>
                        <a:t>─</a:t>
                      </a:r>
                    </a:p>
                  </a:txBody>
                  <a:tcPr>
                    <a:solidFill>
                      <a:srgbClr val="152a40"/>
                    </a:solidFill>
                  </a:tcPr>
                </a:tc>
              </a:tr>
              <a:tr h="292608">
                <a:tc>
                  <a:txBody>
                    <a:bodyPr/>
                    <a:lstStyle/>
                    <a:p>
                      <a:pPr algn="l"/>
                      <a:r>
                        <a:rPr sz="2400" b="0" i="0">
                          <a:solidFill>
                            <a:srgbClr val="FFFFFF"/>
                          </a:solidFill>
                          <a:latin typeface="Calibri"/>
                        </a:rPr>
                        <a:t>0PQonSiGkVE_0</a:t>
                      </a:r>
                    </a:p>
                  </a:txBody>
                  <a:tcPr>
                    <a:solidFill>
                      <a:srgbClr val="0d1b2a"/>
                    </a:solidFill>
                  </a:tcPr>
                </a:tc>
                <a:tc>
                  <a:txBody>
                    <a:bodyPr/>
                    <a:lstStyle/>
                    <a:p>
                      <a:pPr algn="l"/>
                      <a:r>
                        <a:rPr sz="2400" b="0" i="0">
                          <a:solidFill>
                            <a:srgbClr val="FFFFFF"/>
                          </a:solidFill>
                          <a:latin typeface="Calibri"/>
                        </a:rPr>
                        <a:t>LR&gt;1.5+WER</a:t>
                      </a:r>
                    </a:p>
                  </a:txBody>
                  <a:tcPr>
                    <a:solidFill>
                      <a:srgbClr val="0d1b2a"/>
                    </a:solidFill>
                  </a:tcPr>
                </a:tc>
                <a:tc>
                  <a:txBody>
                    <a:bodyPr/>
                    <a:lstStyle/>
                    <a:p>
                      <a:pPr algn="l"/>
                      <a:r>
                        <a:rPr sz="2400" b="0" i="0">
                          <a:solidFill>
                            <a:srgbClr val="FFFFFF"/>
                          </a:solidFill>
                          <a:latin typeface="Calibri"/>
                        </a:rPr>
                        <a:t>A14b</a:t>
                      </a:r>
                    </a:p>
                  </a:txBody>
                  <a:tcPr>
                    <a:solidFill>
                      <a:srgbClr val="0d1b2a"/>
                    </a:solidFill>
                  </a:tcPr>
                </a:tc>
                <a:tc>
                  <a:txBody>
                    <a:bodyPr/>
                    <a:lstStyle/>
                    <a:p>
                      <a:pPr algn="l"/>
                      <a:r>
                        <a:rPr sz="2400" b="0" i="0">
                          <a:solidFill>
                            <a:srgbClr val="FFFFFF"/>
                          </a:solidFill>
                          <a:latin typeface="Calibri"/>
                        </a:rPr>
                        <a:t>140%</a:t>
                      </a:r>
                    </a:p>
                  </a:txBody>
                  <a:tcPr>
                    <a:solidFill>
                      <a:srgbClr val="0d1b2a"/>
                    </a:solidFill>
                  </a:tcPr>
                </a:tc>
                <a:tc>
                  <a:txBody>
                    <a:bodyPr/>
                    <a:lstStyle/>
                    <a:p>
                      <a:pPr algn="l"/>
                      <a:r>
                        <a:rPr sz="2400" b="0" i="0">
                          <a:solidFill>
                            <a:srgbClr val="FFFFFF"/>
                          </a:solidFill>
                          <a:latin typeface="Calibri"/>
                        </a:rPr>
                        <a:t>─</a:t>
                      </a:r>
                    </a:p>
                  </a:txBody>
                  <a:tcPr>
                    <a:solidFill>
                      <a:srgbClr val="0d1b2a"/>
                    </a:solidFill>
                  </a:tcPr>
                </a:tc>
              </a:tr>
            </a:tbl>
          </a:graphicData>
        </a:graphic>
      </p:graphicFrame>
      <p:pic>
        <p:nvPicPr>
          <p:cNvPr id="7" name="Picture 6" descr="WhiteLogo.jpeg"/>
          <p:cNvPicPr>
            <a:picLocks noChangeAspect="1"/>
          </p:cNvPicPr>
          <p:nvPr/>
        </p:nvPicPr>
        <p:blipFill>
          <a:blip r:embed="rId2"/>
          <a:stretch>
            <a:fillRect/>
          </a:stretch>
        </p:blipFill>
        <p:spPr>
          <a:xfrm>
            <a:off x="11323320" y="6428232"/>
            <a:ext cx="269634" cy="320040"/>
          </a:xfrm>
          <a:prstGeom prst="rect">
            <a:avLst/>
          </a:prstGeom>
        </p:spPr>
      </p:pic>
      <p:sp>
        <p:nvSpPr>
          <p:cNvPr id="8" name="TextBox 7"/>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A7</a:t>
            </a:r>
          </a:p>
        </p:txBody>
      </p:sp>
    </p:spTree>
  </p:cSld>
  <p:clrMapOvr>
    <a:masterClrMapping/>
  </p:clrMapOvr>
  <p:transition spd="med"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A6: LLM Judge × IS Tier Cross-Tabulation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2400" b="0" i="0">
                <a:solidFill>
                  <a:srgbClr val="AAAAAA"/>
                </a:solidFill>
                <a:latin typeface="Calibri"/>
              </a:rPr>
              <a:t>Judge verdict distribution across IS tiers (blind):</a:t>
            </a:r>
          </a:p>
        </p:txBody>
      </p:sp>
      <p:graphicFrame>
        <p:nvGraphicFramePr>
          <p:cNvPr id="5" name="Table 4"/>
          <p:cNvGraphicFramePr>
            <a:graphicFrameLocks noGrp="1"/>
          </p:cNvGraphicFramePr>
          <p:nvPr/>
        </p:nvGraphicFramePr>
        <p:xfrm>
          <a:off x="548640" y="1783080"/>
          <a:ext cx="9144000" cy="2304288"/>
        </p:xfrm>
        <a:graphic>
          <a:graphicData uri="http://schemas.openxmlformats.org/drawingml/2006/table">
            <a:tbl>
              <a:tblPr firstRow="0" bandRow="0" lastRow="0" bandCol="0">
                <a:tableStyleId>{5C22544A-7EE6-4342-B048-85BDC9FD1C3A}</a:tableStyleId>
              </a:tblPr>
              <a:tblGrid>
                <a:gridCol w="2377440"/>
                <a:gridCol w="1280160"/>
                <a:gridCol w="1280160"/>
                <a:gridCol w="1280160"/>
                <a:gridCol w="1280160"/>
                <a:gridCol w="1645920"/>
              </a:tblGrid>
              <a:tr h="384048">
                <a:tc>
                  <a:txBody>
                    <a:bodyPr/>
                    <a:lstStyle/>
                    <a:p>
                      <a:pPr algn="ctr"/>
                      <a:r>
                        <a:rPr sz="2200" b="1" i="0">
                          <a:solidFill>
                            <a:srgbClr val="FFFFFF"/>
                          </a:solidFill>
                          <a:latin typeface="Calibri"/>
                        </a:rPr>
                        <a:t>IS Tier</a:t>
                      </a:r>
                    </a:p>
                  </a:txBody>
                  <a:tcPr>
                    <a:solidFill>
                      <a:srgbClr val="00b4d8"/>
                    </a:solidFill>
                  </a:tcPr>
                </a:tc>
                <a:tc>
                  <a:txBody>
                    <a:bodyPr/>
                    <a:lstStyle/>
                    <a:p>
                      <a:pPr algn="ctr"/>
                      <a:r>
                        <a:rPr sz="2200" b="1" i="0">
                          <a:solidFill>
                            <a:srgbClr val="FFFFFF"/>
                          </a:solidFill>
                          <a:latin typeface="Calibri"/>
                        </a:rPr>
                        <a:t>Y</a:t>
                      </a:r>
                    </a:p>
                  </a:txBody>
                  <a:tcPr>
                    <a:solidFill>
                      <a:srgbClr val="00b4d8"/>
                    </a:solidFill>
                  </a:tcPr>
                </a:tc>
                <a:tc>
                  <a:txBody>
                    <a:bodyPr/>
                    <a:lstStyle/>
                    <a:p>
                      <a:pPr algn="ctr"/>
                      <a:r>
                        <a:rPr sz="2200" b="1" i="0">
                          <a:solidFill>
                            <a:srgbClr val="FFFFFF"/>
                          </a:solidFill>
                          <a:latin typeface="Calibri"/>
                        </a:rPr>
                        <a:t>Y%</a:t>
                      </a:r>
                    </a:p>
                  </a:txBody>
                  <a:tcPr>
                    <a:solidFill>
                      <a:srgbClr val="00b4d8"/>
                    </a:solidFill>
                  </a:tcPr>
                </a:tc>
                <a:tc>
                  <a:txBody>
                    <a:bodyPr/>
                    <a:lstStyle/>
                    <a:p>
                      <a:pPr algn="ctr"/>
                      <a:r>
                        <a:rPr sz="2200" b="1" i="0">
                          <a:solidFill>
                            <a:srgbClr val="FFFFFF"/>
                          </a:solidFill>
                          <a:latin typeface="Calibri"/>
                        </a:rPr>
                        <a:t>P</a:t>
                      </a:r>
                    </a:p>
                  </a:txBody>
                  <a:tcPr>
                    <a:solidFill>
                      <a:srgbClr val="00b4d8"/>
                    </a:solidFill>
                  </a:tcPr>
                </a:tc>
                <a:tc>
                  <a:txBody>
                    <a:bodyPr/>
                    <a:lstStyle/>
                    <a:p>
                      <a:pPr algn="ctr"/>
                      <a:r>
                        <a:rPr sz="2200" b="1" i="0">
                          <a:solidFill>
                            <a:srgbClr val="FFFFFF"/>
                          </a:solidFill>
                          <a:latin typeface="Calibri"/>
                        </a:rPr>
                        <a:t>P%</a:t>
                      </a:r>
                    </a:p>
                  </a:txBody>
                  <a:tcPr>
                    <a:solidFill>
                      <a:srgbClr val="00b4d8"/>
                    </a:solidFill>
                  </a:tcPr>
                </a:tc>
                <a:tc>
                  <a:txBody>
                    <a:bodyPr/>
                    <a:lstStyle/>
                    <a:p>
                      <a:pPr algn="ctr"/>
                      <a:r>
                        <a:rPr sz="2200" b="1" i="0">
                          <a:solidFill>
                            <a:srgbClr val="FFFFFF"/>
                          </a:solidFill>
                          <a:latin typeface="Calibri"/>
                        </a:rPr>
                        <a:t>N%</a:t>
                      </a:r>
                    </a:p>
                  </a:txBody>
                  <a:tcPr>
                    <a:solidFill>
                      <a:srgbClr val="00b4d8"/>
                    </a:solidFill>
                  </a:tcPr>
                </a:tc>
              </a:tr>
              <a:tr h="384048">
                <a:tc>
                  <a:txBody>
                    <a:bodyPr/>
                    <a:lstStyle/>
                    <a:p>
                      <a:pPr algn="l"/>
                      <a:r>
                        <a:rPr sz="2200" b="0" i="0">
                          <a:solidFill>
                            <a:srgbClr val="FFFFFF"/>
                          </a:solidFill>
                          <a:latin typeface="Calibri"/>
                        </a:rPr>
                        <a:t>5 — Excellent</a:t>
                      </a:r>
                    </a:p>
                  </a:txBody>
                  <a:tcPr>
                    <a:solidFill>
                      <a:srgbClr val="0d1b2a"/>
                    </a:solidFill>
                  </a:tcPr>
                </a:tc>
                <a:tc>
                  <a:txBody>
                    <a:bodyPr/>
                    <a:lstStyle/>
                    <a:p>
                      <a:pPr algn="l"/>
                      <a:r>
                        <a:rPr sz="2200" b="0" i="0">
                          <a:solidFill>
                            <a:srgbClr val="FFFFFF"/>
                          </a:solidFill>
                          <a:latin typeface="Calibri"/>
                        </a:rPr>
                        <a:t>157</a:t>
                      </a:r>
                    </a:p>
                  </a:txBody>
                  <a:tcPr>
                    <a:solidFill>
                      <a:srgbClr val="0d1b2a"/>
                    </a:solidFill>
                  </a:tcPr>
                </a:tc>
                <a:tc>
                  <a:txBody>
                    <a:bodyPr/>
                    <a:lstStyle/>
                    <a:p>
                      <a:pPr algn="l"/>
                      <a:r>
                        <a:rPr sz="2200" b="0" i="0">
                          <a:solidFill>
                            <a:srgbClr val="4CAF50"/>
                          </a:solidFill>
                          <a:latin typeface="Calibri"/>
                        </a:rPr>
                        <a:t>57%</a:t>
                      </a:r>
                    </a:p>
                  </a:txBody>
                  <a:tcPr>
                    <a:solidFill>
                      <a:srgbClr val="0d1b2a"/>
                    </a:solidFill>
                  </a:tcPr>
                </a:tc>
                <a:tc>
                  <a:txBody>
                    <a:bodyPr/>
                    <a:lstStyle/>
                    <a:p>
                      <a:pPr algn="l"/>
                      <a:r>
                        <a:rPr sz="2200" b="0" i="0">
                          <a:solidFill>
                            <a:srgbClr val="FFFFFF"/>
                          </a:solidFill>
                          <a:latin typeface="Calibri"/>
                        </a:rPr>
                        <a:t>105</a:t>
                      </a:r>
                    </a:p>
                  </a:txBody>
                  <a:tcPr>
                    <a:solidFill>
                      <a:srgbClr val="0d1b2a"/>
                    </a:solidFill>
                  </a:tcPr>
                </a:tc>
                <a:tc>
                  <a:txBody>
                    <a:bodyPr/>
                    <a:lstStyle/>
                    <a:p>
                      <a:pPr algn="l"/>
                      <a:r>
                        <a:rPr sz="2200" b="0" i="0">
                          <a:solidFill>
                            <a:srgbClr val="FFFFFF"/>
                          </a:solidFill>
                          <a:latin typeface="Calibri"/>
                        </a:rPr>
                        <a:t>38%</a:t>
                      </a:r>
                    </a:p>
                  </a:txBody>
                  <a:tcPr>
                    <a:solidFill>
                      <a:srgbClr val="0d1b2a"/>
                    </a:solidFill>
                  </a:tcPr>
                </a:tc>
                <a:tc>
                  <a:txBody>
                    <a:bodyPr/>
                    <a:lstStyle/>
                    <a:p>
                      <a:pPr algn="l"/>
                      <a:r>
                        <a:rPr sz="2200" b="0" i="0">
                          <a:solidFill>
                            <a:srgbClr val="FFFFFF"/>
                          </a:solidFill>
                          <a:latin typeface="Calibri"/>
                        </a:rPr>
                        <a:t>5%</a:t>
                      </a:r>
                    </a:p>
                  </a:txBody>
                  <a:tcPr>
                    <a:solidFill>
                      <a:srgbClr val="0d1b2a"/>
                    </a:solidFill>
                  </a:tcPr>
                </a:tc>
              </a:tr>
              <a:tr h="384048">
                <a:tc>
                  <a:txBody>
                    <a:bodyPr/>
                    <a:lstStyle/>
                    <a:p>
                      <a:pPr algn="l"/>
                      <a:r>
                        <a:rPr sz="2200" b="0" i="0">
                          <a:solidFill>
                            <a:srgbClr val="FFFFFF"/>
                          </a:solidFill>
                          <a:latin typeface="Calibri"/>
                        </a:rPr>
                        <a:t>4 — Good</a:t>
                      </a:r>
                    </a:p>
                  </a:txBody>
                  <a:tcPr>
                    <a:solidFill>
                      <a:srgbClr val="152a40"/>
                    </a:solidFill>
                  </a:tcPr>
                </a:tc>
                <a:tc>
                  <a:txBody>
                    <a:bodyPr/>
                    <a:lstStyle/>
                    <a:p>
                      <a:pPr algn="l"/>
                      <a:r>
                        <a:rPr sz="2200" b="0" i="0">
                          <a:solidFill>
                            <a:srgbClr val="FFFFFF"/>
                          </a:solidFill>
                          <a:latin typeface="Calibri"/>
                        </a:rPr>
                        <a:t>67</a:t>
                      </a:r>
                    </a:p>
                  </a:txBody>
                  <a:tcPr>
                    <a:solidFill>
                      <a:srgbClr val="152a40"/>
                    </a:solidFill>
                  </a:tcPr>
                </a:tc>
                <a:tc>
                  <a:txBody>
                    <a:bodyPr/>
                    <a:lstStyle/>
                    <a:p>
                      <a:pPr algn="l"/>
                      <a:r>
                        <a:rPr sz="2200" b="0" i="0">
                          <a:solidFill>
                            <a:srgbClr val="FFFFFF"/>
                          </a:solidFill>
                          <a:latin typeface="Calibri"/>
                        </a:rPr>
                        <a:t>21%</a:t>
                      </a:r>
                    </a:p>
                  </a:txBody>
                  <a:tcPr>
                    <a:solidFill>
                      <a:srgbClr val="152a40"/>
                    </a:solidFill>
                  </a:tcPr>
                </a:tc>
                <a:tc>
                  <a:txBody>
                    <a:bodyPr/>
                    <a:lstStyle/>
                    <a:p>
                      <a:pPr algn="l"/>
                      <a:r>
                        <a:rPr sz="2200" b="0" i="0">
                          <a:solidFill>
                            <a:srgbClr val="FFFFFF"/>
                          </a:solidFill>
                          <a:latin typeface="Calibri"/>
                        </a:rPr>
                        <a:t>189</a:t>
                      </a:r>
                    </a:p>
                  </a:txBody>
                  <a:tcPr>
                    <a:solidFill>
                      <a:srgbClr val="152a40"/>
                    </a:solidFill>
                  </a:tcPr>
                </a:tc>
                <a:tc>
                  <a:txBody>
                    <a:bodyPr/>
                    <a:lstStyle/>
                    <a:p>
                      <a:pPr algn="l"/>
                      <a:r>
                        <a:rPr sz="2200" b="0" i="0">
                          <a:solidFill>
                            <a:srgbClr val="FFFFFF"/>
                          </a:solidFill>
                          <a:latin typeface="Calibri"/>
                        </a:rPr>
                        <a:t>59%</a:t>
                      </a:r>
                    </a:p>
                  </a:txBody>
                  <a:tcPr>
                    <a:solidFill>
                      <a:srgbClr val="152a40"/>
                    </a:solidFill>
                  </a:tcPr>
                </a:tc>
                <a:tc>
                  <a:txBody>
                    <a:bodyPr/>
                    <a:lstStyle/>
                    <a:p>
                      <a:pPr algn="l"/>
                      <a:r>
                        <a:rPr sz="2200" b="0" i="0">
                          <a:solidFill>
                            <a:srgbClr val="FFFFFF"/>
                          </a:solidFill>
                          <a:latin typeface="Calibri"/>
                        </a:rPr>
                        <a:t>20%</a:t>
                      </a:r>
                    </a:p>
                  </a:txBody>
                  <a:tcPr>
                    <a:solidFill>
                      <a:srgbClr val="152a40"/>
                    </a:solidFill>
                  </a:tcPr>
                </a:tc>
              </a:tr>
              <a:tr h="384048">
                <a:tc>
                  <a:txBody>
                    <a:bodyPr/>
                    <a:lstStyle/>
                    <a:p>
                      <a:pPr algn="l"/>
                      <a:r>
                        <a:rPr sz="2200" b="0" i="0">
                          <a:solidFill>
                            <a:srgbClr val="FFFFFF"/>
                          </a:solidFill>
                          <a:latin typeface="Calibri"/>
                        </a:rPr>
                        <a:t>3 — Fair</a:t>
                      </a:r>
                    </a:p>
                  </a:txBody>
                  <a:tcPr>
                    <a:solidFill>
                      <a:srgbClr val="0d1b2a"/>
                    </a:solidFill>
                  </a:tcPr>
                </a:tc>
                <a:tc>
                  <a:txBody>
                    <a:bodyPr/>
                    <a:lstStyle/>
                    <a:p>
                      <a:pPr algn="l"/>
                      <a:r>
                        <a:rPr sz="2200" b="0" i="0">
                          <a:solidFill>
                            <a:srgbClr val="FFFFFF"/>
                          </a:solidFill>
                          <a:latin typeface="Calibri"/>
                        </a:rPr>
                        <a:t>25</a:t>
                      </a:r>
                    </a:p>
                  </a:txBody>
                  <a:tcPr>
                    <a:solidFill>
                      <a:srgbClr val="0d1b2a"/>
                    </a:solidFill>
                  </a:tcPr>
                </a:tc>
                <a:tc>
                  <a:txBody>
                    <a:bodyPr/>
                    <a:lstStyle/>
                    <a:p>
                      <a:pPr algn="l"/>
                      <a:r>
                        <a:rPr sz="2200" b="0" i="0">
                          <a:solidFill>
                            <a:srgbClr val="FFFFFF"/>
                          </a:solidFill>
                          <a:latin typeface="Calibri"/>
                        </a:rPr>
                        <a:t>8%</a:t>
                      </a:r>
                    </a:p>
                  </a:txBody>
                  <a:tcPr>
                    <a:solidFill>
                      <a:srgbClr val="0d1b2a"/>
                    </a:solidFill>
                  </a:tcPr>
                </a:tc>
                <a:tc>
                  <a:txBody>
                    <a:bodyPr/>
                    <a:lstStyle/>
                    <a:p>
                      <a:pPr algn="l"/>
                      <a:r>
                        <a:rPr sz="2200" b="0" i="0">
                          <a:solidFill>
                            <a:srgbClr val="FFFFFF"/>
                          </a:solidFill>
                          <a:latin typeface="Calibri"/>
                        </a:rPr>
                        <a:t>167</a:t>
                      </a:r>
                    </a:p>
                  </a:txBody>
                  <a:tcPr>
                    <a:solidFill>
                      <a:srgbClr val="0d1b2a"/>
                    </a:solidFill>
                  </a:tcPr>
                </a:tc>
                <a:tc>
                  <a:txBody>
                    <a:bodyPr/>
                    <a:lstStyle/>
                    <a:p>
                      <a:pPr algn="l"/>
                      <a:r>
                        <a:rPr sz="2200" b="0" i="0">
                          <a:solidFill>
                            <a:srgbClr val="FFFFFF"/>
                          </a:solidFill>
                          <a:latin typeface="Calibri"/>
                        </a:rPr>
                        <a:t>51%</a:t>
                      </a:r>
                    </a:p>
                  </a:txBody>
                  <a:tcPr>
                    <a:solidFill>
                      <a:srgbClr val="0d1b2a"/>
                    </a:solidFill>
                  </a:tcPr>
                </a:tc>
                <a:tc>
                  <a:txBody>
                    <a:bodyPr/>
                    <a:lstStyle/>
                    <a:p>
                      <a:pPr algn="l"/>
                      <a:r>
                        <a:rPr sz="2200" b="0" i="0">
                          <a:solidFill>
                            <a:srgbClr val="FFFFFF"/>
                          </a:solidFill>
                          <a:latin typeface="Calibri"/>
                        </a:rPr>
                        <a:t>41%</a:t>
                      </a:r>
                    </a:p>
                  </a:txBody>
                  <a:tcPr>
                    <a:solidFill>
                      <a:srgbClr val="0d1b2a"/>
                    </a:solidFill>
                  </a:tcPr>
                </a:tc>
              </a:tr>
              <a:tr h="384048">
                <a:tc>
                  <a:txBody>
                    <a:bodyPr/>
                    <a:lstStyle/>
                    <a:p>
                      <a:pPr algn="l"/>
                      <a:r>
                        <a:rPr sz="2200" b="0" i="0">
                          <a:solidFill>
                            <a:srgbClr val="FFFFFF"/>
                          </a:solidFill>
                          <a:latin typeface="Calibri"/>
                        </a:rPr>
                        <a:t>2 — Poor</a:t>
                      </a:r>
                    </a:p>
                  </a:txBody>
                  <a:tcPr>
                    <a:solidFill>
                      <a:srgbClr val="152a40"/>
                    </a:solidFill>
                  </a:tcPr>
                </a:tc>
                <a:tc>
                  <a:txBody>
                    <a:bodyPr/>
                    <a:lstStyle/>
                    <a:p>
                      <a:pPr algn="l"/>
                      <a:r>
                        <a:rPr sz="2200" b="0" i="0">
                          <a:solidFill>
                            <a:srgbClr val="FFFFFF"/>
                          </a:solidFill>
                          <a:latin typeface="Calibri"/>
                        </a:rPr>
                        <a:t>14</a:t>
                      </a:r>
                    </a:p>
                  </a:txBody>
                  <a:tcPr>
                    <a:solidFill>
                      <a:srgbClr val="152a40"/>
                    </a:solidFill>
                  </a:tcPr>
                </a:tc>
                <a:tc>
                  <a:txBody>
                    <a:bodyPr/>
                    <a:lstStyle/>
                    <a:p>
                      <a:pPr algn="l"/>
                      <a:r>
                        <a:rPr sz="2200" b="0" i="0">
                          <a:solidFill>
                            <a:srgbClr val="FFFFFF"/>
                          </a:solidFill>
                          <a:latin typeface="Calibri"/>
                        </a:rPr>
                        <a:t>4%</a:t>
                      </a:r>
                    </a:p>
                  </a:txBody>
                  <a:tcPr>
                    <a:solidFill>
                      <a:srgbClr val="152a40"/>
                    </a:solidFill>
                  </a:tcPr>
                </a:tc>
                <a:tc>
                  <a:txBody>
                    <a:bodyPr/>
                    <a:lstStyle/>
                    <a:p>
                      <a:pPr algn="l"/>
                      <a:r>
                        <a:rPr sz="2200" b="0" i="0">
                          <a:solidFill>
                            <a:srgbClr val="FFFFFF"/>
                          </a:solidFill>
                          <a:latin typeface="Calibri"/>
                        </a:rPr>
                        <a:t>115</a:t>
                      </a:r>
                    </a:p>
                  </a:txBody>
                  <a:tcPr>
                    <a:solidFill>
                      <a:srgbClr val="152a40"/>
                    </a:solidFill>
                  </a:tcPr>
                </a:tc>
                <a:tc>
                  <a:txBody>
                    <a:bodyPr/>
                    <a:lstStyle/>
                    <a:p>
                      <a:pPr algn="l"/>
                      <a:r>
                        <a:rPr sz="2200" b="0" i="0">
                          <a:solidFill>
                            <a:srgbClr val="FFFFFF"/>
                          </a:solidFill>
                          <a:latin typeface="Calibri"/>
                        </a:rPr>
                        <a:t>34%</a:t>
                      </a:r>
                    </a:p>
                  </a:txBody>
                  <a:tcPr>
                    <a:solidFill>
                      <a:srgbClr val="152a40"/>
                    </a:solidFill>
                  </a:tcPr>
                </a:tc>
                <a:tc>
                  <a:txBody>
                    <a:bodyPr/>
                    <a:lstStyle/>
                    <a:p>
                      <a:pPr algn="l"/>
                      <a:r>
                        <a:rPr sz="2200" b="0" i="0">
                          <a:solidFill>
                            <a:srgbClr val="FFFFFF"/>
                          </a:solidFill>
                          <a:latin typeface="Calibri"/>
                        </a:rPr>
                        <a:t>62%</a:t>
                      </a:r>
                    </a:p>
                  </a:txBody>
                  <a:tcPr>
                    <a:solidFill>
                      <a:srgbClr val="152a40"/>
                    </a:solidFill>
                  </a:tcPr>
                </a:tc>
              </a:tr>
              <a:tr h="384048">
                <a:tc>
                  <a:txBody>
                    <a:bodyPr/>
                    <a:lstStyle/>
                    <a:p>
                      <a:pPr algn="l"/>
                      <a:r>
                        <a:rPr sz="2200" b="0" i="0">
                          <a:solidFill>
                            <a:srgbClr val="FFFFFF"/>
                          </a:solidFill>
                          <a:latin typeface="Calibri"/>
                        </a:rPr>
                        <a:t>1 — Failed</a:t>
                      </a:r>
                    </a:p>
                  </a:txBody>
                  <a:tcPr>
                    <a:solidFill>
                      <a:srgbClr val="0d1b2a"/>
                    </a:solidFill>
                  </a:tcPr>
                </a:tc>
                <a:tc>
                  <a:txBody>
                    <a:bodyPr/>
                    <a:lstStyle/>
                    <a:p>
                      <a:pPr algn="l"/>
                      <a:r>
                        <a:rPr sz="2200" b="0" i="0">
                          <a:solidFill>
                            <a:srgbClr val="FFFFFF"/>
                          </a:solidFill>
                          <a:latin typeface="Calibri"/>
                        </a:rPr>
                        <a:t>5</a:t>
                      </a:r>
                    </a:p>
                  </a:txBody>
                  <a:tcPr>
                    <a:solidFill>
                      <a:srgbClr val="0d1b2a"/>
                    </a:solidFill>
                  </a:tcPr>
                </a:tc>
                <a:tc>
                  <a:txBody>
                    <a:bodyPr/>
                    <a:lstStyle/>
                    <a:p>
                      <a:pPr algn="l"/>
                      <a:r>
                        <a:rPr sz="2200" b="0" i="0">
                          <a:solidFill>
                            <a:srgbClr val="FFFFFF"/>
                          </a:solidFill>
                          <a:latin typeface="Calibri"/>
                        </a:rPr>
                        <a:t>2%</a:t>
                      </a:r>
                    </a:p>
                  </a:txBody>
                  <a:tcPr>
                    <a:solidFill>
                      <a:srgbClr val="0d1b2a"/>
                    </a:solidFill>
                  </a:tcPr>
                </a:tc>
                <a:tc>
                  <a:txBody>
                    <a:bodyPr/>
                    <a:lstStyle/>
                    <a:p>
                      <a:pPr algn="l"/>
                      <a:r>
                        <a:rPr sz="2200" b="0" i="0">
                          <a:solidFill>
                            <a:srgbClr val="FFFFFF"/>
                          </a:solidFill>
                          <a:latin typeface="Calibri"/>
                        </a:rPr>
                        <a:t>41</a:t>
                      </a:r>
                    </a:p>
                  </a:txBody>
                  <a:tcPr>
                    <a:solidFill>
                      <a:srgbClr val="0d1b2a"/>
                    </a:solidFill>
                  </a:tcPr>
                </a:tc>
                <a:tc>
                  <a:txBody>
                    <a:bodyPr/>
                    <a:lstStyle/>
                    <a:p>
                      <a:pPr algn="l"/>
                      <a:r>
                        <a:rPr sz="2200" b="0" i="0">
                          <a:solidFill>
                            <a:srgbClr val="FFFFFF"/>
                          </a:solidFill>
                          <a:latin typeface="Calibri"/>
                        </a:rPr>
                        <a:t>17%</a:t>
                      </a:r>
                    </a:p>
                  </a:txBody>
                  <a:tcPr>
                    <a:solidFill>
                      <a:srgbClr val="0d1b2a"/>
                    </a:solidFill>
                  </a:tcPr>
                </a:tc>
                <a:tc>
                  <a:txBody>
                    <a:bodyPr/>
                    <a:lstStyle/>
                    <a:p>
                      <a:pPr algn="l"/>
                      <a:r>
                        <a:rPr sz="2200" b="0" i="0">
                          <a:solidFill>
                            <a:srgbClr val="E06C75"/>
                          </a:solidFill>
                          <a:latin typeface="Calibri"/>
                        </a:rPr>
                        <a:t>81%</a:t>
                      </a:r>
                    </a:p>
                  </a:txBody>
                  <a:tcPr>
                    <a:solidFill>
                      <a:srgbClr val="0d1b2a"/>
                    </a:solidFill>
                  </a:tcPr>
                </a:tc>
              </a:tr>
            </a:tbl>
          </a:graphicData>
        </a:graphic>
      </p:graphicFrame>
      <p:sp>
        <p:nvSpPr>
          <p:cNvPr id="6" name="TextBox 5"/>
          <p:cNvSpPr txBox="1"/>
          <p:nvPr/>
        </p:nvSpPr>
        <p:spPr>
          <a:xfrm>
            <a:off x="548640" y="4251960"/>
            <a:ext cx="11091672" cy="365760"/>
          </a:xfrm>
          <a:prstGeom prst="rect">
            <a:avLst/>
          </a:prstGeom>
          <a:noFill/>
        </p:spPr>
        <p:txBody>
          <a:bodyPr wrap="square" anchor="t"/>
          <a:lstStyle/>
          <a:p>
            <a:pPr algn="l"/>
            <a:r>
              <a:rPr sz="2200" b="1" i="0">
                <a:solidFill>
                  <a:srgbClr val="00B4D8"/>
                </a:solidFill>
                <a:latin typeface="Calibri"/>
              </a:rPr>
              <a:t>Key Observations:</a:t>
            </a:r>
          </a:p>
        </p:txBody>
      </p:sp>
      <p:sp>
        <p:nvSpPr>
          <p:cNvPr id="7" name="TextBox 6"/>
          <p:cNvSpPr txBox="1"/>
          <p:nvPr/>
        </p:nvSpPr>
        <p:spPr>
          <a:xfrm>
            <a:off x="548640" y="4663440"/>
            <a:ext cx="11091672" cy="1645920"/>
          </a:xfrm>
          <a:prstGeom prst="rect">
            <a:avLst/>
          </a:prstGeom>
          <a:noFill/>
        </p:spPr>
        <p:txBody>
          <a:bodyPr wrap="square">
            <a:spAutoFit/>
          </a:bodyPr>
          <a:lstStyle/>
          <a:p>
            <a:pPr algn="l">
              <a:spcAft>
                <a:spcPts val="600"/>
              </a:spcAft>
            </a:pPr>
            <a:r>
              <a:rPr sz="2000" b="1">
                <a:solidFill>
                  <a:srgbClr val="00B4D8"/>
                </a:solidFill>
                <a:latin typeface="Calibri"/>
              </a:rPr>
              <a:t>• </a:t>
            </a:r>
            <a:r>
              <a:rPr sz="2000" b="0">
                <a:solidFill>
                  <a:srgbClr val="FFFFFF"/>
                </a:solidFill>
                <a:latin typeface="Calibri"/>
              </a:rPr>
              <a:t>Tier 5: 57% Y — strong excellent agreement</a:t>
            </a:r>
          </a:p>
          <a:p>
            <a:pPr algn="l">
              <a:spcAft>
                <a:spcPts val="600"/>
              </a:spcAft>
            </a:pPr>
            <a:r>
              <a:rPr sz="2000" b="1">
                <a:solidFill>
                  <a:srgbClr val="00B4D8"/>
                </a:solidFill>
                <a:latin typeface="Calibri"/>
              </a:rPr>
              <a:t>• </a:t>
            </a:r>
            <a:r>
              <a:rPr sz="2000" b="0">
                <a:solidFill>
                  <a:srgbClr val="FFFFFF"/>
                </a:solidFill>
                <a:latin typeface="Calibri"/>
              </a:rPr>
              <a:t>Tiers 2-3: majority P — partial value</a:t>
            </a:r>
          </a:p>
          <a:p>
            <a:pPr algn="l">
              <a:spcAft>
                <a:spcPts val="600"/>
              </a:spcAft>
            </a:pPr>
            <a:r>
              <a:rPr sz="2000" b="1">
                <a:solidFill>
                  <a:srgbClr val="00B4D8"/>
                </a:solidFill>
                <a:latin typeface="Calibri"/>
              </a:rPr>
              <a:t>• </a:t>
            </a:r>
            <a:r>
              <a:rPr sz="2000" b="0">
                <a:solidFill>
                  <a:srgbClr val="FFFFFF"/>
                </a:solidFill>
                <a:latin typeface="Calibri"/>
              </a:rPr>
              <a:t>Tier 1: 81% N — strong failure agreement</a:t>
            </a:r>
          </a:p>
          <a:p>
            <a:pPr algn="l">
              <a:spcAft>
                <a:spcPts val="600"/>
              </a:spcAft>
            </a:pPr>
            <a:r>
              <a:rPr sz="2000" b="1">
                <a:solidFill>
                  <a:srgbClr val="00B4D8"/>
                </a:solidFill>
                <a:latin typeface="Calibri"/>
              </a:rPr>
              <a:t>• </a:t>
            </a:r>
            <a:r>
              <a:rPr sz="2000" b="0">
                <a:solidFill>
                  <a:srgbClr val="FFD54F"/>
                </a:solidFill>
                <a:latin typeface="Calibri"/>
              </a:rPr>
              <a:t>NIV κ 0.816 (Y+P), 0.707 (Y)</a:t>
            </a:r>
          </a:p>
        </p:txBody>
      </p:sp>
      <p:pic>
        <p:nvPicPr>
          <p:cNvPr id="8" name="Picture 7" descr="WhiteLogo.jpeg"/>
          <p:cNvPicPr>
            <a:picLocks noChangeAspect="1"/>
          </p:cNvPicPr>
          <p:nvPr/>
        </p:nvPicPr>
        <p:blipFill>
          <a:blip r:embed="rId2"/>
          <a:stretch>
            <a:fillRect/>
          </a:stretch>
        </p:blipFill>
        <p:spPr>
          <a:xfrm>
            <a:off x="11323320" y="6428232"/>
            <a:ext cx="269634" cy="320040"/>
          </a:xfrm>
          <a:prstGeom prst="rect">
            <a:avLst/>
          </a:prstGeom>
        </p:spPr>
      </p:pic>
      <p:sp>
        <p:nvSpPr>
          <p:cNvPr id="9" name="TextBox 8"/>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A8</a:t>
            </a:r>
          </a:p>
        </p:txBody>
      </p:sp>
    </p:spTree>
  </p:cSld>
  <p:clrMapOvr>
    <a:masterClrMapping/>
  </p:clrMapOvr>
  <p:transition spd="med"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A7: Context Evaluation — Transition Details</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5029200" cy="365760"/>
          </a:xfrm>
          <a:prstGeom prst="rect">
            <a:avLst/>
          </a:prstGeom>
          <a:noFill/>
        </p:spPr>
        <p:txBody>
          <a:bodyPr wrap="square" anchor="t"/>
          <a:lstStyle/>
          <a:p>
            <a:pPr algn="l"/>
            <a:r>
              <a:rPr sz="2400" b="1" i="0">
                <a:solidFill>
                  <a:srgbClr val="00B4D8"/>
                </a:solidFill>
                <a:latin typeface="Calibri"/>
              </a:rPr>
              <a:t>Blind → Context Transition Matrix</a:t>
            </a:r>
          </a:p>
        </p:txBody>
      </p:sp>
      <p:graphicFrame>
        <p:nvGraphicFramePr>
          <p:cNvPr id="5" name="Table 4"/>
          <p:cNvGraphicFramePr>
            <a:graphicFrameLocks noGrp="1"/>
          </p:cNvGraphicFramePr>
          <p:nvPr/>
        </p:nvGraphicFramePr>
        <p:xfrm>
          <a:off x="548640" y="1783080"/>
          <a:ext cx="5029200" cy="1389888"/>
        </p:xfrm>
        <a:graphic>
          <a:graphicData uri="http://schemas.openxmlformats.org/drawingml/2006/table">
            <a:tbl>
              <a:tblPr firstRow="0" bandRow="0" lastRow="0" bandCol="0">
                <a:tableStyleId>{5C22544A-7EE6-4342-B048-85BDC9FD1C3A}</a:tableStyleId>
              </a:tblPr>
              <a:tblGrid>
                <a:gridCol w="2011680"/>
                <a:gridCol w="685800"/>
                <a:gridCol w="594360"/>
                <a:gridCol w="594360"/>
                <a:gridCol w="1143000"/>
              </a:tblGrid>
              <a:tr h="347472">
                <a:tc>
                  <a:txBody>
                    <a:bodyPr/>
                    <a:lstStyle/>
                    <a:p>
                      <a:pPr algn="ctr"/>
                      <a:r>
                        <a:rPr sz="2400" b="1" i="0">
                          <a:solidFill>
                            <a:srgbClr val="FFFFFF"/>
                          </a:solidFill>
                          <a:latin typeface="Calibri"/>
                        </a:rPr>
                        <a:t>Blind ↓ / Ctx →</a:t>
                      </a:r>
                    </a:p>
                  </a:txBody>
                  <a:tcPr>
                    <a:solidFill>
                      <a:srgbClr val="00b4d8"/>
                    </a:solidFill>
                  </a:tcPr>
                </a:tc>
                <a:tc>
                  <a:txBody>
                    <a:bodyPr/>
                    <a:lstStyle/>
                    <a:p>
                      <a:pPr algn="ctr"/>
                      <a:r>
                        <a:rPr sz="2400" b="1" i="0">
                          <a:solidFill>
                            <a:srgbClr val="FFFFFF"/>
                          </a:solidFill>
                          <a:latin typeface="Calibri"/>
                        </a:rPr>
                        <a:t>Y</a:t>
                      </a:r>
                    </a:p>
                  </a:txBody>
                  <a:tcPr>
                    <a:solidFill>
                      <a:srgbClr val="00b4d8"/>
                    </a:solidFill>
                  </a:tcPr>
                </a:tc>
                <a:tc>
                  <a:txBody>
                    <a:bodyPr/>
                    <a:lstStyle/>
                    <a:p>
                      <a:pPr algn="ctr"/>
                      <a:r>
                        <a:rPr sz="2400" b="1" i="0">
                          <a:solidFill>
                            <a:srgbClr val="FFFFFF"/>
                          </a:solidFill>
                          <a:latin typeface="Calibri"/>
                        </a:rPr>
                        <a:t>P</a:t>
                      </a:r>
                    </a:p>
                  </a:txBody>
                  <a:tcPr>
                    <a:solidFill>
                      <a:srgbClr val="00b4d8"/>
                    </a:solidFill>
                  </a:tcPr>
                </a:tc>
                <a:tc>
                  <a:txBody>
                    <a:bodyPr/>
                    <a:lstStyle/>
                    <a:p>
                      <a:pPr algn="ctr"/>
                      <a:r>
                        <a:rPr sz="2400" b="1" i="0">
                          <a:solidFill>
                            <a:srgbClr val="FFFFFF"/>
                          </a:solidFill>
                          <a:latin typeface="Calibri"/>
                        </a:rPr>
                        <a:t>N</a:t>
                      </a:r>
                    </a:p>
                  </a:txBody>
                  <a:tcPr>
                    <a:solidFill>
                      <a:srgbClr val="00b4d8"/>
                    </a:solidFill>
                  </a:tcPr>
                </a:tc>
                <a:tc>
                  <a:txBody>
                    <a:bodyPr/>
                    <a:lstStyle/>
                    <a:p>
                      <a:pPr algn="ctr"/>
                      <a:r>
                        <a:rPr sz="2400" b="1" i="0">
                          <a:solidFill>
                            <a:srgbClr val="FFFFFF"/>
                          </a:solidFill>
                          <a:latin typeface="Calibri"/>
                        </a:rPr>
                        <a:t>Total</a:t>
                      </a:r>
                    </a:p>
                  </a:txBody>
                  <a:tcPr>
                    <a:solidFill>
                      <a:srgbClr val="00b4d8"/>
                    </a:solidFill>
                  </a:tcPr>
                </a:tc>
              </a:tr>
              <a:tr h="347472">
                <a:tc>
                  <a:txBody>
                    <a:bodyPr/>
                    <a:lstStyle/>
                    <a:p>
                      <a:pPr algn="l"/>
                      <a:r>
                        <a:rPr sz="2400" b="0" i="0">
                          <a:solidFill>
                            <a:srgbClr val="FFFFFF"/>
                          </a:solidFill>
                          <a:latin typeface="Calibri"/>
                        </a:rPr>
                        <a:t>Y</a:t>
                      </a:r>
                    </a:p>
                  </a:txBody>
                  <a:tcPr>
                    <a:solidFill>
                      <a:srgbClr val="0d1b2a"/>
                    </a:solidFill>
                  </a:tcPr>
                </a:tc>
                <a:tc>
                  <a:txBody>
                    <a:bodyPr/>
                    <a:lstStyle/>
                    <a:p>
                      <a:pPr algn="l"/>
                      <a:r>
                        <a:rPr sz="2400" b="0" i="0">
                          <a:solidFill>
                            <a:srgbClr val="FFFFFF"/>
                          </a:solidFill>
                          <a:latin typeface="Calibri"/>
                        </a:rPr>
                        <a:t>207</a:t>
                      </a:r>
                    </a:p>
                  </a:txBody>
                  <a:tcPr>
                    <a:solidFill>
                      <a:srgbClr val="0d1b2a"/>
                    </a:solidFill>
                  </a:tcPr>
                </a:tc>
                <a:tc>
                  <a:txBody>
                    <a:bodyPr/>
                    <a:lstStyle/>
                    <a:p>
                      <a:pPr algn="l"/>
                      <a:r>
                        <a:rPr sz="2400" b="0" i="0">
                          <a:solidFill>
                            <a:srgbClr val="E06C75"/>
                          </a:solidFill>
                          <a:latin typeface="Calibri"/>
                        </a:rPr>
                        <a:t>138</a:t>
                      </a:r>
                    </a:p>
                  </a:txBody>
                  <a:tcPr>
                    <a:solidFill>
                      <a:srgbClr val="0d1b2a"/>
                    </a:solidFill>
                  </a:tcPr>
                </a:tc>
                <a:tc>
                  <a:txBody>
                    <a:bodyPr/>
                    <a:lstStyle/>
                    <a:p>
                      <a:pPr algn="l"/>
                      <a:r>
                        <a:rPr sz="2400" b="0" i="0">
                          <a:solidFill>
                            <a:srgbClr val="FFFFFF"/>
                          </a:solidFill>
                          <a:latin typeface="Calibri"/>
                        </a:rPr>
                        <a:t>0</a:t>
                      </a:r>
                    </a:p>
                  </a:txBody>
                  <a:tcPr>
                    <a:solidFill>
                      <a:srgbClr val="0d1b2a"/>
                    </a:solidFill>
                  </a:tcPr>
                </a:tc>
                <a:tc>
                  <a:txBody>
                    <a:bodyPr/>
                    <a:lstStyle/>
                    <a:p>
                      <a:pPr algn="l"/>
                      <a:r>
                        <a:rPr sz="2400" b="0" i="0">
                          <a:solidFill>
                            <a:srgbClr val="FFFFFF"/>
                          </a:solidFill>
                          <a:latin typeface="Calibri"/>
                        </a:rPr>
                        <a:t>345</a:t>
                      </a:r>
                    </a:p>
                  </a:txBody>
                  <a:tcPr>
                    <a:solidFill>
                      <a:srgbClr val="0d1b2a"/>
                    </a:solidFill>
                  </a:tcPr>
                </a:tc>
              </a:tr>
              <a:tr h="347472">
                <a:tc>
                  <a:txBody>
                    <a:bodyPr/>
                    <a:lstStyle/>
                    <a:p>
                      <a:pPr algn="l"/>
                      <a:r>
                        <a:rPr sz="2400" b="0" i="0">
                          <a:solidFill>
                            <a:srgbClr val="FFFFFF"/>
                          </a:solidFill>
                          <a:latin typeface="Calibri"/>
                        </a:rPr>
                        <a:t>P</a:t>
                      </a:r>
                    </a:p>
                  </a:txBody>
                  <a:tcPr>
                    <a:solidFill>
                      <a:srgbClr val="152a40"/>
                    </a:solidFill>
                  </a:tcPr>
                </a:tc>
                <a:tc>
                  <a:txBody>
                    <a:bodyPr/>
                    <a:lstStyle/>
                    <a:p>
                      <a:pPr algn="l"/>
                      <a:r>
                        <a:rPr sz="2400" b="0" i="0">
                          <a:solidFill>
                            <a:srgbClr val="FFFFFF"/>
                          </a:solidFill>
                          <a:latin typeface="Calibri"/>
                        </a:rPr>
                        <a:t>17</a:t>
                      </a:r>
                    </a:p>
                  </a:txBody>
                  <a:tcPr>
                    <a:solidFill>
                      <a:srgbClr val="152a40"/>
                    </a:solidFill>
                  </a:tcPr>
                </a:tc>
                <a:tc>
                  <a:txBody>
                    <a:bodyPr/>
                    <a:lstStyle/>
                    <a:p>
                      <a:pPr algn="l"/>
                      <a:r>
                        <a:rPr sz="2400" b="0" i="0">
                          <a:solidFill>
                            <a:srgbClr val="FFFFFF"/>
                          </a:solidFill>
                          <a:latin typeface="Calibri"/>
                        </a:rPr>
                        <a:t>519</a:t>
                      </a:r>
                    </a:p>
                  </a:txBody>
                  <a:tcPr>
                    <a:solidFill>
                      <a:srgbClr val="152a40"/>
                    </a:solidFill>
                  </a:tcPr>
                </a:tc>
                <a:tc>
                  <a:txBody>
                    <a:bodyPr/>
                    <a:lstStyle/>
                    <a:p>
                      <a:pPr algn="l"/>
                      <a:r>
                        <a:rPr sz="2400" b="0" i="0">
                          <a:solidFill>
                            <a:srgbClr val="E06C75"/>
                          </a:solidFill>
                          <a:latin typeface="Calibri"/>
                        </a:rPr>
                        <a:t>90</a:t>
                      </a:r>
                    </a:p>
                  </a:txBody>
                  <a:tcPr>
                    <a:solidFill>
                      <a:srgbClr val="152a40"/>
                    </a:solidFill>
                  </a:tcPr>
                </a:tc>
                <a:tc>
                  <a:txBody>
                    <a:bodyPr/>
                    <a:lstStyle/>
                    <a:p>
                      <a:pPr algn="l"/>
                      <a:r>
                        <a:rPr sz="2400" b="0" i="0">
                          <a:solidFill>
                            <a:srgbClr val="FFFFFF"/>
                          </a:solidFill>
                          <a:latin typeface="Calibri"/>
                        </a:rPr>
                        <a:t>626</a:t>
                      </a:r>
                    </a:p>
                  </a:txBody>
                  <a:tcPr>
                    <a:solidFill>
                      <a:srgbClr val="152a40"/>
                    </a:solidFill>
                  </a:tcPr>
                </a:tc>
              </a:tr>
              <a:tr h="347472">
                <a:tc>
                  <a:txBody>
                    <a:bodyPr/>
                    <a:lstStyle/>
                    <a:p>
                      <a:pPr algn="l"/>
                      <a:r>
                        <a:rPr sz="2400" b="0" i="0">
                          <a:solidFill>
                            <a:srgbClr val="FFFFFF"/>
                          </a:solidFill>
                          <a:latin typeface="Calibri"/>
                        </a:rPr>
                        <a:t>N</a:t>
                      </a:r>
                    </a:p>
                  </a:txBody>
                  <a:tcPr>
                    <a:solidFill>
                      <a:srgbClr val="0d1b2a"/>
                    </a:solidFill>
                  </a:tcPr>
                </a:tc>
                <a:tc>
                  <a:txBody>
                    <a:bodyPr/>
                    <a:lstStyle/>
                    <a:p>
                      <a:pPr algn="l"/>
                      <a:r>
                        <a:rPr sz="2400" b="0" i="0">
                          <a:solidFill>
                            <a:srgbClr val="FFFFFF"/>
                          </a:solidFill>
                          <a:latin typeface="Calibri"/>
                        </a:rPr>
                        <a:t>1</a:t>
                      </a:r>
                    </a:p>
                  </a:txBody>
                  <a:tcPr>
                    <a:solidFill>
                      <a:srgbClr val="0d1b2a"/>
                    </a:solidFill>
                  </a:tcPr>
                </a:tc>
                <a:tc>
                  <a:txBody>
                    <a:bodyPr/>
                    <a:lstStyle/>
                    <a:p>
                      <a:pPr algn="l"/>
                      <a:r>
                        <a:rPr sz="2400" b="0" i="0">
                          <a:solidFill>
                            <a:srgbClr val="FFFFFF"/>
                          </a:solidFill>
                          <a:latin typeface="Calibri"/>
                        </a:rPr>
                        <a:t>48</a:t>
                      </a:r>
                    </a:p>
                  </a:txBody>
                  <a:tcPr>
                    <a:solidFill>
                      <a:srgbClr val="0d1b2a"/>
                    </a:solidFill>
                  </a:tcPr>
                </a:tc>
                <a:tc>
                  <a:txBody>
                    <a:bodyPr/>
                    <a:lstStyle/>
                    <a:p>
                      <a:pPr algn="l"/>
                      <a:r>
                        <a:rPr sz="2400" b="0" i="0">
                          <a:solidFill>
                            <a:srgbClr val="FFFFFF"/>
                          </a:solidFill>
                          <a:latin typeface="Calibri"/>
                        </a:rPr>
                        <a:t>477</a:t>
                      </a:r>
                    </a:p>
                  </a:txBody>
                  <a:tcPr>
                    <a:solidFill>
                      <a:srgbClr val="0d1b2a"/>
                    </a:solidFill>
                  </a:tcPr>
                </a:tc>
                <a:tc>
                  <a:txBody>
                    <a:bodyPr/>
                    <a:lstStyle/>
                    <a:p>
                      <a:pPr algn="l"/>
                      <a:r>
                        <a:rPr sz="2400" b="0" i="0">
                          <a:solidFill>
                            <a:srgbClr val="FFFFFF"/>
                          </a:solidFill>
                          <a:latin typeface="Calibri"/>
                        </a:rPr>
                        <a:t>526</a:t>
                      </a:r>
                    </a:p>
                  </a:txBody>
                  <a:tcPr>
                    <a:solidFill>
                      <a:srgbClr val="0d1b2a"/>
                    </a:solidFill>
                  </a:tcPr>
                </a:tc>
              </a:tr>
            </a:tbl>
          </a:graphicData>
        </a:graphic>
      </p:graphicFrame>
      <p:sp>
        <p:nvSpPr>
          <p:cNvPr id="6" name="TextBox 5"/>
          <p:cNvSpPr txBox="1"/>
          <p:nvPr/>
        </p:nvSpPr>
        <p:spPr>
          <a:xfrm>
            <a:off x="548640" y="3520440"/>
            <a:ext cx="5029200" cy="777240"/>
          </a:xfrm>
          <a:prstGeom prst="rect">
            <a:avLst/>
          </a:prstGeom>
          <a:noFill/>
        </p:spPr>
        <p:txBody>
          <a:bodyPr wrap="square" anchor="t"/>
          <a:lstStyle/>
          <a:p>
            <a:pPr algn="l"/>
            <a:r>
              <a:rPr sz="2400" b="0" i="0">
                <a:solidFill>
                  <a:srgbClr val="AAAAAA"/>
                </a:solidFill>
                <a:latin typeface="Calibri"/>
              </a:rPr>
              <a:t>Dominant transition: Y→P (138 cases, 40% of all Y)</a:t>
            </a:r>
            <a:br/>
            <a:r>
              <a:rPr sz="2400" b="0" i="0">
                <a:solidFill>
                  <a:srgbClr val="AAAAAA"/>
                </a:solidFill>
                <a:latin typeface="Calibri"/>
              </a:rPr>
              <a:t>Only 1 N→Y rescue across all 1,497 pairs</a:t>
            </a:r>
          </a:p>
        </p:txBody>
      </p:sp>
      <p:graphicFrame>
        <p:nvGraphicFramePr>
          <p:cNvPr id="7" name="Table 6"/>
          <p:cNvGraphicFramePr>
            <a:graphicFrameLocks noGrp="1"/>
          </p:cNvGraphicFramePr>
          <p:nvPr/>
        </p:nvGraphicFramePr>
        <p:xfrm>
          <a:off x="548640" y="4434840"/>
          <a:ext cx="5029200" cy="1737360"/>
        </p:xfrm>
        <a:graphic>
          <a:graphicData uri="http://schemas.openxmlformats.org/drawingml/2006/table">
            <a:tbl>
              <a:tblPr firstRow="0" bandRow="0" lastRow="0" bandCol="0">
                <a:tableStyleId>{5C22544A-7EE6-4342-B048-85BDC9FD1C3A}</a:tableStyleId>
              </a:tblPr>
              <a:tblGrid>
                <a:gridCol w="2926080"/>
                <a:gridCol w="2103120"/>
              </a:tblGrid>
              <a:tr h="347472">
                <a:tc>
                  <a:txBody>
                    <a:bodyPr/>
                    <a:lstStyle/>
                    <a:p>
                      <a:pPr algn="ctr"/>
                      <a:r>
                        <a:rPr sz="2400" b="1" i="0">
                          <a:solidFill>
                            <a:srgbClr val="FFFFFF"/>
                          </a:solidFill>
                          <a:latin typeface="Calibri"/>
                        </a:rPr>
                        <a:t>Metric</a:t>
                      </a:r>
                    </a:p>
                  </a:txBody>
                  <a:tcPr>
                    <a:solidFill>
                      <a:srgbClr val="00b4d8"/>
                    </a:solidFill>
                  </a:tcPr>
                </a:tc>
                <a:tc>
                  <a:txBody>
                    <a:bodyPr/>
                    <a:lstStyle/>
                    <a:p>
                      <a:pPr algn="ctr"/>
                      <a:r>
                        <a:rPr sz="2400" b="1" i="0">
                          <a:solidFill>
                            <a:srgbClr val="FFFFFF"/>
                          </a:solidFill>
                          <a:latin typeface="Calibri"/>
                        </a:rPr>
                        <a:t>Value</a:t>
                      </a:r>
                    </a:p>
                  </a:txBody>
                  <a:tcPr>
                    <a:solidFill>
                      <a:srgbClr val="00b4d8"/>
                    </a:solidFill>
                  </a:tcPr>
                </a:tc>
              </a:tr>
              <a:tr h="347472">
                <a:tc>
                  <a:txBody>
                    <a:bodyPr/>
                    <a:lstStyle/>
                    <a:p>
                      <a:pPr algn="l"/>
                      <a:r>
                        <a:rPr sz="2400" b="0" i="0">
                          <a:solidFill>
                            <a:srgbClr val="FFFFFF"/>
                          </a:solidFill>
                          <a:latin typeface="Calibri"/>
                        </a:rPr>
                        <a:t>Total downgrades</a:t>
                      </a:r>
                    </a:p>
                  </a:txBody>
                  <a:tcPr>
                    <a:solidFill>
                      <a:srgbClr val="0d1b2a"/>
                    </a:solidFill>
                  </a:tcPr>
                </a:tc>
                <a:tc>
                  <a:txBody>
                    <a:bodyPr/>
                    <a:lstStyle/>
                    <a:p>
                      <a:pPr algn="l"/>
                      <a:r>
                        <a:rPr sz="2400" b="0" i="0">
                          <a:solidFill>
                            <a:srgbClr val="FFFFFF"/>
                          </a:solidFill>
                          <a:latin typeface="Calibri"/>
                        </a:rPr>
                        <a:t>230 (15%)</a:t>
                      </a:r>
                    </a:p>
                  </a:txBody>
                  <a:tcPr>
                    <a:solidFill>
                      <a:srgbClr val="0d1b2a"/>
                    </a:solidFill>
                  </a:tcPr>
                </a:tc>
              </a:tr>
              <a:tr h="347472">
                <a:tc>
                  <a:txBody>
                    <a:bodyPr/>
                    <a:lstStyle/>
                    <a:p>
                      <a:pPr algn="l"/>
                      <a:r>
                        <a:rPr sz="2400" b="0" i="0">
                          <a:solidFill>
                            <a:srgbClr val="FFFFFF"/>
                          </a:solidFill>
                          <a:latin typeface="Calibri"/>
                        </a:rPr>
                        <a:t>Total upgrades</a:t>
                      </a:r>
                    </a:p>
                  </a:txBody>
                  <a:tcPr>
                    <a:solidFill>
                      <a:srgbClr val="152a40"/>
                    </a:solidFill>
                  </a:tcPr>
                </a:tc>
                <a:tc>
                  <a:txBody>
                    <a:bodyPr/>
                    <a:lstStyle/>
                    <a:p>
                      <a:pPr algn="l"/>
                      <a:r>
                        <a:rPr sz="2400" b="0" i="0">
                          <a:solidFill>
                            <a:srgbClr val="FFFFFF"/>
                          </a:solidFill>
                          <a:latin typeface="Calibri"/>
                        </a:rPr>
                        <a:t>68 (4%)</a:t>
                      </a:r>
                    </a:p>
                  </a:txBody>
                  <a:tcPr>
                    <a:solidFill>
                      <a:srgbClr val="152a40"/>
                    </a:solidFill>
                  </a:tcPr>
                </a:tc>
              </a:tr>
              <a:tr h="347472">
                <a:tc>
                  <a:txBody>
                    <a:bodyPr/>
                    <a:lstStyle/>
                    <a:p>
                      <a:pPr algn="l"/>
                      <a:r>
                        <a:rPr sz="2400" b="0" i="0">
                          <a:solidFill>
                            <a:srgbClr val="FFFFFF"/>
                          </a:solidFill>
                          <a:latin typeface="Calibri"/>
                        </a:rPr>
                        <a:t>Unchanged</a:t>
                      </a:r>
                    </a:p>
                  </a:txBody>
                  <a:tcPr>
                    <a:solidFill>
                      <a:srgbClr val="0d1b2a"/>
                    </a:solidFill>
                  </a:tcPr>
                </a:tc>
                <a:tc>
                  <a:txBody>
                    <a:bodyPr/>
                    <a:lstStyle/>
                    <a:p>
                      <a:pPr algn="l"/>
                      <a:r>
                        <a:rPr sz="2400" b="0" i="0">
                          <a:solidFill>
                            <a:srgbClr val="FFFFFF"/>
                          </a:solidFill>
                          <a:latin typeface="Calibri"/>
                        </a:rPr>
                        <a:t>1,199 (80%)</a:t>
                      </a:r>
                    </a:p>
                  </a:txBody>
                  <a:tcPr>
                    <a:solidFill>
                      <a:srgbClr val="0d1b2a"/>
                    </a:solidFill>
                  </a:tcPr>
                </a:tc>
              </a:tr>
              <a:tr h="347472">
                <a:tc>
                  <a:txBody>
                    <a:bodyPr/>
                    <a:lstStyle/>
                    <a:p>
                      <a:pPr algn="l"/>
                      <a:r>
                        <a:rPr sz="2400" b="0" i="0">
                          <a:solidFill>
                            <a:srgbClr val="FFFFFF"/>
                          </a:solidFill>
                          <a:latin typeface="Calibri"/>
                        </a:rPr>
                        <a:t>Cross-condition agree.</a:t>
                      </a:r>
                    </a:p>
                  </a:txBody>
                  <a:tcPr>
                    <a:solidFill>
                      <a:srgbClr val="152a40"/>
                    </a:solidFill>
                  </a:tcPr>
                </a:tc>
                <a:tc>
                  <a:txBody>
                    <a:bodyPr/>
                    <a:lstStyle/>
                    <a:p>
                      <a:pPr algn="l"/>
                      <a:r>
                        <a:rPr sz="2400" b="0" i="0">
                          <a:solidFill>
                            <a:srgbClr val="FFFFFF"/>
                          </a:solidFill>
                          <a:latin typeface="Calibri"/>
                        </a:rPr>
                        <a:t>80%</a:t>
                      </a:r>
                    </a:p>
                  </a:txBody>
                  <a:tcPr>
                    <a:solidFill>
                      <a:srgbClr val="152a40"/>
                    </a:solidFill>
                  </a:tcPr>
                </a:tc>
              </a:tr>
            </a:tbl>
          </a:graphicData>
        </a:graphic>
      </p:graphicFrame>
      <p:sp>
        <p:nvSpPr>
          <p:cNvPr id="8" name="TextBox 7"/>
          <p:cNvSpPr txBox="1"/>
          <p:nvPr/>
        </p:nvSpPr>
        <p:spPr>
          <a:xfrm>
            <a:off x="6611111" y="1325880"/>
            <a:ext cx="5029200" cy="365760"/>
          </a:xfrm>
          <a:prstGeom prst="rect">
            <a:avLst/>
          </a:prstGeom>
          <a:noFill/>
        </p:spPr>
        <p:txBody>
          <a:bodyPr wrap="square" anchor="t"/>
          <a:lstStyle/>
          <a:p>
            <a:pPr algn="l"/>
            <a:r>
              <a:rPr sz="2400" b="1" i="0">
                <a:solidFill>
                  <a:srgbClr val="E06C75"/>
                </a:solidFill>
                <a:latin typeface="Calibri"/>
              </a:rPr>
              <a:t>Per-Topic Y+P Delta (Blind → Context)</a:t>
            </a:r>
          </a:p>
        </p:txBody>
      </p:sp>
      <p:graphicFrame>
        <p:nvGraphicFramePr>
          <p:cNvPr id="9" name="Table 8"/>
          <p:cNvGraphicFramePr>
            <a:graphicFrameLocks noGrp="1"/>
          </p:cNvGraphicFramePr>
          <p:nvPr/>
        </p:nvGraphicFramePr>
        <p:xfrm>
          <a:off x="6611111" y="1783080"/>
          <a:ext cx="5029200" cy="2926080"/>
        </p:xfrm>
        <a:graphic>
          <a:graphicData uri="http://schemas.openxmlformats.org/drawingml/2006/table">
            <a:tbl>
              <a:tblPr firstRow="0" bandRow="0" lastRow="0" bandCol="0">
                <a:tableStyleId>{5C22544A-7EE6-4342-B048-85BDC9FD1C3A}</a:tableStyleId>
              </a:tblPr>
              <a:tblGrid>
                <a:gridCol w="2377440"/>
                <a:gridCol w="914400"/>
                <a:gridCol w="822960"/>
                <a:gridCol w="914400"/>
              </a:tblGrid>
              <a:tr h="365760">
                <a:tc>
                  <a:txBody>
                    <a:bodyPr/>
                    <a:lstStyle/>
                    <a:p>
                      <a:pPr algn="ctr"/>
                      <a:r>
                        <a:rPr sz="2400" b="1" i="0">
                          <a:solidFill>
                            <a:srgbClr val="FFFFFF"/>
                          </a:solidFill>
                          <a:latin typeface="Calibri"/>
                        </a:rPr>
                        <a:t>Topic</a:t>
                      </a:r>
                    </a:p>
                  </a:txBody>
                  <a:tcPr>
                    <a:solidFill>
                      <a:srgbClr val="00b4d8"/>
                    </a:solidFill>
                  </a:tcPr>
                </a:tc>
                <a:tc>
                  <a:txBody>
                    <a:bodyPr/>
                    <a:lstStyle/>
                    <a:p>
                      <a:pPr algn="ctr"/>
                      <a:r>
                        <a:rPr sz="2400" b="1" i="0">
                          <a:solidFill>
                            <a:srgbClr val="FFFFFF"/>
                          </a:solidFill>
                          <a:latin typeface="Calibri"/>
                        </a:rPr>
                        <a:t>Blind</a:t>
                      </a:r>
                    </a:p>
                  </a:txBody>
                  <a:tcPr>
                    <a:solidFill>
                      <a:srgbClr val="00b4d8"/>
                    </a:solidFill>
                  </a:tcPr>
                </a:tc>
                <a:tc>
                  <a:txBody>
                    <a:bodyPr/>
                    <a:lstStyle/>
                    <a:p>
                      <a:pPr algn="ctr"/>
                      <a:r>
                        <a:rPr sz="2400" b="1" i="0">
                          <a:solidFill>
                            <a:srgbClr val="FFFFFF"/>
                          </a:solidFill>
                          <a:latin typeface="Calibri"/>
                        </a:rPr>
                        <a:t>Ctx</a:t>
                      </a:r>
                    </a:p>
                  </a:txBody>
                  <a:tcPr>
                    <a:solidFill>
                      <a:srgbClr val="00b4d8"/>
                    </a:solidFill>
                  </a:tcPr>
                </a:tc>
                <a:tc>
                  <a:txBody>
                    <a:bodyPr/>
                    <a:lstStyle/>
                    <a:p>
                      <a:pPr algn="ctr"/>
                      <a:r>
                        <a:rPr sz="2400" b="1" i="0">
                          <a:solidFill>
                            <a:srgbClr val="FFFFFF"/>
                          </a:solidFill>
                          <a:latin typeface="Calibri"/>
                        </a:rPr>
                        <a:t>Δ</a:t>
                      </a:r>
                    </a:p>
                  </a:txBody>
                  <a:tcPr>
                    <a:solidFill>
                      <a:srgbClr val="00b4d8"/>
                    </a:solidFill>
                  </a:tcPr>
                </a:tc>
              </a:tr>
              <a:tr h="365760">
                <a:tc>
                  <a:txBody>
                    <a:bodyPr/>
                    <a:lstStyle/>
                    <a:p>
                      <a:pPr algn="l"/>
                      <a:r>
                        <a:rPr sz="2400" b="0" i="0">
                          <a:solidFill>
                            <a:srgbClr val="FFFFFF"/>
                          </a:solidFill>
                          <a:latin typeface="Calibri"/>
                        </a:rPr>
                        <a:t>Business/Finance</a:t>
                      </a:r>
                    </a:p>
                  </a:txBody>
                  <a:tcPr>
                    <a:solidFill>
                      <a:srgbClr val="0d1b2a"/>
                    </a:solidFill>
                  </a:tcPr>
                </a:tc>
                <a:tc>
                  <a:txBody>
                    <a:bodyPr/>
                    <a:lstStyle/>
                    <a:p>
                      <a:pPr algn="l"/>
                      <a:r>
                        <a:rPr sz="2400" b="0" i="0">
                          <a:solidFill>
                            <a:srgbClr val="FFFFFF"/>
                          </a:solidFill>
                          <a:latin typeface="Calibri"/>
                        </a:rPr>
                        <a:t>72%</a:t>
                      </a:r>
                    </a:p>
                  </a:txBody>
                  <a:tcPr>
                    <a:solidFill>
                      <a:srgbClr val="0d1b2a"/>
                    </a:solidFill>
                  </a:tcPr>
                </a:tc>
                <a:tc>
                  <a:txBody>
                    <a:bodyPr/>
                    <a:lstStyle/>
                    <a:p>
                      <a:pPr algn="l"/>
                      <a:r>
                        <a:rPr sz="2400" b="0" i="0">
                          <a:solidFill>
                            <a:srgbClr val="FFFFFF"/>
                          </a:solidFill>
                          <a:latin typeface="Calibri"/>
                        </a:rPr>
                        <a:t>70%</a:t>
                      </a:r>
                    </a:p>
                  </a:txBody>
                  <a:tcPr>
                    <a:solidFill>
                      <a:srgbClr val="0d1b2a"/>
                    </a:solidFill>
                  </a:tcPr>
                </a:tc>
                <a:tc>
                  <a:txBody>
                    <a:bodyPr/>
                    <a:lstStyle/>
                    <a:p>
                      <a:pPr algn="l"/>
                      <a:r>
                        <a:rPr sz="2400" b="0" i="0">
                          <a:solidFill>
                            <a:srgbClr val="FFFFFF"/>
                          </a:solidFill>
                          <a:latin typeface="Calibri"/>
                        </a:rPr>
                        <a:t>−2pp</a:t>
                      </a:r>
                    </a:p>
                  </a:txBody>
                  <a:tcPr>
                    <a:solidFill>
                      <a:srgbClr val="0d1b2a"/>
                    </a:solidFill>
                  </a:tcPr>
                </a:tc>
              </a:tr>
              <a:tr h="365760">
                <a:tc>
                  <a:txBody>
                    <a:bodyPr/>
                    <a:lstStyle/>
                    <a:p>
                      <a:pPr algn="l"/>
                      <a:r>
                        <a:rPr sz="2400" b="0" i="0">
                          <a:solidFill>
                            <a:srgbClr val="FFFFFF"/>
                          </a:solidFill>
                          <a:latin typeface="Calibri"/>
                        </a:rPr>
                        <a:t>Education/Lecture</a:t>
                      </a:r>
                    </a:p>
                  </a:txBody>
                  <a:tcPr>
                    <a:solidFill>
                      <a:srgbClr val="152a40"/>
                    </a:solidFill>
                  </a:tcPr>
                </a:tc>
                <a:tc>
                  <a:txBody>
                    <a:bodyPr/>
                    <a:lstStyle/>
                    <a:p>
                      <a:pPr algn="l"/>
                      <a:r>
                        <a:rPr sz="2400" b="0" i="0">
                          <a:solidFill>
                            <a:srgbClr val="FFFFFF"/>
                          </a:solidFill>
                          <a:latin typeface="Calibri"/>
                        </a:rPr>
                        <a:t>67%</a:t>
                      </a:r>
                    </a:p>
                  </a:txBody>
                  <a:tcPr>
                    <a:solidFill>
                      <a:srgbClr val="152a40"/>
                    </a:solidFill>
                  </a:tcPr>
                </a:tc>
                <a:tc>
                  <a:txBody>
                    <a:bodyPr/>
                    <a:lstStyle/>
                    <a:p>
                      <a:pPr algn="l"/>
                      <a:r>
                        <a:rPr sz="2400" b="0" i="0">
                          <a:solidFill>
                            <a:srgbClr val="FFFFFF"/>
                          </a:solidFill>
                          <a:latin typeface="Calibri"/>
                        </a:rPr>
                        <a:t>64%</a:t>
                      </a:r>
                    </a:p>
                  </a:txBody>
                  <a:tcPr>
                    <a:solidFill>
                      <a:srgbClr val="152a40"/>
                    </a:solidFill>
                  </a:tcPr>
                </a:tc>
                <a:tc>
                  <a:txBody>
                    <a:bodyPr/>
                    <a:lstStyle/>
                    <a:p>
                      <a:pPr algn="l"/>
                      <a:r>
                        <a:rPr sz="2400" b="0" i="0">
                          <a:solidFill>
                            <a:srgbClr val="FFFFFF"/>
                          </a:solidFill>
                          <a:latin typeface="Calibri"/>
                        </a:rPr>
                        <a:t>−3pp</a:t>
                      </a:r>
                    </a:p>
                  </a:txBody>
                  <a:tcPr>
                    <a:solidFill>
                      <a:srgbClr val="152a40"/>
                    </a:solidFill>
                  </a:tcPr>
                </a:tc>
              </a:tr>
              <a:tr h="365760">
                <a:tc>
                  <a:txBody>
                    <a:bodyPr/>
                    <a:lstStyle/>
                    <a:p>
                      <a:pPr algn="l"/>
                      <a:r>
                        <a:rPr sz="2400" b="0" i="0">
                          <a:solidFill>
                            <a:srgbClr val="FFFFFF"/>
                          </a:solidFill>
                          <a:latin typeface="Calibri"/>
                        </a:rPr>
                        <a:t>Entertainment</a:t>
                      </a:r>
                    </a:p>
                  </a:txBody>
                  <a:tcPr>
                    <a:solidFill>
                      <a:srgbClr val="0d1b2a"/>
                    </a:solidFill>
                  </a:tcPr>
                </a:tc>
                <a:tc>
                  <a:txBody>
                    <a:bodyPr/>
                    <a:lstStyle/>
                    <a:p>
                      <a:pPr algn="l"/>
                      <a:r>
                        <a:rPr sz="2400" b="0" i="0">
                          <a:solidFill>
                            <a:srgbClr val="FFFFFF"/>
                          </a:solidFill>
                          <a:latin typeface="Calibri"/>
                        </a:rPr>
                        <a:t>64%</a:t>
                      </a:r>
                    </a:p>
                  </a:txBody>
                  <a:tcPr>
                    <a:solidFill>
                      <a:srgbClr val="0d1b2a"/>
                    </a:solidFill>
                  </a:tcPr>
                </a:tc>
                <a:tc>
                  <a:txBody>
                    <a:bodyPr/>
                    <a:lstStyle/>
                    <a:p>
                      <a:pPr algn="l"/>
                      <a:r>
                        <a:rPr sz="2400" b="0" i="0">
                          <a:solidFill>
                            <a:srgbClr val="FFFFFF"/>
                          </a:solidFill>
                          <a:latin typeface="Calibri"/>
                        </a:rPr>
                        <a:t>61%</a:t>
                      </a:r>
                    </a:p>
                  </a:txBody>
                  <a:tcPr>
                    <a:solidFill>
                      <a:srgbClr val="0d1b2a"/>
                    </a:solidFill>
                  </a:tcPr>
                </a:tc>
                <a:tc>
                  <a:txBody>
                    <a:bodyPr/>
                    <a:lstStyle/>
                    <a:p>
                      <a:pPr algn="l"/>
                      <a:r>
                        <a:rPr sz="2400" b="0" i="0">
                          <a:solidFill>
                            <a:srgbClr val="FFFFFF"/>
                          </a:solidFill>
                          <a:latin typeface="Calibri"/>
                        </a:rPr>
                        <a:t>−3pp</a:t>
                      </a:r>
                    </a:p>
                  </a:txBody>
                  <a:tcPr>
                    <a:solidFill>
                      <a:srgbClr val="0d1b2a"/>
                    </a:solidFill>
                  </a:tcPr>
                </a:tc>
              </a:tr>
              <a:tr h="365760">
                <a:tc>
                  <a:txBody>
                    <a:bodyPr/>
                    <a:lstStyle/>
                    <a:p>
                      <a:pPr algn="l"/>
                      <a:r>
                        <a:rPr sz="2400" b="0" i="0">
                          <a:solidFill>
                            <a:srgbClr val="FFFFFF"/>
                          </a:solidFill>
                          <a:latin typeface="Calibri"/>
                        </a:rPr>
                        <a:t>News/Politics</a:t>
                      </a:r>
                    </a:p>
                  </a:txBody>
                  <a:tcPr>
                    <a:solidFill>
                      <a:srgbClr val="152a40"/>
                    </a:solidFill>
                  </a:tcPr>
                </a:tc>
                <a:tc>
                  <a:txBody>
                    <a:bodyPr/>
                    <a:lstStyle/>
                    <a:p>
                      <a:pPr algn="l"/>
                      <a:r>
                        <a:rPr sz="2400" b="0" i="0">
                          <a:solidFill>
                            <a:srgbClr val="FFFFFF"/>
                          </a:solidFill>
                          <a:latin typeface="Calibri"/>
                        </a:rPr>
                        <a:t>65%</a:t>
                      </a:r>
                    </a:p>
                  </a:txBody>
                  <a:tcPr>
                    <a:solidFill>
                      <a:srgbClr val="152a40"/>
                    </a:solidFill>
                  </a:tcPr>
                </a:tc>
                <a:tc>
                  <a:txBody>
                    <a:bodyPr/>
                    <a:lstStyle/>
                    <a:p>
                      <a:pPr algn="l"/>
                      <a:r>
                        <a:rPr sz="2400" b="0" i="0">
                          <a:solidFill>
                            <a:srgbClr val="FFFFFF"/>
                          </a:solidFill>
                          <a:latin typeface="Calibri"/>
                        </a:rPr>
                        <a:t>62%</a:t>
                      </a:r>
                    </a:p>
                  </a:txBody>
                  <a:tcPr>
                    <a:solidFill>
                      <a:srgbClr val="152a40"/>
                    </a:solidFill>
                  </a:tcPr>
                </a:tc>
                <a:tc>
                  <a:txBody>
                    <a:bodyPr/>
                    <a:lstStyle/>
                    <a:p>
                      <a:pPr algn="l"/>
                      <a:r>
                        <a:rPr sz="2400" b="0" i="0">
                          <a:solidFill>
                            <a:srgbClr val="FFFFFF"/>
                          </a:solidFill>
                          <a:latin typeface="Calibri"/>
                        </a:rPr>
                        <a:t>−3pp</a:t>
                      </a:r>
                    </a:p>
                  </a:txBody>
                  <a:tcPr>
                    <a:solidFill>
                      <a:srgbClr val="152a40"/>
                    </a:solidFill>
                  </a:tcPr>
                </a:tc>
              </a:tr>
              <a:tr h="365760">
                <a:tc>
                  <a:txBody>
                    <a:bodyPr/>
                    <a:lstStyle/>
                    <a:p>
                      <a:pPr algn="l"/>
                      <a:r>
                        <a:rPr sz="2400" b="0" i="0">
                          <a:solidFill>
                            <a:srgbClr val="FFFFFF"/>
                          </a:solidFill>
                          <a:latin typeface="Calibri"/>
                        </a:rPr>
                        <a:t>Tech/Science</a:t>
                      </a:r>
                    </a:p>
                  </a:txBody>
                  <a:tcPr>
                    <a:solidFill>
                      <a:srgbClr val="0d1b2a"/>
                    </a:solidFill>
                  </a:tcPr>
                </a:tc>
                <a:tc>
                  <a:txBody>
                    <a:bodyPr/>
                    <a:lstStyle/>
                    <a:p>
                      <a:pPr algn="l"/>
                      <a:r>
                        <a:rPr sz="2400" b="0" i="0">
                          <a:solidFill>
                            <a:srgbClr val="FFFFFF"/>
                          </a:solidFill>
                          <a:latin typeface="Calibri"/>
                        </a:rPr>
                        <a:t>62%</a:t>
                      </a:r>
                    </a:p>
                  </a:txBody>
                  <a:tcPr>
                    <a:solidFill>
                      <a:srgbClr val="0d1b2a"/>
                    </a:solidFill>
                  </a:tcPr>
                </a:tc>
                <a:tc>
                  <a:txBody>
                    <a:bodyPr/>
                    <a:lstStyle/>
                    <a:p>
                      <a:pPr algn="l"/>
                      <a:r>
                        <a:rPr sz="2400" b="0" i="0">
                          <a:solidFill>
                            <a:srgbClr val="FFFFFF"/>
                          </a:solidFill>
                          <a:latin typeface="Calibri"/>
                        </a:rPr>
                        <a:t>59%</a:t>
                      </a:r>
                    </a:p>
                  </a:txBody>
                  <a:tcPr>
                    <a:solidFill>
                      <a:srgbClr val="0d1b2a"/>
                    </a:solidFill>
                  </a:tcPr>
                </a:tc>
                <a:tc>
                  <a:txBody>
                    <a:bodyPr/>
                    <a:lstStyle/>
                    <a:p>
                      <a:pPr algn="l"/>
                      <a:r>
                        <a:rPr sz="2400" b="0" i="0">
                          <a:solidFill>
                            <a:srgbClr val="FFFFFF"/>
                          </a:solidFill>
                          <a:latin typeface="Calibri"/>
                        </a:rPr>
                        <a:t>−3pp</a:t>
                      </a:r>
                    </a:p>
                  </a:txBody>
                  <a:tcPr>
                    <a:solidFill>
                      <a:srgbClr val="0d1b2a"/>
                    </a:solidFill>
                  </a:tcPr>
                </a:tc>
              </a:tr>
              <a:tr h="365760">
                <a:tc>
                  <a:txBody>
                    <a:bodyPr/>
                    <a:lstStyle/>
                    <a:p>
                      <a:pPr algn="l"/>
                      <a:r>
                        <a:rPr sz="2400" b="0" i="0">
                          <a:solidFill>
                            <a:srgbClr val="FFFFFF"/>
                          </a:solidFill>
                          <a:latin typeface="Calibri"/>
                        </a:rPr>
                        <a:t>Sports/Health</a:t>
                      </a:r>
                    </a:p>
                  </a:txBody>
                  <a:tcPr>
                    <a:solidFill>
                      <a:srgbClr val="152a40"/>
                    </a:solidFill>
                  </a:tcPr>
                </a:tc>
                <a:tc>
                  <a:txBody>
                    <a:bodyPr/>
                    <a:lstStyle/>
                    <a:p>
                      <a:pPr algn="l"/>
                      <a:r>
                        <a:rPr sz="2400" b="0" i="0">
                          <a:solidFill>
                            <a:srgbClr val="FFFFFF"/>
                          </a:solidFill>
                          <a:latin typeface="Calibri"/>
                        </a:rPr>
                        <a:t>60%</a:t>
                      </a:r>
                    </a:p>
                  </a:txBody>
                  <a:tcPr>
                    <a:solidFill>
                      <a:srgbClr val="152a40"/>
                    </a:solidFill>
                  </a:tcPr>
                </a:tc>
                <a:tc>
                  <a:txBody>
                    <a:bodyPr/>
                    <a:lstStyle/>
                    <a:p>
                      <a:pPr algn="l"/>
                      <a:r>
                        <a:rPr sz="2400" b="0" i="0">
                          <a:solidFill>
                            <a:srgbClr val="FFFFFF"/>
                          </a:solidFill>
                          <a:latin typeface="Calibri"/>
                        </a:rPr>
                        <a:t>57%</a:t>
                      </a:r>
                    </a:p>
                  </a:txBody>
                  <a:tcPr>
                    <a:solidFill>
                      <a:srgbClr val="152a40"/>
                    </a:solidFill>
                  </a:tcPr>
                </a:tc>
                <a:tc>
                  <a:txBody>
                    <a:bodyPr/>
                    <a:lstStyle/>
                    <a:p>
                      <a:pPr algn="l"/>
                      <a:r>
                        <a:rPr sz="2400" b="0" i="0">
                          <a:solidFill>
                            <a:srgbClr val="FFFFFF"/>
                          </a:solidFill>
                          <a:latin typeface="Calibri"/>
                        </a:rPr>
                        <a:t>−3pp</a:t>
                      </a:r>
                    </a:p>
                  </a:txBody>
                  <a:tcPr>
                    <a:solidFill>
                      <a:srgbClr val="152a40"/>
                    </a:solidFill>
                  </a:tcPr>
                </a:tc>
              </a:tr>
              <a:tr h="365760">
                <a:tc>
                  <a:txBody>
                    <a:bodyPr/>
                    <a:lstStyle/>
                    <a:p>
                      <a:pPr algn="l"/>
                      <a:r>
                        <a:rPr sz="2400" b="0" i="0">
                          <a:solidFill>
                            <a:srgbClr val="FFFFFF"/>
                          </a:solidFill>
                          <a:latin typeface="Calibri"/>
                        </a:rPr>
                        <a:t>DIY/Home</a:t>
                      </a:r>
                    </a:p>
                  </a:txBody>
                  <a:tcPr>
                    <a:solidFill>
                      <a:srgbClr val="0d1b2a"/>
                    </a:solidFill>
                  </a:tcPr>
                </a:tc>
                <a:tc>
                  <a:txBody>
                    <a:bodyPr/>
                    <a:lstStyle/>
                    <a:p>
                      <a:pPr algn="l"/>
                      <a:r>
                        <a:rPr sz="2400" b="0" i="0">
                          <a:solidFill>
                            <a:srgbClr val="FFFFFF"/>
                          </a:solidFill>
                          <a:latin typeface="Calibri"/>
                        </a:rPr>
                        <a:t>48%</a:t>
                      </a:r>
                    </a:p>
                  </a:txBody>
                  <a:tcPr>
                    <a:solidFill>
                      <a:srgbClr val="0d1b2a"/>
                    </a:solidFill>
                  </a:tcPr>
                </a:tc>
                <a:tc>
                  <a:txBody>
                    <a:bodyPr/>
                    <a:lstStyle/>
                    <a:p>
                      <a:pPr algn="l"/>
                      <a:r>
                        <a:rPr sz="2400" b="0" i="0">
                          <a:solidFill>
                            <a:srgbClr val="FFFFFF"/>
                          </a:solidFill>
                          <a:latin typeface="Calibri"/>
                        </a:rPr>
                        <a:t>44%</a:t>
                      </a:r>
                    </a:p>
                  </a:txBody>
                  <a:tcPr>
                    <a:solidFill>
                      <a:srgbClr val="0d1b2a"/>
                    </a:solidFill>
                  </a:tcPr>
                </a:tc>
                <a:tc>
                  <a:txBody>
                    <a:bodyPr/>
                    <a:lstStyle/>
                    <a:p>
                      <a:pPr algn="l"/>
                      <a:r>
                        <a:rPr sz="2400" b="0" i="0">
                          <a:solidFill>
                            <a:srgbClr val="E06C75"/>
                          </a:solidFill>
                          <a:latin typeface="Calibri"/>
                        </a:rPr>
                        <a:t>−4pp</a:t>
                      </a:r>
                    </a:p>
                  </a:txBody>
                  <a:tcPr>
                    <a:solidFill>
                      <a:srgbClr val="0d1b2a"/>
                    </a:solidFill>
                  </a:tcPr>
                </a:tc>
              </a:tr>
            </a:tbl>
          </a:graphicData>
        </a:graphic>
      </p:graphicFrame>
      <p:sp>
        <p:nvSpPr>
          <p:cNvPr id="10" name="TextBox 9"/>
          <p:cNvSpPr txBox="1"/>
          <p:nvPr/>
        </p:nvSpPr>
        <p:spPr>
          <a:xfrm>
            <a:off x="6611111" y="5074919"/>
            <a:ext cx="5029200" cy="548640"/>
          </a:xfrm>
          <a:prstGeom prst="rect">
            <a:avLst/>
          </a:prstGeom>
          <a:noFill/>
        </p:spPr>
        <p:txBody>
          <a:bodyPr wrap="square" anchor="t"/>
          <a:lstStyle/>
          <a:p>
            <a:pPr algn="l"/>
            <a:r>
              <a:rPr sz="1800" b="0" i="1">
                <a:solidFill>
                  <a:srgbClr val="AAAAAA"/>
                </a:solidFill>
                <a:latin typeface="Calibri"/>
              </a:rPr>
              <a:t>Context stricter everywhere; DIY/Home largest drop (−4pp).</a:t>
            </a:r>
          </a:p>
        </p:txBody>
      </p:sp>
      <p:pic>
        <p:nvPicPr>
          <p:cNvPr id="11" name="Picture 10"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2" name="TextBox 11"/>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A9</a:t>
            </a:r>
          </a:p>
        </p:txBody>
      </p:sp>
    </p:spTree>
  </p:cSld>
  <p:clrMapOvr>
    <a:masterClrMapping/>
  </p:clrMapOvr>
  <p:transition spd="med"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548640" y="365760"/>
            <a:ext cx="11091672" cy="1005840"/>
          </a:xfrm>
          <a:prstGeom prst="rect">
            <a:avLst/>
          </a:prstGeom>
          <a:noFill/>
        </p:spPr>
        <p:txBody>
          <a:bodyPr wrap="square">
            <a:spAutoFit/>
          </a:bodyPr>
          <a:lstStyle/>
          <a:p>
            <a:r>
              <a:rPr sz="3200" b="1" i="0">
                <a:solidFill>
                  <a:srgbClr val="FFFFFF"/>
                </a:solidFill>
                <a:latin typeface="Calibri"/>
              </a:rPr>
              <a:t>A8: Why a Dual-Conf Judge Prompt — a Methodology Lesson</a:t>
            </a:r>
          </a:p>
        </p:txBody>
      </p:sp>
      <p:sp>
        <p:nvSpPr>
          <p:cNvPr id="3" name="Rectangle 2"/>
          <p:cNvSpPr/>
          <p:nvPr/>
        </p:nvSpPr>
        <p:spPr>
          <a:xfrm>
            <a:off x="548640" y="1097280"/>
            <a:ext cx="11091672" cy="1905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11091672" cy="365760"/>
          </a:xfrm>
          <a:prstGeom prst="rect">
            <a:avLst/>
          </a:prstGeom>
          <a:noFill/>
        </p:spPr>
        <p:txBody>
          <a:bodyPr wrap="square" anchor="t"/>
          <a:lstStyle/>
          <a:p>
            <a:pPr algn="l"/>
            <a:r>
              <a:rPr sz="1800" b="0" i="1">
                <a:solidFill>
                  <a:srgbClr val="AAAAAA"/>
                </a:solidFill>
                <a:latin typeface="Calibri"/>
              </a:rPr>
              <a:t>Same n-best methods. Same judge model. Different prompt. Opposite conclusions.</a:t>
            </a:r>
          </a:p>
        </p:txBody>
      </p:sp>
      <p:sp>
        <p:nvSpPr>
          <p:cNvPr id="5" name="Rounded Rectangle 4"/>
          <p:cNvSpPr/>
          <p:nvPr/>
        </p:nvSpPr>
        <p:spPr>
          <a:xfrm>
            <a:off x="548640" y="1874520"/>
            <a:ext cx="5349240" cy="3429000"/>
          </a:xfrm>
          <a:prstGeom prst="roundRect">
            <a:avLst/>
          </a:prstGeom>
          <a:solidFill>
            <a:srgbClr val="152A40"/>
          </a:solidFill>
          <a:ln w="25400">
            <a:solidFill>
              <a:srgbClr val="E06C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4892040" cy="320040"/>
          </a:xfrm>
          <a:prstGeom prst="rect">
            <a:avLst/>
          </a:prstGeom>
          <a:noFill/>
        </p:spPr>
        <p:txBody>
          <a:bodyPr wrap="square" anchor="t"/>
          <a:lstStyle/>
          <a:p>
            <a:pPr algn="l"/>
            <a:r>
              <a:rPr sz="2400" b="1" i="0">
                <a:solidFill>
                  <a:srgbClr val="E06C75"/>
                </a:solidFill>
                <a:latin typeface="Calibri"/>
              </a:rPr>
              <a:t>v1 - conf-in-prompt (broken)</a:t>
            </a:r>
          </a:p>
        </p:txBody>
      </p:sp>
      <p:sp>
        <p:nvSpPr>
          <p:cNvPr id="7" name="TextBox 6"/>
          <p:cNvSpPr txBox="1"/>
          <p:nvPr/>
        </p:nvSpPr>
        <p:spPr>
          <a:xfrm>
            <a:off x="777240" y="2423160"/>
            <a:ext cx="4892040" cy="292608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Method-conf only in prompt</a:t>
            </a:r>
          </a:p>
          <a:p>
            <a:pPr algn="l">
              <a:spcAft>
                <a:spcPts val="600"/>
              </a:spcAft>
            </a:pPr>
            <a:r>
              <a:rPr sz="2400" b="1">
                <a:solidFill>
                  <a:srgbClr val="00B4D8"/>
                </a:solidFill>
                <a:latin typeface="Calibri"/>
              </a:rPr>
              <a:t>• </a:t>
            </a:r>
            <a:r>
              <a:rPr sz="2400" b="0">
                <a:solidFill>
                  <a:srgbClr val="E06C75"/>
                </a:solidFill>
                <a:latin typeface="Calibri"/>
              </a:rPr>
              <a:t>Y+P: vote_conf loses (p &lt; 0.05)</a:t>
            </a:r>
          </a:p>
          <a:p>
            <a:pPr algn="l">
              <a:spcAft>
                <a:spcPts val="600"/>
              </a:spcAft>
            </a:pPr>
            <a:r>
              <a:rPr sz="2400" b="1">
                <a:solidFill>
                  <a:srgbClr val="00B4D8"/>
                </a:solidFill>
                <a:latin typeface="Calibri"/>
              </a:rPr>
              <a:t>• </a:t>
            </a:r>
            <a:r>
              <a:rPr sz="2400" b="0">
                <a:solidFill>
                  <a:srgbClr val="E06C75"/>
                </a:solidFill>
                <a:latin typeface="Calibri"/>
              </a:rPr>
              <a:t>Identical-text drift: 27%</a:t>
            </a:r>
          </a:p>
          <a:p>
            <a:pPr algn="l">
              <a:spcAft>
                <a:spcPts val="600"/>
              </a:spcAft>
            </a:pPr>
            <a:r>
              <a:rPr sz="2400" b="1">
                <a:solidFill>
                  <a:srgbClr val="00B4D8"/>
                </a:solidFill>
                <a:latin typeface="Calibri"/>
              </a:rPr>
              <a:t>• </a:t>
            </a:r>
            <a:r>
              <a:rPr sz="2400" b="1">
                <a:solidFill>
                  <a:srgbClr val="E06C75"/>
                </a:solidFill>
                <a:latin typeface="Calibri"/>
              </a:rPr>
              <a:t>Bias: against n-best variants</a:t>
            </a:r>
          </a:p>
        </p:txBody>
      </p:sp>
      <p:sp>
        <p:nvSpPr>
          <p:cNvPr id="8" name="Rounded Rectangle 7"/>
          <p:cNvSpPr/>
          <p:nvPr/>
        </p:nvSpPr>
        <p:spPr>
          <a:xfrm>
            <a:off x="6263640" y="1874520"/>
            <a:ext cx="5349240" cy="3429000"/>
          </a:xfrm>
          <a:prstGeom prst="roundRect">
            <a:avLst/>
          </a:prstGeom>
          <a:solidFill>
            <a:srgbClr val="152A40"/>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4892040" cy="914400"/>
          </a:xfrm>
          <a:prstGeom prst="rect">
            <a:avLst/>
          </a:prstGeom>
          <a:noFill/>
        </p:spPr>
        <p:txBody>
          <a:bodyPr wrap="square" anchor="t"/>
          <a:lstStyle/>
          <a:p>
            <a:pPr algn="l"/>
            <a:r>
              <a:rPr sz="2400" b="1" i="0">
                <a:solidFill>
                  <a:srgbClr val="4CAF50"/>
                </a:solidFill>
                <a:latin typeface="Calibri"/>
              </a:rPr>
              <a:t>v3 - dual-conf prompt (current)</a:t>
            </a:r>
          </a:p>
        </p:txBody>
      </p:sp>
      <p:sp>
        <p:nvSpPr>
          <p:cNvPr id="10" name="TextBox 9"/>
          <p:cNvSpPr txBox="1"/>
          <p:nvPr/>
        </p:nvSpPr>
        <p:spPr>
          <a:xfrm>
            <a:off x="6492240" y="2423160"/>
            <a:ext cx="4892040" cy="2926080"/>
          </a:xfrm>
          <a:prstGeom prst="rect">
            <a:avLst/>
          </a:prstGeom>
          <a:noFill/>
        </p:spPr>
        <p:txBody>
          <a:bodyPr wrap="square">
            <a:spAutoFit/>
          </a:bodyPr>
          <a:lstStyle/>
          <a:p>
            <a:pPr algn="l">
              <a:spcAft>
                <a:spcPts val="600"/>
              </a:spcAft>
            </a:pPr>
            <a:r>
              <a:rPr sz="2400" b="1">
                <a:solidFill>
                  <a:srgbClr val="00B4D8"/>
                </a:solidFill>
                <a:latin typeface="Calibri"/>
              </a:rPr>
              <a:t>• </a:t>
            </a:r>
            <a:r>
              <a:rPr sz="2400" b="1">
                <a:solidFill>
                  <a:srgbClr val="FFFFFF"/>
                </a:solidFill>
                <a:latin typeface="Calibri"/>
              </a:rPr>
              <a:t>Method-conf AND baseline_conf shown</a:t>
            </a:r>
          </a:p>
          <a:p>
            <a:pPr algn="l">
              <a:spcAft>
                <a:spcPts val="600"/>
              </a:spcAft>
            </a:pPr>
            <a:r>
              <a:rPr sz="2400" b="1">
                <a:solidFill>
                  <a:srgbClr val="00B4D8"/>
                </a:solidFill>
                <a:latin typeface="Calibri"/>
              </a:rPr>
              <a:t>• </a:t>
            </a:r>
            <a:r>
              <a:rPr sz="2400" b="0">
                <a:solidFill>
                  <a:srgbClr val="4CAF50"/>
                </a:solidFill>
                <a:latin typeface="Calibri"/>
              </a:rPr>
              <a:t>Y+P: vote_conf wins (p = 0.00257)</a:t>
            </a:r>
          </a:p>
          <a:p>
            <a:pPr algn="l">
              <a:spcAft>
                <a:spcPts val="600"/>
              </a:spcAft>
            </a:pPr>
            <a:r>
              <a:rPr sz="2400" b="1">
                <a:solidFill>
                  <a:srgbClr val="00B4D8"/>
                </a:solidFill>
                <a:latin typeface="Calibri"/>
              </a:rPr>
              <a:t>• </a:t>
            </a:r>
            <a:r>
              <a:rPr sz="2400" b="0">
                <a:solidFill>
                  <a:srgbClr val="4CAF50"/>
                </a:solidFill>
                <a:latin typeface="Calibri"/>
              </a:rPr>
              <a:t>Identical-text drift: 12.6/10.4/14%</a:t>
            </a:r>
          </a:p>
          <a:p>
            <a:pPr algn="l">
              <a:spcAft>
                <a:spcPts val="600"/>
              </a:spcAft>
            </a:pPr>
            <a:r>
              <a:rPr sz="2400" b="1">
                <a:solidFill>
                  <a:srgbClr val="00B4D8"/>
                </a:solidFill>
                <a:latin typeface="Calibri"/>
              </a:rPr>
              <a:t>• </a:t>
            </a:r>
            <a:r>
              <a:rPr sz="2400" b="1">
                <a:solidFill>
                  <a:srgbClr val="4CAF50"/>
                </a:solidFill>
                <a:latin typeface="Calibri"/>
              </a:rPr>
              <a:t>Bias: balanced</a:t>
            </a:r>
          </a:p>
        </p:txBody>
      </p:sp>
      <p:sp>
        <p:nvSpPr>
          <p:cNvPr id="11" name="Rounded Rectangle 10"/>
          <p:cNvSpPr/>
          <p:nvPr/>
        </p:nvSpPr>
        <p:spPr>
          <a:xfrm>
            <a:off x="548640" y="5440680"/>
            <a:ext cx="11091672" cy="960120"/>
          </a:xfrm>
          <a:prstGeom prst="roundRect">
            <a:avLst/>
          </a:prstGeom>
          <a:solidFill>
            <a:srgbClr val="1A3550"/>
          </a:solidFill>
          <a:ln w="19050">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5532120"/>
            <a:ext cx="10543032" cy="777240"/>
          </a:xfrm>
          <a:prstGeom prst="rect">
            <a:avLst/>
          </a:prstGeom>
          <a:noFill/>
        </p:spPr>
        <p:txBody>
          <a:bodyPr wrap="square" anchor="t"/>
          <a:lstStyle/>
          <a:p>
            <a:pPr algn="ctr"/>
            <a:r>
              <a:rPr sz="2200" b="1" i="0">
                <a:solidFill>
                  <a:srgbClr val="FFD54F"/>
                </a:solidFill>
                <a:latin typeface="Calibri"/>
              </a:rPr>
              <a:t>LESSON: provide BOTH sides' confidence — single-sided injection biases the judge.</a:t>
            </a:r>
          </a:p>
        </p:txBody>
      </p:sp>
      <p:pic>
        <p:nvPicPr>
          <p:cNvPr id="13" name="Picture 12" descr="WhiteLogo.jpeg"/>
          <p:cNvPicPr>
            <a:picLocks noChangeAspect="1"/>
          </p:cNvPicPr>
          <p:nvPr/>
        </p:nvPicPr>
        <p:blipFill>
          <a:blip r:embed="rId2"/>
          <a:stretch>
            <a:fillRect/>
          </a:stretch>
        </p:blipFill>
        <p:spPr>
          <a:xfrm>
            <a:off x="11323320" y="6428232"/>
            <a:ext cx="269634" cy="320040"/>
          </a:xfrm>
          <a:prstGeom prst="rect">
            <a:avLst/>
          </a:prstGeom>
        </p:spPr>
      </p:pic>
      <p:sp>
        <p:nvSpPr>
          <p:cNvPr id="14" name="TextBox 13"/>
          <p:cNvSpPr txBox="1"/>
          <p:nvPr/>
        </p:nvSpPr>
        <p:spPr>
          <a:xfrm>
            <a:off x="548640" y="6510528"/>
            <a:ext cx="457200" cy="228600"/>
          </a:xfrm>
          <a:prstGeom prst="rect">
            <a:avLst/>
          </a:prstGeom>
          <a:noFill/>
        </p:spPr>
        <p:txBody>
          <a:bodyPr wrap="none">
            <a:spAutoFit/>
          </a:bodyPr>
          <a:lstStyle/>
          <a:p>
            <a:r>
              <a:rPr sz="900" b="0" i="0">
                <a:solidFill>
                  <a:srgbClr val="666666"/>
                </a:solidFill>
                <a:latin typeface="Calibri"/>
              </a:rPr>
              <a:t>89</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12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24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12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24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12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