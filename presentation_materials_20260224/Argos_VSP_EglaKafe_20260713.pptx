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Honest-positive framing. We evaluated our visual speech recognition model on your real conversation footage (no audio track used). This deck: what we built, what it recovers, what you can trust, the honest limits, and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Footage had no usable audio, so we detect the speaker visually from mouth-openness variance (speech oscillates; a smile is a sustained stretch), build a single active-speaker stream, then lip-read each turn and score it. All 11 scene-1/2 streams: speaker alternation 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pessimistic average hides a high ceiling. On the best video (iPhone 4K, frontal, Military script) a context-aware viewer grasps 73% of turns and the full plot is recoverable. The model isn't incapable on this footage — it locks on intermittently; capture quality and confidence-gating decide how much you 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Capture quality and frontality are the only statistically robust levers (Mann-Whitney: iPhone-vs-camera p=2e-5, front-vs-45° p=2e-3). Content helps via distinctive words surviving + cross-turn redundancy, not a per-segment IS gap. All three are within the client's control at capture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gated output gives a topical skeleton, not full sentences. Green common-nouns are ~82% reliable but only ~10% of nouns are recovered — a scatter of trustworthy content words to fuse with context. Names/places are 0% recovered AND the model emits confident fake entities (Abu Dhabi 0.997, Wikipedia). Numbers ~73% green but still need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knows when it's right. Gating by its own word confidence reproduces the ceiling: conf≥0.6 keeps a quarter at 55% useful; conf≥0.7 keeps the top 10% at 70% useful, WER 65% (English-benchmark quality); conf≥0.8 keeps 3% at 92% useful. Deliver the sure parts; flag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best-conditions turn (frontal, high-res) — the model locks on and the line is readable. Right: worst-conditions turn (45° profile / 380px screen-rec) — near-total loss, fluent hallucination. The model is frontal-trained; lip-reading collapses as the face turns to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Stated plainly and constructively. The 122% per-segment average is a coverage problem, not a capability ceiling — but on this footage word coverage is ~10%, profile/low-res clips are not usable, and names/numbers are hallucinated. We claim gist + a trustworthy confident subset; we do not claim verbatim text or reliable specifics.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practical levers, all within the client's control. The biggest wins are upstream of the model: native high-res frontal capture, plus confidence-gating downstream and reading for gist rather than verbatim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One-line takeaway repeats the operating doctrine.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jpg"/><Relationship Id="rId5" Type="http://schemas.openxmlformats.org/officeDocument/2006/relationships/image" Target="../media/image1.jp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1.jp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8.jpg"/><Relationship Id="rId6" Type="http://schemas.openxmlformats.org/officeDocument/2006/relationships/image" Target="../media/image1.jp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9.jpg"/><Relationship Id="rId5" Type="http://schemas.openxmlformats.org/officeDocument/2006/relationships/image" Target="../media/image1.jp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2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Visual Speech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9167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000" b="0" i="0">
                <a:solidFill>
                  <a:srgbClr val="00B4D8"/>
                </a:solidFill>
                <a:latin typeface="Calibri"/>
              </a:rPr>
              <a:t>Egla-Kafe footage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9167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0">
                <a:solidFill>
                  <a:srgbClr val="AAAAAA"/>
                </a:solidFill>
                <a:latin typeface="Calibri"/>
              </a:rPr>
              <a:t>Reading speech from the lips alone — no audio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AAAAAA"/>
                </a:solidFill>
                <a:latin typeface="Calibri"/>
              </a:rPr>
              <a:t>Argos  —  The Orchard      ·      July 2026</a:t>
            </a:r>
          </a:p>
        </p:txBody>
      </p:sp>
      <p:pic>
        <p:nvPicPr>
          <p:cNvPr id="7" name="Picture 6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xmlns:p14="http://schemas.microsoft.com/office/powerpoint/2010/main" mc:Ignorable="p14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What we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483864" cy="1874519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8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00B4D8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11810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Find the speaker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3118104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AAAAAA"/>
                </a:solidFill>
                <a:latin typeface="Calibri"/>
              </a:rPr>
              <a:t>Who is talking, from mouth</a:t>
            </a:r>
            <a:br/>
            <a:r>
              <a:rPr sz="2000" b="0" i="0">
                <a:solidFill>
                  <a:srgbClr val="AAAAAA"/>
                </a:solidFill>
                <a:latin typeface="Calibri"/>
              </a:rPr>
              <a:t>motion — no audio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325880"/>
            <a:ext cx="3483864" cy="1874519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435608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FFD54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965960"/>
            <a:ext cx="311810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Read the lips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423160"/>
            <a:ext cx="3118104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AAAAAA"/>
                </a:solidFill>
                <a:latin typeface="Calibri"/>
              </a:rPr>
              <a:t>The model transcribes the</a:t>
            </a:r>
            <a:br/>
            <a:r>
              <a:rPr sz="2000" b="0" i="0">
                <a:solidFill>
                  <a:srgbClr val="AAAAAA"/>
                </a:solidFill>
                <a:latin typeface="Calibri"/>
              </a:rPr>
              <a:t>active speaker's lips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325880"/>
            <a:ext cx="3483864" cy="1874519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435608"/>
            <a:ext cx="640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>
                <a:solidFill>
                  <a:srgbClr val="4CAF50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1965960"/>
            <a:ext cx="3118104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2423160"/>
            <a:ext cx="3118104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AAAAAA"/>
                </a:solidFill>
                <a:latin typeface="Calibri"/>
              </a:rPr>
              <a:t>Score each turn; flag what</a:t>
            </a:r>
            <a:br/>
            <a:r>
              <a:rPr sz="2000" b="0" i="0">
                <a:solidFill>
                  <a:srgbClr val="AAAAAA"/>
                </a:solidFill>
                <a:latin typeface="Calibri"/>
              </a:rPr>
              <a:t>to trust vs 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37559"/>
            <a:ext cx="1109167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00B4D8"/>
                </a:solidFill>
                <a:latin typeface="Calibri"/>
              </a:rPr>
              <a:t>Active-speaker stream: green box marks who is talking</a:t>
            </a:r>
          </a:p>
        </p:txBody>
      </p:sp>
      <mc:AlternateContent>
        <mc:Choice Requires="p14">
          <p:pic>
            <p:nvPicPr>
              <p:cNvPr id="17" name="active_speaker_overlay.mp4"/>
              <p:cNvPicPr>
                <a:picLocks noChangeAspect="1"/>
              </p:cNvPicPr>
              <p:nvPr>
                <a:videoFile r:link="rId3"/>
                <p:extLst>
                  <p:ext uri="{DAA4B4D4-6D71-4841-9C94-3DE7FCFB9230}">
                    <p14:media r:embed="rId2"/>
                  </p:ext>
                </p:extLst>
              </p:nvPr>
            </p:nvPicPr>
            <p:blipFill>
              <a:blip r:embed="rId4"/>
              <a:stretch>
                <a:fillRect/>
              </a:stretch>
            </p:blipFill>
            <p:spPr>
              <a:xfrm>
                <a:off x="4262323" y="3749039"/>
                <a:ext cx="3667353" cy="2148840"/>
              </a:xfrm>
              <a:prstGeom prst="rect">
                <a:avLst/>
              </a:prstGeom>
            </p:spPr>
          </p:pic>
        </mc:Choice>
        <mc:Fallback>
          <p:pic>
            <p:nvPicPr>
              <p:cNvPr id="17" name="active_speaker_overlay.mp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62323" y="3749039"/>
                <a:ext cx="3667353" cy="214884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Picture 17" descr="WhiteLogo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On good footage, the conversation comes 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4CAF50"/>
                </a:solidFill>
                <a:latin typeface="Calibri"/>
              </a:rPr>
              <a:t>Up to 73% of turns understood on the best-captured video</a:t>
            </a:r>
          </a:p>
        </p:txBody>
      </p:sp>
      <p:pic>
        <p:nvPicPr>
          <p:cNvPr id="5" name="Picture 4" descr="recovery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391" y="1920240"/>
            <a:ext cx="3801218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5532120"/>
            <a:ext cx="99943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Context-aware recovery (Y+P): share of turns a viewer grasps with conversation context.</a:t>
            </a:r>
          </a:p>
        </p:txBody>
      </p:sp>
      <p:pic>
        <p:nvPicPr>
          <p:cNvPr id="7" name="Picture 6" descr="White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xmlns:p14="http://schemas.microsoft.com/office/powerpoint/2010/main" mc:Ignorable="p14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Three controllable levers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4937760" cy="132588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8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4CAF50"/>
                </a:solidFill>
                <a:latin typeface="Calibri"/>
              </a:rPr>
              <a:t>Capture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iPhone 4K beats screen-rec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1">
                <a:solidFill>
                  <a:srgbClr val="AAAAAA"/>
                </a:solidFill>
                <a:latin typeface="Calibri"/>
              </a:rPr>
              <a:t>IS 1.51 vs 0.88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4937760" cy="132588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44368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00B4D8"/>
                </a:solidFill>
                <a:latin typeface="Calibri"/>
              </a:rPr>
              <a:t>Frontality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Face the camera, not 45°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1">
                <a:solidFill>
                  <a:srgbClr val="AAAAAA"/>
                </a:solidFill>
                <a:latin typeface="Calibri"/>
              </a:rPr>
              <a:t>IS 1.62 vs 1.03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43400"/>
            <a:ext cx="4937760" cy="132588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53128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FFD54F"/>
                </a:solidFill>
                <a:latin typeface="Calibri"/>
              </a:rPr>
              <a:t>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Distinctive words survive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1">
                <a:solidFill>
                  <a:srgbClr val="AAAAAA"/>
                </a:solidFill>
                <a:latin typeface="Calibri"/>
              </a:rPr>
              <a:t>Military &gt; small-talk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307592"/>
            <a:ext cx="578815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00B4D8"/>
                </a:solidFill>
                <a:latin typeface="Calibri"/>
              </a:rPr>
              <a:t>iPhone 4K  vs  client camera</a:t>
            </a:r>
          </a:p>
        </p:txBody>
      </p:sp>
      <mc:AlternateContent>
        <mc:Choice Requires="p14">
          <p:pic>
            <p:nvPicPr>
              <p:cNvPr id="17" name="iphone_vs_camera.mp4"/>
              <p:cNvPicPr>
                <a:picLocks noChangeAspect="1"/>
              </p:cNvPicPr>
              <p:nvPr>
                <a:videoFile r:link="rId3"/>
                <p:extLst>
                  <p:ext uri="{DAA4B4D4-6D71-4841-9C94-3DE7FCFB9230}">
                    <p14:media r:embed="rId2"/>
                  </p:ext>
                </p:extLst>
              </p:nvPr>
            </p:nvPicPr>
            <p:blipFill>
              <a:blip r:embed="rId4"/>
              <a:stretch>
                <a:fillRect/>
              </a:stretch>
            </p:blipFill>
            <p:spPr>
              <a:xfrm>
                <a:off x="7102371" y="1737360"/>
                <a:ext cx="3287730" cy="2286000"/>
              </a:xfrm>
              <a:prstGeom prst="rect">
                <a:avLst/>
              </a:prstGeom>
            </p:spPr>
          </p:pic>
        </mc:Choice>
        <mc:Fallback>
          <p:pic>
            <p:nvPicPr>
              <p:cNvPr id="17" name="iphone_vs_camera.mp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02371" y="1737360"/>
                <a:ext cx="3287730" cy="228600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Picture 17" descr="lev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125" y="4206240"/>
            <a:ext cx="4242222" cy="2194560"/>
          </a:xfrm>
          <a:prstGeom prst="rect">
            <a:avLst/>
          </a:prstGeom>
        </p:spPr>
      </p:pic>
      <p:pic>
        <p:nvPicPr>
          <p:cNvPr id="19" name="Picture 18" descr="WhiteLogo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What you can trust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4CAF50"/>
                </a:solidFill>
                <a:latin typeface="Calibri"/>
              </a:rPr>
              <a:t>Trust the gist and topic. Verify names and numbers.</a:t>
            </a:r>
          </a:p>
        </p:txBody>
      </p:sp>
      <p:pic>
        <p:nvPicPr>
          <p:cNvPr id="5" name="Picture 4" descr="category_tr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12" y="1920240"/>
            <a:ext cx="5861295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920240"/>
            <a:ext cx="4782312" cy="1691640"/>
          </a:xfrm>
          <a:prstGeom prst="roundRect">
            <a:avLst/>
          </a:prstGeom>
          <a:solidFill>
            <a:srgbClr val="152A4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984248"/>
            <a:ext cx="44165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4CAF50"/>
                </a:solidFill>
                <a:latin typeface="Calibri"/>
              </a:rPr>
              <a:t>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468880"/>
            <a:ext cx="4416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4CAF50"/>
                </a:solidFill>
                <a:latin typeface="Calibri"/>
              </a:rPr>
              <a:t>• </a:t>
            </a:r>
            <a:r>
              <a:rPr sz="2200" b="0">
                <a:solidFill>
                  <a:srgbClr val="FFFFFF"/>
                </a:solidFill>
                <a:latin typeface="Calibri"/>
              </a:rPr>
              <a:t>Common nouns — 82% correct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4CAF50"/>
                </a:solidFill>
                <a:latin typeface="Calibri"/>
              </a:rPr>
              <a:t>• </a:t>
            </a:r>
            <a:r>
              <a:rPr sz="2200" b="0">
                <a:solidFill>
                  <a:srgbClr val="FFFFFF"/>
                </a:solidFill>
                <a:latin typeface="Calibri"/>
              </a:rPr>
              <a:t>Topic / gist of the turn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794760"/>
            <a:ext cx="4782312" cy="1783080"/>
          </a:xfrm>
          <a:prstGeom prst="roundRect">
            <a:avLst/>
          </a:prstGeom>
          <a:solidFill>
            <a:srgbClr val="152A40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3858768"/>
            <a:ext cx="441655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F44336"/>
                </a:solidFill>
                <a:latin typeface="Calibri"/>
              </a:rPr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343400"/>
            <a:ext cx="4416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44336"/>
                </a:solidFill>
                <a:latin typeface="Calibri"/>
              </a:rPr>
              <a:t>• </a:t>
            </a:r>
            <a:r>
              <a:rPr sz="2200" b="0">
                <a:solidFill>
                  <a:srgbClr val="FFFFFF"/>
                </a:solidFill>
                <a:latin typeface="Calibri"/>
              </a:rPr>
              <a:t>Names / places — hallucinated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F44336"/>
                </a:solidFill>
                <a:latin typeface="Calibri"/>
              </a:rPr>
              <a:t>• </a:t>
            </a:r>
            <a:r>
              <a:rPr sz="2200" b="0">
                <a:solidFill>
                  <a:srgbClr val="FFFFFF"/>
                </a:solidFill>
                <a:latin typeface="Calibri"/>
              </a:rPr>
              <a:t>Numbers / dates — confident, unsafe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P(correct) for high-confidence words, by category. All 778 scored segments.</a:t>
            </a:r>
          </a:p>
        </p:txBody>
      </p:sp>
      <p:pic>
        <p:nvPicPr>
          <p:cNvPr id="13" name="Picture 12" descr="White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xmlns:p14="http://schemas.microsoft.com/office/powerpoint/2010/main" mc:Ignorable="p14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The model flags its own good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4CAF50"/>
                </a:solidFill>
                <a:latin typeface="Calibri"/>
              </a:rPr>
              <a:t>On the confident subset: 70–92% of turns are useful</a:t>
            </a:r>
          </a:p>
        </p:txBody>
      </p:sp>
      <p:pic>
        <p:nvPicPr>
          <p:cNvPr id="5" name="Picture 4" descr="confidence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12" y="1874520"/>
            <a:ext cx="6320216" cy="3520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828800"/>
            <a:ext cx="4050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00B4D8"/>
                </a:solidFill>
                <a:latin typeface="Calibri"/>
              </a:rPr>
              <a:t>Per-word confidence</a:t>
            </a:r>
          </a:p>
        </p:txBody>
      </p:sp>
      <mc:AlternateContent>
        <mc:Choice Requires="p14">
          <p:pic>
            <p:nvPicPr>
              <p:cNvPr id="7" name="confidence_colored.mp4"/>
              <p:cNvPicPr>
                <a:picLocks noChangeAspect="1"/>
              </p:cNvPicPr>
              <p:nvPr>
                <a:videoFile r:link="rId4"/>
                <p:extLst>
                  <p:ext uri="{DAA4B4D4-6D71-4841-9C94-3DE7FCFB9230}">
                    <p14:media r:embed="rId3"/>
                  </p:ext>
                </p:ext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8264418" y="2240280"/>
                <a:ext cx="2700996" cy="3291840"/>
              </a:xfrm>
              <a:prstGeom prst="rect">
                <a:avLst/>
              </a:prstGeom>
            </p:spPr>
          </p:pic>
        </mc:Choice>
        <mc:Fallback>
          <p:pic>
            <p:nvPicPr>
              <p:cNvPr id="7" name="confidence_colored.mp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64418" y="2240280"/>
                <a:ext cx="2700996" cy="329184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/>
          <p:cNvSpPr txBox="1"/>
          <p:nvPr/>
        </p:nvSpPr>
        <p:spPr>
          <a:xfrm>
            <a:off x="1097280" y="5532120"/>
            <a:ext cx="99943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1">
                <a:solidFill>
                  <a:srgbClr val="AAAAAA"/>
                </a:solidFill>
                <a:latin typeface="Calibri"/>
              </a:rPr>
              <a:t>Gate by the model's own confidence — no reference text needed. conf≥0.7 keeps top 10% at 70% useful.</a:t>
            </a:r>
          </a:p>
        </p:txBody>
      </p:sp>
      <p:pic>
        <p:nvPicPr>
          <p:cNvPr id="9" name="Picture 8" descr="WhiteLogo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xmlns:p14="http://schemas.microsoft.com/office/powerpoint/2010/main" mc:Ignorable="p14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Best vs worst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0">
                <a:solidFill>
                  <a:srgbClr val="AAAAAA"/>
                </a:solidFill>
                <a:latin typeface="Calibri"/>
              </a:rPr>
              <a:t>Same model, same pipeline — capture decides the outcome</a:t>
            </a:r>
          </a:p>
        </p:txBody>
      </p:sp>
      <mc:AlternateContent>
        <mc:Choice Requires="p14">
          <p:pic>
            <p:nvPicPr>
              <p:cNvPr id="5" name="best_vs_worst.mp4"/>
              <p:cNvPicPr>
                <a:picLocks noChangeAspect="1"/>
              </p:cNvPicPr>
              <p:nvPr>
                <a:videoFile r:link="rId3"/>
                <p:extLst>
                  <p:ext uri="{DAA4B4D4-6D71-4841-9C94-3DE7FCFB9230}">
                    <p14:media r:embed="rId2"/>
                  </p:ext>
                </p:extLst>
              </p:nvPr>
            </p:nvPicPr>
            <p:blipFill>
              <a:blip r:embed="rId4"/>
              <a:stretch>
                <a:fillRect/>
              </a:stretch>
            </p:blipFill>
            <p:spPr>
              <a:xfrm>
                <a:off x="3531570" y="1874520"/>
                <a:ext cx="5128859" cy="3566160"/>
              </a:xfrm>
              <a:prstGeom prst="rect">
                <a:avLst/>
              </a:prstGeom>
            </p:spPr>
          </p:pic>
        </mc:Choice>
        <mc:Fallback>
          <p:pic>
            <p:nvPicPr>
              <p:cNvPr id="5" name="best_vs_worst.mp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31570" y="1874520"/>
                <a:ext cx="5128859" cy="35661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/>
          <p:cNvSpPr txBox="1"/>
          <p:nvPr/>
        </p:nvSpPr>
        <p:spPr>
          <a:xfrm>
            <a:off x="548640" y="562356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4CAF50"/>
                </a:solidFill>
                <a:latin typeface="Calibri"/>
              </a:rPr>
              <a:t>BEST: frontal 4K → plot recoverable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960" y="562356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F44336"/>
                </a:solidFill>
                <a:latin typeface="Calibri"/>
              </a:rPr>
              <a:t>WORST: 45° / low-res → near-total loss</a:t>
            </a:r>
          </a:p>
        </p:txBody>
      </p:sp>
      <p:pic>
        <p:nvPicPr>
          <p:cNvPr id="8" name="Picture 7" descr="WhiteLogo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Honest limits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852160" cy="12801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8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F44336"/>
                </a:solidFill>
                <a:latin typeface="Calibri"/>
              </a:rPr>
              <a:t>Names &amp;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486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Hallucinated — never trust unverified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5852160" cy="12801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98648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FF9800"/>
                </a:solidFill>
                <a:latin typeface="Calibri"/>
              </a:rPr>
              <a:t>Profile / low-res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5486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45° or screen-rec not usable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51960"/>
            <a:ext cx="5852160" cy="12801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61688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FFC107"/>
                </a:solidFill>
                <a:latin typeface="Calibri"/>
              </a:rPr>
              <a:t>Word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92040"/>
            <a:ext cx="5486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~10% of words recovered overall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325880"/>
            <a:ext cx="4919472" cy="2240280"/>
          </a:xfrm>
          <a:prstGeom prst="roundRect">
            <a:avLst/>
          </a:prstGeom>
          <a:solidFill>
            <a:srgbClr val="1A35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417320"/>
            <a:ext cx="455371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4CAF50"/>
                </a:solidFill>
                <a:latin typeface="Calibri"/>
              </a:rPr>
              <a:t>What we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874520"/>
            <a:ext cx="45537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4CAF50"/>
                </a:solidFill>
                <a:latin typeface="Calibri"/>
              </a:rPr>
              <a:t>• </a:t>
            </a:r>
            <a:r>
              <a:rPr sz="2100" b="0">
                <a:solidFill>
                  <a:srgbClr val="FFFFFF"/>
                </a:solidFill>
                <a:latin typeface="Calibri"/>
              </a:rPr>
              <a:t>Gist &amp; topic on good footage</a:t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4CAF50"/>
                </a:solidFill>
                <a:latin typeface="Calibri"/>
              </a:rPr>
              <a:t>• </a:t>
            </a:r>
            <a:r>
              <a:rPr sz="2100" b="0">
                <a:solidFill>
                  <a:srgbClr val="FFFFFF"/>
                </a:solidFill>
                <a:latin typeface="Calibri"/>
              </a:rPr>
              <a:t>A self-flagged confident subset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794760"/>
            <a:ext cx="4919472" cy="2240280"/>
          </a:xfrm>
          <a:prstGeom prst="roundRect">
            <a:avLst/>
          </a:prstGeom>
          <a:solidFill>
            <a:srgbClr val="1A3550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3886200"/>
            <a:ext cx="455371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44336"/>
                </a:solidFill>
                <a:latin typeface="Calibri"/>
              </a:rPr>
              <a:t>What we do NOT 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343400"/>
            <a:ext cx="45537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F44336"/>
                </a:solidFill>
                <a:latin typeface="Calibri"/>
              </a:rPr>
              <a:t>• </a:t>
            </a:r>
            <a:r>
              <a:rPr sz="2100" b="0">
                <a:solidFill>
                  <a:srgbClr val="FFFFFF"/>
                </a:solidFill>
                <a:latin typeface="Calibri"/>
              </a:rPr>
              <a:t>Verbatim transcripts</a:t>
            </a:r>
          </a:p>
          <a:p>
            <a:pPr algn="l">
              <a:spcAft>
                <a:spcPts val="600"/>
              </a:spcAft>
            </a:pPr>
            <a:r>
              <a:rPr sz="2100" b="1">
                <a:solidFill>
                  <a:srgbClr val="F44336"/>
                </a:solidFill>
                <a:latin typeface="Calibri"/>
              </a:rPr>
              <a:t>• </a:t>
            </a:r>
            <a:r>
              <a:rPr sz="2100" b="0">
                <a:solidFill>
                  <a:srgbClr val="FFFFFF"/>
                </a:solidFill>
                <a:latin typeface="Calibri"/>
              </a:rPr>
              <a:t>Reliable names, numbers, dates</a:t>
            </a:r>
          </a:p>
        </p:txBody>
      </p:sp>
      <p:pic>
        <p:nvPicPr>
          <p:cNvPr id="19" name="Picture 18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2567178" cy="31089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256717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229285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4CAF50"/>
                </a:solidFill>
                <a:latin typeface="Calibri"/>
              </a:rPr>
              <a:t>Capture native, high-res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03320"/>
            <a:ext cx="2292858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AAAAAA"/>
                </a:solidFill>
                <a:latin typeface="Calibri"/>
              </a:rPr>
              <a:t>Frontal, 1080p+, no screen-recording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0138" y="1691640"/>
            <a:ext cx="2567178" cy="31089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90138" y="1965960"/>
            <a:ext cx="256717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7298" y="2834640"/>
            <a:ext cx="229285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00B4D8"/>
                </a:solidFill>
                <a:latin typeface="Calibri"/>
              </a:rPr>
              <a:t>Keep faces frontal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298" y="3703320"/>
            <a:ext cx="2292858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AAAAAA"/>
                </a:solidFill>
                <a:latin typeface="Calibri"/>
              </a:rPr>
              <a:t>Avoid profile / 45° angles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691640"/>
            <a:ext cx="2567178" cy="31089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1636" y="1965960"/>
            <a:ext cx="256717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8796" y="2834640"/>
            <a:ext cx="229285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FFD54F"/>
                </a:solidFill>
                <a:latin typeface="Calibri"/>
              </a:rPr>
              <a:t>Use confidence-gating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796" y="3703320"/>
            <a:ext cx="2292858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AAAAAA"/>
                </a:solidFill>
                <a:latin typeface="Calibri"/>
              </a:rPr>
              <a:t>Deliver sure turns; flag the rest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3134" y="1691640"/>
            <a:ext cx="2567178" cy="3108960"/>
          </a:xfrm>
          <a:prstGeom prst="roundRect">
            <a:avLst/>
          </a:prstGeom>
          <a:solidFill>
            <a:srgbClr val="152A4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3134" y="1965960"/>
            <a:ext cx="256717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0294" y="2834640"/>
            <a:ext cx="229285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FF9800"/>
                </a:solidFill>
                <a:latin typeface="Calibri"/>
              </a:rPr>
              <a:t>Expect gist, not verbatim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0294" y="3703320"/>
            <a:ext cx="2292858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AAAAAA"/>
                </a:solidFill>
                <a:latin typeface="Calibri"/>
              </a:rPr>
              <a:t>Read for meaning; verify specifics</a:t>
            </a:r>
          </a:p>
        </p:txBody>
      </p:sp>
      <p:pic>
        <p:nvPicPr>
          <p:cNvPr id="20" name="Picture 19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2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9167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0">
                <a:solidFill>
                  <a:srgbClr val="00B4D8"/>
                </a:solidFill>
                <a:latin typeface="Calibri"/>
              </a:rPr>
              <a:t>Trust the gist · verify specifics · capture frontal &amp; high-res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109167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AAAAAA"/>
                </a:solidFill>
                <a:latin typeface="Calibri"/>
              </a:rPr>
              <a:t>Argos — The Orchard</a:t>
            </a:r>
          </a:p>
        </p:txBody>
      </p:sp>
      <p:pic>
        <p:nvPicPr>
          <p:cNvPr id="6" name="Picture 5" descr="White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320" y="6428232"/>
            <a:ext cx="269634" cy="320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